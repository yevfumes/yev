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</p:sldIdLst>
  <p:notesMasterIdLst>
    <p:notesMasterId r:id="rId19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notesMaster" Target="notesMasters/notesMaster1.xml"/><Relationship Id="rId200" Type="http://schemas.openxmlformats.org/officeDocument/2006/relationships/presProps" Target="presProps.xml"/><Relationship Id="rId201" Type="http://schemas.openxmlformats.org/officeDocument/2006/relationships/viewProps" Target="viewProps.xml"/><Relationship Id="rId202" Type="http://schemas.openxmlformats.org/officeDocument/2006/relationships/theme" Target="theme/theme1.xml"/><Relationship Id="rId20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Warm cold open. Set the tone: this is not a corporate course, it's a creative lab. Introduce the energy of the whole program before naming a single ingredient.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philosophy: slides support the video, they never replace it. Encourage students to keep a physical notebook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each teacher a genuine, personal introduction here — background, how you got into perfumery, why you're teaching this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these as outcomes, not topics — this is what changes for the student, not just what they'll hear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roadmap top to bottom. Give students a sense of pacing — this is a real curriculum, not a random collection of videos.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Discord mechanics concretely: channel names, homework threads, how office hours are scheduled.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philosophical core of the whole course — spend real time here. This is what separates hobbyists who plateau from ones who keep improving.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this hard — the single biggest predictor of student success is whether they actually smell the materials, not whether they watch closely.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specific software/spreadsheet system you use. Show a live example if possible during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on this note. Let it land — it's the thesis statement for the entire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this module is foundational vocabulary and concepts. Nothing hands-on yet, but everything after this depends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slow here — these six words will recur in every future module. Use a quick real-world example for each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Diffusion, tenacity and impact get confused constantly — spend extra time distinguishing them, you'll reuse this in module 03.1.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 examples make these words stick far better than definitions alone — pair each with a live smell if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percentage ranges are industry conventions, not fixed law — brands vary widely. The next point is more important than these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most important corrections in the whole basics module — students constantly conflate concentration % with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Emphasise: this pyramid is a simplification. Almost every real material has some presence across multiple layers — don't let students take it too literally.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solvents matter: they let you work at safe, evaluable concentrations and match the final product format (spray vs oil vs roll-on).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round numbers, not a fixed rule — the point is proportion, not precision. This is a teaching example, not a formula to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myth-busting that continues in module 03.2 — synthetic does not mean lesser. Both are professional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over-explain each one here — this is a map, not a lesson. Families get their real depth in module 03.1.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fun with this slide — deliver it with energy, it's meant to be memorable and a little provocative.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module 01 by reinforcing that everything just taught is a simplified model. Real perfumery is messier and more interesting.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this is a lean, practical kit, not an expensive lab buildout. Everything shown is realistic for a beginner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specific models if you have them, but keep the spec (0.001g / ~200g) as the takeaway regardless of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some solvents degrade certain plastics over time — glass is safer for long-term dedicated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glass isn't optional for long-term storage — UV light degrades many raw materials over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sets up module 05 (training your nose) — evaluation habits start here with the physical object.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quickly through this slide — it's a checklist, not a lecture. Each item gets one sentence at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protects the course from going stale as suppliers change — teach the search habit, not a single vendor.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permission to start small — the essential column is genuinely enough to begin every remaining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one of these mistakes is cheap to avoid and expensive to recover from — worth emphasising strongly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reassurance — equipment anxiety stops beginners before they start. Two tools are genuinely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is about vocabulary and behaviour, applied specifically to natural materials. Synthetics get their own module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twelve families from module 01, now framed as a sorting tool you'll use to classify every material you smell. Today we go deep on eight of them, natural-side.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Longevity is one of the first properties students should log for every material — connect directly to module 05's evaluation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terms get confused constantly — a material can have huge projection but low tenacity, or the reverse. Use concrete examples: bergamot projects instantly but fades fast; sandalwood projects little but lasts for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simple and honest — don't present molecular weight as a deterministic rule, the prompt is explicit about avoiding that oversimplification.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 extraction methods of the same plant can smell meaningfully different — e.g. rose absolute vs. rose otto.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Bright, inviting, easy to remember — this moodboard format repeats for every family across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side-by-side smelling — citrus oils are the easiest family to tell apart when compared directly, and the hardest to tell apart from memory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show the range within one family — bergamot for lift, grapefruit for sparkle, petitgrain for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how the flower icon shape itself changes — round for rose, star for jasmine, small for violet-adjacent materials — a visual cue for character.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Florals are where naturals matter most — synthetics can approximate a rose, but rarely replace it entirely. This is the most expensive category to shop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smell all four side by side — the differences between rose, jasmine, neroli and ylang-ylang are the clearest floral lesson in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Wood-ring icons for the cross-section woods, a root icon for vetiver, a single leaf for patchouli.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Woods are the load-bearing walls of a formula — almost every finished perfume rests on one or two of these at the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naturals are the backbone naturals used across almost every genre, from fresh to oriental.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Resins are the warm, sticky, ancient heart of perfumery — most predate synthetic chemistry by thousands of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resin is a natural fixative — this is exactly why they anchor base notes and slow the evaporation of everything above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Labdanum, benzoin and frankincense together roughly define the natural "amber" space long before Ambroxan existed.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Spices are used in tiny amounts — this family teaches restraint faster than any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Spices are almost always used at a fraction of a percent — this is a good moment to reinforce the 0.001g scale lesson from module 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dilute these three heavily before smelling neat — spices punish overconfidence fastest.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"kitchen and apothecary" family — herbal, medicinal, immediately familiar smells.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Lavender was introduced back in module 01 — remind students it belongs firmly in this same aromatic family.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together define the "barbershop / fougère" territory — a genuinely useful trio to smell as a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smallest of the eight families in raw material count, but a distinctive and important one — sharp, unripe, stemmy smells.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Greens are a texture, not a season — a small amount of galbanum can make an entire floral heart feel alive rather than flat.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deserve a heavy dilution before smelling neat — galbanum in particular is far stronger than beginners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smallest gourmand corner of the naturals palette — most of the category's real depth is synthetic, covered next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Tonka's coumarin content is exactly why this category and the synthetic gourmand family overlap so closely — a natural preview of next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practically: always re-evaluate a new batch of a natural material before trusting an existing formula built on the old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module. Bridge to next: 'now let's look at the other half of the palette — synthetics.'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Bring energy here — this is meant to be one of the most exciting modules. Set up the myth-busting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synthetics as an achievement, not a compromise. This sets the tone for the whole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briskly — this is a map for the ten deep-dive sections that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one sentence of context per material live, if time allows. These are the highest-value to memorise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playfully but firmly — these myths do real damage to beginners who avoid a huge, useful part of the palette out of misplaced guilt.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Musks are the skin of a formula — they don't announce themselves, but everything else leans on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compare Galaxolide against Ambrettolide directly — "clean laundry" versus "warm skin" is the clearest musk lesson there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define the modern musk palette — clean, voluminous, and natural-feeling, respectively.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family single-handedly defines the last twenty-five years of mainstream perfumery.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lightly for a subtle radiant "glow," or strongly as the entire backbone of a modern amber-woody genre — this family does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dose Ambroxan at 0.1% and then 3% in two strips — the difference is a genuinely eye-opening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largest and most-used synthetic family — almost every modern base note leans on one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 E Super, Javanol and Cashmeran alone can define three completely different "woody" moods — transparent, creamy, and cosy.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Comparing Javanol against Sandalore against natural sandalwood on three strips is one of the best exercises in the whole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Isolated floral facets — each one is a single true note pulled out of a whole flower's complexity.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biggest synthetic family in raw material count — most "natural-smelling" florals are actually built from several of these stacked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build a five-second "rose" from phenylethyl alcohol, citronellol, geraniol and a trace of rose oxide — it's a genuinely convincing exercise.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natural citrus fades in under two hours, these synthetics keep freshness alive for far longer.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Dihydromyrcenol single-handedly extended the citrus opening from ten minutes to a genuinely wearable freshness — a great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Dose cis-3-hexenol extremely lightly first — at full strength it reads as more "lawnmower" than most students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line between "juicy and realistic" and "candy" is entirely a question of dose — this family teaches restraint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realism-versus-candy line is entirely about dose — the same material that reads as "ripe peach" at 0.5% reads as "bubblegum" at 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Smell gamma undecalactone at three different dilutions side by side — realism versus candy is the whole lesson in one strip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 synthetics do the same job as galbanum, but with more control and far more consistency batch to batch.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 synthetics let a perfumer dial in exactly how much "bite" a formula needs, independent of a natural harvest's variability.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family that built an entire modern genre — without it, the last decade of gourmand perfumery doesn't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Vanillin and ethyl maltol together are the two most bought gourmand materials in the hobbyist world — make sure both get smelled this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family rewards restraint more than almost any other — a little goes further here than beginners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entire olfactory family invented in a lab — there is no natural equivalent to "ozonic."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Calone's story is a great live anecdote — one molecule from the 1990s effectively created an entire genre of "ocean" fragrances.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Calone is famously dose-sensitive — too much reads as "synthetic pool" rather than "ocean air."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boldest, most divisive family in the course — used well, these materials add character no other family 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family is best taught by contrast — smell isobutyl quinoline's sharp bitterness against Suederal's soft suede to show the full range.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family punishes overconfidence the same way spices do — dilute heavily and add in tiny increments.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anticipation for the card grid that follows — this is where students realise how disproportionate a material's impact can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takeaway: percentage and impact are not linear. A 0.3% dose of the right material can outweigh 5% of something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confidence — students should leave excited to experiment with synthetics, not intimidated by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bridges materials theory to a real purchase order — the most actionable module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this warning — it's the single most common beginner mistake and it kills momentum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representative starter set, not gospel — the point is coverage across every major family with ~30 materials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second wave dramatically expands what's possible — but only makes sense once the first 30 are familiar.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shopping categories — encourage students to buy at least one or two materials from every category before doubling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connects back to the mindset module — buying random "interesting" materials is the equivalent of copying formulas without understanding.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wrap-up before module 04 — a student who checks every box here is genuinely ready to begin diluting.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reinforcing patience — this module often produces the most excitement and the most temptation to overbuy.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most practical, hands-on modules — encourage students to have their scale out while watching.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dilution as a superpower, not a hurdle — it's what turns raw, unusable materials into a working palette.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ladder will come up repeatedly — most working stocks in this course live at 10% or 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process at a glance — every worked example on the next few slides fills in one of these four circles.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this live on camera if possible — watching the actual weighing is far more valuable than hearing the ratio described.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"stock of a stock" technique is the single most useful trick in this module — it turns an impossible 0.1g weighing into two easy 1g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connects directly to module 11's IFRA discussion — a well-chosen low dilution is a compliance tool as much as a workflow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 against overheating — gentle warming only, many materials degrade or evaporate unwanted fractions under heat.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this is a starting guideline — always confirm the right dilution by smelling, not just by category.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habit prevents the single most common lab disaster: an unlabelled bottle of unknown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practical safety reminder as well as a philosophical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tone: this is a discipline, not a talent. Anyone who does this consistently improves.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timeline should feel familiar — it echoes module 02's scent strip introduction, now turned into a discipline.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a template — the same eight fields, every single evaluation, so patterns become visible over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Connects directly back to module 04's dilution ladder — reinforce the link between the two modules.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exact schema we'll show in the sample card next — recommend a spreadsheet or simple database, whichever software you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difference between a hobbyist who plateaus and a nose that keeps improving for years — treat it as a daily habit, not a one-time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your actual software on screen here if possible — this slide is a mock-up standing in for a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by reinforcing the daily habit — consistency over intensity.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hands-on, practical module. Encourage students to have a few materials on hand to build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live example if possible — build a two-material accord on camera and let it click for viewers.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viewers to guess how many materials might build each of these before revealing the apple breakdown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class to break down apple before you reveal it — this is a genuinely great teaching exercise on camera.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exact mental process students should repeat for any accord they want to build — not a formula to copy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is a natural pairing exercise after apple — it shows the same facet-mapping method applied to a base-note accord instead of a top-note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Leather is a great contrast to amber — almost entirely one family, showing that an accord doesn't always need materials from many families.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Assign one of these four as homework — building even a rough version from the facet list teaches the method faster than watching another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Prevent a common mistake: students treating a good accord as a complete, sellable fragrance.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Jean Carles' method is one of the most influential teaching frameworks in perfumery history — worth a short story about him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these five ratios are smelled and logged, introduce material C and repeat the process against the best A:B blend.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loop repeats throughout the entire course — module 08 revisits it at the full-formula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— this single discipline is what separates methodical perfumers from ones who guess and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module where everything so far converges — terminology, materials, dilution, accords. Frame it as the culmination.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mental checklist students should run through for every formula they build from now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write their own one-sentence idea before building — this becomes the north star for the whole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how these four pieces, each built with the Jean Carles method from module 06, come together into one composition.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 bridge from module 06 — reassure students the method they just learned scales up cleanly.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example formulas that follow will each demonstrate this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conceptual bridge between the architecture checklist and the four worked examples that follow — point back to it while walking through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each material earns its place — this is more valuable than the exact percentages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this with the fresh formula — notice how few volatile top notes it needs; woods live in the heart and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how bergamot's job here is purely structural — preventing the gourmand from feeling flat and cloying.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small vanillin at the base — a common technique to add warmth without turning a floral into a gourmand.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principle of restraint — the best formulas are edited, not just assembled.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version 1 is never the finished formula. This module is about the iteration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reinforces the habit from module 05, now applied specifically to full formulas rather than single materials.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timeline discipline as module 05, scaled up to the whole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"Do I like it?" is an emotional question with no next action. These six questions each point directly to a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companion to the six questions on the previous slide — every "yes, this is a problem" answer points here for the actual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mirrors module 06's accord loop exactly — reinforce that it's the same discipline at every scale of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connects to the Jean Carles "change one variable" principle from module 06 — repeat it here at the formula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with patience as the core message — most formulas are abandoned too early, before their drydown is even understood.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bridges formula work to an actual finished bottle — a satisfying, tangible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Emphasise: the percentages never change with scale — only the total weight does. This is why percentage-based formula sheets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simple and visual — students already saw a more detailed breakdown in module 01, this is the practical compounding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sets up module 10's discussion of maceration and solubility — the two topics are closely related.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an easy default to overuse — stress the 'not blindly' point, it's explicitly called out for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seven-step flow is the professional standard — module 10 goes deep on the maceration step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respect for the process — beginners often rush the alcohol and maceration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often gets skipped by impatient beginners — make the case for why patience pays off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real, observable effects — ground the module in what's actually measurable, not folklore.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science accessible — the goal is confidence, not a chemistry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realistic expectations for how long students should wait before final-judging a compound.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myth causes real wasted time — some students let a broken formula sit for months hoping it will "come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concrete, repeatable routine students can follow for every formula going forward.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module's core lesson — patience matters, but it isn't a substitute for good formula construction.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this module calmly and clearly — compliance overwhelms beginners fast. Keep the visual language simple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this disclaimer clearly on camera as well — it protects both students and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IFRA categories cover everything from fine fragrance to household products — explain that the limit depends on end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calculation trips up almost every beginner — walk through it slowly and repeat it for a second material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raw material supplier should provide an SDS — if they don't, that's a red flag about the supplier, not just the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students this isn't a reason to fear naturals — it's simply a labelling requirement to plan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CLP determines what actually has to appear on your finished product's label, based on your formula's hazard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Many self-taught beginners lean on Good Scents for compliance decisions — this correction genuinely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answer to "where do I actually check?" — a clean reference list students can return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flow is the practical checklist to run through before any formula is offered for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firmly but not scarily — this is manageable with the right habits, not a reason to avoid launching a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closing, exciting module — bring both presenters' energy together for the finale.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above this line has been covered in modules 01–11 — this slide is a checkpoint before moving to brand-building.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start with stock bottles for their first run — custom tooling is a later-stage investment.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beautiful label that dissolves the first time it touches spilled perfume is a real, common beginner mistake.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Packaging is often the deciding factor in a first impression, before a customer has smelled anything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sets up the positioning and storytelling slides that follow — it's the conceptual heart of the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There's no wrong lane — the mistake is trying to occupy several at once. Encourage students to commit to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successful independent brands start with 2–3 of these channels, not all nine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a note list against a genuine brand story live — the difference is usually obvious once pointed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entire course on this slide — it's a map of everything taught across all thirteen modules,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 slide of the entire course — let this close with warmth. Thank the community and point them back to Discord for their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5749" y="1967789"/>
            <a:ext cx="2922422" cy="2922422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52076" y="3214116"/>
            <a:ext cx="429768" cy="429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00 · INTRODUCTION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YEVFUMES DISCORD COURSE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Art &amp; Science</a:t>
            </a:r>
            <a:endParaRPr lang="en-US" sz="6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Perfumery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hands-on, beginner-to-intermediate perfumery education — built to be watched, smelled, and practiced alongside every lesson.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deck, the videos and Discord fit together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your teachers, Yev and Kristan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roadmap through all 13 modules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TAUGHT BY YEV &amp; KRISTAN</a:t>
            </a:r>
            <a:endParaRPr lang="en-US" sz="1250" dirty="0"/>
          </a:p>
        </p:txBody>
      </p:sp>
      <p:sp>
        <p:nvSpPr>
          <p:cNvPr id="20" name="trans_fade_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deck is not the lesson.</a:t>
            </a:r>
            <a:endParaRPr lang="en-US" sz="32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your lab notebook.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04815" y="1239926"/>
            <a:ext cx="485785" cy="437815"/>
          </a:xfrm>
          <a:prstGeom prst="roundRect">
            <a:avLst>
              <a:gd name="adj" fmla="val 8354"/>
            </a:avLst>
          </a:prstGeom>
          <a:solidFill>
            <a:srgbClr val="0E0D0B"/>
          </a:solidFill>
          <a:ln/>
        </p:spPr>
      </p:sp>
      <p:sp>
        <p:nvSpPr>
          <p:cNvPr id="11" name="Shape 9"/>
          <p:cNvSpPr/>
          <p:nvPr/>
        </p:nvSpPr>
        <p:spPr>
          <a:xfrm>
            <a:off x="9336497" y="1677741"/>
            <a:ext cx="422422" cy="700504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93382" y="2378245"/>
            <a:ext cx="1508650" cy="3239829"/>
          </a:xfrm>
          <a:prstGeom prst="roundRect">
            <a:avLst>
              <a:gd name="adj" fmla="val 7273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29958" y="3674176"/>
            <a:ext cx="1435498" cy="1907321"/>
          </a:xfrm>
          <a:prstGeom prst="roundRect">
            <a:avLst>
              <a:gd name="adj" fmla="val 6370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004594" y="3479787"/>
            <a:ext cx="1086228" cy="842356"/>
          </a:xfrm>
          <a:prstGeom prst="roundRect">
            <a:avLst>
              <a:gd name="adj" fmla="val 3257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course companion — one bottle, one page, one idea at a time.</a:t>
            </a:r>
            <a:endParaRPr lang="en-US" sz="1050" dirty="0"/>
          </a:p>
        </p:txBody>
      </p:sp>
      <p:sp>
        <p:nvSpPr>
          <p:cNvPr id="16" name="bld1_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1_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video, not for reading</a:t>
            </a:r>
            <a:endParaRPr lang="en-US" sz="1650" dirty="0"/>
          </a:p>
        </p:txBody>
      </p:sp>
      <p:sp>
        <p:nvSpPr>
          <p:cNvPr id="18" name="bld1_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slide is a visual anchor for what Yev or Kristan are explaining out loud — not a script. Watch, listen, and use the slide to stay oriented.</a:t>
            </a:r>
            <a:endParaRPr lang="en-US" sz="1250" dirty="0"/>
          </a:p>
        </p:txBody>
      </p:sp>
      <p:sp>
        <p:nvSpPr>
          <p:cNvPr id="19" name="bld2_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2_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Beginner to intermediate</a:t>
            </a:r>
            <a:endParaRPr lang="en-US" sz="1650" dirty="0"/>
          </a:p>
        </p:txBody>
      </p:sp>
      <p:sp>
        <p:nvSpPr>
          <p:cNvPr id="21" name="bld2_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 with zero assumptions and build to full formula construction, evaluation, compliance and brand launch.</a:t>
            </a:r>
            <a:endParaRPr lang="en-US" sz="1250" dirty="0"/>
          </a:p>
        </p:txBody>
      </p:sp>
      <p:sp>
        <p:nvSpPr>
          <p:cNvPr id="22" name="bld3_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3_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Made to be practiced</a:t>
            </a:r>
            <a:endParaRPr lang="en-US" sz="1650" dirty="0"/>
          </a:p>
        </p:txBody>
      </p:sp>
      <p:sp>
        <p:nvSpPr>
          <p:cNvPr id="24" name="bld3_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pairs with real smelling, real dilution, and real formula work — not passive watching.</a:t>
            </a:r>
            <a:endParaRPr lang="en-US" sz="1250" dirty="0"/>
          </a:p>
        </p:txBody>
      </p:sp>
      <p:sp>
        <p:nvSpPr>
          <p:cNvPr id="26" name="trans_fade_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YOUR TEACHERS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Yev &amp; Kristan</a:t>
            </a:r>
            <a:endParaRPr lang="en-US" sz="3200" dirty="0"/>
          </a:p>
        </p:txBody>
      </p:sp>
      <p:sp>
        <p:nvSpPr>
          <p:cNvPr id="7" name="bld1_9"/>
          <p:cNvSpPr/>
          <p:nvPr/>
        </p:nvSpPr>
        <p:spPr>
          <a:xfrm>
            <a:off x="548640" y="1783080"/>
            <a:ext cx="5318608" cy="4617720"/>
          </a:xfrm>
          <a:prstGeom prst="roundRect">
            <a:avLst>
              <a:gd name="adj" fmla="val 2772"/>
            </a:avLst>
          </a:prstGeom>
          <a:solidFill>
            <a:srgbClr val="EFE6D2"/>
          </a:solidFill>
          <a:ln/>
        </p:spPr>
      </p:sp>
      <p:sp>
        <p:nvSpPr>
          <p:cNvPr id="8" name="bld1_10"/>
          <p:cNvSpPr/>
          <p:nvPr/>
        </p:nvSpPr>
        <p:spPr>
          <a:xfrm>
            <a:off x="2586152" y="2121408"/>
            <a:ext cx="1243584" cy="1243584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9" name="bld1_11"/>
          <p:cNvSpPr txBox="1"/>
          <p:nvPr/>
        </p:nvSpPr>
        <p:spPr>
          <a:xfrm>
            <a:off x="2586152" y="2121408"/>
            <a:ext cx="12435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3000" dirty="0"/>
          </a:p>
        </p:txBody>
      </p:sp>
      <p:sp>
        <p:nvSpPr>
          <p:cNvPr id="10" name="bld1_12"/>
          <p:cNvSpPr txBox="1"/>
          <p:nvPr/>
        </p:nvSpPr>
        <p:spPr>
          <a:xfrm>
            <a:off x="777240" y="36118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Yev</a:t>
            </a:r>
            <a:endParaRPr lang="en-US" sz="1900" dirty="0"/>
          </a:p>
        </p:txBody>
      </p:sp>
      <p:sp>
        <p:nvSpPr>
          <p:cNvPr id="11" name="bld1_13"/>
          <p:cNvSpPr txBox="1"/>
          <p:nvPr/>
        </p:nvSpPr>
        <p:spPr>
          <a:xfrm>
            <a:off x="777240" y="3959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 · Lab · Business</a:t>
            </a:r>
            <a:endParaRPr lang="en-US" sz="1150" dirty="0"/>
          </a:p>
        </p:txBody>
      </p:sp>
      <p:sp>
        <p:nvSpPr>
          <p:cNvPr id="12" name="bld1_14"/>
          <p:cNvSpPr txBox="1"/>
          <p:nvPr/>
        </p:nvSpPr>
        <p:spPr>
          <a:xfrm>
            <a:off x="868680" y="4389120"/>
            <a:ext cx="4678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technical side — equipment, dilution, compounding, compliance and building a brand around a formula.</a:t>
            </a:r>
            <a:endParaRPr lang="en-US" sz="1150" dirty="0"/>
          </a:p>
        </p:txBody>
      </p:sp>
      <p:sp>
        <p:nvSpPr>
          <p:cNvPr id="13" name="bld2_15"/>
          <p:cNvSpPr/>
          <p:nvPr/>
        </p:nvSpPr>
        <p:spPr>
          <a:xfrm>
            <a:off x="6324448" y="1783080"/>
            <a:ext cx="5318608" cy="4617720"/>
          </a:xfrm>
          <a:prstGeom prst="roundRect">
            <a:avLst>
              <a:gd name="adj" fmla="val 2772"/>
            </a:avLst>
          </a:prstGeom>
          <a:solidFill>
            <a:srgbClr val="EFE6D2"/>
          </a:solidFill>
          <a:ln/>
        </p:spPr>
      </p:sp>
      <p:sp>
        <p:nvSpPr>
          <p:cNvPr id="14" name="bld2_16"/>
          <p:cNvSpPr/>
          <p:nvPr/>
        </p:nvSpPr>
        <p:spPr>
          <a:xfrm>
            <a:off x="8361959" y="2121408"/>
            <a:ext cx="1243584" cy="1243584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5" name="bld2_17"/>
          <p:cNvSpPr txBox="1"/>
          <p:nvPr/>
        </p:nvSpPr>
        <p:spPr>
          <a:xfrm>
            <a:off x="8361959" y="2121408"/>
            <a:ext cx="12435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3000" dirty="0"/>
          </a:p>
        </p:txBody>
      </p:sp>
      <p:sp>
        <p:nvSpPr>
          <p:cNvPr id="16" name="bld2_18"/>
          <p:cNvSpPr txBox="1"/>
          <p:nvPr/>
        </p:nvSpPr>
        <p:spPr>
          <a:xfrm>
            <a:off x="6553048" y="36118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Kristan</a:t>
            </a:r>
            <a:endParaRPr lang="en-US" sz="1900" dirty="0"/>
          </a:p>
        </p:txBody>
      </p:sp>
      <p:sp>
        <p:nvSpPr>
          <p:cNvPr id="17" name="bld2_19"/>
          <p:cNvSpPr txBox="1"/>
          <p:nvPr/>
        </p:nvSpPr>
        <p:spPr>
          <a:xfrm>
            <a:off x="6553048" y="3959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· Nose Training · Composition</a:t>
            </a:r>
            <a:endParaRPr lang="en-US" sz="1150" dirty="0"/>
          </a:p>
        </p:txBody>
      </p:sp>
      <p:sp>
        <p:nvSpPr>
          <p:cNvPr id="18" name="bld2_20"/>
          <p:cNvSpPr txBox="1"/>
          <p:nvPr/>
        </p:nvSpPr>
        <p:spPr>
          <a:xfrm>
            <a:off x="6644488" y="4389120"/>
            <a:ext cx="4678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creative side — raw materials, olfactory training, accord building and formula evaluation.</a:t>
            </a:r>
            <a:endParaRPr lang="en-US" sz="1150" dirty="0"/>
          </a:p>
        </p:txBody>
      </p:sp>
      <p:sp>
        <p:nvSpPr>
          <p:cNvPr id="20" name="trans_fade_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COURSE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actually be able to do</a:t>
            </a:r>
            <a:endParaRPr lang="en-US" sz="3200" dirty="0"/>
          </a:p>
        </p:txBody>
      </p:sp>
      <p:sp>
        <p:nvSpPr>
          <p:cNvPr id="7" name="bld1_21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2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3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a material</a:t>
            </a:r>
            <a:endParaRPr lang="en-US" sz="1450" dirty="0"/>
          </a:p>
        </p:txBody>
      </p:sp>
      <p:sp>
        <p:nvSpPr>
          <p:cNvPr id="10" name="bld1_24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family, longevity and role from a single scent strip.</a:t>
            </a:r>
            <a:endParaRPr lang="en-US" sz="1080" dirty="0"/>
          </a:p>
        </p:txBody>
      </p:sp>
      <p:sp>
        <p:nvSpPr>
          <p:cNvPr id="11" name="bld2_25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6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7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 with precision</a:t>
            </a:r>
            <a:endParaRPr lang="en-US" sz="1450" dirty="0"/>
          </a:p>
        </p:txBody>
      </p:sp>
      <p:sp>
        <p:nvSpPr>
          <p:cNvPr id="14" name="bld2_28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accurate working dilutions for any raw material.</a:t>
            </a:r>
            <a:endParaRPr lang="en-US" sz="1080" dirty="0"/>
          </a:p>
        </p:txBody>
      </p:sp>
      <p:sp>
        <p:nvSpPr>
          <p:cNvPr id="15" name="bld3_29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30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31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 accord</a:t>
            </a:r>
            <a:endParaRPr lang="en-US" sz="1450" dirty="0"/>
          </a:p>
        </p:txBody>
      </p:sp>
      <p:sp>
        <p:nvSpPr>
          <p:cNvPr id="18" name="bld3_32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a recognisable smell from individual materials.</a:t>
            </a:r>
            <a:endParaRPr lang="en-US" sz="1080" dirty="0"/>
          </a:p>
        </p:txBody>
      </p:sp>
      <p:sp>
        <p:nvSpPr>
          <p:cNvPr id="19" name="bld4_33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34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35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 a formula</a:t>
            </a:r>
            <a:endParaRPr lang="en-US" sz="1450" dirty="0"/>
          </a:p>
        </p:txBody>
      </p:sp>
      <p:sp>
        <p:nvSpPr>
          <p:cNvPr id="22" name="bld4_36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 idea into a structured, balanced composition.</a:t>
            </a:r>
            <a:endParaRPr lang="en-US" sz="1080" dirty="0"/>
          </a:p>
        </p:txBody>
      </p:sp>
      <p:sp>
        <p:nvSpPr>
          <p:cNvPr id="23" name="bld5_37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38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39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rigorously</a:t>
            </a:r>
            <a:endParaRPr lang="en-US" sz="1450" dirty="0"/>
          </a:p>
        </p:txBody>
      </p:sp>
      <p:sp>
        <p:nvSpPr>
          <p:cNvPr id="26" name="bld5_40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formula on scent strip over 48 hours, not by instinct alone.</a:t>
            </a:r>
            <a:endParaRPr lang="en-US" sz="1080" dirty="0"/>
          </a:p>
        </p:txBody>
      </p:sp>
      <p:sp>
        <p:nvSpPr>
          <p:cNvPr id="27" name="bld6_41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42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43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responsibly</a:t>
            </a:r>
            <a:endParaRPr lang="en-US" sz="1450" dirty="0"/>
          </a:p>
        </p:txBody>
      </p:sp>
      <p:sp>
        <p:nvSpPr>
          <p:cNvPr id="30" name="bld6_44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IFRA, SDS, compounding and the first steps of a brand.</a:t>
            </a:r>
            <a:endParaRPr lang="en-US" sz="1080" dirty="0"/>
          </a:p>
        </p:txBody>
      </p:sp>
      <p:sp>
        <p:nvSpPr>
          <p:cNvPr id="32" name="trans_fade_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COURSE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roadmap through 13 modules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726502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905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60763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733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69000" y="1726502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69000" y="17905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754216" y="160763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Perfumery Basics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754216" y="19733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" y="2326577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23905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22077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Equipment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734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69000" y="2326577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69000" y="23905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754216" y="22077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 — Naturals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754216" y="25734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" y="2926652"/>
            <a:ext cx="438912" cy="438912"/>
          </a:xfrm>
          <a:prstGeom prst="ellipse">
            <a:avLst/>
          </a:prstGeom>
          <a:ln w="14630">
            <a:solidFill>
              <a:srgbClr val="5B3A5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29906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077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 — Synthetics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735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69000" y="2926652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69000" y="29906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754216" y="28077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Order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6754216" y="31735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1792" y="3526726"/>
            <a:ext cx="438912" cy="438912"/>
          </a:xfrm>
          <a:prstGeom prst="ellipse">
            <a:avLst/>
          </a:prstGeom>
          <a:ln w="14630">
            <a:solidFill>
              <a:srgbClr val="5B3A5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" y="35907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207008" y="3407854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Dilute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1207008" y="37736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69000" y="3526726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69000" y="35907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754216" y="3407854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Your Nose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6754216" y="37736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792" y="4126801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" y="41908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207008" y="4007929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Accords</a:t>
            </a:r>
            <a:endParaRPr lang="en-US" sz="1450" dirty="0"/>
          </a:p>
        </p:txBody>
      </p:sp>
      <p:sp>
        <p:nvSpPr>
          <p:cNvPr id="39" name="Text 37"/>
          <p:cNvSpPr txBox="1"/>
          <p:nvPr/>
        </p:nvSpPr>
        <p:spPr>
          <a:xfrm>
            <a:off x="1207008" y="43736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169000" y="4126801"/>
            <a:ext cx="438912" cy="438912"/>
          </a:xfrm>
          <a:prstGeom prst="ellipse">
            <a:avLst/>
          </a:prstGeom>
          <a:ln w="14630">
            <a:solidFill>
              <a:srgbClr val="6E7A5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169000" y="41908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754216" y="4007929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Construction</a:t>
            </a:r>
            <a:endParaRPr lang="en-US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6754216" y="43736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1792" y="4726877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1792" y="47908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1207008" y="46080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Evaluating &amp; Developing</a:t>
            </a:r>
            <a:endParaRPr lang="en-US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1207008" y="49737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169000" y="4726877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69000" y="47908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754216" y="46080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&amp; Compounding</a:t>
            </a:r>
            <a:endParaRPr lang="en-US" sz="1450" dirty="0"/>
          </a:p>
        </p:txBody>
      </p:sp>
      <p:sp>
        <p:nvSpPr>
          <p:cNvPr id="51" name="Text 49"/>
          <p:cNvSpPr txBox="1"/>
          <p:nvPr/>
        </p:nvSpPr>
        <p:spPr>
          <a:xfrm>
            <a:off x="6754216" y="49737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21792" y="5326952"/>
            <a:ext cx="438912" cy="438912"/>
          </a:xfrm>
          <a:prstGeom prst="ellipse">
            <a:avLst/>
          </a:prstGeom>
          <a:ln w="14630">
            <a:solidFill>
              <a:srgbClr val="6E7A5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21792" y="5390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1207008" y="52080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Maturation &amp; Maceration</a:t>
            </a:r>
            <a:endParaRPr 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1207008" y="55738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169000" y="5326952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169000" y="5390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6754216" y="52080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450" dirty="0"/>
          </a:p>
        </p:txBody>
      </p:sp>
      <p:sp>
        <p:nvSpPr>
          <p:cNvPr id="59" name="Text 57"/>
          <p:cNvSpPr txBox="1"/>
          <p:nvPr/>
        </p:nvSpPr>
        <p:spPr>
          <a:xfrm>
            <a:off x="6754216" y="55738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621792" y="5927027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21792" y="59910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1207008" y="580815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Starting A Brand</a:t>
            </a:r>
            <a:endParaRPr lang="en-US" sz="1450" dirty="0"/>
          </a:p>
        </p:txBody>
      </p:sp>
      <p:sp>
        <p:nvSpPr>
          <p:cNvPr id="63" name="Text 61"/>
          <p:cNvSpPr txBox="1"/>
          <p:nvPr/>
        </p:nvSpPr>
        <p:spPr>
          <a:xfrm>
            <a:off x="1207008" y="61739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65" name="trans_push_l_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6" name="Text 6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COURSE WORKS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Discord, one rhythm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06685" y="1627120"/>
            <a:ext cx="2682045" cy="2682045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25755" y="2046189"/>
            <a:ext cx="1843906" cy="1843906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296266" y="2716701"/>
            <a:ext cx="502883" cy="502883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community built around one shared curriculum.</a:t>
            </a:r>
            <a:endParaRPr lang="en-US" sz="1050" dirty="0"/>
          </a:p>
        </p:txBody>
      </p:sp>
      <p:sp>
        <p:nvSpPr>
          <p:cNvPr id="14" name="bld1_4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4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+ slide, every lesson</a:t>
            </a:r>
            <a:endParaRPr lang="en-US" sz="1650" dirty="0"/>
          </a:p>
        </p:txBody>
      </p:sp>
      <p:sp>
        <p:nvSpPr>
          <p:cNvPr id="16" name="bld1_47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video with this deck open — the slide tells you where you are, the video does the teaching.</a:t>
            </a:r>
            <a:endParaRPr lang="en-US" sz="1250" dirty="0"/>
          </a:p>
        </p:txBody>
      </p:sp>
      <p:sp>
        <p:nvSpPr>
          <p:cNvPr id="17" name="bld2_48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bld2_49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smelling homework</a:t>
            </a:r>
            <a:endParaRPr lang="en-US" sz="1650" dirty="0"/>
          </a:p>
        </p:txBody>
      </p:sp>
      <p:sp>
        <p:nvSpPr>
          <p:cNvPr id="19" name="bld2_50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includes materials to physically smell and log before the next lesson.</a:t>
            </a:r>
            <a:endParaRPr lang="en-US" sz="1250" dirty="0"/>
          </a:p>
        </p:txBody>
      </p:sp>
      <p:sp>
        <p:nvSpPr>
          <p:cNvPr id="20" name="bld3_51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3_52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threads</a:t>
            </a:r>
            <a:endParaRPr lang="en-US" sz="1650" dirty="0"/>
          </a:p>
        </p:txBody>
      </p:sp>
      <p:sp>
        <p:nvSpPr>
          <p:cNvPr id="22" name="bld3_53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your evaluations, accords and formulas in Discord for feedback from Yev, Kristan and the group.</a:t>
            </a:r>
            <a:endParaRPr lang="en-US" sz="1250" dirty="0"/>
          </a:p>
        </p:txBody>
      </p:sp>
      <p:sp>
        <p:nvSpPr>
          <p:cNvPr id="23" name="bld4_54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4" name="bld4_55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 hours</a:t>
            </a:r>
            <a:endParaRPr lang="en-US" sz="1650" dirty="0"/>
          </a:p>
        </p:txBody>
      </p:sp>
      <p:sp>
        <p:nvSpPr>
          <p:cNvPr id="25" name="bld4_56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Q&amp;A sessions to troubleshoot formulas and answer anything the videos didn't cover.</a:t>
            </a:r>
            <a:endParaRPr lang="en-US" sz="1250" dirty="0"/>
          </a:p>
        </p:txBody>
      </p:sp>
      <p:sp>
        <p:nvSpPr>
          <p:cNvPr id="27" name="trans_fade_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LEARN PERFUMERY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mindset that actually works</a:t>
            </a:r>
            <a:endParaRPr lang="en-US" sz="3200" dirty="0"/>
          </a:p>
        </p:txBody>
      </p:sp>
      <p:sp>
        <p:nvSpPr>
          <p:cNvPr id="7" name="bld1_57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58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59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it yourself</a:t>
            </a:r>
            <a:endParaRPr lang="en-US" sz="1450" dirty="0"/>
          </a:p>
        </p:txBody>
      </p:sp>
      <p:sp>
        <p:nvSpPr>
          <p:cNvPr id="10" name="bld1_60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description replaces putting a strip under your nose. Reading about rose is not smelling rose.</a:t>
            </a:r>
            <a:endParaRPr lang="en-US" sz="1080" dirty="0"/>
          </a:p>
        </p:txBody>
      </p:sp>
      <p:sp>
        <p:nvSpPr>
          <p:cNvPr id="11" name="bld2_61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62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2_63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fearlessly</a:t>
            </a:r>
            <a:endParaRPr lang="en-US" sz="1450" dirty="0"/>
          </a:p>
        </p:txBody>
      </p:sp>
      <p:sp>
        <p:nvSpPr>
          <p:cNvPr id="14" name="bld2_64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mistakes on a scent strip are how you learn. Perfect formulas don't come first — reps do.</a:t>
            </a:r>
            <a:endParaRPr lang="en-US" sz="1080" dirty="0"/>
          </a:p>
        </p:txBody>
      </p:sp>
      <p:sp>
        <p:nvSpPr>
          <p:cNvPr id="15" name="bld3_65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66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67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records</a:t>
            </a:r>
            <a:endParaRPr lang="en-US" sz="1450" dirty="0"/>
          </a:p>
        </p:txBody>
      </p:sp>
      <p:sp>
        <p:nvSpPr>
          <p:cNvPr id="18" name="bld3_68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un-logged smell is a lost lesson. Write it down every single time.</a:t>
            </a:r>
            <a:endParaRPr lang="en-US" sz="1080" dirty="0"/>
          </a:p>
        </p:txBody>
      </p:sp>
      <p:sp>
        <p:nvSpPr>
          <p:cNvPr id="19" name="bld4_69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70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4_71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Revisit often</a:t>
            </a:r>
            <a:endParaRPr lang="en-US" sz="1450" dirty="0"/>
          </a:p>
        </p:txBody>
      </p:sp>
      <p:sp>
        <p:nvSpPr>
          <p:cNvPr id="22" name="bld4_72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change on your skin, on a strip, over hours. Smell things more than once.</a:t>
            </a:r>
            <a:endParaRPr lang="en-US" sz="1080" dirty="0"/>
          </a:p>
        </p:txBody>
      </p:sp>
      <p:sp>
        <p:nvSpPr>
          <p:cNvPr id="23" name="bld5_73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74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75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Think, don't copy</a:t>
            </a:r>
            <a:endParaRPr lang="en-US" sz="1450" dirty="0"/>
          </a:p>
        </p:txBody>
      </p:sp>
      <p:sp>
        <p:nvSpPr>
          <p:cNvPr id="26" name="bld5_76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you copy teaches you nothing. A formula you build teaches you everything.</a:t>
            </a:r>
            <a:endParaRPr lang="en-US" sz="1080" dirty="0"/>
          </a:p>
        </p:txBody>
      </p:sp>
      <p:sp>
        <p:nvSpPr>
          <p:cNvPr id="27" name="bld6_77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78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79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 patient with your nose</a:t>
            </a:r>
            <a:endParaRPr lang="en-US" sz="1450" dirty="0"/>
          </a:p>
        </p:txBody>
      </p:sp>
      <p:sp>
        <p:nvSpPr>
          <p:cNvPr id="30" name="bld6_80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Olfactory memory is trained like any other skill — daily, gradually, over months.</a:t>
            </a:r>
            <a:endParaRPr lang="en-US" sz="1080" dirty="0"/>
          </a:p>
        </p:txBody>
      </p:sp>
      <p:sp>
        <p:nvSpPr>
          <p:cNvPr id="32" name="trans_fade_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17150F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4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cannot learn to smell from a screen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2315413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9129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164482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78198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6013552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27268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862621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76337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8C3B49">
              <a:alpha val="7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11690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25406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pairs with physical scent strips. Order your materials before you start.</a:t>
            </a:r>
            <a:endParaRPr lang="en-US" sz="1200" dirty="0"/>
          </a:p>
        </p:txBody>
      </p:sp>
      <p:sp>
        <p:nvSpPr>
          <p:cNvPr id="20" name="trans_fade_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ORGANISED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systems every perfumer keeps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17150F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36751" y="1518043"/>
            <a:ext cx="3821914" cy="3821914"/>
          </a:xfrm>
          <a:prstGeom prst="ellipse">
            <a:avLst/>
          </a:prstGeom>
          <a:solidFill>
            <a:srgbClr val="CFC5AE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3026693"/>
            <a:ext cx="905190" cy="40230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52898" y="3026693"/>
            <a:ext cx="905190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452898" y="3529577"/>
            <a:ext cx="905190" cy="80461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44247" y="4334190"/>
            <a:ext cx="1508650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944247" y="3429000"/>
            <a:ext cx="603460" cy="9051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41364" y="2926117"/>
            <a:ext cx="1106344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86785" y="3268077"/>
            <a:ext cx="321845" cy="321845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337235" y="2911030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242425" y="341391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37235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28584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25701" y="281045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show the exact software setup used throughout this course.</a:t>
            </a:r>
            <a:endParaRPr lang="en-US" sz="1050" dirty="0"/>
          </a:p>
        </p:txBody>
      </p:sp>
      <p:sp>
        <p:nvSpPr>
          <p:cNvPr id="24" name="bld1_8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bld1_8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 library</a:t>
            </a:r>
            <a:endParaRPr lang="en-US" sz="1650" dirty="0"/>
          </a:p>
        </p:txBody>
      </p:sp>
      <p:sp>
        <p:nvSpPr>
          <p:cNvPr id="26" name="bld1_83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material logged with supplier, dilution, family and notes — your personal reference.</a:t>
            </a:r>
            <a:endParaRPr lang="en-US" sz="1250" dirty="0"/>
          </a:p>
        </p:txBody>
      </p:sp>
      <p:sp>
        <p:nvSpPr>
          <p:cNvPr id="27" name="bld2_84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8" name="bld2_85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 library</a:t>
            </a:r>
            <a:endParaRPr lang="en-US" sz="1650" dirty="0"/>
          </a:p>
        </p:txBody>
      </p:sp>
      <p:sp>
        <p:nvSpPr>
          <p:cNvPr id="29" name="bld2_86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building blocks — a rose accord, a woody base — you can drop into future formulas.</a:t>
            </a:r>
            <a:endParaRPr lang="en-US" sz="1250" dirty="0"/>
          </a:p>
        </p:txBody>
      </p:sp>
      <p:sp>
        <p:nvSpPr>
          <p:cNvPr id="30" name="bld3_87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88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sheets</a:t>
            </a:r>
            <a:endParaRPr lang="en-US" sz="1650" dirty="0"/>
          </a:p>
        </p:txBody>
      </p:sp>
      <p:sp>
        <p:nvSpPr>
          <p:cNvPr id="32" name="bld3_89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version of every formula, with dates, percentages and change notes.</a:t>
            </a:r>
            <a:endParaRPr lang="en-US" sz="1250" dirty="0"/>
          </a:p>
        </p:txBody>
      </p:sp>
      <p:sp>
        <p:nvSpPr>
          <p:cNvPr id="33" name="bld4_90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4" name="bld4_91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Scent-strip evaluation log</a:t>
            </a:r>
            <a:endParaRPr lang="en-US" sz="1650" dirty="0"/>
          </a:p>
        </p:txBody>
      </p:sp>
      <p:sp>
        <p:nvSpPr>
          <p:cNvPr id="35" name="bld4_92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Dated, timestamped notes on how a material or formula evolves over 48 hours.</a:t>
            </a:r>
            <a:endParaRPr lang="en-US" sz="1250" dirty="0"/>
          </a:p>
        </p:txBody>
      </p:sp>
      <p:sp>
        <p:nvSpPr>
          <p:cNvPr id="37" name="trans_fade_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not teaching you to copy formulas.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teaching you to think like a perfumer.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00</a:t>
            </a:r>
            <a:endParaRPr lang="en-US" sz="1100" dirty="0"/>
          </a:p>
        </p:txBody>
      </p:sp>
      <p:sp>
        <p:nvSpPr>
          <p:cNvPr id="10" name="trans_fade_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9795" y="1881835"/>
            <a:ext cx="3094330" cy="309433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3067995"/>
            <a:ext cx="812262" cy="36100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9222" y="3067995"/>
            <a:ext cx="812262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79222" y="3519251"/>
            <a:ext cx="812262" cy="72201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25452" y="4241262"/>
            <a:ext cx="1353769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425452" y="3429000"/>
            <a:ext cx="541508" cy="81226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4196" y="2977744"/>
            <a:ext cx="992764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22558" y="3284598"/>
            <a:ext cx="288804" cy="2888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75433" y="2964206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487694" y="3415462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7543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166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70407" y="2873955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· PERFUMERY BASICS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Vocabulary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Perfumery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can build a formula, you need the words perfumers actually use to describe one.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key terms, with real-world examples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fragrance pyramid and concentration tiers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vs. synthetics, and the myths around both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31" name="trans_fade_1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TERMINOLOGY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words you'll hear constantly</a:t>
            </a:r>
            <a:endParaRPr lang="en-US" sz="3200" dirty="0"/>
          </a:p>
        </p:txBody>
      </p:sp>
      <p:sp>
        <p:nvSpPr>
          <p:cNvPr id="7" name="bld1_93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94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95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Concentrate</a:t>
            </a:r>
            <a:endParaRPr lang="en-US" sz="1450" dirty="0"/>
          </a:p>
        </p:txBody>
      </p:sp>
      <p:sp>
        <p:nvSpPr>
          <p:cNvPr id="10" name="bld1_96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undiluted blend of raw materials before alcohol or solvent is added.</a:t>
            </a:r>
            <a:endParaRPr lang="en-US" sz="1080" dirty="0"/>
          </a:p>
        </p:txBody>
      </p:sp>
      <p:sp>
        <p:nvSpPr>
          <p:cNvPr id="11" name="bld2_97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98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99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</a:t>
            </a:r>
            <a:endParaRPr lang="en-US" sz="1450" dirty="0"/>
          </a:p>
        </p:txBody>
      </p:sp>
      <p:sp>
        <p:nvSpPr>
          <p:cNvPr id="14" name="bld2_100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finished, mixed formula — naturals and synthetics combined into one liquid.</a:t>
            </a:r>
            <a:endParaRPr lang="en-US" sz="1080" dirty="0"/>
          </a:p>
        </p:txBody>
      </p:sp>
      <p:sp>
        <p:nvSpPr>
          <p:cNvPr id="15" name="bld3_101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02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03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</a:t>
            </a:r>
            <a:endParaRPr lang="en-US" sz="1450" dirty="0"/>
          </a:p>
        </p:txBody>
      </p:sp>
      <p:sp>
        <p:nvSpPr>
          <p:cNvPr id="18" name="bld3_104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or formula reduced in strength with a solvent, expressed as a %.</a:t>
            </a:r>
            <a:endParaRPr lang="en-US" sz="1080" dirty="0"/>
          </a:p>
        </p:txBody>
      </p:sp>
      <p:sp>
        <p:nvSpPr>
          <p:cNvPr id="19" name="bld4_105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06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07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</a:t>
            </a:r>
            <a:endParaRPr lang="en-US" sz="1450" dirty="0"/>
          </a:p>
        </p:txBody>
      </p:sp>
      <p:sp>
        <p:nvSpPr>
          <p:cNvPr id="22" name="bld4_108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materials blended so they read as one new, unified smell.</a:t>
            </a:r>
            <a:endParaRPr lang="en-US" sz="1080" dirty="0"/>
          </a:p>
        </p:txBody>
      </p:sp>
      <p:sp>
        <p:nvSpPr>
          <p:cNvPr id="23" name="bld5_109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10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111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450" dirty="0"/>
          </a:p>
        </p:txBody>
      </p:sp>
      <p:sp>
        <p:nvSpPr>
          <p:cNvPr id="26" name="bld5_112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pre-built accord used as a foundation — e.g. a musk base or an amber base.</a:t>
            </a:r>
            <a:endParaRPr lang="en-US" sz="1080" dirty="0"/>
          </a:p>
        </p:txBody>
      </p:sp>
      <p:sp>
        <p:nvSpPr>
          <p:cNvPr id="27" name="bld6_113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14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15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</a:t>
            </a:r>
            <a:endParaRPr lang="en-US" sz="1450" dirty="0"/>
          </a:p>
        </p:txBody>
      </p:sp>
      <p:sp>
        <p:nvSpPr>
          <p:cNvPr id="30" name="bld6_116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added in small amounts to shift the character of an accord.</a:t>
            </a:r>
            <a:endParaRPr lang="en-US" sz="1080" dirty="0"/>
          </a:p>
        </p:txBody>
      </p:sp>
      <p:sp>
        <p:nvSpPr>
          <p:cNvPr id="32" name="trans_fade_1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TERMINOLOGY · PART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more, about how a scent behaves</a:t>
            </a:r>
            <a:endParaRPr lang="en-US" sz="3200" dirty="0"/>
          </a:p>
        </p:txBody>
      </p:sp>
      <p:sp>
        <p:nvSpPr>
          <p:cNvPr id="7" name="bld1_117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18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19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Solvent</a:t>
            </a:r>
            <a:endParaRPr lang="en-US" sz="1450" dirty="0"/>
          </a:p>
        </p:txBody>
      </p:sp>
      <p:sp>
        <p:nvSpPr>
          <p:cNvPr id="10" name="bld1_120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 used to carry and dilute materials — ethanol, DPG, TEC and others.</a:t>
            </a:r>
            <a:endParaRPr lang="en-US" sz="1080" dirty="0"/>
          </a:p>
        </p:txBody>
      </p:sp>
      <p:sp>
        <p:nvSpPr>
          <p:cNvPr id="11" name="bld2_121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22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23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Fixative</a:t>
            </a:r>
            <a:endParaRPr lang="en-US" sz="1450" dirty="0"/>
          </a:p>
        </p:txBody>
      </p:sp>
      <p:sp>
        <p:nvSpPr>
          <p:cNvPr id="14" name="bld2_124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that slows evaporation of lighter notes and extends overall wear.</a:t>
            </a:r>
            <a:endParaRPr lang="en-US" sz="1080" dirty="0"/>
          </a:p>
        </p:txBody>
      </p:sp>
      <p:sp>
        <p:nvSpPr>
          <p:cNvPr id="15" name="bld3_125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26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27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18" name="bld3_128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and how easily a scent spreads into the surrounding air.</a:t>
            </a:r>
            <a:endParaRPr lang="en-US" sz="1080" dirty="0"/>
          </a:p>
        </p:txBody>
      </p:sp>
      <p:sp>
        <p:nvSpPr>
          <p:cNvPr id="19" name="bld4_129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30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31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Tenacity</a:t>
            </a:r>
            <a:endParaRPr lang="en-US" sz="1450" dirty="0"/>
          </a:p>
        </p:txBody>
      </p:sp>
      <p:sp>
        <p:nvSpPr>
          <p:cNvPr id="22" name="bld4_132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a material or formula remains detectable over time.</a:t>
            </a:r>
            <a:endParaRPr lang="en-US" sz="1080" dirty="0"/>
          </a:p>
        </p:txBody>
      </p:sp>
      <p:sp>
        <p:nvSpPr>
          <p:cNvPr id="23" name="bld5_133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34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135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</a:t>
            </a:r>
            <a:endParaRPr lang="en-US" sz="1450" dirty="0"/>
          </a:p>
        </p:txBody>
      </p:sp>
      <p:sp>
        <p:nvSpPr>
          <p:cNvPr id="26" name="bld5_136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strongly a material registers, even at very low doses.</a:t>
            </a:r>
            <a:endParaRPr lang="en-US" sz="1080" dirty="0"/>
          </a:p>
        </p:txBody>
      </p:sp>
      <p:sp>
        <p:nvSpPr>
          <p:cNvPr id="27" name="bld6_137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38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39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</a:t>
            </a:r>
            <a:endParaRPr lang="en-US" sz="1450" dirty="0"/>
          </a:p>
        </p:txBody>
      </p:sp>
      <p:sp>
        <p:nvSpPr>
          <p:cNvPr id="30" name="bld6_140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 hours in — the final character once top notes have faded.</a:t>
            </a:r>
            <a:endParaRPr lang="en-US" sz="1080" dirty="0"/>
          </a:p>
        </p:txBody>
      </p:sp>
      <p:sp>
        <p:nvSpPr>
          <p:cNvPr id="32" name="trans_fade_1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SIX WORDS, WITH REAL EXAMPLES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accord, base and modifier actually look like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51211" y="4734549"/>
            <a:ext cx="1548507" cy="154850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271520" y="5154858"/>
            <a:ext cx="707889" cy="707889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141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42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2" name="bld1_143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accord, in practice</a:t>
            </a:r>
            <a:endParaRPr lang="en-US" sz="1450" dirty="0"/>
          </a:p>
        </p:txBody>
      </p:sp>
      <p:sp>
        <p:nvSpPr>
          <p:cNvPr id="13" name="bld1_144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 + geranium + a trace of clove — three materials that read as one unmistakable flower, not three chemicals.</a:t>
            </a:r>
            <a:endParaRPr lang="en-US" sz="1080" dirty="0"/>
          </a:p>
        </p:txBody>
      </p:sp>
      <p:sp>
        <p:nvSpPr>
          <p:cNvPr id="14" name="bld2_145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46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bld2_147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base, in practice</a:t>
            </a:r>
            <a:endParaRPr lang="en-US" sz="1450" dirty="0"/>
          </a:p>
        </p:txBody>
      </p:sp>
      <p:sp>
        <p:nvSpPr>
          <p:cNvPr id="17" name="bld2_148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pre-blended "musk base" bought ready-made and dropped straight into a formula for instant skin-like depth.</a:t>
            </a:r>
            <a:endParaRPr lang="en-US" sz="1080" dirty="0"/>
          </a:p>
        </p:txBody>
      </p:sp>
      <p:sp>
        <p:nvSpPr>
          <p:cNvPr id="18" name="bld3_149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50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0" name="bld3_151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modifier, in practice</a:t>
            </a:r>
            <a:endParaRPr lang="en-US" sz="1450" dirty="0"/>
          </a:p>
        </p:txBody>
      </p:sp>
      <p:sp>
        <p:nvSpPr>
          <p:cNvPr id="21" name="bld3_152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whisper of black pepper added to a vanilla accord — the vanilla is still the star, but it now reads spiced, not flat.</a:t>
            </a:r>
            <a:endParaRPr lang="en-US" sz="1080" dirty="0"/>
          </a:p>
        </p:txBody>
      </p:sp>
      <p:sp>
        <p:nvSpPr>
          <p:cNvPr id="23" name="trans_fade_1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FRAGRANCE CONCENTRATIONS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Extrait, EDP, EDT, EDC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51211" y="4734549"/>
            <a:ext cx="1548507" cy="154850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271520" y="5154858"/>
            <a:ext cx="707889" cy="707889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153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54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2" name="bld1_155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Extrait</a:t>
            </a:r>
            <a:endParaRPr lang="en-US" sz="1450" dirty="0"/>
          </a:p>
        </p:txBody>
      </p:sp>
      <p:sp>
        <p:nvSpPr>
          <p:cNvPr id="13" name="bld1_156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20–30% concentrate. The richest, most expensive tier — closest to skin, longest wear.</a:t>
            </a:r>
            <a:endParaRPr lang="en-US" sz="1080" dirty="0"/>
          </a:p>
        </p:txBody>
      </p:sp>
      <p:sp>
        <p:nvSpPr>
          <p:cNvPr id="14" name="bld2_157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58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2_159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Parfum</a:t>
            </a:r>
            <a:endParaRPr lang="en-US" sz="1450" dirty="0"/>
          </a:p>
        </p:txBody>
      </p:sp>
      <p:sp>
        <p:nvSpPr>
          <p:cNvPr id="17" name="bld2_160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15–20% concentrate. The modern default for most fine fragrance releases.</a:t>
            </a:r>
            <a:endParaRPr lang="en-US" sz="1080" dirty="0"/>
          </a:p>
        </p:txBody>
      </p:sp>
      <p:sp>
        <p:nvSpPr>
          <p:cNvPr id="18" name="bld3_161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62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163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Toilette</a:t>
            </a:r>
            <a:endParaRPr lang="en-US" sz="1450" dirty="0"/>
          </a:p>
        </p:txBody>
      </p:sp>
      <p:sp>
        <p:nvSpPr>
          <p:cNvPr id="21" name="bld3_164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5–15% concentrate. Lighter, fresher, common for everyday and citrus formulas.</a:t>
            </a:r>
            <a:endParaRPr lang="en-US" sz="1080" dirty="0"/>
          </a:p>
        </p:txBody>
      </p:sp>
      <p:sp>
        <p:nvSpPr>
          <p:cNvPr id="22" name="bld4_165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66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4_167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Cologne</a:t>
            </a:r>
            <a:endParaRPr lang="en-US" sz="1450" dirty="0"/>
          </a:p>
        </p:txBody>
      </p:sp>
      <p:sp>
        <p:nvSpPr>
          <p:cNvPr id="25" name="bld4_168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2–5% concentrate. Very light, classic citrus-led, applied liberally.</a:t>
            </a:r>
            <a:endParaRPr lang="en-US" sz="1080" dirty="0"/>
          </a:p>
        </p:txBody>
      </p:sp>
      <p:sp>
        <p:nvSpPr>
          <p:cNvPr id="27" name="trans_fade_1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CRITICAL DISTINCTION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Concentration is not performance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higher concentration percentage always means a stronger, longer-lasting fragrance."</a:t>
            </a:r>
            <a:endParaRPr lang="en-US" sz="2100" dirty="0"/>
          </a:p>
        </p:txBody>
      </p:sp>
      <p:sp>
        <p:nvSpPr>
          <p:cNvPr id="10" name="bld1_169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170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171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comes from which materials are used — their diffusion, tenacity and fixative structure — far more than from the raw % of concentrate. A well-built 10% EDT can outlast a poorly built 25% extrait. Concentration is a starting ratio, not a guarantee.</a:t>
            </a:r>
            <a:endParaRPr lang="en-US" sz="1450" dirty="0"/>
          </a:p>
        </p:txBody>
      </p:sp>
      <p:sp>
        <p:nvSpPr>
          <p:cNvPr id="14" name="trans_wipe_l_1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MODEL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fragrance pyramid</a:t>
            </a:r>
            <a:endParaRPr lang="en-US" sz="3200" dirty="0"/>
          </a:p>
        </p:txBody>
      </p:sp>
      <p:sp>
        <p:nvSpPr>
          <p:cNvPr id="7" name="bld1_172"/>
          <p:cNvSpPr/>
          <p:nvPr/>
        </p:nvSpPr>
        <p:spPr>
          <a:xfrm>
            <a:off x="3953933" y="1691640"/>
            <a:ext cx="4741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8" name="bld1_173"/>
          <p:cNvSpPr/>
          <p:nvPr/>
        </p:nvSpPr>
        <p:spPr>
          <a:xfrm>
            <a:off x="3906520" y="1771227"/>
            <a:ext cx="14224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9" name="bld1_174"/>
          <p:cNvSpPr/>
          <p:nvPr/>
        </p:nvSpPr>
        <p:spPr>
          <a:xfrm>
            <a:off x="3859107" y="1850813"/>
            <a:ext cx="23706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0" name="bld1_175"/>
          <p:cNvSpPr/>
          <p:nvPr/>
        </p:nvSpPr>
        <p:spPr>
          <a:xfrm>
            <a:off x="3811693" y="1930400"/>
            <a:ext cx="33189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1" name="bld1_176"/>
          <p:cNvSpPr/>
          <p:nvPr/>
        </p:nvSpPr>
        <p:spPr>
          <a:xfrm>
            <a:off x="3764280" y="2009987"/>
            <a:ext cx="42672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2" name="bld1_177"/>
          <p:cNvSpPr/>
          <p:nvPr/>
        </p:nvSpPr>
        <p:spPr>
          <a:xfrm>
            <a:off x="3716867" y="2089573"/>
            <a:ext cx="52154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3" name="bld1_178"/>
          <p:cNvSpPr/>
          <p:nvPr/>
        </p:nvSpPr>
        <p:spPr>
          <a:xfrm>
            <a:off x="3669453" y="2169160"/>
            <a:ext cx="61637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4" name="bld1_179"/>
          <p:cNvSpPr/>
          <p:nvPr/>
        </p:nvSpPr>
        <p:spPr>
          <a:xfrm>
            <a:off x="3622040" y="2248747"/>
            <a:ext cx="71120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5" name="bld1_180"/>
          <p:cNvSpPr/>
          <p:nvPr/>
        </p:nvSpPr>
        <p:spPr>
          <a:xfrm>
            <a:off x="3574627" y="2328333"/>
            <a:ext cx="80602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6" name="bld1_181"/>
          <p:cNvSpPr/>
          <p:nvPr/>
        </p:nvSpPr>
        <p:spPr>
          <a:xfrm>
            <a:off x="3527213" y="2407920"/>
            <a:ext cx="90085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7" name="bld1_182"/>
          <p:cNvSpPr/>
          <p:nvPr/>
        </p:nvSpPr>
        <p:spPr>
          <a:xfrm>
            <a:off x="3479800" y="2487507"/>
            <a:ext cx="99568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8" name="bld1_183"/>
          <p:cNvSpPr/>
          <p:nvPr/>
        </p:nvSpPr>
        <p:spPr>
          <a:xfrm>
            <a:off x="3432387" y="2567093"/>
            <a:ext cx="109050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9" name="bld1_184"/>
          <p:cNvSpPr/>
          <p:nvPr/>
        </p:nvSpPr>
        <p:spPr>
          <a:xfrm>
            <a:off x="3384973" y="2646680"/>
            <a:ext cx="118533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0" name="bld1_185"/>
          <p:cNvSpPr/>
          <p:nvPr/>
        </p:nvSpPr>
        <p:spPr>
          <a:xfrm>
            <a:off x="3337560" y="2726267"/>
            <a:ext cx="128016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1" name="bld1_186"/>
          <p:cNvSpPr/>
          <p:nvPr/>
        </p:nvSpPr>
        <p:spPr>
          <a:xfrm>
            <a:off x="3290147" y="2805853"/>
            <a:ext cx="137498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2" name="bld1_187"/>
          <p:cNvSpPr/>
          <p:nvPr/>
        </p:nvSpPr>
        <p:spPr>
          <a:xfrm>
            <a:off x="3242733" y="2885440"/>
            <a:ext cx="146981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3" name="bld1_188"/>
          <p:cNvSpPr/>
          <p:nvPr/>
        </p:nvSpPr>
        <p:spPr>
          <a:xfrm>
            <a:off x="3195320" y="2965027"/>
            <a:ext cx="156464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4" name="bld1_189"/>
          <p:cNvSpPr/>
          <p:nvPr/>
        </p:nvSpPr>
        <p:spPr>
          <a:xfrm>
            <a:off x="3147907" y="3044613"/>
            <a:ext cx="165946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5" name="bld1_190"/>
          <p:cNvSpPr txBox="1"/>
          <p:nvPr/>
        </p:nvSpPr>
        <p:spPr>
          <a:xfrm>
            <a:off x="-502920" y="211531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1300" dirty="0"/>
          </a:p>
        </p:txBody>
      </p:sp>
      <p:sp>
        <p:nvSpPr>
          <p:cNvPr id="26" name="bld1_191"/>
          <p:cNvSpPr txBox="1"/>
          <p:nvPr/>
        </p:nvSpPr>
        <p:spPr>
          <a:xfrm>
            <a:off x="6675120" y="211531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light fruits, aldehydes, aromatic herbs — the first impression, 0–30 minutes.</a:t>
            </a:r>
            <a:endParaRPr lang="en-US" sz="1100" dirty="0"/>
          </a:p>
        </p:txBody>
      </p:sp>
      <p:sp>
        <p:nvSpPr>
          <p:cNvPr id="27" name="bld2_192"/>
          <p:cNvSpPr/>
          <p:nvPr/>
        </p:nvSpPr>
        <p:spPr>
          <a:xfrm>
            <a:off x="3100493" y="3124200"/>
            <a:ext cx="175429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28" name="bld2_193"/>
          <p:cNvSpPr/>
          <p:nvPr/>
        </p:nvSpPr>
        <p:spPr>
          <a:xfrm>
            <a:off x="3053080" y="3203787"/>
            <a:ext cx="184912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29" name="bld2_194"/>
          <p:cNvSpPr/>
          <p:nvPr/>
        </p:nvSpPr>
        <p:spPr>
          <a:xfrm>
            <a:off x="3005667" y="3283373"/>
            <a:ext cx="194394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0" name="bld2_195"/>
          <p:cNvSpPr/>
          <p:nvPr/>
        </p:nvSpPr>
        <p:spPr>
          <a:xfrm>
            <a:off x="2958253" y="3362960"/>
            <a:ext cx="203877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1" name="bld2_196"/>
          <p:cNvSpPr/>
          <p:nvPr/>
        </p:nvSpPr>
        <p:spPr>
          <a:xfrm>
            <a:off x="2910840" y="3442547"/>
            <a:ext cx="213360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2" name="bld2_197"/>
          <p:cNvSpPr/>
          <p:nvPr/>
        </p:nvSpPr>
        <p:spPr>
          <a:xfrm>
            <a:off x="2863427" y="3522133"/>
            <a:ext cx="222842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3" name="bld2_198"/>
          <p:cNvSpPr/>
          <p:nvPr/>
        </p:nvSpPr>
        <p:spPr>
          <a:xfrm>
            <a:off x="2816013" y="3601720"/>
            <a:ext cx="232325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4" name="bld2_199"/>
          <p:cNvSpPr/>
          <p:nvPr/>
        </p:nvSpPr>
        <p:spPr>
          <a:xfrm>
            <a:off x="2768600" y="3681307"/>
            <a:ext cx="241808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5" name="bld2_200"/>
          <p:cNvSpPr/>
          <p:nvPr/>
        </p:nvSpPr>
        <p:spPr>
          <a:xfrm>
            <a:off x="2721187" y="3760893"/>
            <a:ext cx="251290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6" name="bld2_201"/>
          <p:cNvSpPr/>
          <p:nvPr/>
        </p:nvSpPr>
        <p:spPr>
          <a:xfrm>
            <a:off x="2673773" y="3840480"/>
            <a:ext cx="260773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7" name="bld2_202"/>
          <p:cNvSpPr/>
          <p:nvPr/>
        </p:nvSpPr>
        <p:spPr>
          <a:xfrm>
            <a:off x="2626360" y="3920067"/>
            <a:ext cx="270256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8" name="bld2_203"/>
          <p:cNvSpPr/>
          <p:nvPr/>
        </p:nvSpPr>
        <p:spPr>
          <a:xfrm>
            <a:off x="2578947" y="3999653"/>
            <a:ext cx="279738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9" name="bld2_204"/>
          <p:cNvSpPr/>
          <p:nvPr/>
        </p:nvSpPr>
        <p:spPr>
          <a:xfrm>
            <a:off x="2531533" y="4079240"/>
            <a:ext cx="289221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0" name="bld2_205"/>
          <p:cNvSpPr/>
          <p:nvPr/>
        </p:nvSpPr>
        <p:spPr>
          <a:xfrm>
            <a:off x="2484120" y="4158827"/>
            <a:ext cx="298704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1" name="bld2_206"/>
          <p:cNvSpPr/>
          <p:nvPr/>
        </p:nvSpPr>
        <p:spPr>
          <a:xfrm>
            <a:off x="2436707" y="4238413"/>
            <a:ext cx="308186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2" name="bld2_207"/>
          <p:cNvSpPr/>
          <p:nvPr/>
        </p:nvSpPr>
        <p:spPr>
          <a:xfrm>
            <a:off x="2389293" y="4318000"/>
            <a:ext cx="317669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3" name="bld2_208"/>
          <p:cNvSpPr/>
          <p:nvPr/>
        </p:nvSpPr>
        <p:spPr>
          <a:xfrm>
            <a:off x="2341880" y="4397587"/>
            <a:ext cx="327152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4" name="bld2_209"/>
          <p:cNvSpPr/>
          <p:nvPr/>
        </p:nvSpPr>
        <p:spPr>
          <a:xfrm>
            <a:off x="2294467" y="4477173"/>
            <a:ext cx="336634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5" name="bld2_210"/>
          <p:cNvSpPr txBox="1"/>
          <p:nvPr/>
        </p:nvSpPr>
        <p:spPr>
          <a:xfrm>
            <a:off x="-502920" y="354787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1300" dirty="0"/>
          </a:p>
        </p:txBody>
      </p:sp>
      <p:sp>
        <p:nvSpPr>
          <p:cNvPr id="46" name="bld2_211"/>
          <p:cNvSpPr txBox="1"/>
          <p:nvPr/>
        </p:nvSpPr>
        <p:spPr>
          <a:xfrm>
            <a:off x="6675120" y="35478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Florals, spices, greens — the main character, emerging 30 minutes to a few hours in.</a:t>
            </a:r>
            <a:endParaRPr lang="en-US" sz="1100" dirty="0"/>
          </a:p>
        </p:txBody>
      </p:sp>
      <p:sp>
        <p:nvSpPr>
          <p:cNvPr id="47" name="bld3_212"/>
          <p:cNvSpPr/>
          <p:nvPr/>
        </p:nvSpPr>
        <p:spPr>
          <a:xfrm>
            <a:off x="2247053" y="4556760"/>
            <a:ext cx="346117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48" name="bld3_213"/>
          <p:cNvSpPr/>
          <p:nvPr/>
        </p:nvSpPr>
        <p:spPr>
          <a:xfrm>
            <a:off x="2199640" y="4636347"/>
            <a:ext cx="355600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49" name="bld3_214"/>
          <p:cNvSpPr/>
          <p:nvPr/>
        </p:nvSpPr>
        <p:spPr>
          <a:xfrm>
            <a:off x="2152227" y="4715933"/>
            <a:ext cx="365082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0" name="bld3_215"/>
          <p:cNvSpPr/>
          <p:nvPr/>
        </p:nvSpPr>
        <p:spPr>
          <a:xfrm>
            <a:off x="2104813" y="4795520"/>
            <a:ext cx="374565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1" name="bld3_216"/>
          <p:cNvSpPr/>
          <p:nvPr/>
        </p:nvSpPr>
        <p:spPr>
          <a:xfrm>
            <a:off x="2057400" y="4875107"/>
            <a:ext cx="384048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2" name="bld3_217"/>
          <p:cNvSpPr/>
          <p:nvPr/>
        </p:nvSpPr>
        <p:spPr>
          <a:xfrm>
            <a:off x="2009987" y="4954693"/>
            <a:ext cx="393530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3" name="bld3_218"/>
          <p:cNvSpPr/>
          <p:nvPr/>
        </p:nvSpPr>
        <p:spPr>
          <a:xfrm>
            <a:off x="1962573" y="5034280"/>
            <a:ext cx="403013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4" name="bld3_219"/>
          <p:cNvSpPr/>
          <p:nvPr/>
        </p:nvSpPr>
        <p:spPr>
          <a:xfrm>
            <a:off x="1915160" y="5113867"/>
            <a:ext cx="412496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5" name="bld3_220"/>
          <p:cNvSpPr/>
          <p:nvPr/>
        </p:nvSpPr>
        <p:spPr>
          <a:xfrm>
            <a:off x="1867747" y="5193453"/>
            <a:ext cx="421978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6" name="bld3_221"/>
          <p:cNvSpPr/>
          <p:nvPr/>
        </p:nvSpPr>
        <p:spPr>
          <a:xfrm>
            <a:off x="1820333" y="5273040"/>
            <a:ext cx="431461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7" name="bld3_222"/>
          <p:cNvSpPr/>
          <p:nvPr/>
        </p:nvSpPr>
        <p:spPr>
          <a:xfrm>
            <a:off x="1772920" y="5352627"/>
            <a:ext cx="440944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8" name="bld3_223"/>
          <p:cNvSpPr/>
          <p:nvPr/>
        </p:nvSpPr>
        <p:spPr>
          <a:xfrm>
            <a:off x="1725507" y="5432213"/>
            <a:ext cx="450426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9" name="bld3_224"/>
          <p:cNvSpPr/>
          <p:nvPr/>
        </p:nvSpPr>
        <p:spPr>
          <a:xfrm>
            <a:off x="1678093" y="5511800"/>
            <a:ext cx="459909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0" name="bld3_225"/>
          <p:cNvSpPr/>
          <p:nvPr/>
        </p:nvSpPr>
        <p:spPr>
          <a:xfrm>
            <a:off x="1630680" y="5591387"/>
            <a:ext cx="469392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1" name="bld3_226"/>
          <p:cNvSpPr/>
          <p:nvPr/>
        </p:nvSpPr>
        <p:spPr>
          <a:xfrm>
            <a:off x="1583267" y="5670973"/>
            <a:ext cx="478874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2" name="bld3_227"/>
          <p:cNvSpPr/>
          <p:nvPr/>
        </p:nvSpPr>
        <p:spPr>
          <a:xfrm>
            <a:off x="1535853" y="5750560"/>
            <a:ext cx="488357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3" name="bld3_228"/>
          <p:cNvSpPr/>
          <p:nvPr/>
        </p:nvSpPr>
        <p:spPr>
          <a:xfrm>
            <a:off x="1488440" y="5830147"/>
            <a:ext cx="497840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4" name="bld3_229"/>
          <p:cNvSpPr/>
          <p:nvPr/>
        </p:nvSpPr>
        <p:spPr>
          <a:xfrm>
            <a:off x="1441027" y="5909733"/>
            <a:ext cx="507322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5" name="bld3_230"/>
          <p:cNvSpPr txBox="1"/>
          <p:nvPr/>
        </p:nvSpPr>
        <p:spPr>
          <a:xfrm>
            <a:off x="-502920" y="498043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300" dirty="0"/>
          </a:p>
        </p:txBody>
      </p:sp>
      <p:sp>
        <p:nvSpPr>
          <p:cNvPr id="66" name="bld3_231"/>
          <p:cNvSpPr txBox="1"/>
          <p:nvPr/>
        </p:nvSpPr>
        <p:spPr>
          <a:xfrm>
            <a:off x="6675120" y="498043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Woods, musks, ambers, resins — the lasting foundation, hours into the drydown.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as a teaching and marketing model — but real formulas overlap top, heart and base heavily. Few materials sit in only one layer.</a:t>
            </a:r>
            <a:endParaRPr lang="en-US" sz="1150" dirty="0"/>
          </a:p>
        </p:txBody>
      </p:sp>
      <p:sp>
        <p:nvSpPr>
          <p:cNvPr id="69" name="trans_fade_1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29" dur="indefinite" nodeType="mainSeq">
                <p:childTnLst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  <p:bldP spid="61" grpId="0"/>
      <p:bldP spid="62" grpId="0"/>
      <p:bldP spid="63" grpId="0"/>
      <p:bldP spid="64" grpId="0"/>
      <p:bldP spid="65" grpId="0"/>
      <p:bldP spid="6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carries a formula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95454" y="4778792"/>
            <a:ext cx="1460021" cy="1460021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97656" y="4880994"/>
            <a:ext cx="1255618" cy="125561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52464" y="5435802"/>
            <a:ext cx="146002" cy="14600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32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33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234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Ethanol</a:t>
            </a:r>
            <a:endParaRPr lang="en-US" sz="1450" dirty="0"/>
          </a:p>
        </p:txBody>
      </p:sp>
      <p:sp>
        <p:nvSpPr>
          <p:cNvPr id="24" name="bld1_235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alcohol. The standard solvent for finished fine-fragrance sprays.</a:t>
            </a:r>
            <a:endParaRPr lang="en-US" sz="1080" dirty="0"/>
          </a:p>
        </p:txBody>
      </p:sp>
      <p:sp>
        <p:nvSpPr>
          <p:cNvPr id="25" name="bld2_236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37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bld2_238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DPG</a:t>
            </a:r>
            <a:endParaRPr lang="en-US" sz="1450" dirty="0"/>
          </a:p>
        </p:txBody>
      </p:sp>
      <p:sp>
        <p:nvSpPr>
          <p:cNvPr id="28" name="bld2_239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Dipropylene glycol. Odourless, non-flammable — common for oils and roll-ons.</a:t>
            </a:r>
            <a:endParaRPr lang="en-US" sz="1080" dirty="0"/>
          </a:p>
        </p:txBody>
      </p:sp>
      <p:sp>
        <p:nvSpPr>
          <p:cNvPr id="29" name="bld3_240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41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242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</a:t>
            </a:r>
            <a:endParaRPr lang="en-US" sz="1450" dirty="0"/>
          </a:p>
        </p:txBody>
      </p:sp>
      <p:sp>
        <p:nvSpPr>
          <p:cNvPr id="32" name="bld3_243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Triethyl citrate. A gentler, skin-friendly solvent often used in oil-based formats.</a:t>
            </a:r>
            <a:endParaRPr lang="en-US" sz="1080" dirty="0"/>
          </a:p>
        </p:txBody>
      </p:sp>
      <p:sp>
        <p:nvSpPr>
          <p:cNvPr id="33" name="bld4_244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245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246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IPM</a:t>
            </a:r>
            <a:endParaRPr lang="en-US" sz="1450" dirty="0"/>
          </a:p>
        </p:txBody>
      </p:sp>
      <p:sp>
        <p:nvSpPr>
          <p:cNvPr id="36" name="bld4_247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Isopropyl myristate. A light, fast-absorbing carrier used where appropriate.</a:t>
            </a:r>
            <a:endParaRPr lang="en-US" sz="1080" dirty="0"/>
          </a:p>
        </p:txBody>
      </p:sp>
      <p:sp>
        <p:nvSpPr>
          <p:cNvPr id="38" name="trans_fade_1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GOES INTO A BOTTLE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finished perfume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spray perfume is mostly solvent — not concentrate.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850551"/>
            <a:ext cx="221888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5055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2850551"/>
            <a:ext cx="8653644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2850551"/>
            <a:ext cx="86536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21167" y="2850551"/>
            <a:ext cx="110944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532111" y="2850551"/>
            <a:ext cx="5547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587583" y="2850551"/>
            <a:ext cx="55472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bld1_248"/>
          <p:cNvSpPr/>
          <p:nvPr/>
        </p:nvSpPr>
        <p:spPr>
          <a:xfrm>
            <a:off x="566928" y="389296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249"/>
          <p:cNvSpPr txBox="1"/>
          <p:nvPr/>
        </p:nvSpPr>
        <p:spPr>
          <a:xfrm>
            <a:off x="841248" y="381067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 concentrate  —  20%</a:t>
            </a:r>
            <a:endParaRPr lang="en-US" sz="1250" dirty="0"/>
          </a:p>
        </p:txBody>
      </p:sp>
      <p:sp>
        <p:nvSpPr>
          <p:cNvPr id="17" name="bld1_250"/>
          <p:cNvSpPr txBox="1"/>
          <p:nvPr/>
        </p:nvSpPr>
        <p:spPr>
          <a:xfrm>
            <a:off x="841248" y="408499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 itself</a:t>
            </a:r>
            <a:endParaRPr lang="en-US" sz="1000" dirty="0"/>
          </a:p>
        </p:txBody>
      </p:sp>
      <p:sp>
        <p:nvSpPr>
          <p:cNvPr id="18" name="bld2_251"/>
          <p:cNvSpPr/>
          <p:nvPr/>
        </p:nvSpPr>
        <p:spPr>
          <a:xfrm>
            <a:off x="6297016" y="3892967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9" name="bld2_252"/>
          <p:cNvSpPr txBox="1"/>
          <p:nvPr/>
        </p:nvSpPr>
        <p:spPr>
          <a:xfrm>
            <a:off x="6571336" y="381067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 —  78%</a:t>
            </a:r>
            <a:endParaRPr lang="en-US" sz="1250" dirty="0"/>
          </a:p>
        </p:txBody>
      </p:sp>
      <p:sp>
        <p:nvSpPr>
          <p:cNvPr id="20" name="bld2_253"/>
          <p:cNvSpPr txBox="1"/>
          <p:nvPr/>
        </p:nvSpPr>
        <p:spPr>
          <a:xfrm>
            <a:off x="6571336" y="408499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carrier</a:t>
            </a:r>
            <a:endParaRPr lang="en-US" sz="1000" dirty="0"/>
          </a:p>
        </p:txBody>
      </p:sp>
      <p:sp>
        <p:nvSpPr>
          <p:cNvPr id="21" name="bld3_254"/>
          <p:cNvSpPr/>
          <p:nvPr/>
        </p:nvSpPr>
        <p:spPr>
          <a:xfrm>
            <a:off x="566928" y="445989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2" name="bld3_255"/>
          <p:cNvSpPr txBox="1"/>
          <p:nvPr/>
        </p:nvSpPr>
        <p:spPr>
          <a:xfrm>
            <a:off x="841248" y="437759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 —  1%</a:t>
            </a:r>
            <a:endParaRPr lang="en-US" sz="1250" dirty="0"/>
          </a:p>
        </p:txBody>
      </p:sp>
      <p:sp>
        <p:nvSpPr>
          <p:cNvPr id="23" name="bld3_256"/>
          <p:cNvSpPr txBox="1"/>
          <p:nvPr/>
        </p:nvSpPr>
        <p:spPr>
          <a:xfrm>
            <a:off x="841248" y="465191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Optional, softens alcohol bite</a:t>
            </a:r>
            <a:endParaRPr lang="en-US" sz="1000" dirty="0"/>
          </a:p>
        </p:txBody>
      </p:sp>
      <p:sp>
        <p:nvSpPr>
          <p:cNvPr id="24" name="bld4_257"/>
          <p:cNvSpPr/>
          <p:nvPr/>
        </p:nvSpPr>
        <p:spPr>
          <a:xfrm>
            <a:off x="6297016" y="4459895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5" name="bld4_258"/>
          <p:cNvSpPr txBox="1"/>
          <p:nvPr/>
        </p:nvSpPr>
        <p:spPr>
          <a:xfrm>
            <a:off x="6571336" y="437759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Antioxidants / stabilisers  —  0.5%</a:t>
            </a:r>
            <a:endParaRPr lang="en-US" sz="1250" dirty="0"/>
          </a:p>
        </p:txBody>
      </p:sp>
      <p:sp>
        <p:nvSpPr>
          <p:cNvPr id="26" name="bld4_259"/>
          <p:cNvSpPr txBox="1"/>
          <p:nvPr/>
        </p:nvSpPr>
        <p:spPr>
          <a:xfrm>
            <a:off x="6571336" y="465191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required</a:t>
            </a:r>
            <a:endParaRPr lang="en-US" sz="1000" dirty="0"/>
          </a:p>
        </p:txBody>
      </p:sp>
      <p:sp>
        <p:nvSpPr>
          <p:cNvPr id="27" name="bld5_260"/>
          <p:cNvSpPr/>
          <p:nvPr/>
        </p:nvSpPr>
        <p:spPr>
          <a:xfrm>
            <a:off x="566928" y="502682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5_261"/>
          <p:cNvSpPr txBox="1"/>
          <p:nvPr/>
        </p:nvSpPr>
        <p:spPr>
          <a:xfrm>
            <a:off x="841248" y="494452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 —  0.5%</a:t>
            </a:r>
            <a:endParaRPr lang="en-US" sz="1250" dirty="0"/>
          </a:p>
        </p:txBody>
      </p:sp>
      <p:sp>
        <p:nvSpPr>
          <p:cNvPr id="29" name="bld5_262"/>
          <p:cNvSpPr txBox="1"/>
          <p:nvPr/>
        </p:nvSpPr>
        <p:spPr>
          <a:xfrm>
            <a:off x="841248" y="521884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appropriate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631375" y="246650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32" name="trans_push_l_1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SOURCES, ONE PALETTE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vs. synthetics</a:t>
            </a:r>
            <a:endParaRPr lang="en-US" sz="3200" dirty="0"/>
          </a:p>
        </p:txBody>
      </p:sp>
      <p:sp>
        <p:nvSpPr>
          <p:cNvPr id="7" name="bld1_263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9EDE0"/>
          </a:solidFill>
          <a:ln/>
        </p:spPr>
      </p:sp>
      <p:sp>
        <p:nvSpPr>
          <p:cNvPr id="8" name="bld1_264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9" name="bld1_265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</a:t>
            </a:r>
            <a:endParaRPr lang="en-US" sz="1800" dirty="0"/>
          </a:p>
        </p:txBody>
      </p:sp>
      <p:sp>
        <p:nvSpPr>
          <p:cNvPr id="10" name="bld1_266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oils — steam or expression distilled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Absolutes — solvent extracted, richer and truer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CO2 extracts — extracted under pressure, very clean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Resinoids — extracted from gums and resins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Complex, variable, often expensive</a:t>
            </a:r>
            <a:endParaRPr lang="en-US" sz="1300" dirty="0"/>
          </a:p>
        </p:txBody>
      </p:sp>
      <p:sp>
        <p:nvSpPr>
          <p:cNvPr id="11" name="bld1_267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2" name="bld1_268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13" name="bld2_269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14" name="bld2_270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bld2_271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</a:t>
            </a:r>
            <a:endParaRPr lang="en-US" sz="1800" dirty="0"/>
          </a:p>
        </p:txBody>
      </p:sp>
      <p:sp>
        <p:nvSpPr>
          <p:cNvPr id="16" name="bld2_272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 chemicals — single, isolated molecules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Captives / speciality materials — proprietary, exclusive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— pre-blended synthetic accords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Precise, consistent, batch after batch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effects naturals simply cannot achieve</a:t>
            </a:r>
            <a:endParaRPr lang="en-US" sz="1300" dirty="0"/>
          </a:p>
        </p:txBody>
      </p:sp>
      <p:sp>
        <p:nvSpPr>
          <p:cNvPr id="17" name="bld2_273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8" name="bld2_274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B5652D">
              <a:alpha val="92000"/>
            </a:srgbClr>
          </a:solidFill>
          <a:ln/>
        </p:spPr>
      </p:sp>
      <p:sp>
        <p:nvSpPr>
          <p:cNvPr id="20" name="trans_wipe_l_1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OLFACTORY FAMILIES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twelve families you'll learn to recognise</a:t>
            </a:r>
            <a:endParaRPr lang="en-US" sz="3200" dirty="0"/>
          </a:p>
        </p:txBody>
      </p:sp>
      <p:sp>
        <p:nvSpPr>
          <p:cNvPr id="7" name="bld1_275"/>
          <p:cNvSpPr/>
          <p:nvPr/>
        </p:nvSpPr>
        <p:spPr>
          <a:xfrm>
            <a:off x="548640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33773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30881" y="1967723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15180" y="2152022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277"/>
          <p:cNvSpPr txBox="1"/>
          <p:nvPr/>
        </p:nvSpPr>
        <p:spPr>
          <a:xfrm>
            <a:off x="731520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24" name="bld1_278"/>
          <p:cNvSpPr txBox="1"/>
          <p:nvPr/>
        </p:nvSpPr>
        <p:spPr>
          <a:xfrm>
            <a:off x="731520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Bergamot, lemon, mandarin</a:t>
            </a:r>
            <a:endParaRPr lang="en-US" sz="1080" dirty="0"/>
          </a:p>
        </p:txBody>
      </p:sp>
      <p:sp>
        <p:nvSpPr>
          <p:cNvPr id="25" name="bld2_279"/>
          <p:cNvSpPr/>
          <p:nvPr/>
        </p:nvSpPr>
        <p:spPr>
          <a:xfrm>
            <a:off x="3386252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4616417" y="193183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4320000">
            <a:off x="4727811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640000">
            <a:off x="4685262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2960000">
            <a:off x="4547571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7280000">
            <a:off x="4505023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18842" y="2118072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3" name="Shape 31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4" name="bld2_281"/>
          <p:cNvSpPr txBox="1"/>
          <p:nvPr/>
        </p:nvSpPr>
        <p:spPr>
          <a:xfrm>
            <a:off x="3569132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35" name="bld2_282"/>
          <p:cNvSpPr txBox="1"/>
          <p:nvPr/>
        </p:nvSpPr>
        <p:spPr>
          <a:xfrm>
            <a:off x="3569132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Rose, jasmine, muguet</a:t>
            </a:r>
            <a:endParaRPr lang="en-US" sz="1080" dirty="0"/>
          </a:p>
        </p:txBody>
      </p:sp>
      <p:sp>
        <p:nvSpPr>
          <p:cNvPr id="36" name="bld3_283"/>
          <p:cNvSpPr/>
          <p:nvPr/>
        </p:nvSpPr>
        <p:spPr>
          <a:xfrm>
            <a:off x="6223864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8" name="Shape 36"/>
          <p:cNvSpPr/>
          <p:nvPr/>
        </p:nvSpPr>
        <p:spPr>
          <a:xfrm>
            <a:off x="7315804" y="1996823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509167" y="1987123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2000000">
            <a:off x="7532942" y="1967723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42" name="bld3_285"/>
          <p:cNvSpPr txBox="1"/>
          <p:nvPr/>
        </p:nvSpPr>
        <p:spPr>
          <a:xfrm>
            <a:off x="6406744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43" name="bld3_286"/>
          <p:cNvSpPr txBox="1"/>
          <p:nvPr/>
        </p:nvSpPr>
        <p:spPr>
          <a:xfrm>
            <a:off x="6406744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Peach, apple, blackcurrant</a:t>
            </a:r>
            <a:endParaRPr lang="en-US" sz="1080" dirty="0"/>
          </a:p>
        </p:txBody>
      </p:sp>
      <p:sp>
        <p:nvSpPr>
          <p:cNvPr id="44" name="bld4_287"/>
          <p:cNvSpPr/>
          <p:nvPr/>
        </p:nvSpPr>
        <p:spPr>
          <a:xfrm>
            <a:off x="9061475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6" name="Shape 44"/>
          <p:cNvSpPr/>
          <p:nvPr/>
        </p:nvSpPr>
        <p:spPr>
          <a:xfrm rot="15300000">
            <a:off x="10188067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3050000">
            <a:off x="10233538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0800000">
            <a:off x="10311040" y="21762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550000">
            <a:off x="10388543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300000">
            <a:off x="10434014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2" name="bld4_289"/>
          <p:cNvSpPr txBox="1"/>
          <p:nvPr/>
        </p:nvSpPr>
        <p:spPr>
          <a:xfrm>
            <a:off x="9244355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53" name="bld4_290"/>
          <p:cNvSpPr txBox="1"/>
          <p:nvPr/>
        </p:nvSpPr>
        <p:spPr>
          <a:xfrm>
            <a:off x="9244355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grass, galbanum, leaves</a:t>
            </a:r>
            <a:endParaRPr lang="en-US" sz="1080" dirty="0"/>
          </a:p>
        </p:txBody>
      </p:sp>
      <p:sp>
        <p:nvSpPr>
          <p:cNvPr id="54" name="bld5_291"/>
          <p:cNvSpPr/>
          <p:nvPr/>
        </p:nvSpPr>
        <p:spPr>
          <a:xfrm>
            <a:off x="548640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56" name="Shape 54"/>
          <p:cNvSpPr/>
          <p:nvPr/>
        </p:nvSpPr>
        <p:spPr>
          <a:xfrm>
            <a:off x="1803055" y="3655465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2700000">
            <a:off x="1854908" y="367694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5400000">
            <a:off x="1876387" y="3728796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8100000">
            <a:off x="1854908" y="378065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0800000">
            <a:off x="1803055" y="380212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3500000">
            <a:off x="1751202" y="378065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6200000">
            <a:off x="1729723" y="3728796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8900000">
            <a:off x="1751202" y="367694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800630" y="3777296"/>
            <a:ext cx="77600" cy="77600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65" name="Shape 63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66" name="bld5_293"/>
          <p:cNvSpPr txBox="1"/>
          <p:nvPr/>
        </p:nvSpPr>
        <p:spPr>
          <a:xfrm>
            <a:off x="731520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Aromatic</a:t>
            </a:r>
            <a:endParaRPr lang="en-US" sz="1450" dirty="0"/>
          </a:p>
        </p:txBody>
      </p:sp>
      <p:sp>
        <p:nvSpPr>
          <p:cNvPr id="67" name="bld5_294"/>
          <p:cNvSpPr txBox="1"/>
          <p:nvPr/>
        </p:nvSpPr>
        <p:spPr>
          <a:xfrm>
            <a:off x="731520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Lavender, rosemary, herbs</a:t>
            </a:r>
            <a:endParaRPr lang="en-US" sz="1080" dirty="0"/>
          </a:p>
        </p:txBody>
      </p:sp>
      <p:sp>
        <p:nvSpPr>
          <p:cNvPr id="68" name="bld6_295"/>
          <p:cNvSpPr/>
          <p:nvPr/>
        </p:nvSpPr>
        <p:spPr>
          <a:xfrm>
            <a:off x="3386252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70" name="Shape 68"/>
          <p:cNvSpPr/>
          <p:nvPr/>
        </p:nvSpPr>
        <p:spPr>
          <a:xfrm>
            <a:off x="4434543" y="3573597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4515376" y="3654430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72" name="Shape 70"/>
          <p:cNvSpPr/>
          <p:nvPr/>
        </p:nvSpPr>
        <p:spPr>
          <a:xfrm>
            <a:off x="4596209" y="3735263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4647942" y="3786996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74" name="Shape 72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75" name="bld6_297"/>
          <p:cNvSpPr txBox="1"/>
          <p:nvPr/>
        </p:nvSpPr>
        <p:spPr>
          <a:xfrm>
            <a:off x="3569132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76" name="bld6_298"/>
          <p:cNvSpPr txBox="1"/>
          <p:nvPr/>
        </p:nvSpPr>
        <p:spPr>
          <a:xfrm>
            <a:off x="3569132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Cedar, sandalwood, vetiver</a:t>
            </a:r>
            <a:endParaRPr lang="en-US" sz="1080" dirty="0"/>
          </a:p>
        </p:txBody>
      </p:sp>
      <p:sp>
        <p:nvSpPr>
          <p:cNvPr id="77" name="bld7_299"/>
          <p:cNvSpPr/>
          <p:nvPr/>
        </p:nvSpPr>
        <p:spPr>
          <a:xfrm>
            <a:off x="6223864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79" name="Shape 77"/>
          <p:cNvSpPr/>
          <p:nvPr/>
        </p:nvSpPr>
        <p:spPr>
          <a:xfrm rot="9000000">
            <a:off x="7393404" y="3704547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6000000">
            <a:off x="7330354" y="3675447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 rot="11400000">
            <a:off x="7529203" y="3646347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83" name="bld7_301"/>
          <p:cNvSpPr txBox="1"/>
          <p:nvPr/>
        </p:nvSpPr>
        <p:spPr>
          <a:xfrm>
            <a:off x="6406744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84" name="bld7_302"/>
          <p:cNvSpPr txBox="1"/>
          <p:nvPr/>
        </p:nvSpPr>
        <p:spPr>
          <a:xfrm>
            <a:off x="6406744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Labdanum, resins, warmth</a:t>
            </a:r>
            <a:endParaRPr lang="en-US" sz="1080" dirty="0"/>
          </a:p>
        </p:txBody>
      </p:sp>
      <p:sp>
        <p:nvSpPr>
          <p:cNvPr id="85" name="bld8_303"/>
          <p:cNvSpPr/>
          <p:nvPr/>
        </p:nvSpPr>
        <p:spPr>
          <a:xfrm>
            <a:off x="9061475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87" name="Shape 85"/>
          <p:cNvSpPr/>
          <p:nvPr/>
        </p:nvSpPr>
        <p:spPr>
          <a:xfrm>
            <a:off x="10129166" y="3665747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89" name="bld8_305"/>
          <p:cNvSpPr txBox="1"/>
          <p:nvPr/>
        </p:nvSpPr>
        <p:spPr>
          <a:xfrm>
            <a:off x="9244355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</a:t>
            </a:r>
            <a:endParaRPr lang="en-US" sz="1450" dirty="0"/>
          </a:p>
        </p:txBody>
      </p:sp>
      <p:sp>
        <p:nvSpPr>
          <p:cNvPr id="90" name="bld8_306"/>
          <p:cNvSpPr txBox="1"/>
          <p:nvPr/>
        </p:nvSpPr>
        <p:spPr>
          <a:xfrm>
            <a:off x="9244355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skin, soft, radiant</a:t>
            </a:r>
            <a:endParaRPr lang="en-US" sz="1080" dirty="0"/>
          </a:p>
        </p:txBody>
      </p:sp>
      <p:sp>
        <p:nvSpPr>
          <p:cNvPr id="91" name="bld9_307"/>
          <p:cNvSpPr/>
          <p:nvPr/>
        </p:nvSpPr>
        <p:spPr>
          <a:xfrm>
            <a:off x="548640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2" name="Shape 90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93" name="Shape 91"/>
          <p:cNvSpPr/>
          <p:nvPr/>
        </p:nvSpPr>
        <p:spPr>
          <a:xfrm rot="840000">
            <a:off x="1781230" y="5225546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 rot="840000">
            <a:off x="1833944" y="5281321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784868" y="529465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6" name="Shape 94"/>
          <p:cNvSpPr/>
          <p:nvPr/>
        </p:nvSpPr>
        <p:spPr>
          <a:xfrm>
            <a:off x="1802328" y="535479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7" name="Shape 95"/>
          <p:cNvSpPr/>
          <p:nvPr/>
        </p:nvSpPr>
        <p:spPr>
          <a:xfrm>
            <a:off x="1819787" y="54149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8" name="Shape 96"/>
          <p:cNvSpPr/>
          <p:nvPr/>
        </p:nvSpPr>
        <p:spPr>
          <a:xfrm>
            <a:off x="1837247" y="547507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9" name="Shape 97"/>
          <p:cNvSpPr/>
          <p:nvPr/>
        </p:nvSpPr>
        <p:spPr>
          <a:xfrm>
            <a:off x="1854707" y="553521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00" name="Shape 98"/>
          <p:cNvSpPr/>
          <p:nvPr/>
        </p:nvSpPr>
        <p:spPr>
          <a:xfrm>
            <a:off x="1872167" y="559535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02" name="bld9_309"/>
          <p:cNvSpPr txBox="1"/>
          <p:nvPr/>
        </p:nvSpPr>
        <p:spPr>
          <a:xfrm>
            <a:off x="731520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103" name="bld9_310"/>
          <p:cNvSpPr txBox="1"/>
          <p:nvPr/>
        </p:nvSpPr>
        <p:spPr>
          <a:xfrm>
            <a:off x="731520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Vanilla, caramel, sugar</a:t>
            </a:r>
            <a:endParaRPr lang="en-US" sz="1080" dirty="0"/>
          </a:p>
        </p:txBody>
      </p:sp>
      <p:sp>
        <p:nvSpPr>
          <p:cNvPr id="104" name="bld10_311"/>
          <p:cNvSpPr/>
          <p:nvPr/>
        </p:nvSpPr>
        <p:spPr>
          <a:xfrm>
            <a:off x="3386252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5" name="Shape 103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434543" y="5213421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>
            <a:off x="4496433" y="5334671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>
            <a:off x="4471410" y="541550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>
            <a:off x="4471410" y="5496336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0" name="Shape 108"/>
          <p:cNvSpPr/>
          <p:nvPr/>
        </p:nvSpPr>
        <p:spPr>
          <a:xfrm>
            <a:off x="4496433" y="5577169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1" name="Shape 109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12" name="bld10_313"/>
          <p:cNvSpPr txBox="1"/>
          <p:nvPr/>
        </p:nvSpPr>
        <p:spPr>
          <a:xfrm>
            <a:off x="3569132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113" name="bld10_314"/>
          <p:cNvSpPr txBox="1"/>
          <p:nvPr/>
        </p:nvSpPr>
        <p:spPr>
          <a:xfrm>
            <a:off x="3569132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Suede, birch tar, smoke</a:t>
            </a:r>
            <a:endParaRPr lang="en-US" sz="1080" dirty="0"/>
          </a:p>
        </p:txBody>
      </p:sp>
      <p:sp>
        <p:nvSpPr>
          <p:cNvPr id="114" name="bld11_315"/>
          <p:cNvSpPr/>
          <p:nvPr/>
        </p:nvSpPr>
        <p:spPr>
          <a:xfrm>
            <a:off x="6223864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5" name="Shape 113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272155" y="5213421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>
            <a:off x="7325504" y="5453495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7325504" y="5392870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>
            <a:off x="7325504" y="5324971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21" name="bld11_317"/>
          <p:cNvSpPr txBox="1"/>
          <p:nvPr/>
        </p:nvSpPr>
        <p:spPr>
          <a:xfrm>
            <a:off x="6406744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Aquatic</a:t>
            </a:r>
            <a:endParaRPr lang="en-US" sz="1450" dirty="0"/>
          </a:p>
        </p:txBody>
      </p:sp>
      <p:sp>
        <p:nvSpPr>
          <p:cNvPr id="122" name="bld11_318"/>
          <p:cNvSpPr txBox="1"/>
          <p:nvPr/>
        </p:nvSpPr>
        <p:spPr>
          <a:xfrm>
            <a:off x="6406744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 air, ozone, melon</a:t>
            </a:r>
            <a:endParaRPr lang="en-US" sz="1080" dirty="0"/>
          </a:p>
        </p:txBody>
      </p:sp>
      <p:sp>
        <p:nvSpPr>
          <p:cNvPr id="123" name="bld12_319"/>
          <p:cNvSpPr/>
          <p:nvPr/>
        </p:nvSpPr>
        <p:spPr>
          <a:xfrm>
            <a:off x="9061475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4" name="Shape 122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25" name="Shape 123"/>
          <p:cNvSpPr/>
          <p:nvPr/>
        </p:nvSpPr>
        <p:spPr>
          <a:xfrm rot="9000000">
            <a:off x="10231016" y="5344371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 rot="6000000">
            <a:off x="10167966" y="5315271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 rot="11400000">
            <a:off x="10366815" y="5286171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129" name="bld12_321"/>
          <p:cNvSpPr txBox="1"/>
          <p:nvPr/>
        </p:nvSpPr>
        <p:spPr>
          <a:xfrm>
            <a:off x="9244355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</a:t>
            </a:r>
            <a:endParaRPr lang="en-US" sz="1450" dirty="0"/>
          </a:p>
        </p:txBody>
      </p:sp>
      <p:sp>
        <p:nvSpPr>
          <p:cNvPr id="130" name="bld12_322"/>
          <p:cNvSpPr txBox="1"/>
          <p:nvPr/>
        </p:nvSpPr>
        <p:spPr>
          <a:xfrm>
            <a:off x="9244355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Pepper, clove, cinnamon</a:t>
            </a:r>
            <a:endParaRPr lang="en-US" sz="1080" dirty="0"/>
          </a:p>
        </p:txBody>
      </p:sp>
      <p:sp>
        <p:nvSpPr>
          <p:cNvPr id="132" name="trans_fade_2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33" name="Text 1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9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4" grpId="0"/>
      <p:bldP spid="35" grpId="0"/>
      <p:bldP spid="36" grpId="0"/>
      <p:bldP spid="42" grpId="0"/>
      <p:bldP spid="43" grpId="0"/>
      <p:bldP spid="44" grpId="0"/>
      <p:bldP spid="52" grpId="0"/>
      <p:bldP spid="53" grpId="0"/>
      <p:bldP spid="54" grpId="0"/>
      <p:bldP spid="66" grpId="0"/>
      <p:bldP spid="67" grpId="0"/>
      <p:bldP spid="68" grpId="0"/>
      <p:bldP spid="75" grpId="0"/>
      <p:bldP spid="76" grpId="0"/>
      <p:bldP spid="77" grpId="0"/>
      <p:bldP spid="83" grpId="0"/>
      <p:bldP spid="84" grpId="0"/>
      <p:bldP spid="85" grpId="0"/>
      <p:bldP spid="89" grpId="0"/>
      <p:bldP spid="90" grpId="0"/>
      <p:bldP spid="91" grpId="0"/>
      <p:bldP spid="102" grpId="0"/>
      <p:bldP spid="103" grpId="0"/>
      <p:bldP spid="104" grpId="0"/>
      <p:bldP spid="112" grpId="0"/>
      <p:bldP spid="113" grpId="0"/>
      <p:bldP spid="114" grpId="0"/>
      <p:bldP spid="121" grpId="0"/>
      <p:bldP spid="122" grpId="0"/>
      <p:bldP spid="123" grpId="0"/>
      <p:bldP spid="129" grpId="0"/>
      <p:bldP spid="13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perfumery myths, busted</a:t>
            </a:r>
            <a:endParaRPr lang="en-US" sz="3200" dirty="0"/>
          </a:p>
        </p:txBody>
      </p:sp>
      <p:sp>
        <p:nvSpPr>
          <p:cNvPr id="7" name="bld1_323"/>
          <p:cNvSpPr/>
          <p:nvPr/>
        </p:nvSpPr>
        <p:spPr>
          <a:xfrm>
            <a:off x="548640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324"/>
          <p:cNvSpPr txBox="1"/>
          <p:nvPr/>
        </p:nvSpPr>
        <p:spPr>
          <a:xfrm>
            <a:off x="749808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9" name="bld1_325"/>
          <p:cNvSpPr txBox="1"/>
          <p:nvPr/>
        </p:nvSpPr>
        <p:spPr>
          <a:xfrm>
            <a:off x="749808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is always better</a:t>
            </a:r>
            <a:endParaRPr lang="en-US" sz="1350" dirty="0"/>
          </a:p>
        </p:txBody>
      </p:sp>
      <p:sp>
        <p:nvSpPr>
          <p:cNvPr id="10" name="bld1_326"/>
          <p:cNvSpPr txBox="1"/>
          <p:nvPr/>
        </p:nvSpPr>
        <p:spPr>
          <a:xfrm>
            <a:off x="749808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1" name="bld1_327"/>
          <p:cNvSpPr txBox="1"/>
          <p:nvPr/>
        </p:nvSpPr>
        <p:spPr>
          <a:xfrm>
            <a:off x="749808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bring soul; synthetics bring precision, safety and effects naturals can't. Great perfumery uses both.</a:t>
            </a:r>
            <a:endParaRPr lang="en-US" sz="1080" dirty="0"/>
          </a:p>
        </p:txBody>
      </p:sp>
      <p:sp>
        <p:nvSpPr>
          <p:cNvPr id="12" name="bld2_328"/>
          <p:cNvSpPr/>
          <p:nvPr/>
        </p:nvSpPr>
        <p:spPr>
          <a:xfrm>
            <a:off x="4332122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329"/>
          <p:cNvSpPr txBox="1"/>
          <p:nvPr/>
        </p:nvSpPr>
        <p:spPr>
          <a:xfrm>
            <a:off x="4533290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4" name="bld2_330"/>
          <p:cNvSpPr txBox="1"/>
          <p:nvPr/>
        </p:nvSpPr>
        <p:spPr>
          <a:xfrm>
            <a:off x="4533290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oil means stronger</a:t>
            </a:r>
            <a:endParaRPr lang="en-US" sz="1350" dirty="0"/>
          </a:p>
        </p:txBody>
      </p:sp>
      <p:sp>
        <p:nvSpPr>
          <p:cNvPr id="15" name="bld2_331"/>
          <p:cNvSpPr txBox="1"/>
          <p:nvPr/>
        </p:nvSpPr>
        <p:spPr>
          <a:xfrm>
            <a:off x="4533290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6" name="bld2_332"/>
          <p:cNvSpPr txBox="1"/>
          <p:nvPr/>
        </p:nvSpPr>
        <p:spPr>
          <a:xfrm>
            <a:off x="4533290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choice, not raw %, drives strength. A well-built low-concentrate formula can outperform a poorly built rich one.</a:t>
            </a:r>
            <a:endParaRPr lang="en-US" sz="1080" dirty="0"/>
          </a:p>
        </p:txBody>
      </p:sp>
      <p:sp>
        <p:nvSpPr>
          <p:cNvPr id="17" name="bld3_333"/>
          <p:cNvSpPr/>
          <p:nvPr/>
        </p:nvSpPr>
        <p:spPr>
          <a:xfrm>
            <a:off x="8115605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334"/>
          <p:cNvSpPr txBox="1"/>
          <p:nvPr/>
        </p:nvSpPr>
        <p:spPr>
          <a:xfrm>
            <a:off x="8316773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9" name="bld3_335"/>
          <p:cNvSpPr txBox="1"/>
          <p:nvPr/>
        </p:nvSpPr>
        <p:spPr>
          <a:xfrm>
            <a:off x="8316773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means fake</a:t>
            </a:r>
            <a:endParaRPr lang="en-US" sz="1350" dirty="0"/>
          </a:p>
        </p:txBody>
      </p:sp>
      <p:sp>
        <p:nvSpPr>
          <p:cNvPr id="20" name="bld3_336"/>
          <p:cNvSpPr txBox="1"/>
          <p:nvPr/>
        </p:nvSpPr>
        <p:spPr>
          <a:xfrm>
            <a:off x="8316773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1" name="bld3_337"/>
          <p:cNvSpPr txBox="1"/>
          <p:nvPr/>
        </p:nvSpPr>
        <p:spPr>
          <a:xfrm>
            <a:off x="8316773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synthetics smell nothing like an approximation — they're original, beautiful materials with no natural equivalent.</a:t>
            </a:r>
            <a:endParaRPr lang="en-US" sz="1080" dirty="0"/>
          </a:p>
        </p:txBody>
      </p:sp>
      <p:sp>
        <p:nvSpPr>
          <p:cNvPr id="22" name="bld4_338"/>
          <p:cNvSpPr/>
          <p:nvPr/>
        </p:nvSpPr>
        <p:spPr>
          <a:xfrm>
            <a:off x="548640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339"/>
          <p:cNvSpPr txBox="1"/>
          <p:nvPr/>
        </p:nvSpPr>
        <p:spPr>
          <a:xfrm>
            <a:off x="749808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4" name="bld4_340"/>
          <p:cNvSpPr txBox="1"/>
          <p:nvPr/>
        </p:nvSpPr>
        <p:spPr>
          <a:xfrm>
            <a:off x="749808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Expensive material = better perfume</a:t>
            </a:r>
            <a:endParaRPr lang="en-US" sz="1350" dirty="0"/>
          </a:p>
        </p:txBody>
      </p:sp>
      <p:sp>
        <p:nvSpPr>
          <p:cNvPr id="25" name="bld4_341"/>
          <p:cNvSpPr txBox="1"/>
          <p:nvPr/>
        </p:nvSpPr>
        <p:spPr>
          <a:xfrm>
            <a:off x="749808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6" name="bld4_342"/>
          <p:cNvSpPr txBox="1"/>
          <p:nvPr/>
        </p:nvSpPr>
        <p:spPr>
          <a:xfrm>
            <a:off x="749808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reflects rarity and extraction cost, not olfactory value. Cheap materials can be the hero of a formula.</a:t>
            </a:r>
            <a:endParaRPr lang="en-US" sz="1080" dirty="0"/>
          </a:p>
        </p:txBody>
      </p:sp>
      <p:sp>
        <p:nvSpPr>
          <p:cNvPr id="27" name="bld5_343"/>
          <p:cNvSpPr/>
          <p:nvPr/>
        </p:nvSpPr>
        <p:spPr>
          <a:xfrm>
            <a:off x="4332122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344"/>
          <p:cNvSpPr txBox="1"/>
          <p:nvPr/>
        </p:nvSpPr>
        <p:spPr>
          <a:xfrm>
            <a:off x="4533290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9" name="bld5_345"/>
          <p:cNvSpPr txBox="1"/>
          <p:nvPr/>
        </p:nvSpPr>
        <p:spPr>
          <a:xfrm>
            <a:off x="4533290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/ heart / base must separate perfectly</a:t>
            </a:r>
            <a:endParaRPr lang="en-US" sz="1350" dirty="0"/>
          </a:p>
        </p:txBody>
      </p:sp>
      <p:sp>
        <p:nvSpPr>
          <p:cNvPr id="30" name="bld5_346"/>
          <p:cNvSpPr txBox="1"/>
          <p:nvPr/>
        </p:nvSpPr>
        <p:spPr>
          <a:xfrm>
            <a:off x="4533290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1" name="bld5_347"/>
          <p:cNvSpPr txBox="1"/>
          <p:nvPr/>
        </p:nvSpPr>
        <p:spPr>
          <a:xfrm>
            <a:off x="4533290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materials span multiple layers at once — the pyramid is a teaching model, not a physical law.</a:t>
            </a:r>
            <a:endParaRPr lang="en-US" sz="1080" dirty="0"/>
          </a:p>
        </p:txBody>
      </p:sp>
      <p:sp>
        <p:nvSpPr>
          <p:cNvPr id="32" name="bld6_348"/>
          <p:cNvSpPr/>
          <p:nvPr/>
        </p:nvSpPr>
        <p:spPr>
          <a:xfrm>
            <a:off x="8115605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349"/>
          <p:cNvSpPr txBox="1"/>
          <p:nvPr/>
        </p:nvSpPr>
        <p:spPr>
          <a:xfrm>
            <a:off x="8316773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34" name="bld6_350"/>
          <p:cNvSpPr txBox="1"/>
          <p:nvPr/>
        </p:nvSpPr>
        <p:spPr>
          <a:xfrm>
            <a:off x="8316773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materials = more complexity</a:t>
            </a:r>
            <a:endParaRPr lang="en-US" sz="1350" dirty="0"/>
          </a:p>
        </p:txBody>
      </p:sp>
      <p:sp>
        <p:nvSpPr>
          <p:cNvPr id="35" name="bld6_351"/>
          <p:cNvSpPr txBox="1"/>
          <p:nvPr/>
        </p:nvSpPr>
        <p:spPr>
          <a:xfrm>
            <a:off x="8316773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6" name="bld6_352"/>
          <p:cNvSpPr txBox="1"/>
          <p:nvPr/>
        </p:nvSpPr>
        <p:spPr>
          <a:xfrm>
            <a:off x="8316773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comes from how materials interact, not how many are in the beaker. Restraint is a skill.</a:t>
            </a:r>
            <a:endParaRPr lang="en-US" sz="1080" dirty="0"/>
          </a:p>
        </p:txBody>
      </p:sp>
      <p:sp>
        <p:nvSpPr>
          <p:cNvPr id="38" name="trans_fade_2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pyramid, the percentages, the categories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maps — not the territory. Learn them,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learn when real formulas break them.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01</a:t>
            </a:r>
            <a:endParaRPr lang="en-US" sz="1100" dirty="0"/>
          </a:p>
        </p:txBody>
      </p:sp>
      <p:sp>
        <p:nvSpPr>
          <p:cNvPr id="10" name="trans_fade_2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64447" y="3824387"/>
            <a:ext cx="1805026" cy="593080"/>
          </a:xfrm>
          <a:prstGeom prst="roundRect">
            <a:avLst>
              <a:gd name="adj" fmla="val 9251"/>
            </a:avLst>
          </a:prstGeom>
          <a:solidFill>
            <a:srgbClr val="B5652D">
              <a:alpha val="80000"/>
            </a:srgbClr>
          </a:solidFill>
          <a:ln w="12700">
            <a:solidFill>
              <a:srgbClr val="B565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69854" y="2737074"/>
            <a:ext cx="794211" cy="1146621"/>
          </a:xfrm>
          <a:prstGeom prst="roundRect">
            <a:avLst>
              <a:gd name="adj" fmla="val 3454"/>
            </a:avLst>
          </a:prstGeom>
          <a:solidFill>
            <a:srgbClr val="FAF6EC"/>
          </a:solidFill>
          <a:ln w="12700">
            <a:solidFill>
              <a:srgbClr val="B565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62388" y="2440534"/>
            <a:ext cx="914" cy="316309"/>
          </a:xfrm>
          <a:prstGeom prst="line">
            <a:avLst/>
          </a:prstGeom>
          <a:noFill/>
          <a:ln w="25400">
            <a:solidFill>
              <a:srgbClr val="B565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· EQUIPMENT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 Laboratory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a professional lab to start — you need the right small set of tools, chosen for accuracy.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0.001g scale is non-negotiable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Pipettes, bottles, strips — and what each is for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vs. nice-to-have, and common mistakes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21" name="trans_fade_2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01 · THE NON-NEGOTIABLE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scale is your accuracy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39687"/>
            <a:ext cx="582490" cy="25888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30197" y="2939687"/>
            <a:ext cx="582490" cy="323605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130197" y="3263292"/>
            <a:ext cx="582490" cy="517769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59381" y="3781061"/>
            <a:ext cx="970816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59381" y="3198571"/>
            <a:ext cx="388327" cy="582490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835776" y="2874966"/>
            <a:ext cx="711932" cy="323605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444154" y="3095017"/>
            <a:ext cx="207108" cy="207108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5768" y="2865258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638258" y="3188863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55768" y="3706632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84952" y="3706632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61346" y="2800536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ln w="25603">
            <a:solidFill>
              <a:srgbClr val="B5652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0.01g kitchen scale cannot see a 0.05g dose. Don't guess where you can measure.</a:t>
            </a:r>
            <a:endParaRPr lang="en-US" sz="1050" dirty="0"/>
          </a:p>
        </p:txBody>
      </p:sp>
      <p:sp>
        <p:nvSpPr>
          <p:cNvPr id="25" name="bld1_35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6" name="bld1_35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0.001g readability, ~200g capacity</a:t>
            </a:r>
            <a:endParaRPr lang="en-US" sz="1650" dirty="0"/>
          </a:p>
        </p:txBody>
      </p:sp>
      <p:sp>
        <p:nvSpPr>
          <p:cNvPr id="27" name="bld1_355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sweet spot for perfumery — precise enough for trace materials, large enough for real batches.</a:t>
            </a:r>
            <a:endParaRPr lang="en-US" sz="1250" dirty="0"/>
          </a:p>
        </p:txBody>
      </p:sp>
      <p:sp>
        <p:nvSpPr>
          <p:cNvPr id="28" name="bld2_356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bld2_357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0.001g matters</a:t>
            </a:r>
            <a:endParaRPr lang="en-US" sz="1650" dirty="0"/>
          </a:p>
        </p:txBody>
      </p:sp>
      <p:sp>
        <p:nvSpPr>
          <p:cNvPr id="30" name="bld2_358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materials are used at fractions of a percent. A 0.01g scale simply cannot see doses that small.</a:t>
            </a:r>
            <a:endParaRPr lang="en-US" sz="1250" dirty="0"/>
          </a:p>
        </p:txBody>
      </p:sp>
      <p:sp>
        <p:nvSpPr>
          <p:cNvPr id="31" name="bld3_359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2" name="bld3_360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Repeatability over price</a:t>
            </a:r>
            <a:endParaRPr lang="en-US" sz="1650" dirty="0"/>
          </a:p>
        </p:txBody>
      </p:sp>
      <p:sp>
        <p:nvSpPr>
          <p:cNvPr id="33" name="bld3_361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cheap scale that gives a different reading each time is worse than useless — it teaches you the wrong lesson.</a:t>
            </a:r>
            <a:endParaRPr lang="en-US" sz="1250" dirty="0"/>
          </a:p>
        </p:txBody>
      </p:sp>
      <p:sp>
        <p:nvSpPr>
          <p:cNvPr id="34" name="bld4_362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363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&amp; max capacity</a:t>
            </a:r>
            <a:endParaRPr lang="en-US" sz="1650" dirty="0"/>
          </a:p>
        </p:txBody>
      </p:sp>
      <p:sp>
        <p:nvSpPr>
          <p:cNvPr id="36" name="bld4_364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regularly with a reference weight, and respect the scale's stated capacity — overloading degrades accuracy.</a:t>
            </a:r>
            <a:endParaRPr lang="en-US" sz="1250" dirty="0"/>
          </a:p>
        </p:txBody>
      </p:sp>
      <p:sp>
        <p:nvSpPr>
          <p:cNvPr id="38" name="trans_fade_2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Pipettes — plastic vs. glass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13336" y="2192804"/>
            <a:ext cx="2011534" cy="2011534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1" name="Shape 9"/>
          <p:cNvSpPr/>
          <p:nvPr/>
        </p:nvSpPr>
        <p:spPr>
          <a:xfrm>
            <a:off x="8789661" y="2586663"/>
            <a:ext cx="258884" cy="271829"/>
          </a:xfrm>
          <a:prstGeom prst="ellipse">
            <a:avLst/>
          </a:prstGeom>
          <a:solidFill>
            <a:srgbClr val="6E7A50">
              <a:alpha val="85000"/>
            </a:srgbClr>
          </a:solidFill>
          <a:ln w="12700">
            <a:solidFill>
              <a:srgbClr val="6E7A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08131" y="2845547"/>
            <a:ext cx="914" cy="729583"/>
          </a:xfrm>
          <a:prstGeom prst="line">
            <a:avLst/>
          </a:prstGeom>
          <a:noFill/>
          <a:ln w="28575">
            <a:solidFill>
              <a:srgbClr val="6E7A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0800000">
            <a:off x="8883801" y="3575130"/>
            <a:ext cx="70605" cy="188280"/>
          </a:xfrm>
          <a:prstGeom prst="triangl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913336" y="2192804"/>
            <a:ext cx="2011534" cy="2011534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96266" y="2192804"/>
            <a:ext cx="2011534" cy="2011534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172591" y="2586663"/>
            <a:ext cx="258884" cy="271829"/>
          </a:xfrm>
          <a:prstGeom prst="ellipse">
            <a:avLst/>
          </a:prstGeom>
          <a:solidFill>
            <a:srgbClr val="C9A354">
              <a:alpha val="85000"/>
            </a:srgbClr>
          </a:solidFill>
          <a:ln w="12700">
            <a:solidFill>
              <a:srgbClr val="C9A35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91060" y="2845547"/>
            <a:ext cx="914" cy="729583"/>
          </a:xfrm>
          <a:prstGeom prst="line">
            <a:avLst/>
          </a:prstGeom>
          <a:noFill/>
          <a:ln w="28575">
            <a:solidFill>
              <a:srgbClr val="C9A35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0800000">
            <a:off x="10266730" y="3575130"/>
            <a:ext cx="70605" cy="188280"/>
          </a:xfrm>
          <a:prstGeom prst="triangle">
            <a:avLst/>
          </a:prstGeom>
          <a:solidFill>
            <a:srgbClr val="C9A354">
              <a:alpha val="8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296266" y="2192804"/>
            <a:ext cx="2011534" cy="2011534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both on hand — they solve different problems.</a:t>
            </a:r>
            <a:endParaRPr lang="en-US" sz="1050" dirty="0"/>
          </a:p>
        </p:txBody>
      </p:sp>
      <p:sp>
        <p:nvSpPr>
          <p:cNvPr id="21" name="bld1_36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2" name="bld1_36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Disposable plastic pipettes</a:t>
            </a:r>
            <a:endParaRPr lang="en-US" sz="1650" dirty="0"/>
          </a:p>
        </p:txBody>
      </p:sp>
      <p:sp>
        <p:nvSpPr>
          <p:cNvPr id="23" name="bld1_367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fast, zero cleanup — ideal for quick transfers and one-time evaluation dips.</a:t>
            </a:r>
            <a:endParaRPr lang="en-US" sz="1250" dirty="0"/>
          </a:p>
        </p:txBody>
      </p:sp>
      <p:sp>
        <p:nvSpPr>
          <p:cNvPr id="24" name="bld2_368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2_369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 Pasteur pipettes</a:t>
            </a:r>
            <a:endParaRPr lang="en-US" sz="1650" dirty="0"/>
          </a:p>
        </p:txBody>
      </p:sp>
      <p:sp>
        <p:nvSpPr>
          <p:cNvPr id="26" name="bld2_370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and solvent-resistant — better for repeated, precise dosing of the same material.</a:t>
            </a:r>
            <a:endParaRPr lang="en-US" sz="1250" dirty="0"/>
          </a:p>
        </p:txBody>
      </p:sp>
      <p:sp>
        <p:nvSpPr>
          <p:cNvPr id="27" name="bld3_371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8" name="bld3_372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to use each</a:t>
            </a:r>
            <a:endParaRPr lang="en-US" sz="1650" dirty="0"/>
          </a:p>
        </p:txBody>
      </p:sp>
      <p:sp>
        <p:nvSpPr>
          <p:cNvPr id="29" name="bld3_373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Plastic for speed and disposability; glass when you're working with strong solvents or want a permanent tool for one material.</a:t>
            </a:r>
            <a:endParaRPr lang="en-US" sz="1250" dirty="0"/>
          </a:p>
        </p:txBody>
      </p:sp>
      <p:sp>
        <p:nvSpPr>
          <p:cNvPr id="31" name="trans_fade_2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Bottles for every stage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986731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538488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374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2" name="Shape 10"/>
          <p:cNvSpPr/>
          <p:nvPr/>
        </p:nvSpPr>
        <p:spPr>
          <a:xfrm>
            <a:off x="1810033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3868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48136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84712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7" name="bld1_376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glass bottles</a:t>
            </a:r>
            <a:endParaRPr lang="en-US" sz="1450" dirty="0"/>
          </a:p>
        </p:txBody>
      </p:sp>
      <p:sp>
        <p:nvSpPr>
          <p:cNvPr id="18" name="bld1_377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UV-protective storage for raw materials and dilutions.</a:t>
            </a:r>
            <a:endParaRPr lang="en-US" sz="1080" dirty="0"/>
          </a:p>
        </p:txBody>
      </p:sp>
      <p:sp>
        <p:nvSpPr>
          <p:cNvPr id="19" name="bld2_378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1" name="Shape 19"/>
          <p:cNvSpPr/>
          <p:nvPr/>
        </p:nvSpPr>
        <p:spPr>
          <a:xfrm>
            <a:off x="4647645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651479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85748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2324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26" name="bld2_380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vials</a:t>
            </a:r>
            <a:endParaRPr lang="en-US" sz="1450" dirty="0"/>
          </a:p>
        </p:txBody>
      </p:sp>
      <p:sp>
        <p:nvSpPr>
          <p:cNvPr id="27" name="bld2_381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volumes for evaluation batches and giving out samples.</a:t>
            </a:r>
            <a:endParaRPr lang="en-US" sz="1080" dirty="0"/>
          </a:p>
        </p:txBody>
      </p:sp>
      <p:sp>
        <p:nvSpPr>
          <p:cNvPr id="28" name="bld3_382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0" name="Shape 28"/>
          <p:cNvSpPr/>
          <p:nvPr/>
        </p:nvSpPr>
        <p:spPr>
          <a:xfrm>
            <a:off x="7485257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31" name="Shape 29"/>
          <p:cNvSpPr/>
          <p:nvPr/>
        </p:nvSpPr>
        <p:spPr>
          <a:xfrm>
            <a:off x="7489091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23360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59936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5" name="bld3_384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 bottles</a:t>
            </a:r>
            <a:endParaRPr lang="en-US" sz="1450" dirty="0"/>
          </a:p>
        </p:txBody>
      </p:sp>
      <p:sp>
        <p:nvSpPr>
          <p:cNvPr id="36" name="bld3_385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bottles per dilution strength, clearly labelled.</a:t>
            </a:r>
            <a:endParaRPr lang="en-US" sz="1080" dirty="0"/>
          </a:p>
        </p:txBody>
      </p:sp>
      <p:sp>
        <p:nvSpPr>
          <p:cNvPr id="37" name="bld4_386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9" name="Shape 37"/>
          <p:cNvSpPr/>
          <p:nvPr/>
        </p:nvSpPr>
        <p:spPr>
          <a:xfrm>
            <a:off x="10322869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40" name="Shape 38"/>
          <p:cNvSpPr/>
          <p:nvPr/>
        </p:nvSpPr>
        <p:spPr>
          <a:xfrm>
            <a:off x="10326703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60972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297548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4" name="bld4_388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storage</a:t>
            </a:r>
            <a:endParaRPr lang="en-US" sz="1450" dirty="0"/>
          </a:p>
        </p:txBody>
      </p:sp>
      <p:sp>
        <p:nvSpPr>
          <p:cNvPr id="45" name="bld4_389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bottles for macerating and storing finished compounds.</a:t>
            </a:r>
            <a:endParaRPr lang="en-US" sz="1080" dirty="0"/>
          </a:p>
        </p:txBody>
      </p:sp>
      <p:sp>
        <p:nvSpPr>
          <p:cNvPr id="47" name="trans_fade_2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8" name="Text 4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7" grpId="0"/>
      <p:bldP spid="18" grpId="0"/>
      <p:bldP spid="19" grpId="0"/>
      <p:bldP spid="26" grpId="0"/>
      <p:bldP spid="27" grpId="0"/>
      <p:bldP spid="28" grpId="0"/>
      <p:bldP spid="35" grpId="0"/>
      <p:bldP spid="36" grpId="0"/>
      <p:bldP spid="37" grpId="0"/>
      <p:bldP spid="44" grpId="0"/>
      <p:bldP spid="4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 strips — your primary instrument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4267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" name="Shape 9"/>
          <p:cNvSpPr/>
          <p:nvPr/>
        </p:nvSpPr>
        <p:spPr>
          <a:xfrm>
            <a:off x="8247025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60741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B5652D">
              <a:alpha val="7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494267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32406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5" name="Shape 13"/>
          <p:cNvSpPr/>
          <p:nvPr/>
        </p:nvSpPr>
        <p:spPr>
          <a:xfrm>
            <a:off x="9085164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98880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32406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0545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9" name="Shape 17"/>
          <p:cNvSpPr/>
          <p:nvPr/>
        </p:nvSpPr>
        <p:spPr>
          <a:xfrm>
            <a:off x="9923303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37019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8C3B49">
              <a:alpha val="7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170545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08684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3" name="Shape 21"/>
          <p:cNvSpPr/>
          <p:nvPr/>
        </p:nvSpPr>
        <p:spPr>
          <a:xfrm>
            <a:off x="10761442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775158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008684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strip, one material, one label — every time.</a:t>
            </a:r>
            <a:endParaRPr lang="en-US" sz="1050" dirty="0"/>
          </a:p>
        </p:txBody>
      </p:sp>
      <p:sp>
        <p:nvSpPr>
          <p:cNvPr id="27" name="bld1_39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8" name="bld1_39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blotters matter</a:t>
            </a:r>
            <a:endParaRPr lang="en-US" sz="1650" dirty="0"/>
          </a:p>
        </p:txBody>
      </p:sp>
      <p:sp>
        <p:nvSpPr>
          <p:cNvPr id="29" name="bld1_392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varies too much between evaluations — a blotter is a consistent, repeatable surface for judging a material.</a:t>
            </a:r>
            <a:endParaRPr lang="en-US" sz="1250" dirty="0"/>
          </a:p>
        </p:txBody>
      </p:sp>
      <p:sp>
        <p:nvSpPr>
          <p:cNvPr id="30" name="bld2_393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2_394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 labelling</a:t>
            </a:r>
            <a:endParaRPr lang="en-US" sz="1650" dirty="0"/>
          </a:p>
        </p:txBody>
      </p:sp>
      <p:sp>
        <p:nvSpPr>
          <p:cNvPr id="32" name="bld2_395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material, dilution and date on the strip itself before you dip it — not after.</a:t>
            </a:r>
            <a:endParaRPr lang="en-US" sz="1250" dirty="0"/>
          </a:p>
        </p:txBody>
      </p:sp>
      <p:sp>
        <p:nvSpPr>
          <p:cNvPr id="33" name="bld3_396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4" name="bld3_397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stamps</a:t>
            </a:r>
            <a:endParaRPr lang="en-US" sz="1650" dirty="0"/>
          </a:p>
        </p:txBody>
      </p:sp>
      <p:sp>
        <p:nvSpPr>
          <p:cNvPr id="35" name="bld3_398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exact time you dipped it, so later evaluations are measured against a real clock.</a:t>
            </a:r>
            <a:endParaRPr lang="en-US" sz="1250" dirty="0"/>
          </a:p>
        </p:txBody>
      </p:sp>
      <p:sp>
        <p:nvSpPr>
          <p:cNvPr id="36" name="bld4_399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7" name="bld4_400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 evaluation</a:t>
            </a:r>
            <a:endParaRPr lang="en-US" sz="1650" dirty="0"/>
          </a:p>
        </p:txBody>
      </p:sp>
      <p:sp>
        <p:nvSpPr>
          <p:cNvPr id="38" name="bld4_401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strip lets you return to the same sample hours or days later and track how it truly evolves.</a:t>
            </a:r>
            <a:endParaRPr lang="en-US" sz="1250" dirty="0"/>
          </a:p>
        </p:txBody>
      </p:sp>
      <p:sp>
        <p:nvSpPr>
          <p:cNvPr id="40" name="trans_fade_2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KIT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tools that save real time</a:t>
            </a:r>
            <a:endParaRPr lang="en-US" sz="3200" dirty="0"/>
          </a:p>
        </p:txBody>
      </p:sp>
      <p:sp>
        <p:nvSpPr>
          <p:cNvPr id="7" name="bld1_402"/>
          <p:cNvSpPr/>
          <p:nvPr/>
        </p:nvSpPr>
        <p:spPr>
          <a:xfrm>
            <a:off x="548640" y="1737360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865376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9" name="Shape 7"/>
          <p:cNvSpPr/>
          <p:nvPr/>
        </p:nvSpPr>
        <p:spPr>
          <a:xfrm>
            <a:off x="2089266" y="2025923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01469" y="1865376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1" name="bld1_404"/>
          <p:cNvSpPr txBox="1"/>
          <p:nvPr/>
        </p:nvSpPr>
        <p:spPr>
          <a:xfrm>
            <a:off x="731520" y="2578608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Gloves</a:t>
            </a:r>
            <a:endParaRPr lang="en-US" sz="1450" dirty="0"/>
          </a:p>
        </p:txBody>
      </p:sp>
      <p:sp>
        <p:nvSpPr>
          <p:cNvPr id="12" name="bld1_405"/>
          <p:cNvSpPr txBox="1"/>
          <p:nvPr/>
        </p:nvSpPr>
        <p:spPr>
          <a:xfrm>
            <a:off x="731520" y="3035808"/>
            <a:ext cx="316169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Nitrile — many materials irritate or stain skin.</a:t>
            </a:r>
            <a:endParaRPr lang="en-US" sz="1080" dirty="0"/>
          </a:p>
        </p:txBody>
      </p:sp>
      <p:sp>
        <p:nvSpPr>
          <p:cNvPr id="13" name="bld2_406"/>
          <p:cNvSpPr/>
          <p:nvPr/>
        </p:nvSpPr>
        <p:spPr>
          <a:xfrm>
            <a:off x="4332122" y="1737360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84952" y="1865376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074508" y="2006523"/>
            <a:ext cx="42680" cy="95060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98848" y="2074422"/>
            <a:ext cx="193999" cy="27159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29888" y="2183062"/>
            <a:ext cx="131919" cy="156169"/>
          </a:xfrm>
          <a:prstGeom prst="triangle">
            <a:avLst/>
          </a:prstGeom>
          <a:solidFill>
            <a:srgbClr val="4090AF">
              <a:alpha val="9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5784952" y="1865376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9" name="bld2_408"/>
          <p:cNvSpPr txBox="1"/>
          <p:nvPr/>
        </p:nvSpPr>
        <p:spPr>
          <a:xfrm>
            <a:off x="4515002" y="2578608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Funnels</a:t>
            </a:r>
            <a:endParaRPr lang="en-US" sz="1450" dirty="0"/>
          </a:p>
        </p:txBody>
      </p:sp>
      <p:sp>
        <p:nvSpPr>
          <p:cNvPr id="20" name="bld2_409"/>
          <p:cNvSpPr txBox="1"/>
          <p:nvPr/>
        </p:nvSpPr>
        <p:spPr>
          <a:xfrm>
            <a:off x="4515002" y="3035808"/>
            <a:ext cx="316169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lab funnels for clean bottle transfers.</a:t>
            </a:r>
            <a:endParaRPr lang="en-US" sz="1080" dirty="0"/>
          </a:p>
        </p:txBody>
      </p:sp>
      <p:sp>
        <p:nvSpPr>
          <p:cNvPr id="21" name="bld3_410"/>
          <p:cNvSpPr/>
          <p:nvPr/>
        </p:nvSpPr>
        <p:spPr>
          <a:xfrm>
            <a:off x="8115605" y="1737360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568434" y="1865376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3" name="Shape 21"/>
          <p:cNvSpPr/>
          <p:nvPr/>
        </p:nvSpPr>
        <p:spPr>
          <a:xfrm>
            <a:off x="9857990" y="2006523"/>
            <a:ext cx="42680" cy="95060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82330" y="2074422"/>
            <a:ext cx="193999" cy="27159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13370" y="2183062"/>
            <a:ext cx="131919" cy="156169"/>
          </a:xfrm>
          <a:prstGeom prst="triangle">
            <a:avLst/>
          </a:prstGeom>
          <a:solidFill>
            <a:srgbClr val="5C8A45">
              <a:alpha val="9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568434" y="1865376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7" name="bld3_412"/>
          <p:cNvSpPr txBox="1"/>
          <p:nvPr/>
        </p:nvSpPr>
        <p:spPr>
          <a:xfrm>
            <a:off x="8298485" y="2578608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Beakers</a:t>
            </a:r>
            <a:endParaRPr lang="en-US" sz="1450" dirty="0"/>
          </a:p>
        </p:txBody>
      </p:sp>
      <p:sp>
        <p:nvSpPr>
          <p:cNvPr id="28" name="bld3_413"/>
          <p:cNvSpPr txBox="1"/>
          <p:nvPr/>
        </p:nvSpPr>
        <p:spPr>
          <a:xfrm>
            <a:off x="8298485" y="3035808"/>
            <a:ext cx="316169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mixing and staging larger batches.</a:t>
            </a:r>
            <a:endParaRPr lang="en-US" sz="1080" dirty="0"/>
          </a:p>
        </p:txBody>
      </p:sp>
      <p:sp>
        <p:nvSpPr>
          <p:cNvPr id="29" name="bld4_414"/>
          <p:cNvSpPr/>
          <p:nvPr/>
        </p:nvSpPr>
        <p:spPr>
          <a:xfrm>
            <a:off x="548640" y="3377184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001469" y="3505200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1" name="Shape 29"/>
          <p:cNvSpPr/>
          <p:nvPr/>
        </p:nvSpPr>
        <p:spPr>
          <a:xfrm rot="8100000">
            <a:off x="2191116" y="3694847"/>
            <a:ext cx="242499" cy="242499"/>
          </a:xfrm>
          <a:prstGeom prst="teardrop">
            <a:avLst/>
          </a:prstGeom>
          <a:solidFill>
            <a:srgbClr val="4090AF">
              <a:alpha val="9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001469" y="3505200"/>
            <a:ext cx="621792" cy="621792"/>
          </a:xfrm>
          <a:prstGeom prst="ellipse">
            <a:avLst/>
          </a:prstGeom>
          <a:ln w="25603">
            <a:solidFill>
              <a:srgbClr val="2A5266"/>
            </a:solidFill>
            <a:prstDash val="solid"/>
          </a:ln>
        </p:spPr>
      </p:sp>
      <p:sp>
        <p:nvSpPr>
          <p:cNvPr id="33" name="bld4_416"/>
          <p:cNvSpPr txBox="1"/>
          <p:nvPr/>
        </p:nvSpPr>
        <p:spPr>
          <a:xfrm>
            <a:off x="731520" y="4218432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 rods</a:t>
            </a:r>
            <a:endParaRPr lang="en-US" sz="1450" dirty="0"/>
          </a:p>
        </p:txBody>
      </p:sp>
      <p:sp>
        <p:nvSpPr>
          <p:cNvPr id="34" name="bld4_417"/>
          <p:cNvSpPr txBox="1"/>
          <p:nvPr/>
        </p:nvSpPr>
        <p:spPr>
          <a:xfrm>
            <a:off x="731520" y="4675632"/>
            <a:ext cx="316169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stirring without introducing air.</a:t>
            </a:r>
            <a:endParaRPr lang="en-US" sz="1080" dirty="0"/>
          </a:p>
        </p:txBody>
      </p:sp>
      <p:sp>
        <p:nvSpPr>
          <p:cNvPr id="35" name="bld5_418"/>
          <p:cNvSpPr/>
          <p:nvPr/>
        </p:nvSpPr>
        <p:spPr>
          <a:xfrm>
            <a:off x="4332122" y="3377184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784952" y="3505200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7" name="Shape 35"/>
          <p:cNvSpPr/>
          <p:nvPr/>
        </p:nvSpPr>
        <p:spPr>
          <a:xfrm>
            <a:off x="5853349" y="3573597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915239" y="3694847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5890215" y="3775680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5890215" y="3856512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5915239" y="3937345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5784952" y="3505200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3" name="bld5_420"/>
          <p:cNvSpPr txBox="1"/>
          <p:nvPr/>
        </p:nvSpPr>
        <p:spPr>
          <a:xfrm>
            <a:off x="4515002" y="4218432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 &amp; markers</a:t>
            </a:r>
            <a:endParaRPr lang="en-US" sz="1450" dirty="0"/>
          </a:p>
        </p:txBody>
      </p:sp>
      <p:sp>
        <p:nvSpPr>
          <p:cNvPr id="44" name="bld5_421"/>
          <p:cNvSpPr txBox="1"/>
          <p:nvPr/>
        </p:nvSpPr>
        <p:spPr>
          <a:xfrm>
            <a:off x="4515002" y="4675632"/>
            <a:ext cx="316169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Alcohol-resistant labels and permanent markers — standard ink smears.</a:t>
            </a:r>
            <a:endParaRPr lang="en-US" sz="1080" dirty="0"/>
          </a:p>
        </p:txBody>
      </p:sp>
      <p:sp>
        <p:nvSpPr>
          <p:cNvPr id="45" name="bld6_422"/>
          <p:cNvSpPr/>
          <p:nvPr/>
        </p:nvSpPr>
        <p:spPr>
          <a:xfrm>
            <a:off x="8115605" y="3377184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9568434" y="3505200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7" name="Shape 45"/>
          <p:cNvSpPr/>
          <p:nvPr/>
        </p:nvSpPr>
        <p:spPr>
          <a:xfrm>
            <a:off x="9636831" y="3573597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698721" y="3694847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9673698" y="3775680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9673698" y="3856512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9698721" y="3937345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9568434" y="3505200"/>
            <a:ext cx="621792" cy="621792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53" name="bld6_424"/>
          <p:cNvSpPr txBox="1"/>
          <p:nvPr/>
        </p:nvSpPr>
        <p:spPr>
          <a:xfrm>
            <a:off x="8298485" y="4218432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Weighing boats</a:t>
            </a:r>
            <a:endParaRPr lang="en-US" sz="1450" dirty="0"/>
          </a:p>
        </p:txBody>
      </p:sp>
      <p:sp>
        <p:nvSpPr>
          <p:cNvPr id="54" name="bld6_425"/>
          <p:cNvSpPr txBox="1"/>
          <p:nvPr/>
        </p:nvSpPr>
        <p:spPr>
          <a:xfrm>
            <a:off x="8298485" y="4675632"/>
            <a:ext cx="316169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boats for solids and viscous materials.</a:t>
            </a:r>
            <a:endParaRPr lang="en-US" sz="1080" dirty="0"/>
          </a:p>
        </p:txBody>
      </p:sp>
      <p:sp>
        <p:nvSpPr>
          <p:cNvPr id="55" name="bld7_426"/>
          <p:cNvSpPr/>
          <p:nvPr/>
        </p:nvSpPr>
        <p:spPr>
          <a:xfrm>
            <a:off x="548640" y="5017008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2001469" y="5145024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7" name="Shape 55"/>
          <p:cNvSpPr/>
          <p:nvPr/>
        </p:nvSpPr>
        <p:spPr>
          <a:xfrm rot="8100000">
            <a:off x="2191116" y="5334671"/>
            <a:ext cx="242499" cy="242499"/>
          </a:xfrm>
          <a:prstGeom prst="teardrop">
            <a:avLst/>
          </a:prstGeom>
          <a:solidFill>
            <a:srgbClr val="8A6339">
              <a:alpha val="9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2001469" y="5145024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9" name="bld7_428"/>
          <p:cNvSpPr txBox="1"/>
          <p:nvPr/>
        </p:nvSpPr>
        <p:spPr>
          <a:xfrm>
            <a:off x="731520" y="5858256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Spatulas</a:t>
            </a:r>
            <a:endParaRPr lang="en-US" sz="1450" dirty="0"/>
          </a:p>
        </p:txBody>
      </p:sp>
      <p:sp>
        <p:nvSpPr>
          <p:cNvPr id="60" name="bld7_429"/>
          <p:cNvSpPr txBox="1"/>
          <p:nvPr/>
        </p:nvSpPr>
        <p:spPr>
          <a:xfrm>
            <a:off x="731520" y="6315456"/>
            <a:ext cx="316169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solid and paste-like materials.</a:t>
            </a:r>
            <a:endParaRPr lang="en-US" sz="1080" dirty="0"/>
          </a:p>
        </p:txBody>
      </p:sp>
      <p:sp>
        <p:nvSpPr>
          <p:cNvPr id="61" name="bld8_430"/>
          <p:cNvSpPr/>
          <p:nvPr/>
        </p:nvSpPr>
        <p:spPr>
          <a:xfrm>
            <a:off x="4332122" y="5017008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5784952" y="5145024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853349" y="5213421"/>
            <a:ext cx="484998" cy="484998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5915239" y="5334671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5890215" y="541550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5890215" y="5496336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5915239" y="5577169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5784952" y="5145024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69" name="bld8_432"/>
          <p:cNvSpPr txBox="1"/>
          <p:nvPr/>
        </p:nvSpPr>
        <p:spPr>
          <a:xfrm>
            <a:off x="4515002" y="5858256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boxes</a:t>
            </a:r>
            <a:endParaRPr lang="en-US" sz="1450" dirty="0"/>
          </a:p>
        </p:txBody>
      </p:sp>
      <p:sp>
        <p:nvSpPr>
          <p:cNvPr id="70" name="bld8_433"/>
          <p:cNvSpPr txBox="1"/>
          <p:nvPr/>
        </p:nvSpPr>
        <p:spPr>
          <a:xfrm>
            <a:off x="4515002" y="6315456"/>
            <a:ext cx="316169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Organised, dark storage for your growing material library.</a:t>
            </a:r>
            <a:endParaRPr lang="en-US" sz="1080" dirty="0"/>
          </a:p>
        </p:txBody>
      </p:sp>
      <p:sp>
        <p:nvSpPr>
          <p:cNvPr id="71" name="bld9_434"/>
          <p:cNvSpPr/>
          <p:nvPr/>
        </p:nvSpPr>
        <p:spPr>
          <a:xfrm>
            <a:off x="8115605" y="5017008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9568434" y="5145024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73" name="Shape 71"/>
          <p:cNvSpPr/>
          <p:nvPr/>
        </p:nvSpPr>
        <p:spPr>
          <a:xfrm>
            <a:off x="9636831" y="5213421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690181" y="5453495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9690181" y="5392870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9690181" y="5324971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9568434" y="5145024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78" name="bld9_436"/>
          <p:cNvSpPr txBox="1"/>
          <p:nvPr/>
        </p:nvSpPr>
        <p:spPr>
          <a:xfrm>
            <a:off x="8298485" y="5858256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 alcohol</a:t>
            </a:r>
            <a:endParaRPr lang="en-US" sz="1450" dirty="0"/>
          </a:p>
        </p:txBody>
      </p:sp>
      <p:sp>
        <p:nvSpPr>
          <p:cNvPr id="79" name="bld9_437"/>
          <p:cNvSpPr txBox="1"/>
          <p:nvPr/>
        </p:nvSpPr>
        <p:spPr>
          <a:xfrm>
            <a:off x="8298485" y="6315456"/>
            <a:ext cx="316169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rinsing glassware between materials — never skip this step.</a:t>
            </a:r>
            <a:endParaRPr lang="en-US" sz="1080" dirty="0"/>
          </a:p>
        </p:txBody>
      </p:sp>
      <p:sp>
        <p:nvSpPr>
          <p:cNvPr id="81" name="trans_fade_2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82" name="Text 7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19" grpId="0"/>
      <p:bldP spid="20" grpId="0"/>
      <p:bldP spid="21" grpId="0"/>
      <p:bldP spid="27" grpId="0"/>
      <p:bldP spid="28" grpId="0"/>
      <p:bldP spid="29" grpId="0"/>
      <p:bldP spid="33" grpId="0"/>
      <p:bldP spid="34" grpId="0"/>
      <p:bldP spid="35" grpId="0"/>
      <p:bldP spid="43" grpId="0"/>
      <p:bldP spid="44" grpId="0"/>
      <p:bldP spid="45" grpId="0"/>
      <p:bldP spid="53" grpId="0"/>
      <p:bldP spid="54" grpId="0"/>
      <p:bldP spid="55" grpId="0"/>
      <p:bldP spid="59" grpId="0"/>
      <p:bldP spid="60" grpId="0"/>
      <p:bldP spid="61" grpId="0"/>
      <p:bldP spid="69" grpId="0"/>
      <p:bldP spid="70" grpId="0"/>
      <p:bldP spid="71" grpId="0"/>
      <p:bldP spid="78" grpId="0"/>
      <p:bldP spid="7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search for, not where to buy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74313" y="2255605"/>
            <a:ext cx="2346789" cy="2346789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74313" y="2255605"/>
            <a:ext cx="2346789" cy="2346789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2700000">
            <a:off x="10343940" y="4225232"/>
            <a:ext cx="502883" cy="914"/>
          </a:xfrm>
          <a:prstGeom prst="line">
            <a:avLst/>
          </a:prstGeom>
          <a:noFill/>
          <a:ln w="38100">
            <a:solidFill>
              <a:srgbClr val="C9A3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spec — let the market compete for your order.</a:t>
            </a:r>
            <a:endParaRPr lang="en-US" sz="1050" dirty="0"/>
          </a:p>
        </p:txBody>
      </p:sp>
      <p:sp>
        <p:nvSpPr>
          <p:cNvPr id="14" name="bld1_43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bld1_43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by spec, not by brand</a:t>
            </a:r>
            <a:endParaRPr lang="en-US" sz="1650" dirty="0"/>
          </a:p>
        </p:txBody>
      </p:sp>
      <p:sp>
        <p:nvSpPr>
          <p:cNvPr id="16" name="bld1_440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 change — the specification doesn't. Search for what you need, not a specific store.</a:t>
            </a:r>
            <a:endParaRPr lang="en-US" sz="1250" dirty="0"/>
          </a:p>
        </p:txBody>
      </p:sp>
      <p:sp>
        <p:nvSpPr>
          <p:cNvPr id="17" name="bld2_441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8" name="bld2_442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"0.001g precision scale ~200g"</a:t>
            </a:r>
            <a:endParaRPr lang="en-US" sz="1650" dirty="0"/>
          </a:p>
        </p:txBody>
      </p:sp>
      <p:sp>
        <p:nvSpPr>
          <p:cNvPr id="19" name="bld2_443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exact scale class covered earlier, across many sellers.</a:t>
            </a:r>
            <a:endParaRPr lang="en-US" sz="1250" dirty="0"/>
          </a:p>
        </p:txBody>
      </p:sp>
      <p:sp>
        <p:nvSpPr>
          <p:cNvPr id="20" name="bld3_444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3_445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"amber glass bottles wholesale"</a:t>
            </a:r>
            <a:endParaRPr lang="en-US" sz="1650" dirty="0"/>
          </a:p>
        </p:txBody>
      </p:sp>
      <p:sp>
        <p:nvSpPr>
          <p:cNvPr id="22" name="bld3_446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bulk glassware suppliers for storage and dilution bottles.</a:t>
            </a:r>
            <a:endParaRPr lang="en-US" sz="1250" dirty="0"/>
          </a:p>
        </p:txBody>
      </p:sp>
      <p:sp>
        <p:nvSpPr>
          <p:cNvPr id="23" name="bld4_447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4" name="bld4_448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"perfumer's alcohol" / "glass Pasteur pipettes"</a:t>
            </a:r>
            <a:endParaRPr lang="en-US" sz="1650" dirty="0"/>
          </a:p>
        </p:txBody>
      </p:sp>
      <p:sp>
        <p:nvSpPr>
          <p:cNvPr id="25" name="bld4_449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most-searched consumables in any starter kit.</a:t>
            </a:r>
            <a:endParaRPr lang="en-US" sz="1250" dirty="0"/>
          </a:p>
        </p:txBody>
      </p:sp>
      <p:sp>
        <p:nvSpPr>
          <p:cNvPr id="27" name="trans_fade_2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 vs. nice-to-have</a:t>
            </a:r>
            <a:endParaRPr lang="en-US" sz="3200" dirty="0"/>
          </a:p>
        </p:txBody>
      </p:sp>
      <p:sp>
        <p:nvSpPr>
          <p:cNvPr id="7" name="bld1_450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8" name="bld1_451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bld1_452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</a:t>
            </a:r>
            <a:endParaRPr lang="en-US" sz="1800" dirty="0"/>
          </a:p>
        </p:txBody>
      </p:sp>
      <p:sp>
        <p:nvSpPr>
          <p:cNvPr id="10" name="bld1_453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precision scale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+ glass pipettes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glass bottles + dilution bottles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Scent strips (blotters)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Gloves, labels, markers, cleaning alcohol</a:t>
            </a:r>
            <a:endParaRPr lang="en-US" sz="1300" dirty="0"/>
          </a:p>
        </p:txBody>
      </p:sp>
      <p:sp>
        <p:nvSpPr>
          <p:cNvPr id="11" name="bld1_454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2" name="bld1_455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B5652D">
              <a:alpha val="92000"/>
            </a:srgbClr>
          </a:solidFill>
          <a:ln/>
        </p:spPr>
      </p:sp>
      <p:sp>
        <p:nvSpPr>
          <p:cNvPr id="13" name="bld2_456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9EDE0"/>
          </a:solidFill>
          <a:ln/>
        </p:spPr>
      </p:sp>
      <p:sp>
        <p:nvSpPr>
          <p:cNvPr id="14" name="bld2_457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bld2_458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Nice to have</a:t>
            </a:r>
            <a:endParaRPr lang="en-US" sz="1800" dirty="0"/>
          </a:p>
        </p:txBody>
      </p:sp>
      <p:sp>
        <p:nvSpPr>
          <p:cNvPr id="16" name="bld2_459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stirrer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Fume extraction / ventilation hood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cleaner for glassware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fridge for volatile materials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labelling printer</a:t>
            </a:r>
            <a:endParaRPr lang="en-US" sz="1300" dirty="0"/>
          </a:p>
        </p:txBody>
      </p:sp>
      <p:sp>
        <p:nvSpPr>
          <p:cNvPr id="17" name="bld2_460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8" name="bld2_461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20" name="trans_wipe_l_3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FROM OTHERS' MISTAKES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beginner equipment mistakes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95454" y="4778792"/>
            <a:ext cx="1460021" cy="1460021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97656" y="4880994"/>
            <a:ext cx="1255618" cy="125561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52464" y="5435802"/>
            <a:ext cx="146002" cy="14600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462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463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1_464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kitchen scale</a:t>
            </a:r>
            <a:endParaRPr lang="en-US" sz="1450" dirty="0"/>
          </a:p>
        </p:txBody>
      </p:sp>
      <p:sp>
        <p:nvSpPr>
          <p:cNvPr id="24" name="bld1_465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to 0.01g or 0.1g — invisible to most trace materials. It will silently ruin every formula you weigh on it.</a:t>
            </a:r>
            <a:endParaRPr lang="en-US" sz="1080" dirty="0"/>
          </a:p>
        </p:txBody>
      </p:sp>
      <p:sp>
        <p:nvSpPr>
          <p:cNvPr id="25" name="bld2_466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467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bld2_468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Reusing one pipette</a:t>
            </a:r>
            <a:endParaRPr lang="en-US" sz="1450" dirty="0"/>
          </a:p>
        </p:txBody>
      </p:sp>
      <p:sp>
        <p:nvSpPr>
          <p:cNvPr id="28" name="bld2_469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Cross-contaminates materials and skews every reading after the first. One pipette per material, or rinse thoroughly between uses.</a:t>
            </a:r>
            <a:endParaRPr lang="en-US" sz="1080" dirty="0"/>
          </a:p>
        </p:txBody>
      </p:sp>
      <p:sp>
        <p:nvSpPr>
          <p:cNvPr id="29" name="bld3_470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471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472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 glass storage</a:t>
            </a:r>
            <a:endParaRPr lang="en-US" sz="1450" dirty="0"/>
          </a:p>
        </p:txBody>
      </p:sp>
      <p:sp>
        <p:nvSpPr>
          <p:cNvPr id="32" name="bld3_473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light degrades citrus oils and many naturals within weeks. Amber glass is not optional for anything you plan to keep.</a:t>
            </a:r>
            <a:endParaRPr lang="en-US" sz="1080" dirty="0"/>
          </a:p>
        </p:txBody>
      </p:sp>
      <p:sp>
        <p:nvSpPr>
          <p:cNvPr id="33" name="bld4_474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475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476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Unlabelled bottles</a:t>
            </a:r>
            <a:endParaRPr lang="en-US" sz="1450" dirty="0"/>
          </a:p>
        </p:txBody>
      </p:sp>
      <p:sp>
        <p:nvSpPr>
          <p:cNvPr id="36" name="bld4_477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bottle without material, %, solvent and date becomes a mystery liquid within a month — and mystery liquids get thrown away.</a:t>
            </a:r>
            <a:endParaRPr lang="en-US" sz="1080" dirty="0"/>
          </a:p>
        </p:txBody>
      </p:sp>
      <p:sp>
        <p:nvSpPr>
          <p:cNvPr id="38" name="trans_fade_3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B5652D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B5652D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B565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precise scale and a stack of scent strips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teach you more than any expensive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ever will.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02</a:t>
            </a:r>
            <a:endParaRPr lang="en-US" sz="1100" dirty="0"/>
          </a:p>
        </p:txBody>
      </p:sp>
      <p:sp>
        <p:nvSpPr>
          <p:cNvPr id="10" name="trans_fade_3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33890" y="2086061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4320000">
            <a:off x="10245887" y="2530703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8640000">
            <a:off x="10012125" y="3250148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12960000">
            <a:off x="9255655" y="3250148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7280000">
            <a:off x="9021893" y="2530703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647213" y="3109253"/>
            <a:ext cx="639495" cy="639495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03.1 · RAW MATERIALS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&amp; How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Behave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shop, you need a framework — how perfumers actually think about a raw material.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vocabulary: volatility, diffusion, tenacity, role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natural material families, in real depth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named materials — not just categories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24" name="trans_fade_3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olfactory groups, revisited</a:t>
            </a:r>
            <a:endParaRPr lang="en-US" sz="3200" dirty="0"/>
          </a:p>
        </p:txBody>
      </p:sp>
      <p:sp>
        <p:nvSpPr>
          <p:cNvPr id="7" name="bld1_478"/>
          <p:cNvSpPr/>
          <p:nvPr/>
        </p:nvSpPr>
        <p:spPr>
          <a:xfrm>
            <a:off x="548640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33773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30881" y="1967723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15180" y="2152022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480"/>
          <p:cNvSpPr txBox="1"/>
          <p:nvPr/>
        </p:nvSpPr>
        <p:spPr>
          <a:xfrm>
            <a:off x="731520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24" name="bld1_481"/>
          <p:cNvSpPr txBox="1"/>
          <p:nvPr/>
        </p:nvSpPr>
        <p:spPr>
          <a:xfrm>
            <a:off x="731520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Bright, volatile top notes</a:t>
            </a:r>
            <a:endParaRPr lang="en-US" sz="1080" dirty="0"/>
          </a:p>
        </p:txBody>
      </p:sp>
      <p:sp>
        <p:nvSpPr>
          <p:cNvPr id="25" name="bld2_482"/>
          <p:cNvSpPr/>
          <p:nvPr/>
        </p:nvSpPr>
        <p:spPr>
          <a:xfrm>
            <a:off x="3386252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4616417" y="193183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4320000">
            <a:off x="4727811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640000">
            <a:off x="4685262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2960000">
            <a:off x="4547571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7280000">
            <a:off x="4505023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18842" y="2118072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3" name="Shape 31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4" name="bld2_484"/>
          <p:cNvSpPr txBox="1"/>
          <p:nvPr/>
        </p:nvSpPr>
        <p:spPr>
          <a:xfrm>
            <a:off x="3569132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35" name="bld2_485"/>
          <p:cNvSpPr txBox="1"/>
          <p:nvPr/>
        </p:nvSpPr>
        <p:spPr>
          <a:xfrm>
            <a:off x="3569132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most formulas</a:t>
            </a:r>
            <a:endParaRPr lang="en-US" sz="1080" dirty="0"/>
          </a:p>
        </p:txBody>
      </p:sp>
      <p:sp>
        <p:nvSpPr>
          <p:cNvPr id="36" name="bld3_486"/>
          <p:cNvSpPr/>
          <p:nvPr/>
        </p:nvSpPr>
        <p:spPr>
          <a:xfrm>
            <a:off x="6223864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8" name="Shape 36"/>
          <p:cNvSpPr/>
          <p:nvPr/>
        </p:nvSpPr>
        <p:spPr>
          <a:xfrm rot="15300000">
            <a:off x="7350455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3050000">
            <a:off x="7395926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10800000">
            <a:off x="7473429" y="21762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8550000">
            <a:off x="7550931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6300000">
            <a:off x="7596403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4" name="bld3_488"/>
          <p:cNvSpPr txBox="1"/>
          <p:nvPr/>
        </p:nvSpPr>
        <p:spPr>
          <a:xfrm>
            <a:off x="6406744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45" name="bld3_489"/>
          <p:cNvSpPr txBox="1"/>
          <p:nvPr/>
        </p:nvSpPr>
        <p:spPr>
          <a:xfrm>
            <a:off x="6406744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leafy, unripe</a:t>
            </a:r>
            <a:endParaRPr lang="en-US" sz="1080" dirty="0"/>
          </a:p>
        </p:txBody>
      </p:sp>
      <p:sp>
        <p:nvSpPr>
          <p:cNvPr id="46" name="bld4_490"/>
          <p:cNvSpPr/>
          <p:nvPr/>
        </p:nvSpPr>
        <p:spPr>
          <a:xfrm>
            <a:off x="9061475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48" name="Shape 46"/>
          <p:cNvSpPr/>
          <p:nvPr/>
        </p:nvSpPr>
        <p:spPr>
          <a:xfrm>
            <a:off x="10153416" y="1996823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346779" y="1987123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2000000">
            <a:off x="10370553" y="1967723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52" name="bld4_492"/>
          <p:cNvSpPr txBox="1"/>
          <p:nvPr/>
        </p:nvSpPr>
        <p:spPr>
          <a:xfrm>
            <a:off x="9244355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53" name="bld4_493"/>
          <p:cNvSpPr txBox="1"/>
          <p:nvPr/>
        </p:nvSpPr>
        <p:spPr>
          <a:xfrm>
            <a:off x="9244355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sweet, often synthetic-assisted</a:t>
            </a:r>
            <a:endParaRPr lang="en-US" sz="1080" dirty="0"/>
          </a:p>
        </p:txBody>
      </p:sp>
      <p:sp>
        <p:nvSpPr>
          <p:cNvPr id="54" name="bld5_494"/>
          <p:cNvSpPr/>
          <p:nvPr/>
        </p:nvSpPr>
        <p:spPr>
          <a:xfrm>
            <a:off x="548640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6" name="Shape 54"/>
          <p:cNvSpPr/>
          <p:nvPr/>
        </p:nvSpPr>
        <p:spPr>
          <a:xfrm>
            <a:off x="1596931" y="3573597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1677764" y="3654430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8" name="Shape 56"/>
          <p:cNvSpPr/>
          <p:nvPr/>
        </p:nvSpPr>
        <p:spPr>
          <a:xfrm>
            <a:off x="1758597" y="3735263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810330" y="3786996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60" name="Shape 58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1" name="bld5_496"/>
          <p:cNvSpPr txBox="1"/>
          <p:nvPr/>
        </p:nvSpPr>
        <p:spPr>
          <a:xfrm>
            <a:off x="731520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62" name="bld5_497"/>
          <p:cNvSpPr txBox="1"/>
          <p:nvPr/>
        </p:nvSpPr>
        <p:spPr>
          <a:xfrm>
            <a:off x="731520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warm structural base</a:t>
            </a:r>
            <a:endParaRPr lang="en-US" sz="1080" dirty="0"/>
          </a:p>
        </p:txBody>
      </p:sp>
      <p:sp>
        <p:nvSpPr>
          <p:cNvPr id="63" name="bld6_498"/>
          <p:cNvSpPr/>
          <p:nvPr/>
        </p:nvSpPr>
        <p:spPr>
          <a:xfrm>
            <a:off x="3386252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65" name="Shape 63"/>
          <p:cNvSpPr/>
          <p:nvPr/>
        </p:nvSpPr>
        <p:spPr>
          <a:xfrm rot="9000000">
            <a:off x="4555792" y="3704547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6000000">
            <a:off x="4492743" y="3675447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1400000">
            <a:off x="4691592" y="3646347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9" name="bld6_500"/>
          <p:cNvSpPr txBox="1"/>
          <p:nvPr/>
        </p:nvSpPr>
        <p:spPr>
          <a:xfrm>
            <a:off x="3569132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70" name="bld6_501"/>
          <p:cNvSpPr txBox="1"/>
          <p:nvPr/>
        </p:nvSpPr>
        <p:spPr>
          <a:xfrm>
            <a:off x="3569132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Resinous, warm, enveloping</a:t>
            </a:r>
            <a:endParaRPr lang="en-US" sz="1080" dirty="0"/>
          </a:p>
        </p:txBody>
      </p:sp>
      <p:sp>
        <p:nvSpPr>
          <p:cNvPr id="71" name="bld7_502"/>
          <p:cNvSpPr/>
          <p:nvPr/>
        </p:nvSpPr>
        <p:spPr>
          <a:xfrm>
            <a:off x="6223864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73" name="Shape 71"/>
          <p:cNvSpPr/>
          <p:nvPr/>
        </p:nvSpPr>
        <p:spPr>
          <a:xfrm>
            <a:off x="7291555" y="3665747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75" name="bld7_504"/>
          <p:cNvSpPr txBox="1"/>
          <p:nvPr/>
        </p:nvSpPr>
        <p:spPr>
          <a:xfrm>
            <a:off x="6406744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</a:t>
            </a:r>
            <a:endParaRPr lang="en-US" sz="1450" dirty="0"/>
          </a:p>
        </p:txBody>
      </p:sp>
      <p:sp>
        <p:nvSpPr>
          <p:cNvPr id="76" name="bld7_505"/>
          <p:cNvSpPr txBox="1"/>
          <p:nvPr/>
        </p:nvSpPr>
        <p:spPr>
          <a:xfrm>
            <a:off x="6406744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Skin-like, radiant, soft</a:t>
            </a:r>
            <a:endParaRPr lang="en-US" sz="1080" dirty="0"/>
          </a:p>
        </p:txBody>
      </p:sp>
      <p:sp>
        <p:nvSpPr>
          <p:cNvPr id="77" name="bld8_506"/>
          <p:cNvSpPr/>
          <p:nvPr/>
        </p:nvSpPr>
        <p:spPr>
          <a:xfrm>
            <a:off x="9061475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79" name="Shape 77"/>
          <p:cNvSpPr/>
          <p:nvPr/>
        </p:nvSpPr>
        <p:spPr>
          <a:xfrm rot="840000">
            <a:off x="10294066" y="3585722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840000">
            <a:off x="10346779" y="3641497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297703" y="3654834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315163" y="3714974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3" name="Shape 81"/>
          <p:cNvSpPr/>
          <p:nvPr/>
        </p:nvSpPr>
        <p:spPr>
          <a:xfrm>
            <a:off x="10332623" y="3775114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4" name="Shape 82"/>
          <p:cNvSpPr/>
          <p:nvPr/>
        </p:nvSpPr>
        <p:spPr>
          <a:xfrm>
            <a:off x="10350083" y="3835253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5" name="Shape 83"/>
          <p:cNvSpPr/>
          <p:nvPr/>
        </p:nvSpPr>
        <p:spPr>
          <a:xfrm>
            <a:off x="10367543" y="3895393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6" name="Shape 84"/>
          <p:cNvSpPr/>
          <p:nvPr/>
        </p:nvSpPr>
        <p:spPr>
          <a:xfrm>
            <a:off x="10385003" y="3955533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7" name="Shape 85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88" name="bld8_508"/>
          <p:cNvSpPr txBox="1"/>
          <p:nvPr/>
        </p:nvSpPr>
        <p:spPr>
          <a:xfrm>
            <a:off x="9244355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89" name="bld8_509"/>
          <p:cNvSpPr txBox="1"/>
          <p:nvPr/>
        </p:nvSpPr>
        <p:spPr>
          <a:xfrm>
            <a:off x="9244355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Edible, sweet, comforting</a:t>
            </a:r>
            <a:endParaRPr lang="en-US" sz="1080" dirty="0"/>
          </a:p>
        </p:txBody>
      </p:sp>
      <p:sp>
        <p:nvSpPr>
          <p:cNvPr id="90" name="bld9_510"/>
          <p:cNvSpPr/>
          <p:nvPr/>
        </p:nvSpPr>
        <p:spPr>
          <a:xfrm>
            <a:off x="548640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1" name="Shape 89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2" name="Shape 90"/>
          <p:cNvSpPr/>
          <p:nvPr/>
        </p:nvSpPr>
        <p:spPr>
          <a:xfrm rot="9000000">
            <a:off x="1718180" y="5344371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 rot="6000000">
            <a:off x="1655131" y="5315271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 rot="11400000">
            <a:off x="1853980" y="5286171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96" name="bld9_512"/>
          <p:cNvSpPr txBox="1"/>
          <p:nvPr/>
        </p:nvSpPr>
        <p:spPr>
          <a:xfrm>
            <a:off x="731520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</a:t>
            </a:r>
            <a:endParaRPr lang="en-US" sz="1450" dirty="0"/>
          </a:p>
        </p:txBody>
      </p:sp>
      <p:sp>
        <p:nvSpPr>
          <p:cNvPr id="97" name="bld9_513"/>
          <p:cNvSpPr txBox="1"/>
          <p:nvPr/>
        </p:nvSpPr>
        <p:spPr>
          <a:xfrm>
            <a:off x="731520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sharp, piquant</a:t>
            </a:r>
            <a:endParaRPr lang="en-US" sz="1080" dirty="0"/>
          </a:p>
        </p:txBody>
      </p:sp>
      <p:sp>
        <p:nvSpPr>
          <p:cNvPr id="98" name="bld10_514"/>
          <p:cNvSpPr/>
          <p:nvPr/>
        </p:nvSpPr>
        <p:spPr>
          <a:xfrm>
            <a:off x="3386252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100" name="Shape 98"/>
          <p:cNvSpPr/>
          <p:nvPr/>
        </p:nvSpPr>
        <p:spPr>
          <a:xfrm>
            <a:off x="4640667" y="5295289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2700000">
            <a:off x="4692520" y="5316767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5400000">
            <a:off x="4713999" y="536862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8100000">
            <a:off x="4692520" y="5420474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 rot="10800000">
            <a:off x="4640667" y="5441952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 rot="13500000">
            <a:off x="4588814" y="5420474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 rot="16200000">
            <a:off x="4567335" y="536862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 rot="18900000">
            <a:off x="4588814" y="5316767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4638242" y="5417120"/>
            <a:ext cx="77600" cy="77600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110" name="bld10_516"/>
          <p:cNvSpPr txBox="1"/>
          <p:nvPr/>
        </p:nvSpPr>
        <p:spPr>
          <a:xfrm>
            <a:off x="3569132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Aromatic</a:t>
            </a:r>
            <a:endParaRPr lang="en-US" sz="1450" dirty="0"/>
          </a:p>
        </p:txBody>
      </p:sp>
      <p:sp>
        <p:nvSpPr>
          <p:cNvPr id="111" name="bld10_517"/>
          <p:cNvSpPr txBox="1"/>
          <p:nvPr/>
        </p:nvSpPr>
        <p:spPr>
          <a:xfrm>
            <a:off x="3569132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Herbal, medicinal, fresh</a:t>
            </a:r>
            <a:endParaRPr lang="en-US" sz="1080" dirty="0"/>
          </a:p>
        </p:txBody>
      </p:sp>
      <p:sp>
        <p:nvSpPr>
          <p:cNvPr id="112" name="bld11_518"/>
          <p:cNvSpPr/>
          <p:nvPr/>
        </p:nvSpPr>
        <p:spPr>
          <a:xfrm>
            <a:off x="6223864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3" name="Shape 111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272155" y="5213421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>
            <a:off x="7334045" y="5334671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6" name="Shape 114"/>
          <p:cNvSpPr/>
          <p:nvPr/>
        </p:nvSpPr>
        <p:spPr>
          <a:xfrm>
            <a:off x="7309021" y="541550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7" name="Shape 115"/>
          <p:cNvSpPr/>
          <p:nvPr/>
        </p:nvSpPr>
        <p:spPr>
          <a:xfrm>
            <a:off x="7309021" y="5496336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8" name="Shape 116"/>
          <p:cNvSpPr/>
          <p:nvPr/>
        </p:nvSpPr>
        <p:spPr>
          <a:xfrm>
            <a:off x="7334045" y="5577169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9" name="Shape 117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20" name="bld11_520"/>
          <p:cNvSpPr txBox="1"/>
          <p:nvPr/>
        </p:nvSpPr>
        <p:spPr>
          <a:xfrm>
            <a:off x="6406744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121" name="bld11_521"/>
          <p:cNvSpPr txBox="1"/>
          <p:nvPr/>
        </p:nvSpPr>
        <p:spPr>
          <a:xfrm>
            <a:off x="6406744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animalic, dry</a:t>
            </a:r>
            <a:endParaRPr lang="en-US" sz="1080" dirty="0"/>
          </a:p>
        </p:txBody>
      </p:sp>
      <p:sp>
        <p:nvSpPr>
          <p:cNvPr id="122" name="bld12_522"/>
          <p:cNvSpPr/>
          <p:nvPr/>
        </p:nvSpPr>
        <p:spPr>
          <a:xfrm>
            <a:off x="9061475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3" name="Shape 121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24" name="Shape 122"/>
          <p:cNvSpPr/>
          <p:nvPr/>
        </p:nvSpPr>
        <p:spPr>
          <a:xfrm>
            <a:off x="10109766" y="5213421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>
            <a:off x="10163116" y="5453495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>
            <a:off x="10163116" y="5392870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>
            <a:off x="10163116" y="5324971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29" name="bld12_524"/>
          <p:cNvSpPr txBox="1"/>
          <p:nvPr/>
        </p:nvSpPr>
        <p:spPr>
          <a:xfrm>
            <a:off x="9244355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Marine / fresh</a:t>
            </a:r>
            <a:endParaRPr lang="en-US" sz="1450" dirty="0"/>
          </a:p>
        </p:txBody>
      </p:sp>
      <p:sp>
        <p:nvSpPr>
          <p:cNvPr id="130" name="bld12_525"/>
          <p:cNvSpPr txBox="1"/>
          <p:nvPr/>
        </p:nvSpPr>
        <p:spPr>
          <a:xfrm>
            <a:off x="9244355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clean, airy</a:t>
            </a:r>
            <a:endParaRPr lang="en-US" sz="1080" dirty="0"/>
          </a:p>
        </p:txBody>
      </p:sp>
      <p:sp>
        <p:nvSpPr>
          <p:cNvPr id="132" name="trans_fade_3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33" name="Text 1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9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4" grpId="0"/>
      <p:bldP spid="35" grpId="0"/>
      <p:bldP spid="36" grpId="0"/>
      <p:bldP spid="44" grpId="0"/>
      <p:bldP spid="45" grpId="0"/>
      <p:bldP spid="46" grpId="0"/>
      <p:bldP spid="52" grpId="0"/>
      <p:bldP spid="53" grpId="0"/>
      <p:bldP spid="54" grpId="0"/>
      <p:bldP spid="61" grpId="0"/>
      <p:bldP spid="62" grpId="0"/>
      <p:bldP spid="63" grpId="0"/>
      <p:bldP spid="69" grpId="0"/>
      <p:bldP spid="70" grpId="0"/>
      <p:bldP spid="71" grpId="0"/>
      <p:bldP spid="75" grpId="0"/>
      <p:bldP spid="76" grpId="0"/>
      <p:bldP spid="77" grpId="0"/>
      <p:bldP spid="88" grpId="0"/>
      <p:bldP spid="89" grpId="0"/>
      <p:bldP spid="90" grpId="0"/>
      <p:bldP spid="96" grpId="0"/>
      <p:bldP spid="97" grpId="0"/>
      <p:bldP spid="98" grpId="0"/>
      <p:bldP spid="110" grpId="0"/>
      <p:bldP spid="111" grpId="0"/>
      <p:bldP spid="112" grpId="0"/>
      <p:bldP spid="120" grpId="0"/>
      <p:bldP spid="121" grpId="0"/>
      <p:bldP spid="122" grpId="0"/>
      <p:bldP spid="129" grpId="0"/>
      <p:bldP spid="13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OVER 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Longevity — how long a material lasts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526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9" name="bld1_527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10" name="bld1_528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</a:t>
            </a:r>
            <a:endParaRPr lang="en-US" sz="1200" dirty="0"/>
          </a:p>
        </p:txBody>
      </p:sp>
      <p:sp>
        <p:nvSpPr>
          <p:cNvPr id="11" name="bld1_529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light greens — gone in under 2 hours</a:t>
            </a:r>
            <a:endParaRPr lang="en-US" sz="1050" dirty="0"/>
          </a:p>
        </p:txBody>
      </p:sp>
      <p:sp>
        <p:nvSpPr>
          <p:cNvPr id="12" name="bld2_530"/>
          <p:cNvSpPr/>
          <p:nvPr/>
        </p:nvSpPr>
        <p:spPr>
          <a:xfrm>
            <a:off x="6013552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3" name="bld2_531"/>
          <p:cNvSpPr/>
          <p:nvPr/>
        </p:nvSpPr>
        <p:spPr>
          <a:xfrm>
            <a:off x="5931256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14" name="bld2_532"/>
          <p:cNvSpPr txBox="1"/>
          <p:nvPr/>
        </p:nvSpPr>
        <p:spPr>
          <a:xfrm>
            <a:off x="5318608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Medium-lived</a:t>
            </a:r>
            <a:endParaRPr lang="en-US" sz="1200" dirty="0"/>
          </a:p>
        </p:txBody>
      </p:sp>
      <p:sp>
        <p:nvSpPr>
          <p:cNvPr id="15" name="bld2_533"/>
          <p:cNvSpPr txBox="1"/>
          <p:nvPr/>
        </p:nvSpPr>
        <p:spPr>
          <a:xfrm>
            <a:off x="5318608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florals, spices — present for several hours</a:t>
            </a:r>
            <a:endParaRPr lang="en-US" sz="1050" dirty="0"/>
          </a:p>
        </p:txBody>
      </p:sp>
      <p:sp>
        <p:nvSpPr>
          <p:cNvPr id="16" name="bld3_534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7" name="bld3_535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8" name="bld3_536"/>
          <p:cNvSpPr txBox="1"/>
          <p:nvPr/>
        </p:nvSpPr>
        <p:spPr>
          <a:xfrm>
            <a:off x="10591495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Long-lasting</a:t>
            </a:r>
            <a:endParaRPr lang="en-US" sz="1200" dirty="0"/>
          </a:p>
        </p:txBody>
      </p:sp>
      <p:sp>
        <p:nvSpPr>
          <p:cNvPr id="19" name="bld3_537"/>
          <p:cNvSpPr txBox="1"/>
          <p:nvPr/>
        </p:nvSpPr>
        <p:spPr>
          <a:xfrm>
            <a:off x="10591495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Woods, resins, musks — detectable a day or more later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 is a spectrum, not three fixed boxes — most materials sit between these markers.</a:t>
            </a:r>
            <a:endParaRPr lang="en-US" sz="1250" dirty="0"/>
          </a:p>
        </p:txBody>
      </p:sp>
      <p:sp>
        <p:nvSpPr>
          <p:cNvPr id="22" name="trans_push_l_3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BEHAVIOUR, PRECISELY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is not the same as tenacity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17576" y="4800914"/>
            <a:ext cx="1415778" cy="1415778"/>
          </a:xfrm>
          <a:prstGeom prst="ellipse">
            <a:avLst/>
          </a:prstGeom>
          <a:solidFill>
            <a:srgbClr val="5B3A52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205156" y="5088494"/>
            <a:ext cx="840618" cy="8406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7885" y="5221223"/>
            <a:ext cx="575160" cy="575160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70614" y="5353952"/>
            <a:ext cx="309701" cy="309701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37885" y="5221223"/>
            <a:ext cx="575160" cy="575160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205156" y="5088494"/>
            <a:ext cx="840618" cy="8406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4" name="bld1_538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1_539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540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up close</a:t>
            </a:r>
            <a:endParaRPr lang="en-US" sz="1450" dirty="0"/>
          </a:p>
        </p:txBody>
      </p:sp>
      <p:sp>
        <p:nvSpPr>
          <p:cNvPr id="17" name="bld1_541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Detectable only right at the skin or strip — low projection, an "intimate" material.</a:t>
            </a:r>
            <a:endParaRPr lang="en-US" sz="1080" dirty="0"/>
          </a:p>
        </p:txBody>
      </p:sp>
      <p:sp>
        <p:nvSpPr>
          <p:cNvPr id="18" name="bld2_542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2_543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2_544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Projection</a:t>
            </a:r>
            <a:endParaRPr lang="en-US" sz="1450" dirty="0"/>
          </a:p>
        </p:txBody>
      </p:sp>
      <p:sp>
        <p:nvSpPr>
          <p:cNvPr id="21" name="bld2_545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a material's smell carries into the surrounding space beyond the skin.</a:t>
            </a:r>
            <a:endParaRPr lang="en-US" sz="1080" dirty="0"/>
          </a:p>
        </p:txBody>
      </p:sp>
      <p:sp>
        <p:nvSpPr>
          <p:cNvPr id="22" name="bld3_546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3_547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3_548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25" name="bld3_549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easily and quickly a smell spreads and fills a room from a small amount.</a:t>
            </a:r>
            <a:endParaRPr lang="en-US" sz="1080" dirty="0"/>
          </a:p>
        </p:txBody>
      </p:sp>
      <p:sp>
        <p:nvSpPr>
          <p:cNvPr id="26" name="bld4_550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bld4_551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4_552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Tenacity</a:t>
            </a:r>
            <a:endParaRPr lang="en-US" sz="1450" dirty="0"/>
          </a:p>
        </p:txBody>
      </p:sp>
      <p:sp>
        <p:nvSpPr>
          <p:cNvPr id="29" name="bld4_553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the material remains detectable at all, regardless of how strong it is.</a:t>
            </a:r>
            <a:endParaRPr lang="en-US" sz="1080" dirty="0"/>
          </a:p>
        </p:txBody>
      </p:sp>
      <p:sp>
        <p:nvSpPr>
          <p:cNvPr id="31" name="trans_fade_3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THE PUZZLE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Molecular weight and volatility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77504" y="1358797"/>
            <a:ext cx="4140407" cy="4140407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93168"/>
            <a:ext cx="980623" cy="4358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8330" y="2993168"/>
            <a:ext cx="980623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528330" y="3537958"/>
            <a:ext cx="980623" cy="871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93959" y="4409623"/>
            <a:ext cx="1634371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893959" y="3429000"/>
            <a:ext cx="653748" cy="98062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49169" y="2884210"/>
            <a:ext cx="1198539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73375" y="3254667"/>
            <a:ext cx="348666" cy="34866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03028" y="286786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383651" y="341265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03028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68657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3867" y="2758908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molecule diagram tells you a starting hypothesis — your nose confirms it.</a:t>
            </a:r>
            <a:endParaRPr lang="en-US" sz="1050" dirty="0"/>
          </a:p>
        </p:txBody>
      </p:sp>
      <p:sp>
        <p:nvSpPr>
          <p:cNvPr id="24" name="bld1_554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bld1_555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Lighter molecules tend to evaporate faster</a:t>
            </a:r>
            <a:endParaRPr lang="en-US" sz="1650" dirty="0"/>
          </a:p>
        </p:txBody>
      </p:sp>
      <p:sp>
        <p:nvSpPr>
          <p:cNvPr id="26" name="bld1_556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light molecules generally move into the air more readily — this is part of why citrus notes read first.</a:t>
            </a:r>
            <a:endParaRPr lang="en-US" sz="1250" dirty="0"/>
          </a:p>
        </p:txBody>
      </p:sp>
      <p:sp>
        <p:nvSpPr>
          <p:cNvPr id="27" name="bld2_557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8" name="bld2_558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it's not the only factor</a:t>
            </a:r>
            <a:endParaRPr lang="en-US" sz="1650" dirty="0"/>
          </a:p>
        </p:txBody>
      </p:sp>
      <p:sp>
        <p:nvSpPr>
          <p:cNvPr id="29" name="bld2_559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Polarity, vapour pressure, and how a material binds to skin or fabric all matter just as much.</a:t>
            </a:r>
            <a:endParaRPr lang="en-US" sz="1250" dirty="0"/>
          </a:p>
        </p:txBody>
      </p:sp>
      <p:sp>
        <p:nvSpPr>
          <p:cNvPr id="30" name="bld3_560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561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it as a rough guide, not a rule</a:t>
            </a:r>
            <a:endParaRPr lang="en-US" sz="1650" dirty="0"/>
          </a:p>
        </p:txBody>
      </p:sp>
      <p:sp>
        <p:nvSpPr>
          <p:cNvPr id="32" name="bld3_562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heavier molecules are surprisingly diffusive; some light ones are surprisingly tenacious. Always confirm by smelling.</a:t>
            </a:r>
            <a:endParaRPr lang="en-US" sz="1250" dirty="0"/>
          </a:p>
        </p:txBody>
      </p:sp>
      <p:sp>
        <p:nvSpPr>
          <p:cNvPr id="34" name="trans_fade_3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EXTRACTION METHODS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all naturals are made the same way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20402" y="5039091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0891337" y="523593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0787849" y="5554440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10452955" y="5554440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10349467" y="523593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26300" y="5492064"/>
            <a:ext cx="283108" cy="2831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563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6" name="Shape 14"/>
          <p:cNvSpPr/>
          <p:nvPr/>
        </p:nvSpPr>
        <p:spPr>
          <a:xfrm rot="8100000">
            <a:off x="1413022" y="2611526"/>
            <a:ext cx="285293" cy="2852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8" name="bld1_565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 oils</a:t>
            </a:r>
            <a:endParaRPr lang="en-US" sz="1450" dirty="0"/>
          </a:p>
        </p:txBody>
      </p:sp>
      <p:sp>
        <p:nvSpPr>
          <p:cNvPr id="19" name="bld1_566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Steam-distilled or cold-expressed — direct, classic extraction.</a:t>
            </a:r>
            <a:endParaRPr lang="en-US" sz="1080" dirty="0"/>
          </a:p>
        </p:txBody>
      </p:sp>
      <p:sp>
        <p:nvSpPr>
          <p:cNvPr id="20" name="bld2_567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3754435" y="2466598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4320000">
            <a:off x="3885487" y="256181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8640000">
            <a:off x="3835430" y="271587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2960000">
            <a:off x="3673440" y="271587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7280000">
            <a:off x="3623383" y="256181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757288" y="2685703"/>
            <a:ext cx="136941" cy="13694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8" name="Shape 26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9" name="bld2_569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Absolutes</a:t>
            </a:r>
            <a:endParaRPr lang="en-US" sz="1450" dirty="0"/>
          </a:p>
        </p:txBody>
      </p:sp>
      <p:sp>
        <p:nvSpPr>
          <p:cNvPr id="30" name="bld2_570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Solvent-extracted — richer, truer to the living flower, more expensive.</a:t>
            </a:r>
            <a:endParaRPr lang="en-US" sz="1080" dirty="0"/>
          </a:p>
        </p:txBody>
      </p:sp>
      <p:sp>
        <p:nvSpPr>
          <p:cNvPr id="31" name="bld3_571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3" name="Shape 31"/>
          <p:cNvSpPr/>
          <p:nvPr/>
        </p:nvSpPr>
        <p:spPr>
          <a:xfrm>
            <a:off x="5810555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873319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873319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873319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8" name="bld3_573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CO2 extracts</a:t>
            </a:r>
            <a:endParaRPr lang="en-US" sz="1450" dirty="0"/>
          </a:p>
        </p:txBody>
      </p:sp>
      <p:sp>
        <p:nvSpPr>
          <p:cNvPr id="39" name="bld3_574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under pressure — very clean, often closest to the raw material.</a:t>
            </a:r>
            <a:endParaRPr lang="en-US" sz="1080" dirty="0"/>
          </a:p>
        </p:txBody>
      </p:sp>
      <p:sp>
        <p:nvSpPr>
          <p:cNvPr id="40" name="bld4_575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2" name="Shape 40"/>
          <p:cNvSpPr/>
          <p:nvPr/>
        </p:nvSpPr>
        <p:spPr>
          <a:xfrm rot="9000000">
            <a:off x="8223291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6000000">
            <a:off x="8149115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1400000">
            <a:off x="8383055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6" name="bld4_577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Resinoids</a:t>
            </a:r>
            <a:endParaRPr lang="en-US" sz="1450" dirty="0"/>
          </a:p>
        </p:txBody>
      </p:sp>
      <p:sp>
        <p:nvSpPr>
          <p:cNvPr id="47" name="bld4_578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from gums and resins — deep, warm, amber-adjacent.</a:t>
            </a:r>
            <a:endParaRPr lang="en-US" sz="1080" dirty="0"/>
          </a:p>
        </p:txBody>
      </p:sp>
      <p:sp>
        <p:nvSpPr>
          <p:cNvPr id="48" name="bld5_579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0" name="Shape 48"/>
          <p:cNvSpPr/>
          <p:nvPr/>
        </p:nvSpPr>
        <p:spPr>
          <a:xfrm>
            <a:off x="10606630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51" name="Shape 49"/>
          <p:cNvSpPr/>
          <p:nvPr/>
        </p:nvSpPr>
        <p:spPr>
          <a:xfrm>
            <a:off x="10610464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544733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581309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55" name="bld5_581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Tinctures</a:t>
            </a:r>
            <a:endParaRPr lang="en-US" sz="1450" dirty="0"/>
          </a:p>
        </p:txBody>
      </p:sp>
      <p:sp>
        <p:nvSpPr>
          <p:cNvPr id="56" name="bld5_582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steeped directly in alcohol — simple, traditional, variable.</a:t>
            </a:r>
            <a:endParaRPr lang="en-US" sz="1080" dirty="0"/>
          </a:p>
        </p:txBody>
      </p:sp>
      <p:sp>
        <p:nvSpPr>
          <p:cNvPr id="58" name="trans_fade_3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9" name="Text 5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8" grpId="0"/>
      <p:bldP spid="19" grpId="0"/>
      <p:bldP spid="20" grpId="0"/>
      <p:bldP spid="29" grpId="0"/>
      <p:bldP spid="30" grpId="0"/>
      <p:bldP spid="31" grpId="0"/>
      <p:bldP spid="38" grpId="0"/>
      <p:bldP spid="39" grpId="0"/>
      <p:bldP spid="40" grpId="0"/>
      <p:bldP spid="46" grpId="0"/>
      <p:bldP spid="47" grpId="0"/>
      <p:bldP spid="48" grpId="0"/>
      <p:bldP spid="55" grpId="0"/>
      <p:bldP spid="5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1 OF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Citrus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F0C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10" name="Shape 8"/>
          <p:cNvSpPr/>
          <p:nvPr/>
        </p:nvSpPr>
        <p:spPr>
          <a:xfrm>
            <a:off x="1203316" y="3479523"/>
            <a:ext cx="1073117" cy="1073117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78434" y="3554641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216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432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648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864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080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296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512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728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944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86219" y="3962426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3" name="Shape 2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4" name="bld1_584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26" name="Shape 24"/>
          <p:cNvSpPr/>
          <p:nvPr/>
        </p:nvSpPr>
        <p:spPr>
          <a:xfrm>
            <a:off x="2865793" y="3668974"/>
            <a:ext cx="1232942" cy="1232942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52099" y="3755280"/>
            <a:ext cx="1060331" cy="106033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8" name="Shape 26"/>
          <p:cNvSpPr/>
          <p:nvPr/>
        </p:nvSpPr>
        <p:spPr>
          <a:xfrm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216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432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648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864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080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296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512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944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420617" y="4223798"/>
            <a:ext cx="123294" cy="12329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9" name="Shape 37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40" name="bld2_586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Lemon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2" name="Shape 40"/>
          <p:cNvSpPr/>
          <p:nvPr/>
        </p:nvSpPr>
        <p:spPr>
          <a:xfrm>
            <a:off x="4688095" y="3479523"/>
            <a:ext cx="1073117" cy="1073117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763213" y="3554641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4" name="Shape 42"/>
          <p:cNvSpPr/>
          <p:nvPr/>
        </p:nvSpPr>
        <p:spPr>
          <a:xfrm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216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432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648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864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1080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296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512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728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944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170997" y="3962426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5" name="Shape 53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6" name="bld3_588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Lime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58" name="Shape 56"/>
          <p:cNvSpPr/>
          <p:nvPr/>
        </p:nvSpPr>
        <p:spPr>
          <a:xfrm>
            <a:off x="6430484" y="3748887"/>
            <a:ext cx="1073117" cy="1073117"/>
          </a:xfrm>
          <a:prstGeom prst="ellipse">
            <a:avLst/>
          </a:prstGeom>
          <a:solidFill>
            <a:srgbClr val="C9503E">
              <a:alpha val="9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6505602" y="3824005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0" name="Shape 58"/>
          <p:cNvSpPr/>
          <p:nvPr/>
        </p:nvSpPr>
        <p:spPr>
          <a:xfrm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2160000"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4320000"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6480000"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8640000"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10800000"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12960000"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5120000"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17280000"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19440000">
            <a:off x="6940214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6913386" y="4231789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1" name="Shape 69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72" name="bld4_590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Grapefruit</a:t>
            </a:r>
            <a:endParaRPr lang="en-US" sz="1350" dirty="0"/>
          </a:p>
        </p:txBody>
      </p:sp>
      <p:sp>
        <p:nvSpPr>
          <p:cNvPr id="73" name="Shape 7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74" name="Shape 72"/>
          <p:cNvSpPr/>
          <p:nvPr/>
        </p:nvSpPr>
        <p:spPr>
          <a:xfrm>
            <a:off x="8092960" y="3399610"/>
            <a:ext cx="1232942" cy="1232942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8179266" y="3485916"/>
            <a:ext cx="1060331" cy="106033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6" name="Shape 74"/>
          <p:cNvSpPr/>
          <p:nvPr/>
        </p:nvSpPr>
        <p:spPr>
          <a:xfrm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 rot="216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 rot="432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 rot="648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864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 rot="1080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 rot="1296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 rot="1512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1728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1944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8647784" y="3954434"/>
            <a:ext cx="123294" cy="12329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87" name="Shape 8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88" name="bld5_592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Mandarin</a:t>
            </a:r>
            <a:endParaRPr lang="en-US" sz="1350" dirty="0"/>
          </a:p>
        </p:txBody>
      </p:sp>
      <p:sp>
        <p:nvSpPr>
          <p:cNvPr id="89" name="Shape 8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0" name="Shape 88"/>
          <p:cNvSpPr/>
          <p:nvPr/>
        </p:nvSpPr>
        <p:spPr>
          <a:xfrm>
            <a:off x="9915262" y="3748887"/>
            <a:ext cx="1073117" cy="1073117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9990380" y="3824005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 rot="2160000"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 rot="4320000"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 rot="6480000"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 rot="8640000"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 rot="10800000"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 rot="12960000"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 rot="15120000"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 rot="17280000"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19440000">
            <a:off x="10424993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10398165" y="4231789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104" name="bld6_594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Yuzu</a:t>
            </a:r>
            <a:endParaRPr lang="en-US" sz="1350" dirty="0"/>
          </a:p>
        </p:txBody>
      </p:sp>
      <p:sp>
        <p:nvSpPr>
          <p:cNvPr id="106" name="trans_fade_3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07" name="Text 10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40" grpId="0"/>
      <p:bldP spid="56" grpId="0"/>
      <p:bldP spid="72" grpId="0"/>
      <p:bldP spid="88" grpId="0"/>
      <p:bldP spid="104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CITRUS,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citrus oils, six different jobs</a:t>
            </a:r>
            <a:endParaRPr lang="en-US" sz="3200" dirty="0"/>
          </a:p>
        </p:txBody>
      </p:sp>
      <p:sp>
        <p:nvSpPr>
          <p:cNvPr id="7" name="bld1_595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1313170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47120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543544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31419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597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450" dirty="0"/>
          </a:p>
        </p:txBody>
      </p:sp>
      <p:sp>
        <p:nvSpPr>
          <p:cNvPr id="24" name="bld1_598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Floral-sharp, slightly bitter. Very fast top note, gone in under 2 hours — intimate, diffusive on first spray only.</a:t>
            </a:r>
            <a:endParaRPr lang="en-US" sz="1080" dirty="0"/>
          </a:p>
        </p:txBody>
      </p:sp>
      <p:sp>
        <p:nvSpPr>
          <p:cNvPr id="25" name="bld2_599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27" name="Shape 25"/>
          <p:cNvSpPr/>
          <p:nvPr/>
        </p:nvSpPr>
        <p:spPr>
          <a:xfrm>
            <a:off x="3583259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17209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2160000"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4320000"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6480000"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8640000"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0800000"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5120000"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7280000"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9440000">
            <a:off x="381363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801508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0" name="Shape 38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41" name="bld2_601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Lemon</a:t>
            </a:r>
            <a:endParaRPr lang="en-US" sz="1450" dirty="0"/>
          </a:p>
        </p:txBody>
      </p:sp>
      <p:sp>
        <p:nvSpPr>
          <p:cNvPr id="42" name="bld2_602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clean, zesty. Fleeting top note; classic freshness lift, easily overwhelmed by heavier materials.</a:t>
            </a:r>
            <a:endParaRPr lang="en-US" sz="1080" dirty="0"/>
          </a:p>
        </p:txBody>
      </p:sp>
      <p:sp>
        <p:nvSpPr>
          <p:cNvPr id="43" name="bld3_603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45" name="Shape 43"/>
          <p:cNvSpPr/>
          <p:nvPr/>
        </p:nvSpPr>
        <p:spPr>
          <a:xfrm>
            <a:off x="5853349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887299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7" name="Shape 45"/>
          <p:cNvSpPr/>
          <p:nvPr/>
        </p:nvSpPr>
        <p:spPr>
          <a:xfrm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216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432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48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864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080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296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512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728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944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6071598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8" name="Shape 56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59" name="bld3_605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 Orange</a:t>
            </a:r>
            <a:endParaRPr lang="en-US" sz="1450" dirty="0"/>
          </a:p>
        </p:txBody>
      </p:sp>
      <p:sp>
        <p:nvSpPr>
          <p:cNvPr id="60" name="bld3_606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warm, candy-like. Short-lived top note; softer and rounder than lemon, less bitter than grapefruit.</a:t>
            </a:r>
            <a:endParaRPr lang="en-US" sz="1080" dirty="0"/>
          </a:p>
        </p:txBody>
      </p:sp>
      <p:sp>
        <p:nvSpPr>
          <p:cNvPr id="61" name="bld4_607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63" name="Shape 61"/>
          <p:cNvSpPr/>
          <p:nvPr/>
        </p:nvSpPr>
        <p:spPr>
          <a:xfrm>
            <a:off x="8123438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157388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5" name="Shape 63"/>
          <p:cNvSpPr/>
          <p:nvPr/>
        </p:nvSpPr>
        <p:spPr>
          <a:xfrm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2160000"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4320000"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6480000"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8640000"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0800000"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2960000"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15120000"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17280000"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 rot="19440000">
            <a:off x="835381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8341687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6" name="Shape 74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77" name="bld4_609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Bitter Orange</a:t>
            </a:r>
            <a:endParaRPr lang="en-US" sz="1450" dirty="0"/>
          </a:p>
        </p:txBody>
      </p:sp>
      <p:sp>
        <p:nvSpPr>
          <p:cNvPr id="78" name="bld4_610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Drier, more tart than sweet orange. Top note with a slightly green, peel-like edge — less gourmand.</a:t>
            </a:r>
            <a:endParaRPr lang="en-US" sz="1080" dirty="0"/>
          </a:p>
        </p:txBody>
      </p:sp>
      <p:sp>
        <p:nvSpPr>
          <p:cNvPr id="79" name="bld5_611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81" name="Shape 79"/>
          <p:cNvSpPr/>
          <p:nvPr/>
        </p:nvSpPr>
        <p:spPr>
          <a:xfrm>
            <a:off x="10393528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10427477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83" name="Shape 81"/>
          <p:cNvSpPr/>
          <p:nvPr/>
        </p:nvSpPr>
        <p:spPr>
          <a:xfrm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2160000"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4320000"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 rot="6480000"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 rot="8640000"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 rot="10800000"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 rot="12960000"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 rot="15120000"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 rot="17280000"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 rot="19440000">
            <a:off x="10623902" y="2026530"/>
            <a:ext cx="24250" cy="189149"/>
          </a:xfrm>
          <a:prstGeom prst="ellipse">
            <a:avLst/>
          </a:prstGeom>
          <a:solidFill>
            <a:srgbClr val="C79BD9">
              <a:alpha val="82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>
            <a:off x="10611777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94" name="Shape 92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95" name="bld5_613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Orange</a:t>
            </a:r>
            <a:endParaRPr lang="en-US" sz="1450" dirty="0"/>
          </a:p>
        </p:txBody>
      </p:sp>
      <p:sp>
        <p:nvSpPr>
          <p:cNvPr id="96" name="bld5_614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Deeper, faintly berry-like sweetness. Top note; a warmer, richer twist on standard orange.</a:t>
            </a:r>
            <a:endParaRPr lang="en-US" sz="1080" dirty="0"/>
          </a:p>
        </p:txBody>
      </p:sp>
      <p:sp>
        <p:nvSpPr>
          <p:cNvPr id="97" name="bld6_615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8" name="Shape 96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9" name="Shape 97"/>
          <p:cNvSpPr/>
          <p:nvPr/>
        </p:nvSpPr>
        <p:spPr>
          <a:xfrm>
            <a:off x="1313170" y="4337182"/>
            <a:ext cx="484998" cy="484998"/>
          </a:xfrm>
          <a:prstGeom prst="ellipse">
            <a:avLst/>
          </a:prstGeom>
          <a:solidFill>
            <a:srgbClr val="C9503E">
              <a:alpha val="92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>
            <a:off x="1347120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1" name="Shape 99"/>
          <p:cNvSpPr/>
          <p:nvPr/>
        </p:nvSpPr>
        <p:spPr>
          <a:xfrm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2160000"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4320000"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 rot="6480000"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 rot="8640000"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 rot="10800000"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 rot="12960000"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 rot="15120000"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 rot="17280000"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10" name="Shape 108"/>
          <p:cNvSpPr/>
          <p:nvPr/>
        </p:nvSpPr>
        <p:spPr>
          <a:xfrm rot="19440000">
            <a:off x="1543544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11" name="Shape 109"/>
          <p:cNvSpPr/>
          <p:nvPr/>
        </p:nvSpPr>
        <p:spPr>
          <a:xfrm>
            <a:off x="1531419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113" name="bld6_617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Grapefruit</a:t>
            </a:r>
            <a:endParaRPr lang="en-US" sz="1450" dirty="0"/>
          </a:p>
        </p:txBody>
      </p:sp>
      <p:sp>
        <p:nvSpPr>
          <p:cNvPr id="114" name="bld6_618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Tart, slightly bitter, radiant. Top note that reads further into the heart than most citrus — good diffusion.</a:t>
            </a:r>
            <a:endParaRPr lang="en-US" sz="1080" dirty="0"/>
          </a:p>
        </p:txBody>
      </p:sp>
      <p:sp>
        <p:nvSpPr>
          <p:cNvPr id="115" name="bld7_619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6" name="Shape 114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583259" y="4337182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3617209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 rot="216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 rot="432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 rot="648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3" name="Shape 121"/>
          <p:cNvSpPr/>
          <p:nvPr/>
        </p:nvSpPr>
        <p:spPr>
          <a:xfrm rot="864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4" name="Shape 122"/>
          <p:cNvSpPr/>
          <p:nvPr/>
        </p:nvSpPr>
        <p:spPr>
          <a:xfrm rot="1080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 rot="1296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 rot="1512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 rot="1728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 rot="19440000">
            <a:off x="3813633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>
            <a:off x="3801508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131" name="bld7_621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Mandarin</a:t>
            </a:r>
            <a:endParaRPr lang="en-US" sz="1450" dirty="0"/>
          </a:p>
        </p:txBody>
      </p:sp>
      <p:sp>
        <p:nvSpPr>
          <p:cNvPr id="132" name="bld7_622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sweet, gentle citrus. Very short top note; a smoother, less acidic alternative to orange.</a:t>
            </a:r>
            <a:endParaRPr lang="en-US" sz="1080" dirty="0"/>
          </a:p>
        </p:txBody>
      </p:sp>
      <p:sp>
        <p:nvSpPr>
          <p:cNvPr id="133" name="bld8_623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4" name="Shape 13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36" name="Shape 134"/>
          <p:cNvSpPr/>
          <p:nvPr/>
        </p:nvSpPr>
        <p:spPr>
          <a:xfrm>
            <a:off x="5887299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38" name="Shape 136"/>
          <p:cNvSpPr/>
          <p:nvPr/>
        </p:nvSpPr>
        <p:spPr>
          <a:xfrm rot="2160000"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39" name="Shape 137"/>
          <p:cNvSpPr/>
          <p:nvPr/>
        </p:nvSpPr>
        <p:spPr>
          <a:xfrm rot="4320000"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0" name="Shape 138"/>
          <p:cNvSpPr/>
          <p:nvPr/>
        </p:nvSpPr>
        <p:spPr>
          <a:xfrm rot="6480000"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1" name="Shape 139"/>
          <p:cNvSpPr/>
          <p:nvPr/>
        </p:nvSpPr>
        <p:spPr>
          <a:xfrm rot="8640000"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2" name="Shape 140"/>
          <p:cNvSpPr/>
          <p:nvPr/>
        </p:nvSpPr>
        <p:spPr>
          <a:xfrm rot="10800000"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3" name="Shape 141"/>
          <p:cNvSpPr/>
          <p:nvPr/>
        </p:nvSpPr>
        <p:spPr>
          <a:xfrm rot="12960000"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4" name="Shape 142"/>
          <p:cNvSpPr/>
          <p:nvPr/>
        </p:nvSpPr>
        <p:spPr>
          <a:xfrm rot="15120000"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5" name="Shape 143"/>
          <p:cNvSpPr/>
          <p:nvPr/>
        </p:nvSpPr>
        <p:spPr>
          <a:xfrm rot="17280000"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6" name="Shape 144"/>
          <p:cNvSpPr/>
          <p:nvPr/>
        </p:nvSpPr>
        <p:spPr>
          <a:xfrm rot="19440000">
            <a:off x="6083723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7" name="Shape 145"/>
          <p:cNvSpPr/>
          <p:nvPr/>
        </p:nvSpPr>
        <p:spPr>
          <a:xfrm>
            <a:off x="6071598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49" name="bld8_625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Petitgrain</a:t>
            </a:r>
            <a:endParaRPr lang="en-US" sz="1450" dirty="0"/>
          </a:p>
        </p:txBody>
      </p:sp>
      <p:sp>
        <p:nvSpPr>
          <p:cNvPr id="150" name="bld8_626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bitter, twiggy — distilled from leaves and twigs, not fruit. Top-to-heart bridge, longer-lived than the peel oils.</a:t>
            </a:r>
            <a:endParaRPr lang="en-US" sz="1080" dirty="0"/>
          </a:p>
        </p:txBody>
      </p:sp>
      <p:sp>
        <p:nvSpPr>
          <p:cNvPr id="151" name="bld9_627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2" name="Shape 150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8123438" y="4337182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54" name="Shape 152"/>
          <p:cNvSpPr/>
          <p:nvPr/>
        </p:nvSpPr>
        <p:spPr>
          <a:xfrm>
            <a:off x="8157388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55" name="Shape 153"/>
          <p:cNvSpPr/>
          <p:nvPr/>
        </p:nvSpPr>
        <p:spPr>
          <a:xfrm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6" name="Shape 154"/>
          <p:cNvSpPr/>
          <p:nvPr/>
        </p:nvSpPr>
        <p:spPr>
          <a:xfrm rot="2160000"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7" name="Shape 155"/>
          <p:cNvSpPr/>
          <p:nvPr/>
        </p:nvSpPr>
        <p:spPr>
          <a:xfrm rot="4320000"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8" name="Shape 156"/>
          <p:cNvSpPr/>
          <p:nvPr/>
        </p:nvSpPr>
        <p:spPr>
          <a:xfrm rot="6480000"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9" name="Shape 157"/>
          <p:cNvSpPr/>
          <p:nvPr/>
        </p:nvSpPr>
        <p:spPr>
          <a:xfrm rot="8640000"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0" name="Shape 158"/>
          <p:cNvSpPr/>
          <p:nvPr/>
        </p:nvSpPr>
        <p:spPr>
          <a:xfrm rot="10800000"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1" name="Shape 159"/>
          <p:cNvSpPr/>
          <p:nvPr/>
        </p:nvSpPr>
        <p:spPr>
          <a:xfrm rot="12960000"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2" name="Shape 160"/>
          <p:cNvSpPr/>
          <p:nvPr/>
        </p:nvSpPr>
        <p:spPr>
          <a:xfrm rot="15120000"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3" name="Shape 161"/>
          <p:cNvSpPr/>
          <p:nvPr/>
        </p:nvSpPr>
        <p:spPr>
          <a:xfrm rot="17280000"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4" name="Shape 162"/>
          <p:cNvSpPr/>
          <p:nvPr/>
        </p:nvSpPr>
        <p:spPr>
          <a:xfrm rot="19440000">
            <a:off x="8353812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5" name="Shape 163"/>
          <p:cNvSpPr/>
          <p:nvPr/>
        </p:nvSpPr>
        <p:spPr>
          <a:xfrm>
            <a:off x="8341687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66" name="Shape 164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167" name="bld9_629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Yuzu</a:t>
            </a:r>
            <a:endParaRPr lang="en-US" sz="1450" dirty="0"/>
          </a:p>
        </p:txBody>
      </p:sp>
      <p:sp>
        <p:nvSpPr>
          <p:cNvPr id="168" name="bld9_630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Tart, floral, more complex than lemon. Fleeting top note prized for its unusual, slightly spicy brightness.</a:t>
            </a:r>
            <a:endParaRPr lang="en-US" sz="1080" dirty="0"/>
          </a:p>
        </p:txBody>
      </p:sp>
      <p:sp>
        <p:nvSpPr>
          <p:cNvPr id="170" name="trans_fade_4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71" name="Text 1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41" grpId="0"/>
      <p:bldP spid="42" grpId="0"/>
      <p:bldP spid="43" grpId="0"/>
      <p:bldP spid="59" grpId="0"/>
      <p:bldP spid="60" grpId="0"/>
      <p:bldP spid="61" grpId="0"/>
      <p:bldP spid="77" grpId="0"/>
      <p:bldP spid="78" grpId="0"/>
      <p:bldP spid="79" grpId="0"/>
      <p:bldP spid="95" grpId="0"/>
      <p:bldP spid="96" grpId="0"/>
      <p:bldP spid="97" grpId="0"/>
      <p:bldP spid="113" grpId="0"/>
      <p:bldP spid="114" grpId="0"/>
      <p:bldP spid="115" grpId="0"/>
      <p:bldP spid="131" grpId="0"/>
      <p:bldP spid="132" grpId="0"/>
      <p:bldP spid="133" grpId="0"/>
      <p:bldP spid="149" grpId="0"/>
      <p:bldP spid="150" grpId="0"/>
      <p:bldP spid="151" grpId="0"/>
      <p:bldP spid="167" grpId="0"/>
      <p:bldP spid="16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citrus oils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8" name="Shape 6"/>
          <p:cNvSpPr/>
          <p:nvPr/>
        </p:nvSpPr>
        <p:spPr>
          <a:xfrm>
            <a:off x="1425092" y="1694383"/>
            <a:ext cx="1640434" cy="1640434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539923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163288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Shape 1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2" name="bld1_632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800" dirty="0"/>
          </a:p>
        </p:txBody>
      </p:sp>
      <p:sp>
        <p:nvSpPr>
          <p:cNvPr id="23" name="bld1_633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4" name="bld1_634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Bright, sparkling, faintly floral</a:t>
            </a:r>
            <a:endParaRPr lang="en-US" sz="1100" dirty="0"/>
          </a:p>
        </p:txBody>
      </p:sp>
      <p:sp>
        <p:nvSpPr>
          <p:cNvPr id="25" name="bld1_635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6" name="bld1_636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fresh opening lift</a:t>
            </a:r>
            <a:endParaRPr lang="en-US" sz="1100" dirty="0"/>
          </a:p>
        </p:txBody>
      </p:sp>
      <p:sp>
        <p:nvSpPr>
          <p:cNvPr id="27" name="bld1_637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8" name="bld1_638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 · fleeting · diffusive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0" name="Shape 28"/>
          <p:cNvSpPr/>
          <p:nvPr/>
        </p:nvSpPr>
        <p:spPr>
          <a:xfrm>
            <a:off x="4818431" y="1694383"/>
            <a:ext cx="1640434" cy="1640434"/>
          </a:xfrm>
          <a:prstGeom prst="ellipse">
            <a:avLst/>
          </a:prstGeom>
          <a:solidFill>
            <a:srgbClr val="C9503E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933261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2" name="Shape 30"/>
          <p:cNvSpPr/>
          <p:nvPr/>
        </p:nvSpPr>
        <p:spPr>
          <a:xfrm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216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432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648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864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080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296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512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1728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1944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556626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44" name="bld2_640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Grapefruit</a:t>
            </a:r>
            <a:endParaRPr lang="en-US" sz="1800" dirty="0"/>
          </a:p>
        </p:txBody>
      </p:sp>
      <p:sp>
        <p:nvSpPr>
          <p:cNvPr id="45" name="bld2_641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6" name="bld2_642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Tart, radiant, slightly bitter</a:t>
            </a:r>
            <a:endParaRPr lang="en-US" sz="1100" dirty="0"/>
          </a:p>
        </p:txBody>
      </p:sp>
      <p:sp>
        <p:nvSpPr>
          <p:cNvPr id="47" name="bld2_643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8" name="bld2_644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Modern, sparkling brightness</a:t>
            </a:r>
            <a:endParaRPr lang="en-US" sz="1100" dirty="0"/>
          </a:p>
        </p:txBody>
      </p:sp>
      <p:sp>
        <p:nvSpPr>
          <p:cNvPr id="49" name="bld2_645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0" name="bld2_646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 · short · diffusive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1769" y="1694383"/>
            <a:ext cx="1640434" cy="1640434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326600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4" name="Shape 52"/>
          <p:cNvSpPr/>
          <p:nvPr/>
        </p:nvSpPr>
        <p:spPr>
          <a:xfrm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216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432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648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864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1080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296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512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728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944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949964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5" name="Shape 6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6" name="bld3_648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Petitgrain</a:t>
            </a:r>
            <a:endParaRPr lang="en-US" sz="1800" dirty="0"/>
          </a:p>
        </p:txBody>
      </p:sp>
      <p:sp>
        <p:nvSpPr>
          <p:cNvPr id="67" name="bld3_649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8" name="bld3_650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bitter, woody-twiggy</a:t>
            </a:r>
            <a:endParaRPr lang="en-US" sz="1100" dirty="0"/>
          </a:p>
        </p:txBody>
      </p:sp>
      <p:sp>
        <p:nvSpPr>
          <p:cNvPr id="69" name="bld3_651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70" name="bld3_652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 citrus into the heart</a:t>
            </a:r>
            <a:endParaRPr lang="en-US" sz="1100" dirty="0"/>
          </a:p>
        </p:txBody>
      </p:sp>
      <p:sp>
        <p:nvSpPr>
          <p:cNvPr id="71" name="bld3_653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72" name="bld3_654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 · intimate</a:t>
            </a:r>
            <a:endParaRPr lang="en-US" sz="1100" dirty="0"/>
          </a:p>
        </p:txBody>
      </p:sp>
      <p:sp>
        <p:nvSpPr>
          <p:cNvPr id="74" name="trans_fade_4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5" name="Text 7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66" grpId="0"/>
      <p:bldP spid="67" grpId="0"/>
      <p:bldP spid="68" grpId="0"/>
      <p:bldP spid="69" grpId="0"/>
      <p:bldP spid="70" grpId="0"/>
      <p:bldP spid="71" grpId="0"/>
      <p:bldP spid="7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2 OF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Florals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AEC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" name="Shape 8"/>
          <p:cNvSpPr/>
          <p:nvPr/>
        </p:nvSpPr>
        <p:spPr>
          <a:xfrm>
            <a:off x="1605735" y="347523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1852209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1758064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1453406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1359261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11101" y="3887307"/>
            <a:ext cx="257548" cy="257548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7" name="bld1_656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9" name="Shape 17"/>
          <p:cNvSpPr/>
          <p:nvPr/>
        </p:nvSpPr>
        <p:spPr>
          <a:xfrm rot="10800000">
            <a:off x="3395958" y="3668974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4400000">
            <a:off x="3662898" y="3823092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8000000">
            <a:off x="3662898" y="4131328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395958" y="4285445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3600000">
            <a:off x="3129018" y="4131328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7200000">
            <a:off x="3129018" y="3823092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334311" y="4137492"/>
            <a:ext cx="295906" cy="295906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6" name="Shape 24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7" name="bld2_658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5090513" y="347523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4320000">
            <a:off x="5336987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8640000">
            <a:off x="5242842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2960000">
            <a:off x="4938184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7280000">
            <a:off x="4844040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95879" y="3887307"/>
            <a:ext cx="257548" cy="25754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5" name="Shape 33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6" name="bld3_660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Neroli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8" name="Shape 36"/>
          <p:cNvSpPr/>
          <p:nvPr/>
        </p:nvSpPr>
        <p:spPr>
          <a:xfrm rot="10800000">
            <a:off x="6891924" y="3748887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4400000">
            <a:off x="7124261" y="3883027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18000000">
            <a:off x="7124261" y="4151306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891924" y="4285445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3600000">
            <a:off x="6659587" y="4151306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7200000">
            <a:off x="6659587" y="3883027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38268" y="4156671"/>
            <a:ext cx="257548" cy="257548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5" name="Shape 43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6" name="bld4_662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Ylang-Ylang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8" name="Shape 46"/>
          <p:cNvSpPr/>
          <p:nvPr/>
        </p:nvSpPr>
        <p:spPr>
          <a:xfrm>
            <a:off x="8616961" y="3607731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2700000">
            <a:off x="8748780" y="366233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5400000">
            <a:off x="8803382" y="379415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8100000">
            <a:off x="8748780" y="3925971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0800000">
            <a:off x="8616961" y="3980573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3500000">
            <a:off x="8485141" y="3925971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6200000">
            <a:off x="8430540" y="379415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8900000">
            <a:off x="8485141" y="366233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610796" y="3917446"/>
            <a:ext cx="197271" cy="19727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7" name="Shape 5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8" name="bld5_664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Geranium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60" name="Shape 58"/>
          <p:cNvSpPr/>
          <p:nvPr/>
        </p:nvSpPr>
        <p:spPr>
          <a:xfrm>
            <a:off x="10371337" y="3930029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2700000">
            <a:off x="10486069" y="3977553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5400000">
            <a:off x="10533592" y="4092284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8100000">
            <a:off x="10486069" y="4207016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10800000">
            <a:off x="10371337" y="4254540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13500000">
            <a:off x="10256605" y="4207016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16200000">
            <a:off x="10209082" y="4092284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8900000">
            <a:off x="10256605" y="3977553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10365971" y="4199596"/>
            <a:ext cx="171699" cy="171699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69" name="Shape 6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70" name="bld6_666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Osmanthus</a:t>
            </a:r>
            <a:endParaRPr lang="en-US" sz="1350" dirty="0"/>
          </a:p>
        </p:txBody>
      </p:sp>
      <p:sp>
        <p:nvSpPr>
          <p:cNvPr id="72" name="trans_fade_4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3" name="Text 7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27" grpId="0"/>
      <p:bldP spid="36" grpId="0"/>
      <p:bldP spid="46" grpId="0"/>
      <p:bldP spid="58" grpId="0"/>
      <p:bldP spid="70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FLORALS,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heart of nearly every formula</a:t>
            </a:r>
            <a:endParaRPr lang="en-US" sz="3200" dirty="0"/>
          </a:p>
        </p:txBody>
      </p:sp>
      <p:sp>
        <p:nvSpPr>
          <p:cNvPr id="7" name="bld1_667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>
            <a:off x="1495044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4320000">
            <a:off x="1606438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640000">
            <a:off x="1563889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2960000">
            <a:off x="1426199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7280000">
            <a:off x="1383650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97469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5" name="Shape 13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6" name="bld1_669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450" dirty="0"/>
          </a:p>
        </p:txBody>
      </p:sp>
      <p:sp>
        <p:nvSpPr>
          <p:cNvPr id="17" name="bld1_670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slightly spicy. Heart note, medium-long, moderately diffusive — the archetypal floral.</a:t>
            </a:r>
            <a:endParaRPr lang="en-US" sz="1080" dirty="0"/>
          </a:p>
        </p:txBody>
      </p:sp>
      <p:sp>
        <p:nvSpPr>
          <p:cNvPr id="18" name="bld2_671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0" name="Shape 18"/>
          <p:cNvSpPr/>
          <p:nvPr/>
        </p:nvSpPr>
        <p:spPr>
          <a:xfrm rot="10800000">
            <a:off x="3791808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4400000">
            <a:off x="3896813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8000000">
            <a:off x="3896813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791808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3600000">
            <a:off x="3686803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7200000">
            <a:off x="3686803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767558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7" name="Shape 25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8" name="bld2_673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450" dirty="0"/>
          </a:p>
        </p:txBody>
      </p:sp>
      <p:sp>
        <p:nvSpPr>
          <p:cNvPr id="29" name="bld2_674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Indolic, heady, intensely floral with an animalic edge. Heart note, long-lasting, very diffusive in tiny amounts.</a:t>
            </a:r>
            <a:endParaRPr lang="en-US" sz="1080" dirty="0"/>
          </a:p>
        </p:txBody>
      </p:sp>
      <p:sp>
        <p:nvSpPr>
          <p:cNvPr id="30" name="bld3_675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6035223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4320000">
            <a:off x="614661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8640000">
            <a:off x="610406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596637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5923829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037648" y="2162329"/>
            <a:ext cx="116399" cy="11639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39" name="bld3_677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Neroli</a:t>
            </a:r>
            <a:endParaRPr lang="en-US" sz="1450" dirty="0"/>
          </a:p>
        </p:txBody>
      </p:sp>
      <p:sp>
        <p:nvSpPr>
          <p:cNvPr id="40" name="bld3_678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bitter-orange-blossom, faintly green. Top-heart note — lighter and fresher than absolute orange blossom.</a:t>
            </a:r>
            <a:endParaRPr lang="en-US" sz="1080" dirty="0"/>
          </a:p>
        </p:txBody>
      </p:sp>
      <p:sp>
        <p:nvSpPr>
          <p:cNvPr id="41" name="bld4_679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3" name="Shape 41"/>
          <p:cNvSpPr/>
          <p:nvPr/>
        </p:nvSpPr>
        <p:spPr>
          <a:xfrm>
            <a:off x="8305312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4320000">
            <a:off x="841670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8640000">
            <a:off x="837415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2960000">
            <a:off x="823646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7280000">
            <a:off x="8193918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307737" y="2162329"/>
            <a:ext cx="116399" cy="11639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9" name="Shape 47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50" name="bld4_681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Orange Blossom</a:t>
            </a:r>
            <a:endParaRPr lang="en-US" sz="1450" dirty="0"/>
          </a:p>
        </p:txBody>
      </p:sp>
      <p:sp>
        <p:nvSpPr>
          <p:cNvPr id="51" name="bld4_682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and more indolic than neroli, from the same flower via solvent extraction. Heart note, warm and lush.</a:t>
            </a:r>
            <a:endParaRPr lang="en-US" sz="1080" dirty="0"/>
          </a:p>
        </p:txBody>
      </p:sp>
      <p:sp>
        <p:nvSpPr>
          <p:cNvPr id="52" name="bld5_683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4" name="Shape 52"/>
          <p:cNvSpPr/>
          <p:nvPr/>
        </p:nvSpPr>
        <p:spPr>
          <a:xfrm rot="10800000">
            <a:off x="10602077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4400000">
            <a:off x="10707082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8000000">
            <a:off x="10707082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10602077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3600000">
            <a:off x="10497072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7200000">
            <a:off x="10497072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10577827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1" name="Shape 59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2" name="bld5_685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Ylang-Ylang</a:t>
            </a:r>
            <a:endParaRPr lang="en-US" sz="1450" dirty="0"/>
          </a:p>
        </p:txBody>
      </p:sp>
      <p:sp>
        <p:nvSpPr>
          <p:cNvPr id="63" name="bld5_686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banana-custard, exotic and heavy. Heart note, long, very diffusive — easy to overdose.</a:t>
            </a:r>
            <a:endParaRPr lang="en-US" sz="1080" dirty="0"/>
          </a:p>
        </p:txBody>
      </p:sp>
      <p:sp>
        <p:nvSpPr>
          <p:cNvPr id="64" name="bld6_687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66" name="Shape 64"/>
          <p:cNvSpPr/>
          <p:nvPr/>
        </p:nvSpPr>
        <p:spPr>
          <a:xfrm>
            <a:off x="1519294" y="441905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2700000">
            <a:off x="1571147" y="444052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5400000">
            <a:off x="1592626" y="4492381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8100000">
            <a:off x="1571147" y="4544235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0800000">
            <a:off x="1519294" y="456571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3500000">
            <a:off x="1467441" y="4544235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16200000">
            <a:off x="1445962" y="4492381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18900000">
            <a:off x="1467441" y="444052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1516869" y="4540881"/>
            <a:ext cx="77600" cy="77600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75" name="Shape 73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76" name="bld6_689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Lavender</a:t>
            </a:r>
            <a:endParaRPr lang="en-US" sz="1450" dirty="0"/>
          </a:p>
        </p:txBody>
      </p:sp>
      <p:sp>
        <p:nvSpPr>
          <p:cNvPr id="77" name="bld6_690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Herbal-floral, camphoraceous, clean. Top-heart, medium tenacity — the bridge between aromatic and floral.</a:t>
            </a:r>
            <a:endParaRPr lang="en-US" sz="1080" dirty="0"/>
          </a:p>
        </p:txBody>
      </p:sp>
      <p:sp>
        <p:nvSpPr>
          <p:cNvPr id="78" name="bld7_691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0" name="Shape 78"/>
          <p:cNvSpPr/>
          <p:nvPr/>
        </p:nvSpPr>
        <p:spPr>
          <a:xfrm>
            <a:off x="3789383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 rot="2700000">
            <a:off x="3841237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 rot="5400000">
            <a:off x="3862715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 rot="8100000">
            <a:off x="3841237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10800000">
            <a:off x="3789383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13500000">
            <a:off x="3737530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 rot="16200000">
            <a:off x="3716052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 rot="18900000">
            <a:off x="3737530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3786958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89" name="Shape 87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90" name="bld7_693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Geranium</a:t>
            </a:r>
            <a:endParaRPr lang="en-US" sz="1450" dirty="0"/>
          </a:p>
        </p:txBody>
      </p:sp>
      <p:sp>
        <p:nvSpPr>
          <p:cNvPr id="91" name="bld7_694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Rosy but sharper and greener than rose itself, minty-metallic edge. Heart note, medium — a common rose extender.</a:t>
            </a:r>
            <a:endParaRPr lang="en-US" sz="1080" dirty="0"/>
          </a:p>
        </p:txBody>
      </p:sp>
      <p:sp>
        <p:nvSpPr>
          <p:cNvPr id="92" name="bld8_695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94" name="Shape 92"/>
          <p:cNvSpPr/>
          <p:nvPr/>
        </p:nvSpPr>
        <p:spPr>
          <a:xfrm rot="15300000">
            <a:off x="593164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 rot="13050000">
            <a:off x="5977120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 rot="10800000">
            <a:off x="6054623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 rot="8550000">
            <a:off x="6132125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 rot="6300000">
            <a:off x="617759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00" name="bld8_697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Violet Leaf</a:t>
            </a:r>
            <a:endParaRPr lang="en-US" sz="1450" dirty="0"/>
          </a:p>
        </p:txBody>
      </p:sp>
      <p:sp>
        <p:nvSpPr>
          <p:cNvPr id="101" name="bld8_698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Cool, green, cucumber-like — not floral at all despite the name. Top-heart, intimate, used for freshness not sweetness.</a:t>
            </a:r>
            <a:endParaRPr lang="en-US" sz="1080" dirty="0"/>
          </a:p>
        </p:txBody>
      </p:sp>
      <p:sp>
        <p:nvSpPr>
          <p:cNvPr id="102" name="bld9_699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3" name="Shape 101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8329562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 rot="2700000">
            <a:off x="8381416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 rot="5400000">
            <a:off x="8402894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 rot="8100000">
            <a:off x="8381416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 rot="10800000">
            <a:off x="8329562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 rot="13500000">
            <a:off x="8277709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0" name="Shape 108"/>
          <p:cNvSpPr/>
          <p:nvPr/>
        </p:nvSpPr>
        <p:spPr>
          <a:xfrm rot="16200000">
            <a:off x="8256231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1" name="Shape 109"/>
          <p:cNvSpPr/>
          <p:nvPr/>
        </p:nvSpPr>
        <p:spPr>
          <a:xfrm rot="18900000">
            <a:off x="8277709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2" name="Shape 110"/>
          <p:cNvSpPr/>
          <p:nvPr/>
        </p:nvSpPr>
        <p:spPr>
          <a:xfrm>
            <a:off x="8327137" y="4540881"/>
            <a:ext cx="77600" cy="77600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114" name="bld9_701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Osmanthus</a:t>
            </a:r>
            <a:endParaRPr lang="en-US" sz="1450" dirty="0"/>
          </a:p>
        </p:txBody>
      </p:sp>
      <p:sp>
        <p:nvSpPr>
          <p:cNvPr id="115" name="bld9_702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Apricot-suede, tea-like, unusual. Heart note, medium-long — a distinctive, less common floral choice.</a:t>
            </a:r>
            <a:endParaRPr lang="en-US" sz="1080" dirty="0"/>
          </a:p>
        </p:txBody>
      </p:sp>
      <p:sp>
        <p:nvSpPr>
          <p:cNvPr id="117" name="trans_fade_4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8" name="Text 11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6" grpId="0"/>
      <p:bldP spid="17" grpId="0"/>
      <p:bldP spid="18" grpId="0"/>
      <p:bldP spid="28" grpId="0"/>
      <p:bldP spid="29" grpId="0"/>
      <p:bldP spid="30" grpId="0"/>
      <p:bldP spid="39" grpId="0"/>
      <p:bldP spid="40" grpId="0"/>
      <p:bldP spid="41" grpId="0"/>
      <p:bldP spid="50" grpId="0"/>
      <p:bldP spid="51" grpId="0"/>
      <p:bldP spid="52" grpId="0"/>
      <p:bldP spid="62" grpId="0"/>
      <p:bldP spid="63" grpId="0"/>
      <p:bldP spid="64" grpId="0"/>
      <p:bldP spid="76" grpId="0"/>
      <p:bldP spid="77" grpId="0"/>
      <p:bldP spid="78" grpId="0"/>
      <p:bldP spid="90" grpId="0"/>
      <p:bldP spid="91" grpId="0"/>
      <p:bldP spid="92" grpId="0"/>
      <p:bldP spid="100" grpId="0"/>
      <p:bldP spid="101" grpId="0"/>
      <p:bldP spid="102" grpId="0"/>
      <p:bldP spid="114" grpId="0"/>
      <p:bldP spid="11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florals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>
            <a:off x="1574397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922766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789701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1359093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1226028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81981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4" name="Shape 12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5" name="bld1_704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800" dirty="0"/>
          </a:p>
        </p:txBody>
      </p:sp>
      <p:sp>
        <p:nvSpPr>
          <p:cNvPr id="16" name="bld1_705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7" name="bld1_706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slightly spicy</a:t>
            </a:r>
            <a:endParaRPr lang="en-US" sz="1100" dirty="0"/>
          </a:p>
        </p:txBody>
      </p:sp>
      <p:sp>
        <p:nvSpPr>
          <p:cNvPr id="18" name="bld1_707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9" name="bld1_708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and romance</a:t>
            </a:r>
            <a:endParaRPr lang="en-US" sz="1100" dirty="0"/>
          </a:p>
        </p:txBody>
      </p:sp>
      <p:sp>
        <p:nvSpPr>
          <p:cNvPr id="20" name="bld1_709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1" name="bld1_710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medium-long · moderate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3" name="Shape 21"/>
          <p:cNvSpPr/>
          <p:nvPr/>
        </p:nvSpPr>
        <p:spPr>
          <a:xfrm rot="10800000">
            <a:off x="4088523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4400000">
            <a:off x="4416911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8000000">
            <a:off x="4416911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088523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3600000">
            <a:off x="3760135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7200000">
            <a:off x="3760135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012685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1" name="bld2_712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800" dirty="0"/>
          </a:p>
        </p:txBody>
      </p:sp>
      <p:sp>
        <p:nvSpPr>
          <p:cNvPr id="32" name="bld2_713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3" name="bld2_714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Indolic, heady, sensual</a:t>
            </a:r>
            <a:endParaRPr lang="en-US" sz="1100" dirty="0"/>
          </a:p>
        </p:txBody>
      </p:sp>
      <p:sp>
        <p:nvSpPr>
          <p:cNvPr id="34" name="bld2_715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5" name="bld2_716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Radiance, depth</a:t>
            </a:r>
            <a:endParaRPr lang="en-US" sz="1100" dirty="0"/>
          </a:p>
        </p:txBody>
      </p:sp>
      <p:sp>
        <p:nvSpPr>
          <p:cNvPr id="36" name="bld2_717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7" name="bld2_718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long · very diffusive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9" name="Shape 37"/>
          <p:cNvSpPr/>
          <p:nvPr/>
        </p:nvSpPr>
        <p:spPr>
          <a:xfrm>
            <a:off x="6435805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4320000">
            <a:off x="6784174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8640000">
            <a:off x="6651109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2960000">
            <a:off x="6220500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7280000">
            <a:off x="6087435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443388" y="2332589"/>
            <a:ext cx="364022" cy="36402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5" name="Shape 43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46" name="bld3_720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Neroli</a:t>
            </a:r>
            <a:endParaRPr lang="en-US" sz="1800" dirty="0"/>
          </a:p>
        </p:txBody>
      </p:sp>
      <p:sp>
        <p:nvSpPr>
          <p:cNvPr id="47" name="bld3_721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8" name="bld3_722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bitter-orange blossom</a:t>
            </a:r>
            <a:endParaRPr lang="en-US" sz="1100" dirty="0"/>
          </a:p>
        </p:txBody>
      </p:sp>
      <p:sp>
        <p:nvSpPr>
          <p:cNvPr id="49" name="bld3_723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0" name="bld3_724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Lifts and lightens a floral heart</a:t>
            </a:r>
            <a:endParaRPr lang="en-US" sz="1100" dirty="0"/>
          </a:p>
        </p:txBody>
      </p:sp>
      <p:sp>
        <p:nvSpPr>
          <p:cNvPr id="51" name="bld3_725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2" name="bld3_726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 · diffusive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4" name="Shape 52"/>
          <p:cNvSpPr/>
          <p:nvPr/>
        </p:nvSpPr>
        <p:spPr>
          <a:xfrm rot="10800000">
            <a:off x="8949930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4400000">
            <a:off x="9278318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8000000">
            <a:off x="9278318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949930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3600000">
            <a:off x="8621542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7200000">
            <a:off x="8621542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874092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1" name="Shape 59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2" name="bld4_728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Ylang-Ylang</a:t>
            </a:r>
            <a:endParaRPr lang="en-US" sz="1800" dirty="0"/>
          </a:p>
        </p:txBody>
      </p:sp>
      <p:sp>
        <p:nvSpPr>
          <p:cNvPr id="63" name="bld4_729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4" name="bld4_730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exotic, banana-custard</a:t>
            </a:r>
            <a:endParaRPr lang="en-US" sz="1100" dirty="0"/>
          </a:p>
        </p:txBody>
      </p:sp>
      <p:sp>
        <p:nvSpPr>
          <p:cNvPr id="65" name="bld4_731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66" name="bld4_732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Lushness, tropical warmth</a:t>
            </a:r>
            <a:endParaRPr lang="en-US" sz="1100" dirty="0"/>
          </a:p>
        </p:txBody>
      </p:sp>
      <p:sp>
        <p:nvSpPr>
          <p:cNvPr id="67" name="bld4_733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68" name="bld4_734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long · very diffusive</a:t>
            </a:r>
            <a:endParaRPr lang="en-US" sz="1100" dirty="0"/>
          </a:p>
        </p:txBody>
      </p:sp>
      <p:sp>
        <p:nvSpPr>
          <p:cNvPr id="70" name="trans_fade_4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62" grpId="0"/>
      <p:bldP spid="63" grpId="0"/>
      <p:bldP spid="64" grpId="0"/>
      <p:bldP spid="65" grpId="0"/>
      <p:bldP spid="66" grpId="0"/>
      <p:bldP spid="67" grpId="0"/>
      <p:bldP spid="68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3 OF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Woods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1E7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03316" y="3479523"/>
            <a:ext cx="1073117" cy="107311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1" name="Shape 9"/>
          <p:cNvSpPr/>
          <p:nvPr/>
        </p:nvSpPr>
        <p:spPr>
          <a:xfrm>
            <a:off x="1471595" y="3747802"/>
            <a:ext cx="536558" cy="53655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75488" y="3951694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4" name="bld1_736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6" name="Shape 14"/>
          <p:cNvSpPr/>
          <p:nvPr/>
        </p:nvSpPr>
        <p:spPr>
          <a:xfrm>
            <a:off x="2865793" y="3668974"/>
            <a:ext cx="1232942" cy="123294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071283" y="3874465"/>
            <a:ext cx="821962" cy="82196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8" name="Shape 16"/>
          <p:cNvSpPr/>
          <p:nvPr/>
        </p:nvSpPr>
        <p:spPr>
          <a:xfrm>
            <a:off x="3276773" y="4079955"/>
            <a:ext cx="410981" cy="410981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408287" y="4211469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0" name="Shape 18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1" name="bld2_738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106610" y="3511717"/>
            <a:ext cx="236086" cy="2360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819600" y="3629759"/>
            <a:ext cx="405053" cy="600516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920697" y="3629759"/>
            <a:ext cx="303956" cy="72782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082305" y="3629759"/>
            <a:ext cx="142348" cy="71022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4653" y="3629759"/>
            <a:ext cx="9144" cy="788741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24653" y="3629759"/>
            <a:ext cx="142348" cy="71022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224653" y="3629759"/>
            <a:ext cx="303956" cy="72782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224653" y="3629759"/>
            <a:ext cx="405053" cy="600516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2" name="bld3_740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Vetiver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4" name="Shape 32"/>
          <p:cNvSpPr/>
          <p:nvPr/>
        </p:nvSpPr>
        <p:spPr>
          <a:xfrm rot="18900000">
            <a:off x="6634376" y="3802543"/>
            <a:ext cx="665332" cy="965805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961556" y="3963510"/>
            <a:ext cx="914" cy="590214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7" name="bld4_742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9" name="Shape 37"/>
          <p:cNvSpPr/>
          <p:nvPr/>
        </p:nvSpPr>
        <p:spPr>
          <a:xfrm>
            <a:off x="8092960" y="3399610"/>
            <a:ext cx="1232942" cy="123294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0" name="Shape 38"/>
          <p:cNvSpPr/>
          <p:nvPr/>
        </p:nvSpPr>
        <p:spPr>
          <a:xfrm>
            <a:off x="8401196" y="3707846"/>
            <a:ext cx="616471" cy="616471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635455" y="3942105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2" name="Shape 40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3" name="bld5_744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Amyris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5" name="Shape 43"/>
          <p:cNvSpPr/>
          <p:nvPr/>
        </p:nvSpPr>
        <p:spPr>
          <a:xfrm>
            <a:off x="9915262" y="3748887"/>
            <a:ext cx="1073117" cy="1073117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094115" y="3927740"/>
            <a:ext cx="715411" cy="715411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7" name="Shape 45"/>
          <p:cNvSpPr/>
          <p:nvPr/>
        </p:nvSpPr>
        <p:spPr>
          <a:xfrm>
            <a:off x="10272968" y="4106593"/>
            <a:ext cx="357706" cy="35770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387434" y="4221058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9" name="Shape 4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0" name="bld6_746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Guaiacwood</a:t>
            </a:r>
            <a:endParaRPr lang="en-US" sz="1350" dirty="0"/>
          </a:p>
        </p:txBody>
      </p:sp>
      <p:sp>
        <p:nvSpPr>
          <p:cNvPr id="52" name="trans_fade_4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3" name="Text 5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1" grpId="0"/>
      <p:bldP spid="32" grpId="0"/>
      <p:bldP spid="37" grpId="0"/>
      <p:bldP spid="43" grpId="0"/>
      <p:bldP spid="5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WOODS,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structural base of the formula</a:t>
            </a:r>
            <a:endParaRPr lang="en-US" sz="3200" dirty="0"/>
          </a:p>
        </p:txBody>
      </p:sp>
      <p:sp>
        <p:nvSpPr>
          <p:cNvPr id="7" name="bld1_747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0" name="Shape 8"/>
          <p:cNvSpPr/>
          <p:nvPr/>
        </p:nvSpPr>
        <p:spPr>
          <a:xfrm>
            <a:off x="1718180" y="2099280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810330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2" name="Shape 10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3" name="bld1_749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</a:t>
            </a:r>
            <a:endParaRPr lang="en-US" sz="1450" dirty="0"/>
          </a:p>
        </p:txBody>
      </p:sp>
      <p:sp>
        <p:nvSpPr>
          <p:cNvPr id="14" name="bld1_750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milky, soft woody-sweet. Base note, very long, intimate — the gold standard for smooth woods.</a:t>
            </a:r>
            <a:endParaRPr lang="en-US" sz="1080" dirty="0"/>
          </a:p>
        </p:txBody>
      </p:sp>
      <p:sp>
        <p:nvSpPr>
          <p:cNvPr id="15" name="bld2_751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34543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515376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9" name="Shape 17"/>
          <p:cNvSpPr/>
          <p:nvPr/>
        </p:nvSpPr>
        <p:spPr>
          <a:xfrm>
            <a:off x="4596209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647942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1" name="Shape 19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2" name="bld2_753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450" dirty="0"/>
          </a:p>
        </p:txBody>
      </p:sp>
      <p:sp>
        <p:nvSpPr>
          <p:cNvPr id="23" name="bld2_754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pencil-shaving woodiness. Base note, long, quietly diffusive — a gentle structural wood.</a:t>
            </a:r>
            <a:endParaRPr lang="en-US" sz="1080" dirty="0"/>
          </a:p>
        </p:txBody>
      </p:sp>
      <p:sp>
        <p:nvSpPr>
          <p:cNvPr id="24" name="bld3_755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6" name="Shape 24"/>
          <p:cNvSpPr/>
          <p:nvPr/>
        </p:nvSpPr>
        <p:spPr>
          <a:xfrm>
            <a:off x="7461304" y="1992580"/>
            <a:ext cx="106700" cy="106700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7331589" y="2045930"/>
            <a:ext cx="183065" cy="271405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377280" y="2045930"/>
            <a:ext cx="137374" cy="32894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450319" y="2045930"/>
            <a:ext cx="64334" cy="32099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14654" y="2045930"/>
            <a:ext cx="9144" cy="356473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14654" y="2045930"/>
            <a:ext cx="64334" cy="32099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14654" y="2045930"/>
            <a:ext cx="137374" cy="32894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14654" y="2045930"/>
            <a:ext cx="183065" cy="271405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35" name="bld3_757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Vetiver</a:t>
            </a:r>
            <a:endParaRPr lang="en-US" sz="1450" dirty="0"/>
          </a:p>
        </p:txBody>
      </p:sp>
      <p:sp>
        <p:nvSpPr>
          <p:cNvPr id="36" name="bld3_758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Earthy, smoky root with grassy-green top facets. Base note, very long, grounding and textured.</a:t>
            </a:r>
            <a:endParaRPr lang="en-US" sz="1080" dirty="0"/>
          </a:p>
        </p:txBody>
      </p:sp>
      <p:sp>
        <p:nvSpPr>
          <p:cNvPr id="37" name="bld4_759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9" name="Shape 37"/>
          <p:cNvSpPr/>
          <p:nvPr/>
        </p:nvSpPr>
        <p:spPr>
          <a:xfrm rot="18900000">
            <a:off x="10201916" y="2002280"/>
            <a:ext cx="300699" cy="436498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0346779" y="2075030"/>
            <a:ext cx="914" cy="266749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42" name="bld4_761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</a:t>
            </a:r>
            <a:endParaRPr lang="en-US" sz="1450" dirty="0"/>
          </a:p>
        </p:txBody>
      </p:sp>
      <p:sp>
        <p:nvSpPr>
          <p:cNvPr id="43" name="bld4_762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Dark, earthy, slightly sweet with a wine-like depth. Base note, extremely long, moderately diffusive.</a:t>
            </a:r>
            <a:endParaRPr lang="en-US" sz="1080" dirty="0"/>
          </a:p>
        </p:txBody>
      </p:sp>
      <p:sp>
        <p:nvSpPr>
          <p:cNvPr id="44" name="bld5_763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1596931" y="4337182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7" name="Shape 45"/>
          <p:cNvSpPr/>
          <p:nvPr/>
        </p:nvSpPr>
        <p:spPr>
          <a:xfrm>
            <a:off x="1718180" y="4458432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810330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9" name="Shape 47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0" name="bld5_765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Amyris</a:t>
            </a:r>
            <a:endParaRPr lang="en-US" sz="1450" dirty="0"/>
          </a:p>
        </p:txBody>
      </p:sp>
      <p:sp>
        <p:nvSpPr>
          <p:cNvPr id="51" name="bld5_766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slightly oily, budget-friendly sandalwood-adjacent. Base note, long, gentle and inexpensive.</a:t>
            </a:r>
            <a:endParaRPr lang="en-US" sz="1080" dirty="0"/>
          </a:p>
        </p:txBody>
      </p:sp>
      <p:sp>
        <p:nvSpPr>
          <p:cNvPr id="52" name="bld6_767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4" name="Shape 52"/>
          <p:cNvSpPr/>
          <p:nvPr/>
        </p:nvSpPr>
        <p:spPr>
          <a:xfrm>
            <a:off x="4434543" y="4337182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4515376" y="4418015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6" name="Shape 54"/>
          <p:cNvSpPr/>
          <p:nvPr/>
        </p:nvSpPr>
        <p:spPr>
          <a:xfrm>
            <a:off x="4596209" y="4498848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4647942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8" name="Shape 5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9" name="bld6_769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Guaiacwood</a:t>
            </a:r>
            <a:endParaRPr lang="en-US" sz="1450" dirty="0"/>
          </a:p>
        </p:txBody>
      </p:sp>
      <p:sp>
        <p:nvSpPr>
          <p:cNvPr id="60" name="bld6_770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rosy-woody, faintly tea-like. Base note, long — an underused, characterful natural wood.</a:t>
            </a:r>
            <a:endParaRPr lang="en-US" sz="1080" dirty="0"/>
          </a:p>
        </p:txBody>
      </p:sp>
      <p:sp>
        <p:nvSpPr>
          <p:cNvPr id="61" name="bld7_771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63" name="Shape 61"/>
          <p:cNvSpPr/>
          <p:nvPr/>
        </p:nvSpPr>
        <p:spPr>
          <a:xfrm>
            <a:off x="7272155" y="4337182"/>
            <a:ext cx="484998" cy="484998"/>
          </a:xfrm>
          <a:prstGeom prst="donut">
            <a:avLst/>
          </a:prstGeom>
          <a:solidFill>
            <a:srgbClr val="9BAE84"/>
          </a:solidFill>
          <a:ln/>
        </p:spPr>
      </p:sp>
      <p:sp>
        <p:nvSpPr>
          <p:cNvPr id="64" name="Shape 62"/>
          <p:cNvSpPr/>
          <p:nvPr/>
        </p:nvSpPr>
        <p:spPr>
          <a:xfrm>
            <a:off x="7393404" y="4458432"/>
            <a:ext cx="242499" cy="242499"/>
          </a:xfrm>
          <a:prstGeom prst="donut">
            <a:avLst/>
          </a:prstGeom>
          <a:solidFill>
            <a:srgbClr val="63754A">
              <a:alpha val="90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485554" y="4550581"/>
            <a:ext cx="58200" cy="58200"/>
          </a:xfrm>
          <a:prstGeom prst="ellipse">
            <a:avLst/>
          </a:prstGeom>
          <a:solidFill>
            <a:srgbClr val="63754A"/>
          </a:solidFill>
          <a:ln/>
        </p:spPr>
      </p:sp>
      <p:sp>
        <p:nvSpPr>
          <p:cNvPr id="66" name="Shape 6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67" name="bld7_773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 Wood</a:t>
            </a:r>
            <a:endParaRPr lang="en-US" sz="1450" dirty="0"/>
          </a:p>
        </p:txBody>
      </p:sp>
      <p:sp>
        <p:nvSpPr>
          <p:cNvPr id="68" name="bld7_774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floral-camphoraceous, close to natural linalool. Top-heart, medium — gentler than most true woods.</a:t>
            </a:r>
            <a:endParaRPr lang="en-US" sz="1080" dirty="0"/>
          </a:p>
        </p:txBody>
      </p:sp>
      <p:sp>
        <p:nvSpPr>
          <p:cNvPr id="70" name="trans_fade_4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2" grpId="0"/>
      <p:bldP spid="23" grpId="0"/>
      <p:bldP spid="24" grpId="0"/>
      <p:bldP spid="35" grpId="0"/>
      <p:bldP spid="36" grpId="0"/>
      <p:bldP spid="37" grpId="0"/>
      <p:bldP spid="42" grpId="0"/>
      <p:bldP spid="43" grpId="0"/>
      <p:bldP spid="44" grpId="0"/>
      <p:bldP spid="50" grpId="0"/>
      <p:bldP spid="51" grpId="0"/>
      <p:bldP spid="52" grpId="0"/>
      <p:bldP spid="59" grpId="0"/>
      <p:bldP spid="60" grpId="0"/>
      <p:bldP spid="61" grpId="0"/>
      <p:bldP spid="67" grpId="0"/>
      <p:bldP spid="68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woods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1005612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9" name="Shape 7"/>
          <p:cNvSpPr/>
          <p:nvPr/>
        </p:nvSpPr>
        <p:spPr>
          <a:xfrm>
            <a:off x="1384802" y="2135410"/>
            <a:ext cx="758380" cy="75838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72986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1" name="Shape 9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2" name="bld1_776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</a:t>
            </a:r>
            <a:endParaRPr lang="en-US" sz="1800" dirty="0"/>
          </a:p>
        </p:txBody>
      </p:sp>
      <p:sp>
        <p:nvSpPr>
          <p:cNvPr id="13" name="bld1_777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778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milky, soft woody-sweet</a:t>
            </a:r>
            <a:endParaRPr lang="en-US" sz="1100" dirty="0"/>
          </a:p>
        </p:txBody>
      </p:sp>
      <p:sp>
        <p:nvSpPr>
          <p:cNvPr id="15" name="bld1_779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780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Smoothness, comfort</a:t>
            </a:r>
            <a:endParaRPr lang="en-US" sz="1100" dirty="0"/>
          </a:p>
        </p:txBody>
      </p:sp>
      <p:sp>
        <p:nvSpPr>
          <p:cNvPr id="17" name="bld1_781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782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intimate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027852" y="1801723"/>
            <a:ext cx="333687" cy="333687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3622187" y="1968567"/>
            <a:ext cx="572509" cy="84877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765079" y="1968567"/>
            <a:ext cx="429617" cy="1028712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993500" y="1968567"/>
            <a:ext cx="201196" cy="100384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94696" y="1968567"/>
            <a:ext cx="9144" cy="1114818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94696" y="1968567"/>
            <a:ext cx="201196" cy="100384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94696" y="1968567"/>
            <a:ext cx="429617" cy="1028712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94696" y="1968567"/>
            <a:ext cx="572509" cy="84877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29" name="bld2_784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Vetiver</a:t>
            </a:r>
            <a:endParaRPr lang="en-US" sz="1800" dirty="0"/>
          </a:p>
        </p:txBody>
      </p:sp>
      <p:sp>
        <p:nvSpPr>
          <p:cNvPr id="30" name="bld2_785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1" name="bld2_786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Earthy, smoky root</a:t>
            </a:r>
            <a:endParaRPr lang="en-US" sz="1100" dirty="0"/>
          </a:p>
        </p:txBody>
      </p:sp>
      <p:sp>
        <p:nvSpPr>
          <p:cNvPr id="32" name="bld2_787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3" name="bld2_788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Grounding, texture</a:t>
            </a:r>
            <a:endParaRPr lang="en-US" sz="1100" dirty="0"/>
          </a:p>
        </p:txBody>
      </p:sp>
      <p:sp>
        <p:nvSpPr>
          <p:cNvPr id="34" name="bld2_789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5" name="bld2_790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moderate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7" name="Shape 35"/>
          <p:cNvSpPr/>
          <p:nvPr/>
        </p:nvSpPr>
        <p:spPr>
          <a:xfrm rot="18900000">
            <a:off x="6155204" y="1832058"/>
            <a:ext cx="940391" cy="1365083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619913" y="2059572"/>
            <a:ext cx="914" cy="83421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40" name="bld3_792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</a:t>
            </a:r>
            <a:endParaRPr lang="en-US" sz="1800" dirty="0"/>
          </a:p>
        </p:txBody>
      </p:sp>
      <p:sp>
        <p:nvSpPr>
          <p:cNvPr id="41" name="bld3_793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2" name="bld3_794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Dark, earthy, slightly sweet</a:t>
            </a:r>
            <a:endParaRPr lang="en-US" sz="1100" dirty="0"/>
          </a:p>
        </p:txBody>
      </p:sp>
      <p:sp>
        <p:nvSpPr>
          <p:cNvPr id="43" name="bld3_795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4" name="bld3_796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and grip</a:t>
            </a:r>
            <a:endParaRPr lang="en-US" sz="1100" dirty="0"/>
          </a:p>
        </p:txBody>
      </p:sp>
      <p:sp>
        <p:nvSpPr>
          <p:cNvPr id="45" name="bld3_797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6" name="bld3_798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extremely long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8" name="Shape 46"/>
          <p:cNvSpPr/>
          <p:nvPr/>
        </p:nvSpPr>
        <p:spPr>
          <a:xfrm>
            <a:off x="8297724" y="1756220"/>
            <a:ext cx="1516759" cy="151675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550517" y="2009014"/>
            <a:ext cx="1011173" cy="1011173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0" name="Shape 48"/>
          <p:cNvSpPr/>
          <p:nvPr/>
        </p:nvSpPr>
        <p:spPr>
          <a:xfrm>
            <a:off x="8803310" y="2261807"/>
            <a:ext cx="505586" cy="50558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65098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2" name="Shape 50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3" name="bld4_800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800" dirty="0"/>
          </a:p>
        </p:txBody>
      </p:sp>
      <p:sp>
        <p:nvSpPr>
          <p:cNvPr id="54" name="bld4_801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5" name="bld4_802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pencil-shaving woodiness</a:t>
            </a:r>
            <a:endParaRPr lang="en-US" sz="1100" dirty="0"/>
          </a:p>
        </p:txBody>
      </p:sp>
      <p:sp>
        <p:nvSpPr>
          <p:cNvPr id="56" name="bld4_803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7" name="bld4_804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Softness, structure</a:t>
            </a:r>
            <a:endParaRPr lang="en-US" sz="1100" dirty="0"/>
          </a:p>
        </p:txBody>
      </p:sp>
      <p:sp>
        <p:nvSpPr>
          <p:cNvPr id="58" name="bld4_805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9" name="bld4_806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quiet</a:t>
            </a:r>
            <a:endParaRPr lang="en-US" sz="1100" dirty="0"/>
          </a:p>
        </p:txBody>
      </p:sp>
      <p:sp>
        <p:nvSpPr>
          <p:cNvPr id="61" name="trans_fade_4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2" name="Text 5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53" grpId="0"/>
      <p:bldP spid="54" grpId="0"/>
      <p:bldP spid="55" grpId="0"/>
      <p:bldP spid="56" grpId="0"/>
      <p:bldP spid="57" grpId="0"/>
      <p:bldP spid="58" grpId="0"/>
      <p:bldP spid="5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4 OF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Resins &amp; Ambers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EB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RESINS &amp; AMBERS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0" name="Shape 8"/>
          <p:cNvSpPr/>
          <p:nvPr/>
        </p:nvSpPr>
        <p:spPr>
          <a:xfrm rot="9000000">
            <a:off x="1471595" y="3769265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6000000">
            <a:off x="1332090" y="3704878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1400000">
            <a:off x="1772068" y="3640491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4" name="bld1_808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Labdanum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6" name="Shape 14"/>
          <p:cNvSpPr/>
          <p:nvPr/>
        </p:nvSpPr>
        <p:spPr>
          <a:xfrm rot="9000000">
            <a:off x="3174028" y="4001869"/>
            <a:ext cx="715107" cy="715107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6000000">
            <a:off x="3013746" y="3927892"/>
            <a:ext cx="443859" cy="44385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1400000">
            <a:off x="3519252" y="3853915"/>
            <a:ext cx="369883" cy="369883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0" name="bld2_810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Benzoin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2" name="Shape 20"/>
          <p:cNvSpPr/>
          <p:nvPr/>
        </p:nvSpPr>
        <p:spPr>
          <a:xfrm rot="9000000">
            <a:off x="4956374" y="3769265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6000000">
            <a:off x="4816869" y="3704878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1400000">
            <a:off x="5256846" y="3640491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6" name="bld3_812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Frankincense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 rot="9000000">
            <a:off x="6698763" y="4038629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6000000">
            <a:off x="6559258" y="3974242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1400000">
            <a:off x="6999236" y="3909855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2" name="bld4_814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Myrrh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4" name="Shape 32"/>
          <p:cNvSpPr/>
          <p:nvPr/>
        </p:nvSpPr>
        <p:spPr>
          <a:xfrm rot="9000000">
            <a:off x="8401196" y="3732505"/>
            <a:ext cx="715107" cy="715107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6000000">
            <a:off x="8240913" y="3658528"/>
            <a:ext cx="443859" cy="44385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1400000">
            <a:off x="8746420" y="3584552"/>
            <a:ext cx="369883" cy="369883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8" name="bld5_816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Opoponax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0" name="Shape 38"/>
          <p:cNvSpPr/>
          <p:nvPr/>
        </p:nvSpPr>
        <p:spPr>
          <a:xfrm rot="9000000">
            <a:off x="10183541" y="4038629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6000000">
            <a:off x="10044036" y="3974242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1400000">
            <a:off x="10484014" y="3909855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4" name="bld6_818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Peru Balsam</a:t>
            </a:r>
            <a:endParaRPr lang="en-US" sz="1350" dirty="0"/>
          </a:p>
        </p:txBody>
      </p:sp>
      <p:sp>
        <p:nvSpPr>
          <p:cNvPr id="46" name="trans_fade_4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7" name="Text 4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0" grpId="0"/>
      <p:bldP spid="26" grpId="0"/>
      <p:bldP spid="32" grpId="0"/>
      <p:bldP spid="38" grpId="0"/>
      <p:bldP spid="44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RESINS &amp; AMBERS,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Warm, sticky, and thousands of years old</a:t>
            </a:r>
            <a:endParaRPr lang="en-US" sz="3200" dirty="0"/>
          </a:p>
        </p:txBody>
      </p:sp>
      <p:sp>
        <p:nvSpPr>
          <p:cNvPr id="7" name="bld1_819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9" name="Shape 7"/>
          <p:cNvSpPr/>
          <p:nvPr/>
        </p:nvSpPr>
        <p:spPr>
          <a:xfrm rot="9000000">
            <a:off x="1718180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6000000">
            <a:off x="1655131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1400000">
            <a:off x="1853980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3" name="bld1_821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Labdanum</a:t>
            </a:r>
            <a:endParaRPr lang="en-US" sz="1450" dirty="0"/>
          </a:p>
        </p:txBody>
      </p:sp>
      <p:sp>
        <p:nvSpPr>
          <p:cNvPr id="14" name="bld1_822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Amber-resinous, leathery, honeyed. Base note, very long, richly diffusive — the backbone of most amber accords.</a:t>
            </a:r>
            <a:endParaRPr lang="en-US" sz="1080" dirty="0"/>
          </a:p>
        </p:txBody>
      </p:sp>
      <p:sp>
        <p:nvSpPr>
          <p:cNvPr id="15" name="bld2_823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7" name="Shape 15"/>
          <p:cNvSpPr/>
          <p:nvPr/>
        </p:nvSpPr>
        <p:spPr>
          <a:xfrm rot="9000000">
            <a:off x="4555792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6000000">
            <a:off x="4492743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1400000">
            <a:off x="4691592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1" name="bld2_825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Benzoin</a:t>
            </a:r>
            <a:endParaRPr lang="en-US" sz="1450" dirty="0"/>
          </a:p>
        </p:txBody>
      </p:sp>
      <p:sp>
        <p:nvSpPr>
          <p:cNvPr id="22" name="bld2_826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vanilla-like, balsamic. Base note, long, warm and softly diffusive — a natural sweetener and fixative.</a:t>
            </a:r>
            <a:endParaRPr lang="en-US" sz="1080" dirty="0"/>
          </a:p>
        </p:txBody>
      </p:sp>
      <p:sp>
        <p:nvSpPr>
          <p:cNvPr id="23" name="bld3_827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5" name="Shape 23"/>
          <p:cNvSpPr/>
          <p:nvPr/>
        </p:nvSpPr>
        <p:spPr>
          <a:xfrm rot="9000000">
            <a:off x="7393404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6000000">
            <a:off x="7330354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1400000">
            <a:off x="7529203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9" name="bld3_829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Peru Balsam</a:t>
            </a:r>
            <a:endParaRPr lang="en-US" sz="1450" dirty="0"/>
          </a:p>
        </p:txBody>
      </p:sp>
      <p:sp>
        <p:nvSpPr>
          <p:cNvPr id="30" name="bld3_830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cinnamon-vanilla, slightly spicy. Base note, long — closer to gourmand than most resins.</a:t>
            </a:r>
            <a:endParaRPr lang="en-US" sz="1080" dirty="0"/>
          </a:p>
        </p:txBody>
      </p:sp>
      <p:sp>
        <p:nvSpPr>
          <p:cNvPr id="31" name="bld4_831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3" name="Shape 31"/>
          <p:cNvSpPr/>
          <p:nvPr/>
        </p:nvSpPr>
        <p:spPr>
          <a:xfrm rot="9000000">
            <a:off x="10231016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6000000">
            <a:off x="10167966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1400000">
            <a:off x="10366815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37" name="bld4_833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Tolu Balsam</a:t>
            </a:r>
            <a:endParaRPr lang="en-US" sz="1450" dirty="0"/>
          </a:p>
        </p:txBody>
      </p:sp>
      <p:sp>
        <p:nvSpPr>
          <p:cNvPr id="38" name="bld4_834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floral-balsamic, softer than Peru balsam. Base note, long, gentle sweetness and fixation.</a:t>
            </a:r>
            <a:endParaRPr lang="en-US" sz="1080" dirty="0"/>
          </a:p>
        </p:txBody>
      </p:sp>
      <p:sp>
        <p:nvSpPr>
          <p:cNvPr id="39" name="bld5_835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1" name="Shape 39"/>
          <p:cNvSpPr/>
          <p:nvPr/>
        </p:nvSpPr>
        <p:spPr>
          <a:xfrm rot="9000000">
            <a:off x="1718180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6000000">
            <a:off x="1655131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1400000">
            <a:off x="1853980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45" name="bld5_837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Frankincense</a:t>
            </a:r>
            <a:endParaRPr lang="en-US" sz="1450" dirty="0"/>
          </a:p>
        </p:txBody>
      </p:sp>
      <p:sp>
        <p:nvSpPr>
          <p:cNvPr id="46" name="bld5_838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Resinous, citrusy-piney, faintly smoky. Base-heart, long — cooler and fresher than most resins.</a:t>
            </a:r>
            <a:endParaRPr lang="en-US" sz="1080" dirty="0"/>
          </a:p>
        </p:txBody>
      </p:sp>
      <p:sp>
        <p:nvSpPr>
          <p:cNvPr id="47" name="bld6_839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9" name="Shape 47"/>
          <p:cNvSpPr/>
          <p:nvPr/>
        </p:nvSpPr>
        <p:spPr>
          <a:xfrm rot="9000000">
            <a:off x="4555792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000000">
            <a:off x="4492743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1400000">
            <a:off x="4691592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53" name="bld6_841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Myrrh</a:t>
            </a:r>
            <a:endParaRPr lang="en-US" sz="1450" dirty="0"/>
          </a:p>
        </p:txBody>
      </p:sp>
      <p:sp>
        <p:nvSpPr>
          <p:cNvPr id="54" name="bld6_842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Bitter, medicinal, dark-resinous. Base note, very long, low diffusion — an intimate, brooding depth note.</a:t>
            </a:r>
            <a:endParaRPr lang="en-US" sz="1080" dirty="0"/>
          </a:p>
        </p:txBody>
      </p:sp>
      <p:sp>
        <p:nvSpPr>
          <p:cNvPr id="55" name="bld7_843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7" name="Shape 55"/>
          <p:cNvSpPr/>
          <p:nvPr/>
        </p:nvSpPr>
        <p:spPr>
          <a:xfrm rot="9000000">
            <a:off x="7393404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6000000">
            <a:off x="7330354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11400000">
            <a:off x="7529203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1" name="bld7_845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Opoponax</a:t>
            </a:r>
            <a:endParaRPr lang="en-US" sz="1450" dirty="0"/>
          </a:p>
        </p:txBody>
      </p:sp>
      <p:sp>
        <p:nvSpPr>
          <p:cNvPr id="62" name="bld7_846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myrrh — softer, more balsamic and honeyed than true myrrh. Base note, long, warm.</a:t>
            </a:r>
            <a:endParaRPr lang="en-US" sz="1080" dirty="0"/>
          </a:p>
        </p:txBody>
      </p:sp>
      <p:sp>
        <p:nvSpPr>
          <p:cNvPr id="64" name="trans_fade_4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5" name="Text 6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1" grpId="0"/>
      <p:bldP spid="22" grpId="0"/>
      <p:bldP spid="23" grpId="0"/>
      <p:bldP spid="29" grpId="0"/>
      <p:bldP spid="30" grpId="0"/>
      <p:bldP spid="31" grpId="0"/>
      <p:bldP spid="37" grpId="0"/>
      <p:bldP spid="38" grpId="0"/>
      <p:bldP spid="39" grpId="0"/>
      <p:bldP spid="45" grpId="0"/>
      <p:bldP spid="46" grpId="0"/>
      <p:bldP spid="47" grpId="0"/>
      <p:bldP spid="53" grpId="0"/>
      <p:bldP spid="54" grpId="0"/>
      <p:bldP spid="55" grpId="0"/>
      <p:bldP spid="61" grpId="0"/>
      <p:bldP spid="6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resins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8" name="Shape 6"/>
          <p:cNvSpPr/>
          <p:nvPr/>
        </p:nvSpPr>
        <p:spPr>
          <a:xfrm rot="9000000">
            <a:off x="1835201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6000000">
            <a:off x="1621944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1400000">
            <a:off x="2294522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2" name="bld1_848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Labdanum</a:t>
            </a:r>
            <a:endParaRPr lang="en-US" sz="1800" dirty="0"/>
          </a:p>
        </p:txBody>
      </p:sp>
      <p:sp>
        <p:nvSpPr>
          <p:cNvPr id="13" name="bld1_849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850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Amber-resinous, leathery, honeyed</a:t>
            </a:r>
            <a:endParaRPr lang="en-US" sz="1100" dirty="0"/>
          </a:p>
        </p:txBody>
      </p:sp>
      <p:sp>
        <p:nvSpPr>
          <p:cNvPr id="15" name="bld1_851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852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fixation</a:t>
            </a:r>
            <a:endParaRPr lang="en-US" sz="1100" dirty="0"/>
          </a:p>
        </p:txBody>
      </p:sp>
      <p:sp>
        <p:nvSpPr>
          <p:cNvPr id="17" name="bld1_853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854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diffusive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0" name="Shape 18"/>
          <p:cNvSpPr/>
          <p:nvPr/>
        </p:nvSpPr>
        <p:spPr>
          <a:xfrm rot="9000000">
            <a:off x="5228539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6000000">
            <a:off x="5015283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1400000">
            <a:off x="5687861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4" name="bld2_856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Benzoin</a:t>
            </a:r>
            <a:endParaRPr lang="en-US" sz="1800" dirty="0"/>
          </a:p>
        </p:txBody>
      </p:sp>
      <p:sp>
        <p:nvSpPr>
          <p:cNvPr id="25" name="bld2_857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6" name="bld2_858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vanilla-balsamic</a:t>
            </a:r>
            <a:endParaRPr lang="en-US" sz="1100" dirty="0"/>
          </a:p>
        </p:txBody>
      </p:sp>
      <p:sp>
        <p:nvSpPr>
          <p:cNvPr id="27" name="bld2_859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8" name="bld2_860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Softness and sweetness</a:t>
            </a:r>
            <a:endParaRPr lang="en-US" sz="1100" dirty="0"/>
          </a:p>
        </p:txBody>
      </p:sp>
      <p:sp>
        <p:nvSpPr>
          <p:cNvPr id="29" name="bld2_861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0" name="bld2_862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gentle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8621878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8408621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9081199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36" name="bld3_864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Frankincense</a:t>
            </a:r>
            <a:endParaRPr lang="en-US" sz="1800" dirty="0"/>
          </a:p>
        </p:txBody>
      </p:sp>
      <p:sp>
        <p:nvSpPr>
          <p:cNvPr id="37" name="bld3_865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8" name="bld3_866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Resinous, citrusy-piney, smoky</a:t>
            </a:r>
            <a:endParaRPr lang="en-US" sz="1100" dirty="0"/>
          </a:p>
        </p:txBody>
      </p:sp>
      <p:sp>
        <p:nvSpPr>
          <p:cNvPr id="39" name="bld3_867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0" name="bld3_868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Coolness within warmth</a:t>
            </a:r>
            <a:endParaRPr lang="en-US" sz="1100" dirty="0"/>
          </a:p>
        </p:txBody>
      </p:sp>
      <p:sp>
        <p:nvSpPr>
          <p:cNvPr id="41" name="bld3_869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2" name="bld3_870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Base-heart · long</a:t>
            </a:r>
            <a:endParaRPr lang="en-US" sz="1100" dirty="0"/>
          </a:p>
        </p:txBody>
      </p:sp>
      <p:sp>
        <p:nvSpPr>
          <p:cNvPr id="44" name="trans_fade_5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5 OF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Spices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9DFC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B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0" name="Shape 8"/>
          <p:cNvSpPr/>
          <p:nvPr/>
        </p:nvSpPr>
        <p:spPr>
          <a:xfrm rot="9000000">
            <a:off x="1471595" y="3769265"/>
            <a:ext cx="622408" cy="622408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6000000">
            <a:off x="1332090" y="3704878"/>
            <a:ext cx="386322" cy="386322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1400000">
            <a:off x="1772068" y="3640491"/>
            <a:ext cx="321935" cy="321935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14" name="bld1_872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2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Black Pepper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6" name="Shape 14"/>
          <p:cNvSpPr/>
          <p:nvPr/>
        </p:nvSpPr>
        <p:spPr>
          <a:xfrm rot="9000000">
            <a:off x="3174028" y="4001869"/>
            <a:ext cx="715107" cy="715107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6000000">
            <a:off x="3013746" y="3927892"/>
            <a:ext cx="443859" cy="44385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1400000">
            <a:off x="3519252" y="3853915"/>
            <a:ext cx="369883" cy="369883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20" name="bld2_874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2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Cardamom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2" name="Shape 20"/>
          <p:cNvSpPr/>
          <p:nvPr/>
        </p:nvSpPr>
        <p:spPr>
          <a:xfrm rot="9000000">
            <a:off x="4956374" y="3769265"/>
            <a:ext cx="622408" cy="622408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6000000">
            <a:off x="4816869" y="3704878"/>
            <a:ext cx="386322" cy="386322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1400000">
            <a:off x="5256846" y="3640491"/>
            <a:ext cx="321935" cy="321935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26" name="bld3_876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2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Clove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8" name="Shape 26"/>
          <p:cNvSpPr/>
          <p:nvPr/>
        </p:nvSpPr>
        <p:spPr>
          <a:xfrm rot="9000000">
            <a:off x="6698763" y="4038629"/>
            <a:ext cx="622408" cy="622408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6000000">
            <a:off x="6559258" y="3974242"/>
            <a:ext cx="386322" cy="386322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1400000">
            <a:off x="6999236" y="3909855"/>
            <a:ext cx="321935" cy="321935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32" name="bld4_878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2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Cinnamon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34" name="Shape 32"/>
          <p:cNvSpPr/>
          <p:nvPr/>
        </p:nvSpPr>
        <p:spPr>
          <a:xfrm>
            <a:off x="8573808" y="3436598"/>
            <a:ext cx="271247" cy="271247"/>
          </a:xfrm>
          <a:prstGeom prst="ellipse">
            <a:avLst/>
          </a:prstGeom>
          <a:solidFill>
            <a:srgbClr val="A6402A">
              <a:alpha val="96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flipV="1">
            <a:off x="8244051" y="3572222"/>
            <a:ext cx="465381" cy="689955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8360205" y="3572222"/>
            <a:ext cx="349227" cy="836219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8545883" y="3572222"/>
            <a:ext cx="163548" cy="816008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09431" y="3572222"/>
            <a:ext cx="9144" cy="906213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09431" y="3572222"/>
            <a:ext cx="163548" cy="816008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709431" y="3572222"/>
            <a:ext cx="349227" cy="836219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709431" y="3572222"/>
            <a:ext cx="465381" cy="689955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43" name="bld5_880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2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Ginger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45" name="Shape 43"/>
          <p:cNvSpPr/>
          <p:nvPr/>
        </p:nvSpPr>
        <p:spPr>
          <a:xfrm rot="9000000">
            <a:off x="10183541" y="4038629"/>
            <a:ext cx="622408" cy="622408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6000000">
            <a:off x="10044036" y="3974242"/>
            <a:ext cx="386322" cy="386322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1400000">
            <a:off x="10484014" y="3909855"/>
            <a:ext cx="321935" cy="321935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49" name="bld6_882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2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Saffron</a:t>
            </a:r>
            <a:endParaRPr lang="en-US" sz="1350" dirty="0"/>
          </a:p>
        </p:txBody>
      </p:sp>
      <p:sp>
        <p:nvSpPr>
          <p:cNvPr id="51" name="trans_fade_5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2" name="Text 4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0" grpId="0"/>
      <p:bldP spid="26" grpId="0"/>
      <p:bldP spid="32" grpId="0"/>
      <p:bldP spid="43" grpId="0"/>
      <p:bldP spid="49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SPICES,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doses, enormous impact</a:t>
            </a:r>
            <a:endParaRPr lang="en-US" sz="3200" dirty="0"/>
          </a:p>
        </p:txBody>
      </p:sp>
      <p:sp>
        <p:nvSpPr>
          <p:cNvPr id="7" name="bld1_883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" name="Shape 7"/>
          <p:cNvSpPr/>
          <p:nvPr/>
        </p:nvSpPr>
        <p:spPr>
          <a:xfrm rot="9000000">
            <a:off x="1718180" y="2108979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6000000">
            <a:off x="1655131" y="2079880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1400000">
            <a:off x="1853980" y="2050780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13" name="bld1_885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Black Pepper</a:t>
            </a:r>
            <a:endParaRPr lang="en-US" sz="1450" dirty="0"/>
          </a:p>
        </p:txBody>
      </p:sp>
      <p:sp>
        <p:nvSpPr>
          <p:cNvPr id="14" name="bld1_886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dry, slightly woody-green. Top note, short — adds a piquant sparkle right at the opening.</a:t>
            </a:r>
            <a:endParaRPr lang="en-US" sz="1080" dirty="0"/>
          </a:p>
        </p:txBody>
      </p:sp>
      <p:sp>
        <p:nvSpPr>
          <p:cNvPr id="15" name="bld2_887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7" name="Shape 15"/>
          <p:cNvSpPr/>
          <p:nvPr/>
        </p:nvSpPr>
        <p:spPr>
          <a:xfrm rot="9000000">
            <a:off x="4555792" y="2108979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6000000">
            <a:off x="4492743" y="2079880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1400000">
            <a:off x="4691592" y="2050780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E07A46"/>
            </a:solidFill>
            <a:prstDash val="solid"/>
          </a:ln>
        </p:spPr>
      </p:sp>
      <p:sp>
        <p:nvSpPr>
          <p:cNvPr id="21" name="bld2_889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Cardamom</a:t>
            </a:r>
            <a:endParaRPr lang="en-US" sz="1450" dirty="0"/>
          </a:p>
        </p:txBody>
      </p:sp>
      <p:sp>
        <p:nvSpPr>
          <p:cNvPr id="22" name="bld2_890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eucalyptus-like, faintly citrus. Top note, medium — a cooling, aromatic spice unlike most others.</a:t>
            </a:r>
            <a:endParaRPr lang="en-US" sz="1080" dirty="0"/>
          </a:p>
        </p:txBody>
      </p:sp>
      <p:sp>
        <p:nvSpPr>
          <p:cNvPr id="23" name="bld3_891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5" name="Shape 23"/>
          <p:cNvSpPr/>
          <p:nvPr/>
        </p:nvSpPr>
        <p:spPr>
          <a:xfrm rot="9000000">
            <a:off x="7393404" y="2108979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6000000">
            <a:off x="7330354" y="2079880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1400000">
            <a:off x="7529203" y="2050780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6B2A1A"/>
            </a:solidFill>
            <a:prstDash val="solid"/>
          </a:ln>
        </p:spPr>
      </p:sp>
      <p:sp>
        <p:nvSpPr>
          <p:cNvPr id="29" name="bld3_893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Clove</a:t>
            </a:r>
            <a:endParaRPr lang="en-US" sz="1450" dirty="0"/>
          </a:p>
        </p:txBody>
      </p:sp>
      <p:sp>
        <p:nvSpPr>
          <p:cNvPr id="30" name="bld3_894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medicinal, sharply spicy. Top-heart, medium-long, very potent — overdoses instantly.</a:t>
            </a:r>
            <a:endParaRPr lang="en-US" sz="1080" dirty="0"/>
          </a:p>
        </p:txBody>
      </p:sp>
      <p:sp>
        <p:nvSpPr>
          <p:cNvPr id="31" name="bld4_895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33" name="Shape 31"/>
          <p:cNvSpPr/>
          <p:nvPr/>
        </p:nvSpPr>
        <p:spPr>
          <a:xfrm rot="9000000">
            <a:off x="10231016" y="2108979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6000000">
            <a:off x="10167966" y="2079880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1400000">
            <a:off x="10366815" y="2050780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E07A46"/>
            </a:solidFill>
            <a:prstDash val="solid"/>
          </a:ln>
        </p:spPr>
      </p:sp>
      <p:sp>
        <p:nvSpPr>
          <p:cNvPr id="37" name="bld4_897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Nutmeg</a:t>
            </a:r>
            <a:endParaRPr lang="en-US" sz="1450" dirty="0"/>
          </a:p>
        </p:txBody>
      </p:sp>
      <p:sp>
        <p:nvSpPr>
          <p:cNvPr id="38" name="bld4_898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woody-spicy, faintly sweet. Top-heart, medium — pairs naturally with gourmand accords.</a:t>
            </a:r>
            <a:endParaRPr lang="en-US" sz="1080" dirty="0"/>
          </a:p>
        </p:txBody>
      </p:sp>
      <p:sp>
        <p:nvSpPr>
          <p:cNvPr id="39" name="bld5_899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41" name="Shape 39"/>
          <p:cNvSpPr/>
          <p:nvPr/>
        </p:nvSpPr>
        <p:spPr>
          <a:xfrm rot="9000000">
            <a:off x="1718180" y="4468131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6000000">
            <a:off x="1655131" y="4439032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1400000">
            <a:off x="1853980" y="4409932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6B2A1A"/>
            </a:solidFill>
            <a:prstDash val="solid"/>
          </a:ln>
        </p:spPr>
      </p:sp>
      <p:sp>
        <p:nvSpPr>
          <p:cNvPr id="45" name="bld5_901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Cinnamon</a:t>
            </a:r>
            <a:endParaRPr lang="en-US" sz="1450" dirty="0"/>
          </a:p>
        </p:txBody>
      </p:sp>
      <p:sp>
        <p:nvSpPr>
          <p:cNvPr id="46" name="bld5_902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Hot, sweet-spicy, bark-like intensity. Heart note, medium-long — dominant, used sparingly.</a:t>
            </a:r>
            <a:endParaRPr lang="en-US" sz="1080" dirty="0"/>
          </a:p>
        </p:txBody>
      </p:sp>
      <p:sp>
        <p:nvSpPr>
          <p:cNvPr id="47" name="bld6_903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3692" y="4351732"/>
            <a:ext cx="106700" cy="106700"/>
          </a:xfrm>
          <a:prstGeom prst="ellipse">
            <a:avLst/>
          </a:prstGeom>
          <a:solidFill>
            <a:srgbClr val="A6402A">
              <a:alpha val="96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flipV="1">
            <a:off x="4493977" y="4405082"/>
            <a:ext cx="183065" cy="271405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4539668" y="4405082"/>
            <a:ext cx="137374" cy="328940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4612707" y="4405082"/>
            <a:ext cx="64334" cy="320990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677042" y="4405082"/>
            <a:ext cx="9144" cy="356473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677042" y="4405082"/>
            <a:ext cx="64334" cy="320990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677042" y="4405082"/>
            <a:ext cx="137374" cy="328940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677042" y="4405082"/>
            <a:ext cx="183065" cy="271405"/>
          </a:xfrm>
          <a:prstGeom prst="line">
            <a:avLst/>
          </a:prstGeom>
          <a:noFill/>
          <a:ln w="22225">
            <a:solidFill>
              <a:srgbClr val="A6402A">
                <a:alpha val="90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58" name="bld6_905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Ginger</a:t>
            </a:r>
            <a:endParaRPr lang="en-US" sz="1450" dirty="0"/>
          </a:p>
        </p:txBody>
      </p:sp>
      <p:sp>
        <p:nvSpPr>
          <p:cNvPr id="59" name="bld6_906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sharp, faintly citrus-spicy. Top note, short-medium — a lively, unexpected lift.</a:t>
            </a:r>
            <a:endParaRPr lang="en-US" sz="1080" dirty="0"/>
          </a:p>
        </p:txBody>
      </p:sp>
      <p:sp>
        <p:nvSpPr>
          <p:cNvPr id="60" name="bld7_907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62" name="Shape 60"/>
          <p:cNvSpPr/>
          <p:nvPr/>
        </p:nvSpPr>
        <p:spPr>
          <a:xfrm rot="9000000">
            <a:off x="7393404" y="4468131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6000000">
            <a:off x="7330354" y="4439032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11400000">
            <a:off x="7529203" y="4409932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6B2A1A"/>
            </a:solidFill>
            <a:prstDash val="solid"/>
          </a:ln>
        </p:spPr>
      </p:sp>
      <p:sp>
        <p:nvSpPr>
          <p:cNvPr id="66" name="bld7_909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Saffron-style effects</a:t>
            </a:r>
            <a:endParaRPr lang="en-US" sz="1450" dirty="0"/>
          </a:p>
        </p:txBody>
      </p:sp>
      <p:sp>
        <p:nvSpPr>
          <p:cNvPr id="67" name="bld7_910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Leathery, hay-like, faintly medicinal. Heart note, medium — rare, expensive, distinctive.</a:t>
            </a:r>
            <a:endParaRPr lang="en-US" sz="1080" dirty="0"/>
          </a:p>
        </p:txBody>
      </p:sp>
      <p:sp>
        <p:nvSpPr>
          <p:cNvPr id="69" name="trans_fade_5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1" grpId="0"/>
      <p:bldP spid="22" grpId="0"/>
      <p:bldP spid="23" grpId="0"/>
      <p:bldP spid="29" grpId="0"/>
      <p:bldP spid="30" grpId="0"/>
      <p:bldP spid="31" grpId="0"/>
      <p:bldP spid="37" grpId="0"/>
      <p:bldP spid="38" grpId="0"/>
      <p:bldP spid="39" grpId="0"/>
      <p:bldP spid="45" grpId="0"/>
      <p:bldP spid="46" grpId="0"/>
      <p:bldP spid="47" grpId="0"/>
      <p:bldP spid="58" grpId="0"/>
      <p:bldP spid="59" grpId="0"/>
      <p:bldP spid="60" grpId="0"/>
      <p:bldP spid="66" grpId="0"/>
      <p:bldP spid="67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spices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8" name="Shape 6"/>
          <p:cNvSpPr/>
          <p:nvPr/>
        </p:nvSpPr>
        <p:spPr>
          <a:xfrm rot="9000000">
            <a:off x="1835201" y="2137300"/>
            <a:ext cx="951451" cy="951451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6000000">
            <a:off x="1621944" y="2038874"/>
            <a:ext cx="590556" cy="590556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1400000">
            <a:off x="2294522" y="1940448"/>
            <a:ext cx="492130" cy="492130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12" name="bld1_912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Black Pepper</a:t>
            </a:r>
            <a:endParaRPr lang="en-US" sz="1800" dirty="0"/>
          </a:p>
        </p:txBody>
      </p:sp>
      <p:sp>
        <p:nvSpPr>
          <p:cNvPr id="13" name="bld1_913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6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914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dry, slightly green</a:t>
            </a:r>
            <a:endParaRPr lang="en-US" sz="1100" dirty="0"/>
          </a:p>
        </p:txBody>
      </p:sp>
      <p:sp>
        <p:nvSpPr>
          <p:cNvPr id="15" name="bld1_915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6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916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Piquant sparkle up top</a:t>
            </a:r>
            <a:endParaRPr lang="en-US" sz="1100" dirty="0"/>
          </a:p>
        </p:txBody>
      </p:sp>
      <p:sp>
        <p:nvSpPr>
          <p:cNvPr id="17" name="bld1_917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6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918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short · intimate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0" name="Shape 18"/>
          <p:cNvSpPr/>
          <p:nvPr/>
        </p:nvSpPr>
        <p:spPr>
          <a:xfrm rot="9000000">
            <a:off x="5228539" y="2137300"/>
            <a:ext cx="951451" cy="951451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6000000">
            <a:off x="5015283" y="2038874"/>
            <a:ext cx="590556" cy="590556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1400000">
            <a:off x="5687861" y="1940448"/>
            <a:ext cx="492130" cy="492130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E07A46"/>
            </a:solidFill>
            <a:prstDash val="solid"/>
          </a:ln>
        </p:spPr>
      </p:sp>
      <p:sp>
        <p:nvSpPr>
          <p:cNvPr id="24" name="bld2_920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Cardamom</a:t>
            </a:r>
            <a:endParaRPr lang="en-US" sz="1800" dirty="0"/>
          </a:p>
        </p:txBody>
      </p:sp>
      <p:sp>
        <p:nvSpPr>
          <p:cNvPr id="25" name="bld2_921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6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6" name="bld2_922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eucalyptus-like</a:t>
            </a:r>
            <a:endParaRPr lang="en-US" sz="1100" dirty="0"/>
          </a:p>
        </p:txBody>
      </p:sp>
      <p:sp>
        <p:nvSpPr>
          <p:cNvPr id="27" name="bld2_923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6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8" name="bld2_924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 aromatic lift</a:t>
            </a:r>
            <a:endParaRPr lang="en-US" sz="1100" dirty="0"/>
          </a:p>
        </p:txBody>
      </p:sp>
      <p:sp>
        <p:nvSpPr>
          <p:cNvPr id="29" name="bld2_925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6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0" name="bld2_926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 · diffusive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8621878" y="2137300"/>
            <a:ext cx="951451" cy="951451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8408621" y="2038874"/>
            <a:ext cx="590556" cy="590556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9081199" y="1940448"/>
            <a:ext cx="492130" cy="492130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6B2A1A"/>
            </a:solidFill>
            <a:prstDash val="solid"/>
          </a:ln>
        </p:spPr>
      </p:sp>
      <p:sp>
        <p:nvSpPr>
          <p:cNvPr id="36" name="bld3_928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Clove</a:t>
            </a:r>
            <a:endParaRPr lang="en-US" sz="1800" dirty="0"/>
          </a:p>
        </p:txBody>
      </p:sp>
      <p:sp>
        <p:nvSpPr>
          <p:cNvPr id="37" name="bld3_929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6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8" name="bld3_930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medicinal, potent</a:t>
            </a:r>
            <a:endParaRPr lang="en-US" sz="1100" dirty="0"/>
          </a:p>
        </p:txBody>
      </p:sp>
      <p:sp>
        <p:nvSpPr>
          <p:cNvPr id="39" name="bld3_931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6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0" name="bld3_932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Instant, unmistakable spice</a:t>
            </a:r>
            <a:endParaRPr lang="en-US" sz="1100" dirty="0"/>
          </a:p>
        </p:txBody>
      </p:sp>
      <p:sp>
        <p:nvSpPr>
          <p:cNvPr id="41" name="bld3_933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6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2" name="bld3_934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medium-long</a:t>
            </a:r>
            <a:endParaRPr lang="en-US" sz="1100" dirty="0"/>
          </a:p>
        </p:txBody>
      </p:sp>
      <p:sp>
        <p:nvSpPr>
          <p:cNvPr id="44" name="trans_fade_5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6 OF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Herbal &amp; Aromatic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EBF0E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E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 &amp; AROMATIC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10" name="Shape 8"/>
          <p:cNvSpPr/>
          <p:nvPr/>
        </p:nvSpPr>
        <p:spPr>
          <a:xfrm rot="15300000">
            <a:off x="1376565" y="3807296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3050000">
            <a:off x="1477176" y="3957870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0800000">
            <a:off x="1648660" y="4016081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8550000">
            <a:off x="1820144" y="3957870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300000">
            <a:off x="1920754" y="3807296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16" name="bld1_936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4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Rosemary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18" name="Shape 16"/>
          <p:cNvSpPr/>
          <p:nvPr/>
        </p:nvSpPr>
        <p:spPr>
          <a:xfrm>
            <a:off x="3389793" y="3877095"/>
            <a:ext cx="184941" cy="44385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2700000">
            <a:off x="3521613" y="3931696"/>
            <a:ext cx="184941" cy="44385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5400000">
            <a:off x="3576214" y="4063516"/>
            <a:ext cx="184941" cy="44385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8100000">
            <a:off x="3521613" y="4195335"/>
            <a:ext cx="184941" cy="44385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0800000">
            <a:off x="3389793" y="4249937"/>
            <a:ext cx="184941" cy="44385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3500000">
            <a:off x="3257974" y="4195335"/>
            <a:ext cx="184941" cy="44385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6200000">
            <a:off x="3203372" y="4063516"/>
            <a:ext cx="184941" cy="44385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8900000">
            <a:off x="3257974" y="3931696"/>
            <a:ext cx="184941" cy="44385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383628" y="4186810"/>
            <a:ext cx="197271" cy="197271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27" name="Shape 25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28" name="bld2_938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4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Clary Sage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30" name="Shape 28"/>
          <p:cNvSpPr/>
          <p:nvPr/>
        </p:nvSpPr>
        <p:spPr>
          <a:xfrm rot="15300000">
            <a:off x="4861343" y="3807296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3050000">
            <a:off x="4961954" y="3957870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0800000">
            <a:off x="5133438" y="4016081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8550000">
            <a:off x="5304922" y="3957870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6300000">
            <a:off x="5405533" y="3807296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36" name="bld3_940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4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Thyme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38" name="Shape 36"/>
          <p:cNvSpPr/>
          <p:nvPr/>
        </p:nvSpPr>
        <p:spPr>
          <a:xfrm rot="15300000">
            <a:off x="6603733" y="4076660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3050000">
            <a:off x="6704343" y="4227234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10800000">
            <a:off x="6875827" y="4285445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8550000">
            <a:off x="7047311" y="4227234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6300000">
            <a:off x="7147922" y="4076660"/>
            <a:ext cx="182430" cy="563386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44" name="bld4_942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4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Basil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46" name="Shape 44"/>
          <p:cNvSpPr/>
          <p:nvPr/>
        </p:nvSpPr>
        <p:spPr>
          <a:xfrm rot="15300000">
            <a:off x="8292012" y="3776200"/>
            <a:ext cx="209600" cy="647295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3050000">
            <a:off x="8407607" y="3949201"/>
            <a:ext cx="209600" cy="647295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0800000">
            <a:off x="8604631" y="4016081"/>
            <a:ext cx="209600" cy="647295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550000">
            <a:off x="8801655" y="3949201"/>
            <a:ext cx="209600" cy="647295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300000">
            <a:off x="8917251" y="3776200"/>
            <a:ext cx="209600" cy="647295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52" name="bld5_944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4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Eucalyptus</a:t>
            </a:r>
            <a:endParaRPr lang="en-US" sz="1350" dirty="0"/>
          </a:p>
        </p:txBody>
      </p:sp>
      <p:sp>
        <p:nvSpPr>
          <p:cNvPr id="53" name="Shape 51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54" name="Shape 52"/>
          <p:cNvSpPr/>
          <p:nvPr/>
        </p:nvSpPr>
        <p:spPr>
          <a:xfrm>
            <a:off x="10011843" y="3888392"/>
            <a:ext cx="879956" cy="879956"/>
          </a:xfrm>
          <a:prstGeom prst="ellipse">
            <a:avLst/>
          </a:prstGeom>
          <a:solidFill>
            <a:srgbClr val="5C8A45">
              <a:alpha val="96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0446334" y="3866930"/>
            <a:ext cx="914" cy="150236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rot="12000000">
            <a:off x="10470109" y="3824005"/>
            <a:ext cx="203892" cy="139505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58" name="bld6_946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4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Juniper Berry</a:t>
            </a:r>
            <a:endParaRPr lang="en-US" sz="1350" dirty="0"/>
          </a:p>
        </p:txBody>
      </p:sp>
      <p:sp>
        <p:nvSpPr>
          <p:cNvPr id="60" name="trans_fade_5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1" name="Text 5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28" grpId="0"/>
      <p:bldP spid="36" grpId="0"/>
      <p:bldP spid="44" grpId="0"/>
      <p:bldP spid="52" grpId="0"/>
      <p:bldP spid="58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HERBAL &amp; AROMATIC,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Herbal, medicinal, and immediately familiar</a:t>
            </a:r>
            <a:endParaRPr lang="en-US" sz="3200" dirty="0"/>
          </a:p>
        </p:txBody>
      </p:sp>
      <p:sp>
        <p:nvSpPr>
          <p:cNvPr id="7" name="bld1_947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9" name="Shape 7"/>
          <p:cNvSpPr/>
          <p:nvPr/>
        </p:nvSpPr>
        <p:spPr>
          <a:xfrm rot="15300000">
            <a:off x="1675231" y="2126168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3050000">
            <a:off x="1720703" y="2194220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0800000">
            <a:off x="1798205" y="2220529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550000">
            <a:off x="1875708" y="2194220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300000">
            <a:off x="1921179" y="2126168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15" name="bld1_949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Rosemary</a:t>
            </a:r>
            <a:endParaRPr lang="en-US" sz="1450" dirty="0"/>
          </a:p>
        </p:txBody>
      </p:sp>
      <p:sp>
        <p:nvSpPr>
          <p:cNvPr id="16" name="bld1_950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Camphoraceous, piney, sharp. Top note, medium — a classic fougère and cologne building block.</a:t>
            </a:r>
            <a:endParaRPr lang="en-US" sz="1080" dirty="0"/>
          </a:p>
        </p:txBody>
      </p:sp>
      <p:sp>
        <p:nvSpPr>
          <p:cNvPr id="17" name="bld2_951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19" name="Shape 17"/>
          <p:cNvSpPr/>
          <p:nvPr/>
        </p:nvSpPr>
        <p:spPr>
          <a:xfrm>
            <a:off x="4640667" y="205989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2700000">
            <a:off x="4692520" y="2081376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5400000">
            <a:off x="4713999" y="2133229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100000">
            <a:off x="4692520" y="218508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0800000">
            <a:off x="4640667" y="2206561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3500000">
            <a:off x="4588814" y="218508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6200000">
            <a:off x="4567335" y="2133229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8900000">
            <a:off x="4588814" y="2081376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638242" y="2181729"/>
            <a:ext cx="77600" cy="77600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28" name="Shape 26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9BAE84"/>
            </a:solidFill>
            <a:prstDash val="solid"/>
          </a:ln>
        </p:spPr>
      </p:sp>
      <p:sp>
        <p:nvSpPr>
          <p:cNvPr id="29" name="bld2_953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Clary Sage</a:t>
            </a:r>
            <a:endParaRPr lang="en-US" sz="1450" dirty="0"/>
          </a:p>
        </p:txBody>
      </p:sp>
      <p:sp>
        <p:nvSpPr>
          <p:cNvPr id="30" name="bld2_954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Herbal, faintly floral, tea-like, slightly musky. Top-heart, medium — softer than most aromatics.</a:t>
            </a:r>
            <a:endParaRPr lang="en-US" sz="1080" dirty="0"/>
          </a:p>
        </p:txBody>
      </p:sp>
      <p:sp>
        <p:nvSpPr>
          <p:cNvPr id="31" name="bld3_955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33" name="Shape 31"/>
          <p:cNvSpPr/>
          <p:nvPr/>
        </p:nvSpPr>
        <p:spPr>
          <a:xfrm rot="15300000">
            <a:off x="7350455" y="2126168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3050000">
            <a:off x="7395926" y="2194220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0800000">
            <a:off x="7473429" y="2220529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8550000">
            <a:off x="7550931" y="2194220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6300000">
            <a:off x="7596403" y="2126168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39" name="bld3_957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Thyme</a:t>
            </a:r>
            <a:endParaRPr lang="en-US" sz="1450" dirty="0"/>
          </a:p>
        </p:txBody>
      </p:sp>
      <p:sp>
        <p:nvSpPr>
          <p:cNvPr id="40" name="bld3_958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medicinal, green-herbal. Top note, medium — potent, used in small amounts.</a:t>
            </a:r>
            <a:endParaRPr lang="en-US" sz="1080" dirty="0"/>
          </a:p>
        </p:txBody>
      </p:sp>
      <p:sp>
        <p:nvSpPr>
          <p:cNvPr id="41" name="bld4_959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43" name="Shape 41"/>
          <p:cNvSpPr/>
          <p:nvPr/>
        </p:nvSpPr>
        <p:spPr>
          <a:xfrm rot="15300000">
            <a:off x="10188067" y="2126168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3050000">
            <a:off x="10233538" y="2194220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0800000">
            <a:off x="10311040" y="2220529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8550000">
            <a:off x="10388543" y="2194220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6300000">
            <a:off x="10434014" y="2126168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9" name="bld4_961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Basil</a:t>
            </a:r>
            <a:endParaRPr lang="en-US" sz="1450" dirty="0"/>
          </a:p>
        </p:txBody>
      </p:sp>
      <p:sp>
        <p:nvSpPr>
          <p:cNvPr id="50" name="bld4_962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anise-like, peppery-fresh. Top note, short-medium — bright and slightly sweet.</a:t>
            </a:r>
            <a:endParaRPr lang="en-US" sz="1080" dirty="0"/>
          </a:p>
        </p:txBody>
      </p:sp>
      <p:sp>
        <p:nvSpPr>
          <p:cNvPr id="51" name="bld5_963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53" name="Shape 51"/>
          <p:cNvSpPr/>
          <p:nvPr/>
        </p:nvSpPr>
        <p:spPr>
          <a:xfrm rot="15300000">
            <a:off x="1675231" y="4485320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3050000">
            <a:off x="1720703" y="4553372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0800000">
            <a:off x="1798205" y="4579681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8550000">
            <a:off x="1875708" y="4553372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6300000">
            <a:off x="1921179" y="4485320"/>
            <a:ext cx="82450" cy="254624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59" name="bld5_965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Eucalyptus</a:t>
            </a:r>
            <a:endParaRPr lang="en-US" sz="1450" dirty="0"/>
          </a:p>
        </p:txBody>
      </p:sp>
      <p:sp>
        <p:nvSpPr>
          <p:cNvPr id="60" name="bld5_966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Cooling, medicinal, camphoraceous. Top note, short — instantly recognisable, easily overdosed.</a:t>
            </a:r>
            <a:endParaRPr lang="en-US" sz="1080" dirty="0"/>
          </a:p>
        </p:txBody>
      </p:sp>
      <p:sp>
        <p:nvSpPr>
          <p:cNvPr id="61" name="bld6_967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63" name="Shape 61"/>
          <p:cNvSpPr/>
          <p:nvPr/>
        </p:nvSpPr>
        <p:spPr>
          <a:xfrm>
            <a:off x="4640667" y="441905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2700000">
            <a:off x="4692520" y="444052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5400000">
            <a:off x="4713999" y="4492381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8100000">
            <a:off x="4692520" y="4544235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0800000">
            <a:off x="4640667" y="456571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13500000">
            <a:off x="4588814" y="4544235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16200000">
            <a:off x="4567335" y="4492381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8900000">
            <a:off x="4588814" y="444052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4638242" y="4540881"/>
            <a:ext cx="77600" cy="77600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72" name="Shape 70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9BAE84"/>
            </a:solidFill>
            <a:prstDash val="solid"/>
          </a:ln>
        </p:spPr>
      </p:sp>
      <p:sp>
        <p:nvSpPr>
          <p:cNvPr id="73" name="bld6_969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Artemisia</a:t>
            </a:r>
            <a:endParaRPr lang="en-US" sz="1450" dirty="0"/>
          </a:p>
        </p:txBody>
      </p:sp>
      <p:sp>
        <p:nvSpPr>
          <p:cNvPr id="74" name="bld6_970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Bitter, herbal, faintly liquorice-like. Top-heart, medium — an unusual, characterful bitterness.</a:t>
            </a:r>
            <a:endParaRPr lang="en-US" sz="1080" dirty="0"/>
          </a:p>
        </p:txBody>
      </p:sp>
      <p:sp>
        <p:nvSpPr>
          <p:cNvPr id="75" name="bld7_971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77" name="Shape 75"/>
          <p:cNvSpPr/>
          <p:nvPr/>
        </p:nvSpPr>
        <p:spPr>
          <a:xfrm>
            <a:off x="7315804" y="4400232"/>
            <a:ext cx="397698" cy="397698"/>
          </a:xfrm>
          <a:prstGeom prst="ellipse">
            <a:avLst/>
          </a:prstGeom>
          <a:solidFill>
            <a:srgbClr val="5C8A45">
              <a:alpha val="96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7509167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rot="12000000">
            <a:off x="7532942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81" name="bld7_973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Juniper Berry</a:t>
            </a:r>
            <a:endParaRPr lang="en-US" sz="1450" dirty="0"/>
          </a:p>
        </p:txBody>
      </p:sp>
      <p:sp>
        <p:nvSpPr>
          <p:cNvPr id="82" name="bld7_974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Piney, fresh, faintly fruity-resinous. Top note, medium — the classic gin-adjacent aromatic.</a:t>
            </a:r>
            <a:endParaRPr lang="en-US" sz="1080" dirty="0"/>
          </a:p>
        </p:txBody>
      </p:sp>
      <p:sp>
        <p:nvSpPr>
          <p:cNvPr id="84" name="trans_fade_5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85" name="Text 8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5" grpId="0"/>
      <p:bldP spid="16" grpId="0"/>
      <p:bldP spid="17" grpId="0"/>
      <p:bldP spid="29" grpId="0"/>
      <p:bldP spid="30" grpId="0"/>
      <p:bldP spid="31" grpId="0"/>
      <p:bldP spid="39" grpId="0"/>
      <p:bldP spid="40" grpId="0"/>
      <p:bldP spid="41" grpId="0"/>
      <p:bldP spid="49" grpId="0"/>
      <p:bldP spid="50" grpId="0"/>
      <p:bldP spid="51" grpId="0"/>
      <p:bldP spid="59" grpId="0"/>
      <p:bldP spid="60" grpId="0"/>
      <p:bldP spid="61" grpId="0"/>
      <p:bldP spid="73" grpId="0"/>
      <p:bldP spid="74" grpId="0"/>
      <p:bldP spid="75" grpId="0"/>
      <p:bldP spid="81" grpId="0"/>
      <p:bldP spid="8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aromatics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8" name="Shape 6"/>
          <p:cNvSpPr/>
          <p:nvPr/>
        </p:nvSpPr>
        <p:spPr>
          <a:xfrm>
            <a:off x="2122277" y="1971288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700000">
            <a:off x="2297663" y="2043936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5400000">
            <a:off x="2370310" y="2219322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100000">
            <a:off x="2297663" y="2394708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0800000">
            <a:off x="2122277" y="2467356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3500000">
            <a:off x="1946890" y="2394708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6200000">
            <a:off x="1874243" y="2219322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8900000">
            <a:off x="1946890" y="2043936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114075" y="2383365"/>
            <a:ext cx="262469" cy="262469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17" name="Shape 1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18" name="bld1_976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Lavender</a:t>
            </a:r>
            <a:endParaRPr lang="en-US" sz="1800" dirty="0"/>
          </a:p>
        </p:txBody>
      </p:sp>
      <p:sp>
        <p:nvSpPr>
          <p:cNvPr id="19" name="bld1_977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37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0" name="bld1_978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Herbal-floral, camphoraceous</a:t>
            </a:r>
            <a:endParaRPr lang="en-US" sz="1100" dirty="0"/>
          </a:p>
        </p:txBody>
      </p:sp>
      <p:sp>
        <p:nvSpPr>
          <p:cNvPr id="21" name="bld1_979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37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2" name="bld1_980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timeless freshness</a:t>
            </a:r>
            <a:endParaRPr lang="en-US" sz="1100" dirty="0"/>
          </a:p>
        </p:txBody>
      </p:sp>
      <p:sp>
        <p:nvSpPr>
          <p:cNvPr id="23" name="bld1_981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37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4" name="bld1_982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26" name="Shape 24"/>
          <p:cNvSpPr/>
          <p:nvPr/>
        </p:nvSpPr>
        <p:spPr>
          <a:xfrm rot="15300000">
            <a:off x="5083270" y="2195437"/>
            <a:ext cx="278874" cy="861228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3050000">
            <a:off x="5237070" y="2425615"/>
            <a:ext cx="278874" cy="861228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0800000">
            <a:off x="5499211" y="2514600"/>
            <a:ext cx="278874" cy="861228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550000">
            <a:off x="5761352" y="2425615"/>
            <a:ext cx="278874" cy="861228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6300000">
            <a:off x="5915152" y="2195437"/>
            <a:ext cx="278874" cy="861228"/>
          </a:xfrm>
          <a:prstGeom prst="teardrop">
            <a:avLst/>
          </a:prstGeom>
          <a:solidFill>
            <a:srgbClr val="63754A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32" name="bld2_984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Rosemary</a:t>
            </a:r>
            <a:endParaRPr lang="en-US" sz="1800" dirty="0"/>
          </a:p>
        </p:txBody>
      </p:sp>
      <p:sp>
        <p:nvSpPr>
          <p:cNvPr id="33" name="bld2_985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37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4" name="bld2_986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Camphoraceous, piney, sharp</a:t>
            </a:r>
            <a:endParaRPr lang="en-US" sz="1100" dirty="0"/>
          </a:p>
        </p:txBody>
      </p:sp>
      <p:sp>
        <p:nvSpPr>
          <p:cNvPr id="35" name="bld2_987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37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6" name="bld2_988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in a fougère</a:t>
            </a:r>
            <a:endParaRPr lang="en-US" sz="1100" dirty="0"/>
          </a:p>
        </p:txBody>
      </p:sp>
      <p:sp>
        <p:nvSpPr>
          <p:cNvPr id="37" name="bld2_989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37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8" name="bld2_990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 · diffusive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40" name="Shape 38"/>
          <p:cNvSpPr/>
          <p:nvPr/>
        </p:nvSpPr>
        <p:spPr>
          <a:xfrm>
            <a:off x="8908953" y="1971288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2700000">
            <a:off x="9084340" y="2043936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5400000">
            <a:off x="9156987" y="2219322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8100000">
            <a:off x="9084340" y="2394708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0800000">
            <a:off x="8908953" y="2467356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3500000">
            <a:off x="8733567" y="2394708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6200000">
            <a:off x="8660920" y="2219322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8900000">
            <a:off x="8733567" y="2043936"/>
            <a:ext cx="246065" cy="5905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900751" y="2383365"/>
            <a:ext cx="262469" cy="262469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49" name="Shape 47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9BAE84"/>
            </a:solidFill>
            <a:prstDash val="solid"/>
          </a:ln>
        </p:spPr>
      </p:sp>
      <p:sp>
        <p:nvSpPr>
          <p:cNvPr id="50" name="bld3_992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Clary Sage</a:t>
            </a:r>
            <a:endParaRPr lang="en-US" sz="1800" dirty="0"/>
          </a:p>
        </p:txBody>
      </p:sp>
      <p:sp>
        <p:nvSpPr>
          <p:cNvPr id="51" name="bld3_993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37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2" name="bld3_994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Herbal, tea-like, musky-floral</a:t>
            </a:r>
            <a:endParaRPr lang="en-US" sz="1100" dirty="0"/>
          </a:p>
        </p:txBody>
      </p:sp>
      <p:sp>
        <p:nvSpPr>
          <p:cNvPr id="53" name="bld3_995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37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4" name="bld3_996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Softens sharper aromatics</a:t>
            </a:r>
            <a:endParaRPr lang="en-US" sz="1100" dirty="0"/>
          </a:p>
        </p:txBody>
      </p:sp>
      <p:sp>
        <p:nvSpPr>
          <p:cNvPr id="55" name="bld3_997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37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6" name="bld3_998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</a:t>
            </a:r>
            <a:endParaRPr lang="en-US" sz="1100" dirty="0"/>
          </a:p>
        </p:txBody>
      </p:sp>
      <p:sp>
        <p:nvSpPr>
          <p:cNvPr id="58" name="trans_fade_5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9" name="Text 5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19" grpId="0"/>
      <p:bldP spid="20" grpId="0"/>
      <p:bldP spid="21" grpId="0"/>
      <p:bldP spid="22" grpId="0"/>
      <p:bldP spid="23" grpId="0"/>
      <p:bldP spid="24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50" grpId="0"/>
      <p:bldP spid="51" grpId="0"/>
      <p:bldP spid="52" grpId="0"/>
      <p:bldP spid="53" grpId="0"/>
      <p:bldP spid="54" grpId="0"/>
      <p:bldP spid="55" grpId="0"/>
      <p:bldP spid="5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7 OF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Greens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EBF3E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E5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0" name="Shape 8"/>
          <p:cNvSpPr/>
          <p:nvPr/>
        </p:nvSpPr>
        <p:spPr>
          <a:xfrm rot="15300000">
            <a:off x="1744209" y="3768245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3050000">
            <a:off x="1863638" y="3946983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0800000">
            <a:off x="2067196" y="4016081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8550000">
            <a:off x="2270754" y="3946983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300000">
            <a:off x="2390183" y="3768245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6" name="bld1_1000"/>
          <p:cNvSpPr txBox="1"/>
          <p:nvPr/>
        </p:nvSpPr>
        <p:spPr>
          <a:xfrm>
            <a:off x="914400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Galbanum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8" name="Shape 16"/>
          <p:cNvSpPr/>
          <p:nvPr/>
        </p:nvSpPr>
        <p:spPr>
          <a:xfrm rot="15300000">
            <a:off x="4293562" y="4000697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3050000">
            <a:off x="4430778" y="4206055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0800000">
            <a:off x="4664654" y="4285445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8550000">
            <a:off x="4898529" y="4206055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6300000">
            <a:off x="5035745" y="4000697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4" name="bld2_1002"/>
          <p:cNvSpPr txBox="1"/>
          <p:nvPr/>
        </p:nvSpPr>
        <p:spPr>
          <a:xfrm>
            <a:off x="3527984" y="5369924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Violet Leaf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6" name="Shape 24"/>
          <p:cNvSpPr/>
          <p:nvPr/>
        </p:nvSpPr>
        <p:spPr>
          <a:xfrm>
            <a:off x="6765723" y="3379165"/>
            <a:ext cx="1273832" cy="1273832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6854892" y="3468333"/>
            <a:ext cx="1095496" cy="1095496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8" name="Shape 26"/>
          <p:cNvSpPr/>
          <p:nvPr/>
        </p:nvSpPr>
        <p:spPr>
          <a:xfrm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216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432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648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864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080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296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512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944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338948" y="3952390"/>
            <a:ext cx="127383" cy="12738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9" name="Shape 37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0" name="bld3_1004"/>
          <p:cNvSpPr txBox="1"/>
          <p:nvPr/>
        </p:nvSpPr>
        <p:spPr>
          <a:xfrm>
            <a:off x="6141568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Petitgrain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2" name="Shape 40"/>
          <p:cNvSpPr/>
          <p:nvPr/>
        </p:nvSpPr>
        <p:spPr>
          <a:xfrm rot="15300000">
            <a:off x="9584960" y="4037609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3050000">
            <a:off x="9704389" y="4216347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0800000">
            <a:off x="9907948" y="4285445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8550000">
            <a:off x="10111506" y="4216347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6300000">
            <a:off x="10230935" y="4037609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8" name="bld4_1006"/>
          <p:cNvSpPr txBox="1"/>
          <p:nvPr/>
        </p:nvSpPr>
        <p:spPr>
          <a:xfrm>
            <a:off x="8755151" y="5248309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Cut Grass</a:t>
            </a:r>
            <a:endParaRPr lang="en-US" sz="1350" dirty="0"/>
          </a:p>
        </p:txBody>
      </p:sp>
      <p:sp>
        <p:nvSpPr>
          <p:cNvPr id="50" name="trans_fade_5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24" grpId="0"/>
      <p:bldP spid="40" grpId="0"/>
      <p:bldP spid="48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GREENS,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Sharp, leafy, and deliberately unripe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20402" y="5039091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0891337" y="523593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0787849" y="5554440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10452955" y="5554440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10349467" y="523593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26300" y="5492064"/>
            <a:ext cx="283108" cy="2831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1007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6" name="Shape 14"/>
          <p:cNvSpPr/>
          <p:nvPr/>
        </p:nvSpPr>
        <p:spPr>
          <a:xfrm rot="15300000">
            <a:off x="1646255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3050000">
            <a:off x="1699751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0800000">
            <a:off x="1790930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8550000">
            <a:off x="1882110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6300000">
            <a:off x="1935605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2" name="bld1_1009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Galbanum</a:t>
            </a:r>
            <a:endParaRPr lang="en-US" sz="1450" dirty="0"/>
          </a:p>
        </p:txBody>
      </p:sp>
      <p:sp>
        <p:nvSpPr>
          <p:cNvPr id="23" name="bld1_1010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Intensely green, bitter, almost vegetal-sharp. Top note, medium — famous for its raw, uncompromising bite.</a:t>
            </a:r>
            <a:endParaRPr lang="en-US" sz="1080" dirty="0"/>
          </a:p>
        </p:txBody>
      </p:sp>
      <p:sp>
        <p:nvSpPr>
          <p:cNvPr id="24" name="bld2_1011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6" name="Shape 24"/>
          <p:cNvSpPr/>
          <p:nvPr/>
        </p:nvSpPr>
        <p:spPr>
          <a:xfrm rot="15300000">
            <a:off x="4483867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3050000">
            <a:off x="4537362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0800000">
            <a:off x="4628542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550000">
            <a:off x="4719721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6300000">
            <a:off x="4773217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32" name="bld2_1013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Violet Leaf</a:t>
            </a:r>
            <a:endParaRPr lang="en-US" sz="1450" dirty="0"/>
          </a:p>
        </p:txBody>
      </p:sp>
      <p:sp>
        <p:nvSpPr>
          <p:cNvPr id="33" name="bld2_1014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Cool, cucumber-green, waxy. Top-heart, intimate — used for freshness, not sweetness.</a:t>
            </a:r>
            <a:endParaRPr lang="en-US" sz="1080" dirty="0"/>
          </a:p>
        </p:txBody>
      </p:sp>
      <p:sp>
        <p:nvSpPr>
          <p:cNvPr id="34" name="bld3_1015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6" name="Shape 34"/>
          <p:cNvSpPr/>
          <p:nvPr/>
        </p:nvSpPr>
        <p:spPr>
          <a:xfrm>
            <a:off x="7229361" y="2468880"/>
            <a:ext cx="570586" cy="570586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269302" y="2508821"/>
            <a:ext cx="490704" cy="49070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8" name="Shape 36"/>
          <p:cNvSpPr/>
          <p:nvPr/>
        </p:nvSpPr>
        <p:spPr>
          <a:xfrm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2160000"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4320000"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6480000"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8640000"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0800000"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2960000"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5120000"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7280000"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9440000">
            <a:off x="7500389" y="2525939"/>
            <a:ext cx="28529" cy="222528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486124" y="2725644"/>
            <a:ext cx="57059" cy="5705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9" name="Shape 47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0" name="bld3_1017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Petitgrain</a:t>
            </a:r>
            <a:endParaRPr lang="en-US" sz="1450" dirty="0"/>
          </a:p>
        </p:txBody>
      </p:sp>
      <p:sp>
        <p:nvSpPr>
          <p:cNvPr id="51" name="bld3_1018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bitter, twiggy citrus-leaf oil. Top-heart, medium — a natural bridge from citrus into green.</a:t>
            </a:r>
            <a:endParaRPr lang="en-US" sz="1080" dirty="0"/>
          </a:p>
        </p:txBody>
      </p:sp>
      <p:sp>
        <p:nvSpPr>
          <p:cNvPr id="52" name="bld4_1019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4" name="Shape 52"/>
          <p:cNvSpPr/>
          <p:nvPr/>
        </p:nvSpPr>
        <p:spPr>
          <a:xfrm rot="15300000">
            <a:off x="10159090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3050000">
            <a:off x="10212586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0800000">
            <a:off x="10303766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8550000">
            <a:off x="10394945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6300000">
            <a:off x="10448441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8FBF6B"/>
            </a:solidFill>
            <a:prstDash val="solid"/>
          </a:ln>
        </p:spPr>
      </p:sp>
      <p:sp>
        <p:nvSpPr>
          <p:cNvPr id="60" name="bld4_1021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Stemmy / leafy naturals</a:t>
            </a:r>
            <a:endParaRPr lang="en-US" sz="1450" dirty="0"/>
          </a:p>
        </p:txBody>
      </p:sp>
      <p:sp>
        <p:nvSpPr>
          <p:cNvPr id="61" name="bld4_1022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broad, useful category — crushed leaf and stem extracts used to rough up an otherwise-polished floral.</a:t>
            </a:r>
            <a:endParaRPr lang="en-US" sz="1080" dirty="0"/>
          </a:p>
        </p:txBody>
      </p:sp>
      <p:sp>
        <p:nvSpPr>
          <p:cNvPr id="63" name="trans_fade_5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4" name="Text 6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2" grpId="0"/>
      <p:bldP spid="23" grpId="0"/>
      <p:bldP spid="24" grpId="0"/>
      <p:bldP spid="32" grpId="0"/>
      <p:bldP spid="33" grpId="0"/>
      <p:bldP spid="34" grpId="0"/>
      <p:bldP spid="50" grpId="0"/>
      <p:bldP spid="51" grpId="0"/>
      <p:bldP spid="52" grpId="0"/>
      <p:bldP spid="60" grpId="0"/>
      <p:bldP spid="6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greens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156384" y="1463040"/>
            <a:ext cx="2103120" cy="21031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8" name="Shape 6"/>
          <p:cNvSpPr/>
          <p:nvPr/>
        </p:nvSpPr>
        <p:spPr>
          <a:xfrm rot="15300000">
            <a:off x="2652566" y="2195437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3050000">
            <a:off x="2806366" y="2425615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0800000">
            <a:off x="3068507" y="2514600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550000">
            <a:off x="3330648" y="2425615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6300000">
            <a:off x="3484448" y="2195437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156384" y="1463040"/>
            <a:ext cx="2103120" cy="21031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4" name="bld1_1024"/>
          <p:cNvSpPr txBox="1"/>
          <p:nvPr/>
        </p:nvSpPr>
        <p:spPr>
          <a:xfrm>
            <a:off x="685800" y="374904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Galbanum</a:t>
            </a:r>
            <a:endParaRPr lang="en-US" sz="1800" dirty="0"/>
          </a:p>
        </p:txBody>
      </p:sp>
      <p:sp>
        <p:nvSpPr>
          <p:cNvPr id="15" name="bld1_1025"/>
          <p:cNvSpPr txBox="1"/>
          <p:nvPr/>
        </p:nvSpPr>
        <p:spPr>
          <a:xfrm>
            <a:off x="658368" y="4187952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6" name="bld1_1026"/>
          <p:cNvSpPr txBox="1"/>
          <p:nvPr/>
        </p:nvSpPr>
        <p:spPr>
          <a:xfrm>
            <a:off x="658368" y="4407408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Intensely green, bitter, sharp</a:t>
            </a:r>
            <a:endParaRPr lang="en-US" sz="1100" dirty="0"/>
          </a:p>
        </p:txBody>
      </p:sp>
      <p:sp>
        <p:nvSpPr>
          <p:cNvPr id="17" name="bld1_1027"/>
          <p:cNvSpPr txBox="1"/>
          <p:nvPr/>
        </p:nvSpPr>
        <p:spPr>
          <a:xfrm>
            <a:off x="658368" y="4754880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8" name="bld1_1028"/>
          <p:cNvSpPr txBox="1"/>
          <p:nvPr/>
        </p:nvSpPr>
        <p:spPr>
          <a:xfrm>
            <a:off x="658368" y="4974336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Raw, uncompromising bite</a:t>
            </a:r>
            <a:endParaRPr lang="en-US" sz="1100" dirty="0"/>
          </a:p>
        </p:txBody>
      </p:sp>
      <p:sp>
        <p:nvSpPr>
          <p:cNvPr id="19" name="bld1_1029"/>
          <p:cNvSpPr txBox="1"/>
          <p:nvPr/>
        </p:nvSpPr>
        <p:spPr>
          <a:xfrm>
            <a:off x="658368" y="5321808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0" name="bld1_1030"/>
          <p:cNvSpPr txBox="1"/>
          <p:nvPr/>
        </p:nvSpPr>
        <p:spPr>
          <a:xfrm>
            <a:off x="658368" y="5541264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 · diffusive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74991" y="1463040"/>
            <a:ext cx="2103120" cy="21031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2" name="Shape 20"/>
          <p:cNvSpPr/>
          <p:nvPr/>
        </p:nvSpPr>
        <p:spPr>
          <a:xfrm rot="15300000">
            <a:off x="7971174" y="2195437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3050000">
            <a:off x="8124973" y="2425615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0800000">
            <a:off x="8387115" y="2514600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8550000">
            <a:off x="8649256" y="2425615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6300000">
            <a:off x="8803056" y="2195437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7474991" y="1463040"/>
            <a:ext cx="2103120" cy="21031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8" name="bld2_1032"/>
          <p:cNvSpPr txBox="1"/>
          <p:nvPr/>
        </p:nvSpPr>
        <p:spPr>
          <a:xfrm>
            <a:off x="6004408" y="374904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Violet Leaf</a:t>
            </a:r>
            <a:endParaRPr lang="en-US" sz="1800" dirty="0"/>
          </a:p>
        </p:txBody>
      </p:sp>
      <p:sp>
        <p:nvSpPr>
          <p:cNvPr id="29" name="bld2_1033"/>
          <p:cNvSpPr txBox="1"/>
          <p:nvPr/>
        </p:nvSpPr>
        <p:spPr>
          <a:xfrm>
            <a:off x="5976976" y="4187952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0" name="bld2_1034"/>
          <p:cNvSpPr txBox="1"/>
          <p:nvPr/>
        </p:nvSpPr>
        <p:spPr>
          <a:xfrm>
            <a:off x="5976976" y="4407408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Cool, cucumber-green, waxy</a:t>
            </a:r>
            <a:endParaRPr lang="en-US" sz="1100" dirty="0"/>
          </a:p>
        </p:txBody>
      </p:sp>
      <p:sp>
        <p:nvSpPr>
          <p:cNvPr id="31" name="bld2_1035"/>
          <p:cNvSpPr txBox="1"/>
          <p:nvPr/>
        </p:nvSpPr>
        <p:spPr>
          <a:xfrm>
            <a:off x="5976976" y="4754880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2" name="bld2_1036"/>
          <p:cNvSpPr txBox="1"/>
          <p:nvPr/>
        </p:nvSpPr>
        <p:spPr>
          <a:xfrm>
            <a:off x="5976976" y="4974336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freshness, no sweetness</a:t>
            </a:r>
            <a:endParaRPr lang="en-US" sz="1100" dirty="0"/>
          </a:p>
        </p:txBody>
      </p:sp>
      <p:sp>
        <p:nvSpPr>
          <p:cNvPr id="33" name="bld2_1037"/>
          <p:cNvSpPr txBox="1"/>
          <p:nvPr/>
        </p:nvSpPr>
        <p:spPr>
          <a:xfrm>
            <a:off x="5976976" y="5321808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4" name="bld2_1038"/>
          <p:cNvSpPr txBox="1"/>
          <p:nvPr/>
        </p:nvSpPr>
        <p:spPr>
          <a:xfrm>
            <a:off x="5976976" y="5541264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intimate</a:t>
            </a:r>
            <a:endParaRPr lang="en-US" sz="1100" dirty="0"/>
          </a:p>
        </p:txBody>
      </p:sp>
      <p:sp>
        <p:nvSpPr>
          <p:cNvPr id="36" name="trans_fade_5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7" name="Text 3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8 OF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Gourmand &amp; Sweet-Leaning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3E4C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10" name="Shape 8"/>
          <p:cNvSpPr/>
          <p:nvPr/>
        </p:nvSpPr>
        <p:spPr>
          <a:xfrm rot="840000">
            <a:off x="2022612" y="3411011"/>
            <a:ext cx="305720" cy="121014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40000">
            <a:off x="2169986" y="3557502"/>
            <a:ext cx="914" cy="917159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32166" y="3592532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3" name="Shape 11"/>
          <p:cNvSpPr/>
          <p:nvPr/>
        </p:nvSpPr>
        <p:spPr>
          <a:xfrm>
            <a:off x="2078024" y="3750487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4" name="Shape 12"/>
          <p:cNvSpPr/>
          <p:nvPr/>
        </p:nvSpPr>
        <p:spPr>
          <a:xfrm>
            <a:off x="2123882" y="390844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5" name="Shape 13"/>
          <p:cNvSpPr/>
          <p:nvPr/>
        </p:nvSpPr>
        <p:spPr>
          <a:xfrm>
            <a:off x="2169740" y="406639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6" name="Shape 14"/>
          <p:cNvSpPr/>
          <p:nvPr/>
        </p:nvSpPr>
        <p:spPr>
          <a:xfrm>
            <a:off x="2215598" y="422435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7" name="Shape 15"/>
          <p:cNvSpPr/>
          <p:nvPr/>
        </p:nvSpPr>
        <p:spPr>
          <a:xfrm>
            <a:off x="2261456" y="438230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9" name="bld1_1040"/>
          <p:cNvSpPr txBox="1"/>
          <p:nvPr/>
        </p:nvSpPr>
        <p:spPr>
          <a:xfrm>
            <a:off x="914400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1" name="Shape 19"/>
          <p:cNvSpPr/>
          <p:nvPr/>
        </p:nvSpPr>
        <p:spPr>
          <a:xfrm>
            <a:off x="4057280" y="3553669"/>
            <a:ext cx="1463552" cy="1463552"/>
          </a:xfrm>
          <a:prstGeom prst="ellipse">
            <a:avLst/>
          </a:prstGeom>
          <a:solidFill>
            <a:srgbClr val="5C3A1E">
              <a:alpha val="9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262177" y="3758567"/>
            <a:ext cx="1053757" cy="105375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54887" y="4051277"/>
            <a:ext cx="468337" cy="468337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25" name="bld2_1042"/>
          <p:cNvSpPr txBox="1"/>
          <p:nvPr/>
        </p:nvSpPr>
        <p:spPr>
          <a:xfrm>
            <a:off x="3527984" y="5369924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Cocoa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7" name="Shape 25"/>
          <p:cNvSpPr/>
          <p:nvPr/>
        </p:nvSpPr>
        <p:spPr>
          <a:xfrm rot="840000">
            <a:off x="7249780" y="3411011"/>
            <a:ext cx="305720" cy="121014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840000">
            <a:off x="7397153" y="3557502"/>
            <a:ext cx="914" cy="917159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59333" y="3592532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0" name="Shape 28"/>
          <p:cNvSpPr/>
          <p:nvPr/>
        </p:nvSpPr>
        <p:spPr>
          <a:xfrm>
            <a:off x="7305191" y="3750487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1" name="Shape 29"/>
          <p:cNvSpPr/>
          <p:nvPr/>
        </p:nvSpPr>
        <p:spPr>
          <a:xfrm>
            <a:off x="7351049" y="390844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2" name="Shape 30"/>
          <p:cNvSpPr/>
          <p:nvPr/>
        </p:nvSpPr>
        <p:spPr>
          <a:xfrm>
            <a:off x="7396907" y="406639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42765" y="422435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4" name="Shape 32"/>
          <p:cNvSpPr/>
          <p:nvPr/>
        </p:nvSpPr>
        <p:spPr>
          <a:xfrm>
            <a:off x="7488623" y="438230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5" name="Shape 33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6" name="bld3_1044"/>
          <p:cNvSpPr txBox="1"/>
          <p:nvPr/>
        </p:nvSpPr>
        <p:spPr>
          <a:xfrm>
            <a:off x="6141568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Tonka Bean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8" name="Shape 36"/>
          <p:cNvSpPr/>
          <p:nvPr/>
        </p:nvSpPr>
        <p:spPr>
          <a:xfrm>
            <a:off x="9379307" y="3648529"/>
            <a:ext cx="1273832" cy="1273832"/>
          </a:xfrm>
          <a:prstGeom prst="ellipse">
            <a:avLst/>
          </a:prstGeom>
          <a:solidFill>
            <a:srgbClr val="5C3A1E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9557644" y="3826866"/>
            <a:ext cx="917159" cy="917159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9812410" y="4081632"/>
            <a:ext cx="407626" cy="407626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9832400" y="3489300"/>
            <a:ext cx="914" cy="286612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010737" y="3489300"/>
            <a:ext cx="914" cy="286612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189073" y="3489300"/>
            <a:ext cx="914" cy="286612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5" name="bld4_1046"/>
          <p:cNvSpPr txBox="1"/>
          <p:nvPr/>
        </p:nvSpPr>
        <p:spPr>
          <a:xfrm>
            <a:off x="8755151" y="5248309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Coffee CO2</a:t>
            </a:r>
            <a:endParaRPr lang="en-US" sz="1350" dirty="0"/>
          </a:p>
        </p:txBody>
      </p:sp>
      <p:sp>
        <p:nvSpPr>
          <p:cNvPr id="47" name="trans_fade_6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8" name="Text 4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9" grpId="0"/>
      <p:bldP spid="25" grpId="0"/>
      <p:bldP spid="36" grpId="0"/>
      <p:bldP spid="4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GOURMAND &amp; SWEET-LEANING,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Edible, warm, and genuinely comforting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20402" y="5039091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0891337" y="523593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0787849" y="5554440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10452955" y="5554440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10349467" y="523593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26300" y="5492064"/>
            <a:ext cx="283108" cy="2831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1047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16" name="Shape 14"/>
          <p:cNvSpPr/>
          <p:nvPr/>
        </p:nvSpPr>
        <p:spPr>
          <a:xfrm rot="840000">
            <a:off x="1770960" y="2483145"/>
            <a:ext cx="136941" cy="542056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840000">
            <a:off x="1833944" y="2548762"/>
            <a:ext cx="914" cy="410822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5239" y="2564453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9" name="Shape 17"/>
          <p:cNvSpPr/>
          <p:nvPr/>
        </p:nvSpPr>
        <p:spPr>
          <a:xfrm>
            <a:off x="1795780" y="263520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0" name="Shape 18"/>
          <p:cNvSpPr/>
          <p:nvPr/>
        </p:nvSpPr>
        <p:spPr>
          <a:xfrm>
            <a:off x="1816321" y="2705958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1" name="Shape 19"/>
          <p:cNvSpPr/>
          <p:nvPr/>
        </p:nvSpPr>
        <p:spPr>
          <a:xfrm>
            <a:off x="1836862" y="2776711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2" name="Shape 20"/>
          <p:cNvSpPr/>
          <p:nvPr/>
        </p:nvSpPr>
        <p:spPr>
          <a:xfrm>
            <a:off x="1857403" y="2847464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3" name="Shape 21"/>
          <p:cNvSpPr/>
          <p:nvPr/>
        </p:nvSpPr>
        <p:spPr>
          <a:xfrm>
            <a:off x="1877944" y="291821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4" name="Shape 22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25" name="bld1_1049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450" dirty="0"/>
          </a:p>
        </p:txBody>
      </p:sp>
      <p:sp>
        <p:nvSpPr>
          <p:cNvPr id="26" name="bld1_1050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sweet, boozy-balsamic. Base note, very long, richly diffusive — the most versatile base in perfumery.</a:t>
            </a:r>
            <a:endParaRPr lang="en-US" sz="1080" dirty="0"/>
          </a:p>
        </p:txBody>
      </p:sp>
      <p:sp>
        <p:nvSpPr>
          <p:cNvPr id="27" name="bld2_1051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9" name="Shape 27"/>
          <p:cNvSpPr/>
          <p:nvPr/>
        </p:nvSpPr>
        <p:spPr>
          <a:xfrm>
            <a:off x="4391749" y="2468880"/>
            <a:ext cx="570586" cy="570586"/>
          </a:xfrm>
          <a:prstGeom prst="ellipse">
            <a:avLst/>
          </a:prstGeom>
          <a:solidFill>
            <a:srgbClr val="5C3A1E">
              <a:alpha val="96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471631" y="2548762"/>
            <a:ext cx="410822" cy="410822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585748" y="2662879"/>
            <a:ext cx="182587" cy="182587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33" name="bld2_1053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Cocoa</a:t>
            </a:r>
            <a:endParaRPr lang="en-US" sz="1450" dirty="0"/>
          </a:p>
        </p:txBody>
      </p:sp>
      <p:sp>
        <p:nvSpPr>
          <p:cNvPr id="34" name="bld2_1054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Dark, roasted, faintly bitter-sweet. Base note, long — an unusual, food-adjacent depth note.</a:t>
            </a:r>
            <a:endParaRPr lang="en-US" sz="1080" dirty="0"/>
          </a:p>
        </p:txBody>
      </p:sp>
      <p:sp>
        <p:nvSpPr>
          <p:cNvPr id="35" name="bld3_1055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7" name="Shape 35"/>
          <p:cNvSpPr/>
          <p:nvPr/>
        </p:nvSpPr>
        <p:spPr>
          <a:xfrm rot="840000">
            <a:off x="7446183" y="2483145"/>
            <a:ext cx="136941" cy="542056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840000">
            <a:off x="7509167" y="2548762"/>
            <a:ext cx="914" cy="410822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450463" y="2564453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0" name="Shape 38"/>
          <p:cNvSpPr/>
          <p:nvPr/>
        </p:nvSpPr>
        <p:spPr>
          <a:xfrm>
            <a:off x="7471004" y="263520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1" name="Shape 39"/>
          <p:cNvSpPr/>
          <p:nvPr/>
        </p:nvSpPr>
        <p:spPr>
          <a:xfrm>
            <a:off x="7491545" y="2705958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2" name="Shape 40"/>
          <p:cNvSpPr/>
          <p:nvPr/>
        </p:nvSpPr>
        <p:spPr>
          <a:xfrm>
            <a:off x="7512086" y="2776711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3" name="Shape 41"/>
          <p:cNvSpPr/>
          <p:nvPr/>
        </p:nvSpPr>
        <p:spPr>
          <a:xfrm>
            <a:off x="7532627" y="2847464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3168" y="291821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5" name="Shape 43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46" name="bld3_1057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Tonka Bean</a:t>
            </a:r>
            <a:endParaRPr lang="en-US" sz="1450" dirty="0"/>
          </a:p>
        </p:txBody>
      </p:sp>
      <p:sp>
        <p:nvSpPr>
          <p:cNvPr id="47" name="bld3_1058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Almond-hay, coumarinic, warm. Base note, very long — softer and drier than vanilla, less sugary.</a:t>
            </a:r>
            <a:endParaRPr lang="en-US" sz="1080" dirty="0"/>
          </a:p>
        </p:txBody>
      </p:sp>
      <p:sp>
        <p:nvSpPr>
          <p:cNvPr id="48" name="bld4_1059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0" name="Shape 48"/>
          <p:cNvSpPr/>
          <p:nvPr/>
        </p:nvSpPr>
        <p:spPr>
          <a:xfrm>
            <a:off x="10066973" y="2468880"/>
            <a:ext cx="570586" cy="570586"/>
          </a:xfrm>
          <a:prstGeom prst="ellipse">
            <a:avLst/>
          </a:prstGeom>
          <a:solidFill>
            <a:srgbClr val="5C3A1E">
              <a:alpha val="96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0146854" y="2548762"/>
            <a:ext cx="410822" cy="410822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10260972" y="2662879"/>
            <a:ext cx="182587" cy="182587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10266897" y="2397557"/>
            <a:ext cx="914" cy="128382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46779" y="2397557"/>
            <a:ext cx="914" cy="128382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426661" y="2397557"/>
            <a:ext cx="914" cy="128382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57" name="bld4_1061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Coffee CO2</a:t>
            </a:r>
            <a:endParaRPr lang="en-US" sz="1450" dirty="0"/>
          </a:p>
        </p:txBody>
      </p:sp>
      <p:sp>
        <p:nvSpPr>
          <p:cNvPr id="58" name="bld4_1062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Roasted, dark, intensely aromatic. Base-heart, long — a bold, modern gourmand accent.</a:t>
            </a:r>
            <a:endParaRPr lang="en-US" sz="1080" dirty="0"/>
          </a:p>
        </p:txBody>
      </p:sp>
      <p:sp>
        <p:nvSpPr>
          <p:cNvPr id="60" name="trans_fade_6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1" name="Text 5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5" grpId="0"/>
      <p:bldP spid="26" grpId="0"/>
      <p:bldP spid="27" grpId="0"/>
      <p:bldP spid="33" grpId="0"/>
      <p:bldP spid="34" grpId="0"/>
      <p:bldP spid="35" grpId="0"/>
      <p:bldP spid="46" grpId="0"/>
      <p:bldP spid="47" grpId="0"/>
      <p:bldP spid="48" grpId="0"/>
      <p:bldP spid="57" grpId="0"/>
      <p:bldP spid="58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TRUTH ABOUT NATURALS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two harvests smell identical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2656579" y="2540562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3268139" y="2984886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3034544" y="3703818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2278614" y="3703818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2045019" y="2984886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669892" y="3563023"/>
            <a:ext cx="639038" cy="63903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Shape 12"/>
          <p:cNvSpPr/>
          <p:nvPr/>
        </p:nvSpPr>
        <p:spPr>
          <a:xfrm>
            <a:off x="5763015" y="2540562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4320000">
            <a:off x="6374575" y="2984886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8640000">
            <a:off x="6140980" y="3703818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5385050" y="3703818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5151455" y="2984886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5776328" y="3563023"/>
            <a:ext cx="639038" cy="63903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Shape 18"/>
          <p:cNvSpPr/>
          <p:nvPr/>
        </p:nvSpPr>
        <p:spPr>
          <a:xfrm>
            <a:off x="8869451" y="2540562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4320000">
            <a:off x="9481011" y="2984886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640000">
            <a:off x="9247416" y="3703818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2960000">
            <a:off x="8491486" y="3703818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7280000">
            <a:off x="8257891" y="2984886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8882765" y="3563023"/>
            <a:ext cx="639038" cy="63903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Climate, soil, harvest timing and extraction batch all shift the smell of a natural — plan for variation, don't fight it.</a:t>
            </a:r>
            <a:endParaRPr lang="en-US" sz="1200" dirty="0"/>
          </a:p>
        </p:txBody>
      </p:sp>
      <p:sp>
        <p:nvSpPr>
          <p:cNvPr id="28" name="trans_fade_6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9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bring soul and complexity —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they demand respect for their variability.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03.1</a:t>
            </a:r>
            <a:endParaRPr lang="en-US" sz="1100" dirty="0"/>
          </a:p>
        </p:txBody>
      </p:sp>
      <p:sp>
        <p:nvSpPr>
          <p:cNvPr id="10" name="trans_fade_6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9795" y="1881835"/>
            <a:ext cx="3094330" cy="309433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3067995"/>
            <a:ext cx="812262" cy="36100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9222" y="3067995"/>
            <a:ext cx="812262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79222" y="3519251"/>
            <a:ext cx="812262" cy="72201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25452" y="4241262"/>
            <a:ext cx="1353769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425452" y="3429000"/>
            <a:ext cx="541508" cy="81226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4196" y="2977744"/>
            <a:ext cx="992764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22558" y="3284598"/>
            <a:ext cx="288804" cy="2888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75433" y="2964206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487694" y="3415462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7543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166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70407" y="2873955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03.2 · RAW MATERIALS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—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Modern Palette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perfumery is built on synthetic molecules. This module will change how you see them, for good.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synthetic families, in real depth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"superpower" materials worth learning first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Busting the naturals-vs-synthetics myths for good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31" name="trans_fade_6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perfumery runs on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8258" y="1199550"/>
            <a:ext cx="4458900" cy="44589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59642"/>
            <a:ext cx="1056055" cy="469358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03763" y="2959642"/>
            <a:ext cx="1056055" cy="5866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603763" y="3546339"/>
            <a:ext cx="1056055" cy="93871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43671" y="4485055"/>
            <a:ext cx="1760092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843671" y="3429000"/>
            <a:ext cx="704037" cy="105605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56973" y="2842303"/>
            <a:ext cx="1290734" cy="5866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59964" y="3241257"/>
            <a:ext cx="375486" cy="375486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68822" y="2824702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24878" y="3411399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68822" y="4350115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08730" y="4350115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22033" y="2707362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molecule, isolated and perfected — the synthetic advantage.</a:t>
            </a:r>
            <a:endParaRPr lang="en-US" sz="1050" dirty="0"/>
          </a:p>
        </p:txBody>
      </p:sp>
      <p:sp>
        <p:nvSpPr>
          <p:cNvPr id="24" name="bld1_106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1_106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Consistency, batch after batch</a:t>
            </a:r>
            <a:endParaRPr lang="en-US" sz="1650" dirty="0"/>
          </a:p>
        </p:txBody>
      </p:sp>
      <p:sp>
        <p:nvSpPr>
          <p:cNvPr id="26" name="bld1_1065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synthetic molecule smells identical this year and next — naturals simply can't promise that.</a:t>
            </a:r>
            <a:endParaRPr lang="en-US" sz="1250" dirty="0"/>
          </a:p>
        </p:txBody>
      </p:sp>
      <p:sp>
        <p:nvSpPr>
          <p:cNvPr id="27" name="bld2_1066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2_1067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Effects that don't exist in nature</a:t>
            </a:r>
            <a:endParaRPr lang="en-US" sz="1650" dirty="0"/>
          </a:p>
        </p:txBody>
      </p:sp>
      <p:sp>
        <p:nvSpPr>
          <p:cNvPr id="29" name="bld2_1068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radiant, transparent-woody — entire categories of smell with no natural equivalent.</a:t>
            </a:r>
            <a:endParaRPr lang="en-US" sz="1250" dirty="0"/>
          </a:p>
        </p:txBody>
      </p:sp>
      <p:sp>
        <p:nvSpPr>
          <p:cNvPr id="30" name="bld3_1069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1070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and sustainability</a:t>
            </a:r>
            <a:endParaRPr lang="en-US" sz="1650" dirty="0"/>
          </a:p>
        </p:txBody>
      </p:sp>
      <p:sp>
        <p:nvSpPr>
          <p:cNvPr id="32" name="bld3_1071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pressure on endangered species and rare harvests — sandalwood and musk deer among them.</a:t>
            </a:r>
            <a:endParaRPr lang="en-US" sz="1250" dirty="0"/>
          </a:p>
        </p:txBody>
      </p:sp>
      <p:sp>
        <p:nvSpPr>
          <p:cNvPr id="33" name="bld4_1072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4" name="bld4_1073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Affordability at scale</a:t>
            </a:r>
            <a:endParaRPr lang="en-US" sz="1650" dirty="0"/>
          </a:p>
        </p:txBody>
      </p:sp>
      <p:sp>
        <p:nvSpPr>
          <p:cNvPr id="35" name="bld4_1074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beautiful perfumery accessible far beyond luxury-only pricing.</a:t>
            </a:r>
            <a:endParaRPr lang="en-US" sz="1250" dirty="0"/>
          </a:p>
        </p:txBody>
      </p:sp>
      <p:sp>
        <p:nvSpPr>
          <p:cNvPr id="37" name="trans_fade_6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CATEGORIES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major synthetic families</a:t>
            </a:r>
            <a:endParaRPr lang="en-US" sz="3200" dirty="0"/>
          </a:p>
        </p:txBody>
      </p:sp>
      <p:sp>
        <p:nvSpPr>
          <p:cNvPr id="7" name="bld1_1075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9" name="Shape 7"/>
          <p:cNvSpPr/>
          <p:nvPr/>
        </p:nvSpPr>
        <p:spPr>
          <a:xfrm>
            <a:off x="1332570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1" name="bld1_1077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12" name="bld1_1078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 radiance and fixation</a:t>
            </a:r>
            <a:endParaRPr lang="en-US" sz="1080" dirty="0"/>
          </a:p>
        </p:txBody>
      </p:sp>
      <p:sp>
        <p:nvSpPr>
          <p:cNvPr id="13" name="bld2_1079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5" name="Shape 13"/>
          <p:cNvSpPr/>
          <p:nvPr/>
        </p:nvSpPr>
        <p:spPr>
          <a:xfrm rot="9000000">
            <a:off x="3704509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6000000">
            <a:off x="3641459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1400000">
            <a:off x="3840308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9" name="bld2_1081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/ Ambrox</a:t>
            </a:r>
            <a:endParaRPr lang="en-US" sz="1450" dirty="0"/>
          </a:p>
        </p:txBody>
      </p:sp>
      <p:sp>
        <p:nvSpPr>
          <p:cNvPr id="20" name="bld2_1082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radiant, modern amber effect</a:t>
            </a:r>
            <a:endParaRPr lang="en-US" sz="1080" dirty="0"/>
          </a:p>
        </p:txBody>
      </p:sp>
      <p:sp>
        <p:nvSpPr>
          <p:cNvPr id="21" name="bld3_1083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853349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934182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15015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066748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7" name="Shape 25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8" name="bld3_1085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29" name="bld3_1086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voluminous woodiness</a:t>
            </a:r>
            <a:endParaRPr lang="en-US" sz="1080" dirty="0"/>
          </a:p>
        </p:txBody>
      </p:sp>
      <p:sp>
        <p:nvSpPr>
          <p:cNvPr id="30" name="bld4_1087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305312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4320000">
            <a:off x="841670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8640000">
            <a:off x="837415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823646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8193918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307737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8" name="Shape 36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9" name="bld4_1089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40" name="bld4_1090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Isolated, hyper-true floral facets</a:t>
            </a:r>
            <a:endParaRPr lang="en-US" sz="1080" dirty="0"/>
          </a:p>
        </p:txBody>
      </p:sp>
      <p:sp>
        <p:nvSpPr>
          <p:cNvPr id="41" name="bld5_1091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43" name="Shape 41"/>
          <p:cNvSpPr/>
          <p:nvPr/>
        </p:nvSpPr>
        <p:spPr>
          <a:xfrm>
            <a:off x="10393528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427477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5" name="Shape 43"/>
          <p:cNvSpPr/>
          <p:nvPr/>
        </p:nvSpPr>
        <p:spPr>
          <a:xfrm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216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432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648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64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080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296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512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728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944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0611777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57" name="bld5_1093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/ citrus / aromatic</a:t>
            </a:r>
            <a:endParaRPr lang="en-US" sz="1450" dirty="0"/>
          </a:p>
        </p:txBody>
      </p:sp>
      <p:sp>
        <p:nvSpPr>
          <p:cNvPr id="58" name="bld5_1094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Stable, longer-lasting brightness</a:t>
            </a:r>
            <a:endParaRPr lang="en-US" sz="1080" dirty="0"/>
          </a:p>
        </p:txBody>
      </p:sp>
      <p:sp>
        <p:nvSpPr>
          <p:cNvPr id="59" name="bld6_1095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61" name="Shape 59"/>
          <p:cNvSpPr/>
          <p:nvPr/>
        </p:nvSpPr>
        <p:spPr>
          <a:xfrm>
            <a:off x="1356820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1550182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12000000">
            <a:off x="1573957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65" name="bld6_1097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66" name="bld6_1098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vivid fruit facets</a:t>
            </a:r>
            <a:endParaRPr lang="en-US" sz="1080" dirty="0"/>
          </a:p>
        </p:txBody>
      </p:sp>
      <p:sp>
        <p:nvSpPr>
          <p:cNvPr id="67" name="bld7_1099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69" name="Shape 67"/>
          <p:cNvSpPr/>
          <p:nvPr/>
        </p:nvSpPr>
        <p:spPr>
          <a:xfrm rot="15300000">
            <a:off x="366155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3050000">
            <a:off x="3707031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0800000">
            <a:off x="3784533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8550000">
            <a:off x="3862036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6300000">
            <a:off x="390750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75" name="bld7_1101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76" name="bld7_1102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Crisp, leafy, sap-like freshness</a:t>
            </a:r>
            <a:endParaRPr lang="en-US" sz="1080" dirty="0"/>
          </a:p>
        </p:txBody>
      </p:sp>
      <p:sp>
        <p:nvSpPr>
          <p:cNvPr id="77" name="bld8_1103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79" name="Shape 77"/>
          <p:cNvSpPr/>
          <p:nvPr/>
        </p:nvSpPr>
        <p:spPr>
          <a:xfrm rot="840000">
            <a:off x="6037648" y="4349307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840000">
            <a:off x="6090361" y="4405082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41285" y="441841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2" name="Shape 80"/>
          <p:cNvSpPr/>
          <p:nvPr/>
        </p:nvSpPr>
        <p:spPr>
          <a:xfrm>
            <a:off x="6058745" y="447855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3" name="Shape 81"/>
          <p:cNvSpPr/>
          <p:nvPr/>
        </p:nvSpPr>
        <p:spPr>
          <a:xfrm>
            <a:off x="6076205" y="453869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4" name="Shape 82"/>
          <p:cNvSpPr/>
          <p:nvPr/>
        </p:nvSpPr>
        <p:spPr>
          <a:xfrm>
            <a:off x="6093665" y="45988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5" name="Shape 83"/>
          <p:cNvSpPr/>
          <p:nvPr/>
        </p:nvSpPr>
        <p:spPr>
          <a:xfrm>
            <a:off x="6111125" y="465897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6" name="Shape 84"/>
          <p:cNvSpPr/>
          <p:nvPr/>
        </p:nvSpPr>
        <p:spPr>
          <a:xfrm>
            <a:off x="6128585" y="471911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7" name="Shape 85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88" name="bld8_1105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89" name="bld8_1106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edible, comforting facets</a:t>
            </a:r>
            <a:endParaRPr lang="en-US" sz="1080" dirty="0"/>
          </a:p>
        </p:txBody>
      </p:sp>
      <p:sp>
        <p:nvSpPr>
          <p:cNvPr id="90" name="bld9_1107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1" name="Shape 89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92" name="Shape 90"/>
          <p:cNvSpPr/>
          <p:nvPr/>
        </p:nvSpPr>
        <p:spPr>
          <a:xfrm>
            <a:off x="8123438" y="4337182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>
            <a:off x="8176788" y="4577256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8176788" y="4516631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8176788" y="4448732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97" name="bld9_1109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Aquatic / marine</a:t>
            </a:r>
            <a:endParaRPr lang="en-US" sz="1450" dirty="0"/>
          </a:p>
        </p:txBody>
      </p:sp>
      <p:sp>
        <p:nvSpPr>
          <p:cNvPr id="98" name="bld9_1110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marine, watery freshness</a:t>
            </a:r>
            <a:endParaRPr lang="en-US" sz="1080" dirty="0"/>
          </a:p>
        </p:txBody>
      </p:sp>
      <p:sp>
        <p:nvSpPr>
          <p:cNvPr id="99" name="bld10_1111"/>
          <p:cNvSpPr/>
          <p:nvPr/>
        </p:nvSpPr>
        <p:spPr>
          <a:xfrm>
            <a:off x="962899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0" name="Shape 98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393528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10455418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>
            <a:off x="10430394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>
            <a:off x="10430394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>
            <a:off x="10455418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07" name="bld10_1113"/>
          <p:cNvSpPr txBox="1"/>
          <p:nvPr/>
        </p:nvSpPr>
        <p:spPr>
          <a:xfrm>
            <a:off x="981187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 / smoky / animalic</a:t>
            </a:r>
            <a:endParaRPr lang="en-US" sz="1450" dirty="0"/>
          </a:p>
        </p:txBody>
      </p:sp>
      <p:sp>
        <p:nvSpPr>
          <p:cNvPr id="108" name="bld10_1114"/>
          <p:cNvSpPr txBox="1"/>
          <p:nvPr/>
        </p:nvSpPr>
        <p:spPr>
          <a:xfrm>
            <a:off x="981187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Textural, dark, boldly effect-driven</a:t>
            </a:r>
            <a:endParaRPr lang="en-US" sz="1080" dirty="0"/>
          </a:p>
        </p:txBody>
      </p:sp>
      <p:sp>
        <p:nvSpPr>
          <p:cNvPr id="110" name="trans_fade_6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1" name="Text 10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19" grpId="0"/>
      <p:bldP spid="20" grpId="0"/>
      <p:bldP spid="21" grpId="0"/>
      <p:bldP spid="28" grpId="0"/>
      <p:bldP spid="29" grpId="0"/>
      <p:bldP spid="30" grpId="0"/>
      <p:bldP spid="39" grpId="0"/>
      <p:bldP spid="40" grpId="0"/>
      <p:bldP spid="41" grpId="0"/>
      <p:bldP spid="57" grpId="0"/>
      <p:bldP spid="58" grpId="0"/>
      <p:bldP spid="59" grpId="0"/>
      <p:bldP spid="65" grpId="0"/>
      <p:bldP spid="66" grpId="0"/>
      <p:bldP spid="67" grpId="0"/>
      <p:bldP spid="75" grpId="0"/>
      <p:bldP spid="76" grpId="0"/>
      <p:bldP spid="77" grpId="0"/>
      <p:bldP spid="88" grpId="0"/>
      <p:bldP spid="89" grpId="0"/>
      <p:bldP spid="90" grpId="0"/>
      <p:bldP spid="97" grpId="0"/>
      <p:bldP spid="98" grpId="0"/>
      <p:bldP spid="99" grpId="0"/>
      <p:bldP spid="107" grpId="0"/>
      <p:bldP spid="108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MATERIALS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Molecules every perfumer knows by name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1005612" y="1756220"/>
            <a:ext cx="1516759" cy="151675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7288" y="1907896"/>
            <a:ext cx="1213407" cy="121340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0" name="Shape 8"/>
          <p:cNvSpPr/>
          <p:nvPr/>
        </p:nvSpPr>
        <p:spPr>
          <a:xfrm>
            <a:off x="1308964" y="2059572"/>
            <a:ext cx="910056" cy="91005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460640" y="2211248"/>
            <a:ext cx="606704" cy="606704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612316" y="2362924"/>
            <a:ext cx="303352" cy="30335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72986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4" name="Shape 12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5" name="bld1_1116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800" dirty="0"/>
          </a:p>
        </p:txBody>
      </p:sp>
      <p:sp>
        <p:nvSpPr>
          <p:cNvPr id="16" name="bld1_1117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7" name="bld1_1118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Velvety, transparent woody volume</a:t>
            </a:r>
            <a:endParaRPr lang="en-US" sz="1100" dirty="0"/>
          </a:p>
        </p:txBody>
      </p:sp>
      <p:sp>
        <p:nvSpPr>
          <p:cNvPr id="18" name="bld1_1119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9" name="bld1_1120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without weight</a:t>
            </a:r>
            <a:endParaRPr lang="en-US" sz="1100" dirty="0"/>
          </a:p>
        </p:txBody>
      </p:sp>
      <p:sp>
        <p:nvSpPr>
          <p:cNvPr id="20" name="bld1_1121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1" name="bld1_1122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almost everywhere, any dose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3" name="Shape 21"/>
          <p:cNvSpPr/>
          <p:nvPr/>
        </p:nvSpPr>
        <p:spPr>
          <a:xfrm rot="10800000">
            <a:off x="4088523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4400000">
            <a:off x="4416911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8000000">
            <a:off x="4416911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088523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3600000">
            <a:off x="3760135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7200000">
            <a:off x="3760135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012685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39173" y="1658992"/>
            <a:ext cx="311130" cy="311130"/>
          </a:xfrm>
          <a:prstGeom prst="star5">
            <a:avLst/>
          </a:prstGeom>
          <a:solidFill>
            <a:srgbClr val="EFB0C8">
              <a:alpha val="90000"/>
            </a:srgbClr>
          </a:solidFill>
          <a:ln/>
        </p:spPr>
      </p:sp>
      <p:sp>
        <p:nvSpPr>
          <p:cNvPr id="32" name="bld2_1124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800" dirty="0"/>
          </a:p>
        </p:txBody>
      </p:sp>
      <p:sp>
        <p:nvSpPr>
          <p:cNvPr id="33" name="bld2_1125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4" name="bld2_1126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Airy, jasmine-adjacent radiance</a:t>
            </a:r>
            <a:endParaRPr lang="en-US" sz="1100" dirty="0"/>
          </a:p>
        </p:txBody>
      </p:sp>
      <p:sp>
        <p:nvSpPr>
          <p:cNvPr id="35" name="bld2_1127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6" name="bld2_1128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up space in a formula</a:t>
            </a:r>
            <a:endParaRPr lang="en-US" sz="1100" dirty="0"/>
          </a:p>
        </p:txBody>
      </p:sp>
      <p:sp>
        <p:nvSpPr>
          <p:cNvPr id="37" name="bld2_1129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8" name="bld2_1130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diffusion superpower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0" name="Shape 38"/>
          <p:cNvSpPr/>
          <p:nvPr/>
        </p:nvSpPr>
        <p:spPr>
          <a:xfrm rot="9000000">
            <a:off x="6246210" y="2165745"/>
            <a:ext cx="879720" cy="87972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6000000">
            <a:off x="6049031" y="2074740"/>
            <a:ext cx="546033" cy="546033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1400000">
            <a:off x="6670902" y="1983734"/>
            <a:ext cx="455028" cy="455028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4" name="bld3_1132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800" dirty="0"/>
          </a:p>
        </p:txBody>
      </p:sp>
      <p:sp>
        <p:nvSpPr>
          <p:cNvPr id="45" name="bld3_1133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6" name="bld3_1134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radiant amber-musk</a:t>
            </a:r>
            <a:endParaRPr lang="en-US" sz="1100" dirty="0"/>
          </a:p>
        </p:txBody>
      </p:sp>
      <p:sp>
        <p:nvSpPr>
          <p:cNvPr id="47" name="bld3_1135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8" name="bld3_1136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that carries far</a:t>
            </a:r>
            <a:endParaRPr lang="en-US" sz="1100" dirty="0"/>
          </a:p>
        </p:txBody>
      </p:sp>
      <p:sp>
        <p:nvSpPr>
          <p:cNvPr id="49" name="bld3_1137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0" name="bld3_1138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perfumery's signature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2" name="Shape 50"/>
          <p:cNvSpPr/>
          <p:nvPr/>
        </p:nvSpPr>
        <p:spPr>
          <a:xfrm rot="840000">
            <a:off x="8874092" y="1794139"/>
            <a:ext cx="364022" cy="144092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840000">
            <a:off x="9050617" y="1968567"/>
            <a:ext cx="914" cy="1092067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85468" y="201027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5" name="Shape 53"/>
          <p:cNvSpPr/>
          <p:nvPr/>
        </p:nvSpPr>
        <p:spPr>
          <a:xfrm>
            <a:off x="8940071" y="2198356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6" name="Shape 54"/>
          <p:cNvSpPr/>
          <p:nvPr/>
        </p:nvSpPr>
        <p:spPr>
          <a:xfrm>
            <a:off x="8994675" y="2386434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7" name="Shape 55"/>
          <p:cNvSpPr/>
          <p:nvPr/>
        </p:nvSpPr>
        <p:spPr>
          <a:xfrm>
            <a:off x="9049278" y="2574512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8" name="Shape 56"/>
          <p:cNvSpPr/>
          <p:nvPr/>
        </p:nvSpPr>
        <p:spPr>
          <a:xfrm>
            <a:off x="9103881" y="2762590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9" name="Shape 57"/>
          <p:cNvSpPr/>
          <p:nvPr/>
        </p:nvSpPr>
        <p:spPr>
          <a:xfrm>
            <a:off x="9158485" y="295066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60" name="Shape 58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61" name="bld4_1140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800" dirty="0"/>
          </a:p>
        </p:txBody>
      </p:sp>
      <p:sp>
        <p:nvSpPr>
          <p:cNvPr id="62" name="bld4_1141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3" name="bld4_1142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essence of vanilla, isolated</a:t>
            </a:r>
            <a:endParaRPr lang="en-US" sz="1100" dirty="0"/>
          </a:p>
        </p:txBody>
      </p:sp>
      <p:sp>
        <p:nvSpPr>
          <p:cNvPr id="64" name="bld4_1143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65" name="bld4_1144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sweet, endlessly useful</a:t>
            </a:r>
            <a:endParaRPr lang="en-US" sz="1100" dirty="0"/>
          </a:p>
        </p:txBody>
      </p:sp>
      <p:sp>
        <p:nvSpPr>
          <p:cNvPr id="66" name="bld4_1145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67" name="bld4_1146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and base workhorse</a:t>
            </a:r>
            <a:endParaRPr lang="en-US" sz="1100" dirty="0"/>
          </a:p>
        </p:txBody>
      </p:sp>
      <p:sp>
        <p:nvSpPr>
          <p:cNvPr id="69" name="trans_fade_6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61" grpId="0"/>
      <p:bldP spid="62" grpId="0"/>
      <p:bldP spid="63" grpId="0"/>
      <p:bldP spid="64" grpId="0"/>
      <p:bldP spid="65" grpId="0"/>
      <p:bldP spid="66" grpId="0"/>
      <p:bldP spid="67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myths, busted</a:t>
            </a:r>
            <a:endParaRPr lang="en-US" sz="3200" dirty="0"/>
          </a:p>
        </p:txBody>
      </p:sp>
      <p:sp>
        <p:nvSpPr>
          <p:cNvPr id="7" name="bld1_1147"/>
          <p:cNvSpPr/>
          <p:nvPr/>
        </p:nvSpPr>
        <p:spPr>
          <a:xfrm>
            <a:off x="548640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148"/>
          <p:cNvSpPr txBox="1"/>
          <p:nvPr/>
        </p:nvSpPr>
        <p:spPr>
          <a:xfrm>
            <a:off x="749808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9" name="bld1_1149"/>
          <p:cNvSpPr txBox="1"/>
          <p:nvPr/>
        </p:nvSpPr>
        <p:spPr>
          <a:xfrm>
            <a:off x="749808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are less safe than naturals</a:t>
            </a:r>
            <a:endParaRPr lang="en-US" sz="1350" dirty="0"/>
          </a:p>
        </p:txBody>
      </p:sp>
      <p:sp>
        <p:nvSpPr>
          <p:cNvPr id="10" name="bld1_1150"/>
          <p:cNvSpPr txBox="1"/>
          <p:nvPr/>
        </p:nvSpPr>
        <p:spPr>
          <a:xfrm>
            <a:off x="749808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1" name="bld1_1151"/>
          <p:cNvSpPr txBox="1"/>
          <p:nvPr/>
        </p:nvSpPr>
        <p:spPr>
          <a:xfrm>
            <a:off x="749808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Synthetics are among the most rigorously tested materials in consumer goods — many naturals contain far more allergens and irritants.</a:t>
            </a:r>
            <a:endParaRPr lang="en-US" sz="1080" dirty="0"/>
          </a:p>
        </p:txBody>
      </p:sp>
      <p:sp>
        <p:nvSpPr>
          <p:cNvPr id="12" name="bld2_1152"/>
          <p:cNvSpPr/>
          <p:nvPr/>
        </p:nvSpPr>
        <p:spPr>
          <a:xfrm>
            <a:off x="4332122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1153"/>
          <p:cNvSpPr txBox="1"/>
          <p:nvPr/>
        </p:nvSpPr>
        <p:spPr>
          <a:xfrm>
            <a:off x="4533290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4" name="bld2_1154"/>
          <p:cNvSpPr txBox="1"/>
          <p:nvPr/>
        </p:nvSpPr>
        <p:spPr>
          <a:xfrm>
            <a:off x="4533290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means cheap</a:t>
            </a:r>
            <a:endParaRPr lang="en-US" sz="1350" dirty="0"/>
          </a:p>
        </p:txBody>
      </p:sp>
      <p:sp>
        <p:nvSpPr>
          <p:cNvPr id="15" name="bld2_1155"/>
          <p:cNvSpPr txBox="1"/>
          <p:nvPr/>
        </p:nvSpPr>
        <p:spPr>
          <a:xfrm>
            <a:off x="4533290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6" name="bld2_1156"/>
          <p:cNvSpPr txBox="1"/>
          <p:nvPr/>
        </p:nvSpPr>
        <p:spPr>
          <a:xfrm>
            <a:off x="4533290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captive synthetic molecules cost more per kilo than gold-standard naturals — exclusivity and R&amp;D drive price, not "natural vs. synthetic."</a:t>
            </a:r>
            <a:endParaRPr lang="en-US" sz="1080" dirty="0"/>
          </a:p>
        </p:txBody>
      </p:sp>
      <p:sp>
        <p:nvSpPr>
          <p:cNvPr id="17" name="bld3_1157"/>
          <p:cNvSpPr/>
          <p:nvPr/>
        </p:nvSpPr>
        <p:spPr>
          <a:xfrm>
            <a:off x="8115605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1158"/>
          <p:cNvSpPr txBox="1"/>
          <p:nvPr/>
        </p:nvSpPr>
        <p:spPr>
          <a:xfrm>
            <a:off x="8316773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9" name="bld3_1159"/>
          <p:cNvSpPr txBox="1"/>
          <p:nvPr/>
        </p:nvSpPr>
        <p:spPr>
          <a:xfrm>
            <a:off x="8316773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smell inherently 'chemical'</a:t>
            </a:r>
            <a:endParaRPr lang="en-US" sz="1350" dirty="0"/>
          </a:p>
        </p:txBody>
      </p:sp>
      <p:sp>
        <p:nvSpPr>
          <p:cNvPr id="20" name="bld3_1160"/>
          <p:cNvSpPr txBox="1"/>
          <p:nvPr/>
        </p:nvSpPr>
        <p:spPr>
          <a:xfrm>
            <a:off x="8316773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1" name="bld3_1161"/>
          <p:cNvSpPr txBox="1"/>
          <p:nvPr/>
        </p:nvSpPr>
        <p:spPr>
          <a:xfrm>
            <a:off x="8316773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poorly built formula smells chemical — with any material. Iso E Super and Hedione are beloved precisely because they don't.</a:t>
            </a:r>
            <a:endParaRPr lang="en-US" sz="1080" dirty="0"/>
          </a:p>
        </p:txBody>
      </p:sp>
      <p:sp>
        <p:nvSpPr>
          <p:cNvPr id="22" name="bld4_1162"/>
          <p:cNvSpPr/>
          <p:nvPr/>
        </p:nvSpPr>
        <p:spPr>
          <a:xfrm>
            <a:off x="548640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163"/>
          <p:cNvSpPr txBox="1"/>
          <p:nvPr/>
        </p:nvSpPr>
        <p:spPr>
          <a:xfrm>
            <a:off x="749808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4" name="bld4_1164"/>
          <p:cNvSpPr txBox="1"/>
          <p:nvPr/>
        </p:nvSpPr>
        <p:spPr>
          <a:xfrm>
            <a:off x="749808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are automatically more sophisticated</a:t>
            </a:r>
            <a:endParaRPr lang="en-US" sz="1350" dirty="0"/>
          </a:p>
        </p:txBody>
      </p:sp>
      <p:sp>
        <p:nvSpPr>
          <p:cNvPr id="25" name="bld4_1165"/>
          <p:cNvSpPr txBox="1"/>
          <p:nvPr/>
        </p:nvSpPr>
        <p:spPr>
          <a:xfrm>
            <a:off x="749808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6" name="bld4_1166"/>
          <p:cNvSpPr txBox="1"/>
          <p:nvPr/>
        </p:nvSpPr>
        <p:spPr>
          <a:xfrm>
            <a:off x="749808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history's most acclaimed perfumes lean heavily synthetic. Sophistication is about composition, not ingredient origin.</a:t>
            </a:r>
            <a:endParaRPr lang="en-US" sz="1080" dirty="0"/>
          </a:p>
        </p:txBody>
      </p:sp>
      <p:sp>
        <p:nvSpPr>
          <p:cNvPr id="27" name="bld5_1167"/>
          <p:cNvSpPr/>
          <p:nvPr/>
        </p:nvSpPr>
        <p:spPr>
          <a:xfrm>
            <a:off x="4332122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1168"/>
          <p:cNvSpPr txBox="1"/>
          <p:nvPr/>
        </p:nvSpPr>
        <p:spPr>
          <a:xfrm>
            <a:off x="4533290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9" name="bld5_1169"/>
          <p:cNvSpPr txBox="1"/>
          <p:nvPr/>
        </p:nvSpPr>
        <p:spPr>
          <a:xfrm>
            <a:off x="4533290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perfumers avoid synthetics</a:t>
            </a:r>
            <a:endParaRPr lang="en-US" sz="1350" dirty="0"/>
          </a:p>
        </p:txBody>
      </p:sp>
      <p:sp>
        <p:nvSpPr>
          <p:cNvPr id="30" name="bld5_1170"/>
          <p:cNvSpPr txBox="1"/>
          <p:nvPr/>
        </p:nvSpPr>
        <p:spPr>
          <a:xfrm>
            <a:off x="4533290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1" name="bld5_1171"/>
          <p:cNvSpPr txBox="1"/>
          <p:nvPr/>
        </p:nvSpPr>
        <p:spPr>
          <a:xfrm>
            <a:off x="4533290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major fine fragrance house uses synthetics extensively — they are the industry standard, not a shortcut.</a:t>
            </a:r>
            <a:endParaRPr lang="en-US" sz="1080" dirty="0"/>
          </a:p>
        </p:txBody>
      </p:sp>
      <p:sp>
        <p:nvSpPr>
          <p:cNvPr id="33" name="trans_fade_6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4" name="Text 3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1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0EBE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0" name="Shape 8"/>
          <p:cNvSpPr/>
          <p:nvPr/>
        </p:nvSpPr>
        <p:spPr>
          <a:xfrm>
            <a:off x="1328151" y="3621193"/>
            <a:ext cx="1171926" cy="789776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12" name="bld1_1173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4" name="Shape 12"/>
          <p:cNvSpPr/>
          <p:nvPr/>
        </p:nvSpPr>
        <p:spPr>
          <a:xfrm>
            <a:off x="3331747" y="3831744"/>
            <a:ext cx="1346468" cy="907402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16" name="bld2_1175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8" name="Shape 16"/>
          <p:cNvSpPr/>
          <p:nvPr/>
        </p:nvSpPr>
        <p:spPr>
          <a:xfrm>
            <a:off x="5509885" y="3621193"/>
            <a:ext cx="1171926" cy="789776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0" name="bld3_1177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Ambrettolide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2" name="Shape 20"/>
          <p:cNvSpPr/>
          <p:nvPr/>
        </p:nvSpPr>
        <p:spPr>
          <a:xfrm>
            <a:off x="7600752" y="3890557"/>
            <a:ext cx="1171926" cy="789776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4" name="bld4_1179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Helvetolide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6" name="Shape 24"/>
          <p:cNvSpPr/>
          <p:nvPr/>
        </p:nvSpPr>
        <p:spPr>
          <a:xfrm>
            <a:off x="9604348" y="3562380"/>
            <a:ext cx="1346468" cy="907402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8" name="bld5_1181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Muscenone</a:t>
            </a:r>
            <a:endParaRPr lang="en-US" sz="1350" dirty="0"/>
          </a:p>
        </p:txBody>
      </p:sp>
      <p:sp>
        <p:nvSpPr>
          <p:cNvPr id="30" name="trans_fade_6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6" grpId="0"/>
      <p:bldP spid="20" grpId="0"/>
      <p:bldP spid="24" grpId="0"/>
      <p:bldP spid="28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Clean, soft, metallic, fruity — not one smell</a:t>
            </a:r>
            <a:endParaRPr lang="en-US" sz="3200" dirty="0"/>
          </a:p>
        </p:txBody>
      </p:sp>
      <p:sp>
        <p:nvSpPr>
          <p:cNvPr id="7" name="bld1_1182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9" name="Shape 7"/>
          <p:cNvSpPr/>
          <p:nvPr/>
        </p:nvSpPr>
        <p:spPr>
          <a:xfrm>
            <a:off x="1616331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1" name="bld1_1184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450" dirty="0"/>
          </a:p>
        </p:txBody>
      </p:sp>
      <p:sp>
        <p:nvSpPr>
          <p:cNvPr id="12" name="bld1_1185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laundry-like, soft. Base note, very long, radiant at low % — the classic "fresh clean" musk.</a:t>
            </a:r>
            <a:endParaRPr lang="en-US" sz="1080" dirty="0"/>
          </a:p>
        </p:txBody>
      </p:sp>
      <p:sp>
        <p:nvSpPr>
          <p:cNvPr id="13" name="bld2_1186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5" name="Shape 13"/>
          <p:cNvSpPr/>
          <p:nvPr/>
        </p:nvSpPr>
        <p:spPr>
          <a:xfrm>
            <a:off x="4453943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7" name="bld2_1188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450" dirty="0"/>
          </a:p>
        </p:txBody>
      </p:sp>
      <p:sp>
        <p:nvSpPr>
          <p:cNvPr id="18" name="bld2_1189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Big, soft, voluminous musk. Base note, very long — real diffusion and body, not just a background hum.</a:t>
            </a:r>
            <a:endParaRPr lang="en-US" sz="1080" dirty="0"/>
          </a:p>
        </p:txBody>
      </p:sp>
      <p:sp>
        <p:nvSpPr>
          <p:cNvPr id="19" name="bld3_1190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1" name="Shape 19"/>
          <p:cNvSpPr/>
          <p:nvPr/>
        </p:nvSpPr>
        <p:spPr>
          <a:xfrm>
            <a:off x="7291555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3" name="bld3_1192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Ambrettolide</a:t>
            </a:r>
            <a:endParaRPr lang="en-US" sz="1450" dirty="0"/>
          </a:p>
        </p:txBody>
      </p:sp>
      <p:sp>
        <p:nvSpPr>
          <p:cNvPr id="24" name="bld3_1193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Fruity-musky with a natural, animalic warmth. Base note, long — closer to ambrette seed than a lab-clean musk.</a:t>
            </a:r>
            <a:endParaRPr lang="en-US" sz="1080" dirty="0"/>
          </a:p>
        </p:txBody>
      </p:sp>
      <p:sp>
        <p:nvSpPr>
          <p:cNvPr id="25" name="bld4_1194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29166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9" name="bld4_1196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Helvetolide</a:t>
            </a:r>
            <a:endParaRPr lang="en-US" sz="1450" dirty="0"/>
          </a:p>
        </p:txBody>
      </p:sp>
      <p:sp>
        <p:nvSpPr>
          <p:cNvPr id="30" name="bld4_1197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fruity-musky, slightly creamy. Base note, medium-long, intimate — a gentler, more skin-like effect.</a:t>
            </a:r>
            <a:endParaRPr lang="en-US" sz="1080" dirty="0"/>
          </a:p>
        </p:txBody>
      </p:sp>
      <p:sp>
        <p:nvSpPr>
          <p:cNvPr id="31" name="bld5_1198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616331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35" name="bld5_1200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Ethylene Brassylate</a:t>
            </a:r>
            <a:endParaRPr lang="en-US" sz="1450" dirty="0"/>
          </a:p>
        </p:txBody>
      </p:sp>
      <p:sp>
        <p:nvSpPr>
          <p:cNvPr id="36" name="bld5_1201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Powdery, sweet, musky-soft. Base note, long — an affordable classic musk with a slight sweetness.</a:t>
            </a:r>
            <a:endParaRPr lang="en-US" sz="1080" dirty="0"/>
          </a:p>
        </p:txBody>
      </p:sp>
      <p:sp>
        <p:nvSpPr>
          <p:cNvPr id="37" name="bld6_1202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9" name="Shape 37"/>
          <p:cNvSpPr/>
          <p:nvPr/>
        </p:nvSpPr>
        <p:spPr>
          <a:xfrm>
            <a:off x="4453943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41" name="bld6_1204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Exaltolide</a:t>
            </a:r>
            <a:endParaRPr lang="en-US" sz="1450" dirty="0"/>
          </a:p>
        </p:txBody>
      </p:sp>
      <p:sp>
        <p:nvSpPr>
          <p:cNvPr id="42" name="bld6_1205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earliest clean musks, soft and powdery. Base note, long, very gentle diffusion.</a:t>
            </a:r>
            <a:endParaRPr lang="en-US" sz="1080" dirty="0"/>
          </a:p>
        </p:txBody>
      </p:sp>
      <p:sp>
        <p:nvSpPr>
          <p:cNvPr id="43" name="bld7_1206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5" name="Shape 43"/>
          <p:cNvSpPr/>
          <p:nvPr/>
        </p:nvSpPr>
        <p:spPr>
          <a:xfrm>
            <a:off x="7291555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47" name="bld7_1208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Muscenone</a:t>
            </a:r>
            <a:endParaRPr lang="en-US" sz="1450" dirty="0"/>
          </a:p>
        </p:txBody>
      </p:sp>
      <p:sp>
        <p:nvSpPr>
          <p:cNvPr id="48" name="bld7_1209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Rich, slightly animalic, natural musk-deer-adjacent character. Base note, long — a premium, complex musk.</a:t>
            </a:r>
            <a:endParaRPr lang="en-US" sz="1080" dirty="0"/>
          </a:p>
        </p:txBody>
      </p:sp>
      <p:sp>
        <p:nvSpPr>
          <p:cNvPr id="50" name="trans_fade_7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17" grpId="0"/>
      <p:bldP spid="18" grpId="0"/>
      <p:bldP spid="19" grpId="0"/>
      <p:bldP spid="23" grpId="0"/>
      <p:bldP spid="24" grpId="0"/>
      <p:bldP spid="25" grpId="0"/>
      <p:bldP spid="29" grpId="0"/>
      <p:bldP spid="30" grpId="0"/>
      <p:bldP spid="31" grpId="0"/>
      <p:bldP spid="35" grpId="0"/>
      <p:bldP spid="36" grpId="0"/>
      <p:bldP spid="37" grpId="0"/>
      <p:bldP spid="41" grpId="0"/>
      <p:bldP spid="42" grpId="0"/>
      <p:bldP spid="43" grpId="0"/>
      <p:bldP spid="47" grpId="0"/>
      <p:bldP spid="48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musks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8" name="Shape 6"/>
          <p:cNvSpPr/>
          <p:nvPr/>
        </p:nvSpPr>
        <p:spPr>
          <a:xfrm>
            <a:off x="1490710" y="2006066"/>
            <a:ext cx="1509199" cy="101706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0" name="bld1_1211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800" dirty="0"/>
          </a:p>
        </p:txBody>
      </p:sp>
      <p:sp>
        <p:nvSpPr>
          <p:cNvPr id="11" name="bld1_1212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2" name="bld1_1213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laundry-like musk</a:t>
            </a:r>
            <a:endParaRPr lang="en-US" sz="1100" dirty="0"/>
          </a:p>
        </p:txBody>
      </p:sp>
      <p:sp>
        <p:nvSpPr>
          <p:cNvPr id="13" name="bld1_1214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4" name="bld1_1215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"fresh clean" signature</a:t>
            </a:r>
            <a:endParaRPr lang="en-US" sz="1100" dirty="0"/>
          </a:p>
        </p:txBody>
      </p:sp>
      <p:sp>
        <p:nvSpPr>
          <p:cNvPr id="15" name="bld1_1216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6" name="bld1_1217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radiant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8" name="Shape 16"/>
          <p:cNvSpPr/>
          <p:nvPr/>
        </p:nvSpPr>
        <p:spPr>
          <a:xfrm>
            <a:off x="4884048" y="2006066"/>
            <a:ext cx="1509199" cy="101706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20" name="bld2_1219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800" dirty="0"/>
          </a:p>
        </p:txBody>
      </p:sp>
      <p:sp>
        <p:nvSpPr>
          <p:cNvPr id="21" name="bld2_1220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2" name="bld2_1221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Big, soft, voluminous</a:t>
            </a:r>
            <a:endParaRPr lang="en-US" sz="1100" dirty="0"/>
          </a:p>
        </p:txBody>
      </p:sp>
      <p:sp>
        <p:nvSpPr>
          <p:cNvPr id="23" name="bld2_1222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4" name="bld2_1223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diffusion and body</a:t>
            </a:r>
            <a:endParaRPr lang="en-US" sz="1100" dirty="0"/>
          </a:p>
        </p:txBody>
      </p:sp>
      <p:sp>
        <p:nvSpPr>
          <p:cNvPr id="25" name="bld2_1224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6" name="bld2_1225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diffusive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7387" y="2006066"/>
            <a:ext cx="1509199" cy="101706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30" name="bld3_1227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Ambrettolide</a:t>
            </a:r>
            <a:endParaRPr lang="en-US" sz="1800" dirty="0"/>
          </a:p>
        </p:txBody>
      </p:sp>
      <p:sp>
        <p:nvSpPr>
          <p:cNvPr id="31" name="bld3_1228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2" name="bld3_1229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Fruity-musky, animalic warmth</a:t>
            </a:r>
            <a:endParaRPr lang="en-US" sz="1100" dirty="0"/>
          </a:p>
        </p:txBody>
      </p:sp>
      <p:sp>
        <p:nvSpPr>
          <p:cNvPr id="33" name="bld3_1230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4" name="bld3_1231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Natural, skin-like feel</a:t>
            </a:r>
            <a:endParaRPr lang="en-US" sz="1100" dirty="0"/>
          </a:p>
        </p:txBody>
      </p:sp>
      <p:sp>
        <p:nvSpPr>
          <p:cNvPr id="35" name="bld3_1232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6" name="bld3_1233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moderate</a:t>
            </a:r>
            <a:endParaRPr lang="en-US" sz="1100" dirty="0"/>
          </a:p>
        </p:txBody>
      </p:sp>
      <p:sp>
        <p:nvSpPr>
          <p:cNvPr id="38" name="trans_fade_7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2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Amber, Ambrox &amp; Radiant Materials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EB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&amp; AMBROX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0" name="Shape 8"/>
          <p:cNvSpPr/>
          <p:nvPr/>
        </p:nvSpPr>
        <p:spPr>
          <a:xfrm rot="9000000">
            <a:off x="1595655" y="3723100"/>
            <a:ext cx="738823" cy="738823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6000000">
            <a:off x="1430057" y="3646670"/>
            <a:ext cx="458580" cy="458580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1400000">
            <a:off x="1952328" y="3570240"/>
            <a:ext cx="382150" cy="38215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4" name="bld1_1235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6" name="Shape 14"/>
          <p:cNvSpPr/>
          <p:nvPr/>
        </p:nvSpPr>
        <p:spPr>
          <a:xfrm rot="9000000">
            <a:off x="3639093" y="3948828"/>
            <a:ext cx="848860" cy="84886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6000000">
            <a:off x="3448831" y="3861015"/>
            <a:ext cx="526879" cy="52687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1400000">
            <a:off x="4048887" y="3773202"/>
            <a:ext cx="439066" cy="43906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0" name="bld2_1237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Ambrofix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2" name="Shape 20"/>
          <p:cNvSpPr/>
          <p:nvPr/>
        </p:nvSpPr>
        <p:spPr>
          <a:xfrm rot="9000000">
            <a:off x="5777390" y="3723100"/>
            <a:ext cx="738823" cy="738823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6000000">
            <a:off x="5611791" y="3646670"/>
            <a:ext cx="458580" cy="458580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1400000">
            <a:off x="6134063" y="3570240"/>
            <a:ext cx="382150" cy="38215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6" name="bld3_1239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Cetalox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 rot="9000000">
            <a:off x="7868257" y="3992464"/>
            <a:ext cx="738823" cy="738823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6000000">
            <a:off x="7702658" y="3916034"/>
            <a:ext cx="458580" cy="458580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1400000">
            <a:off x="8224930" y="3839604"/>
            <a:ext cx="382150" cy="38215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2" name="bld4_1241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Cedramber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4" name="Shape 32"/>
          <p:cNvSpPr/>
          <p:nvPr/>
        </p:nvSpPr>
        <p:spPr>
          <a:xfrm rot="9000000">
            <a:off x="9911694" y="3679464"/>
            <a:ext cx="848860" cy="84886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6000000">
            <a:off x="9721432" y="3591651"/>
            <a:ext cx="526879" cy="52687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1400000">
            <a:off x="10321488" y="3503838"/>
            <a:ext cx="439066" cy="43906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8" name="bld5_1243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Orcanox</a:t>
            </a:r>
            <a:endParaRPr lang="en-US" sz="1350" dirty="0"/>
          </a:p>
        </p:txBody>
      </p:sp>
      <p:sp>
        <p:nvSpPr>
          <p:cNvPr id="40" name="trans_fade_7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0" grpId="0"/>
      <p:bldP spid="26" grpId="0"/>
      <p:bldP spid="32" grpId="0"/>
      <p:bldP spid="38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AMBER, AMBROX &amp; RADIANT MATERIALS,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perfumery's defining effect</a:t>
            </a:r>
            <a:endParaRPr lang="en-US" sz="3200" dirty="0"/>
          </a:p>
        </p:txBody>
      </p:sp>
      <p:sp>
        <p:nvSpPr>
          <p:cNvPr id="7" name="bld1_1244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9" name="Shape 7"/>
          <p:cNvSpPr/>
          <p:nvPr/>
        </p:nvSpPr>
        <p:spPr>
          <a:xfrm rot="9000000">
            <a:off x="2191116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6000000">
            <a:off x="2128066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1400000">
            <a:off x="2326915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3" name="bld1_1246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450" dirty="0"/>
          </a:p>
        </p:txBody>
      </p:sp>
      <p:sp>
        <p:nvSpPr>
          <p:cNvPr id="14" name="bld1_1247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radiant amber-musk with real skin-warmth. Base note, very long, extremely diffusive — used lightly for radiance, strongly as a genre-defining base.</a:t>
            </a:r>
            <a:endParaRPr lang="en-US" sz="1080" dirty="0"/>
          </a:p>
        </p:txBody>
      </p:sp>
      <p:sp>
        <p:nvSpPr>
          <p:cNvPr id="15" name="bld2_1248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7" name="Shape 15"/>
          <p:cNvSpPr/>
          <p:nvPr/>
        </p:nvSpPr>
        <p:spPr>
          <a:xfrm rot="9000000">
            <a:off x="5974598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6000000">
            <a:off x="5911548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1400000">
            <a:off x="6110398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1" name="bld2_1250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Ambrofix</a:t>
            </a:r>
            <a:endParaRPr lang="en-US" sz="1450" dirty="0"/>
          </a:p>
        </p:txBody>
      </p:sp>
      <p:sp>
        <p:nvSpPr>
          <p:cNvPr id="22" name="bld2_1251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cleaner, more consistent take on Ambroxan's effect. Base note, very long — favoured for reliability batch to batch.</a:t>
            </a:r>
            <a:endParaRPr lang="en-US" sz="1080" dirty="0"/>
          </a:p>
        </p:txBody>
      </p:sp>
      <p:sp>
        <p:nvSpPr>
          <p:cNvPr id="23" name="bld3_1252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5" name="Shape 23"/>
          <p:cNvSpPr/>
          <p:nvPr/>
        </p:nvSpPr>
        <p:spPr>
          <a:xfrm rot="9000000">
            <a:off x="9758081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6000000">
            <a:off x="9695031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1400000">
            <a:off x="9893880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9" name="bld3_1254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Cetalox</a:t>
            </a:r>
            <a:endParaRPr lang="en-US" sz="1450" dirty="0"/>
          </a:p>
        </p:txBody>
      </p:sp>
      <p:sp>
        <p:nvSpPr>
          <p:cNvPr id="30" name="bld3_1255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ambery-woody, slightly musky. Base note, long — a gentler, rounder alternative to pure Ambroxan.</a:t>
            </a:r>
            <a:endParaRPr lang="en-US" sz="1080" dirty="0"/>
          </a:p>
        </p:txBody>
      </p:sp>
      <p:sp>
        <p:nvSpPr>
          <p:cNvPr id="31" name="bld4_1256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3" name="Shape 31"/>
          <p:cNvSpPr/>
          <p:nvPr/>
        </p:nvSpPr>
        <p:spPr>
          <a:xfrm rot="9000000">
            <a:off x="2191116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6000000">
            <a:off x="2128066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1400000">
            <a:off x="2326915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37" name="bld4_1258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Cedramber</a:t>
            </a:r>
            <a:endParaRPr lang="en-US" sz="1450" dirty="0"/>
          </a:p>
        </p:txBody>
      </p:sp>
      <p:sp>
        <p:nvSpPr>
          <p:cNvPr id="38" name="bld4_1259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Woody-amber crossover with a dry, radiant lift. Base note, long — bridges the woody and amber families.</a:t>
            </a:r>
            <a:endParaRPr lang="en-US" sz="1080" dirty="0"/>
          </a:p>
        </p:txBody>
      </p:sp>
      <p:sp>
        <p:nvSpPr>
          <p:cNvPr id="39" name="bld5_1260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1" name="Shape 39"/>
          <p:cNvSpPr/>
          <p:nvPr/>
        </p:nvSpPr>
        <p:spPr>
          <a:xfrm rot="9000000">
            <a:off x="5974598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6000000">
            <a:off x="5911548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1400000">
            <a:off x="6110398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5" name="bld5_1262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Xtreme</a:t>
            </a:r>
            <a:endParaRPr lang="en-US" sz="1450" dirty="0"/>
          </a:p>
        </p:txBody>
      </p:sp>
      <p:sp>
        <p:nvSpPr>
          <p:cNvPr id="46" name="bld5_1263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powerful, high-impact amber-woody radiance. Base note, very long — used at a fraction of a percent.</a:t>
            </a:r>
            <a:endParaRPr lang="en-US" sz="1080" dirty="0"/>
          </a:p>
        </p:txBody>
      </p:sp>
      <p:sp>
        <p:nvSpPr>
          <p:cNvPr id="47" name="bld6_1264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9" name="Shape 47"/>
          <p:cNvSpPr/>
          <p:nvPr/>
        </p:nvSpPr>
        <p:spPr>
          <a:xfrm rot="9000000">
            <a:off x="9758081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000000">
            <a:off x="9695031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1400000">
            <a:off x="9893880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53" name="bld6_1266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Orcanox</a:t>
            </a:r>
            <a:endParaRPr lang="en-US" sz="1450" dirty="0"/>
          </a:p>
        </p:txBody>
      </p:sp>
      <p:sp>
        <p:nvSpPr>
          <p:cNvPr id="54" name="bld6_1267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Smooth, ambery-woody, understated. Base note, long — a quieter, more blendable amber-radiant option.</a:t>
            </a:r>
            <a:endParaRPr lang="en-US" sz="1080" dirty="0"/>
          </a:p>
        </p:txBody>
      </p:sp>
      <p:sp>
        <p:nvSpPr>
          <p:cNvPr id="56" name="trans_fade_7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7" name="Text 5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1" grpId="0"/>
      <p:bldP spid="22" grpId="0"/>
      <p:bldP spid="23" grpId="0"/>
      <p:bldP spid="29" grpId="0"/>
      <p:bldP spid="30" grpId="0"/>
      <p:bldP spid="31" grpId="0"/>
      <p:bldP spid="37" grpId="0"/>
      <p:bldP spid="38" grpId="0"/>
      <p:bldP spid="39" grpId="0"/>
      <p:bldP spid="45" grpId="0"/>
      <p:bldP spid="46" grpId="0"/>
      <p:bldP spid="47" grpId="0"/>
      <p:bldP spid="53" grpId="0"/>
      <p:bldP spid="54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amber-radiants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8" name="Shape 6"/>
          <p:cNvSpPr/>
          <p:nvPr/>
        </p:nvSpPr>
        <p:spPr>
          <a:xfrm rot="9000000">
            <a:off x="1835201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6000000">
            <a:off x="1621944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1400000">
            <a:off x="2294522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2" name="bld1_1269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800" dirty="0"/>
          </a:p>
        </p:txBody>
      </p:sp>
      <p:sp>
        <p:nvSpPr>
          <p:cNvPr id="13" name="bld1_1270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1271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radiant amber-musk</a:t>
            </a:r>
            <a:endParaRPr lang="en-US" sz="1100" dirty="0"/>
          </a:p>
        </p:txBody>
      </p:sp>
      <p:sp>
        <p:nvSpPr>
          <p:cNvPr id="15" name="bld1_1272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1273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that carries far</a:t>
            </a:r>
            <a:endParaRPr lang="en-US" sz="1100" dirty="0"/>
          </a:p>
        </p:txBody>
      </p:sp>
      <p:sp>
        <p:nvSpPr>
          <p:cNvPr id="17" name="bld1_1274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1275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extreme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0" name="Shape 18"/>
          <p:cNvSpPr/>
          <p:nvPr/>
        </p:nvSpPr>
        <p:spPr>
          <a:xfrm rot="9000000">
            <a:off x="5228539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6000000">
            <a:off x="5015283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1400000">
            <a:off x="5687861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4" name="bld2_1277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Cetalox</a:t>
            </a:r>
            <a:endParaRPr lang="en-US" sz="1800" dirty="0"/>
          </a:p>
        </p:txBody>
      </p:sp>
      <p:sp>
        <p:nvSpPr>
          <p:cNvPr id="25" name="bld2_1278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6" name="bld2_1279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ambery-woody, musky</a:t>
            </a:r>
            <a:endParaRPr lang="en-US" sz="1100" dirty="0"/>
          </a:p>
        </p:txBody>
      </p:sp>
      <p:sp>
        <p:nvSpPr>
          <p:cNvPr id="27" name="bld2_1280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8" name="bld2_1281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gentler radiant glow</a:t>
            </a:r>
            <a:endParaRPr lang="en-US" sz="1100" dirty="0"/>
          </a:p>
        </p:txBody>
      </p:sp>
      <p:sp>
        <p:nvSpPr>
          <p:cNvPr id="29" name="bld2_1282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0" name="bld2_1283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moderate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8621878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8408621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9081199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36" name="bld3_1285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Cedramber</a:t>
            </a:r>
            <a:endParaRPr lang="en-US" sz="1800" dirty="0"/>
          </a:p>
        </p:txBody>
      </p:sp>
      <p:sp>
        <p:nvSpPr>
          <p:cNvPr id="37" name="bld3_1286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8" name="bld3_1287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Woody-amber crossover</a:t>
            </a:r>
            <a:endParaRPr lang="en-US" sz="1100" dirty="0"/>
          </a:p>
        </p:txBody>
      </p:sp>
      <p:sp>
        <p:nvSpPr>
          <p:cNvPr id="39" name="bld3_1288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0" name="bld3_1289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 wood and amber</a:t>
            </a:r>
            <a:endParaRPr lang="en-US" sz="1100" dirty="0"/>
          </a:p>
        </p:txBody>
      </p:sp>
      <p:sp>
        <p:nvSpPr>
          <p:cNvPr id="41" name="bld3_1290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2" name="bld3_1291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diffusive</a:t>
            </a:r>
            <a:endParaRPr lang="en-US" sz="1100" dirty="0"/>
          </a:p>
        </p:txBody>
      </p:sp>
      <p:sp>
        <p:nvSpPr>
          <p:cNvPr id="44" name="trans_fade_7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3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1E7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03316" y="3479523"/>
            <a:ext cx="1073117" cy="1073117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310628" y="3586835"/>
            <a:ext cx="858493" cy="858493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417940" y="3694146"/>
            <a:ext cx="643870" cy="64387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25251" y="3801458"/>
            <a:ext cx="429247" cy="42924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4" name="Shape 12"/>
          <p:cNvSpPr/>
          <p:nvPr/>
        </p:nvSpPr>
        <p:spPr>
          <a:xfrm>
            <a:off x="1632563" y="3908770"/>
            <a:ext cx="214623" cy="214623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75488" y="3951694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7" name="bld1_1293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9" name="Shape 17"/>
          <p:cNvSpPr/>
          <p:nvPr/>
        </p:nvSpPr>
        <p:spPr>
          <a:xfrm>
            <a:off x="2865793" y="3668974"/>
            <a:ext cx="1232942" cy="123294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0" name="Shape 18"/>
          <p:cNvSpPr/>
          <p:nvPr/>
        </p:nvSpPr>
        <p:spPr>
          <a:xfrm>
            <a:off x="3019910" y="3823092"/>
            <a:ext cx="924707" cy="924707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174028" y="3977210"/>
            <a:ext cx="616471" cy="616471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2" name="Shape 20"/>
          <p:cNvSpPr/>
          <p:nvPr/>
        </p:nvSpPr>
        <p:spPr>
          <a:xfrm>
            <a:off x="3328146" y="4131328"/>
            <a:ext cx="308236" cy="30823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08287" y="4211469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4" name="Shape 22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5" name="bld2_1295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688095" y="3479523"/>
            <a:ext cx="1073117" cy="107311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8" name="Shape 26"/>
          <p:cNvSpPr/>
          <p:nvPr/>
        </p:nvSpPr>
        <p:spPr>
          <a:xfrm>
            <a:off x="4956374" y="3747802"/>
            <a:ext cx="536558" cy="53655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160266" y="3951694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0" name="Shape 28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1" name="bld3_1297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Javanol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3" name="Shape 31"/>
          <p:cNvSpPr/>
          <p:nvPr/>
        </p:nvSpPr>
        <p:spPr>
          <a:xfrm>
            <a:off x="6430484" y="3748887"/>
            <a:ext cx="1073117" cy="107311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4" name="Shape 32"/>
          <p:cNvSpPr/>
          <p:nvPr/>
        </p:nvSpPr>
        <p:spPr>
          <a:xfrm>
            <a:off x="6698763" y="4017166"/>
            <a:ext cx="536558" cy="53655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902655" y="4221058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6" name="Shape 34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7" name="bld4_1299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Sandalore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9" name="Shape 37"/>
          <p:cNvSpPr/>
          <p:nvPr/>
        </p:nvSpPr>
        <p:spPr>
          <a:xfrm>
            <a:off x="8092960" y="3399610"/>
            <a:ext cx="1232942" cy="123294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298451" y="3605101"/>
            <a:ext cx="821962" cy="82196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41" y="3810591"/>
            <a:ext cx="410981" cy="410981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635455" y="3942105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3" name="Shape 4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4" name="bld5_1301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Ebanol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9915262" y="3748887"/>
            <a:ext cx="1073117" cy="1073117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094115" y="3927740"/>
            <a:ext cx="715411" cy="715411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8" name="Shape 46"/>
          <p:cNvSpPr/>
          <p:nvPr/>
        </p:nvSpPr>
        <p:spPr>
          <a:xfrm>
            <a:off x="10272968" y="4106593"/>
            <a:ext cx="357706" cy="35770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387434" y="4221058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0" name="Shape 48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1" name="bld6_1303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Polysantol</a:t>
            </a:r>
            <a:endParaRPr lang="en-US" sz="1350" dirty="0"/>
          </a:p>
        </p:txBody>
      </p:sp>
      <p:sp>
        <p:nvSpPr>
          <p:cNvPr id="53" name="trans_fade_7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4" name="Text 5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25" grpId="0"/>
      <p:bldP spid="31" grpId="0"/>
      <p:bldP spid="37" grpId="0"/>
      <p:bldP spid="44" grpId="0"/>
      <p:bldP spid="5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Dry, creamy, transparent, and textured woods</a:t>
            </a:r>
            <a:endParaRPr lang="en-US" sz="3200" dirty="0"/>
          </a:p>
        </p:txBody>
      </p:sp>
      <p:sp>
        <p:nvSpPr>
          <p:cNvPr id="7" name="bld1_1304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>
            <a:off x="1313170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61670" y="2026530"/>
            <a:ext cx="387998" cy="387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1" name="Shape 9"/>
          <p:cNvSpPr/>
          <p:nvPr/>
        </p:nvSpPr>
        <p:spPr>
          <a:xfrm>
            <a:off x="1410169" y="2075030"/>
            <a:ext cx="290999" cy="2909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458669" y="2123529"/>
            <a:ext cx="193999" cy="1939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3" name="Shape 11"/>
          <p:cNvSpPr/>
          <p:nvPr/>
        </p:nvSpPr>
        <p:spPr>
          <a:xfrm>
            <a:off x="1507169" y="2172029"/>
            <a:ext cx="97000" cy="9700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526569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5" name="Shape 13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6" name="bld1_1306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450" dirty="0"/>
          </a:p>
        </p:txBody>
      </p:sp>
      <p:sp>
        <p:nvSpPr>
          <p:cNvPr id="17" name="bld1_1307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Velvety, transparent, huge volume. Base note, very long — the single most-used woody synthetic in the world.</a:t>
            </a:r>
            <a:endParaRPr lang="en-US" sz="1080" dirty="0"/>
          </a:p>
        </p:txBody>
      </p:sp>
      <p:sp>
        <p:nvSpPr>
          <p:cNvPr id="18" name="bld2_1308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583259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1" name="Shape 19"/>
          <p:cNvSpPr/>
          <p:nvPr/>
        </p:nvSpPr>
        <p:spPr>
          <a:xfrm>
            <a:off x="3643884" y="2038655"/>
            <a:ext cx="363748" cy="36374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704509" y="2099280"/>
            <a:ext cx="242499" cy="2424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3" name="Shape 21"/>
          <p:cNvSpPr/>
          <p:nvPr/>
        </p:nvSpPr>
        <p:spPr>
          <a:xfrm>
            <a:off x="3765133" y="2159904"/>
            <a:ext cx="121249" cy="12124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796658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5" name="Shape 23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26" name="bld2_1310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Timbersilk</a:t>
            </a:r>
            <a:endParaRPr lang="en-US" sz="1450" dirty="0"/>
          </a:p>
        </p:txBody>
      </p:sp>
      <p:sp>
        <p:nvSpPr>
          <p:cNvPr id="27" name="bld2_1311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Smooth, silky, gentle woodiness. Base note, long — a softer, quieter cousin of Iso E Super.</a:t>
            </a:r>
            <a:endParaRPr lang="en-US" sz="1080" dirty="0"/>
          </a:p>
        </p:txBody>
      </p:sp>
      <p:sp>
        <p:nvSpPr>
          <p:cNvPr id="28" name="bld3_1312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853349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1" name="Shape 29"/>
          <p:cNvSpPr/>
          <p:nvPr/>
        </p:nvSpPr>
        <p:spPr>
          <a:xfrm>
            <a:off x="5913973" y="2038655"/>
            <a:ext cx="363748" cy="36374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974598" y="2099280"/>
            <a:ext cx="242499" cy="2424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3" name="Shape 31"/>
          <p:cNvSpPr/>
          <p:nvPr/>
        </p:nvSpPr>
        <p:spPr>
          <a:xfrm>
            <a:off x="6035223" y="2159904"/>
            <a:ext cx="121249" cy="12124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066748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5" name="Shape 33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36" name="bld3_1314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1450" dirty="0"/>
          </a:p>
        </p:txBody>
      </p:sp>
      <p:sp>
        <p:nvSpPr>
          <p:cNvPr id="37" name="bld3_1315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musky, spiced woodiness. Base note, very long, cosy — a comfort-wood texture unlike any natural.</a:t>
            </a:r>
            <a:endParaRPr lang="en-US" sz="1080" dirty="0"/>
          </a:p>
        </p:txBody>
      </p:sp>
      <p:sp>
        <p:nvSpPr>
          <p:cNvPr id="38" name="bld4_1316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0" name="Shape 38"/>
          <p:cNvSpPr/>
          <p:nvPr/>
        </p:nvSpPr>
        <p:spPr>
          <a:xfrm>
            <a:off x="8123438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1" name="Shape 39"/>
          <p:cNvSpPr/>
          <p:nvPr/>
        </p:nvSpPr>
        <p:spPr>
          <a:xfrm>
            <a:off x="8244688" y="2099280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336837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3" name="Shape 41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4" name="bld4_1318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Javanol</a:t>
            </a:r>
            <a:endParaRPr lang="en-US" sz="1450" dirty="0"/>
          </a:p>
        </p:txBody>
      </p:sp>
      <p:sp>
        <p:nvSpPr>
          <p:cNvPr id="45" name="bld4_1319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creamy, true-to-life sandalwood. Base note, long, intense at tiny doses — a modern sandalwood benchmark.</a:t>
            </a:r>
            <a:endParaRPr lang="en-US" sz="1080" dirty="0"/>
          </a:p>
        </p:txBody>
      </p:sp>
      <p:sp>
        <p:nvSpPr>
          <p:cNvPr id="46" name="bld5_1320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8" name="Shape 46"/>
          <p:cNvSpPr/>
          <p:nvPr/>
        </p:nvSpPr>
        <p:spPr>
          <a:xfrm>
            <a:off x="10393528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474361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0" name="Shape 48"/>
          <p:cNvSpPr/>
          <p:nvPr/>
        </p:nvSpPr>
        <p:spPr>
          <a:xfrm>
            <a:off x="10555194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0606927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2" name="Shape 50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3" name="bld5_1322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Ebanol</a:t>
            </a:r>
            <a:endParaRPr lang="en-US" sz="1450" dirty="0"/>
          </a:p>
        </p:txBody>
      </p:sp>
      <p:sp>
        <p:nvSpPr>
          <p:cNvPr id="54" name="bld5_1323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 sandalwood with a drier edge than Javanol. Base note, long — a versatile, affordable sandalwood substitute.</a:t>
            </a:r>
            <a:endParaRPr lang="en-US" sz="1080" dirty="0"/>
          </a:p>
        </p:txBody>
      </p:sp>
      <p:sp>
        <p:nvSpPr>
          <p:cNvPr id="55" name="bld6_1324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7" name="Shape 55"/>
          <p:cNvSpPr/>
          <p:nvPr/>
        </p:nvSpPr>
        <p:spPr>
          <a:xfrm>
            <a:off x="1313170" y="4337182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8" name="Shape 56"/>
          <p:cNvSpPr/>
          <p:nvPr/>
        </p:nvSpPr>
        <p:spPr>
          <a:xfrm>
            <a:off x="1434419" y="4458432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526569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60" name="Shape 58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61" name="bld6_1326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Sandalore</a:t>
            </a:r>
            <a:endParaRPr lang="en-US" sz="1450" dirty="0"/>
          </a:p>
        </p:txBody>
      </p:sp>
      <p:sp>
        <p:nvSpPr>
          <p:cNvPr id="62" name="bld6_1327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milky, gentle sandalwood effect. Base note, medium-long — the mildest of the sandalwood synthetics.</a:t>
            </a:r>
            <a:endParaRPr lang="en-US" sz="1080" dirty="0"/>
          </a:p>
        </p:txBody>
      </p:sp>
      <p:sp>
        <p:nvSpPr>
          <p:cNvPr id="63" name="bld7_1328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583259" y="4337182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66" name="Shape 64"/>
          <p:cNvSpPr/>
          <p:nvPr/>
        </p:nvSpPr>
        <p:spPr>
          <a:xfrm>
            <a:off x="3704509" y="4458432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3796658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68" name="Shape 66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9" name="bld7_1330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Bacdanol</a:t>
            </a:r>
            <a:endParaRPr lang="en-US" sz="1450" dirty="0"/>
          </a:p>
        </p:txBody>
      </p:sp>
      <p:sp>
        <p:nvSpPr>
          <p:cNvPr id="70" name="bld7_1331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woody-balsamic sandalwood facet. Base note, long — adds roundness alongside sharper woods.</a:t>
            </a:r>
            <a:endParaRPr lang="en-US" sz="1080" dirty="0"/>
          </a:p>
        </p:txBody>
      </p:sp>
      <p:sp>
        <p:nvSpPr>
          <p:cNvPr id="71" name="bld8_1332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853349" y="4337182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5934182" y="4418015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75" name="Shape 73"/>
          <p:cNvSpPr/>
          <p:nvPr/>
        </p:nvSpPr>
        <p:spPr>
          <a:xfrm>
            <a:off x="6015015" y="4498848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6066748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77" name="Shape 75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78" name="bld8_1334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Polysantol</a:t>
            </a:r>
            <a:endParaRPr lang="en-US" sz="1450" dirty="0"/>
          </a:p>
        </p:txBody>
      </p:sp>
      <p:sp>
        <p:nvSpPr>
          <p:cNvPr id="79" name="bld8_1335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Intense, creamy-sweet sandalwood character. Base note, long, potent — used in very small amounts.</a:t>
            </a:r>
            <a:endParaRPr lang="en-US" sz="1080" dirty="0"/>
          </a:p>
        </p:txBody>
      </p:sp>
      <p:sp>
        <p:nvSpPr>
          <p:cNvPr id="80" name="bld9_1336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2" name="Shape 80"/>
          <p:cNvSpPr/>
          <p:nvPr/>
        </p:nvSpPr>
        <p:spPr>
          <a:xfrm>
            <a:off x="8123438" y="4337182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8171938" y="4385682"/>
            <a:ext cx="387998" cy="387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84" name="Shape 82"/>
          <p:cNvSpPr/>
          <p:nvPr/>
        </p:nvSpPr>
        <p:spPr>
          <a:xfrm>
            <a:off x="8220438" y="4434182"/>
            <a:ext cx="290999" cy="2909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8268937" y="4482681"/>
            <a:ext cx="193999" cy="1939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86" name="Shape 84"/>
          <p:cNvSpPr/>
          <p:nvPr/>
        </p:nvSpPr>
        <p:spPr>
          <a:xfrm>
            <a:off x="8317437" y="4531181"/>
            <a:ext cx="97000" cy="9700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8336837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88" name="Shape 86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89" name="bld9_1338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Kephalis</a:t>
            </a:r>
            <a:endParaRPr lang="en-US" sz="1450" dirty="0"/>
          </a:p>
        </p:txBody>
      </p:sp>
      <p:sp>
        <p:nvSpPr>
          <p:cNvPr id="90" name="bld9_1339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vetiver-cedar textured woodiness. Base note, long — adds grain and structure rather than smoothness.</a:t>
            </a:r>
            <a:endParaRPr lang="en-US" sz="1080" dirty="0"/>
          </a:p>
        </p:txBody>
      </p:sp>
      <p:sp>
        <p:nvSpPr>
          <p:cNvPr id="92" name="trans_fade_7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93" name="Text 9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6" grpId="0"/>
      <p:bldP spid="17" grpId="0"/>
      <p:bldP spid="18" grpId="0"/>
      <p:bldP spid="26" grpId="0"/>
      <p:bldP spid="27" grpId="0"/>
      <p:bldP spid="28" grpId="0"/>
      <p:bldP spid="36" grpId="0"/>
      <p:bldP spid="37" grpId="0"/>
      <p:bldP spid="38" grpId="0"/>
      <p:bldP spid="44" grpId="0"/>
      <p:bldP spid="45" grpId="0"/>
      <p:bldP spid="46" grpId="0"/>
      <p:bldP spid="53" grpId="0"/>
      <p:bldP spid="54" grpId="0"/>
      <p:bldP spid="55" grpId="0"/>
      <p:bldP spid="61" grpId="0"/>
      <p:bldP spid="62" grpId="0"/>
      <p:bldP spid="63" grpId="0"/>
      <p:bldP spid="69" grpId="0"/>
      <p:bldP spid="70" grpId="0"/>
      <p:bldP spid="71" grpId="0"/>
      <p:bldP spid="78" grpId="0"/>
      <p:bldP spid="79" grpId="0"/>
      <p:bldP spid="80" grpId="0"/>
      <p:bldP spid="89" grpId="0"/>
      <p:bldP spid="90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woody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1005612" y="1756220"/>
            <a:ext cx="1516759" cy="151675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7288" y="1907896"/>
            <a:ext cx="1213407" cy="121340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0" name="Shape 8"/>
          <p:cNvSpPr/>
          <p:nvPr/>
        </p:nvSpPr>
        <p:spPr>
          <a:xfrm>
            <a:off x="1308964" y="2059572"/>
            <a:ext cx="910056" cy="91005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460640" y="2211248"/>
            <a:ext cx="606704" cy="606704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612316" y="2362924"/>
            <a:ext cx="303352" cy="30335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72986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4" name="Shape 12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5" name="bld1_1341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800" dirty="0"/>
          </a:p>
        </p:txBody>
      </p:sp>
      <p:sp>
        <p:nvSpPr>
          <p:cNvPr id="16" name="bld1_1342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7" name="bld1_1343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Velvety, transparent, huge volume</a:t>
            </a:r>
            <a:endParaRPr lang="en-US" sz="1100" dirty="0"/>
          </a:p>
        </p:txBody>
      </p:sp>
      <p:sp>
        <p:nvSpPr>
          <p:cNvPr id="18" name="bld1_1344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9" name="bld1_1345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without weight</a:t>
            </a:r>
            <a:endParaRPr lang="en-US" sz="1100" dirty="0"/>
          </a:p>
        </p:txBody>
      </p:sp>
      <p:sp>
        <p:nvSpPr>
          <p:cNvPr id="20" name="bld1_1346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1" name="bld1_1347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any dose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436316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25911" y="1945815"/>
            <a:ext cx="1137569" cy="113756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815506" y="2135410"/>
            <a:ext cx="758380" cy="758380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05101" y="2325005"/>
            <a:ext cx="379190" cy="37919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103690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8" name="Shape 26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29" name="bld2_1349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1800" dirty="0"/>
          </a:p>
        </p:txBody>
      </p:sp>
      <p:sp>
        <p:nvSpPr>
          <p:cNvPr id="30" name="bld2_1350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1" name="bld2_1351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musky, spiced woodiness</a:t>
            </a:r>
            <a:endParaRPr lang="en-US" sz="1100" dirty="0"/>
          </a:p>
        </p:txBody>
      </p:sp>
      <p:sp>
        <p:nvSpPr>
          <p:cNvPr id="32" name="bld2_1352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3" name="bld2_1353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Cosy, enveloping warmth</a:t>
            </a:r>
            <a:endParaRPr lang="en-US" sz="1100" dirty="0"/>
          </a:p>
        </p:txBody>
      </p:sp>
      <p:sp>
        <p:nvSpPr>
          <p:cNvPr id="34" name="bld2_1354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5" name="bld2_1355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867020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8" name="Shape 36"/>
          <p:cNvSpPr/>
          <p:nvPr/>
        </p:nvSpPr>
        <p:spPr>
          <a:xfrm>
            <a:off x="6246210" y="2135410"/>
            <a:ext cx="758380" cy="75838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534394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0" name="Shape 38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1" name="bld3_1357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Javanol</a:t>
            </a:r>
            <a:endParaRPr lang="en-US" sz="1800" dirty="0"/>
          </a:p>
        </p:txBody>
      </p:sp>
      <p:sp>
        <p:nvSpPr>
          <p:cNvPr id="42" name="bld3_1358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3" name="bld3_1359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creamy sandalwood</a:t>
            </a:r>
            <a:endParaRPr lang="en-US" sz="1100" dirty="0"/>
          </a:p>
        </p:txBody>
      </p:sp>
      <p:sp>
        <p:nvSpPr>
          <p:cNvPr id="44" name="bld3_1360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5" name="bld3_1361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True-to-life sandalwood, intense</a:t>
            </a:r>
            <a:endParaRPr lang="en-US" sz="1100" dirty="0"/>
          </a:p>
        </p:txBody>
      </p:sp>
      <p:sp>
        <p:nvSpPr>
          <p:cNvPr id="46" name="bld3_1362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7" name="bld3_1363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tiny dose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9" name="Shape 47"/>
          <p:cNvSpPr/>
          <p:nvPr/>
        </p:nvSpPr>
        <p:spPr>
          <a:xfrm>
            <a:off x="8297724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0" name="Shape 48"/>
          <p:cNvSpPr/>
          <p:nvPr/>
        </p:nvSpPr>
        <p:spPr>
          <a:xfrm>
            <a:off x="8676914" y="2135410"/>
            <a:ext cx="758380" cy="75838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65098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2" name="Shape 50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3" name="bld4_1365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Sandalore</a:t>
            </a:r>
            <a:endParaRPr lang="en-US" sz="1800" dirty="0"/>
          </a:p>
        </p:txBody>
      </p:sp>
      <p:sp>
        <p:nvSpPr>
          <p:cNvPr id="54" name="bld4_1366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5" name="bld4_1367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milky sandalwood</a:t>
            </a:r>
            <a:endParaRPr lang="en-US" sz="1100" dirty="0"/>
          </a:p>
        </p:txBody>
      </p:sp>
      <p:sp>
        <p:nvSpPr>
          <p:cNvPr id="56" name="bld4_1368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7" name="bld4_1369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mildest sandalwood effect</a:t>
            </a:r>
            <a:endParaRPr lang="en-US" sz="1100" dirty="0"/>
          </a:p>
        </p:txBody>
      </p:sp>
      <p:sp>
        <p:nvSpPr>
          <p:cNvPr id="58" name="bld4_1370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9" name="bld4_1371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medium-long</a:t>
            </a:r>
            <a:endParaRPr lang="en-US" sz="1100" dirty="0"/>
          </a:p>
        </p:txBody>
      </p:sp>
      <p:sp>
        <p:nvSpPr>
          <p:cNvPr id="61" name="trans_fade_7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2" name="Text 5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53" grpId="0"/>
      <p:bldP spid="54" grpId="0"/>
      <p:bldP spid="55" grpId="0"/>
      <p:bldP spid="56" grpId="0"/>
      <p:bldP spid="57" grpId="0"/>
      <p:bldP spid="58" grpId="0"/>
      <p:bldP spid="5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4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AEC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" name="Shape 8"/>
          <p:cNvSpPr/>
          <p:nvPr/>
        </p:nvSpPr>
        <p:spPr>
          <a:xfrm rot="10800000">
            <a:off x="1824945" y="3379165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4400000">
            <a:off x="2100738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8000000">
            <a:off x="2100738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824945" y="4016081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3600000">
            <a:off x="1549152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7200000">
            <a:off x="1549152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61254" y="3863221"/>
            <a:ext cx="305720" cy="30572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7" name="Shape 15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8" name="bld1_1373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0" name="Shape 18"/>
          <p:cNvSpPr/>
          <p:nvPr/>
        </p:nvSpPr>
        <p:spPr>
          <a:xfrm>
            <a:off x="3822037" y="3547815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4320000">
            <a:off x="4158185" y="3792042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640000">
            <a:off x="4029788" y="418720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2960000">
            <a:off x="3614285" y="418720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7280000">
            <a:off x="3485888" y="3792042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829354" y="4109819"/>
            <a:ext cx="351252" cy="35125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6" name="Shape 24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7" name="bld2_1375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Phenylethyl Alcohol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9" name="Shape 27"/>
          <p:cNvSpPr/>
          <p:nvPr/>
        </p:nvSpPr>
        <p:spPr>
          <a:xfrm rot="10800000">
            <a:off x="6006679" y="3379165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4400000">
            <a:off x="6282472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8000000">
            <a:off x="6282472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006679" y="4016081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3600000">
            <a:off x="5730887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7200000">
            <a:off x="5730887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942988" y="3863221"/>
            <a:ext cx="305720" cy="30572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6" name="Shape 34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7" name="bld3_1377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Benzyl Acetate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9" name="Shape 37"/>
          <p:cNvSpPr/>
          <p:nvPr/>
        </p:nvSpPr>
        <p:spPr>
          <a:xfrm>
            <a:off x="8091177" y="3863552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2700000">
            <a:off x="8227368" y="3919964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5400000">
            <a:off x="8283781" y="4056156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8100000">
            <a:off x="8227368" y="4192347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0800000">
            <a:off x="8091177" y="4248759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3500000">
            <a:off x="7954986" y="4192347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6200000">
            <a:off x="7898574" y="4056156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8900000">
            <a:off x="7954986" y="3919964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084808" y="4183539"/>
            <a:ext cx="203813" cy="20381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8" name="Shape 46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9" name="bld4_1379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Alpha Ionone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1" name="Shape 49"/>
          <p:cNvSpPr/>
          <p:nvPr/>
        </p:nvSpPr>
        <p:spPr>
          <a:xfrm>
            <a:off x="10094638" y="3278451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4320000">
            <a:off x="10430787" y="352267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8640000">
            <a:off x="10302389" y="3917844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2960000">
            <a:off x="9886886" y="3917844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7280000">
            <a:off x="9758489" y="352267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10101955" y="3840455"/>
            <a:ext cx="351252" cy="35125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7" name="Shape 5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8" name="bld5_1381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Oxide</a:t>
            </a:r>
            <a:endParaRPr lang="en-US" sz="1350" dirty="0"/>
          </a:p>
        </p:txBody>
      </p:sp>
      <p:sp>
        <p:nvSpPr>
          <p:cNvPr id="60" name="trans_fade_7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1" name="Text 5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27" grpId="0"/>
      <p:bldP spid="37" grpId="0"/>
      <p:bldP spid="49" grpId="0"/>
      <p:bldP spid="58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Isolated, hyper-true floral facets</a:t>
            </a:r>
            <a:endParaRPr lang="en-US" sz="3200" dirty="0"/>
          </a:p>
        </p:txBody>
      </p:sp>
      <p:sp>
        <p:nvSpPr>
          <p:cNvPr id="7" name="bld1_1382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1521719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1626724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1626724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21719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1416714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1416714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97469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7" name="bld1_1384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450" dirty="0"/>
          </a:p>
        </p:txBody>
      </p:sp>
      <p:sp>
        <p:nvSpPr>
          <p:cNvPr id="18" name="bld1_1385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Airy, jasmine-adjacent radiance. Heart note, medium-long, hugely diffusive — opens space around every other material.</a:t>
            </a:r>
            <a:endParaRPr lang="en-US" sz="1080" dirty="0"/>
          </a:p>
        </p:txBody>
      </p:sp>
      <p:sp>
        <p:nvSpPr>
          <p:cNvPr id="19" name="bld2_1386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3789383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2700000">
            <a:off x="3841237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5400000">
            <a:off x="3862715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8100000">
            <a:off x="3841237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0800000">
            <a:off x="3789383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3500000">
            <a:off x="3737530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6200000">
            <a:off x="3716052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8900000">
            <a:off x="3737530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786958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31" name="bld2_1388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Hydroxycitronellal</a:t>
            </a:r>
            <a:endParaRPr lang="en-US" sz="1450" dirty="0"/>
          </a:p>
        </p:txBody>
      </p:sp>
      <p:sp>
        <p:nvSpPr>
          <p:cNvPr id="32" name="bld2_1389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muguet (lily-of-the-valley) floral. Heart note, medium — a clean, slightly waxy floral lift.</a:t>
            </a:r>
            <a:endParaRPr lang="en-US" sz="1080" dirty="0"/>
          </a:p>
        </p:txBody>
      </p:sp>
      <p:sp>
        <p:nvSpPr>
          <p:cNvPr id="33" name="bld3_1390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5" name="Shape 33"/>
          <p:cNvSpPr/>
          <p:nvPr/>
        </p:nvSpPr>
        <p:spPr>
          <a:xfrm>
            <a:off x="6035223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4320000">
            <a:off x="614661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8640000">
            <a:off x="610406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2960000">
            <a:off x="596637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7280000">
            <a:off x="5923829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037648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1" name="Shape 39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2" name="bld3_1392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Phenylethyl Alcohol</a:t>
            </a:r>
            <a:endParaRPr lang="en-US" sz="1450" dirty="0"/>
          </a:p>
        </p:txBody>
      </p:sp>
      <p:sp>
        <p:nvSpPr>
          <p:cNvPr id="43" name="bld3_1393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rosy, slightly honeyed. Heart note, medium — the single most-used rose material in the world.</a:t>
            </a:r>
            <a:endParaRPr lang="en-US" sz="1080" dirty="0"/>
          </a:p>
        </p:txBody>
      </p:sp>
      <p:sp>
        <p:nvSpPr>
          <p:cNvPr id="44" name="bld4_1394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6" name="Shape 44"/>
          <p:cNvSpPr/>
          <p:nvPr/>
        </p:nvSpPr>
        <p:spPr>
          <a:xfrm rot="10800000">
            <a:off x="8331987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4400000">
            <a:off x="8436992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8000000">
            <a:off x="8436992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331987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3600000">
            <a:off x="8226982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7200000">
            <a:off x="8226982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307737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3" name="Shape 51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54" name="bld4_1396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Benzyl Acetate</a:t>
            </a:r>
            <a:endParaRPr lang="en-US" sz="1450" dirty="0"/>
          </a:p>
        </p:txBody>
      </p:sp>
      <p:sp>
        <p:nvSpPr>
          <p:cNvPr id="55" name="bld4_1397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fruity-jasmine, pear-like. Top-heart, medium — a bright lift inside a jasmine accord.</a:t>
            </a:r>
            <a:endParaRPr lang="en-US" sz="1080" dirty="0"/>
          </a:p>
        </p:txBody>
      </p:sp>
      <p:sp>
        <p:nvSpPr>
          <p:cNvPr id="56" name="bld5_1398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8" name="Shape 56"/>
          <p:cNvSpPr/>
          <p:nvPr/>
        </p:nvSpPr>
        <p:spPr>
          <a:xfrm>
            <a:off x="10599652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2700000">
            <a:off x="10651505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5400000">
            <a:off x="10672983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8100000">
            <a:off x="10651505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0800000">
            <a:off x="10599652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3500000">
            <a:off x="10547798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16200000">
            <a:off x="10526320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18900000">
            <a:off x="10547798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10597227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7" name="Shape 65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8" name="bld5_1400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Linalool</a:t>
            </a:r>
            <a:endParaRPr lang="en-US" sz="1450" dirty="0"/>
          </a:p>
        </p:txBody>
      </p:sp>
      <p:sp>
        <p:nvSpPr>
          <p:cNvPr id="69" name="bld5_1401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Floral-woody freshness, occurs naturally too. Top-heart, medium — a foundational, near-invisible freshener.</a:t>
            </a:r>
            <a:endParaRPr lang="en-US" sz="1080" dirty="0"/>
          </a:p>
        </p:txBody>
      </p:sp>
      <p:sp>
        <p:nvSpPr>
          <p:cNvPr id="70" name="bld6_1402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72" name="Shape 70"/>
          <p:cNvSpPr/>
          <p:nvPr/>
        </p:nvSpPr>
        <p:spPr>
          <a:xfrm>
            <a:off x="1519294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2700000">
            <a:off x="1571147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 rot="5400000">
            <a:off x="1592626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 rot="8100000">
            <a:off x="1571147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 rot="10800000">
            <a:off x="1519294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 rot="13500000">
            <a:off x="1467441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 rot="16200000">
            <a:off x="1445962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 rot="18900000">
            <a:off x="1467441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1516869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81" name="Shape 79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82" name="bld6_1404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Linalyl Acetate</a:t>
            </a:r>
            <a:endParaRPr lang="en-US" sz="1450" dirty="0"/>
          </a:p>
        </p:txBody>
      </p:sp>
      <p:sp>
        <p:nvSpPr>
          <p:cNvPr id="83" name="bld6_1405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pear-like, lavender-adjacent. Top note, medium — rounds out linalool with a fruity edge.</a:t>
            </a:r>
            <a:endParaRPr lang="en-US" sz="1080" dirty="0"/>
          </a:p>
        </p:txBody>
      </p:sp>
      <p:sp>
        <p:nvSpPr>
          <p:cNvPr id="84" name="bld7_1406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6" name="Shape 84"/>
          <p:cNvSpPr/>
          <p:nvPr/>
        </p:nvSpPr>
        <p:spPr>
          <a:xfrm>
            <a:off x="3789383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 rot="2700000">
            <a:off x="3841237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 rot="5400000">
            <a:off x="3862715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 rot="8100000">
            <a:off x="3841237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 rot="10800000">
            <a:off x="3789383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 rot="13500000">
            <a:off x="3737530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 rot="16200000">
            <a:off x="3716052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 rot="18900000">
            <a:off x="3737530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3786958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95" name="Shape 93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96" name="bld7_1408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Citronellol</a:t>
            </a:r>
            <a:endParaRPr lang="en-US" sz="1450" dirty="0"/>
          </a:p>
        </p:txBody>
      </p:sp>
      <p:sp>
        <p:nvSpPr>
          <p:cNvPr id="97" name="bld7_1409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rosy-citrus freshness. Top-heart, medium — a common rose extender and freshener.</a:t>
            </a:r>
            <a:endParaRPr lang="en-US" sz="1080" dirty="0"/>
          </a:p>
        </p:txBody>
      </p:sp>
      <p:sp>
        <p:nvSpPr>
          <p:cNvPr id="98" name="bld8_1410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0" name="Shape 98"/>
          <p:cNvSpPr/>
          <p:nvPr/>
        </p:nvSpPr>
        <p:spPr>
          <a:xfrm>
            <a:off x="6059473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2700000">
            <a:off x="6111326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5400000">
            <a:off x="6132804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8100000">
            <a:off x="6111326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 rot="10800000">
            <a:off x="6059473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 rot="13500000">
            <a:off x="6007619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 rot="16200000">
            <a:off x="5986141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 rot="18900000">
            <a:off x="6007619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6057048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110" name="bld8_1412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Geraniol</a:t>
            </a:r>
            <a:endParaRPr lang="en-US" sz="1450" dirty="0"/>
          </a:p>
        </p:txBody>
      </p:sp>
      <p:sp>
        <p:nvSpPr>
          <p:cNvPr id="111" name="bld8_1413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Rosy, slightly sweet, geranium-adjacent. Heart note, medium — pairs naturally with citronellol.</a:t>
            </a:r>
            <a:endParaRPr lang="en-US" sz="1080" dirty="0"/>
          </a:p>
        </p:txBody>
      </p:sp>
      <p:sp>
        <p:nvSpPr>
          <p:cNvPr id="112" name="bld9_1414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3" name="Shape 111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329562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 rot="2700000">
            <a:off x="8381416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6" name="Shape 114"/>
          <p:cNvSpPr/>
          <p:nvPr/>
        </p:nvSpPr>
        <p:spPr>
          <a:xfrm rot="5400000">
            <a:off x="8402894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 rot="8100000">
            <a:off x="8381416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 rot="10800000">
            <a:off x="8329562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 rot="13500000">
            <a:off x="8277709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 rot="16200000">
            <a:off x="8256231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 rot="18900000">
            <a:off x="8277709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>
            <a:off x="8327137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8A4A66"/>
            </a:solidFill>
            <a:prstDash val="solid"/>
          </a:ln>
        </p:spPr>
      </p:sp>
      <p:sp>
        <p:nvSpPr>
          <p:cNvPr id="124" name="bld9_1416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Ionones</a:t>
            </a:r>
            <a:endParaRPr lang="en-US" sz="1450" dirty="0"/>
          </a:p>
        </p:txBody>
      </p:sp>
      <p:sp>
        <p:nvSpPr>
          <p:cNvPr id="125" name="bld9_1417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Alpha, beta &amp; methyl ionone — powdery violet-woody-suede. Heart-base, medium-long — the entire "violet" effect comes from this trio.</a:t>
            </a:r>
            <a:endParaRPr lang="en-US" sz="1080" dirty="0"/>
          </a:p>
        </p:txBody>
      </p:sp>
      <p:sp>
        <p:nvSpPr>
          <p:cNvPr id="126" name="bld10_1418"/>
          <p:cNvSpPr/>
          <p:nvPr/>
        </p:nvSpPr>
        <p:spPr>
          <a:xfrm>
            <a:off x="962899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7" name="Shape 125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10575402" y="4335242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 rot="4320000">
            <a:off x="10686796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0" name="Shape 128"/>
          <p:cNvSpPr/>
          <p:nvPr/>
        </p:nvSpPr>
        <p:spPr>
          <a:xfrm rot="8640000">
            <a:off x="10644247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1" name="Shape 129"/>
          <p:cNvSpPr/>
          <p:nvPr/>
        </p:nvSpPr>
        <p:spPr>
          <a:xfrm rot="12960000">
            <a:off x="10506556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2" name="Shape 130"/>
          <p:cNvSpPr/>
          <p:nvPr/>
        </p:nvSpPr>
        <p:spPr>
          <a:xfrm rot="17280000">
            <a:off x="10464007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3" name="Shape 131"/>
          <p:cNvSpPr/>
          <p:nvPr/>
        </p:nvSpPr>
        <p:spPr>
          <a:xfrm>
            <a:off x="10577827" y="4521481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35" name="bld10_1420"/>
          <p:cNvSpPr txBox="1"/>
          <p:nvPr/>
        </p:nvSpPr>
        <p:spPr>
          <a:xfrm>
            <a:off x="981187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Oxide</a:t>
            </a:r>
            <a:endParaRPr lang="en-US" sz="1450" dirty="0"/>
          </a:p>
        </p:txBody>
      </p:sp>
      <p:sp>
        <p:nvSpPr>
          <p:cNvPr id="136" name="bld10_1421"/>
          <p:cNvSpPr txBox="1"/>
          <p:nvPr/>
        </p:nvSpPr>
        <p:spPr>
          <a:xfrm>
            <a:off x="981187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green, metallic-rosy top facet. Top note, short — a tiny dose gives rose an unmistakable natural sparkle.</a:t>
            </a:r>
            <a:endParaRPr lang="en-US" sz="1080" dirty="0"/>
          </a:p>
        </p:txBody>
      </p:sp>
      <p:sp>
        <p:nvSpPr>
          <p:cNvPr id="138" name="trans_fade_7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39" name="Text 1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7" grpId="0"/>
      <p:bldP spid="18" grpId="0"/>
      <p:bldP spid="19" grpId="0"/>
      <p:bldP spid="31" grpId="0"/>
      <p:bldP spid="32" grpId="0"/>
      <p:bldP spid="33" grpId="0"/>
      <p:bldP spid="42" grpId="0"/>
      <p:bldP spid="43" grpId="0"/>
      <p:bldP spid="44" grpId="0"/>
      <p:bldP spid="54" grpId="0"/>
      <p:bldP spid="55" grpId="0"/>
      <p:bldP spid="56" grpId="0"/>
      <p:bldP spid="68" grpId="0"/>
      <p:bldP spid="69" grpId="0"/>
      <p:bldP spid="70" grpId="0"/>
      <p:bldP spid="82" grpId="0"/>
      <p:bldP spid="83" grpId="0"/>
      <p:bldP spid="84" grpId="0"/>
      <p:bldP spid="96" grpId="0"/>
      <p:bldP spid="97" grpId="0"/>
      <p:bldP spid="98" grpId="0"/>
      <p:bldP spid="110" grpId="0"/>
      <p:bldP spid="111" grpId="0"/>
      <p:bldP spid="112" grpId="0"/>
      <p:bldP spid="124" grpId="0"/>
      <p:bldP spid="125" grpId="0"/>
      <p:bldP spid="126" grpId="0"/>
      <p:bldP spid="135" grpId="0"/>
      <p:bldP spid="13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floral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1657819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4400000">
            <a:off x="1986207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8000000">
            <a:off x="1986207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57819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3600000">
            <a:off x="1329431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7200000">
            <a:off x="1329431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581981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5" name="Shape 13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08470" y="1658992"/>
            <a:ext cx="311130" cy="311130"/>
          </a:xfrm>
          <a:prstGeom prst="star5">
            <a:avLst/>
          </a:prstGeom>
          <a:solidFill>
            <a:srgbClr val="EFB0C8">
              <a:alpha val="90000"/>
            </a:srgbClr>
          </a:solidFill>
          <a:ln/>
        </p:spPr>
      </p:sp>
      <p:sp>
        <p:nvSpPr>
          <p:cNvPr id="17" name="bld1_1423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800" dirty="0"/>
          </a:p>
        </p:txBody>
      </p:sp>
      <p:sp>
        <p:nvSpPr>
          <p:cNvPr id="18" name="bld1_1424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9" name="bld1_1425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Airy, jasmine-adjacent radiance</a:t>
            </a:r>
            <a:endParaRPr lang="en-US" sz="1100" dirty="0"/>
          </a:p>
        </p:txBody>
      </p:sp>
      <p:sp>
        <p:nvSpPr>
          <p:cNvPr id="20" name="bld1_1426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1" name="bld1_1427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space in a formula</a:t>
            </a:r>
            <a:endParaRPr lang="en-US" sz="1100" dirty="0"/>
          </a:p>
        </p:txBody>
      </p:sp>
      <p:sp>
        <p:nvSpPr>
          <p:cNvPr id="22" name="bld1_1428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3" name="bld1_1429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medium-long · diffusive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4005101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4320000">
            <a:off x="4353470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8640000">
            <a:off x="4220405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2960000">
            <a:off x="3789797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17280000">
            <a:off x="3656731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012685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1" name="Shape 29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2" name="bld2_1431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Phenylethyl Alcohol</a:t>
            </a:r>
            <a:endParaRPr lang="en-US" sz="1800" dirty="0"/>
          </a:p>
        </p:txBody>
      </p:sp>
      <p:sp>
        <p:nvSpPr>
          <p:cNvPr id="33" name="bld2_1432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4" name="bld2_1433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rosy, honeyed</a:t>
            </a:r>
            <a:endParaRPr lang="en-US" sz="1100" dirty="0"/>
          </a:p>
        </p:txBody>
      </p:sp>
      <p:sp>
        <p:nvSpPr>
          <p:cNvPr id="35" name="bld2_1434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6" name="bld2_1435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world's most-used rose note</a:t>
            </a:r>
            <a:endParaRPr lang="en-US" sz="1100" dirty="0"/>
          </a:p>
        </p:txBody>
      </p:sp>
      <p:sp>
        <p:nvSpPr>
          <p:cNvPr id="37" name="bld2_1436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8" name="bld2_1437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0" name="Shape 38"/>
          <p:cNvSpPr/>
          <p:nvPr/>
        </p:nvSpPr>
        <p:spPr>
          <a:xfrm>
            <a:off x="6511643" y="2012249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2700000">
            <a:off x="6673806" y="2079420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5400000">
            <a:off x="6740977" y="2241583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8100000">
            <a:off x="6673806" y="2403747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0800000">
            <a:off x="6511643" y="2470917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3500000">
            <a:off x="6349479" y="2403747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6200000">
            <a:off x="6282309" y="2241583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8900000">
            <a:off x="6349479" y="2079420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04059" y="2393259"/>
            <a:ext cx="242681" cy="24268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9" name="Shape 4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50" name="bld3_1439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Ionones</a:t>
            </a:r>
            <a:endParaRPr lang="en-US" sz="1800" dirty="0"/>
          </a:p>
        </p:txBody>
      </p:sp>
      <p:sp>
        <p:nvSpPr>
          <p:cNvPr id="51" name="bld3_1440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2" name="bld3_1441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 violet-woody-suede</a:t>
            </a:r>
            <a:endParaRPr lang="en-US" sz="1100" dirty="0"/>
          </a:p>
        </p:txBody>
      </p:sp>
      <p:sp>
        <p:nvSpPr>
          <p:cNvPr id="53" name="bld3_1442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4" name="bld3_1443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the "violet" effect</a:t>
            </a:r>
            <a:endParaRPr lang="en-US" sz="1100" dirty="0"/>
          </a:p>
        </p:txBody>
      </p:sp>
      <p:sp>
        <p:nvSpPr>
          <p:cNvPr id="55" name="bld3_1444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6" name="bld3_1445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Heart-base · medium-long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8" name="Shape 56"/>
          <p:cNvSpPr/>
          <p:nvPr/>
        </p:nvSpPr>
        <p:spPr>
          <a:xfrm>
            <a:off x="8866508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4320000">
            <a:off x="9214878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8640000">
            <a:off x="9081813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2960000">
            <a:off x="8651204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7280000">
            <a:off x="8518139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874092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4" name="Shape 62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5" name="bld4_1447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Oxide</a:t>
            </a:r>
            <a:endParaRPr lang="en-US" sz="1800" dirty="0"/>
          </a:p>
        </p:txBody>
      </p:sp>
      <p:sp>
        <p:nvSpPr>
          <p:cNvPr id="66" name="bld4_1448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7" name="bld4_1449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green, metallic-rosy</a:t>
            </a:r>
            <a:endParaRPr lang="en-US" sz="1100" dirty="0"/>
          </a:p>
        </p:txBody>
      </p:sp>
      <p:sp>
        <p:nvSpPr>
          <p:cNvPr id="68" name="bld4_1450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69" name="bld4_1451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sparkle at a tiny dose</a:t>
            </a:r>
            <a:endParaRPr lang="en-US" sz="1100" dirty="0"/>
          </a:p>
        </p:txBody>
      </p:sp>
      <p:sp>
        <p:nvSpPr>
          <p:cNvPr id="70" name="bld4_1452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71" name="bld4_1453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short · potent</a:t>
            </a:r>
            <a:endParaRPr lang="en-US" sz="1100" dirty="0"/>
          </a:p>
        </p:txBody>
      </p:sp>
      <p:sp>
        <p:nvSpPr>
          <p:cNvPr id="73" name="trans_fade_8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4" name="Text 7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65" grpId="0"/>
      <p:bldP spid="66" grpId="0"/>
      <p:bldP spid="67" grpId="0"/>
      <p:bldP spid="68" grpId="0"/>
      <p:bldP spid="69" grpId="0"/>
      <p:bldP spid="70" grpId="0"/>
      <p:bldP spid="7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5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Fresh, Citrus &amp; Aromatic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F0C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&amp; CITRUS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0" name="Shape 8"/>
          <p:cNvSpPr/>
          <p:nvPr/>
        </p:nvSpPr>
        <p:spPr>
          <a:xfrm>
            <a:off x="1277197" y="3379165"/>
            <a:ext cx="1273832" cy="1273832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366366" y="3468333"/>
            <a:ext cx="1095496" cy="1095496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2160000"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4320000"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6480000"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8640000"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0800000"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2960000"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5120000"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7280000"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9440000">
            <a:off x="1882268" y="3506548"/>
            <a:ext cx="63692" cy="49679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0422" y="3952390"/>
            <a:ext cx="127383" cy="12738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3" name="Shape 21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4" name="bld1_1455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26" name="Shape 24"/>
          <p:cNvSpPr/>
          <p:nvPr/>
        </p:nvSpPr>
        <p:spPr>
          <a:xfrm>
            <a:off x="3273205" y="3553669"/>
            <a:ext cx="1463552" cy="1463552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375653" y="3656118"/>
            <a:ext cx="1258655" cy="1258655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8" name="Shape 26"/>
          <p:cNvSpPr/>
          <p:nvPr/>
        </p:nvSpPr>
        <p:spPr>
          <a:xfrm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2160000"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4320000"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6480000"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8640000"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0800000"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2960000"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5120000"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9440000">
            <a:off x="3968392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931803" y="4212268"/>
            <a:ext cx="146355" cy="146355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9" name="Shape 37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40" name="bld2_1457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Citral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2" name="Shape 40"/>
          <p:cNvSpPr/>
          <p:nvPr/>
        </p:nvSpPr>
        <p:spPr>
          <a:xfrm>
            <a:off x="6000310" y="3594188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2700000">
            <a:off x="6136501" y="3650600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5400000">
            <a:off x="6192914" y="3786792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8100000">
            <a:off x="6136501" y="3922983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0800000">
            <a:off x="6000310" y="3979395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3500000">
            <a:off x="5864119" y="3922983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6200000">
            <a:off x="5807707" y="3786792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18900000">
            <a:off x="5864119" y="3650600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93941" y="3914175"/>
            <a:ext cx="203813" cy="20381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1" name="Shape 49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2" name="bld3_1459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Undecavertol</a:t>
            </a:r>
            <a:endParaRPr lang="en-US" sz="1350" dirty="0"/>
          </a:p>
        </p:txBody>
      </p:sp>
      <p:sp>
        <p:nvSpPr>
          <p:cNvPr id="53" name="Shape 51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4" name="Shape 52"/>
          <p:cNvSpPr/>
          <p:nvPr/>
        </p:nvSpPr>
        <p:spPr>
          <a:xfrm rot="15300000">
            <a:off x="7755452" y="4037609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3050000">
            <a:off x="7874881" y="4216347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0800000">
            <a:off x="8078439" y="4285445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8550000">
            <a:off x="8281997" y="4216347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6300000">
            <a:off x="8401426" y="4037609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0" name="bld4_1461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Cis-3-Hexenol</a:t>
            </a:r>
            <a:endParaRPr lang="en-US" sz="1350" dirty="0"/>
          </a:p>
        </p:txBody>
      </p:sp>
      <p:sp>
        <p:nvSpPr>
          <p:cNvPr id="61" name="Shape 59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62" name="Shape 60"/>
          <p:cNvSpPr/>
          <p:nvPr/>
        </p:nvSpPr>
        <p:spPr>
          <a:xfrm rot="15300000">
            <a:off x="9782088" y="3731333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3050000">
            <a:off x="9919304" y="3936691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10800000">
            <a:off x="10153180" y="4016081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8550000">
            <a:off x="10387055" y="3936691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6300000">
            <a:off x="10524271" y="3731333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8" name="bld5_1463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Stemone</a:t>
            </a:r>
            <a:endParaRPr lang="en-US" sz="1350" dirty="0"/>
          </a:p>
        </p:txBody>
      </p:sp>
      <p:sp>
        <p:nvSpPr>
          <p:cNvPr id="70" name="trans_fade_8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40" grpId="0"/>
      <p:bldP spid="52" grpId="0"/>
      <p:bldP spid="60" grpId="0"/>
      <p:bldP spid="68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CITRUS &amp; AROMATIC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Sparkle, lift, and long-lasting brightness</a:t>
            </a:r>
            <a:endParaRPr lang="en-US" sz="3200" dirty="0"/>
          </a:p>
        </p:txBody>
      </p:sp>
      <p:sp>
        <p:nvSpPr>
          <p:cNvPr id="7" name="bld1_1464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9" name="Shape 7"/>
          <p:cNvSpPr/>
          <p:nvPr/>
        </p:nvSpPr>
        <p:spPr>
          <a:xfrm>
            <a:off x="2069866" y="1978030"/>
            <a:ext cx="484998" cy="484998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103816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288115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1466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450" dirty="0"/>
          </a:p>
        </p:txBody>
      </p:sp>
      <p:sp>
        <p:nvSpPr>
          <p:cNvPr id="24" name="bld1_1467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Explosive citrus-fresh lift. Top note, medium (longer than natural citrus) — the backbone of the 1990s "fresh" trend.</a:t>
            </a:r>
            <a:endParaRPr lang="en-US" sz="1080" dirty="0"/>
          </a:p>
        </p:txBody>
      </p:sp>
      <p:sp>
        <p:nvSpPr>
          <p:cNvPr id="25" name="bld2_1468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27" name="Shape 25"/>
          <p:cNvSpPr/>
          <p:nvPr/>
        </p:nvSpPr>
        <p:spPr>
          <a:xfrm>
            <a:off x="5853349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887299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9" name="Shape 27"/>
          <p:cNvSpPr/>
          <p:nvPr/>
        </p:nvSpPr>
        <p:spPr>
          <a:xfrm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216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432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648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864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080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512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728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9440000">
            <a:off x="6083723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071598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0" name="Shape 38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41" name="bld2_1470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Citral</a:t>
            </a:r>
            <a:endParaRPr lang="en-US" sz="1450" dirty="0"/>
          </a:p>
        </p:txBody>
      </p:sp>
      <p:sp>
        <p:nvSpPr>
          <p:cNvPr id="42" name="bld2_1471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intensely lemon. Top note, short-medium — a concentrated citrus punch, also found naturally in lemongrass.</a:t>
            </a:r>
            <a:endParaRPr lang="en-US" sz="1080" dirty="0"/>
          </a:p>
        </p:txBody>
      </p:sp>
      <p:sp>
        <p:nvSpPr>
          <p:cNvPr id="43" name="bld3_1472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45" name="Shape 43"/>
          <p:cNvSpPr/>
          <p:nvPr/>
        </p:nvSpPr>
        <p:spPr>
          <a:xfrm>
            <a:off x="9709581" y="2050780"/>
            <a:ext cx="339498" cy="339498"/>
          </a:xfrm>
          <a:prstGeom prst="star5">
            <a:avLst/>
          </a:prstGeom>
          <a:solidFill>
            <a:srgbClr val="9EC24C">
              <a:alpha val="90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47" name="bld3_1474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Aldehydes (C8–C12 MNA)</a:t>
            </a:r>
            <a:endParaRPr lang="en-US" sz="1450" dirty="0"/>
          </a:p>
        </p:txBody>
      </p:sp>
      <p:sp>
        <p:nvSpPr>
          <p:cNvPr id="48" name="bld3_1475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Sparkling, soapy, waxy lift. Top note, medium — the material family behind the classic "aldehydic" perfume effect.</a:t>
            </a:r>
            <a:endParaRPr lang="en-US" sz="1080" dirty="0"/>
          </a:p>
        </p:txBody>
      </p:sp>
      <p:sp>
        <p:nvSpPr>
          <p:cNvPr id="49" name="bld4_1476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1" name="Shape 49"/>
          <p:cNvSpPr/>
          <p:nvPr/>
        </p:nvSpPr>
        <p:spPr>
          <a:xfrm>
            <a:off x="2275990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2700000">
            <a:off x="2327844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5400000">
            <a:off x="2349322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8100000">
            <a:off x="2327844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0800000">
            <a:off x="2275990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3500000">
            <a:off x="2224137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16200000">
            <a:off x="2202659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18900000">
            <a:off x="2224137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2273565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0" name="Shape 58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8FBF6B"/>
            </a:solidFill>
            <a:prstDash val="solid"/>
          </a:ln>
        </p:spPr>
      </p:sp>
      <p:sp>
        <p:nvSpPr>
          <p:cNvPr id="61" name="bld4_1478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Undecavertol</a:t>
            </a:r>
            <a:endParaRPr lang="en-US" sz="1450" dirty="0"/>
          </a:p>
        </p:txBody>
      </p:sp>
      <p:sp>
        <p:nvSpPr>
          <p:cNvPr id="62" name="bld4_1479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slightly muguet-green. Top-heart, medium — a watery, lily-of-the-valley-adjacent brightness.</a:t>
            </a:r>
            <a:endParaRPr lang="en-US" sz="1080" dirty="0"/>
          </a:p>
        </p:txBody>
      </p:sp>
      <p:sp>
        <p:nvSpPr>
          <p:cNvPr id="63" name="bld5_1480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65" name="Shape 63"/>
          <p:cNvSpPr/>
          <p:nvPr/>
        </p:nvSpPr>
        <p:spPr>
          <a:xfrm rot="15300000">
            <a:off x="593164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13050000">
            <a:off x="5977120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0800000">
            <a:off x="6054623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8550000">
            <a:off x="6132125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6300000">
            <a:off x="617759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71" name="bld5_1482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Cis-3-Hexenol (Leaf Alcohol)</a:t>
            </a:r>
            <a:endParaRPr lang="en-US" sz="1450" dirty="0"/>
          </a:p>
        </p:txBody>
      </p:sp>
      <p:sp>
        <p:nvSpPr>
          <p:cNvPr id="72" name="bld5_1483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cut-grass green. Top note, short — the exact smell of a freshly mown lawn, dosed carefully.</a:t>
            </a:r>
            <a:endParaRPr lang="en-US" sz="1080" dirty="0"/>
          </a:p>
        </p:txBody>
      </p:sp>
      <p:sp>
        <p:nvSpPr>
          <p:cNvPr id="73" name="bld6_1484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75" name="Shape 73"/>
          <p:cNvSpPr/>
          <p:nvPr/>
        </p:nvSpPr>
        <p:spPr>
          <a:xfrm rot="15300000">
            <a:off x="9715131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 rot="13050000">
            <a:off x="9760603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 rot="10800000">
            <a:off x="9838105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 rot="8550000">
            <a:off x="9915608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 rot="6300000">
            <a:off x="996107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8FBF6B"/>
            </a:solidFill>
            <a:prstDash val="solid"/>
          </a:ln>
        </p:spPr>
      </p:sp>
      <p:sp>
        <p:nvSpPr>
          <p:cNvPr id="81" name="bld6_1486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Stemone</a:t>
            </a:r>
            <a:endParaRPr lang="en-US" sz="1450" dirty="0"/>
          </a:p>
        </p:txBody>
      </p:sp>
      <p:sp>
        <p:nvSpPr>
          <p:cNvPr id="82" name="bld6_1487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fresh, slightly melon-stem. Top note, short-medium — an unusual, modern green-fresh accent.</a:t>
            </a:r>
            <a:endParaRPr lang="en-US" sz="1080" dirty="0"/>
          </a:p>
        </p:txBody>
      </p:sp>
      <p:sp>
        <p:nvSpPr>
          <p:cNvPr id="84" name="trans_fade_8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85" name="Text 8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41" grpId="0"/>
      <p:bldP spid="42" grpId="0"/>
      <p:bldP spid="43" grpId="0"/>
      <p:bldP spid="47" grpId="0"/>
      <p:bldP spid="48" grpId="0"/>
      <p:bldP spid="49" grpId="0"/>
      <p:bldP spid="61" grpId="0"/>
      <p:bldP spid="62" grpId="0"/>
      <p:bldP spid="63" grpId="0"/>
      <p:bldP spid="71" grpId="0"/>
      <p:bldP spid="72" grpId="0"/>
      <p:bldP spid="73" grpId="0"/>
      <p:bldP spid="81" grpId="0"/>
      <p:bldP spid="82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fresh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8" name="Shape 6"/>
          <p:cNvSpPr/>
          <p:nvPr/>
        </p:nvSpPr>
        <p:spPr>
          <a:xfrm>
            <a:off x="1425092" y="1694383"/>
            <a:ext cx="1640434" cy="1640434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539923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163288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Shape 1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2" name="bld1_1489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800" dirty="0"/>
          </a:p>
        </p:txBody>
      </p:sp>
      <p:sp>
        <p:nvSpPr>
          <p:cNvPr id="23" name="bld1_1490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4" name="bld1_1491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Explosive citrus-fresh lift</a:t>
            </a:r>
            <a:endParaRPr lang="en-US" sz="1100" dirty="0"/>
          </a:p>
        </p:txBody>
      </p:sp>
      <p:sp>
        <p:nvSpPr>
          <p:cNvPr id="25" name="bld1_1492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6" name="bld1_1493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citrus far past 2 hours</a:t>
            </a:r>
            <a:endParaRPr lang="en-US" sz="1100" dirty="0"/>
          </a:p>
        </p:txBody>
      </p:sp>
      <p:sp>
        <p:nvSpPr>
          <p:cNvPr id="27" name="bld1_1494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8" name="bld1_1495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 · diffusive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30" name="Shape 28"/>
          <p:cNvSpPr/>
          <p:nvPr/>
        </p:nvSpPr>
        <p:spPr>
          <a:xfrm>
            <a:off x="5064496" y="1940448"/>
            <a:ext cx="1148304" cy="1148304"/>
          </a:xfrm>
          <a:prstGeom prst="star5">
            <a:avLst/>
          </a:prstGeom>
          <a:solidFill>
            <a:srgbClr val="9EC24C">
              <a:alpha val="9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32" name="bld2_1497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Aldehydes</a:t>
            </a:r>
            <a:endParaRPr lang="en-US" sz="1800" dirty="0"/>
          </a:p>
        </p:txBody>
      </p:sp>
      <p:sp>
        <p:nvSpPr>
          <p:cNvPr id="33" name="bld2_1498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4" name="bld2_1499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Sparkling, soapy, waxy</a:t>
            </a:r>
            <a:endParaRPr lang="en-US" sz="1100" dirty="0"/>
          </a:p>
        </p:txBody>
      </p:sp>
      <p:sp>
        <p:nvSpPr>
          <p:cNvPr id="35" name="bld2_1500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6" name="bld2_1501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"aldehydic" lift</a:t>
            </a:r>
            <a:endParaRPr lang="en-US" sz="1100" dirty="0"/>
          </a:p>
        </p:txBody>
      </p:sp>
      <p:sp>
        <p:nvSpPr>
          <p:cNvPr id="37" name="bld2_1502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8" name="bld2_1503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0" name="Shape 38"/>
          <p:cNvSpPr/>
          <p:nvPr/>
        </p:nvSpPr>
        <p:spPr>
          <a:xfrm rot="15300000">
            <a:off x="8476608" y="2195437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13050000">
            <a:off x="8630408" y="2425615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0800000">
            <a:off x="8892549" y="2514600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8550000">
            <a:off x="9154690" y="2425615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6300000">
            <a:off x="9308490" y="2195437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6" name="bld3_1505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Cis-3-Hexenol</a:t>
            </a:r>
            <a:endParaRPr lang="en-US" sz="1800" dirty="0"/>
          </a:p>
        </p:txBody>
      </p:sp>
      <p:sp>
        <p:nvSpPr>
          <p:cNvPr id="47" name="bld3_1506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8" name="bld3_1507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cut-grass green</a:t>
            </a:r>
            <a:endParaRPr lang="en-US" sz="1100" dirty="0"/>
          </a:p>
        </p:txBody>
      </p:sp>
      <p:sp>
        <p:nvSpPr>
          <p:cNvPr id="49" name="bld3_1508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0" name="bld3_1509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freshly-mown-lawn effect</a:t>
            </a:r>
            <a:endParaRPr lang="en-US" sz="1100" dirty="0"/>
          </a:p>
        </p:txBody>
      </p:sp>
      <p:sp>
        <p:nvSpPr>
          <p:cNvPr id="51" name="bld3_1510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2" name="bld3_1511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short · intimate</a:t>
            </a:r>
            <a:endParaRPr lang="en-US" sz="1100" dirty="0"/>
          </a:p>
        </p:txBody>
      </p:sp>
      <p:sp>
        <p:nvSpPr>
          <p:cNvPr id="54" name="trans_fade_8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5" name="Text 5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46" grpId="0"/>
      <p:bldP spid="47" grpId="0"/>
      <p:bldP spid="48" grpId="0"/>
      <p:bldP spid="49" grpId="0"/>
      <p:bldP spid="50" grpId="0"/>
      <p:bldP spid="51" grpId="0"/>
      <p:bldP spid="52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6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E4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10" name="Shape 8"/>
          <p:cNvSpPr/>
          <p:nvPr/>
        </p:nvSpPr>
        <p:spPr>
          <a:xfrm>
            <a:off x="1391842" y="3544763"/>
            <a:ext cx="1044543" cy="104454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908627" y="3519287"/>
            <a:ext cx="914" cy="17833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12000000">
            <a:off x="1932402" y="3468333"/>
            <a:ext cx="242028" cy="165598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4" name="bld1_1513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Butyrate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16" name="Shape 14"/>
          <p:cNvSpPr/>
          <p:nvPr/>
        </p:nvSpPr>
        <p:spPr>
          <a:xfrm>
            <a:off x="3404924" y="3743931"/>
            <a:ext cx="1200113" cy="120011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999494" y="3714660"/>
            <a:ext cx="914" cy="20489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000000">
            <a:off x="4023269" y="3656118"/>
            <a:ext cx="278075" cy="190262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20" name="bld2_1515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Fructone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2" name="Shape 20"/>
          <p:cNvSpPr/>
          <p:nvPr/>
        </p:nvSpPr>
        <p:spPr>
          <a:xfrm>
            <a:off x="5573576" y="3544763"/>
            <a:ext cx="1044543" cy="1044543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0361" y="3519287"/>
            <a:ext cx="914" cy="17833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2000000">
            <a:off x="6114136" y="3468333"/>
            <a:ext cx="242028" cy="165598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26" name="bld3_1517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Undecalactone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8" name="Shape 26"/>
          <p:cNvSpPr/>
          <p:nvPr/>
        </p:nvSpPr>
        <p:spPr>
          <a:xfrm>
            <a:off x="7664443" y="3814127"/>
            <a:ext cx="1044543" cy="104454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8181228" y="3788651"/>
            <a:ext cx="914" cy="17833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12000000">
            <a:off x="8205003" y="3737697"/>
            <a:ext cx="242028" cy="165598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2" name="bld4_1519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Nonalactone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4" name="Shape 32"/>
          <p:cNvSpPr/>
          <p:nvPr/>
        </p:nvSpPr>
        <p:spPr>
          <a:xfrm>
            <a:off x="9677525" y="3474567"/>
            <a:ext cx="1200113" cy="120011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0272095" y="3445296"/>
            <a:ext cx="914" cy="20489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12000000">
            <a:off x="10295870" y="3386754"/>
            <a:ext cx="278075" cy="190262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8" name="bld5_1521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Allyl Amyl Glycolate</a:t>
            </a:r>
            <a:endParaRPr lang="en-US" sz="1350" dirty="0"/>
          </a:p>
        </p:txBody>
      </p:sp>
      <p:sp>
        <p:nvSpPr>
          <p:cNvPr id="40" name="trans_fade_8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0" grpId="0"/>
      <p:bldP spid="26" grpId="0"/>
      <p:bldP spid="32" grpId="0"/>
      <p:bldP spid="38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Juicy realism versus candy effect</a:t>
            </a:r>
            <a:endParaRPr lang="en-US" sz="3200" dirty="0"/>
          </a:p>
        </p:txBody>
      </p:sp>
      <p:sp>
        <p:nvSpPr>
          <p:cNvPr id="7" name="bld1_1522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" name="Shape 7"/>
          <p:cNvSpPr/>
          <p:nvPr/>
        </p:nvSpPr>
        <p:spPr>
          <a:xfrm>
            <a:off x="2113516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306879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00">
            <a:off x="2330653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3" name="bld1_1524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Butyrate</a:t>
            </a:r>
            <a:endParaRPr lang="en-US" sz="1450" dirty="0"/>
          </a:p>
        </p:txBody>
      </p:sp>
      <p:sp>
        <p:nvSpPr>
          <p:cNvPr id="14" name="bld1_1525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pear-apple, sharp-fruity. Top note, short — instantly recognisable, easily tips into "candy" if overdosed.</a:t>
            </a:r>
            <a:endParaRPr lang="en-US" sz="1080" dirty="0"/>
          </a:p>
        </p:txBody>
      </p:sp>
      <p:sp>
        <p:nvSpPr>
          <p:cNvPr id="15" name="bld2_1526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17" name="Shape 15"/>
          <p:cNvSpPr/>
          <p:nvPr/>
        </p:nvSpPr>
        <p:spPr>
          <a:xfrm>
            <a:off x="5896999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090361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2000000">
            <a:off x="6114136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21" name="bld2_1528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Fructone</a:t>
            </a:r>
            <a:endParaRPr lang="en-US" sz="1450" dirty="0"/>
          </a:p>
        </p:txBody>
      </p:sp>
      <p:sp>
        <p:nvSpPr>
          <p:cNvPr id="22" name="bld2_1529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apple-like, gentle fruitiness. Top-heart, medium — a rounder, less sharp fruity effect than most esters.</a:t>
            </a:r>
            <a:endParaRPr lang="en-US" sz="1080" dirty="0"/>
          </a:p>
        </p:txBody>
      </p:sp>
      <p:sp>
        <p:nvSpPr>
          <p:cNvPr id="23" name="bld3_1530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5" name="Shape 23"/>
          <p:cNvSpPr/>
          <p:nvPr/>
        </p:nvSpPr>
        <p:spPr>
          <a:xfrm>
            <a:off x="9680481" y="2041080"/>
            <a:ext cx="397698" cy="397698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873844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2000000">
            <a:off x="9897618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29" name="bld3_1532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Undecalactone</a:t>
            </a:r>
            <a:endParaRPr lang="en-US" sz="1450" dirty="0"/>
          </a:p>
        </p:txBody>
      </p:sp>
      <p:sp>
        <p:nvSpPr>
          <p:cNvPr id="30" name="bld3_1533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Ripe, creamy peach. Heart note, medium-long — the definitive peach material in modern perfumery.</a:t>
            </a:r>
            <a:endParaRPr lang="en-US" sz="1080" dirty="0"/>
          </a:p>
        </p:txBody>
      </p:sp>
      <p:sp>
        <p:nvSpPr>
          <p:cNvPr id="31" name="bld4_1534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3" name="Shape 31"/>
          <p:cNvSpPr/>
          <p:nvPr/>
        </p:nvSpPr>
        <p:spPr>
          <a:xfrm>
            <a:off x="2113516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06879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2000000">
            <a:off x="2330653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37" name="bld4_1536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Nonalactone</a:t>
            </a:r>
            <a:endParaRPr lang="en-US" sz="1450" dirty="0"/>
          </a:p>
        </p:txBody>
      </p:sp>
      <p:sp>
        <p:nvSpPr>
          <p:cNvPr id="38" name="bld4_1537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 coconut-peach, milkier than undecalactone. Heart note, medium-long — softer, more gourmand-adjacent.</a:t>
            </a:r>
            <a:endParaRPr lang="en-US" sz="1080" dirty="0"/>
          </a:p>
        </p:txBody>
      </p:sp>
      <p:sp>
        <p:nvSpPr>
          <p:cNvPr id="39" name="bld5_1538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41" name="Shape 39"/>
          <p:cNvSpPr/>
          <p:nvPr/>
        </p:nvSpPr>
        <p:spPr>
          <a:xfrm>
            <a:off x="5896999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090361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2000000">
            <a:off x="6114136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45" name="bld5_1540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Allyl Amyl Glycolate</a:t>
            </a:r>
            <a:endParaRPr lang="en-US" sz="1450" dirty="0"/>
          </a:p>
        </p:txBody>
      </p:sp>
      <p:sp>
        <p:nvSpPr>
          <p:cNvPr id="46" name="bld5_1541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pineapple-tropical. Top note, medium — a distinctive tropical-fruit accent used in small amounts.</a:t>
            </a:r>
            <a:endParaRPr lang="en-US" sz="1080" dirty="0"/>
          </a:p>
        </p:txBody>
      </p:sp>
      <p:sp>
        <p:nvSpPr>
          <p:cNvPr id="47" name="bld6_1542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9" name="Shape 47"/>
          <p:cNvSpPr/>
          <p:nvPr/>
        </p:nvSpPr>
        <p:spPr>
          <a:xfrm rot="15300000">
            <a:off x="9715131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3050000">
            <a:off x="9760603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0800000">
            <a:off x="9838105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8550000">
            <a:off x="9915608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6300000">
            <a:off x="996107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5" name="bld6_1544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Cis-3-Hexenyl Acetate</a:t>
            </a:r>
            <a:endParaRPr lang="en-US" sz="1450" dirty="0"/>
          </a:p>
        </p:txBody>
      </p:sp>
      <p:sp>
        <p:nvSpPr>
          <p:cNvPr id="56" name="bld6_1545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Green-fruity, pear-skin freshness. Top note, short — bridges the fruity and green families.</a:t>
            </a:r>
            <a:endParaRPr lang="en-US" sz="1080" dirty="0"/>
          </a:p>
        </p:txBody>
      </p:sp>
      <p:sp>
        <p:nvSpPr>
          <p:cNvPr id="58" name="trans_fade_8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9" name="Text 5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1" grpId="0"/>
      <p:bldP spid="22" grpId="0"/>
      <p:bldP spid="23" grpId="0"/>
      <p:bldP spid="29" grpId="0"/>
      <p:bldP spid="30" grpId="0"/>
      <p:bldP spid="31" grpId="0"/>
      <p:bldP spid="37" grpId="0"/>
      <p:bldP spid="38" grpId="0"/>
      <p:bldP spid="39" grpId="0"/>
      <p:bldP spid="45" grpId="0"/>
      <p:bldP spid="46" grpId="0"/>
      <p:bldP spid="47" grpId="0"/>
      <p:bldP spid="55" grpId="0"/>
      <p:bldP spid="56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fruity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8" name="Shape 6"/>
          <p:cNvSpPr/>
          <p:nvPr/>
        </p:nvSpPr>
        <p:spPr>
          <a:xfrm>
            <a:off x="1572731" y="1907640"/>
            <a:ext cx="1345156" cy="1345156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239823" y="1874831"/>
            <a:ext cx="914" cy="22966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000000">
            <a:off x="2263597" y="1809214"/>
            <a:ext cx="311682" cy="21325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12" name="bld1_1547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Undecalactone</a:t>
            </a:r>
            <a:endParaRPr lang="en-US" sz="1800" dirty="0"/>
          </a:p>
        </p:txBody>
      </p:sp>
      <p:sp>
        <p:nvSpPr>
          <p:cNvPr id="13" name="bld1_1548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1549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Ripe, creamy peach</a:t>
            </a:r>
            <a:endParaRPr lang="en-US" sz="1100" dirty="0"/>
          </a:p>
        </p:txBody>
      </p:sp>
      <p:sp>
        <p:nvSpPr>
          <p:cNvPr id="15" name="bld1_1550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1551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definitive peach note</a:t>
            </a:r>
            <a:endParaRPr lang="en-US" sz="1100" dirty="0"/>
          </a:p>
        </p:txBody>
      </p:sp>
      <p:sp>
        <p:nvSpPr>
          <p:cNvPr id="17" name="bld1_1552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1553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medium-long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0" name="Shape 18"/>
          <p:cNvSpPr/>
          <p:nvPr/>
        </p:nvSpPr>
        <p:spPr>
          <a:xfrm>
            <a:off x="4966070" y="1907640"/>
            <a:ext cx="1345156" cy="1345156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5633161" y="1874831"/>
            <a:ext cx="914" cy="22966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000000">
            <a:off x="5656936" y="1809214"/>
            <a:ext cx="311682" cy="21325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24" name="bld2_1555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Butyrate</a:t>
            </a:r>
            <a:endParaRPr lang="en-US" sz="1800" dirty="0"/>
          </a:p>
        </p:txBody>
      </p:sp>
      <p:sp>
        <p:nvSpPr>
          <p:cNvPr id="25" name="bld2_1556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6" name="bld2_1557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pear-apple, sharp</a:t>
            </a:r>
            <a:endParaRPr lang="en-US" sz="1100" dirty="0"/>
          </a:p>
        </p:txBody>
      </p:sp>
      <p:sp>
        <p:nvSpPr>
          <p:cNvPr id="27" name="bld2_1558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8" name="bld2_1559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fruity recognition</a:t>
            </a:r>
            <a:endParaRPr lang="en-US" sz="1100" dirty="0"/>
          </a:p>
        </p:txBody>
      </p:sp>
      <p:sp>
        <p:nvSpPr>
          <p:cNvPr id="29" name="bld2_1560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0" name="bld2_1561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short · potent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9408" y="1907640"/>
            <a:ext cx="1345156" cy="1345156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026500" y="1874831"/>
            <a:ext cx="914" cy="22966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12000000">
            <a:off x="9050274" y="1809214"/>
            <a:ext cx="311682" cy="21325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6" name="bld3_1563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Allyl Amyl Glycolate</a:t>
            </a:r>
            <a:endParaRPr lang="en-US" sz="1800" dirty="0"/>
          </a:p>
        </p:txBody>
      </p:sp>
      <p:sp>
        <p:nvSpPr>
          <p:cNvPr id="37" name="bld3_1564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8" name="bld3_1565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pineapple-tropical</a:t>
            </a:r>
            <a:endParaRPr lang="en-US" sz="1100" dirty="0"/>
          </a:p>
        </p:txBody>
      </p:sp>
      <p:sp>
        <p:nvSpPr>
          <p:cNvPr id="39" name="bld3_1566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0" name="bld3_1567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distinctive tropical accent</a:t>
            </a:r>
            <a:endParaRPr lang="en-US" sz="1100" dirty="0"/>
          </a:p>
        </p:txBody>
      </p:sp>
      <p:sp>
        <p:nvSpPr>
          <p:cNvPr id="41" name="bld3_1568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2" name="bld3_1569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</a:t>
            </a:r>
            <a:endParaRPr lang="en-US" sz="1100" dirty="0"/>
          </a:p>
        </p:txBody>
      </p:sp>
      <p:sp>
        <p:nvSpPr>
          <p:cNvPr id="44" name="trans_fade_8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7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Materials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EBF3E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E5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0" name="Shape 8"/>
          <p:cNvSpPr/>
          <p:nvPr/>
        </p:nvSpPr>
        <p:spPr>
          <a:xfrm rot="15300000">
            <a:off x="1744209" y="3768245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3050000">
            <a:off x="1863638" y="3946983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0800000">
            <a:off x="2067196" y="4016081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8550000">
            <a:off x="2270754" y="3946983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300000">
            <a:off x="2390183" y="3768245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6" name="bld1_1571"/>
          <p:cNvSpPr txBox="1"/>
          <p:nvPr/>
        </p:nvSpPr>
        <p:spPr>
          <a:xfrm>
            <a:off x="914400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Triplal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8" name="Shape 16"/>
          <p:cNvSpPr/>
          <p:nvPr/>
        </p:nvSpPr>
        <p:spPr>
          <a:xfrm rot="15300000">
            <a:off x="4293562" y="4000697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3050000">
            <a:off x="4430778" y="4206055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0800000">
            <a:off x="4664654" y="4285445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8550000">
            <a:off x="4898529" y="4206055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6300000">
            <a:off x="5035745" y="4000697"/>
            <a:ext cx="248804" cy="7683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4" name="bld2_1573"/>
          <p:cNvSpPr txBox="1"/>
          <p:nvPr/>
        </p:nvSpPr>
        <p:spPr>
          <a:xfrm>
            <a:off x="3527984" y="5369924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Cis-3-Hexenyl Acetate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6" name="Shape 24"/>
          <p:cNvSpPr/>
          <p:nvPr/>
        </p:nvSpPr>
        <p:spPr>
          <a:xfrm rot="15300000">
            <a:off x="6971377" y="3768245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3050000">
            <a:off x="7090805" y="3946983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0800000">
            <a:off x="7294364" y="4016081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550000">
            <a:off x="7497922" y="3946983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6300000">
            <a:off x="7617351" y="3768245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32" name="bld3_1575"/>
          <p:cNvSpPr txBox="1"/>
          <p:nvPr/>
        </p:nvSpPr>
        <p:spPr>
          <a:xfrm>
            <a:off x="6141568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Stemone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4" name="Shape 32"/>
          <p:cNvSpPr/>
          <p:nvPr/>
        </p:nvSpPr>
        <p:spPr>
          <a:xfrm rot="15300000">
            <a:off x="9584960" y="4037609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3050000">
            <a:off x="9704389" y="4216347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0800000">
            <a:off x="9907948" y="4285445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8550000">
            <a:off x="10111506" y="4216347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6300000">
            <a:off x="10230935" y="4037609"/>
            <a:ext cx="216551" cy="668762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0" name="bld4_1577"/>
          <p:cNvSpPr txBox="1"/>
          <p:nvPr/>
        </p:nvSpPr>
        <p:spPr>
          <a:xfrm>
            <a:off x="8755151" y="5248309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Cis-3-Hexenol</a:t>
            </a:r>
            <a:endParaRPr lang="en-US" sz="1350" dirty="0"/>
          </a:p>
        </p:txBody>
      </p:sp>
      <p:sp>
        <p:nvSpPr>
          <p:cNvPr id="42" name="trans_fade_8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24" grpId="0"/>
      <p:bldP spid="32" grpId="0"/>
      <p:bldP spid="40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MATERIALS,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Precision-controlled leafiness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986731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538488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1578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2" name="Shape 10"/>
          <p:cNvSpPr/>
          <p:nvPr/>
        </p:nvSpPr>
        <p:spPr>
          <a:xfrm rot="15300000">
            <a:off x="1646255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3050000">
            <a:off x="1699751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0800000">
            <a:off x="1790930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550000">
            <a:off x="1882110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6300000">
            <a:off x="1935605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8" name="bld1_1580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Triplal</a:t>
            </a:r>
            <a:endParaRPr lang="en-US" sz="1450" dirty="0"/>
          </a:p>
        </p:txBody>
      </p:sp>
      <p:sp>
        <p:nvSpPr>
          <p:cNvPr id="19" name="bld1_1581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green, slightly floral-leafy. Top note, medium — a modern, versatile green with less bitterness than galbanum.</a:t>
            </a:r>
            <a:endParaRPr lang="en-US" sz="1080" dirty="0"/>
          </a:p>
        </p:txBody>
      </p:sp>
      <p:sp>
        <p:nvSpPr>
          <p:cNvPr id="20" name="bld2_1582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2" name="Shape 20"/>
          <p:cNvSpPr/>
          <p:nvPr/>
        </p:nvSpPr>
        <p:spPr>
          <a:xfrm rot="15300000">
            <a:off x="4483867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3050000">
            <a:off x="4537362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0800000">
            <a:off x="4628542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8550000">
            <a:off x="4719721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6300000">
            <a:off x="4773217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8FBF6B"/>
            </a:solidFill>
            <a:prstDash val="solid"/>
          </a:ln>
        </p:spPr>
      </p:sp>
      <p:sp>
        <p:nvSpPr>
          <p:cNvPr id="28" name="bld2_1584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Cis-3-Hexenyl Acetate</a:t>
            </a:r>
            <a:endParaRPr lang="en-US" sz="1450" dirty="0"/>
          </a:p>
        </p:txBody>
      </p:sp>
      <p:sp>
        <p:nvSpPr>
          <p:cNvPr id="29" name="bld2_1585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Green-fruity, pear-skin freshness. Top note, short — softer and fruitier than raw leaf alcohol.</a:t>
            </a:r>
            <a:endParaRPr lang="en-US" sz="1080" dirty="0"/>
          </a:p>
        </p:txBody>
      </p:sp>
      <p:sp>
        <p:nvSpPr>
          <p:cNvPr id="30" name="bld3_1586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2" name="Shape 30"/>
          <p:cNvSpPr/>
          <p:nvPr/>
        </p:nvSpPr>
        <p:spPr>
          <a:xfrm rot="15300000">
            <a:off x="7321479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3050000">
            <a:off x="7374974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0800000">
            <a:off x="7466154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8550000">
            <a:off x="7557333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6300000">
            <a:off x="7610829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8FBF6B"/>
            </a:solidFill>
            <a:prstDash val="solid"/>
          </a:ln>
        </p:spPr>
      </p:sp>
      <p:sp>
        <p:nvSpPr>
          <p:cNvPr id="38" name="bld3_1588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Stemone</a:t>
            </a:r>
            <a:endParaRPr lang="en-US" sz="1450" dirty="0"/>
          </a:p>
        </p:txBody>
      </p:sp>
      <p:sp>
        <p:nvSpPr>
          <p:cNvPr id="39" name="bld3_1589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fresh, faintly melon-stem. Top note, short-medium — an unusual, modern green-fresh accent.</a:t>
            </a:r>
            <a:endParaRPr lang="en-US" sz="1080" dirty="0"/>
          </a:p>
        </p:txBody>
      </p:sp>
      <p:sp>
        <p:nvSpPr>
          <p:cNvPr id="40" name="bld4_1590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2" name="Shape 40"/>
          <p:cNvSpPr/>
          <p:nvPr/>
        </p:nvSpPr>
        <p:spPr>
          <a:xfrm rot="15300000">
            <a:off x="10159090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3050000">
            <a:off x="10212586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0800000">
            <a:off x="10303766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8550000">
            <a:off x="10394945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6300000">
            <a:off x="10448441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8" name="bld4_1592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Galbanum-style green bases</a:t>
            </a:r>
            <a:endParaRPr lang="en-US" sz="1450" dirty="0"/>
          </a:p>
        </p:txBody>
      </p:sp>
      <p:sp>
        <p:nvSpPr>
          <p:cNvPr id="49" name="bld4_1593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accords built to replace or extend natural galbanum. Top note, medium — consistent bitterness, batch after batch.</a:t>
            </a:r>
            <a:endParaRPr lang="en-US" sz="1080" dirty="0"/>
          </a:p>
        </p:txBody>
      </p:sp>
      <p:sp>
        <p:nvSpPr>
          <p:cNvPr id="51" name="trans_fade_8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2" name="Text 4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8" grpId="0"/>
      <p:bldP spid="19" grpId="0"/>
      <p:bldP spid="20" grpId="0"/>
      <p:bldP spid="28" grpId="0"/>
      <p:bldP spid="29" grpId="0"/>
      <p:bldP spid="30" grpId="0"/>
      <p:bldP spid="38" grpId="0"/>
      <p:bldP spid="39" grpId="0"/>
      <p:bldP spid="40" grpId="0"/>
      <p:bldP spid="48" grpId="0"/>
      <p:bldP spid="49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8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3E4C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10" name="Shape 8"/>
          <p:cNvSpPr/>
          <p:nvPr/>
        </p:nvSpPr>
        <p:spPr>
          <a:xfrm rot="840000">
            <a:off x="1761254" y="3411011"/>
            <a:ext cx="305720" cy="121014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40000">
            <a:off x="1908627" y="3557502"/>
            <a:ext cx="914" cy="917159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70807" y="3592532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6665" y="3750487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62523" y="390844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5" name="Shape 13"/>
          <p:cNvSpPr/>
          <p:nvPr/>
        </p:nvSpPr>
        <p:spPr>
          <a:xfrm>
            <a:off x="1908381" y="406639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6" name="Shape 14"/>
          <p:cNvSpPr/>
          <p:nvPr/>
        </p:nvSpPr>
        <p:spPr>
          <a:xfrm>
            <a:off x="1954239" y="422435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7" name="Shape 15"/>
          <p:cNvSpPr/>
          <p:nvPr/>
        </p:nvSpPr>
        <p:spPr>
          <a:xfrm>
            <a:off x="2000097" y="438230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8" name="Shape 16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9" name="bld1_1595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1" name="Shape 19"/>
          <p:cNvSpPr/>
          <p:nvPr/>
        </p:nvSpPr>
        <p:spPr>
          <a:xfrm rot="840000">
            <a:off x="3829354" y="3590258"/>
            <a:ext cx="351252" cy="1390374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40000">
            <a:off x="3999494" y="3758567"/>
            <a:ext cx="914" cy="1053757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0331" y="3798814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4" name="Shape 22"/>
          <p:cNvSpPr/>
          <p:nvPr/>
        </p:nvSpPr>
        <p:spPr>
          <a:xfrm>
            <a:off x="3893019" y="3980295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5" name="Shape 23"/>
          <p:cNvSpPr/>
          <p:nvPr/>
        </p:nvSpPr>
        <p:spPr>
          <a:xfrm>
            <a:off x="3945707" y="4161775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8395" y="4343256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7" name="Shape 25"/>
          <p:cNvSpPr/>
          <p:nvPr/>
        </p:nvSpPr>
        <p:spPr>
          <a:xfrm>
            <a:off x="4051082" y="4524736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8" name="Shape 26"/>
          <p:cNvSpPr/>
          <p:nvPr/>
        </p:nvSpPr>
        <p:spPr>
          <a:xfrm>
            <a:off x="4103770" y="4706217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9" name="Shape 27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0" name="bld2_1597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Vanillin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2" name="Shape 30"/>
          <p:cNvSpPr/>
          <p:nvPr/>
        </p:nvSpPr>
        <p:spPr>
          <a:xfrm>
            <a:off x="5458931" y="3379165"/>
            <a:ext cx="1273832" cy="127383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637268" y="3557502"/>
            <a:ext cx="917159" cy="917159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892034" y="3812268"/>
            <a:ext cx="407626" cy="407626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6" name="bld3_1599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Coumarin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8" name="Shape 36"/>
          <p:cNvSpPr/>
          <p:nvPr/>
        </p:nvSpPr>
        <p:spPr>
          <a:xfrm>
            <a:off x="7549798" y="3648529"/>
            <a:ext cx="1273832" cy="127383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728135" y="3826866"/>
            <a:ext cx="917159" cy="917159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982901" y="4081632"/>
            <a:ext cx="407626" cy="407626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2" name="bld4_1601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Maltol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4" name="Shape 42"/>
          <p:cNvSpPr/>
          <p:nvPr/>
        </p:nvSpPr>
        <p:spPr>
          <a:xfrm>
            <a:off x="9545806" y="3284305"/>
            <a:ext cx="1463552" cy="146355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9750703" y="3489203"/>
            <a:ext cx="1053757" cy="105375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043413" y="3781913"/>
            <a:ext cx="468337" cy="468337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8" name="bld5_1603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Heliotropin</a:t>
            </a:r>
            <a:endParaRPr lang="en-US" sz="1350" dirty="0"/>
          </a:p>
        </p:txBody>
      </p:sp>
      <p:sp>
        <p:nvSpPr>
          <p:cNvPr id="50" name="trans_fade_8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9" grpId="0"/>
      <p:bldP spid="30" grpId="0"/>
      <p:bldP spid="36" grpId="0"/>
      <p:bldP spid="42" grpId="0"/>
      <p:bldP spid="48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Sweetness, warmth, and powderiness on tap</a:t>
            </a:r>
            <a:endParaRPr lang="en-US" sz="3200" dirty="0"/>
          </a:p>
        </p:txBody>
      </p:sp>
      <p:sp>
        <p:nvSpPr>
          <p:cNvPr id="7" name="bld1_1604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9" name="Shape 7"/>
          <p:cNvSpPr/>
          <p:nvPr/>
        </p:nvSpPr>
        <p:spPr>
          <a:xfrm rot="840000">
            <a:off x="1781230" y="1990155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40000">
            <a:off x="1833944" y="2045930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84868" y="205926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2" name="Shape 10"/>
          <p:cNvSpPr/>
          <p:nvPr/>
        </p:nvSpPr>
        <p:spPr>
          <a:xfrm>
            <a:off x="1802328" y="211940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9787" y="217954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37247" y="223968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5" name="Shape 13"/>
          <p:cNvSpPr/>
          <p:nvPr/>
        </p:nvSpPr>
        <p:spPr>
          <a:xfrm>
            <a:off x="1854707" y="229982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6" name="Shape 14"/>
          <p:cNvSpPr/>
          <p:nvPr/>
        </p:nvSpPr>
        <p:spPr>
          <a:xfrm>
            <a:off x="1872167" y="235996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7" name="Shape 15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8" name="bld1_1606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450" dirty="0"/>
          </a:p>
        </p:txBody>
      </p:sp>
      <p:sp>
        <p:nvSpPr>
          <p:cNvPr id="19" name="bld1_1607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essence of vanilla, isolated. Base note, very long, richly diffusive — the single most-used gourmand material.</a:t>
            </a:r>
            <a:endParaRPr lang="en-US" sz="1080" dirty="0"/>
          </a:p>
        </p:txBody>
      </p:sp>
      <p:sp>
        <p:nvSpPr>
          <p:cNvPr id="20" name="bld2_1608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2" name="Shape 20"/>
          <p:cNvSpPr/>
          <p:nvPr/>
        </p:nvSpPr>
        <p:spPr>
          <a:xfrm rot="840000">
            <a:off x="4618842" y="1990155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840000">
            <a:off x="4671555" y="2045930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2479" y="205926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5" name="Shape 23"/>
          <p:cNvSpPr/>
          <p:nvPr/>
        </p:nvSpPr>
        <p:spPr>
          <a:xfrm>
            <a:off x="4639939" y="211940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6" name="Shape 24"/>
          <p:cNvSpPr/>
          <p:nvPr/>
        </p:nvSpPr>
        <p:spPr>
          <a:xfrm>
            <a:off x="4657399" y="217954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74859" y="223968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8" name="Shape 26"/>
          <p:cNvSpPr/>
          <p:nvPr/>
        </p:nvSpPr>
        <p:spPr>
          <a:xfrm>
            <a:off x="4692319" y="229982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9" name="Shape 27"/>
          <p:cNvSpPr/>
          <p:nvPr/>
        </p:nvSpPr>
        <p:spPr>
          <a:xfrm>
            <a:off x="4709779" y="235996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0" name="Shape 28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1" name="bld2_1610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Vanillin</a:t>
            </a:r>
            <a:endParaRPr lang="en-US" sz="1450" dirty="0"/>
          </a:p>
        </p:txBody>
      </p:sp>
      <p:sp>
        <p:nvSpPr>
          <p:cNvPr id="32" name="bld2_1611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Sharper, several times stronger than vanillin, less "round." Base note, very long — used in tiny amounts for extra lift.</a:t>
            </a:r>
            <a:endParaRPr lang="en-US" sz="1080" dirty="0"/>
          </a:p>
        </p:txBody>
      </p:sp>
      <p:sp>
        <p:nvSpPr>
          <p:cNvPr id="33" name="bld3_1612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5" name="Shape 33"/>
          <p:cNvSpPr/>
          <p:nvPr/>
        </p:nvSpPr>
        <p:spPr>
          <a:xfrm>
            <a:off x="7272155" y="1978030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340054" y="2045930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437054" y="2142929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9" name="bld3_1614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Coumarin</a:t>
            </a:r>
            <a:endParaRPr lang="en-US" sz="1450" dirty="0"/>
          </a:p>
        </p:txBody>
      </p:sp>
      <p:sp>
        <p:nvSpPr>
          <p:cNvPr id="40" name="bld3_1615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hay, tonka-like warmth. Base note, long — a fougère and gourmand cornerstone, softly powdery.</a:t>
            </a:r>
            <a:endParaRPr lang="en-US" sz="1080" dirty="0"/>
          </a:p>
        </p:txBody>
      </p:sp>
      <p:sp>
        <p:nvSpPr>
          <p:cNvPr id="41" name="bld4_1616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3" name="Shape 41"/>
          <p:cNvSpPr/>
          <p:nvPr/>
        </p:nvSpPr>
        <p:spPr>
          <a:xfrm>
            <a:off x="10109766" y="1978030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177666" y="2045930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274666" y="2142929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47" name="bld4_1618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450" dirty="0"/>
          </a:p>
        </p:txBody>
      </p:sp>
      <p:sp>
        <p:nvSpPr>
          <p:cNvPr id="48" name="bld4_1619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Cotton-candy sweetness. Top-heart, medium-long, very diffusive — the defining "sugar trend" material.</a:t>
            </a:r>
            <a:endParaRPr lang="en-US" sz="1080" dirty="0"/>
          </a:p>
        </p:txBody>
      </p:sp>
      <p:sp>
        <p:nvSpPr>
          <p:cNvPr id="49" name="bld5_1620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6931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1664831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1761830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55" name="bld5_1622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Maltol</a:t>
            </a:r>
            <a:endParaRPr lang="en-US" sz="1450" dirty="0"/>
          </a:p>
        </p:txBody>
      </p:sp>
      <p:sp>
        <p:nvSpPr>
          <p:cNvPr id="56" name="bld5_1623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Softer, breadier sweetness than ethyl maltol. Heart note, medium — a gentler caramelised-sugar effect.</a:t>
            </a:r>
            <a:endParaRPr lang="en-US" sz="1080" dirty="0"/>
          </a:p>
        </p:txBody>
      </p:sp>
      <p:sp>
        <p:nvSpPr>
          <p:cNvPr id="57" name="bld6_1624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9" name="Shape 57"/>
          <p:cNvSpPr/>
          <p:nvPr/>
        </p:nvSpPr>
        <p:spPr>
          <a:xfrm>
            <a:off x="4434543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4502443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4599442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63" name="bld6_1626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Heliotropin</a:t>
            </a:r>
            <a:endParaRPr lang="en-US" sz="1450" dirty="0"/>
          </a:p>
        </p:txBody>
      </p:sp>
      <p:sp>
        <p:nvSpPr>
          <p:cNvPr id="64" name="bld6_1627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Powdery, sweet almond, faintly floral. Heart-base, medium-long — a classic soft, cosmetic-powder facet.</a:t>
            </a:r>
            <a:endParaRPr lang="en-US" sz="1080" dirty="0"/>
          </a:p>
        </p:txBody>
      </p:sp>
      <p:sp>
        <p:nvSpPr>
          <p:cNvPr id="65" name="bld7_1628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67" name="Shape 65"/>
          <p:cNvSpPr/>
          <p:nvPr/>
        </p:nvSpPr>
        <p:spPr>
          <a:xfrm>
            <a:off x="7272155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7340054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7437054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71" name="bld7_1630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Furaneol</a:t>
            </a:r>
            <a:endParaRPr lang="en-US" sz="1450" dirty="0"/>
          </a:p>
        </p:txBody>
      </p:sp>
      <p:sp>
        <p:nvSpPr>
          <p:cNvPr id="72" name="bld7_1631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Caramelised, strawberry-like sweetness. Heart note, medium — an unusual, jammy gourmand accent.</a:t>
            </a:r>
            <a:endParaRPr lang="en-US" sz="1080" dirty="0"/>
          </a:p>
        </p:txBody>
      </p:sp>
      <p:sp>
        <p:nvSpPr>
          <p:cNvPr id="73" name="bld8_1632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75" name="Shape 73"/>
          <p:cNvSpPr/>
          <p:nvPr/>
        </p:nvSpPr>
        <p:spPr>
          <a:xfrm>
            <a:off x="10109766" y="4337182"/>
            <a:ext cx="484998" cy="484998"/>
          </a:xfrm>
          <a:prstGeom prst="ellipse">
            <a:avLst/>
          </a:prstGeom>
          <a:solidFill>
            <a:srgbClr val="5C3A1E">
              <a:alpha val="96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10177666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10274666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10278879" y="4276557"/>
            <a:ext cx="914" cy="109124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346779" y="4276557"/>
            <a:ext cx="914" cy="109124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414679" y="4276557"/>
            <a:ext cx="914" cy="109124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82" name="bld8_1634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Coffee / cocoa effect bases</a:t>
            </a:r>
            <a:endParaRPr lang="en-US" sz="1450" dirty="0"/>
          </a:p>
        </p:txBody>
      </p:sp>
      <p:sp>
        <p:nvSpPr>
          <p:cNvPr id="83" name="bld8_1635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Roasted, dark, bitter-sweet accords built around real coffee and cocoa extracts. Base note, long — a bold modern accent.</a:t>
            </a:r>
            <a:endParaRPr lang="en-US" sz="1080" dirty="0"/>
          </a:p>
        </p:txBody>
      </p:sp>
      <p:sp>
        <p:nvSpPr>
          <p:cNvPr id="85" name="trans_fade_9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86" name="Text 8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8" grpId="0"/>
      <p:bldP spid="19" grpId="0"/>
      <p:bldP spid="20" grpId="0"/>
      <p:bldP spid="31" grpId="0"/>
      <p:bldP spid="32" grpId="0"/>
      <p:bldP spid="33" grpId="0"/>
      <p:bldP spid="39" grpId="0"/>
      <p:bldP spid="40" grpId="0"/>
      <p:bldP spid="41" grpId="0"/>
      <p:bldP spid="47" grpId="0"/>
      <p:bldP spid="48" grpId="0"/>
      <p:bldP spid="49" grpId="0"/>
      <p:bldP spid="55" grpId="0"/>
      <p:bldP spid="56" grpId="0"/>
      <p:bldP spid="57" grpId="0"/>
      <p:bldP spid="63" grpId="0"/>
      <p:bldP spid="64" grpId="0"/>
      <p:bldP spid="65" grpId="0"/>
      <p:bldP spid="71" grpId="0"/>
      <p:bldP spid="72" grpId="0"/>
      <p:bldP spid="73" grpId="0"/>
      <p:bldP spid="82" grpId="0"/>
      <p:bldP spid="83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gourmand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8" name="Shape 6"/>
          <p:cNvSpPr/>
          <p:nvPr/>
        </p:nvSpPr>
        <p:spPr>
          <a:xfrm rot="840000">
            <a:off x="1581981" y="1794139"/>
            <a:ext cx="364022" cy="144092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840000">
            <a:off x="1758506" y="1968567"/>
            <a:ext cx="914" cy="1092067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93356" y="201027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1" name="Shape 9"/>
          <p:cNvSpPr/>
          <p:nvPr/>
        </p:nvSpPr>
        <p:spPr>
          <a:xfrm>
            <a:off x="1647960" y="2198356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2" name="Shape 10"/>
          <p:cNvSpPr/>
          <p:nvPr/>
        </p:nvSpPr>
        <p:spPr>
          <a:xfrm>
            <a:off x="1702563" y="2386434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3" name="Shape 11"/>
          <p:cNvSpPr/>
          <p:nvPr/>
        </p:nvSpPr>
        <p:spPr>
          <a:xfrm>
            <a:off x="1757166" y="2574512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11770" y="2762590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5" name="Shape 13"/>
          <p:cNvSpPr/>
          <p:nvPr/>
        </p:nvSpPr>
        <p:spPr>
          <a:xfrm>
            <a:off x="1866373" y="295066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6" name="Shape 14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7" name="bld1_1637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800" dirty="0"/>
          </a:p>
        </p:txBody>
      </p:sp>
      <p:sp>
        <p:nvSpPr>
          <p:cNvPr id="18" name="bld1_1638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9" name="bld1_1639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essence of vanilla, isolated</a:t>
            </a:r>
            <a:endParaRPr lang="en-US" sz="1100" dirty="0"/>
          </a:p>
        </p:txBody>
      </p:sp>
      <p:sp>
        <p:nvSpPr>
          <p:cNvPr id="20" name="bld1_1640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1" name="bld1_1641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sweet, endlessly useful</a:t>
            </a:r>
            <a:endParaRPr lang="en-US" sz="1100" dirty="0"/>
          </a:p>
        </p:txBody>
      </p:sp>
      <p:sp>
        <p:nvSpPr>
          <p:cNvPr id="22" name="bld1_1642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3" name="bld1_1643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diffusive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5" name="Shape 23"/>
          <p:cNvSpPr/>
          <p:nvPr/>
        </p:nvSpPr>
        <p:spPr>
          <a:xfrm>
            <a:off x="3436316" y="1756220"/>
            <a:ext cx="1516759" cy="1516759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48662" y="1968567"/>
            <a:ext cx="1092067" cy="109206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52014" y="2271919"/>
            <a:ext cx="485363" cy="48536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29" name="bld2_1645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Coumarin</a:t>
            </a:r>
            <a:endParaRPr lang="en-US" sz="1800" dirty="0"/>
          </a:p>
        </p:txBody>
      </p:sp>
      <p:sp>
        <p:nvSpPr>
          <p:cNvPr id="30" name="bld2_1646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1" name="bld2_1647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hay, tonka-like warmth</a:t>
            </a:r>
            <a:endParaRPr lang="en-US" sz="1100" dirty="0"/>
          </a:p>
        </p:txBody>
      </p:sp>
      <p:sp>
        <p:nvSpPr>
          <p:cNvPr id="32" name="bld2_1648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3" name="bld2_1649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and sweetens</a:t>
            </a:r>
            <a:endParaRPr lang="en-US" sz="1100" dirty="0"/>
          </a:p>
        </p:txBody>
      </p:sp>
      <p:sp>
        <p:nvSpPr>
          <p:cNvPr id="34" name="bld2_1650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5" name="bld2_1651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powdery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7" name="Shape 35"/>
          <p:cNvSpPr/>
          <p:nvPr/>
        </p:nvSpPr>
        <p:spPr>
          <a:xfrm>
            <a:off x="5867020" y="1756220"/>
            <a:ext cx="1516759" cy="1516759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079366" y="1968567"/>
            <a:ext cx="1092067" cy="109206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382718" y="2271919"/>
            <a:ext cx="485363" cy="48536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41" name="bld3_1653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800" dirty="0"/>
          </a:p>
        </p:txBody>
      </p:sp>
      <p:sp>
        <p:nvSpPr>
          <p:cNvPr id="42" name="bld3_1654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3" name="bld3_1655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Cotton-candy sweetness</a:t>
            </a:r>
            <a:endParaRPr lang="en-US" sz="1100" dirty="0"/>
          </a:p>
        </p:txBody>
      </p:sp>
      <p:sp>
        <p:nvSpPr>
          <p:cNvPr id="44" name="bld3_1656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5" name="bld3_1657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gourmand lift</a:t>
            </a:r>
            <a:endParaRPr lang="en-US" sz="1100" dirty="0"/>
          </a:p>
        </p:txBody>
      </p:sp>
      <p:sp>
        <p:nvSpPr>
          <p:cNvPr id="46" name="bld3_1658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7" name="bld3_1659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medium-long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9" name="Shape 47"/>
          <p:cNvSpPr/>
          <p:nvPr/>
        </p:nvSpPr>
        <p:spPr>
          <a:xfrm>
            <a:off x="8297724" y="1756220"/>
            <a:ext cx="1516759" cy="1516759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510070" y="1968567"/>
            <a:ext cx="1092067" cy="109206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813422" y="2271919"/>
            <a:ext cx="485363" cy="48536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53" name="bld4_1661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Heliotropin</a:t>
            </a:r>
            <a:endParaRPr lang="en-US" sz="1800" dirty="0"/>
          </a:p>
        </p:txBody>
      </p:sp>
      <p:sp>
        <p:nvSpPr>
          <p:cNvPr id="54" name="bld4_1662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5" name="bld4_1663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Powdery, sweet almond</a:t>
            </a:r>
            <a:endParaRPr lang="en-US" sz="1100" dirty="0"/>
          </a:p>
        </p:txBody>
      </p:sp>
      <p:sp>
        <p:nvSpPr>
          <p:cNvPr id="56" name="bld4_1664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7" name="bld4_1665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soft, cosmetic-powder facet</a:t>
            </a:r>
            <a:endParaRPr lang="en-US" sz="1100" dirty="0"/>
          </a:p>
        </p:txBody>
      </p:sp>
      <p:sp>
        <p:nvSpPr>
          <p:cNvPr id="58" name="bld4_1666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9" name="bld4_1667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Heart-base · medium-long</a:t>
            </a:r>
            <a:endParaRPr lang="en-US" sz="1100" dirty="0"/>
          </a:p>
        </p:txBody>
      </p:sp>
      <p:sp>
        <p:nvSpPr>
          <p:cNvPr id="61" name="trans_fade_9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2" name="Text 5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53" grpId="0"/>
      <p:bldP spid="54" grpId="0"/>
      <p:bldP spid="55" grpId="0"/>
      <p:bldP spid="56" grpId="0"/>
      <p:bldP spid="57" grpId="0"/>
      <p:bldP spid="58" grpId="0"/>
      <p:bldP spid="59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9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Aquatic &amp; Marine Materials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E4F3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A5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AQUATIC &amp; MARINE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0" name="Shape 8"/>
          <p:cNvSpPr/>
          <p:nvPr/>
        </p:nvSpPr>
        <p:spPr>
          <a:xfrm>
            <a:off x="1538556" y="3379165"/>
            <a:ext cx="1273832" cy="1273832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78677" y="4009712"/>
            <a:ext cx="993589" cy="191075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78677" y="3850483"/>
            <a:ext cx="993589" cy="191075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78677" y="3672147"/>
            <a:ext cx="993589" cy="191075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5" name="bld1_1669"/>
          <p:cNvSpPr txBox="1"/>
          <p:nvPr/>
        </p:nvSpPr>
        <p:spPr>
          <a:xfrm>
            <a:off x="914400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A52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Calone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4188999" y="3743931"/>
            <a:ext cx="1200113" cy="1200113"/>
          </a:xfrm>
          <a:prstGeom prst="ellipse">
            <a:avLst/>
          </a:prstGeom>
          <a:solidFill>
            <a:srgbClr val="4090AF">
              <a:alpha val="9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783569" y="3714660"/>
            <a:ext cx="914" cy="20489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2000000">
            <a:off x="4807344" y="3656118"/>
            <a:ext cx="278075" cy="190262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21" name="bld2_1671"/>
          <p:cNvSpPr txBox="1"/>
          <p:nvPr/>
        </p:nvSpPr>
        <p:spPr>
          <a:xfrm>
            <a:off x="3527984" y="5369924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A52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Melonal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765723" y="3379165"/>
            <a:ext cx="1273832" cy="1273832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6905845" y="4009712"/>
            <a:ext cx="993589" cy="191075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905845" y="3850483"/>
            <a:ext cx="993589" cy="191075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905845" y="3672147"/>
            <a:ext cx="993589" cy="191075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28" name="bld3_1673"/>
          <p:cNvSpPr txBox="1"/>
          <p:nvPr/>
        </p:nvSpPr>
        <p:spPr>
          <a:xfrm>
            <a:off x="6141568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A52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Helional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0" name="Shape 28"/>
          <p:cNvSpPr/>
          <p:nvPr/>
        </p:nvSpPr>
        <p:spPr>
          <a:xfrm>
            <a:off x="9379307" y="3648529"/>
            <a:ext cx="1273832" cy="1273832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9519429" y="4279076"/>
            <a:ext cx="993589" cy="191075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9519429" y="4119847"/>
            <a:ext cx="993589" cy="191075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519429" y="3941511"/>
            <a:ext cx="993589" cy="191075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5" name="bld4_1675"/>
          <p:cNvSpPr txBox="1"/>
          <p:nvPr/>
        </p:nvSpPr>
        <p:spPr>
          <a:xfrm>
            <a:off x="8755151" y="5248309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A52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Floralozone</a:t>
            </a:r>
            <a:endParaRPr lang="en-US" sz="1350" dirty="0"/>
          </a:p>
        </p:txBody>
      </p:sp>
      <p:sp>
        <p:nvSpPr>
          <p:cNvPr id="37" name="trans_fade_9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21" grpId="0"/>
      <p:bldP spid="28" grpId="0"/>
      <p:bldP spid="3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AQUATIC &amp; MARINE MATERIALS,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family with no natural equivalent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986731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538488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1676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1554137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16902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616902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16902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7" name="bld1_1678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Calone</a:t>
            </a:r>
            <a:endParaRPr lang="en-US" sz="1450" dirty="0"/>
          </a:p>
        </p:txBody>
      </p:sp>
      <p:sp>
        <p:nvSpPr>
          <p:cNvPr id="18" name="bld1_1679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Watermelon-ozonic, salty-fresh. Top-heart, medium — the material that invented the aquatic family in the 1990s.</a:t>
            </a:r>
            <a:endParaRPr lang="en-US" sz="1080" dirty="0"/>
          </a:p>
        </p:txBody>
      </p:sp>
      <p:sp>
        <p:nvSpPr>
          <p:cNvPr id="19" name="bld2_1680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443102" y="2543056"/>
            <a:ext cx="467880" cy="467880"/>
          </a:xfrm>
          <a:prstGeom prst="ellipse">
            <a:avLst/>
          </a:prstGeom>
          <a:solidFill>
            <a:srgbClr val="4090AF">
              <a:alpha val="9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71555" y="2531644"/>
            <a:ext cx="914" cy="79882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2000000">
            <a:off x="4695330" y="2508821"/>
            <a:ext cx="108411" cy="7417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25" name="bld2_1682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Melonal</a:t>
            </a:r>
            <a:endParaRPr lang="en-US" sz="1450" dirty="0"/>
          </a:p>
        </p:txBody>
      </p:sp>
      <p:sp>
        <p:nvSpPr>
          <p:cNvPr id="26" name="bld2_1683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green-melon, watery. Top note, short-medium — softer and fruitier than pure Calone.</a:t>
            </a:r>
            <a:endParaRPr lang="en-US" sz="1080" dirty="0"/>
          </a:p>
        </p:txBody>
      </p:sp>
      <p:sp>
        <p:nvSpPr>
          <p:cNvPr id="27" name="bld3_1684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229361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7292125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7292125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292125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8AC6E0"/>
            </a:solidFill>
            <a:prstDash val="solid"/>
          </a:ln>
        </p:spPr>
      </p:sp>
      <p:sp>
        <p:nvSpPr>
          <p:cNvPr id="34" name="bld3_1686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Helional</a:t>
            </a:r>
            <a:endParaRPr lang="en-US" sz="1450" dirty="0"/>
          </a:p>
        </p:txBody>
      </p:sp>
      <p:sp>
        <p:nvSpPr>
          <p:cNvPr id="35" name="bld3_1687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faintly floral-marine. Top-heart, medium — a more floral, less "salty" take on aquatic freshness.</a:t>
            </a:r>
            <a:endParaRPr lang="en-US" sz="1080" dirty="0"/>
          </a:p>
        </p:txBody>
      </p:sp>
      <p:sp>
        <p:nvSpPr>
          <p:cNvPr id="36" name="bld4_1688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8" name="Shape 36"/>
          <p:cNvSpPr/>
          <p:nvPr/>
        </p:nvSpPr>
        <p:spPr>
          <a:xfrm>
            <a:off x="10066973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129737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0129737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0129737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8AC6E0"/>
            </a:solidFill>
            <a:prstDash val="solid"/>
          </a:ln>
        </p:spPr>
      </p:sp>
      <p:sp>
        <p:nvSpPr>
          <p:cNvPr id="43" name="bld4_1690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Floralozone</a:t>
            </a:r>
            <a:endParaRPr lang="en-US" sz="1450" dirty="0"/>
          </a:p>
        </p:txBody>
      </p:sp>
      <p:sp>
        <p:nvSpPr>
          <p:cNvPr id="44" name="bld4_1691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Ozonic-floral, lily-of-the-valley adjacent. Top-heart, medium — bridges aquatic and white-floral effects.</a:t>
            </a:r>
            <a:endParaRPr lang="en-US" sz="1080" dirty="0"/>
          </a:p>
        </p:txBody>
      </p:sp>
      <p:sp>
        <p:nvSpPr>
          <p:cNvPr id="46" name="trans_fade_9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7" name="Text 4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7" grpId="0"/>
      <p:bldP spid="18" grpId="0"/>
      <p:bldP spid="19" grpId="0"/>
      <p:bldP spid="25" grpId="0"/>
      <p:bldP spid="26" grpId="0"/>
      <p:bldP spid="27" grpId="0"/>
      <p:bldP spid="34" grpId="0"/>
      <p:bldP spid="35" grpId="0"/>
      <p:bldP spid="36" grpId="0"/>
      <p:bldP spid="43" grpId="0"/>
      <p:bldP spid="44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aquatics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156384" y="1463040"/>
            <a:ext cx="2103120" cy="21031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8" name="Shape 6"/>
          <p:cNvSpPr/>
          <p:nvPr/>
        </p:nvSpPr>
        <p:spPr>
          <a:xfrm>
            <a:off x="2387727" y="1694383"/>
            <a:ext cx="1640434" cy="1640434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568175" y="2506398"/>
            <a:ext cx="1279538" cy="246065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568175" y="2301344"/>
            <a:ext cx="1279538" cy="246065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568175" y="2071683"/>
            <a:ext cx="1279538" cy="246065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156384" y="1463040"/>
            <a:ext cx="2103120" cy="21031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3" name="bld1_1693"/>
          <p:cNvSpPr txBox="1"/>
          <p:nvPr/>
        </p:nvSpPr>
        <p:spPr>
          <a:xfrm>
            <a:off x="685800" y="374904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Calone</a:t>
            </a:r>
            <a:endParaRPr lang="en-US" sz="1800" dirty="0"/>
          </a:p>
        </p:txBody>
      </p:sp>
      <p:sp>
        <p:nvSpPr>
          <p:cNvPr id="14" name="bld1_1694"/>
          <p:cNvSpPr txBox="1"/>
          <p:nvPr/>
        </p:nvSpPr>
        <p:spPr>
          <a:xfrm>
            <a:off x="658368" y="4187952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409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5" name="bld1_1695"/>
          <p:cNvSpPr txBox="1"/>
          <p:nvPr/>
        </p:nvSpPr>
        <p:spPr>
          <a:xfrm>
            <a:off x="658368" y="4407408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Watermelon-ozonic, salty-fresh</a:t>
            </a:r>
            <a:endParaRPr lang="en-US" sz="1100" dirty="0"/>
          </a:p>
        </p:txBody>
      </p:sp>
      <p:sp>
        <p:nvSpPr>
          <p:cNvPr id="16" name="bld1_1696"/>
          <p:cNvSpPr txBox="1"/>
          <p:nvPr/>
        </p:nvSpPr>
        <p:spPr>
          <a:xfrm>
            <a:off x="658368" y="4754880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409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7" name="bld1_1697"/>
          <p:cNvSpPr txBox="1"/>
          <p:nvPr/>
        </p:nvSpPr>
        <p:spPr>
          <a:xfrm>
            <a:off x="658368" y="4974336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the aquatic family</a:t>
            </a:r>
            <a:endParaRPr lang="en-US" sz="1100" dirty="0"/>
          </a:p>
        </p:txBody>
      </p:sp>
      <p:sp>
        <p:nvSpPr>
          <p:cNvPr id="18" name="bld1_1698"/>
          <p:cNvSpPr txBox="1"/>
          <p:nvPr/>
        </p:nvSpPr>
        <p:spPr>
          <a:xfrm>
            <a:off x="658368" y="5321808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409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9" name="bld1_1699"/>
          <p:cNvSpPr txBox="1"/>
          <p:nvPr/>
        </p:nvSpPr>
        <p:spPr>
          <a:xfrm>
            <a:off x="658368" y="5541264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74991" y="1463040"/>
            <a:ext cx="2103120" cy="21031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1" name="Shape 19"/>
          <p:cNvSpPr/>
          <p:nvPr/>
        </p:nvSpPr>
        <p:spPr>
          <a:xfrm>
            <a:off x="7706335" y="1694383"/>
            <a:ext cx="1640434" cy="1640434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7886782" y="2506398"/>
            <a:ext cx="1279538" cy="246065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886782" y="2301344"/>
            <a:ext cx="1279538" cy="246065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7886782" y="2071683"/>
            <a:ext cx="1279538" cy="246065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7474991" y="1463040"/>
            <a:ext cx="2103120" cy="2103120"/>
          </a:xfrm>
          <a:prstGeom prst="ellipse">
            <a:avLst/>
          </a:prstGeom>
          <a:ln w="25603">
            <a:solidFill>
              <a:srgbClr val="8AC6E0"/>
            </a:solidFill>
            <a:prstDash val="solid"/>
          </a:ln>
        </p:spPr>
      </p:sp>
      <p:sp>
        <p:nvSpPr>
          <p:cNvPr id="26" name="bld2_1701"/>
          <p:cNvSpPr txBox="1"/>
          <p:nvPr/>
        </p:nvSpPr>
        <p:spPr>
          <a:xfrm>
            <a:off x="6004408" y="374904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Helional</a:t>
            </a:r>
            <a:endParaRPr lang="en-US" sz="1800" dirty="0"/>
          </a:p>
        </p:txBody>
      </p:sp>
      <p:sp>
        <p:nvSpPr>
          <p:cNvPr id="27" name="bld2_1702"/>
          <p:cNvSpPr txBox="1"/>
          <p:nvPr/>
        </p:nvSpPr>
        <p:spPr>
          <a:xfrm>
            <a:off x="5976976" y="4187952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409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8" name="bld2_1703"/>
          <p:cNvSpPr txBox="1"/>
          <p:nvPr/>
        </p:nvSpPr>
        <p:spPr>
          <a:xfrm>
            <a:off x="5976976" y="4407408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faintly floral-marine</a:t>
            </a:r>
            <a:endParaRPr lang="en-US" sz="1100" dirty="0"/>
          </a:p>
        </p:txBody>
      </p:sp>
      <p:sp>
        <p:nvSpPr>
          <p:cNvPr id="29" name="bld2_1704"/>
          <p:cNvSpPr txBox="1"/>
          <p:nvPr/>
        </p:nvSpPr>
        <p:spPr>
          <a:xfrm>
            <a:off x="5976976" y="4754880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409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0" name="bld2_1705"/>
          <p:cNvSpPr txBox="1"/>
          <p:nvPr/>
        </p:nvSpPr>
        <p:spPr>
          <a:xfrm>
            <a:off x="5976976" y="4974336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softer, more floral freshness</a:t>
            </a:r>
            <a:endParaRPr lang="en-US" sz="1100" dirty="0"/>
          </a:p>
        </p:txBody>
      </p:sp>
      <p:sp>
        <p:nvSpPr>
          <p:cNvPr id="31" name="bld2_1706"/>
          <p:cNvSpPr txBox="1"/>
          <p:nvPr/>
        </p:nvSpPr>
        <p:spPr>
          <a:xfrm>
            <a:off x="5976976" y="5321808"/>
            <a:ext cx="509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409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2" name="bld2_1707"/>
          <p:cNvSpPr txBox="1"/>
          <p:nvPr/>
        </p:nvSpPr>
        <p:spPr>
          <a:xfrm>
            <a:off x="5976976" y="5541264"/>
            <a:ext cx="509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</a:t>
            </a:r>
            <a:endParaRPr lang="en-US" sz="1100" dirty="0"/>
          </a:p>
        </p:txBody>
      </p:sp>
      <p:sp>
        <p:nvSpPr>
          <p:cNvPr id="34" name="trans_fade_9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10 OF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Leather, Smoky &amp; Animalic Materials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EFE2D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A2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LEATHER &amp; SMOKY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0" name="Shape 8"/>
          <p:cNvSpPr/>
          <p:nvPr/>
        </p:nvSpPr>
        <p:spPr>
          <a:xfrm rot="5400000">
            <a:off x="1506487" y="3570240"/>
            <a:ext cx="280243" cy="827991"/>
          </a:xfrm>
          <a:prstGeom prst="wave">
            <a:avLst/>
          </a:prstGeom>
          <a:solidFill>
            <a:srgbClr val="5C4230">
              <a:alpha val="7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5400000">
            <a:off x="1773992" y="3665777"/>
            <a:ext cx="280243" cy="827991"/>
          </a:xfrm>
          <a:prstGeom prst="wave">
            <a:avLst/>
          </a:prstGeom>
          <a:solidFill>
            <a:srgbClr val="5C4230">
              <a:alpha val="6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5400000">
            <a:off x="2041497" y="3761315"/>
            <a:ext cx="280243" cy="827991"/>
          </a:xfrm>
          <a:prstGeom prst="wave">
            <a:avLst/>
          </a:prstGeom>
          <a:solidFill>
            <a:srgbClr val="5C4230">
              <a:alpha val="5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4" name="bld1_1709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A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Birch Tar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6" name="Shape 14"/>
          <p:cNvSpPr/>
          <p:nvPr/>
        </p:nvSpPr>
        <p:spPr>
          <a:xfrm>
            <a:off x="3273205" y="3553669"/>
            <a:ext cx="1463552" cy="1463552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9967" y="3919557"/>
            <a:ext cx="1090027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384455" y="4163483"/>
            <a:ext cx="124105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3384455" y="4407408"/>
            <a:ext cx="124105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459967" y="4651333"/>
            <a:ext cx="1090027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2" name="bld2_1711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A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Safraleine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4" name="Shape 22"/>
          <p:cNvSpPr/>
          <p:nvPr/>
        </p:nvSpPr>
        <p:spPr>
          <a:xfrm>
            <a:off x="5458931" y="3379165"/>
            <a:ext cx="1273832" cy="1273832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621484" y="3697623"/>
            <a:ext cx="948727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555761" y="3909929"/>
            <a:ext cx="1080173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555761" y="4122234"/>
            <a:ext cx="1080173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621484" y="4334539"/>
            <a:ext cx="948727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0" name="bld3_1713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A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Isobutyl Quinoline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2" name="Shape 30"/>
          <p:cNvSpPr/>
          <p:nvPr/>
        </p:nvSpPr>
        <p:spPr>
          <a:xfrm rot="5400000">
            <a:off x="7779088" y="3839604"/>
            <a:ext cx="280243" cy="827991"/>
          </a:xfrm>
          <a:prstGeom prst="wave">
            <a:avLst/>
          </a:prstGeom>
          <a:solidFill>
            <a:srgbClr val="5C4230">
              <a:alpha val="7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5400000">
            <a:off x="8046593" y="3935141"/>
            <a:ext cx="280243" cy="827991"/>
          </a:xfrm>
          <a:prstGeom prst="wave">
            <a:avLst/>
          </a:prstGeom>
          <a:solidFill>
            <a:srgbClr val="5C4230">
              <a:alpha val="6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5400000">
            <a:off x="8314098" y="4030679"/>
            <a:ext cx="280243" cy="827991"/>
          </a:xfrm>
          <a:prstGeom prst="wave">
            <a:avLst/>
          </a:prstGeom>
          <a:solidFill>
            <a:srgbClr val="5C4230">
              <a:alpha val="5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6" name="bld4_1715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A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Guaiacol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8" name="Shape 36"/>
          <p:cNvSpPr/>
          <p:nvPr/>
        </p:nvSpPr>
        <p:spPr>
          <a:xfrm>
            <a:off x="9545806" y="3284305"/>
            <a:ext cx="1463552" cy="1463552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9732568" y="3650193"/>
            <a:ext cx="1090027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657057" y="3894119"/>
            <a:ext cx="124105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9657057" y="4138044"/>
            <a:ext cx="124105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9732568" y="4381969"/>
            <a:ext cx="1090027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4" name="bld5_1717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A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Castoreum</a:t>
            </a:r>
            <a:endParaRPr lang="en-US" sz="1350" dirty="0"/>
          </a:p>
        </p:txBody>
      </p:sp>
      <p:sp>
        <p:nvSpPr>
          <p:cNvPr id="46" name="trans_fade_9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7" name="Text 4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2" grpId="0"/>
      <p:bldP spid="30" grpId="0"/>
      <p:bldP spid="36" grpId="0"/>
      <p:bldP spid="44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LEATHER, SMOKY &amp; ANIMALIC MATERIALS,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Bold, textural, and effect-driven</a:t>
            </a:r>
            <a:endParaRPr lang="en-US" sz="3200" dirty="0"/>
          </a:p>
        </p:txBody>
      </p:sp>
      <p:sp>
        <p:nvSpPr>
          <p:cNvPr id="7" name="bld1_1718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 rot="5400000">
            <a:off x="2157166" y="2050780"/>
            <a:ext cx="106700" cy="315249"/>
          </a:xfrm>
          <a:prstGeom prst="wave">
            <a:avLst/>
          </a:prstGeom>
          <a:solidFill>
            <a:srgbClr val="5C4230">
              <a:alpha val="7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5400000">
            <a:off x="2259015" y="2087155"/>
            <a:ext cx="106700" cy="315249"/>
          </a:xfrm>
          <a:prstGeom prst="wave">
            <a:avLst/>
          </a:prstGeom>
          <a:solidFill>
            <a:srgbClr val="5C4230">
              <a:alpha val="6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5400000">
            <a:off x="2360865" y="2123529"/>
            <a:ext cx="106700" cy="315249"/>
          </a:xfrm>
          <a:prstGeom prst="wave">
            <a:avLst/>
          </a:prstGeom>
          <a:solidFill>
            <a:srgbClr val="5C4230">
              <a:alpha val="5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13" name="bld1_1720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Birch Tar</a:t>
            </a:r>
            <a:endParaRPr lang="en-US" sz="1450" dirty="0"/>
          </a:p>
        </p:txBody>
      </p:sp>
      <p:sp>
        <p:nvSpPr>
          <p:cNvPr id="14" name="bld1_1721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tar-like, campfire-leather. Base note, long — a bold smoky accent used in tiny amounts.</a:t>
            </a:r>
            <a:endParaRPr lang="en-US" sz="1080" dirty="0"/>
          </a:p>
        </p:txBody>
      </p:sp>
      <p:sp>
        <p:nvSpPr>
          <p:cNvPr id="15" name="bld2_1722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7" name="Shape 15"/>
          <p:cNvSpPr/>
          <p:nvPr/>
        </p:nvSpPr>
        <p:spPr>
          <a:xfrm>
            <a:off x="5853349" y="1978030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5915239" y="209928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5890215" y="2180112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890215" y="2260945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15239" y="2341778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3" name="bld2_1724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Safraleine</a:t>
            </a:r>
            <a:endParaRPr lang="en-US" sz="1450" dirty="0"/>
          </a:p>
        </p:txBody>
      </p:sp>
      <p:sp>
        <p:nvSpPr>
          <p:cNvPr id="24" name="bld2_1725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Leathery, saffron-adjacent, dry. Heart-base, long — a modern, refined leather facet.</a:t>
            </a:r>
            <a:endParaRPr lang="en-US" sz="1080" dirty="0"/>
          </a:p>
        </p:txBody>
      </p:sp>
      <p:sp>
        <p:nvSpPr>
          <p:cNvPr id="25" name="bld3_1726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7" name="Shape 25"/>
          <p:cNvSpPr/>
          <p:nvPr/>
        </p:nvSpPr>
        <p:spPr>
          <a:xfrm>
            <a:off x="9636831" y="1978030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9698721" y="209928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9673698" y="2180112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9673698" y="2260945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9698721" y="2341778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33" name="bld3_1728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Isobutyl Quinoline</a:t>
            </a:r>
            <a:endParaRPr lang="en-US" sz="1450" dirty="0"/>
          </a:p>
        </p:txBody>
      </p:sp>
      <p:sp>
        <p:nvSpPr>
          <p:cNvPr id="34" name="bld3_1729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Green-leather, bitter, dry. Heart-base, long — the classic "old leather glove" material.</a:t>
            </a:r>
            <a:endParaRPr lang="en-US" sz="1080" dirty="0"/>
          </a:p>
        </p:txBody>
      </p:sp>
      <p:sp>
        <p:nvSpPr>
          <p:cNvPr id="35" name="bld4_1730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7" name="Shape 35"/>
          <p:cNvSpPr/>
          <p:nvPr/>
        </p:nvSpPr>
        <p:spPr>
          <a:xfrm rot="5400000">
            <a:off x="2157166" y="4409932"/>
            <a:ext cx="106700" cy="315249"/>
          </a:xfrm>
          <a:prstGeom prst="wave">
            <a:avLst/>
          </a:prstGeom>
          <a:solidFill>
            <a:srgbClr val="5C4230">
              <a:alpha val="7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5400000">
            <a:off x="2259015" y="4446307"/>
            <a:ext cx="106700" cy="315249"/>
          </a:xfrm>
          <a:prstGeom prst="wave">
            <a:avLst/>
          </a:prstGeom>
          <a:solidFill>
            <a:srgbClr val="5C4230">
              <a:alpha val="6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5400000">
            <a:off x="2360865" y="4482681"/>
            <a:ext cx="106700" cy="315249"/>
          </a:xfrm>
          <a:prstGeom prst="wave">
            <a:avLst/>
          </a:prstGeom>
          <a:solidFill>
            <a:srgbClr val="5C4230">
              <a:alpha val="5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AD8862"/>
            </a:solidFill>
            <a:prstDash val="solid"/>
          </a:ln>
        </p:spPr>
      </p:sp>
      <p:sp>
        <p:nvSpPr>
          <p:cNvPr id="41" name="bld4_1732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Guaiacol</a:t>
            </a:r>
            <a:endParaRPr lang="en-US" sz="1450" dirty="0"/>
          </a:p>
        </p:txBody>
      </p:sp>
      <p:sp>
        <p:nvSpPr>
          <p:cNvPr id="42" name="bld4_1733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medicinal, faintly sweet. Top-heart, medium — a phenolic smokiness used with a very light hand.</a:t>
            </a:r>
            <a:endParaRPr lang="en-US" sz="1080" dirty="0"/>
          </a:p>
        </p:txBody>
      </p:sp>
      <p:sp>
        <p:nvSpPr>
          <p:cNvPr id="43" name="bld5_1734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5" name="Shape 43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915239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5890215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890215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5915239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51" name="bld5_1736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Castoreum-style bases</a:t>
            </a:r>
            <a:endParaRPr lang="en-US" sz="1450" dirty="0"/>
          </a:p>
        </p:txBody>
      </p:sp>
      <p:sp>
        <p:nvSpPr>
          <p:cNvPr id="52" name="bld5_1737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leathery, subtly animalic. Base note, very long — built to evoke traditional castoreum without the raw material.</a:t>
            </a:r>
            <a:endParaRPr lang="en-US" sz="1080" dirty="0"/>
          </a:p>
        </p:txBody>
      </p:sp>
      <p:sp>
        <p:nvSpPr>
          <p:cNvPr id="53" name="bld6_1738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55" name="Shape 53"/>
          <p:cNvSpPr/>
          <p:nvPr/>
        </p:nvSpPr>
        <p:spPr>
          <a:xfrm>
            <a:off x="9636831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698721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9673698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9673698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9698721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61" name="bld6_1740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Suederal</a:t>
            </a:r>
            <a:endParaRPr lang="en-US" sz="1450" dirty="0"/>
          </a:p>
        </p:txBody>
      </p:sp>
      <p:sp>
        <p:nvSpPr>
          <p:cNvPr id="62" name="bld6_1741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suede-like, powdery-dry. Base note, long — a gentler, wearable leather texture.</a:t>
            </a:r>
            <a:endParaRPr lang="en-US" sz="1080" dirty="0"/>
          </a:p>
        </p:txBody>
      </p:sp>
      <p:sp>
        <p:nvSpPr>
          <p:cNvPr id="64" name="trans_fade_9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5" name="Text 6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3" grpId="0"/>
      <p:bldP spid="24" grpId="0"/>
      <p:bldP spid="25" grpId="0"/>
      <p:bldP spid="33" grpId="0"/>
      <p:bldP spid="34" grpId="0"/>
      <p:bldP spid="35" grpId="0"/>
      <p:bldP spid="41" grpId="0"/>
      <p:bldP spid="42" grpId="0"/>
      <p:bldP spid="43" grpId="0"/>
      <p:bldP spid="51" grpId="0"/>
      <p:bldP spid="52" grpId="0"/>
      <p:bldP spid="53" grpId="0"/>
      <p:bldP spid="61" grpId="0"/>
      <p:bldP spid="62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leather-smoky materials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8" name="Shape 6"/>
          <p:cNvSpPr/>
          <p:nvPr/>
        </p:nvSpPr>
        <p:spPr>
          <a:xfrm>
            <a:off x="1425092" y="1694383"/>
            <a:ext cx="1640434" cy="1640434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34427" y="2104492"/>
            <a:ext cx="1221765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1549789" y="2377897"/>
            <a:ext cx="139104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1549789" y="2651303"/>
            <a:ext cx="139104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1634427" y="2924708"/>
            <a:ext cx="1221765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4" name="bld1_1743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Safraleine</a:t>
            </a:r>
            <a:endParaRPr lang="en-US" sz="1800" dirty="0"/>
          </a:p>
        </p:txBody>
      </p:sp>
      <p:sp>
        <p:nvSpPr>
          <p:cNvPr id="15" name="bld1_1744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6" name="bld1_1745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Leathery, saffron-adjacent, dry</a:t>
            </a:r>
            <a:endParaRPr lang="en-US" sz="1100" dirty="0"/>
          </a:p>
        </p:txBody>
      </p:sp>
      <p:sp>
        <p:nvSpPr>
          <p:cNvPr id="17" name="bld1_1746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8" name="bld1_1747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modern, refined leather facet</a:t>
            </a:r>
            <a:endParaRPr lang="en-US" sz="1100" dirty="0"/>
          </a:p>
        </p:txBody>
      </p:sp>
      <p:sp>
        <p:nvSpPr>
          <p:cNvPr id="19" name="bld1_1748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0" name="bld1_1749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Heart-base · long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2" name="Shape 20"/>
          <p:cNvSpPr/>
          <p:nvPr/>
        </p:nvSpPr>
        <p:spPr>
          <a:xfrm>
            <a:off x="4818431" y="1694383"/>
            <a:ext cx="1640434" cy="1640434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5027765" y="2104492"/>
            <a:ext cx="1221765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943127" y="2377897"/>
            <a:ext cx="139104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943127" y="2651303"/>
            <a:ext cx="139104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027765" y="2924708"/>
            <a:ext cx="1221765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28" name="bld2_1751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Isobutyl Quinoline</a:t>
            </a:r>
            <a:endParaRPr lang="en-US" sz="1800" dirty="0"/>
          </a:p>
        </p:txBody>
      </p:sp>
      <p:sp>
        <p:nvSpPr>
          <p:cNvPr id="29" name="bld2_1752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0" name="bld2_1753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Green-leather, bitter, dry</a:t>
            </a:r>
            <a:endParaRPr lang="en-US" sz="1100" dirty="0"/>
          </a:p>
        </p:txBody>
      </p:sp>
      <p:sp>
        <p:nvSpPr>
          <p:cNvPr id="31" name="bld2_1754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2" name="bld2_1755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old-leather effect</a:t>
            </a:r>
            <a:endParaRPr lang="en-US" sz="1100" dirty="0"/>
          </a:p>
        </p:txBody>
      </p:sp>
      <p:sp>
        <p:nvSpPr>
          <p:cNvPr id="33" name="bld2_1756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4" name="bld2_1757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Heart-base · long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6" name="Shape 34"/>
          <p:cNvSpPr/>
          <p:nvPr/>
        </p:nvSpPr>
        <p:spPr>
          <a:xfrm>
            <a:off x="8211769" y="1694383"/>
            <a:ext cx="1640434" cy="1640434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421103" y="2104492"/>
            <a:ext cx="1221765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8336466" y="2377897"/>
            <a:ext cx="139104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8336466" y="2651303"/>
            <a:ext cx="139104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8421103" y="2924708"/>
            <a:ext cx="1221765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42" name="bld3_1759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Castoreum-style bases</a:t>
            </a:r>
            <a:endParaRPr lang="en-US" sz="1800" dirty="0"/>
          </a:p>
        </p:txBody>
      </p:sp>
      <p:sp>
        <p:nvSpPr>
          <p:cNvPr id="43" name="bld3_1760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4" name="bld3_1761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leathery, subtly animalic</a:t>
            </a:r>
            <a:endParaRPr lang="en-US" sz="1100" dirty="0"/>
          </a:p>
        </p:txBody>
      </p:sp>
      <p:sp>
        <p:nvSpPr>
          <p:cNvPr id="45" name="bld3_1762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6" name="bld3_1763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depth without the raw material</a:t>
            </a:r>
            <a:endParaRPr lang="en-US" sz="1100" dirty="0"/>
          </a:p>
        </p:txBody>
      </p:sp>
      <p:sp>
        <p:nvSpPr>
          <p:cNvPr id="47" name="bld3_1764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8" name="bld3_1765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</a:t>
            </a:r>
            <a:endParaRPr lang="en-US" sz="1100" dirty="0"/>
          </a:p>
        </p:txBody>
      </p:sp>
      <p:sp>
        <p:nvSpPr>
          <p:cNvPr id="50" name="trans_fade_9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42" grpId="0"/>
      <p:bldP spid="43" grpId="0"/>
      <p:bldP spid="44" grpId="0"/>
      <p:bldP spid="45" grpId="0"/>
      <p:bldP spid="46" grpId="0"/>
      <p:bldP spid="47" grpId="0"/>
      <p:bldP spid="48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17150F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4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FOR THE FUN PART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Superpower materials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3655076" y="1536869"/>
            <a:ext cx="4881543" cy="4881543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9401" y="1507579"/>
            <a:ext cx="292893" cy="29289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0" name="Shape 8"/>
          <p:cNvSpPr/>
          <p:nvPr/>
        </p:nvSpPr>
        <p:spPr>
          <a:xfrm>
            <a:off x="2545635" y="427427"/>
            <a:ext cx="7100426" cy="7100426"/>
          </a:xfrm>
          <a:prstGeom prst="ellipse">
            <a:avLst/>
          </a:prstGeom>
          <a:ln w="16459">
            <a:solidFill>
              <a:srgbClr val="B565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66321" y="1448113"/>
            <a:ext cx="5059053" cy="5059053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flipV="1">
            <a:off x="6095848" y="3445108"/>
            <a:ext cx="1198197" cy="5325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4044" y="3445108"/>
            <a:ext cx="1198197" cy="665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7294044" y="4110773"/>
            <a:ext cx="1198197" cy="106506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97050" y="5175837"/>
            <a:ext cx="1996995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5297050" y="3977640"/>
            <a:ext cx="798798" cy="11981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31385" y="3311975"/>
            <a:ext cx="1464463" cy="665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82835" y="3764627"/>
            <a:ext cx="426026" cy="4260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40942" y="3292005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39138" y="3957670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40942" y="5022734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43947" y="5022734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8282" y="3158872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handful of materials that can transform a formula at less than 1% of the concentrate.</a:t>
            </a:r>
            <a:endParaRPr lang="en-US" sz="1200" dirty="0"/>
          </a:p>
        </p:txBody>
      </p:sp>
      <p:sp>
        <p:nvSpPr>
          <p:cNvPr id="26" name="trans_fade_9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doses, massive effect</a:t>
            </a:r>
            <a:endParaRPr lang="en-US" sz="3200" dirty="0"/>
          </a:p>
        </p:txBody>
      </p:sp>
      <p:sp>
        <p:nvSpPr>
          <p:cNvPr id="7" name="bld1_1766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2278415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2383420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2383420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278415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2173410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2173410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254165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17" name="bld1_1768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450" dirty="0"/>
          </a:p>
        </p:txBody>
      </p:sp>
      <p:sp>
        <p:nvSpPr>
          <p:cNvPr id="18" name="bld1_1769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space and diffusion — makes an entire formula feel airier.</a:t>
            </a:r>
            <a:endParaRPr lang="en-US" sz="1080" dirty="0"/>
          </a:p>
        </p:txBody>
      </p:sp>
      <p:sp>
        <p:nvSpPr>
          <p:cNvPr id="19" name="bld2_1770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53349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5901848" y="2026530"/>
            <a:ext cx="387998" cy="387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3" name="Shape 21"/>
          <p:cNvSpPr/>
          <p:nvPr/>
        </p:nvSpPr>
        <p:spPr>
          <a:xfrm>
            <a:off x="5950348" y="2075030"/>
            <a:ext cx="290999" cy="2909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998848" y="2123529"/>
            <a:ext cx="193999" cy="1939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47348" y="2172029"/>
            <a:ext cx="97000" cy="9700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066748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7" name="Shape 25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28" name="bld2_1772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450" dirty="0"/>
          </a:p>
        </p:txBody>
      </p:sp>
      <p:sp>
        <p:nvSpPr>
          <p:cNvPr id="29" name="bld2_1773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volume and a transparent woody glow around everything else.</a:t>
            </a:r>
            <a:endParaRPr lang="en-US" sz="1080" dirty="0"/>
          </a:p>
        </p:txBody>
      </p:sp>
      <p:sp>
        <p:nvSpPr>
          <p:cNvPr id="30" name="bld3_1774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9758081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9695031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9893880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36" name="bld3_1776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 materials</a:t>
            </a:r>
            <a:endParaRPr lang="en-US" sz="1450" dirty="0"/>
          </a:p>
        </p:txBody>
      </p:sp>
      <p:sp>
        <p:nvSpPr>
          <p:cNvPr id="37" name="bld3_1777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 and persistence — extends how far and how long a formula reads.</a:t>
            </a:r>
            <a:endParaRPr lang="en-US" sz="1080" dirty="0"/>
          </a:p>
        </p:txBody>
      </p:sp>
      <p:sp>
        <p:nvSpPr>
          <p:cNvPr id="38" name="bld4_1778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0" name="Shape 38"/>
          <p:cNvSpPr/>
          <p:nvPr/>
        </p:nvSpPr>
        <p:spPr>
          <a:xfrm>
            <a:off x="2089266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E8E2DC"/>
            </a:solidFill>
            <a:prstDash val="solid"/>
          </a:ln>
        </p:spPr>
      </p:sp>
      <p:sp>
        <p:nvSpPr>
          <p:cNvPr id="42" name="bld4_1780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43" name="bld4_1781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Body, texture and fixation — the skin-like glue that holds a formula together.</a:t>
            </a:r>
            <a:endParaRPr lang="en-US" sz="1080" dirty="0"/>
          </a:p>
        </p:txBody>
      </p:sp>
      <p:sp>
        <p:nvSpPr>
          <p:cNvPr id="44" name="bld5_1782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6" name="Shape 44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887299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8" name="Shape 46"/>
          <p:cNvSpPr/>
          <p:nvPr/>
        </p:nvSpPr>
        <p:spPr>
          <a:xfrm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216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432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648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864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080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296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512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728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1944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6071598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9" name="Shape 5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60" name="bld5_1784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450" dirty="0"/>
          </a:p>
        </p:txBody>
      </p:sp>
      <p:sp>
        <p:nvSpPr>
          <p:cNvPr id="61" name="bld5_1785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explosive, fresh lift — instantly brightens an opening.</a:t>
            </a:r>
            <a:endParaRPr lang="en-US" sz="1080" dirty="0"/>
          </a:p>
        </p:txBody>
      </p:sp>
      <p:sp>
        <p:nvSpPr>
          <p:cNvPr id="62" name="bld6_1786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64" name="Shape 62"/>
          <p:cNvSpPr/>
          <p:nvPr/>
        </p:nvSpPr>
        <p:spPr>
          <a:xfrm>
            <a:off x="9636831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04731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801730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68" name="bld6_1788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450" dirty="0"/>
          </a:p>
        </p:txBody>
      </p:sp>
      <p:sp>
        <p:nvSpPr>
          <p:cNvPr id="69" name="bld6_1789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Sweetness and gourmand impact — can flip a formula's whole character.</a:t>
            </a:r>
            <a:endParaRPr lang="en-US" sz="1080" dirty="0"/>
          </a:p>
        </p:txBody>
      </p:sp>
      <p:sp>
        <p:nvSpPr>
          <p:cNvPr id="71" name="trans_fade_9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2" name="Text 6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7" grpId="0"/>
      <p:bldP spid="18" grpId="0"/>
      <p:bldP spid="19" grpId="0"/>
      <p:bldP spid="28" grpId="0"/>
      <p:bldP spid="29" grpId="0"/>
      <p:bldP spid="30" grpId="0"/>
      <p:bldP spid="36" grpId="0"/>
      <p:bldP spid="37" grpId="0"/>
      <p:bldP spid="38" grpId="0"/>
      <p:bldP spid="42" grpId="0"/>
      <p:bldP spid="43" grpId="0"/>
      <p:bldP spid="44" grpId="0"/>
      <p:bldP spid="60" grpId="0"/>
      <p:bldP spid="61" grpId="0"/>
      <p:bldP spid="62" grpId="0"/>
      <p:bldP spid="68" grpId="0"/>
      <p:bldP spid="6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fraction of a percent can change everything.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are precision instruments,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shortcuts.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03.2</a:t>
            </a:r>
            <a:endParaRPr lang="en-US" sz="1100" dirty="0"/>
          </a:p>
        </p:txBody>
      </p:sp>
      <p:sp>
        <p:nvSpPr>
          <p:cNvPr id="10" name="trans_fade_10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8726" y="2010766"/>
            <a:ext cx="2836469" cy="2836469"/>
          </a:xfrm>
          <a:prstGeom prst="ellipse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747278" y="2209318"/>
            <a:ext cx="2439363" cy="243936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" name="Shape 5"/>
          <p:cNvSpPr/>
          <p:nvPr/>
        </p:nvSpPr>
        <p:spPr>
          <a:xfrm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216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648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64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080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512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728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944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825137" y="3287177"/>
            <a:ext cx="283647" cy="283647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 · WHAT TO ORDER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 + KRISTAN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Palette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actually order first? A practical, no-nonsense shopping module.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30 materials, then the next 30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Shopping by family, not by impulse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starter-perfumer checklist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250" dirty="0"/>
          </a:p>
        </p:txBody>
      </p:sp>
      <p:sp>
        <p:nvSpPr>
          <p:cNvPr id="31" name="trans_fade_10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 buy three hundred materials.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balanced palette, not a chemical hoard.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BEFORE YOU SHOP</a:t>
            </a:r>
            <a:endParaRPr lang="en-US" sz="1100" dirty="0"/>
          </a:p>
        </p:txBody>
      </p:sp>
      <p:sp>
        <p:nvSpPr>
          <p:cNvPr id="10" name="trans_fade_10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30 — your absolute fundamentals</a:t>
            </a:r>
            <a:endParaRPr lang="en-US" sz="3200" dirty="0"/>
          </a:p>
        </p:txBody>
      </p:sp>
      <p:sp>
        <p:nvSpPr>
          <p:cNvPr id="7" name="bld1_1790"/>
          <p:cNvSpPr txBox="1"/>
          <p:nvPr/>
        </p:nvSpPr>
        <p:spPr>
          <a:xfrm>
            <a:off x="548640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 &amp; AMBERS</a:t>
            </a:r>
            <a:endParaRPr lang="en-US" sz="1250" dirty="0"/>
          </a:p>
        </p:txBody>
      </p:sp>
      <p:sp>
        <p:nvSpPr>
          <p:cNvPr id="8" name="bld1_1791"/>
          <p:cNvSpPr/>
          <p:nvPr/>
        </p:nvSpPr>
        <p:spPr>
          <a:xfrm>
            <a:off x="548640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9" name="bld1_1792"/>
          <p:cNvSpPr txBox="1"/>
          <p:nvPr/>
        </p:nvSpPr>
        <p:spPr>
          <a:xfrm>
            <a:off x="841248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</a:t>
            </a:r>
            <a:endParaRPr lang="en-US" sz="1200" dirty="0"/>
          </a:p>
        </p:txBody>
      </p:sp>
      <p:sp>
        <p:nvSpPr>
          <p:cNvPr id="10" name="bld1_1793"/>
          <p:cNvSpPr/>
          <p:nvPr/>
        </p:nvSpPr>
        <p:spPr>
          <a:xfrm>
            <a:off x="548640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1" name="bld1_1794"/>
          <p:cNvSpPr txBox="1"/>
          <p:nvPr/>
        </p:nvSpPr>
        <p:spPr>
          <a:xfrm>
            <a:off x="841248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Cedarwood (natural)</a:t>
            </a:r>
            <a:endParaRPr lang="en-US" sz="1200" dirty="0"/>
          </a:p>
        </p:txBody>
      </p:sp>
      <p:sp>
        <p:nvSpPr>
          <p:cNvPr id="12" name="bld1_1795"/>
          <p:cNvSpPr/>
          <p:nvPr/>
        </p:nvSpPr>
        <p:spPr>
          <a:xfrm>
            <a:off x="548640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3" name="bld1_1796"/>
          <p:cNvSpPr txBox="1"/>
          <p:nvPr/>
        </p:nvSpPr>
        <p:spPr>
          <a:xfrm>
            <a:off x="841248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</a:t>
            </a:r>
            <a:endParaRPr lang="en-US" sz="1200" dirty="0"/>
          </a:p>
        </p:txBody>
      </p:sp>
      <p:sp>
        <p:nvSpPr>
          <p:cNvPr id="14" name="bld1_1797"/>
          <p:cNvSpPr/>
          <p:nvPr/>
        </p:nvSpPr>
        <p:spPr>
          <a:xfrm>
            <a:off x="548640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5" name="bld1_1798"/>
          <p:cNvSpPr txBox="1"/>
          <p:nvPr/>
        </p:nvSpPr>
        <p:spPr>
          <a:xfrm>
            <a:off x="841248" y="44805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Vetiver</a:t>
            </a:r>
            <a:endParaRPr lang="en-US" sz="1200" dirty="0"/>
          </a:p>
        </p:txBody>
      </p:sp>
      <p:sp>
        <p:nvSpPr>
          <p:cNvPr id="16" name="bld2_1799"/>
          <p:cNvSpPr txBox="1"/>
          <p:nvPr/>
        </p:nvSpPr>
        <p:spPr>
          <a:xfrm>
            <a:off x="3402254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 &amp; FLORALS</a:t>
            </a:r>
            <a:endParaRPr lang="en-US" sz="1250" dirty="0"/>
          </a:p>
        </p:txBody>
      </p:sp>
      <p:sp>
        <p:nvSpPr>
          <p:cNvPr id="17" name="bld2_1800"/>
          <p:cNvSpPr/>
          <p:nvPr/>
        </p:nvSpPr>
        <p:spPr>
          <a:xfrm>
            <a:off x="3402254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8" name="bld2_1801"/>
          <p:cNvSpPr txBox="1"/>
          <p:nvPr/>
        </p:nvSpPr>
        <p:spPr>
          <a:xfrm>
            <a:off x="3694862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</a:t>
            </a:r>
            <a:endParaRPr lang="en-US" sz="1200" dirty="0"/>
          </a:p>
        </p:txBody>
      </p:sp>
      <p:sp>
        <p:nvSpPr>
          <p:cNvPr id="19" name="bld2_1802"/>
          <p:cNvSpPr/>
          <p:nvPr/>
        </p:nvSpPr>
        <p:spPr>
          <a:xfrm>
            <a:off x="3402254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0" name="bld2_1803"/>
          <p:cNvSpPr txBox="1"/>
          <p:nvPr/>
        </p:nvSpPr>
        <p:spPr>
          <a:xfrm>
            <a:off x="3694862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Habanolide</a:t>
            </a:r>
            <a:endParaRPr lang="en-US" sz="1200" dirty="0"/>
          </a:p>
        </p:txBody>
      </p:sp>
      <p:sp>
        <p:nvSpPr>
          <p:cNvPr id="21" name="bld2_1804"/>
          <p:cNvSpPr/>
          <p:nvPr/>
        </p:nvSpPr>
        <p:spPr>
          <a:xfrm>
            <a:off x="3402254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2" name="bld2_1805"/>
          <p:cNvSpPr txBox="1"/>
          <p:nvPr/>
        </p:nvSpPr>
        <p:spPr>
          <a:xfrm>
            <a:off x="3694862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</a:t>
            </a:r>
            <a:endParaRPr lang="en-US" sz="1200" dirty="0"/>
          </a:p>
        </p:txBody>
      </p:sp>
      <p:sp>
        <p:nvSpPr>
          <p:cNvPr id="23" name="bld2_1806"/>
          <p:cNvSpPr/>
          <p:nvPr/>
        </p:nvSpPr>
        <p:spPr>
          <a:xfrm>
            <a:off x="3402254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4" name="bld2_1807"/>
          <p:cNvSpPr txBox="1"/>
          <p:nvPr/>
        </p:nvSpPr>
        <p:spPr>
          <a:xfrm>
            <a:off x="3694862" y="44805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Linalool</a:t>
            </a:r>
            <a:endParaRPr lang="en-US" sz="1200" dirty="0"/>
          </a:p>
        </p:txBody>
      </p:sp>
      <p:sp>
        <p:nvSpPr>
          <p:cNvPr id="25" name="bld3_1808"/>
          <p:cNvSpPr txBox="1"/>
          <p:nvPr/>
        </p:nvSpPr>
        <p:spPr>
          <a:xfrm>
            <a:off x="6255868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&amp; GREEN</a:t>
            </a:r>
            <a:endParaRPr lang="en-US" sz="1250" dirty="0"/>
          </a:p>
        </p:txBody>
      </p:sp>
      <p:sp>
        <p:nvSpPr>
          <p:cNvPr id="26" name="bld3_1809"/>
          <p:cNvSpPr/>
          <p:nvPr/>
        </p:nvSpPr>
        <p:spPr>
          <a:xfrm>
            <a:off x="6255868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27" name="bld3_1810"/>
          <p:cNvSpPr txBox="1"/>
          <p:nvPr/>
        </p:nvSpPr>
        <p:spPr>
          <a:xfrm>
            <a:off x="6548476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</a:t>
            </a:r>
            <a:endParaRPr lang="en-US" sz="1200" dirty="0"/>
          </a:p>
        </p:txBody>
      </p:sp>
      <p:sp>
        <p:nvSpPr>
          <p:cNvPr id="28" name="bld3_1811"/>
          <p:cNvSpPr/>
          <p:nvPr/>
        </p:nvSpPr>
        <p:spPr>
          <a:xfrm>
            <a:off x="6255868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29" name="bld3_1812"/>
          <p:cNvSpPr txBox="1"/>
          <p:nvPr/>
        </p:nvSpPr>
        <p:spPr>
          <a:xfrm>
            <a:off x="6548476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Dihydromyrcenol</a:t>
            </a:r>
            <a:endParaRPr lang="en-US" sz="1200" dirty="0"/>
          </a:p>
        </p:txBody>
      </p:sp>
      <p:sp>
        <p:nvSpPr>
          <p:cNvPr id="30" name="bld3_1813"/>
          <p:cNvSpPr/>
          <p:nvPr/>
        </p:nvSpPr>
        <p:spPr>
          <a:xfrm>
            <a:off x="6255868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31" name="bld3_1814"/>
          <p:cNvSpPr txBox="1"/>
          <p:nvPr/>
        </p:nvSpPr>
        <p:spPr>
          <a:xfrm>
            <a:off x="6548476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</a:t>
            </a:r>
            <a:endParaRPr lang="en-US" sz="1200" dirty="0"/>
          </a:p>
        </p:txBody>
      </p:sp>
      <p:sp>
        <p:nvSpPr>
          <p:cNvPr id="32" name="bld4_1815"/>
          <p:cNvSpPr txBox="1"/>
          <p:nvPr/>
        </p:nvSpPr>
        <p:spPr>
          <a:xfrm>
            <a:off x="9109481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&amp; BASE</a:t>
            </a:r>
            <a:endParaRPr lang="en-US" sz="1250" dirty="0"/>
          </a:p>
        </p:txBody>
      </p:sp>
      <p:sp>
        <p:nvSpPr>
          <p:cNvPr id="33" name="bld4_1816"/>
          <p:cNvSpPr/>
          <p:nvPr/>
        </p:nvSpPr>
        <p:spPr>
          <a:xfrm>
            <a:off x="9109481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4" name="bld4_1817"/>
          <p:cNvSpPr txBox="1"/>
          <p:nvPr/>
        </p:nvSpPr>
        <p:spPr>
          <a:xfrm>
            <a:off x="9402089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</a:t>
            </a:r>
            <a:endParaRPr lang="en-US" sz="1200" dirty="0"/>
          </a:p>
        </p:txBody>
      </p:sp>
      <p:sp>
        <p:nvSpPr>
          <p:cNvPr id="35" name="bld4_1818"/>
          <p:cNvSpPr/>
          <p:nvPr/>
        </p:nvSpPr>
        <p:spPr>
          <a:xfrm>
            <a:off x="9109481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6" name="bld4_1819"/>
          <p:cNvSpPr txBox="1"/>
          <p:nvPr/>
        </p:nvSpPr>
        <p:spPr>
          <a:xfrm>
            <a:off x="9402089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 Maltol</a:t>
            </a:r>
            <a:endParaRPr lang="en-US" sz="1200" dirty="0"/>
          </a:p>
        </p:txBody>
      </p:sp>
      <p:sp>
        <p:nvSpPr>
          <p:cNvPr id="37" name="bld4_1820"/>
          <p:cNvSpPr/>
          <p:nvPr/>
        </p:nvSpPr>
        <p:spPr>
          <a:xfrm>
            <a:off x="9109481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8" name="bld4_1821"/>
          <p:cNvSpPr txBox="1"/>
          <p:nvPr/>
        </p:nvSpPr>
        <p:spPr>
          <a:xfrm>
            <a:off x="9402089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Coumarin</a:t>
            </a:r>
            <a:endParaRPr lang="en-US" sz="1200" dirty="0"/>
          </a:p>
        </p:txBody>
      </p:sp>
      <p:sp>
        <p:nvSpPr>
          <p:cNvPr id="39" name="bld4_1822"/>
          <p:cNvSpPr/>
          <p:nvPr/>
        </p:nvSpPr>
        <p:spPr>
          <a:xfrm>
            <a:off x="9109481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40" name="bld4_1823"/>
          <p:cNvSpPr txBox="1"/>
          <p:nvPr/>
        </p:nvSpPr>
        <p:spPr>
          <a:xfrm>
            <a:off x="9402089" y="44805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</a:t>
            </a:r>
            <a:endParaRPr lang="en-US" sz="1200" dirty="0"/>
          </a:p>
        </p:txBody>
      </p:sp>
      <p:sp>
        <p:nvSpPr>
          <p:cNvPr id="42" name="trans_fade_10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9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30 — expanding possibilities</a:t>
            </a:r>
            <a:endParaRPr lang="en-US" sz="3200" dirty="0"/>
          </a:p>
        </p:txBody>
      </p:sp>
      <p:sp>
        <p:nvSpPr>
          <p:cNvPr id="7" name="bld1_1824"/>
          <p:cNvSpPr txBox="1"/>
          <p:nvPr/>
        </p:nvSpPr>
        <p:spPr>
          <a:xfrm>
            <a:off x="548640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 &amp; AMBERS</a:t>
            </a:r>
            <a:endParaRPr lang="en-US" sz="1250" dirty="0"/>
          </a:p>
        </p:txBody>
      </p:sp>
      <p:sp>
        <p:nvSpPr>
          <p:cNvPr id="8" name="bld1_1825"/>
          <p:cNvSpPr/>
          <p:nvPr/>
        </p:nvSpPr>
        <p:spPr>
          <a:xfrm>
            <a:off x="548640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9" name="bld1_1826"/>
          <p:cNvSpPr txBox="1"/>
          <p:nvPr/>
        </p:nvSpPr>
        <p:spPr>
          <a:xfrm>
            <a:off x="841248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Cashmeran</a:t>
            </a:r>
            <a:endParaRPr lang="en-US" sz="1200" dirty="0"/>
          </a:p>
        </p:txBody>
      </p:sp>
      <p:sp>
        <p:nvSpPr>
          <p:cNvPr id="10" name="bld1_1827"/>
          <p:cNvSpPr/>
          <p:nvPr/>
        </p:nvSpPr>
        <p:spPr>
          <a:xfrm>
            <a:off x="548640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1" name="bld1_1828"/>
          <p:cNvSpPr txBox="1"/>
          <p:nvPr/>
        </p:nvSpPr>
        <p:spPr>
          <a:xfrm>
            <a:off x="841248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 (natural)</a:t>
            </a:r>
            <a:endParaRPr lang="en-US" sz="1200" dirty="0"/>
          </a:p>
        </p:txBody>
      </p:sp>
      <p:sp>
        <p:nvSpPr>
          <p:cNvPr id="12" name="bld1_1829"/>
          <p:cNvSpPr/>
          <p:nvPr/>
        </p:nvSpPr>
        <p:spPr>
          <a:xfrm>
            <a:off x="548640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3" name="bld1_1830"/>
          <p:cNvSpPr txBox="1"/>
          <p:nvPr/>
        </p:nvSpPr>
        <p:spPr>
          <a:xfrm>
            <a:off x="841248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Norlimbanol</a:t>
            </a:r>
            <a:endParaRPr lang="en-US" sz="1200" dirty="0"/>
          </a:p>
        </p:txBody>
      </p:sp>
      <p:sp>
        <p:nvSpPr>
          <p:cNvPr id="14" name="bld2_1831"/>
          <p:cNvSpPr txBox="1"/>
          <p:nvPr/>
        </p:nvSpPr>
        <p:spPr>
          <a:xfrm>
            <a:off x="3402254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 &amp; FLORALS</a:t>
            </a:r>
            <a:endParaRPr lang="en-US" sz="1250" dirty="0"/>
          </a:p>
        </p:txBody>
      </p:sp>
      <p:sp>
        <p:nvSpPr>
          <p:cNvPr id="15" name="bld2_1832"/>
          <p:cNvSpPr/>
          <p:nvPr/>
        </p:nvSpPr>
        <p:spPr>
          <a:xfrm>
            <a:off x="3402254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6" name="bld2_1833"/>
          <p:cNvSpPr txBox="1"/>
          <p:nvPr/>
        </p:nvSpPr>
        <p:spPr>
          <a:xfrm>
            <a:off x="3694862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Ambrettolide</a:t>
            </a:r>
            <a:endParaRPr lang="en-US" sz="1200" dirty="0"/>
          </a:p>
        </p:txBody>
      </p:sp>
      <p:sp>
        <p:nvSpPr>
          <p:cNvPr id="17" name="bld2_1834"/>
          <p:cNvSpPr/>
          <p:nvPr/>
        </p:nvSpPr>
        <p:spPr>
          <a:xfrm>
            <a:off x="3402254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8" name="bld2_1835"/>
          <p:cNvSpPr txBox="1"/>
          <p:nvPr/>
        </p:nvSpPr>
        <p:spPr>
          <a:xfrm>
            <a:off x="3694862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</a:t>
            </a:r>
            <a:endParaRPr lang="en-US" sz="1200" dirty="0"/>
          </a:p>
        </p:txBody>
      </p:sp>
      <p:sp>
        <p:nvSpPr>
          <p:cNvPr id="19" name="bld2_1836"/>
          <p:cNvSpPr/>
          <p:nvPr/>
        </p:nvSpPr>
        <p:spPr>
          <a:xfrm>
            <a:off x="3402254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0" name="bld2_1837"/>
          <p:cNvSpPr txBox="1"/>
          <p:nvPr/>
        </p:nvSpPr>
        <p:spPr>
          <a:xfrm>
            <a:off x="3694862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absolute</a:t>
            </a:r>
            <a:endParaRPr lang="en-US" sz="1200" dirty="0"/>
          </a:p>
        </p:txBody>
      </p:sp>
      <p:sp>
        <p:nvSpPr>
          <p:cNvPr id="21" name="bld3_1838"/>
          <p:cNvSpPr txBox="1"/>
          <p:nvPr/>
        </p:nvSpPr>
        <p:spPr>
          <a:xfrm>
            <a:off x="6255868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 &amp; GREEN</a:t>
            </a:r>
            <a:endParaRPr lang="en-US" sz="1250" dirty="0"/>
          </a:p>
        </p:txBody>
      </p:sp>
      <p:sp>
        <p:nvSpPr>
          <p:cNvPr id="22" name="bld3_1839"/>
          <p:cNvSpPr/>
          <p:nvPr/>
        </p:nvSpPr>
        <p:spPr>
          <a:xfrm>
            <a:off x="6255868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3" name="bld3_1840"/>
          <p:cNvSpPr txBox="1"/>
          <p:nvPr/>
        </p:nvSpPr>
        <p:spPr>
          <a:xfrm>
            <a:off x="6548476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Allyl amyl glycolate</a:t>
            </a:r>
            <a:endParaRPr lang="en-US" sz="1200" dirty="0"/>
          </a:p>
        </p:txBody>
      </p:sp>
      <p:sp>
        <p:nvSpPr>
          <p:cNvPr id="24" name="bld3_1841"/>
          <p:cNvSpPr/>
          <p:nvPr/>
        </p:nvSpPr>
        <p:spPr>
          <a:xfrm>
            <a:off x="6255868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5" name="bld3_1842"/>
          <p:cNvSpPr txBox="1"/>
          <p:nvPr/>
        </p:nvSpPr>
        <p:spPr>
          <a:xfrm>
            <a:off x="6548476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Galbanum</a:t>
            </a:r>
            <a:endParaRPr lang="en-US" sz="1200" dirty="0"/>
          </a:p>
        </p:txBody>
      </p:sp>
      <p:sp>
        <p:nvSpPr>
          <p:cNvPr id="26" name="bld3_1843"/>
          <p:cNvSpPr/>
          <p:nvPr/>
        </p:nvSpPr>
        <p:spPr>
          <a:xfrm>
            <a:off x="6255868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7" name="bld3_1844"/>
          <p:cNvSpPr txBox="1"/>
          <p:nvPr/>
        </p:nvSpPr>
        <p:spPr>
          <a:xfrm>
            <a:off x="6548476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Prunolide</a:t>
            </a:r>
            <a:endParaRPr lang="en-US" sz="1200" dirty="0"/>
          </a:p>
        </p:txBody>
      </p:sp>
      <p:sp>
        <p:nvSpPr>
          <p:cNvPr id="28" name="bld4_1845"/>
          <p:cNvSpPr txBox="1"/>
          <p:nvPr/>
        </p:nvSpPr>
        <p:spPr>
          <a:xfrm>
            <a:off x="9109481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&amp; FRESH</a:t>
            </a:r>
            <a:endParaRPr lang="en-US" sz="1250" dirty="0"/>
          </a:p>
        </p:txBody>
      </p:sp>
      <p:sp>
        <p:nvSpPr>
          <p:cNvPr id="29" name="bld4_1846"/>
          <p:cNvSpPr/>
          <p:nvPr/>
        </p:nvSpPr>
        <p:spPr>
          <a:xfrm>
            <a:off x="9109481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0" name="bld4_1847"/>
          <p:cNvSpPr txBox="1"/>
          <p:nvPr/>
        </p:nvSpPr>
        <p:spPr>
          <a:xfrm>
            <a:off x="9402089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Calone</a:t>
            </a:r>
            <a:endParaRPr lang="en-US" sz="1200" dirty="0"/>
          </a:p>
        </p:txBody>
      </p:sp>
      <p:sp>
        <p:nvSpPr>
          <p:cNvPr id="31" name="bld4_1848"/>
          <p:cNvSpPr/>
          <p:nvPr/>
        </p:nvSpPr>
        <p:spPr>
          <a:xfrm>
            <a:off x="9109481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2" name="bld4_1849"/>
          <p:cNvSpPr txBox="1"/>
          <p:nvPr/>
        </p:nvSpPr>
        <p:spPr>
          <a:xfrm>
            <a:off x="9402089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Maltol</a:t>
            </a:r>
            <a:endParaRPr lang="en-US" sz="1200" dirty="0"/>
          </a:p>
        </p:txBody>
      </p:sp>
      <p:sp>
        <p:nvSpPr>
          <p:cNvPr id="33" name="bld4_1850"/>
          <p:cNvSpPr/>
          <p:nvPr/>
        </p:nvSpPr>
        <p:spPr>
          <a:xfrm>
            <a:off x="9109481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4" name="bld4_1851"/>
          <p:cNvSpPr txBox="1"/>
          <p:nvPr/>
        </p:nvSpPr>
        <p:spPr>
          <a:xfrm>
            <a:off x="9402089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Patchouli</a:t>
            </a:r>
            <a:endParaRPr lang="en-US" sz="1200" dirty="0"/>
          </a:p>
        </p:txBody>
      </p:sp>
      <p:sp>
        <p:nvSpPr>
          <p:cNvPr id="36" name="trans_fade_10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7" name="Text 3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BY FAMILY, NOT BY IMPULSE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Organise every purchase around the palette</a:t>
            </a:r>
            <a:endParaRPr lang="en-US" sz="3200" dirty="0"/>
          </a:p>
        </p:txBody>
      </p:sp>
      <p:sp>
        <p:nvSpPr>
          <p:cNvPr id="7" name="bld1_1852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>
            <a:off x="1313170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94003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1" name="Shape 9"/>
          <p:cNvSpPr/>
          <p:nvPr/>
        </p:nvSpPr>
        <p:spPr>
          <a:xfrm>
            <a:off x="1474836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26569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3" name="Shape 11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4" name="bld1_1854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Woods</a:t>
            </a:r>
            <a:endParaRPr lang="en-US" sz="1450" dirty="0"/>
          </a:p>
        </p:txBody>
      </p:sp>
      <p:sp>
        <p:nvSpPr>
          <p:cNvPr id="15" name="bld1_1855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base</a:t>
            </a:r>
            <a:endParaRPr lang="en-US" sz="1080" dirty="0"/>
          </a:p>
        </p:txBody>
      </p:sp>
      <p:sp>
        <p:nvSpPr>
          <p:cNvPr id="16" name="bld2_1856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8" name="Shape 16"/>
          <p:cNvSpPr/>
          <p:nvPr/>
        </p:nvSpPr>
        <p:spPr>
          <a:xfrm>
            <a:off x="3602659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20" name="bld2_1858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21" name="bld2_1859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&amp; fixation</a:t>
            </a:r>
            <a:endParaRPr lang="en-US" sz="1080" dirty="0"/>
          </a:p>
        </p:txBody>
      </p:sp>
      <p:sp>
        <p:nvSpPr>
          <p:cNvPr id="22" name="bld3_1860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4" name="Shape 22"/>
          <p:cNvSpPr/>
          <p:nvPr/>
        </p:nvSpPr>
        <p:spPr>
          <a:xfrm rot="9000000">
            <a:off x="5974598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6000000">
            <a:off x="5911548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1400000">
            <a:off x="6110398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8" name="bld3_1862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Ambers</a:t>
            </a:r>
            <a:endParaRPr lang="en-US" sz="1450" dirty="0"/>
          </a:p>
        </p:txBody>
      </p:sp>
      <p:sp>
        <p:nvSpPr>
          <p:cNvPr id="29" name="bld3_1863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</a:t>
            </a:r>
            <a:endParaRPr lang="en-US" sz="1080" dirty="0"/>
          </a:p>
        </p:txBody>
      </p:sp>
      <p:sp>
        <p:nvSpPr>
          <p:cNvPr id="30" name="bld4_1864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305312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4320000">
            <a:off x="841670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8640000">
            <a:off x="837415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823646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8193918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307737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8" name="Shape 36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9" name="bld4_1866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Florals</a:t>
            </a:r>
            <a:endParaRPr lang="en-US" sz="1450" dirty="0"/>
          </a:p>
        </p:txBody>
      </p:sp>
      <p:sp>
        <p:nvSpPr>
          <p:cNvPr id="40" name="bld4_1867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1080" dirty="0"/>
          </a:p>
        </p:txBody>
      </p:sp>
      <p:sp>
        <p:nvSpPr>
          <p:cNvPr id="41" name="bld5_1868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43" name="Shape 41"/>
          <p:cNvSpPr/>
          <p:nvPr/>
        </p:nvSpPr>
        <p:spPr>
          <a:xfrm>
            <a:off x="10393528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427477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5" name="Shape 43"/>
          <p:cNvSpPr/>
          <p:nvPr/>
        </p:nvSpPr>
        <p:spPr>
          <a:xfrm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216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432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648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64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080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296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512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728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944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0611777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57" name="bld5_1870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58" name="bld5_1871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lift</a:t>
            </a:r>
            <a:endParaRPr lang="en-US" sz="1080" dirty="0"/>
          </a:p>
        </p:txBody>
      </p:sp>
      <p:sp>
        <p:nvSpPr>
          <p:cNvPr id="59" name="bld6_1872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61" name="Shape 59"/>
          <p:cNvSpPr/>
          <p:nvPr/>
        </p:nvSpPr>
        <p:spPr>
          <a:xfrm>
            <a:off x="1356820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1550182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12000000">
            <a:off x="1573957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65" name="bld6_1874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66" name="bld6_1875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Juiciness</a:t>
            </a:r>
            <a:endParaRPr lang="en-US" sz="1080" dirty="0"/>
          </a:p>
        </p:txBody>
      </p:sp>
      <p:sp>
        <p:nvSpPr>
          <p:cNvPr id="67" name="bld7_1876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69" name="Shape 67"/>
          <p:cNvSpPr/>
          <p:nvPr/>
        </p:nvSpPr>
        <p:spPr>
          <a:xfrm rot="15300000">
            <a:off x="366155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3050000">
            <a:off x="3707031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0800000">
            <a:off x="3784533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8550000">
            <a:off x="3862036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6300000">
            <a:off x="390750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75" name="bld7_1878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76" name="bld7_1879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</a:t>
            </a:r>
            <a:endParaRPr lang="en-US" sz="1080" dirty="0"/>
          </a:p>
        </p:txBody>
      </p:sp>
      <p:sp>
        <p:nvSpPr>
          <p:cNvPr id="77" name="bld8_1880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79" name="Shape 77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5906698" y="4577256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5906698" y="4516631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5906698" y="4448732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84" name="bld8_1882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/ Aquatic</a:t>
            </a:r>
            <a:endParaRPr lang="en-US" sz="1450" dirty="0"/>
          </a:p>
        </p:txBody>
      </p:sp>
      <p:sp>
        <p:nvSpPr>
          <p:cNvPr id="85" name="bld8_1883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Airiness</a:t>
            </a:r>
            <a:endParaRPr lang="en-US" sz="1080" dirty="0"/>
          </a:p>
        </p:txBody>
      </p:sp>
      <p:sp>
        <p:nvSpPr>
          <p:cNvPr id="86" name="bld9_1884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7" name="Shape 85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88" name="Shape 86"/>
          <p:cNvSpPr/>
          <p:nvPr/>
        </p:nvSpPr>
        <p:spPr>
          <a:xfrm rot="840000">
            <a:off x="8307737" y="4349307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 rot="840000">
            <a:off x="8360451" y="4405082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311375" y="441841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1" name="Shape 89"/>
          <p:cNvSpPr/>
          <p:nvPr/>
        </p:nvSpPr>
        <p:spPr>
          <a:xfrm>
            <a:off x="8328835" y="447855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2" name="Shape 90"/>
          <p:cNvSpPr/>
          <p:nvPr/>
        </p:nvSpPr>
        <p:spPr>
          <a:xfrm>
            <a:off x="8346295" y="453869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3" name="Shape 91"/>
          <p:cNvSpPr/>
          <p:nvPr/>
        </p:nvSpPr>
        <p:spPr>
          <a:xfrm>
            <a:off x="8363755" y="45988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4" name="Shape 92"/>
          <p:cNvSpPr/>
          <p:nvPr/>
        </p:nvSpPr>
        <p:spPr>
          <a:xfrm>
            <a:off x="8381214" y="465897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5" name="Shape 93"/>
          <p:cNvSpPr/>
          <p:nvPr/>
        </p:nvSpPr>
        <p:spPr>
          <a:xfrm>
            <a:off x="8398674" y="471911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6" name="Shape 94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97" name="bld9_1886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98" name="bld9_1887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Sweetness</a:t>
            </a:r>
            <a:endParaRPr lang="en-US" sz="1080" dirty="0"/>
          </a:p>
        </p:txBody>
      </p:sp>
      <p:sp>
        <p:nvSpPr>
          <p:cNvPr id="99" name="bld10_1888"/>
          <p:cNvSpPr/>
          <p:nvPr/>
        </p:nvSpPr>
        <p:spPr>
          <a:xfrm>
            <a:off x="962899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0" name="Shape 98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01" name="Shape 99"/>
          <p:cNvSpPr/>
          <p:nvPr/>
        </p:nvSpPr>
        <p:spPr>
          <a:xfrm rot="9000000">
            <a:off x="10514777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6000000">
            <a:off x="10451727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11400000">
            <a:off x="10650576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105" name="bld10_1890"/>
          <p:cNvSpPr txBox="1"/>
          <p:nvPr/>
        </p:nvSpPr>
        <p:spPr>
          <a:xfrm>
            <a:off x="981187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</a:t>
            </a:r>
            <a:endParaRPr lang="en-US" sz="1450" dirty="0"/>
          </a:p>
        </p:txBody>
      </p:sp>
      <p:sp>
        <p:nvSpPr>
          <p:cNvPr id="106" name="bld10_1891"/>
          <p:cNvSpPr txBox="1"/>
          <p:nvPr/>
        </p:nvSpPr>
        <p:spPr>
          <a:xfrm>
            <a:off x="981187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&amp; soul</a:t>
            </a:r>
            <a:endParaRPr lang="en-US" sz="1080" dirty="0"/>
          </a:p>
        </p:txBody>
      </p:sp>
      <p:sp>
        <p:nvSpPr>
          <p:cNvPr id="108" name="trans_fade_10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09" name="Text 10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4" grpId="0"/>
      <p:bldP spid="15" grpId="0"/>
      <p:bldP spid="16" grpId="0"/>
      <p:bldP spid="20" grpId="0"/>
      <p:bldP spid="21" grpId="0"/>
      <p:bldP spid="22" grpId="0"/>
      <p:bldP spid="28" grpId="0"/>
      <p:bldP spid="29" grpId="0"/>
      <p:bldP spid="30" grpId="0"/>
      <p:bldP spid="39" grpId="0"/>
      <p:bldP spid="40" grpId="0"/>
      <p:bldP spid="41" grpId="0"/>
      <p:bldP spid="57" grpId="0"/>
      <p:bldP spid="58" grpId="0"/>
      <p:bldP spid="59" grpId="0"/>
      <p:bldP spid="65" grpId="0"/>
      <p:bldP spid="66" grpId="0"/>
      <p:bldP spid="67" grpId="0"/>
      <p:bldP spid="75" grpId="0"/>
      <p:bldP spid="76" grpId="0"/>
      <p:bldP spid="77" grpId="0"/>
      <p:bldP spid="84" grpId="0"/>
      <p:bldP spid="85" grpId="0"/>
      <p:bldP spid="86" grpId="0"/>
      <p:bldP spid="97" grpId="0"/>
      <p:bldP spid="98" grpId="0"/>
      <p:bldP spid="99" grpId="0"/>
      <p:bldP spid="105" grpId="0"/>
      <p:bldP spid="106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DISCIPLINE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beats curiosity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74313" y="3177558"/>
            <a:ext cx="502883" cy="50288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8835289" y="3177558"/>
            <a:ext cx="502883" cy="502883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2" name="Shape 10"/>
          <p:cNvSpPr/>
          <p:nvPr/>
        </p:nvSpPr>
        <p:spPr>
          <a:xfrm>
            <a:off x="9296266" y="3177558"/>
            <a:ext cx="502883" cy="502883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Shape 11"/>
          <p:cNvSpPr/>
          <p:nvPr/>
        </p:nvSpPr>
        <p:spPr>
          <a:xfrm>
            <a:off x="9757242" y="3177558"/>
            <a:ext cx="502883" cy="502883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18219" y="3177558"/>
            <a:ext cx="502883" cy="502883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balanced palette, not a random hoard.</a:t>
            </a:r>
            <a:endParaRPr lang="en-US" sz="1050" dirty="0"/>
          </a:p>
        </p:txBody>
      </p:sp>
      <p:sp>
        <p:nvSpPr>
          <p:cNvPr id="16" name="bld1_189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1_189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 every family first</a:t>
            </a:r>
            <a:endParaRPr lang="en-US" sz="1650" dirty="0"/>
          </a:p>
        </p:txBody>
      </p:sp>
      <p:sp>
        <p:nvSpPr>
          <p:cNvPr id="18" name="bld1_1894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material from each of the ten categories teaches you more than ten materials from one category.</a:t>
            </a:r>
            <a:endParaRPr lang="en-US" sz="1250" dirty="0"/>
          </a:p>
        </p:txBody>
      </p:sp>
      <p:sp>
        <p:nvSpPr>
          <p:cNvPr id="19" name="bld2_1895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2_1896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Resist the rare and expensive</a:t>
            </a:r>
            <a:endParaRPr lang="en-US" sz="1650" dirty="0"/>
          </a:p>
        </p:txBody>
      </p:sp>
      <p:sp>
        <p:nvSpPr>
          <p:cNvPr id="21" name="bld2_1897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exotic captive material is exciting — but useless without the fundamentals to build around it.</a:t>
            </a:r>
            <a:endParaRPr lang="en-US" sz="1250" dirty="0"/>
          </a:p>
        </p:txBody>
      </p:sp>
      <p:sp>
        <p:nvSpPr>
          <p:cNvPr id="22" name="bld3_1898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3_1899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comes later</a:t>
            </a:r>
            <a:endParaRPr lang="en-US" sz="1650" dirty="0"/>
          </a:p>
        </p:txBody>
      </p:sp>
      <p:sp>
        <p:nvSpPr>
          <p:cNvPr id="24" name="bld3_1900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your first 60 materials are familiar, specialise into what you actually love working with.</a:t>
            </a:r>
            <a:endParaRPr lang="en-US" sz="1250" dirty="0"/>
          </a:p>
        </p:txBody>
      </p:sp>
      <p:sp>
        <p:nvSpPr>
          <p:cNvPr id="26" name="trans_fade_10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starter-perfumer checklist</a:t>
            </a:r>
            <a:endParaRPr lang="en-US" sz="3200" dirty="0"/>
          </a:p>
        </p:txBody>
      </p:sp>
      <p:sp>
        <p:nvSpPr>
          <p:cNvPr id="7" name="bld1_1901"/>
          <p:cNvSpPr txBox="1"/>
          <p:nvPr/>
        </p:nvSpPr>
        <p:spPr>
          <a:xfrm>
            <a:off x="548640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</a:t>
            </a:r>
            <a:endParaRPr lang="en-US" sz="1250" dirty="0"/>
          </a:p>
        </p:txBody>
      </p:sp>
      <p:sp>
        <p:nvSpPr>
          <p:cNvPr id="8" name="bld1_1902"/>
          <p:cNvSpPr/>
          <p:nvPr/>
        </p:nvSpPr>
        <p:spPr>
          <a:xfrm>
            <a:off x="548640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bld1_1903"/>
          <p:cNvSpPr txBox="1"/>
          <p:nvPr/>
        </p:nvSpPr>
        <p:spPr>
          <a:xfrm>
            <a:off x="841248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30 list complete</a:t>
            </a:r>
            <a:endParaRPr lang="en-US" sz="1200" dirty="0"/>
          </a:p>
        </p:txBody>
      </p:sp>
      <p:sp>
        <p:nvSpPr>
          <p:cNvPr id="10" name="bld1_1904"/>
          <p:cNvSpPr/>
          <p:nvPr/>
        </p:nvSpPr>
        <p:spPr>
          <a:xfrm>
            <a:off x="548640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bld1_1905"/>
          <p:cNvSpPr txBox="1"/>
          <p:nvPr/>
        </p:nvSpPr>
        <p:spPr>
          <a:xfrm>
            <a:off x="841248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material per family minimum</a:t>
            </a:r>
            <a:endParaRPr lang="en-US" sz="1200" dirty="0"/>
          </a:p>
        </p:txBody>
      </p:sp>
      <p:sp>
        <p:nvSpPr>
          <p:cNvPr id="12" name="bld1_1906"/>
          <p:cNvSpPr/>
          <p:nvPr/>
        </p:nvSpPr>
        <p:spPr>
          <a:xfrm>
            <a:off x="548640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3" name="bld1_1907"/>
          <p:cNvSpPr txBox="1"/>
          <p:nvPr/>
        </p:nvSpPr>
        <p:spPr>
          <a:xfrm>
            <a:off x="841248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+ synthetics both represented</a:t>
            </a:r>
            <a:endParaRPr lang="en-US" sz="1200" dirty="0"/>
          </a:p>
        </p:txBody>
      </p:sp>
      <p:sp>
        <p:nvSpPr>
          <p:cNvPr id="14" name="bld2_1908"/>
          <p:cNvSpPr txBox="1"/>
          <p:nvPr/>
        </p:nvSpPr>
        <p:spPr>
          <a:xfrm>
            <a:off x="4353458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1250" dirty="0"/>
          </a:p>
        </p:txBody>
      </p:sp>
      <p:sp>
        <p:nvSpPr>
          <p:cNvPr id="15" name="bld2_1909"/>
          <p:cNvSpPr/>
          <p:nvPr/>
        </p:nvSpPr>
        <p:spPr>
          <a:xfrm>
            <a:off x="4353458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6" name="bld2_1910"/>
          <p:cNvSpPr txBox="1"/>
          <p:nvPr/>
        </p:nvSpPr>
        <p:spPr>
          <a:xfrm>
            <a:off x="4646066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scale</a:t>
            </a:r>
            <a:endParaRPr lang="en-US" sz="1200" dirty="0"/>
          </a:p>
        </p:txBody>
      </p:sp>
      <p:sp>
        <p:nvSpPr>
          <p:cNvPr id="17" name="bld2_1911"/>
          <p:cNvSpPr/>
          <p:nvPr/>
        </p:nvSpPr>
        <p:spPr>
          <a:xfrm>
            <a:off x="4353458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8" name="bld2_1912"/>
          <p:cNvSpPr txBox="1"/>
          <p:nvPr/>
        </p:nvSpPr>
        <p:spPr>
          <a:xfrm>
            <a:off x="4646066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Pipettes (plastic + glass)</a:t>
            </a:r>
            <a:endParaRPr lang="en-US" sz="1200" dirty="0"/>
          </a:p>
        </p:txBody>
      </p:sp>
      <p:sp>
        <p:nvSpPr>
          <p:cNvPr id="19" name="bld2_1913"/>
          <p:cNvSpPr/>
          <p:nvPr/>
        </p:nvSpPr>
        <p:spPr>
          <a:xfrm>
            <a:off x="4353458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20" name="bld2_1914"/>
          <p:cNvSpPr txBox="1"/>
          <p:nvPr/>
        </p:nvSpPr>
        <p:spPr>
          <a:xfrm>
            <a:off x="4646066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bottles + scent strips</a:t>
            </a:r>
            <a:endParaRPr lang="en-US" sz="1200" dirty="0"/>
          </a:p>
        </p:txBody>
      </p:sp>
      <p:sp>
        <p:nvSpPr>
          <p:cNvPr id="21" name="bld3_1915"/>
          <p:cNvSpPr txBox="1"/>
          <p:nvPr/>
        </p:nvSpPr>
        <p:spPr>
          <a:xfrm>
            <a:off x="8158277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250" dirty="0"/>
          </a:p>
        </p:txBody>
      </p:sp>
      <p:sp>
        <p:nvSpPr>
          <p:cNvPr id="22" name="bld3_1916"/>
          <p:cNvSpPr/>
          <p:nvPr/>
        </p:nvSpPr>
        <p:spPr>
          <a:xfrm>
            <a:off x="8158277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3" name="bld3_1917"/>
          <p:cNvSpPr txBox="1"/>
          <p:nvPr/>
        </p:nvSpPr>
        <p:spPr>
          <a:xfrm>
            <a:off x="8450885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log started</a:t>
            </a:r>
            <a:endParaRPr lang="en-US" sz="1200" dirty="0"/>
          </a:p>
        </p:txBody>
      </p:sp>
      <p:sp>
        <p:nvSpPr>
          <p:cNvPr id="24" name="bld3_1918"/>
          <p:cNvSpPr/>
          <p:nvPr/>
        </p:nvSpPr>
        <p:spPr>
          <a:xfrm>
            <a:off x="8158277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5" name="bld3_1919"/>
          <p:cNvSpPr txBox="1"/>
          <p:nvPr/>
        </p:nvSpPr>
        <p:spPr>
          <a:xfrm>
            <a:off x="8450885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boxes labelled</a:t>
            </a:r>
            <a:endParaRPr lang="en-US" sz="1200" dirty="0"/>
          </a:p>
        </p:txBody>
      </p:sp>
      <p:sp>
        <p:nvSpPr>
          <p:cNvPr id="26" name="bld3_1920"/>
          <p:cNvSpPr/>
          <p:nvPr/>
        </p:nvSpPr>
        <p:spPr>
          <a:xfrm>
            <a:off x="8158277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7" name="bld3_1921"/>
          <p:cNvSpPr txBox="1"/>
          <p:nvPr/>
        </p:nvSpPr>
        <p:spPr>
          <a:xfrm>
            <a:off x="8450885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 bottles ready</a:t>
            </a:r>
            <a:endParaRPr lang="en-US" sz="1200" dirty="0"/>
          </a:p>
        </p:txBody>
      </p:sp>
      <p:sp>
        <p:nvSpPr>
          <p:cNvPr id="29" name="trans_fade_10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beats width. Thirty materials you know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intimately beat three hundred you've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really smelled.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</a:t>
            </a:r>
            <a:endParaRPr lang="en-US" sz="1100" dirty="0"/>
          </a:p>
        </p:txBody>
      </p:sp>
      <p:sp>
        <p:nvSpPr>
          <p:cNvPr id="10" name="trans_fade_10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06227" y="2096719"/>
            <a:ext cx="321466" cy="746077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6354" y="2629632"/>
            <a:ext cx="1461211" cy="213164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70148" y="3482291"/>
            <a:ext cx="993624" cy="1225698"/>
          </a:xfrm>
          <a:prstGeom prst="triangle">
            <a:avLst/>
          </a:prstGeom>
          <a:solidFill>
            <a:srgbClr val="C9A354">
              <a:alpha val="9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04 · DILUTION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Dilute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Confidence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 is the skill that makes every other skill in this course possible.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examples at 10%, 1% and 0.1%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Diluting liquids vs. solids, step by step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label a dilution so it's never a mystery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21" name="trans_fade_10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DILUTE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reasons every perfumer dilutes</a:t>
            </a:r>
            <a:endParaRPr lang="en-US" sz="3200" dirty="0"/>
          </a:p>
        </p:txBody>
      </p:sp>
      <p:sp>
        <p:nvSpPr>
          <p:cNvPr id="7" name="bld1_1922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923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924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450" dirty="0"/>
          </a:p>
        </p:txBody>
      </p:sp>
      <p:sp>
        <p:nvSpPr>
          <p:cNvPr id="10" name="bld1_1925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Weighing 0.05g of pure material is unreliable — weighing it diluted is precise.</a:t>
            </a:r>
            <a:endParaRPr lang="en-US" sz="1080" dirty="0"/>
          </a:p>
        </p:txBody>
      </p:sp>
      <p:sp>
        <p:nvSpPr>
          <p:cNvPr id="11" name="bld2_1926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927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928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Easier evaluation</a:t>
            </a:r>
            <a:endParaRPr lang="en-US" sz="1450" dirty="0"/>
          </a:p>
        </p:txBody>
      </p:sp>
      <p:sp>
        <p:nvSpPr>
          <p:cNvPr id="14" name="bld2_1929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diluted material is safer and clearer to smell on a strip.</a:t>
            </a:r>
            <a:endParaRPr lang="en-US" sz="1080" dirty="0"/>
          </a:p>
        </p:txBody>
      </p:sp>
      <p:sp>
        <p:nvSpPr>
          <p:cNvPr id="15" name="bld3_1930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931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932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Easier dosing</a:t>
            </a:r>
            <a:endParaRPr lang="en-US" sz="1450" dirty="0"/>
          </a:p>
        </p:txBody>
      </p:sp>
      <p:sp>
        <p:nvSpPr>
          <p:cNvPr id="18" name="bld3_1933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controlled doses become achievable at any strength.</a:t>
            </a:r>
            <a:endParaRPr lang="en-US" sz="1080" dirty="0"/>
          </a:p>
        </p:txBody>
      </p:sp>
      <p:sp>
        <p:nvSpPr>
          <p:cNvPr id="19" name="bld4_1934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935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1936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Understanding potency</a:t>
            </a:r>
            <a:endParaRPr lang="en-US" sz="1450" dirty="0"/>
          </a:p>
        </p:txBody>
      </p:sp>
      <p:sp>
        <p:nvSpPr>
          <p:cNvPr id="22" name="bld4_1937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materials reveal their true character only once tamed.</a:t>
            </a:r>
            <a:endParaRPr lang="en-US" sz="1080" dirty="0"/>
          </a:p>
        </p:txBody>
      </p:sp>
      <p:sp>
        <p:nvSpPr>
          <p:cNvPr id="23" name="bld5_1938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939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5" name="bld5_1940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with solids</a:t>
            </a:r>
            <a:endParaRPr lang="en-US" sz="1450" dirty="0"/>
          </a:p>
        </p:txBody>
      </p:sp>
      <p:sp>
        <p:nvSpPr>
          <p:cNvPr id="26" name="bld5_1941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materials become usable liquids once dissolved.</a:t>
            </a:r>
            <a:endParaRPr lang="en-US" sz="1080" dirty="0"/>
          </a:p>
        </p:txBody>
      </p:sp>
      <p:sp>
        <p:nvSpPr>
          <p:cNvPr id="27" name="bld6_1942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943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9" name="bld6_1944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development</a:t>
            </a:r>
            <a:endParaRPr lang="en-US" sz="1450" dirty="0"/>
          </a:p>
        </p:txBody>
      </p:sp>
      <p:sp>
        <p:nvSpPr>
          <p:cNvPr id="30" name="bld6_1945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stocks let you iterate a formula quickly and repeatably.</a:t>
            </a:r>
            <a:endParaRPr lang="en-US" sz="1080" dirty="0"/>
          </a:p>
        </p:txBody>
      </p:sp>
      <p:sp>
        <p:nvSpPr>
          <p:cNvPr id="32" name="trans_fade_11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DILUTION LADDER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working strengths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71242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5322982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5322982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555258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92690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50880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527652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434474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5269558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50183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5223103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1946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1947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1_1948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450" dirty="0"/>
          </a:p>
        </p:txBody>
      </p:sp>
      <p:sp>
        <p:nvSpPr>
          <p:cNvPr id="24" name="bld1_1949"/>
          <p:cNvSpPr txBox="1"/>
          <p:nvPr/>
        </p:nvSpPr>
        <p:spPr>
          <a:xfrm>
            <a:off x="731520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Neat material — undiluted</a:t>
            </a:r>
            <a:endParaRPr lang="en-US" sz="1080" dirty="0"/>
          </a:p>
        </p:txBody>
      </p:sp>
      <p:sp>
        <p:nvSpPr>
          <p:cNvPr id="25" name="bld2_1950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1951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bld2_1952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1450" dirty="0"/>
          </a:p>
        </p:txBody>
      </p:sp>
      <p:sp>
        <p:nvSpPr>
          <p:cNvPr id="28" name="bld2_1953"/>
          <p:cNvSpPr txBox="1"/>
          <p:nvPr/>
        </p:nvSpPr>
        <p:spPr>
          <a:xfrm>
            <a:off x="300160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strength — strong materials</a:t>
            </a:r>
            <a:endParaRPr lang="en-US" sz="1080" dirty="0"/>
          </a:p>
        </p:txBody>
      </p:sp>
      <p:sp>
        <p:nvSpPr>
          <p:cNvPr id="29" name="bld3_1954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1955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1956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1450" dirty="0"/>
          </a:p>
        </p:txBody>
      </p:sp>
      <p:sp>
        <p:nvSpPr>
          <p:cNvPr id="32" name="bld3_1957"/>
          <p:cNvSpPr txBox="1"/>
          <p:nvPr/>
        </p:nvSpPr>
        <p:spPr>
          <a:xfrm>
            <a:off x="527169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working dilution</a:t>
            </a:r>
            <a:endParaRPr lang="en-US" sz="1080" dirty="0"/>
          </a:p>
        </p:txBody>
      </p:sp>
      <p:sp>
        <p:nvSpPr>
          <p:cNvPr id="33" name="bld4_1958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1959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1960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</a:t>
            </a:r>
            <a:endParaRPr lang="en-US" sz="1450" dirty="0"/>
          </a:p>
        </p:txBody>
      </p:sp>
      <p:sp>
        <p:nvSpPr>
          <p:cNvPr id="36" name="bld4_1961"/>
          <p:cNvSpPr txBox="1"/>
          <p:nvPr/>
        </p:nvSpPr>
        <p:spPr>
          <a:xfrm>
            <a:off x="754178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very potent materials</a:t>
            </a:r>
            <a:endParaRPr lang="en-US" sz="1080" dirty="0"/>
          </a:p>
        </p:txBody>
      </p:sp>
      <p:sp>
        <p:nvSpPr>
          <p:cNvPr id="37" name="bld5_1962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bld5_1963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9" name="bld5_1964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0.1%</a:t>
            </a:r>
            <a:endParaRPr lang="en-US" sz="1450" dirty="0"/>
          </a:p>
        </p:txBody>
      </p:sp>
      <p:sp>
        <p:nvSpPr>
          <p:cNvPr id="40" name="bld5_1965"/>
          <p:cNvSpPr txBox="1"/>
          <p:nvPr/>
        </p:nvSpPr>
        <p:spPr>
          <a:xfrm>
            <a:off x="981187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most powerful trace materials</a:t>
            </a:r>
            <a:endParaRPr lang="en-US" sz="1080" dirty="0"/>
          </a:p>
        </p:txBody>
      </p:sp>
      <p:sp>
        <p:nvSpPr>
          <p:cNvPr id="42" name="trans_fade_11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material to labelled bottle</a:t>
            </a:r>
            <a:endParaRPr lang="en-US" sz="3200" dirty="0"/>
          </a:p>
        </p:txBody>
      </p:sp>
      <p:sp>
        <p:nvSpPr>
          <p:cNvPr id="7" name="bld1_1966"/>
          <p:cNvSpPr txBox="1"/>
          <p:nvPr/>
        </p:nvSpPr>
        <p:spPr>
          <a:xfrm>
            <a:off x="2112264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511150" y="3117190"/>
            <a:ext cx="1355141" cy="1355141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06009" y="3212049"/>
            <a:ext cx="1165421" cy="116542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20963" y="3727003"/>
            <a:ext cx="135514" cy="13551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1968"/>
          <p:cNvSpPr txBox="1"/>
          <p:nvPr/>
        </p:nvSpPr>
        <p:spPr>
          <a:xfrm>
            <a:off x="228600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</a:t>
            </a:r>
            <a:endParaRPr lang="en-US" sz="1400" dirty="0"/>
          </a:p>
        </p:txBody>
      </p:sp>
      <p:sp>
        <p:nvSpPr>
          <p:cNvPr id="24" name="bld1_1969"/>
          <p:cNvSpPr txBox="1"/>
          <p:nvPr/>
        </p:nvSpPr>
        <p:spPr>
          <a:xfrm>
            <a:off x="228600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material you're diluting</a:t>
            </a:r>
            <a:endParaRPr lang="en-US" sz="1050" dirty="0"/>
          </a:p>
        </p:txBody>
      </p:sp>
      <p:sp>
        <p:nvSpPr>
          <p:cNvPr id="25" name="bld2_1970"/>
          <p:cNvSpPr txBox="1"/>
          <p:nvPr/>
        </p:nvSpPr>
        <p:spPr>
          <a:xfrm>
            <a:off x="5383682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3591458" y="2926080"/>
            <a:ext cx="1737360" cy="173736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7" name="Shape 25"/>
          <p:cNvSpPr/>
          <p:nvPr/>
        </p:nvSpPr>
        <p:spPr>
          <a:xfrm>
            <a:off x="3782568" y="3117190"/>
            <a:ext cx="1355141" cy="1355141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31633" y="3787984"/>
            <a:ext cx="1057010" cy="203271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31633" y="3618592"/>
            <a:ext cx="1057010" cy="203271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31633" y="3428872"/>
            <a:ext cx="1057010" cy="203271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591458" y="2926080"/>
            <a:ext cx="1737360" cy="173736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2" name="bld2_1972"/>
          <p:cNvSpPr txBox="1"/>
          <p:nvPr/>
        </p:nvSpPr>
        <p:spPr>
          <a:xfrm>
            <a:off x="3500018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Solvent</a:t>
            </a:r>
            <a:endParaRPr lang="en-US" sz="1400" dirty="0"/>
          </a:p>
        </p:txBody>
      </p:sp>
      <p:sp>
        <p:nvSpPr>
          <p:cNvPr id="33" name="bld2_1973"/>
          <p:cNvSpPr txBox="1"/>
          <p:nvPr/>
        </p:nvSpPr>
        <p:spPr>
          <a:xfrm>
            <a:off x="3500018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Ethanol, DPG or similar</a:t>
            </a:r>
            <a:endParaRPr lang="en-US" sz="1050" dirty="0"/>
          </a:p>
        </p:txBody>
      </p:sp>
      <p:sp>
        <p:nvSpPr>
          <p:cNvPr id="34" name="bld3_1974"/>
          <p:cNvSpPr txBox="1"/>
          <p:nvPr/>
        </p:nvSpPr>
        <p:spPr>
          <a:xfrm>
            <a:off x="8655101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862877" y="2926080"/>
            <a:ext cx="1737360" cy="173736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6" name="Shape 34"/>
          <p:cNvSpPr/>
          <p:nvPr/>
        </p:nvSpPr>
        <p:spPr>
          <a:xfrm>
            <a:off x="7053986" y="3117190"/>
            <a:ext cx="1355141" cy="1355141"/>
          </a:xfrm>
          <a:prstGeom prst="ellipse">
            <a:avLst/>
          </a:prstGeom>
          <a:solidFill>
            <a:srgbClr val="C1752F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243706" y="3306909"/>
            <a:ext cx="975701" cy="975701"/>
          </a:xfrm>
          <a:prstGeom prst="donut">
            <a:avLst/>
          </a:prstGeom>
          <a:solidFill>
            <a:srgbClr val="E7AC55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514734" y="3577937"/>
            <a:ext cx="433645" cy="433645"/>
          </a:xfrm>
          <a:prstGeom prst="ellipse">
            <a:avLst/>
          </a:prstGeom>
          <a:solidFill>
            <a:srgbClr val="E7AC55">
              <a:alpha val="9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862877" y="2926080"/>
            <a:ext cx="1737360" cy="173736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0" name="bld3_1976"/>
          <p:cNvSpPr txBox="1"/>
          <p:nvPr/>
        </p:nvSpPr>
        <p:spPr>
          <a:xfrm>
            <a:off x="6771437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 dilution</a:t>
            </a:r>
            <a:endParaRPr lang="en-US" sz="1400" dirty="0"/>
          </a:p>
        </p:txBody>
      </p:sp>
      <p:sp>
        <p:nvSpPr>
          <p:cNvPr id="41" name="bld3_1977"/>
          <p:cNvSpPr txBox="1"/>
          <p:nvPr/>
        </p:nvSpPr>
        <p:spPr>
          <a:xfrm>
            <a:off x="6771437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Weighed, combined, stirred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3" name="Shape 41"/>
          <p:cNvSpPr/>
          <p:nvPr/>
        </p:nvSpPr>
        <p:spPr>
          <a:xfrm>
            <a:off x="10933158" y="3239152"/>
            <a:ext cx="139634" cy="111122"/>
          </a:xfrm>
          <a:prstGeom prst="roundRect">
            <a:avLst>
              <a:gd name="adj" fmla="val 32915"/>
            </a:avLst>
          </a:prstGeom>
          <a:solidFill>
            <a:srgbClr val="0E0D0B"/>
          </a:solidFill>
          <a:ln/>
        </p:spPr>
      </p:sp>
      <p:sp>
        <p:nvSpPr>
          <p:cNvPr id="44" name="Shape 42"/>
          <p:cNvSpPr/>
          <p:nvPr/>
        </p:nvSpPr>
        <p:spPr>
          <a:xfrm>
            <a:off x="10942265" y="3350274"/>
            <a:ext cx="121421" cy="177794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786153" y="3528068"/>
            <a:ext cx="433645" cy="822299"/>
          </a:xfrm>
          <a:prstGeom prst="roundRect">
            <a:avLst>
              <a:gd name="adj" fmla="val 25304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822729" y="3898103"/>
            <a:ext cx="360493" cy="415689"/>
          </a:xfrm>
          <a:prstGeom prst="roundRect">
            <a:avLst>
              <a:gd name="adj" fmla="val 25365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8" name="bld4_1979"/>
          <p:cNvSpPr txBox="1"/>
          <p:nvPr/>
        </p:nvSpPr>
        <p:spPr>
          <a:xfrm>
            <a:off x="10042855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Labelled bottle</a:t>
            </a:r>
            <a:endParaRPr lang="en-US" sz="1400" dirty="0"/>
          </a:p>
        </p:txBody>
      </p:sp>
      <p:sp>
        <p:nvSpPr>
          <p:cNvPr id="49" name="bld4_1980"/>
          <p:cNvSpPr txBox="1"/>
          <p:nvPr/>
        </p:nvSpPr>
        <p:spPr>
          <a:xfrm>
            <a:off x="10042855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%, solvent, date</a:t>
            </a:r>
            <a:endParaRPr lang="en-US" sz="1050" dirty="0"/>
          </a:p>
        </p:txBody>
      </p:sp>
      <p:sp>
        <p:nvSpPr>
          <p:cNvPr id="51" name="trans_push_l_11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2" name="Text 4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2" grpId="0"/>
      <p:bldP spid="33" grpId="0"/>
      <p:bldP spid="34" grpId="0"/>
      <p:bldP spid="40" grpId="0"/>
      <p:bldP spid="41" grpId="0"/>
      <p:bldP spid="48" grpId="0"/>
      <p:bldP spid="49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Diluting a liquid material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22871" y="1773735"/>
            <a:ext cx="2849673" cy="2849673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1" name="Shape 9"/>
          <p:cNvSpPr/>
          <p:nvPr/>
        </p:nvSpPr>
        <p:spPr>
          <a:xfrm rot="8100000">
            <a:off x="8992021" y="2642885"/>
            <a:ext cx="1111372" cy="1111372"/>
          </a:xfrm>
          <a:prstGeom prst="teardrop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122871" y="1773735"/>
            <a:ext cx="2849673" cy="2849673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material + 9g solvent = 10% dilution.</a:t>
            </a:r>
            <a:endParaRPr lang="en-US" sz="1050" dirty="0"/>
          </a:p>
        </p:txBody>
      </p:sp>
      <p:sp>
        <p:nvSpPr>
          <p:cNvPr id="14" name="bld1_198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198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— weigh the material</a:t>
            </a:r>
            <a:endParaRPr lang="en-US" sz="1650" dirty="0"/>
          </a:p>
        </p:txBody>
      </p:sp>
      <p:sp>
        <p:nvSpPr>
          <p:cNvPr id="16" name="bld1_198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your bottle on the scale, tare, and weigh out exactly 1g of material.</a:t>
            </a:r>
            <a:endParaRPr lang="en-US" sz="1250" dirty="0"/>
          </a:p>
        </p:txBody>
      </p:sp>
      <p:sp>
        <p:nvSpPr>
          <p:cNvPr id="17" name="bld2_198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2_198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— add solvent</a:t>
            </a:r>
            <a:endParaRPr lang="en-US" sz="1650" dirty="0"/>
          </a:p>
        </p:txBody>
      </p:sp>
      <p:sp>
        <p:nvSpPr>
          <p:cNvPr id="19" name="bld2_198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9g of your chosen solvent (often ethanol or DPG) to the same bottle.</a:t>
            </a:r>
            <a:endParaRPr lang="en-US" sz="1250" dirty="0"/>
          </a:p>
        </p:txBody>
      </p:sp>
      <p:sp>
        <p:nvSpPr>
          <p:cNvPr id="20" name="bld3_198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3_198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— you now have 10%</a:t>
            </a:r>
            <a:endParaRPr lang="en-US" sz="1650" dirty="0"/>
          </a:p>
        </p:txBody>
      </p:sp>
      <p:sp>
        <p:nvSpPr>
          <p:cNvPr id="22" name="bld3_198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material + 9g solvent = 10g total, and the material is 10% of that total.</a:t>
            </a:r>
            <a:endParaRPr lang="en-US" sz="1250" dirty="0"/>
          </a:p>
        </p:txBody>
      </p:sp>
      <p:sp>
        <p:nvSpPr>
          <p:cNvPr id="24" name="trans_fade_11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down to 1% and 0.1%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1710934"/>
            <a:ext cx="2514417" cy="2514417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09569" y="2130003"/>
            <a:ext cx="1676278" cy="1676278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28638" y="2549073"/>
            <a:ext cx="838139" cy="838139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dilution is built from the one before it — a chain, not three separate weighings.</a:t>
            </a:r>
            <a:endParaRPr lang="en-US" sz="1050" dirty="0"/>
          </a:p>
        </p:txBody>
      </p:sp>
      <p:sp>
        <p:nvSpPr>
          <p:cNvPr id="14" name="bld1_199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199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1%, straight from raw material</a:t>
            </a:r>
            <a:endParaRPr lang="en-US" sz="1650" dirty="0"/>
          </a:p>
        </p:txBody>
      </p:sp>
      <p:sp>
        <p:nvSpPr>
          <p:cNvPr id="16" name="bld1_199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0.1g material + 9.9g solvent = 10g total, and the material is 1% of that total.</a:t>
            </a:r>
            <a:endParaRPr lang="en-US" sz="1250" dirty="0"/>
          </a:p>
        </p:txBody>
      </p:sp>
      <p:sp>
        <p:nvSpPr>
          <p:cNvPr id="17" name="bld2_199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2_199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1%, the easier way — from a 10% stock</a:t>
            </a:r>
            <a:endParaRPr lang="en-US" sz="1650" dirty="0"/>
          </a:p>
        </p:txBody>
      </p:sp>
      <p:sp>
        <p:nvSpPr>
          <p:cNvPr id="19" name="bld2_199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of your existing 10% stock + 9g solvent = 10g at 1%. No need to weigh a tiny 0.1g amount twice.</a:t>
            </a:r>
            <a:endParaRPr lang="en-US" sz="1250" dirty="0"/>
          </a:p>
        </p:txBody>
      </p:sp>
      <p:sp>
        <p:nvSpPr>
          <p:cNvPr id="20" name="bld3_199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3_199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0.1%, the same trick again</a:t>
            </a:r>
            <a:endParaRPr lang="en-US" sz="1650" dirty="0"/>
          </a:p>
        </p:txBody>
      </p:sp>
      <p:sp>
        <p:nvSpPr>
          <p:cNvPr id="22" name="bld3_199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of your 1% stock + 9g solvent = 10g at 0.1%. Each stock becomes the starting point for the next.</a:t>
            </a:r>
            <a:endParaRPr lang="en-US" sz="1250" dirty="0"/>
          </a:p>
        </p:txBody>
      </p:sp>
      <p:sp>
        <p:nvSpPr>
          <p:cNvPr id="24" name="trans_fade_11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HOW LOW TO GO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some materials need lower dilutions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71242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5322982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5322982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555258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92690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50880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527652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434474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5269558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50183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5223103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1999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000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2001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potency</a:t>
            </a:r>
            <a:endParaRPr lang="en-US" sz="1450" dirty="0"/>
          </a:p>
        </p:txBody>
      </p:sp>
      <p:sp>
        <p:nvSpPr>
          <p:cNvPr id="24" name="bld1_2002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materials are so powerful that even 10% overwhelms a scent strip — 1% or lower reveals their real character.</a:t>
            </a:r>
            <a:endParaRPr lang="en-US" sz="1080" dirty="0"/>
          </a:p>
        </p:txBody>
      </p:sp>
      <p:sp>
        <p:nvSpPr>
          <p:cNvPr id="25" name="bld2_2003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004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bld2_2005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Accurate dosing in a formula</a:t>
            </a:r>
            <a:endParaRPr lang="en-US" sz="1450" dirty="0"/>
          </a:p>
        </p:txBody>
      </p:sp>
      <p:sp>
        <p:nvSpPr>
          <p:cNvPr id="28" name="bld2_2006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used at 0.05% of a formula needs a dilute stock — otherwise you simply can't weigh a small enough amount of the neat material.</a:t>
            </a:r>
            <a:endParaRPr lang="en-US" sz="1080" dirty="0"/>
          </a:p>
        </p:txBody>
      </p:sp>
      <p:sp>
        <p:nvSpPr>
          <p:cNvPr id="29" name="bld3_2007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008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2009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and usage limits</a:t>
            </a:r>
            <a:endParaRPr lang="en-US" sz="1450" dirty="0"/>
          </a:p>
        </p:txBody>
      </p:sp>
      <p:sp>
        <p:nvSpPr>
          <p:cNvPr id="32" name="bld3_2010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 and other guidelines cap some materials at very low percentages — a pre-made low dilution keeps you safely under the limit by default.</a:t>
            </a:r>
            <a:endParaRPr lang="en-US" sz="1080" dirty="0"/>
          </a:p>
        </p:txBody>
      </p:sp>
      <p:sp>
        <p:nvSpPr>
          <p:cNvPr id="34" name="trans_fade_11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Diluting a solid material</a:t>
            </a:r>
            <a:endParaRPr lang="en-US" sz="3200" dirty="0"/>
          </a:p>
        </p:txBody>
      </p:sp>
      <p:sp>
        <p:nvSpPr>
          <p:cNvPr id="7" name="bld1_2011"/>
          <p:cNvSpPr txBox="1"/>
          <p:nvPr/>
        </p:nvSpPr>
        <p:spPr>
          <a:xfrm>
            <a:off x="2112264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188720" y="3645695"/>
            <a:ext cx="335397" cy="149065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4117" y="3645695"/>
            <a:ext cx="335397" cy="186332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524117" y="3832026"/>
            <a:ext cx="335397" cy="298131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5122" y="4130157"/>
            <a:ext cx="558996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965122" y="3794760"/>
            <a:ext cx="223598" cy="33539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8790" y="3608428"/>
            <a:ext cx="409930" cy="186332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9094" y="3735134"/>
            <a:ext cx="119252" cy="11925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1261" y="3602838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16658" y="3789170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1261" y="4087301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2265" y="4087301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5934" y="3565572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2" name="bld1_2013"/>
          <p:cNvSpPr txBox="1"/>
          <p:nvPr/>
        </p:nvSpPr>
        <p:spPr>
          <a:xfrm>
            <a:off x="228600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</a:t>
            </a:r>
            <a:endParaRPr lang="en-US" sz="1400" dirty="0"/>
          </a:p>
        </p:txBody>
      </p:sp>
      <p:sp>
        <p:nvSpPr>
          <p:cNvPr id="23" name="bld1_2014"/>
          <p:cNvSpPr txBox="1"/>
          <p:nvPr/>
        </p:nvSpPr>
        <p:spPr>
          <a:xfrm>
            <a:off x="228600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Precisely, on the scale</a:t>
            </a:r>
            <a:endParaRPr lang="en-US" sz="1050" dirty="0"/>
          </a:p>
        </p:txBody>
      </p:sp>
      <p:sp>
        <p:nvSpPr>
          <p:cNvPr id="24" name="bld2_2015"/>
          <p:cNvSpPr txBox="1"/>
          <p:nvPr/>
        </p:nvSpPr>
        <p:spPr>
          <a:xfrm>
            <a:off x="4565828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2773604" y="2926080"/>
            <a:ext cx="1737360" cy="173736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6" name="Shape 24"/>
          <p:cNvSpPr/>
          <p:nvPr/>
        </p:nvSpPr>
        <p:spPr>
          <a:xfrm>
            <a:off x="2964713" y="3117190"/>
            <a:ext cx="1355141" cy="1355141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113779" y="3787984"/>
            <a:ext cx="1057010" cy="203271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113779" y="3618592"/>
            <a:ext cx="1057010" cy="203271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13779" y="3428872"/>
            <a:ext cx="1057010" cy="203271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773604" y="2926080"/>
            <a:ext cx="1737360" cy="173736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1" name="bld2_2017"/>
          <p:cNvSpPr txBox="1"/>
          <p:nvPr/>
        </p:nvSpPr>
        <p:spPr>
          <a:xfrm>
            <a:off x="2682164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solvent</a:t>
            </a:r>
            <a:endParaRPr lang="en-US" sz="1400" dirty="0"/>
          </a:p>
        </p:txBody>
      </p:sp>
      <p:sp>
        <p:nvSpPr>
          <p:cNvPr id="32" name="bld2_2018"/>
          <p:cNvSpPr txBox="1"/>
          <p:nvPr/>
        </p:nvSpPr>
        <p:spPr>
          <a:xfrm>
            <a:off x="2682164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calculated weight</a:t>
            </a:r>
            <a:endParaRPr lang="en-US" sz="1050" dirty="0"/>
          </a:p>
        </p:txBody>
      </p:sp>
      <p:sp>
        <p:nvSpPr>
          <p:cNvPr id="33" name="bld3_2019"/>
          <p:cNvSpPr txBox="1"/>
          <p:nvPr/>
        </p:nvSpPr>
        <p:spPr>
          <a:xfrm>
            <a:off x="7019392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5227168" y="2926080"/>
            <a:ext cx="1737360" cy="173736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5" name="Shape 33"/>
          <p:cNvSpPr/>
          <p:nvPr/>
        </p:nvSpPr>
        <p:spPr>
          <a:xfrm rot="8100000">
            <a:off x="5757062" y="3455975"/>
            <a:ext cx="677570" cy="677570"/>
          </a:xfrm>
          <a:prstGeom prst="teardrop">
            <a:avLst/>
          </a:prstGeom>
          <a:solidFill>
            <a:srgbClr val="8A5A2E">
              <a:alpha val="9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227168" y="2926080"/>
            <a:ext cx="1737360" cy="1737360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7" name="bld3_2021"/>
          <p:cNvSpPr txBox="1"/>
          <p:nvPr/>
        </p:nvSpPr>
        <p:spPr>
          <a:xfrm>
            <a:off x="5135728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gently</a:t>
            </a:r>
            <a:endParaRPr lang="en-US" sz="1400" dirty="0"/>
          </a:p>
        </p:txBody>
      </p:sp>
      <p:sp>
        <p:nvSpPr>
          <p:cNvPr id="38" name="bld3_2022"/>
          <p:cNvSpPr txBox="1"/>
          <p:nvPr/>
        </p:nvSpPr>
        <p:spPr>
          <a:xfrm>
            <a:off x="5135728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needed</a:t>
            </a:r>
            <a:endParaRPr lang="en-US" sz="1050" dirty="0"/>
          </a:p>
        </p:txBody>
      </p:sp>
      <p:sp>
        <p:nvSpPr>
          <p:cNvPr id="39" name="bld4_2023"/>
          <p:cNvSpPr txBox="1"/>
          <p:nvPr/>
        </p:nvSpPr>
        <p:spPr>
          <a:xfrm>
            <a:off x="9472955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680731" y="2926080"/>
            <a:ext cx="1737360" cy="173736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41" name="Shape 39"/>
          <p:cNvSpPr/>
          <p:nvPr/>
        </p:nvSpPr>
        <p:spPr>
          <a:xfrm rot="8100000">
            <a:off x="8210626" y="3455975"/>
            <a:ext cx="677570" cy="677570"/>
          </a:xfrm>
          <a:prstGeom prst="teardrop">
            <a:avLst/>
          </a:prstGeom>
          <a:solidFill>
            <a:srgbClr val="4090AF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680731" y="2926080"/>
            <a:ext cx="1737360" cy="173736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3" name="bld4_2025"/>
          <p:cNvSpPr txBox="1"/>
          <p:nvPr/>
        </p:nvSpPr>
        <p:spPr>
          <a:xfrm>
            <a:off x="7589291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</a:t>
            </a:r>
            <a:endParaRPr lang="en-US" sz="1400" dirty="0"/>
          </a:p>
        </p:txBody>
      </p:sp>
      <p:sp>
        <p:nvSpPr>
          <p:cNvPr id="44" name="bld4_2026"/>
          <p:cNvSpPr txBox="1"/>
          <p:nvPr/>
        </p:nvSpPr>
        <p:spPr>
          <a:xfrm>
            <a:off x="7589291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fully dissolved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6" name="Shape 44"/>
          <p:cNvSpPr/>
          <p:nvPr/>
        </p:nvSpPr>
        <p:spPr>
          <a:xfrm>
            <a:off x="10325405" y="3117190"/>
            <a:ext cx="1355141" cy="1355141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498333" y="3455975"/>
            <a:ext cx="10092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428415" y="3681832"/>
            <a:ext cx="11491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0428415" y="3907688"/>
            <a:ext cx="11491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10498333" y="4133545"/>
            <a:ext cx="10092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52" name="bld5_2028"/>
          <p:cNvSpPr txBox="1"/>
          <p:nvPr/>
        </p:nvSpPr>
        <p:spPr>
          <a:xfrm>
            <a:off x="10042855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00" dirty="0"/>
          </a:p>
        </p:txBody>
      </p:sp>
      <p:sp>
        <p:nvSpPr>
          <p:cNvPr id="53" name="bld5_2029"/>
          <p:cNvSpPr txBox="1"/>
          <p:nvPr/>
        </p:nvSpPr>
        <p:spPr>
          <a:xfrm>
            <a:off x="10042855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%, solvent, date</a:t>
            </a:r>
            <a:endParaRPr lang="en-US" sz="1050" dirty="0"/>
          </a:p>
        </p:txBody>
      </p:sp>
      <p:sp>
        <p:nvSpPr>
          <p:cNvPr id="55" name="trans_push_l_11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6" name="Text 5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2" grpId="0"/>
      <p:bldP spid="23" grpId="0"/>
      <p:bldP spid="24" grpId="0"/>
      <p:bldP spid="31" grpId="0"/>
      <p:bldP spid="32" grpId="0"/>
      <p:bldP spid="33" grpId="0"/>
      <p:bldP spid="37" grpId="0"/>
      <p:bldP spid="38" grpId="0"/>
      <p:bldP spid="39" grpId="0"/>
      <p:bldP spid="43" grpId="0"/>
      <p:bldP spid="44" grpId="0"/>
      <p:bldP spid="52" grpId="0"/>
      <p:bldP spid="53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STRENGTH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 depends on potency and purpose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73333" y="4756671"/>
            <a:ext cx="1504264" cy="1504264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4857" y="5398195"/>
            <a:ext cx="221215" cy="221215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2030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2031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2" name="bld1_2032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100%</a:t>
            </a:r>
            <a:endParaRPr lang="en-US" sz="1450" dirty="0"/>
          </a:p>
        </p:txBody>
      </p:sp>
      <p:sp>
        <p:nvSpPr>
          <p:cNvPr id="13" name="bld1_2033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low-impact materials — many light woods and musks.</a:t>
            </a:r>
            <a:endParaRPr lang="en-US" sz="1080" dirty="0"/>
          </a:p>
        </p:txBody>
      </p:sp>
      <p:sp>
        <p:nvSpPr>
          <p:cNvPr id="14" name="bld2_2034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2035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bld2_2036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10%</a:t>
            </a:r>
            <a:endParaRPr lang="en-US" sz="1450" dirty="0"/>
          </a:p>
        </p:txBody>
      </p:sp>
      <p:sp>
        <p:nvSpPr>
          <p:cNvPr id="17" name="bld2_2037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for most working materials in a formula.</a:t>
            </a:r>
            <a:endParaRPr lang="en-US" sz="1080" dirty="0"/>
          </a:p>
        </p:txBody>
      </p:sp>
      <p:sp>
        <p:nvSpPr>
          <p:cNvPr id="18" name="bld3_2038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2039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3_2040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1%</a:t>
            </a:r>
            <a:endParaRPr lang="en-US" sz="1450" dirty="0"/>
          </a:p>
        </p:txBody>
      </p:sp>
      <p:sp>
        <p:nvSpPr>
          <p:cNvPr id="21" name="bld3_2041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trace materials — strong musks, some florals, superpower synthetics.</a:t>
            </a:r>
            <a:endParaRPr lang="en-US" sz="1080" dirty="0"/>
          </a:p>
        </p:txBody>
      </p:sp>
      <p:sp>
        <p:nvSpPr>
          <p:cNvPr id="23" name="trans_fade_11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EVERY TIME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ideal dilution label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3158712" y="2265883"/>
            <a:ext cx="1214617" cy="342351"/>
          </a:xfrm>
          <a:prstGeom prst="roundRect">
            <a:avLst>
              <a:gd name="adj" fmla="val 10684"/>
            </a:avLst>
          </a:prstGeom>
          <a:solidFill>
            <a:srgbClr val="0E0D0B"/>
          </a:solidFill>
          <a:ln/>
        </p:spPr>
      </p:sp>
      <p:sp>
        <p:nvSpPr>
          <p:cNvPr id="9" name="Shape 7"/>
          <p:cNvSpPr/>
          <p:nvPr/>
        </p:nvSpPr>
        <p:spPr>
          <a:xfrm>
            <a:off x="3237926" y="2608235"/>
            <a:ext cx="1056188" cy="547762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79970" y="3155997"/>
            <a:ext cx="3772101" cy="2533400"/>
          </a:xfrm>
          <a:prstGeom prst="roundRect">
            <a:avLst>
              <a:gd name="adj" fmla="val 4331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16546" y="4296027"/>
            <a:ext cx="3698949" cy="1356794"/>
          </a:xfrm>
          <a:prstGeom prst="roundRect">
            <a:avLst>
              <a:gd name="adj" fmla="val 6739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408064" y="4017353"/>
            <a:ext cx="2715913" cy="658684"/>
          </a:xfrm>
          <a:prstGeom prst="roundRect">
            <a:avLst>
              <a:gd name="adj" fmla="val 4165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17736" y="2646274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Material:  Hedione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17736" y="3264408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Dilution:  10% in DPG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17736" y="3882542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Solvent:  DPG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17736" y="4500677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 Prepared today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dilution, solvent, date — every single bottle, no exceptions.</a:t>
            </a:r>
            <a:endParaRPr lang="en-US" sz="1200" dirty="0"/>
          </a:p>
        </p:txBody>
      </p:sp>
      <p:sp>
        <p:nvSpPr>
          <p:cNvPr id="19" name="trans_fade_11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0" name="Text 1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in doubt, dilute. You can always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stronger — you can't un-smell overload.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04</a:t>
            </a:r>
            <a:endParaRPr lang="en-US" sz="1100" dirty="0"/>
          </a:p>
        </p:txBody>
      </p:sp>
      <p:sp>
        <p:nvSpPr>
          <p:cNvPr id="10" name="trans_fade_11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30588" y="2182673"/>
            <a:ext cx="274192" cy="2492654"/>
          </a:xfrm>
          <a:prstGeom prst="roundRect">
            <a:avLst>
              <a:gd name="adj" fmla="val 667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44304" y="3827825"/>
            <a:ext cx="246760" cy="829214"/>
          </a:xfrm>
          <a:prstGeom prst="roundRect">
            <a:avLst>
              <a:gd name="adj" fmla="val 5558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05 · NOSE TRAINING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Your Nose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Like A Perfumer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nose is a muscle. This module is how professionals actually train it.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a strip across 48 real hours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record, every single time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actually build lasting scent memory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20" name="trans_fade_12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HABIT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on a strip, across real time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2042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2043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0" name="bld1_2044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min</a:t>
            </a:r>
            <a:endParaRPr lang="en-US" sz="1200" dirty="0"/>
          </a:p>
        </p:txBody>
      </p:sp>
      <p:sp>
        <p:nvSpPr>
          <p:cNvPr id="11" name="bld1_2045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impression</a:t>
            </a:r>
            <a:endParaRPr lang="en-US" sz="1050" dirty="0"/>
          </a:p>
        </p:txBody>
      </p:sp>
      <p:sp>
        <p:nvSpPr>
          <p:cNvPr id="12" name="bld2_2046"/>
          <p:cNvSpPr/>
          <p:nvPr/>
        </p:nvSpPr>
        <p:spPr>
          <a:xfrm>
            <a:off x="2849819" y="357530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bld2_2047"/>
          <p:cNvSpPr/>
          <p:nvPr/>
        </p:nvSpPr>
        <p:spPr>
          <a:xfrm>
            <a:off x="2767523" y="3493008"/>
            <a:ext cx="329184" cy="329184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4" name="bld2_2048"/>
          <p:cNvSpPr txBox="1"/>
          <p:nvPr/>
        </p:nvSpPr>
        <p:spPr>
          <a:xfrm>
            <a:off x="215487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15" name="bld2_2049"/>
          <p:cNvSpPr txBox="1"/>
          <p:nvPr/>
        </p:nvSpPr>
        <p:spPr>
          <a:xfrm>
            <a:off x="215487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 settling</a:t>
            </a:r>
            <a:endParaRPr lang="en-US" sz="1050" dirty="0"/>
          </a:p>
        </p:txBody>
      </p:sp>
      <p:sp>
        <p:nvSpPr>
          <p:cNvPr id="16" name="bld3_2050"/>
          <p:cNvSpPr/>
          <p:nvPr/>
        </p:nvSpPr>
        <p:spPr>
          <a:xfrm>
            <a:off x="4958974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7" name="bld3_2051"/>
          <p:cNvSpPr/>
          <p:nvPr/>
        </p:nvSpPr>
        <p:spPr>
          <a:xfrm>
            <a:off x="4876678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18" name="bld3_2052"/>
          <p:cNvSpPr txBox="1"/>
          <p:nvPr/>
        </p:nvSpPr>
        <p:spPr>
          <a:xfrm>
            <a:off x="426403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hour</a:t>
            </a:r>
            <a:endParaRPr lang="en-US" sz="1200" dirty="0"/>
          </a:p>
        </p:txBody>
      </p:sp>
      <p:sp>
        <p:nvSpPr>
          <p:cNvPr id="19" name="bld3_2053"/>
          <p:cNvSpPr txBox="1"/>
          <p:nvPr/>
        </p:nvSpPr>
        <p:spPr>
          <a:xfrm>
            <a:off x="426403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emerging</a:t>
            </a:r>
            <a:endParaRPr lang="en-US" sz="1050" dirty="0"/>
          </a:p>
        </p:txBody>
      </p:sp>
      <p:sp>
        <p:nvSpPr>
          <p:cNvPr id="20" name="bld4_2054"/>
          <p:cNvSpPr/>
          <p:nvPr/>
        </p:nvSpPr>
        <p:spPr>
          <a:xfrm>
            <a:off x="7068129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4_2055"/>
          <p:cNvSpPr/>
          <p:nvPr/>
        </p:nvSpPr>
        <p:spPr>
          <a:xfrm>
            <a:off x="6985833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2" name="bld4_2056"/>
          <p:cNvSpPr txBox="1"/>
          <p:nvPr/>
        </p:nvSpPr>
        <p:spPr>
          <a:xfrm>
            <a:off x="637318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hours</a:t>
            </a:r>
            <a:endParaRPr lang="en-US" sz="1200" dirty="0"/>
          </a:p>
        </p:txBody>
      </p:sp>
      <p:sp>
        <p:nvSpPr>
          <p:cNvPr id="23" name="bld4_2057"/>
          <p:cNvSpPr txBox="1"/>
          <p:nvPr/>
        </p:nvSpPr>
        <p:spPr>
          <a:xfrm>
            <a:off x="637318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maturing</a:t>
            </a:r>
            <a:endParaRPr lang="en-US" sz="1050" dirty="0"/>
          </a:p>
        </p:txBody>
      </p:sp>
      <p:sp>
        <p:nvSpPr>
          <p:cNvPr id="24" name="bld5_2058"/>
          <p:cNvSpPr/>
          <p:nvPr/>
        </p:nvSpPr>
        <p:spPr>
          <a:xfrm>
            <a:off x="917728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2059"/>
          <p:cNvSpPr/>
          <p:nvPr/>
        </p:nvSpPr>
        <p:spPr>
          <a:xfrm>
            <a:off x="909498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6" name="bld5_2060"/>
          <p:cNvSpPr txBox="1"/>
          <p:nvPr/>
        </p:nvSpPr>
        <p:spPr>
          <a:xfrm>
            <a:off x="848234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27" name="bld5_2061"/>
          <p:cNvSpPr txBox="1"/>
          <p:nvPr/>
        </p:nvSpPr>
        <p:spPr>
          <a:xfrm>
            <a:off x="848234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 forming</a:t>
            </a:r>
            <a:endParaRPr lang="en-US" sz="1050" dirty="0"/>
          </a:p>
        </p:txBody>
      </p:sp>
      <p:sp>
        <p:nvSpPr>
          <p:cNvPr id="28" name="bld6_2062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9" name="bld6_2063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30" name="bld6_2064"/>
          <p:cNvSpPr txBox="1"/>
          <p:nvPr/>
        </p:nvSpPr>
        <p:spPr>
          <a:xfrm>
            <a:off x="1059149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hours</a:t>
            </a:r>
            <a:endParaRPr lang="en-US" sz="1200" dirty="0"/>
          </a:p>
        </p:txBody>
      </p:sp>
      <p:sp>
        <p:nvSpPr>
          <p:cNvPr id="31" name="bld6_2065"/>
          <p:cNvSpPr txBox="1"/>
          <p:nvPr/>
        </p:nvSpPr>
        <p:spPr>
          <a:xfrm>
            <a:off x="1059149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Final, true character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you only smelled at 0 minutes is a material you don't actually know yet.</a:t>
            </a:r>
            <a:endParaRPr lang="en-US" sz="1250" dirty="0"/>
          </a:p>
        </p:txBody>
      </p:sp>
      <p:sp>
        <p:nvSpPr>
          <p:cNvPr id="34" name="trans_push_l_12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RECORD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evaluation, every single time</a:t>
            </a:r>
            <a:endParaRPr lang="en-US" sz="3200" dirty="0"/>
          </a:p>
        </p:txBody>
      </p:sp>
      <p:sp>
        <p:nvSpPr>
          <p:cNvPr id="7" name="bld1_2066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067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068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impression</a:t>
            </a:r>
            <a:endParaRPr lang="en-US" sz="1450" dirty="0"/>
          </a:p>
        </p:txBody>
      </p:sp>
      <p:sp>
        <p:nvSpPr>
          <p:cNvPr id="10" name="bld1_2069"/>
          <p:cNvSpPr txBox="1"/>
          <p:nvPr/>
        </p:nvSpPr>
        <p:spPr>
          <a:xfrm>
            <a:off x="731520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gut reaction, unfiltered.</a:t>
            </a:r>
            <a:endParaRPr lang="en-US" sz="1080" dirty="0"/>
          </a:p>
        </p:txBody>
      </p:sp>
      <p:sp>
        <p:nvSpPr>
          <p:cNvPr id="11" name="bld2_2070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071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072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</a:t>
            </a:r>
            <a:endParaRPr lang="en-US" sz="1450" dirty="0"/>
          </a:p>
        </p:txBody>
      </p:sp>
      <p:sp>
        <p:nvSpPr>
          <p:cNvPr id="14" name="bld2_2073"/>
          <p:cNvSpPr txBox="1"/>
          <p:nvPr/>
        </p:nvSpPr>
        <p:spPr>
          <a:xfrm>
            <a:off x="3569132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family, what mood, what texture.</a:t>
            </a:r>
            <a:endParaRPr lang="en-US" sz="1080" dirty="0"/>
          </a:p>
        </p:txBody>
      </p:sp>
      <p:sp>
        <p:nvSpPr>
          <p:cNvPr id="15" name="bld3_2074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075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076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</a:t>
            </a:r>
            <a:endParaRPr lang="en-US" sz="1450" dirty="0"/>
          </a:p>
        </p:txBody>
      </p:sp>
      <p:sp>
        <p:nvSpPr>
          <p:cNvPr id="18" name="bld3_2077"/>
          <p:cNvSpPr txBox="1"/>
          <p:nvPr/>
        </p:nvSpPr>
        <p:spPr>
          <a:xfrm>
            <a:off x="6406744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intense at each time point.</a:t>
            </a:r>
            <a:endParaRPr lang="en-US" sz="1080" dirty="0"/>
          </a:p>
        </p:txBody>
      </p:sp>
      <p:sp>
        <p:nvSpPr>
          <p:cNvPr id="19" name="bld4_2078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079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2080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22" name="bld4_2081"/>
          <p:cNvSpPr txBox="1"/>
          <p:nvPr/>
        </p:nvSpPr>
        <p:spPr>
          <a:xfrm>
            <a:off x="9244355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it reaches from the strip.</a:t>
            </a:r>
            <a:endParaRPr lang="en-US" sz="1080" dirty="0"/>
          </a:p>
        </p:txBody>
      </p:sp>
      <p:sp>
        <p:nvSpPr>
          <p:cNvPr id="23" name="bld5_2082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083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2084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Changes</a:t>
            </a:r>
            <a:endParaRPr lang="en-US" sz="1450" dirty="0"/>
          </a:p>
        </p:txBody>
      </p:sp>
      <p:sp>
        <p:nvSpPr>
          <p:cNvPr id="26" name="bld5_2085"/>
          <p:cNvSpPr txBox="1"/>
          <p:nvPr/>
        </p:nvSpPr>
        <p:spPr>
          <a:xfrm>
            <a:off x="731520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shifts between checkpoints.</a:t>
            </a:r>
            <a:endParaRPr lang="en-US" sz="1080" dirty="0"/>
          </a:p>
        </p:txBody>
      </p:sp>
      <p:sp>
        <p:nvSpPr>
          <p:cNvPr id="27" name="bld6_2086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087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088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</a:t>
            </a:r>
            <a:endParaRPr lang="en-US" sz="1450" dirty="0"/>
          </a:p>
        </p:txBody>
      </p:sp>
      <p:sp>
        <p:nvSpPr>
          <p:cNvPr id="30" name="bld6_2089"/>
          <p:cNvSpPr txBox="1"/>
          <p:nvPr/>
        </p:nvSpPr>
        <p:spPr>
          <a:xfrm>
            <a:off x="3569132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 once it settles.</a:t>
            </a:r>
            <a:endParaRPr lang="en-US" sz="1080" dirty="0"/>
          </a:p>
        </p:txBody>
      </p:sp>
      <p:sp>
        <p:nvSpPr>
          <p:cNvPr id="31" name="bld7_2090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2091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3" name="bld7_2092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Associations</a:t>
            </a:r>
            <a:endParaRPr lang="en-US" sz="1450" dirty="0"/>
          </a:p>
        </p:txBody>
      </p:sp>
      <p:sp>
        <p:nvSpPr>
          <p:cNvPr id="34" name="bld7_2093"/>
          <p:cNvSpPr txBox="1"/>
          <p:nvPr/>
        </p:nvSpPr>
        <p:spPr>
          <a:xfrm>
            <a:off x="6406744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reminds you of.</a:t>
            </a:r>
            <a:endParaRPr lang="en-US" sz="1080" dirty="0"/>
          </a:p>
        </p:txBody>
      </p:sp>
      <p:sp>
        <p:nvSpPr>
          <p:cNvPr id="35" name="bld8_2094"/>
          <p:cNvSpPr/>
          <p:nvPr/>
        </p:nvSpPr>
        <p:spPr>
          <a:xfrm>
            <a:off x="9061475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2095"/>
          <p:cNvSpPr/>
          <p:nvPr/>
        </p:nvSpPr>
        <p:spPr>
          <a:xfrm>
            <a:off x="9235211" y="4135283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7" name="bld8_2096"/>
          <p:cNvSpPr txBox="1"/>
          <p:nvPr/>
        </p:nvSpPr>
        <p:spPr>
          <a:xfrm>
            <a:off x="9244355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Possible uses</a:t>
            </a:r>
            <a:endParaRPr lang="en-US" sz="1450" dirty="0"/>
          </a:p>
        </p:txBody>
      </p:sp>
      <p:sp>
        <p:nvSpPr>
          <p:cNvPr id="38" name="bld8_2097"/>
          <p:cNvSpPr txBox="1"/>
          <p:nvPr/>
        </p:nvSpPr>
        <p:spPr>
          <a:xfrm>
            <a:off x="9244355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might work in a formula.</a:t>
            </a:r>
            <a:endParaRPr lang="en-US" sz="1080" dirty="0"/>
          </a:p>
        </p:txBody>
      </p:sp>
      <p:sp>
        <p:nvSpPr>
          <p:cNvPr id="40" name="trans_fade_12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MISTAKE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Neat alone can mislead you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7738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31454" y="4206697"/>
            <a:ext cx="390796" cy="932231"/>
          </a:xfrm>
          <a:prstGeom prst="roundRect">
            <a:avLst>
              <a:gd name="adj" fmla="val 3510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5412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79128" y="3446282"/>
            <a:ext cx="390796" cy="1692646"/>
          </a:xfrm>
          <a:prstGeom prst="roundRect">
            <a:avLst>
              <a:gd name="adj" fmla="val 351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13085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26801" y="2685867"/>
            <a:ext cx="390796" cy="2453061"/>
          </a:xfrm>
          <a:prstGeom prst="roundRect">
            <a:avLst>
              <a:gd name="adj" fmla="val 351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material, three strengths — three different lessons.</a:t>
            </a:r>
            <a:endParaRPr lang="en-US" sz="1050" dirty="0"/>
          </a:p>
        </p:txBody>
      </p:sp>
      <p:sp>
        <p:nvSpPr>
          <p:cNvPr id="17" name="bld1_209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bld1_209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Powerful materials overwhelm at 100%</a:t>
            </a:r>
            <a:endParaRPr lang="en-US" sz="1650" dirty="0"/>
          </a:p>
        </p:txBody>
      </p:sp>
      <p:sp>
        <p:nvSpPr>
          <p:cNvPr id="19" name="bld1_2100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materials are so potent neat that your nose can't parse their real character.</a:t>
            </a:r>
            <a:endParaRPr lang="en-US" sz="1250" dirty="0"/>
          </a:p>
        </p:txBody>
      </p:sp>
      <p:sp>
        <p:nvSpPr>
          <p:cNvPr id="20" name="bld2_2101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2_2102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Formulas rarely use materials neat</a:t>
            </a:r>
            <a:endParaRPr lang="en-US" sz="1650" dirty="0"/>
          </a:p>
        </p:txBody>
      </p:sp>
      <p:sp>
        <p:nvSpPr>
          <p:cNvPr id="22" name="bld2_2103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almost always work with the material diluted — so evaluate it the way you'll actually use it.</a:t>
            </a:r>
            <a:endParaRPr lang="en-US" sz="1250" dirty="0"/>
          </a:p>
        </p:txBody>
      </p:sp>
      <p:sp>
        <p:nvSpPr>
          <p:cNvPr id="23" name="bld3_2104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4" name="bld3_2105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across the dilution ladder</a:t>
            </a:r>
            <a:endParaRPr lang="en-US" sz="1650" dirty="0"/>
          </a:p>
        </p:txBody>
      </p:sp>
      <p:sp>
        <p:nvSpPr>
          <p:cNvPr id="25" name="bld3_2106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 material at 100%, 10% and 1% to understand how its character shifts with concentration.</a:t>
            </a:r>
            <a:endParaRPr lang="en-US" sz="1250" dirty="0"/>
          </a:p>
        </p:txBody>
      </p:sp>
      <p:sp>
        <p:nvSpPr>
          <p:cNvPr id="27" name="trans_fade_12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DIGITAL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your material log should track</a:t>
            </a:r>
            <a:endParaRPr lang="en-US" sz="3200" dirty="0"/>
          </a:p>
        </p:txBody>
      </p:sp>
      <p:sp>
        <p:nvSpPr>
          <p:cNvPr id="7" name="bld1_2107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108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109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450" dirty="0"/>
          </a:p>
        </p:txBody>
      </p:sp>
      <p:sp>
        <p:nvSpPr>
          <p:cNvPr id="10" name="bld1_2110"/>
          <p:cNvSpPr txBox="1"/>
          <p:nvPr/>
        </p:nvSpPr>
        <p:spPr>
          <a:xfrm>
            <a:off x="731520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name and CAS if known.</a:t>
            </a:r>
            <a:endParaRPr lang="en-US" sz="1080" dirty="0"/>
          </a:p>
        </p:txBody>
      </p:sp>
      <p:sp>
        <p:nvSpPr>
          <p:cNvPr id="11" name="bld2_2111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112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113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Supplier</a:t>
            </a:r>
            <a:endParaRPr lang="en-US" sz="1450" dirty="0"/>
          </a:p>
        </p:txBody>
      </p:sp>
      <p:sp>
        <p:nvSpPr>
          <p:cNvPr id="14" name="bld2_2114"/>
          <p:cNvSpPr txBox="1"/>
          <p:nvPr/>
        </p:nvSpPr>
        <p:spPr>
          <a:xfrm>
            <a:off x="3569132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was sourced.</a:t>
            </a:r>
            <a:endParaRPr lang="en-US" sz="1080" dirty="0"/>
          </a:p>
        </p:txBody>
      </p:sp>
      <p:sp>
        <p:nvSpPr>
          <p:cNvPr id="15" name="bld3_2115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116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117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</a:t>
            </a:r>
            <a:endParaRPr lang="en-US" sz="1450" dirty="0"/>
          </a:p>
        </p:txBody>
      </p:sp>
      <p:sp>
        <p:nvSpPr>
          <p:cNvPr id="18" name="bld3_2118"/>
          <p:cNvSpPr txBox="1"/>
          <p:nvPr/>
        </p:nvSpPr>
        <p:spPr>
          <a:xfrm>
            <a:off x="6406744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and solvent used.</a:t>
            </a:r>
            <a:endParaRPr lang="en-US" sz="1080" dirty="0"/>
          </a:p>
        </p:txBody>
      </p:sp>
      <p:sp>
        <p:nvSpPr>
          <p:cNvPr id="19" name="bld4_2119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120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2121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Description</a:t>
            </a:r>
            <a:endParaRPr lang="en-US" sz="1450" dirty="0"/>
          </a:p>
        </p:txBody>
      </p:sp>
      <p:sp>
        <p:nvSpPr>
          <p:cNvPr id="22" name="bld4_2122"/>
          <p:cNvSpPr txBox="1"/>
          <p:nvPr/>
        </p:nvSpPr>
        <p:spPr>
          <a:xfrm>
            <a:off x="9244355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written evaluation.</a:t>
            </a:r>
            <a:endParaRPr lang="en-US" sz="1080" dirty="0"/>
          </a:p>
        </p:txBody>
      </p:sp>
      <p:sp>
        <p:nvSpPr>
          <p:cNvPr id="23" name="bld5_2123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124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2125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Longevity</a:t>
            </a:r>
            <a:endParaRPr lang="en-US" sz="1450" dirty="0"/>
          </a:p>
        </p:txBody>
      </p:sp>
      <p:sp>
        <p:nvSpPr>
          <p:cNvPr id="26" name="bld5_2126"/>
          <p:cNvSpPr txBox="1"/>
          <p:nvPr/>
        </p:nvSpPr>
        <p:spPr>
          <a:xfrm>
            <a:off x="731520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it lasted on strip.</a:t>
            </a:r>
            <a:endParaRPr lang="en-US" sz="1080" dirty="0"/>
          </a:p>
        </p:txBody>
      </p:sp>
      <p:sp>
        <p:nvSpPr>
          <p:cNvPr id="27" name="bld6_2127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128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129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</a:t>
            </a:r>
            <a:endParaRPr lang="en-US" sz="1450" dirty="0"/>
          </a:p>
        </p:txBody>
      </p:sp>
      <p:sp>
        <p:nvSpPr>
          <p:cNvPr id="30" name="bld6_2130"/>
          <p:cNvSpPr txBox="1"/>
          <p:nvPr/>
        </p:nvSpPr>
        <p:spPr>
          <a:xfrm>
            <a:off x="3569132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olfactory group it belongs to.</a:t>
            </a:r>
            <a:endParaRPr lang="en-US" sz="1080" dirty="0"/>
          </a:p>
        </p:txBody>
      </p:sp>
      <p:sp>
        <p:nvSpPr>
          <p:cNvPr id="31" name="bld7_2131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2132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3" name="bld7_2133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usage</a:t>
            </a:r>
            <a:endParaRPr lang="en-US" sz="1450" dirty="0"/>
          </a:p>
        </p:txBody>
      </p:sp>
      <p:sp>
        <p:nvSpPr>
          <p:cNvPr id="34" name="bld7_2134"/>
          <p:cNvSpPr txBox="1"/>
          <p:nvPr/>
        </p:nvSpPr>
        <p:spPr>
          <a:xfrm>
            <a:off x="6406744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formulas it's appeared in.</a:t>
            </a:r>
            <a:endParaRPr lang="en-US" sz="1080" dirty="0"/>
          </a:p>
        </p:txBody>
      </p:sp>
      <p:sp>
        <p:nvSpPr>
          <p:cNvPr id="36" name="trans_fade_12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7" name="Text 3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LONG GAME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actually build scent memory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71242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5322982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5322982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555258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92690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50880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527652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434474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5269558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50183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5223103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2135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136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2137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Blind comparisons</a:t>
            </a:r>
            <a:endParaRPr lang="en-US" sz="1450" dirty="0"/>
          </a:p>
        </p:txBody>
      </p:sp>
      <p:sp>
        <p:nvSpPr>
          <p:cNvPr id="24" name="bld1_2138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unlabelled strips, guess the material, then check — this forces active recall instead of passive sniffing.</a:t>
            </a:r>
            <a:endParaRPr lang="en-US" sz="1080" dirty="0"/>
          </a:p>
        </p:txBody>
      </p:sp>
      <p:sp>
        <p:nvSpPr>
          <p:cNvPr id="25" name="bld2_2139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140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2_2141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Revisit monthly</a:t>
            </a:r>
            <a:endParaRPr lang="en-US" sz="1450" dirty="0"/>
          </a:p>
        </p:txBody>
      </p:sp>
      <p:sp>
        <p:nvSpPr>
          <p:cNvPr id="28" name="bld2_2142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Re-smell materials you "know" every few weeks. Memory fades faster than confidence does.</a:t>
            </a:r>
            <a:endParaRPr lang="en-US" sz="1080" dirty="0"/>
          </a:p>
        </p:txBody>
      </p:sp>
      <p:sp>
        <p:nvSpPr>
          <p:cNvPr id="29" name="bld3_2143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144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2145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Pair opposites</a:t>
            </a:r>
            <a:endParaRPr lang="en-US" sz="1450" dirty="0"/>
          </a:p>
        </p:txBody>
      </p:sp>
      <p:sp>
        <p:nvSpPr>
          <p:cNvPr id="32" name="bld3_2146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two contrasting materials back to back — a sharp citrus against a soft musk sharpens perception of both.</a:t>
            </a:r>
            <a:endParaRPr lang="en-US" sz="1080" dirty="0"/>
          </a:p>
        </p:txBody>
      </p:sp>
      <p:sp>
        <p:nvSpPr>
          <p:cNvPr id="33" name="bld4_2147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2148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2149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Anchor with association</a:t>
            </a:r>
            <a:endParaRPr lang="en-US" sz="1450" dirty="0"/>
          </a:p>
        </p:txBody>
      </p:sp>
      <p:sp>
        <p:nvSpPr>
          <p:cNvPr id="36" name="bld4_2150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a smell to a vivid image or memory of your own — invented associations stick better than technical descriptions.</a:t>
            </a:r>
            <a:endParaRPr lang="en-US" sz="1080" dirty="0"/>
          </a:p>
        </p:txBody>
      </p:sp>
      <p:sp>
        <p:nvSpPr>
          <p:cNvPr id="38" name="trans_fade_12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 RECORD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material evaluation looks like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436193" y="2075688"/>
            <a:ext cx="9319309" cy="3803904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3937" y="2313432"/>
            <a:ext cx="256032" cy="25603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76273" y="2295144"/>
            <a:ext cx="840490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Absolute — Bulgarian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801953" y="2852928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801953" y="3072384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95848" y="2852928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095848" y="3072384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in DPG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801953" y="3419856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801953" y="3639312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Medium–long (8h+)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095848" y="3419856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095848" y="3639312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slightly spiced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801953" y="3986784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801953" y="4206240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powdery, lightly sweet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095848" y="3986784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USE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095848" y="4206240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of a floral formula, rounds out fruity accords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exact shape of a good digital material card — recreate it for every material you own.</a:t>
            </a:r>
            <a:endParaRPr lang="en-US" sz="1200" dirty="0"/>
          </a:p>
        </p:txBody>
      </p:sp>
      <p:sp>
        <p:nvSpPr>
          <p:cNvPr id="25" name="trans_fade_12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nose is a muscle. Train it daily,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writing — not just in passing sniffs.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05</a:t>
            </a:r>
            <a:endParaRPr lang="en-US" sz="1100" dirty="0"/>
          </a:p>
        </p:txBody>
      </p:sp>
      <p:sp>
        <p:nvSpPr>
          <p:cNvPr id="10" name="trans_fade_12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62772" y="1924812"/>
            <a:ext cx="3008376" cy="3008376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8100000">
            <a:off x="9279331" y="2741371"/>
            <a:ext cx="1375258" cy="1375258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06 · BUILDING ACCORDS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Materials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Accords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perfumery gets creative — combining individual materials into one recognisable smell.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apple, amber and leather into facets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Jean Carles method, step by step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Iterating an accord until it reads true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20" name="trans_fade_12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 accord?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96266" y="1839115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9758275" y="2174784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9581803" y="271790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010728" y="271790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8834257" y="2174784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306324" y="2611544"/>
            <a:ext cx="482768" cy="482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or four materials → one unmistakable rose.</a:t>
            </a:r>
            <a:endParaRPr lang="en-US" sz="1050" dirty="0"/>
          </a:p>
        </p:txBody>
      </p:sp>
      <p:sp>
        <p:nvSpPr>
          <p:cNvPr id="17" name="bld1_215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8" name="bld1_215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materials, one smell</a:t>
            </a:r>
            <a:endParaRPr lang="en-US" sz="1650" dirty="0"/>
          </a:p>
        </p:txBody>
      </p:sp>
      <p:sp>
        <p:nvSpPr>
          <p:cNvPr id="19" name="bld1_215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accord happens when separate materials blend so completely they read as a single, new impression.</a:t>
            </a:r>
            <a:endParaRPr lang="en-US" sz="1250" dirty="0"/>
          </a:p>
        </p:txBody>
      </p:sp>
      <p:sp>
        <p:nvSpPr>
          <p:cNvPr id="20" name="bld2_215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2_215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exceeds the parts</a:t>
            </a:r>
            <a:endParaRPr lang="en-US" sz="1650" dirty="0"/>
          </a:p>
        </p:txBody>
      </p:sp>
      <p:sp>
        <p:nvSpPr>
          <p:cNvPr id="22" name="bld2_215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no longer smell the individual materials — you smell "rose," not "three chemicals."</a:t>
            </a:r>
            <a:endParaRPr lang="en-US" sz="1250" dirty="0"/>
          </a:p>
        </p:txBody>
      </p:sp>
      <p:sp>
        <p:nvSpPr>
          <p:cNvPr id="23" name="bld3_215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3_215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building block of formulas</a:t>
            </a:r>
            <a:endParaRPr lang="en-US" sz="1650" dirty="0"/>
          </a:p>
        </p:txBody>
      </p:sp>
      <p:sp>
        <p:nvSpPr>
          <p:cNvPr id="25" name="bld3_215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complete perfume is really a composition of several accords working together.</a:t>
            </a:r>
            <a:endParaRPr lang="en-US" sz="1250" dirty="0"/>
          </a:p>
        </p:txBody>
      </p:sp>
      <p:sp>
        <p:nvSpPr>
          <p:cNvPr id="27" name="trans_fade_12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TARGETS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 you already know</a:t>
            </a:r>
            <a:endParaRPr lang="en-US" sz="3200" dirty="0"/>
          </a:p>
        </p:txBody>
      </p:sp>
      <p:sp>
        <p:nvSpPr>
          <p:cNvPr id="7" name="bld1_2160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" name="Shape 7"/>
          <p:cNvSpPr/>
          <p:nvPr/>
        </p:nvSpPr>
        <p:spPr>
          <a:xfrm>
            <a:off x="2113516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306879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00">
            <a:off x="2330653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3" name="bld1_2162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</a:t>
            </a:r>
            <a:endParaRPr lang="en-US" sz="1450" dirty="0"/>
          </a:p>
        </p:txBody>
      </p:sp>
      <p:sp>
        <p:nvSpPr>
          <p:cNvPr id="14" name="bld1_2163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green, slightly sweet.</a:t>
            </a:r>
            <a:endParaRPr lang="en-US" sz="1080" dirty="0"/>
          </a:p>
        </p:txBody>
      </p:sp>
      <p:sp>
        <p:nvSpPr>
          <p:cNvPr id="15" name="bld2_2164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223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4320000">
            <a:off x="614661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8640000">
            <a:off x="610406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2960000">
            <a:off x="596637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7280000">
            <a:off x="5923829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037648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3" name="Shape 21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4" name="bld2_2166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450" dirty="0"/>
          </a:p>
        </p:txBody>
      </p:sp>
      <p:sp>
        <p:nvSpPr>
          <p:cNvPr id="25" name="bld2_2167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floral.</a:t>
            </a:r>
            <a:endParaRPr lang="en-US" sz="1080" dirty="0"/>
          </a:p>
        </p:txBody>
      </p:sp>
      <p:sp>
        <p:nvSpPr>
          <p:cNvPr id="26" name="bld3_2168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 rot="9000000">
            <a:off x="9758081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6000000">
            <a:off x="9695031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1400000">
            <a:off x="9893880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2" name="bld3_2170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33" name="bld3_2171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resinous, enveloping.</a:t>
            </a:r>
            <a:endParaRPr lang="en-US" sz="1080" dirty="0"/>
          </a:p>
        </p:txBody>
      </p:sp>
      <p:sp>
        <p:nvSpPr>
          <p:cNvPr id="34" name="bld4_2172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6" name="Shape 34"/>
          <p:cNvSpPr/>
          <p:nvPr/>
        </p:nvSpPr>
        <p:spPr>
          <a:xfrm>
            <a:off x="2069866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131756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2106733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2106733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2131756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2" name="bld4_2174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43" name="bld4_2175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dry, animalic.</a:t>
            </a:r>
            <a:endParaRPr lang="en-US" sz="1080" dirty="0"/>
          </a:p>
        </p:txBody>
      </p:sp>
      <p:sp>
        <p:nvSpPr>
          <p:cNvPr id="44" name="bld5_2176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6" name="Shape 44"/>
          <p:cNvSpPr/>
          <p:nvPr/>
        </p:nvSpPr>
        <p:spPr>
          <a:xfrm rot="840000">
            <a:off x="6037648" y="4349307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840000">
            <a:off x="6090361" y="4405082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41285" y="441841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9" name="Shape 47"/>
          <p:cNvSpPr/>
          <p:nvPr/>
        </p:nvSpPr>
        <p:spPr>
          <a:xfrm>
            <a:off x="6058745" y="447855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0" name="Shape 48"/>
          <p:cNvSpPr/>
          <p:nvPr/>
        </p:nvSpPr>
        <p:spPr>
          <a:xfrm>
            <a:off x="6076205" y="453869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1" name="Shape 49"/>
          <p:cNvSpPr/>
          <p:nvPr/>
        </p:nvSpPr>
        <p:spPr>
          <a:xfrm>
            <a:off x="6093665" y="45988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2" name="Shape 50"/>
          <p:cNvSpPr/>
          <p:nvPr/>
        </p:nvSpPr>
        <p:spPr>
          <a:xfrm>
            <a:off x="6111125" y="465897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3" name="Shape 51"/>
          <p:cNvSpPr/>
          <p:nvPr/>
        </p:nvSpPr>
        <p:spPr>
          <a:xfrm>
            <a:off x="6128585" y="471911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4" name="Shape 5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55" name="bld5_2178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450" dirty="0"/>
          </a:p>
        </p:txBody>
      </p:sp>
      <p:sp>
        <p:nvSpPr>
          <p:cNvPr id="56" name="bld5_2179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warm, gourmand.</a:t>
            </a:r>
            <a:endParaRPr lang="en-US" sz="1080" dirty="0"/>
          </a:p>
        </p:txBody>
      </p:sp>
      <p:sp>
        <p:nvSpPr>
          <p:cNvPr id="57" name="bld6_2180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9" name="Shape 57"/>
          <p:cNvSpPr/>
          <p:nvPr/>
        </p:nvSpPr>
        <p:spPr>
          <a:xfrm rot="15300000">
            <a:off x="9715131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3050000">
            <a:off x="9760603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0800000">
            <a:off x="9838105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8550000">
            <a:off x="9915608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6300000">
            <a:off x="996107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5" name="bld6_2182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Fresh-cut grass</a:t>
            </a:r>
            <a:endParaRPr lang="en-US" sz="1450" dirty="0"/>
          </a:p>
        </p:txBody>
      </p:sp>
      <p:sp>
        <p:nvSpPr>
          <p:cNvPr id="66" name="bld6_2183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green, sappy.</a:t>
            </a:r>
            <a:endParaRPr lang="en-US" sz="1080" dirty="0"/>
          </a:p>
        </p:txBody>
      </p:sp>
      <p:sp>
        <p:nvSpPr>
          <p:cNvPr id="68" name="trans_fade_13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9" name="Text 6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4" grpId="0"/>
      <p:bldP spid="25" grpId="0"/>
      <p:bldP spid="26" grpId="0"/>
      <p:bldP spid="32" grpId="0"/>
      <p:bldP spid="33" grpId="0"/>
      <p:bldP spid="34" grpId="0"/>
      <p:bldP spid="42" grpId="0"/>
      <p:bldP spid="43" grpId="0"/>
      <p:bldP spid="44" grpId="0"/>
      <p:bldP spid="55" grpId="0"/>
      <p:bldP spid="56" grpId="0"/>
      <p:bldP spid="57" grpId="0"/>
      <p:bldP spid="65" grpId="0"/>
      <p:bldP spid="66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APPLE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makes something smell like apple?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8" name="Shape 6"/>
          <p:cNvSpPr/>
          <p:nvPr/>
        </p:nvSpPr>
        <p:spPr>
          <a:xfrm>
            <a:off x="2776612" y="3402281"/>
            <a:ext cx="1579096" cy="1579096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560674" y="3363767"/>
            <a:ext cx="914" cy="269602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000000">
            <a:off x="3584448" y="3286738"/>
            <a:ext cx="365888" cy="250344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C950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8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350" dirty="0"/>
          </a:p>
        </p:txBody>
      </p:sp>
      <p:sp>
        <p:nvSpPr>
          <p:cNvPr id="13" name="bld1_2184"/>
          <p:cNvSpPr/>
          <p:nvPr/>
        </p:nvSpPr>
        <p:spPr>
          <a:xfrm flipV="1">
            <a:off x="4627778" y="2148840"/>
            <a:ext cx="3173700" cy="1965960"/>
          </a:xfrm>
          <a:prstGeom prst="line">
            <a:avLst/>
          </a:prstGeom>
          <a:noFill/>
          <a:ln w="19050">
            <a:solidFill>
              <a:srgbClr val="8A5A2E">
                <a:alpha val="75000"/>
              </a:srgbClr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7754112" y="1810512"/>
            <a:ext cx="676656" cy="676656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15" name="Shape 13"/>
          <p:cNvSpPr/>
          <p:nvPr/>
        </p:nvSpPr>
        <p:spPr>
          <a:xfrm>
            <a:off x="7828544" y="1884944"/>
            <a:ext cx="527792" cy="52779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902435" y="1958835"/>
            <a:ext cx="380010" cy="380010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07993" y="2064393"/>
            <a:ext cx="168893" cy="16889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754112" y="1810512"/>
            <a:ext cx="676656" cy="676656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9" name="bld1_2186"/>
          <p:cNvSpPr txBox="1"/>
          <p:nvPr/>
        </p:nvSpPr>
        <p:spPr>
          <a:xfrm>
            <a:off x="8567928" y="197510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</a:t>
            </a:r>
            <a:endParaRPr lang="en-US" sz="1350" dirty="0"/>
          </a:p>
        </p:txBody>
      </p:sp>
      <p:sp>
        <p:nvSpPr>
          <p:cNvPr id="20" name="bld2_2187"/>
          <p:cNvSpPr/>
          <p:nvPr/>
        </p:nvSpPr>
        <p:spPr>
          <a:xfrm flipV="1">
            <a:off x="4627778" y="2971800"/>
            <a:ext cx="3173700" cy="1143000"/>
          </a:xfrm>
          <a:prstGeom prst="line">
            <a:avLst/>
          </a:prstGeom>
          <a:noFill/>
          <a:ln w="19050">
            <a:solidFill>
              <a:srgbClr val="5C8A45">
                <a:alpha val="75000"/>
              </a:srgbClr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754112" y="2633472"/>
            <a:ext cx="676656" cy="67665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2" name="Shape 20"/>
          <p:cNvSpPr/>
          <p:nvPr/>
        </p:nvSpPr>
        <p:spPr>
          <a:xfrm rot="15300000">
            <a:off x="7913753" y="2869113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3050000">
            <a:off x="7963237" y="294317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0800000">
            <a:off x="8047578" y="297180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8550000">
            <a:off x="8131919" y="294317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6300000">
            <a:off x="8181402" y="2869113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7754112" y="2633472"/>
            <a:ext cx="676656" cy="67665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8" name="bld2_2189"/>
          <p:cNvSpPr txBox="1"/>
          <p:nvPr/>
        </p:nvSpPr>
        <p:spPr>
          <a:xfrm>
            <a:off x="8567928" y="279806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character</a:t>
            </a:r>
            <a:endParaRPr lang="en-US" sz="1350" dirty="0"/>
          </a:p>
        </p:txBody>
      </p:sp>
      <p:sp>
        <p:nvSpPr>
          <p:cNvPr id="29" name="bld3_2190"/>
          <p:cNvSpPr/>
          <p:nvPr/>
        </p:nvSpPr>
        <p:spPr>
          <a:xfrm flipV="1">
            <a:off x="4627778" y="3794760"/>
            <a:ext cx="3173700" cy="320040"/>
          </a:xfrm>
          <a:prstGeom prst="line">
            <a:avLst/>
          </a:prstGeom>
          <a:noFill/>
          <a:ln w="19050">
            <a:solidFill>
              <a:srgbClr val="C9503E">
                <a:alpha val="75000"/>
              </a:srgbClr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7754112" y="3456432"/>
            <a:ext cx="676656" cy="676656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1" name="Shape 29"/>
          <p:cNvSpPr/>
          <p:nvPr/>
        </p:nvSpPr>
        <p:spPr>
          <a:xfrm>
            <a:off x="7876045" y="3599477"/>
            <a:ext cx="432789" cy="432789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8086954" y="3588921"/>
            <a:ext cx="914" cy="7389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2000000">
            <a:off x="8110728" y="3567810"/>
            <a:ext cx="100280" cy="68613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754112" y="3456432"/>
            <a:ext cx="676656" cy="676656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5" name="bld3_2192"/>
          <p:cNvSpPr txBox="1"/>
          <p:nvPr/>
        </p:nvSpPr>
        <p:spPr>
          <a:xfrm>
            <a:off x="8567928" y="362102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Juiciness</a:t>
            </a:r>
            <a:endParaRPr lang="en-US" sz="1350" dirty="0"/>
          </a:p>
        </p:txBody>
      </p:sp>
      <p:sp>
        <p:nvSpPr>
          <p:cNvPr id="36" name="bld4_2193"/>
          <p:cNvSpPr/>
          <p:nvPr/>
        </p:nvSpPr>
        <p:spPr>
          <a:xfrm>
            <a:off x="4627778" y="4114800"/>
            <a:ext cx="3173700" cy="502920"/>
          </a:xfrm>
          <a:prstGeom prst="line">
            <a:avLst/>
          </a:prstGeom>
          <a:noFill/>
          <a:ln w="19050">
            <a:solidFill>
              <a:srgbClr val="C9503E">
                <a:alpha val="75000"/>
              </a:srgbClr>
            </a:solidFill>
            <a:prstDash val="sysDot"/>
          </a:ln>
        </p:spPr>
      </p:sp>
      <p:sp>
        <p:nvSpPr>
          <p:cNvPr id="37" name="Shape 35"/>
          <p:cNvSpPr/>
          <p:nvPr/>
        </p:nvSpPr>
        <p:spPr>
          <a:xfrm>
            <a:off x="7754112" y="4279392"/>
            <a:ext cx="676656" cy="676656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8" name="Shape 36"/>
          <p:cNvSpPr/>
          <p:nvPr/>
        </p:nvSpPr>
        <p:spPr>
          <a:xfrm>
            <a:off x="7876045" y="4422437"/>
            <a:ext cx="432789" cy="432789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086954" y="4411881"/>
            <a:ext cx="914" cy="7389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2000000">
            <a:off x="8110728" y="4390770"/>
            <a:ext cx="100280" cy="68613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754112" y="4279392"/>
            <a:ext cx="676656" cy="676656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42" name="bld4_2195"/>
          <p:cNvSpPr txBox="1"/>
          <p:nvPr/>
        </p:nvSpPr>
        <p:spPr>
          <a:xfrm>
            <a:off x="8567928" y="444398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Fruitiness</a:t>
            </a:r>
            <a:endParaRPr lang="en-US" sz="1350" dirty="0"/>
          </a:p>
        </p:txBody>
      </p:sp>
      <p:sp>
        <p:nvSpPr>
          <p:cNvPr id="43" name="bld5_2196"/>
          <p:cNvSpPr/>
          <p:nvPr/>
        </p:nvSpPr>
        <p:spPr>
          <a:xfrm>
            <a:off x="4627778" y="4114800"/>
            <a:ext cx="3173700" cy="1325880"/>
          </a:xfrm>
          <a:prstGeom prst="line">
            <a:avLst/>
          </a:prstGeom>
          <a:noFill/>
          <a:ln w="19050">
            <a:solidFill>
              <a:srgbClr val="9EC24C">
                <a:alpha val="75000"/>
              </a:srgbClr>
            </a:solidFill>
            <a:prstDash val="sysDot"/>
          </a:ln>
        </p:spPr>
      </p:sp>
      <p:sp>
        <p:nvSpPr>
          <p:cNvPr id="44" name="Shape 42"/>
          <p:cNvSpPr/>
          <p:nvPr/>
        </p:nvSpPr>
        <p:spPr>
          <a:xfrm>
            <a:off x="7754112" y="5102352"/>
            <a:ext cx="676656" cy="67665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5" name="Shape 43"/>
          <p:cNvSpPr/>
          <p:nvPr/>
        </p:nvSpPr>
        <p:spPr>
          <a:xfrm>
            <a:off x="7828544" y="5176784"/>
            <a:ext cx="527792" cy="527792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865490" y="5213730"/>
            <a:ext cx="453901" cy="45390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7" name="Shape 45"/>
          <p:cNvSpPr/>
          <p:nvPr/>
        </p:nvSpPr>
        <p:spPr>
          <a:xfrm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216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432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48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864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080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296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512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728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944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066050" y="5414290"/>
            <a:ext cx="52779" cy="5277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8" name="Shape 56"/>
          <p:cNvSpPr/>
          <p:nvPr/>
        </p:nvSpPr>
        <p:spPr>
          <a:xfrm>
            <a:off x="7754112" y="5102352"/>
            <a:ext cx="676656" cy="67665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9" name="bld5_2198"/>
          <p:cNvSpPr txBox="1"/>
          <p:nvPr/>
        </p:nvSpPr>
        <p:spPr>
          <a:xfrm>
            <a:off x="8567928" y="526694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Freshness</a:t>
            </a:r>
            <a:endParaRPr lang="en-US" sz="1350" dirty="0"/>
          </a:p>
        </p:txBody>
      </p:sp>
      <p:sp>
        <p:nvSpPr>
          <p:cNvPr id="60" name="bld6_2199"/>
          <p:cNvSpPr/>
          <p:nvPr/>
        </p:nvSpPr>
        <p:spPr>
          <a:xfrm>
            <a:off x="4627778" y="4114800"/>
            <a:ext cx="3173700" cy="214884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61" name="Shape 59"/>
          <p:cNvSpPr/>
          <p:nvPr/>
        </p:nvSpPr>
        <p:spPr>
          <a:xfrm>
            <a:off x="7754112" y="5925312"/>
            <a:ext cx="676656" cy="6766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62" name="Shape 60"/>
          <p:cNvSpPr/>
          <p:nvPr/>
        </p:nvSpPr>
        <p:spPr>
          <a:xfrm>
            <a:off x="7828544" y="5999744"/>
            <a:ext cx="527792" cy="527792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895895" y="6131692"/>
            <a:ext cx="39309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7868664" y="6219657"/>
            <a:ext cx="4475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7868664" y="6307623"/>
            <a:ext cx="4475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895895" y="6395588"/>
            <a:ext cx="39309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7754112" y="5925312"/>
            <a:ext cx="676656" cy="6766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68" name="bld6_2201"/>
          <p:cNvSpPr txBox="1"/>
          <p:nvPr/>
        </p:nvSpPr>
        <p:spPr>
          <a:xfrm>
            <a:off x="8567928" y="608990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 / peel</a:t>
            </a:r>
            <a:endParaRPr lang="en-US" sz="1350" dirty="0"/>
          </a:p>
        </p:txBody>
      </p:sp>
      <p:sp>
        <p:nvSpPr>
          <p:cNvPr id="70" name="trans_push_l_13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9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9" grpId="0"/>
      <p:bldP spid="20" grpId="0"/>
      <p:bldP spid="28" grpId="0"/>
      <p:bldP spid="29" grpId="0"/>
      <p:bldP spid="35" grpId="0"/>
      <p:bldP spid="36" grpId="0"/>
      <p:bldP spid="42" grpId="0"/>
      <p:bldP spid="43" grpId="0"/>
      <p:bldP spid="59" grpId="0"/>
      <p:bldP spid="60" grpId="0"/>
      <p:bldP spid="68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APPLE, CONTINUED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Mapping materials to each facet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2077590"/>
            <a:ext cx="2011534" cy="2011534"/>
          </a:xfrm>
          <a:prstGeom prst="ellipse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682748" y="2218397"/>
            <a:ext cx="1729919" cy="172991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44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80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47131" y="2982780"/>
            <a:ext cx="201153" cy="20115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the idea into facets — then find one material per facet.</a:t>
            </a:r>
            <a:endParaRPr lang="en-US" sz="1050" dirty="0"/>
          </a:p>
        </p:txBody>
      </p:sp>
      <p:sp>
        <p:nvSpPr>
          <p:cNvPr id="20" name="bld1_220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1_220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 → a trace of Ethyl Maltol</a:t>
            </a:r>
            <a:endParaRPr lang="en-US" sz="1650" dirty="0"/>
          </a:p>
        </p:txBody>
      </p:sp>
      <p:sp>
        <p:nvSpPr>
          <p:cNvPr id="22" name="bld1_2204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amount adds sugary roundness without tipping into candy.</a:t>
            </a:r>
            <a:endParaRPr lang="en-US" sz="1250" dirty="0"/>
          </a:p>
        </p:txBody>
      </p:sp>
      <p:sp>
        <p:nvSpPr>
          <p:cNvPr id="23" name="bld2_2205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4" name="bld2_2206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character → cis-3-Hexenol (diluted)</a:t>
            </a:r>
            <a:endParaRPr lang="en-US" sz="1650" dirty="0"/>
          </a:p>
        </p:txBody>
      </p:sp>
      <p:sp>
        <p:nvSpPr>
          <p:cNvPr id="25" name="bld2_2207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"green leaf" molecule, used in a whisper.</a:t>
            </a:r>
            <a:endParaRPr lang="en-US" sz="1250" dirty="0"/>
          </a:p>
        </p:txBody>
      </p:sp>
      <p:sp>
        <p:nvSpPr>
          <p:cNvPr id="26" name="bld3_2208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3_2209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Juiciness / fruitiness → fruity esters</a:t>
            </a:r>
            <a:endParaRPr lang="en-US" sz="1650" dirty="0"/>
          </a:p>
        </p:txBody>
      </p:sp>
      <p:sp>
        <p:nvSpPr>
          <p:cNvPr id="28" name="bld3_2210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Allyl amyl glycolate and similar esters carry the juicy fruit body.</a:t>
            </a:r>
            <a:endParaRPr lang="en-US" sz="1250" dirty="0"/>
          </a:p>
        </p:txBody>
      </p:sp>
      <p:sp>
        <p:nvSpPr>
          <p:cNvPr id="29" name="bld4_2211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0" name="bld4_2212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 / peel → a natural or aldehyde touch</a:t>
            </a:r>
            <a:endParaRPr lang="en-US" sz="1650" dirty="0"/>
          </a:p>
        </p:txBody>
      </p:sp>
      <p:sp>
        <p:nvSpPr>
          <p:cNvPr id="31" name="bld4_2213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waxy or aldehydic note rounds out the peel character.</a:t>
            </a:r>
            <a:endParaRPr lang="en-US" sz="1250" dirty="0"/>
          </a:p>
        </p:txBody>
      </p:sp>
      <p:sp>
        <p:nvSpPr>
          <p:cNvPr id="33" name="trans_fade_13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4" name="Text 3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AMBER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convincing amber from scratch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8" name="Shape 6"/>
          <p:cNvSpPr/>
          <p:nvPr/>
        </p:nvSpPr>
        <p:spPr>
          <a:xfrm rot="9000000">
            <a:off x="3084728" y="3671883"/>
            <a:ext cx="1116921" cy="111692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6000000">
            <a:off x="2834384" y="3556339"/>
            <a:ext cx="693262" cy="69326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1400000">
            <a:off x="3623932" y="3440796"/>
            <a:ext cx="577718" cy="577718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C1752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</a:t>
            </a:r>
            <a:endParaRPr lang="en-US" sz="1350" dirty="0"/>
          </a:p>
        </p:txBody>
      </p:sp>
      <p:sp>
        <p:nvSpPr>
          <p:cNvPr id="13" name="bld1_2214"/>
          <p:cNvSpPr/>
          <p:nvPr/>
        </p:nvSpPr>
        <p:spPr>
          <a:xfrm flipV="1">
            <a:off x="4627778" y="2148840"/>
            <a:ext cx="3085231" cy="1965960"/>
          </a:xfrm>
          <a:prstGeom prst="line">
            <a:avLst/>
          </a:prstGeom>
          <a:noFill/>
          <a:ln w="19050">
            <a:solidFill>
              <a:srgbClr val="C1752F">
                <a:alpha val="75000"/>
              </a:srgbClr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7651242" y="1707642"/>
            <a:ext cx="882396" cy="88239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5" name="Shape 13"/>
          <p:cNvSpPr/>
          <p:nvPr/>
        </p:nvSpPr>
        <p:spPr>
          <a:xfrm rot="9000000">
            <a:off x="7920373" y="1990538"/>
            <a:ext cx="399196" cy="399196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6000000">
            <a:off x="7830898" y="1949242"/>
            <a:ext cx="247777" cy="247777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1400000">
            <a:off x="8113088" y="1907946"/>
            <a:ext cx="206481" cy="206481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651242" y="1707642"/>
            <a:ext cx="882396" cy="88239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9" name="bld1_2216"/>
          <p:cNvSpPr txBox="1"/>
          <p:nvPr/>
        </p:nvSpPr>
        <p:spPr>
          <a:xfrm>
            <a:off x="8670798" y="19751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Resinous depth</a:t>
            </a:r>
            <a:endParaRPr lang="en-US" sz="1350" dirty="0"/>
          </a:p>
        </p:txBody>
      </p:sp>
      <p:sp>
        <p:nvSpPr>
          <p:cNvPr id="20" name="bld2_2217"/>
          <p:cNvSpPr/>
          <p:nvPr/>
        </p:nvSpPr>
        <p:spPr>
          <a:xfrm flipV="1">
            <a:off x="4627778" y="3177540"/>
            <a:ext cx="3085231" cy="937260"/>
          </a:xfrm>
          <a:prstGeom prst="line">
            <a:avLst/>
          </a:prstGeom>
          <a:noFill/>
          <a:ln w="19050">
            <a:solidFill>
              <a:srgbClr val="C1752F">
                <a:alpha val="75000"/>
              </a:srgbClr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651242" y="2736342"/>
            <a:ext cx="882396" cy="88239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2" name="Shape 20"/>
          <p:cNvSpPr/>
          <p:nvPr/>
        </p:nvSpPr>
        <p:spPr>
          <a:xfrm rot="9000000">
            <a:off x="7920373" y="3019238"/>
            <a:ext cx="399196" cy="399196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6000000">
            <a:off x="7830898" y="2977942"/>
            <a:ext cx="247777" cy="247777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1400000">
            <a:off x="8113088" y="2936646"/>
            <a:ext cx="206481" cy="206481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7651242" y="2736342"/>
            <a:ext cx="882396" cy="88239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6" name="bld2_2219"/>
          <p:cNvSpPr txBox="1"/>
          <p:nvPr/>
        </p:nvSpPr>
        <p:spPr>
          <a:xfrm>
            <a:off x="8670798" y="30038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</a:t>
            </a:r>
            <a:endParaRPr lang="en-US" sz="1350" dirty="0"/>
          </a:p>
        </p:txBody>
      </p:sp>
      <p:sp>
        <p:nvSpPr>
          <p:cNvPr id="27" name="bld3_2220"/>
          <p:cNvSpPr/>
          <p:nvPr/>
        </p:nvSpPr>
        <p:spPr>
          <a:xfrm>
            <a:off x="4627778" y="4114800"/>
            <a:ext cx="3085231" cy="91440"/>
          </a:xfrm>
          <a:prstGeom prst="line">
            <a:avLst/>
          </a:prstGeom>
          <a:noFill/>
          <a:ln w="19050">
            <a:solidFill>
              <a:srgbClr val="C1752F">
                <a:alpha val="75000"/>
              </a:srgbClr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7651242" y="3765042"/>
            <a:ext cx="882396" cy="88239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9" name="Shape 27"/>
          <p:cNvSpPr/>
          <p:nvPr/>
        </p:nvSpPr>
        <p:spPr>
          <a:xfrm rot="9000000">
            <a:off x="7920373" y="4047938"/>
            <a:ext cx="399196" cy="399196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6000000">
            <a:off x="7830898" y="4006642"/>
            <a:ext cx="247777" cy="247777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1400000">
            <a:off x="8113088" y="3965346"/>
            <a:ext cx="206481" cy="206481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651242" y="3765042"/>
            <a:ext cx="882396" cy="88239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3" name="bld3_2222"/>
          <p:cNvSpPr txBox="1"/>
          <p:nvPr/>
        </p:nvSpPr>
        <p:spPr>
          <a:xfrm>
            <a:off x="8670798" y="40325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Radiance</a:t>
            </a:r>
            <a:endParaRPr lang="en-US" sz="1350" dirty="0"/>
          </a:p>
        </p:txBody>
      </p:sp>
      <p:sp>
        <p:nvSpPr>
          <p:cNvPr id="34" name="bld4_2223"/>
          <p:cNvSpPr/>
          <p:nvPr/>
        </p:nvSpPr>
        <p:spPr>
          <a:xfrm>
            <a:off x="4627778" y="4114800"/>
            <a:ext cx="3085231" cy="1120140"/>
          </a:xfrm>
          <a:prstGeom prst="line">
            <a:avLst/>
          </a:prstGeom>
          <a:noFill/>
          <a:ln w="19050">
            <a:solidFill>
              <a:srgbClr val="8A5A2E">
                <a:alpha val="75000"/>
              </a:srgbClr>
            </a:solidFill>
            <a:prstDash val="sysDot"/>
          </a:ln>
        </p:spPr>
      </p:sp>
      <p:sp>
        <p:nvSpPr>
          <p:cNvPr id="35" name="Shape 33"/>
          <p:cNvSpPr/>
          <p:nvPr/>
        </p:nvSpPr>
        <p:spPr>
          <a:xfrm>
            <a:off x="7651242" y="4793742"/>
            <a:ext cx="882396" cy="882396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6" name="Shape 34"/>
          <p:cNvSpPr/>
          <p:nvPr/>
        </p:nvSpPr>
        <p:spPr>
          <a:xfrm rot="840000">
            <a:off x="8009848" y="4908012"/>
            <a:ext cx="165185" cy="653855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840000">
            <a:off x="8086954" y="4987163"/>
            <a:ext cx="914" cy="495554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15010" y="5006091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9" name="Shape 37"/>
          <p:cNvSpPr/>
          <p:nvPr/>
        </p:nvSpPr>
        <p:spPr>
          <a:xfrm>
            <a:off x="8039787" y="5091436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0" name="Shape 38"/>
          <p:cNvSpPr/>
          <p:nvPr/>
        </p:nvSpPr>
        <p:spPr>
          <a:xfrm>
            <a:off x="8064565" y="5176781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1" name="Shape 39"/>
          <p:cNvSpPr/>
          <p:nvPr/>
        </p:nvSpPr>
        <p:spPr>
          <a:xfrm>
            <a:off x="8089343" y="5262127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2" name="Shape 40"/>
          <p:cNvSpPr/>
          <p:nvPr/>
        </p:nvSpPr>
        <p:spPr>
          <a:xfrm>
            <a:off x="8114120" y="5347472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3" name="Shape 41"/>
          <p:cNvSpPr/>
          <p:nvPr/>
        </p:nvSpPr>
        <p:spPr>
          <a:xfrm>
            <a:off x="8138898" y="5432817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4" name="Shape 42"/>
          <p:cNvSpPr/>
          <p:nvPr/>
        </p:nvSpPr>
        <p:spPr>
          <a:xfrm>
            <a:off x="7651242" y="4793742"/>
            <a:ext cx="882396" cy="882396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5" name="bld4_2225"/>
          <p:cNvSpPr txBox="1"/>
          <p:nvPr/>
        </p:nvSpPr>
        <p:spPr>
          <a:xfrm>
            <a:off x="8670798" y="50612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Powdery warmth</a:t>
            </a:r>
            <a:endParaRPr lang="en-US" sz="1350" dirty="0"/>
          </a:p>
        </p:txBody>
      </p:sp>
      <p:sp>
        <p:nvSpPr>
          <p:cNvPr id="46" name="bld5_2226"/>
          <p:cNvSpPr/>
          <p:nvPr/>
        </p:nvSpPr>
        <p:spPr>
          <a:xfrm>
            <a:off x="4627778" y="4114800"/>
            <a:ext cx="3085231" cy="2148840"/>
          </a:xfrm>
          <a:prstGeom prst="line">
            <a:avLst/>
          </a:prstGeom>
          <a:noFill/>
          <a:ln w="19050">
            <a:solidFill>
              <a:srgbClr val="8A6339">
                <a:alpha val="75000"/>
              </a:srgbClr>
            </a:solidFill>
            <a:prstDash val="sysDot"/>
          </a:ln>
        </p:spPr>
      </p:sp>
      <p:sp>
        <p:nvSpPr>
          <p:cNvPr id="47" name="Shape 45"/>
          <p:cNvSpPr/>
          <p:nvPr/>
        </p:nvSpPr>
        <p:spPr>
          <a:xfrm>
            <a:off x="7651242" y="5822442"/>
            <a:ext cx="882396" cy="88239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8" name="Shape 46"/>
          <p:cNvSpPr/>
          <p:nvPr/>
        </p:nvSpPr>
        <p:spPr>
          <a:xfrm rot="18900000">
            <a:off x="7879077" y="5953919"/>
            <a:ext cx="426727" cy="619442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86954" y="6057159"/>
            <a:ext cx="914" cy="37854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651242" y="5822442"/>
            <a:ext cx="882396" cy="88239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1" name="bld5_2228"/>
          <p:cNvSpPr txBox="1"/>
          <p:nvPr/>
        </p:nvSpPr>
        <p:spPr>
          <a:xfrm>
            <a:off x="8670798" y="60899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grip</a:t>
            </a:r>
            <a:endParaRPr lang="en-US" sz="1350" dirty="0"/>
          </a:p>
        </p:txBody>
      </p:sp>
      <p:sp>
        <p:nvSpPr>
          <p:cNvPr id="53" name="trans_push_l_13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4" name="Text 5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9" grpId="0"/>
      <p:bldP spid="20" grpId="0"/>
      <p:bldP spid="26" grpId="0"/>
      <p:bldP spid="27" grpId="0"/>
      <p:bldP spid="33" grpId="0"/>
      <p:bldP spid="34" grpId="0"/>
      <p:bldP spid="45" grpId="0"/>
      <p:bldP spid="46" grpId="0"/>
      <p:bldP spid="51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LEATHER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Dry, smoky, animalic — one facet at a time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8" name="Shape 6"/>
          <p:cNvSpPr/>
          <p:nvPr/>
        </p:nvSpPr>
        <p:spPr>
          <a:xfrm>
            <a:off x="2603297" y="3151937"/>
            <a:ext cx="1925726" cy="192572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849037" y="3633368"/>
            <a:ext cx="1434246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2749680" y="3954323"/>
            <a:ext cx="163296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749680" y="4275277"/>
            <a:ext cx="163296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849037" y="4596232"/>
            <a:ext cx="1434246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5C42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3A2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LEATHER</a:t>
            </a:r>
            <a:endParaRPr lang="en-US" sz="1350" dirty="0"/>
          </a:p>
        </p:txBody>
      </p:sp>
      <p:sp>
        <p:nvSpPr>
          <p:cNvPr id="15" name="bld1_2229"/>
          <p:cNvSpPr/>
          <p:nvPr/>
        </p:nvSpPr>
        <p:spPr>
          <a:xfrm flipV="1">
            <a:off x="4627778" y="2148840"/>
            <a:ext cx="2977104" cy="196596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16" name="Shape 14"/>
          <p:cNvSpPr/>
          <p:nvPr/>
        </p:nvSpPr>
        <p:spPr>
          <a:xfrm>
            <a:off x="7525512" y="1581912"/>
            <a:ext cx="1133856" cy="11338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7" name="Shape 15"/>
          <p:cNvSpPr/>
          <p:nvPr/>
        </p:nvSpPr>
        <p:spPr>
          <a:xfrm>
            <a:off x="7650236" y="1706636"/>
            <a:ext cx="884408" cy="88440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763095" y="1927738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717464" y="2075139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717464" y="2222541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763095" y="2369942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7525512" y="1581912"/>
            <a:ext cx="1133856" cy="11338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3" name="bld1_2231"/>
          <p:cNvSpPr txBox="1"/>
          <p:nvPr/>
        </p:nvSpPr>
        <p:spPr>
          <a:xfrm>
            <a:off x="8796528" y="19751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 bitterness</a:t>
            </a:r>
            <a:endParaRPr lang="en-US" sz="1350" dirty="0"/>
          </a:p>
        </p:txBody>
      </p:sp>
      <p:sp>
        <p:nvSpPr>
          <p:cNvPr id="24" name="bld2_2232"/>
          <p:cNvSpPr/>
          <p:nvPr/>
        </p:nvSpPr>
        <p:spPr>
          <a:xfrm flipV="1">
            <a:off x="4627778" y="3520440"/>
            <a:ext cx="2977104" cy="59436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25" name="Shape 23"/>
          <p:cNvSpPr/>
          <p:nvPr/>
        </p:nvSpPr>
        <p:spPr>
          <a:xfrm>
            <a:off x="7525512" y="2953512"/>
            <a:ext cx="1133856" cy="11338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6" name="Shape 24"/>
          <p:cNvSpPr/>
          <p:nvPr/>
        </p:nvSpPr>
        <p:spPr>
          <a:xfrm rot="5400000">
            <a:off x="7809430" y="3210897"/>
            <a:ext cx="194570" cy="574865"/>
          </a:xfrm>
          <a:prstGeom prst="wave">
            <a:avLst/>
          </a:prstGeom>
          <a:solidFill>
            <a:srgbClr val="5C4230">
              <a:alpha val="7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5400000">
            <a:off x="7995155" y="3277228"/>
            <a:ext cx="194570" cy="574865"/>
          </a:xfrm>
          <a:prstGeom prst="wave">
            <a:avLst/>
          </a:prstGeom>
          <a:solidFill>
            <a:srgbClr val="5C4230">
              <a:alpha val="66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5400000">
            <a:off x="8180881" y="3343558"/>
            <a:ext cx="194570" cy="574865"/>
          </a:xfrm>
          <a:prstGeom prst="wave">
            <a:avLst/>
          </a:prstGeom>
          <a:solidFill>
            <a:srgbClr val="5C4230">
              <a:alpha val="5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525512" y="2953512"/>
            <a:ext cx="1133856" cy="11338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0" name="bld2_2234"/>
          <p:cNvSpPr txBox="1"/>
          <p:nvPr/>
        </p:nvSpPr>
        <p:spPr>
          <a:xfrm>
            <a:off x="8796528" y="33467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Smokiness</a:t>
            </a:r>
            <a:endParaRPr lang="en-US" sz="1350" dirty="0"/>
          </a:p>
        </p:txBody>
      </p:sp>
      <p:sp>
        <p:nvSpPr>
          <p:cNvPr id="31" name="bld3_2235"/>
          <p:cNvSpPr/>
          <p:nvPr/>
        </p:nvSpPr>
        <p:spPr>
          <a:xfrm>
            <a:off x="4627778" y="4114800"/>
            <a:ext cx="2977104" cy="77724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32" name="Shape 30"/>
          <p:cNvSpPr/>
          <p:nvPr/>
        </p:nvSpPr>
        <p:spPr>
          <a:xfrm>
            <a:off x="7525512" y="4325112"/>
            <a:ext cx="1133856" cy="11338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3" name="Shape 31"/>
          <p:cNvSpPr/>
          <p:nvPr/>
        </p:nvSpPr>
        <p:spPr>
          <a:xfrm>
            <a:off x="7650236" y="4449836"/>
            <a:ext cx="884408" cy="88440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763095" y="4670938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7717464" y="4818339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7717464" y="4965741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7763095" y="5113142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7525512" y="4325112"/>
            <a:ext cx="1133856" cy="11338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9" name="bld3_2237"/>
          <p:cNvSpPr txBox="1"/>
          <p:nvPr/>
        </p:nvSpPr>
        <p:spPr>
          <a:xfrm>
            <a:off x="8796528" y="47183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Suede softness</a:t>
            </a:r>
            <a:endParaRPr lang="en-US" sz="1350" dirty="0"/>
          </a:p>
        </p:txBody>
      </p:sp>
      <p:sp>
        <p:nvSpPr>
          <p:cNvPr id="40" name="bld4_2238"/>
          <p:cNvSpPr/>
          <p:nvPr/>
        </p:nvSpPr>
        <p:spPr>
          <a:xfrm>
            <a:off x="4627778" y="4114800"/>
            <a:ext cx="2977104" cy="214884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41" name="Shape 39"/>
          <p:cNvSpPr/>
          <p:nvPr/>
        </p:nvSpPr>
        <p:spPr>
          <a:xfrm>
            <a:off x="7525512" y="5696712"/>
            <a:ext cx="1133856" cy="11338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2" name="Shape 40"/>
          <p:cNvSpPr/>
          <p:nvPr/>
        </p:nvSpPr>
        <p:spPr>
          <a:xfrm>
            <a:off x="7650236" y="5821436"/>
            <a:ext cx="884408" cy="88440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763095" y="6042538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7717464" y="6189939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7717464" y="6337341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7763095" y="6484742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7525512" y="5696712"/>
            <a:ext cx="1133856" cy="11338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8" name="bld4_2240"/>
          <p:cNvSpPr txBox="1"/>
          <p:nvPr/>
        </p:nvSpPr>
        <p:spPr>
          <a:xfrm>
            <a:off x="8796528" y="60899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Animalic warmth</a:t>
            </a:r>
            <a:endParaRPr lang="en-US" sz="1350" dirty="0"/>
          </a:p>
        </p:txBody>
      </p:sp>
      <p:sp>
        <p:nvSpPr>
          <p:cNvPr id="50" name="trans_push_l_13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23" grpId="0"/>
      <p:bldP spid="24" grpId="0"/>
      <p:bldP spid="30" grpId="0"/>
      <p:bldP spid="31" grpId="0"/>
      <p:bldP spid="39" grpId="0"/>
      <p:bldP spid="40" grpId="0"/>
      <p:bldP spid="48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TO TRY AT HOME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more accords worth building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9993" y="5005757"/>
            <a:ext cx="1255723" cy="1255723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227894" y="5093658"/>
            <a:ext cx="1079922" cy="107992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705068" y="5570832"/>
            <a:ext cx="125572" cy="12557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241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1768107" y="2466598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4320000">
            <a:off x="1899159" y="256181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8640000">
            <a:off x="1849101" y="271587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2960000">
            <a:off x="1687112" y="271587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7280000">
            <a:off x="1637055" y="256181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770960" y="2685703"/>
            <a:ext cx="136941" cy="13694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9" name="Shape 27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0" name="bld1_2243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450" dirty="0"/>
          </a:p>
        </p:txBody>
      </p:sp>
      <p:sp>
        <p:nvSpPr>
          <p:cNvPr id="31" name="bld1_2244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Phenylethyl alcohol + citronellol + geraniol, with a trace of rose oxide for sparkle.</a:t>
            </a:r>
            <a:endParaRPr lang="en-US" sz="1080" dirty="0"/>
          </a:p>
        </p:txBody>
      </p:sp>
      <p:sp>
        <p:nvSpPr>
          <p:cNvPr id="32" name="bld2_2245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4" name="Shape 32"/>
          <p:cNvSpPr/>
          <p:nvPr/>
        </p:nvSpPr>
        <p:spPr>
          <a:xfrm rot="840000">
            <a:off x="4608571" y="2483145"/>
            <a:ext cx="136941" cy="542056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840000">
            <a:off x="4671555" y="2548762"/>
            <a:ext cx="914" cy="410822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12851" y="2564453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7" name="Shape 35"/>
          <p:cNvSpPr/>
          <p:nvPr/>
        </p:nvSpPr>
        <p:spPr>
          <a:xfrm>
            <a:off x="4633392" y="263520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8" name="Shape 36"/>
          <p:cNvSpPr/>
          <p:nvPr/>
        </p:nvSpPr>
        <p:spPr>
          <a:xfrm>
            <a:off x="4653933" y="2705958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9" name="Shape 37"/>
          <p:cNvSpPr/>
          <p:nvPr/>
        </p:nvSpPr>
        <p:spPr>
          <a:xfrm>
            <a:off x="4674474" y="2776711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0" name="Shape 38"/>
          <p:cNvSpPr/>
          <p:nvPr/>
        </p:nvSpPr>
        <p:spPr>
          <a:xfrm>
            <a:off x="4695015" y="2847464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1" name="Shape 39"/>
          <p:cNvSpPr/>
          <p:nvPr/>
        </p:nvSpPr>
        <p:spPr>
          <a:xfrm>
            <a:off x="4715556" y="291821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2" name="Shape 40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3" name="bld2_2247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450" dirty="0"/>
          </a:p>
        </p:txBody>
      </p:sp>
      <p:sp>
        <p:nvSpPr>
          <p:cNvPr id="44" name="bld2_2248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as the core, softened with coumarin and rounded with a trace of benzoin.</a:t>
            </a:r>
            <a:endParaRPr lang="en-US" sz="1080" dirty="0"/>
          </a:p>
        </p:txBody>
      </p:sp>
      <p:sp>
        <p:nvSpPr>
          <p:cNvPr id="45" name="bld3_2249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7" name="Shape 45"/>
          <p:cNvSpPr/>
          <p:nvPr/>
        </p:nvSpPr>
        <p:spPr>
          <a:xfrm>
            <a:off x="7229361" y="2468880"/>
            <a:ext cx="570586" cy="57058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324458" y="2563978"/>
            <a:ext cx="380390" cy="380390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9" name="Shape 47"/>
          <p:cNvSpPr/>
          <p:nvPr/>
        </p:nvSpPr>
        <p:spPr>
          <a:xfrm>
            <a:off x="7419556" y="2659075"/>
            <a:ext cx="190195" cy="190195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480418" y="2719938"/>
            <a:ext cx="68470" cy="6847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1" name="Shape 49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2" name="bld3_2251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Woods</a:t>
            </a:r>
            <a:endParaRPr lang="en-US" sz="1450" dirty="0"/>
          </a:p>
        </p:txBody>
      </p:sp>
      <p:sp>
        <p:nvSpPr>
          <p:cNvPr id="53" name="bld3_2252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for volume, sandalwood or Javanol for cream, cedarwood for dry structure.</a:t>
            </a:r>
            <a:endParaRPr lang="en-US" sz="1080" dirty="0"/>
          </a:p>
        </p:txBody>
      </p:sp>
      <p:sp>
        <p:nvSpPr>
          <p:cNvPr id="54" name="bld4_2253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6" name="Shape 54"/>
          <p:cNvSpPr/>
          <p:nvPr/>
        </p:nvSpPr>
        <p:spPr>
          <a:xfrm rot="15300000">
            <a:off x="10159090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13050000">
            <a:off x="10212586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10800000">
            <a:off x="10303766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8550000">
            <a:off x="10394945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6300000">
            <a:off x="10448441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2" name="bld4_2255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Fresh-cut grass</a:t>
            </a:r>
            <a:endParaRPr lang="en-US" sz="1450" dirty="0"/>
          </a:p>
        </p:txBody>
      </p:sp>
      <p:sp>
        <p:nvSpPr>
          <p:cNvPr id="63" name="bld4_2256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 for the cut-leaf bite, stemone for green freshness, a trace of galbanum for bitterness.</a:t>
            </a:r>
            <a:endParaRPr lang="en-US" sz="1080" dirty="0"/>
          </a:p>
        </p:txBody>
      </p:sp>
      <p:sp>
        <p:nvSpPr>
          <p:cNvPr id="65" name="trans_fade_13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6" name="Text 6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30" grpId="0"/>
      <p:bldP spid="31" grpId="0"/>
      <p:bldP spid="32" grpId="0"/>
      <p:bldP spid="43" grpId="0"/>
      <p:bldP spid="44" grpId="0"/>
      <p:bldP spid="45" grpId="0"/>
      <p:bldP spid="52" grpId="0"/>
      <p:bldP spid="53" grpId="0"/>
      <p:bldP spid="54" grpId="0"/>
      <p:bldP spid="62" grpId="0"/>
      <p:bldP spid="63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 formulas are starting structures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build upon — not finished perfumes.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DISTINCTION</a:t>
            </a:r>
            <a:endParaRPr lang="en-US" sz="1100" dirty="0"/>
          </a:p>
        </p:txBody>
      </p:sp>
      <p:sp>
        <p:nvSpPr>
          <p:cNvPr id="10" name="trans_fade_13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 METHOD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Jean Carles method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09569" y="2549073"/>
            <a:ext cx="838139" cy="838139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9547708" y="2549073"/>
            <a:ext cx="838139" cy="838139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systematic, repeatable way to explore a relationship between materials.</a:t>
            </a:r>
            <a:endParaRPr lang="en-US" sz="1050" dirty="0"/>
          </a:p>
        </p:txBody>
      </p:sp>
      <p:sp>
        <p:nvSpPr>
          <p:cNvPr id="13" name="bld1_225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4" name="bld1_225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two materials, A and B</a:t>
            </a:r>
            <a:endParaRPr lang="en-US" sz="1650" dirty="0"/>
          </a:p>
        </p:txBody>
      </p:sp>
      <p:sp>
        <p:nvSpPr>
          <p:cNvPr id="15" name="bld1_2259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just two — nothing more — so you can see their interaction clearly.</a:t>
            </a:r>
            <a:endParaRPr lang="en-US" sz="1250" dirty="0"/>
          </a:p>
        </p:txBody>
      </p:sp>
      <p:sp>
        <p:nvSpPr>
          <p:cNvPr id="16" name="bld2_2260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7" name="bld2_2261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ratios methodically</a:t>
            </a:r>
            <a:endParaRPr lang="en-US" sz="1650" dirty="0"/>
          </a:p>
        </p:txBody>
      </p:sp>
      <p:sp>
        <p:nvSpPr>
          <p:cNvPr id="18" name="bld2_2262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them at different proportions and evaluate each one on its own strip.</a:t>
            </a:r>
            <a:endParaRPr lang="en-US" sz="1250" dirty="0"/>
          </a:p>
        </p:txBody>
      </p:sp>
      <p:sp>
        <p:nvSpPr>
          <p:cNvPr id="19" name="bld3_2263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3_2264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how they behave together</a:t>
            </a:r>
            <a:endParaRPr lang="en-US" sz="1650" dirty="0"/>
          </a:p>
        </p:txBody>
      </p:sp>
      <p:sp>
        <p:nvSpPr>
          <p:cNvPr id="21" name="bld3_2265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mapping the relationship between A and B before adding any complexity.</a:t>
            </a:r>
            <a:endParaRPr lang="en-US" sz="1250" dirty="0"/>
          </a:p>
        </p:txBody>
      </p:sp>
      <p:sp>
        <p:nvSpPr>
          <p:cNvPr id="23" name="trans_fade_13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EXPERIMENTS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: B, explored step by step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73333" y="4756671"/>
            <a:ext cx="1504264" cy="1504264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4857" y="5398195"/>
            <a:ext cx="221215" cy="221215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2266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2267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bld1_2268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: 10</a:t>
            </a:r>
            <a:endParaRPr lang="en-US" sz="1450" dirty="0"/>
          </a:p>
        </p:txBody>
      </p:sp>
      <p:sp>
        <p:nvSpPr>
          <p:cNvPr id="13" name="bld1_2269"/>
          <p:cNvSpPr txBox="1"/>
          <p:nvPr/>
        </p:nvSpPr>
        <p:spPr>
          <a:xfrm>
            <a:off x="731520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A</a:t>
            </a:r>
            <a:endParaRPr lang="en-US" sz="1080" dirty="0"/>
          </a:p>
        </p:txBody>
      </p:sp>
      <p:sp>
        <p:nvSpPr>
          <p:cNvPr id="14" name="bld2_2270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2271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2_2272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: 20</a:t>
            </a:r>
            <a:endParaRPr lang="en-US" sz="1450" dirty="0"/>
          </a:p>
        </p:txBody>
      </p:sp>
      <p:sp>
        <p:nvSpPr>
          <p:cNvPr id="17" name="bld2_2273"/>
          <p:cNvSpPr txBox="1"/>
          <p:nvPr/>
        </p:nvSpPr>
        <p:spPr>
          <a:xfrm>
            <a:off x="300160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 lean</a:t>
            </a:r>
            <a:endParaRPr lang="en-US" sz="1080" dirty="0"/>
          </a:p>
        </p:txBody>
      </p:sp>
      <p:sp>
        <p:nvSpPr>
          <p:cNvPr id="18" name="bld3_2274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2275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2276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: 30</a:t>
            </a:r>
            <a:endParaRPr lang="en-US" sz="1450" dirty="0"/>
          </a:p>
        </p:txBody>
      </p:sp>
      <p:sp>
        <p:nvSpPr>
          <p:cNvPr id="21" name="bld3_2277"/>
          <p:cNvSpPr txBox="1"/>
          <p:nvPr/>
        </p:nvSpPr>
        <p:spPr>
          <a:xfrm>
            <a:off x="527169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dominant</a:t>
            </a:r>
            <a:endParaRPr lang="en-US" sz="1080" dirty="0"/>
          </a:p>
        </p:txBody>
      </p:sp>
      <p:sp>
        <p:nvSpPr>
          <p:cNvPr id="22" name="bld4_2278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279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4_2280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: 40</a:t>
            </a:r>
            <a:endParaRPr lang="en-US" sz="1450" dirty="0"/>
          </a:p>
        </p:txBody>
      </p:sp>
      <p:sp>
        <p:nvSpPr>
          <p:cNvPr id="25" name="bld4_2281"/>
          <p:cNvSpPr txBox="1"/>
          <p:nvPr/>
        </p:nvSpPr>
        <p:spPr>
          <a:xfrm>
            <a:off x="754178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</a:t>
            </a:r>
            <a:endParaRPr lang="en-US" sz="1080" dirty="0"/>
          </a:p>
        </p:txBody>
      </p:sp>
      <p:sp>
        <p:nvSpPr>
          <p:cNvPr id="26" name="bld5_2282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bld5_2283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8" name="bld5_2284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: 50</a:t>
            </a:r>
            <a:endParaRPr lang="en-US" sz="1450" dirty="0"/>
          </a:p>
        </p:txBody>
      </p:sp>
      <p:sp>
        <p:nvSpPr>
          <p:cNvPr id="29" name="bld5_2285"/>
          <p:cNvSpPr txBox="1"/>
          <p:nvPr/>
        </p:nvSpPr>
        <p:spPr>
          <a:xfrm>
            <a:off x="981187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midpoint</a:t>
            </a:r>
            <a:endParaRPr lang="en-US" sz="1080" dirty="0"/>
          </a:p>
        </p:txBody>
      </p:sp>
      <p:sp>
        <p:nvSpPr>
          <p:cNvPr id="31" name="trans_fade_13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ITERATING AN ACCORD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accord development loop</a:t>
            </a:r>
            <a:endParaRPr lang="en-US" sz="3200" dirty="0"/>
          </a:p>
        </p:txBody>
      </p:sp>
      <p:sp>
        <p:nvSpPr>
          <p:cNvPr id="7" name="bld1_2286"/>
          <p:cNvSpPr/>
          <p:nvPr/>
        </p:nvSpPr>
        <p:spPr>
          <a:xfrm>
            <a:off x="548640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287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288"/>
          <p:cNvSpPr txBox="1"/>
          <p:nvPr/>
        </p:nvSpPr>
        <p:spPr>
          <a:xfrm>
            <a:off x="713232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1</a:t>
            </a:r>
            <a:endParaRPr lang="en-US" sz="1450" dirty="0"/>
          </a:p>
        </p:txBody>
      </p:sp>
      <p:sp>
        <p:nvSpPr>
          <p:cNvPr id="10" name="bld1_2289"/>
          <p:cNvSpPr txBox="1"/>
          <p:nvPr/>
        </p:nvSpPr>
        <p:spPr>
          <a:xfrm>
            <a:off x="713232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first pass at the accord.</a:t>
            </a:r>
            <a:endParaRPr lang="en-US" sz="1000" dirty="0"/>
          </a:p>
        </p:txBody>
      </p:sp>
      <p:sp>
        <p:nvSpPr>
          <p:cNvPr id="11" name="bld1_2290"/>
          <p:cNvSpPr txBox="1"/>
          <p:nvPr/>
        </p:nvSpPr>
        <p:spPr>
          <a:xfrm>
            <a:off x="2511491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291"/>
          <p:cNvSpPr/>
          <p:nvPr/>
        </p:nvSpPr>
        <p:spPr>
          <a:xfrm>
            <a:off x="2831531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292"/>
          <p:cNvSpPr txBox="1"/>
          <p:nvPr/>
        </p:nvSpPr>
        <p:spPr>
          <a:xfrm>
            <a:off x="2996123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293"/>
          <p:cNvSpPr txBox="1"/>
          <p:nvPr/>
        </p:nvSpPr>
        <p:spPr>
          <a:xfrm>
            <a:off x="2996123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it</a:t>
            </a:r>
            <a:endParaRPr lang="en-US" sz="1450" dirty="0"/>
          </a:p>
        </p:txBody>
      </p:sp>
      <p:sp>
        <p:nvSpPr>
          <p:cNvPr id="15" name="bld2_2294"/>
          <p:cNvSpPr txBox="1"/>
          <p:nvPr/>
        </p:nvSpPr>
        <p:spPr>
          <a:xfrm>
            <a:off x="2996123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on a fresh scent strip.</a:t>
            </a:r>
            <a:endParaRPr lang="en-US" sz="1000" dirty="0"/>
          </a:p>
        </p:txBody>
      </p:sp>
      <p:sp>
        <p:nvSpPr>
          <p:cNvPr id="16" name="bld2_2295"/>
          <p:cNvSpPr txBox="1"/>
          <p:nvPr/>
        </p:nvSpPr>
        <p:spPr>
          <a:xfrm>
            <a:off x="4794382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296"/>
          <p:cNvSpPr/>
          <p:nvPr/>
        </p:nvSpPr>
        <p:spPr>
          <a:xfrm>
            <a:off x="5114422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297"/>
          <p:cNvSpPr txBox="1"/>
          <p:nvPr/>
        </p:nvSpPr>
        <p:spPr>
          <a:xfrm>
            <a:off x="5279014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298"/>
          <p:cNvSpPr txBox="1"/>
          <p:nvPr/>
        </p:nvSpPr>
        <p:spPr>
          <a:xfrm>
            <a:off x="5279014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the problem</a:t>
            </a:r>
            <a:endParaRPr lang="en-US" sz="1450" dirty="0"/>
          </a:p>
        </p:txBody>
      </p:sp>
      <p:sp>
        <p:nvSpPr>
          <p:cNvPr id="20" name="bld3_2299"/>
          <p:cNvSpPr txBox="1"/>
          <p:nvPr/>
        </p:nvSpPr>
        <p:spPr>
          <a:xfrm>
            <a:off x="5279014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missing, dominant, or off?</a:t>
            </a:r>
            <a:endParaRPr lang="en-US" sz="1000" dirty="0"/>
          </a:p>
        </p:txBody>
      </p:sp>
      <p:sp>
        <p:nvSpPr>
          <p:cNvPr id="21" name="bld3_2300"/>
          <p:cNvSpPr txBox="1"/>
          <p:nvPr/>
        </p:nvSpPr>
        <p:spPr>
          <a:xfrm>
            <a:off x="7077273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301"/>
          <p:cNvSpPr/>
          <p:nvPr/>
        </p:nvSpPr>
        <p:spPr>
          <a:xfrm>
            <a:off x="7397313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302"/>
          <p:cNvSpPr txBox="1"/>
          <p:nvPr/>
        </p:nvSpPr>
        <p:spPr>
          <a:xfrm>
            <a:off x="7561905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303"/>
          <p:cNvSpPr txBox="1"/>
          <p:nvPr/>
        </p:nvSpPr>
        <p:spPr>
          <a:xfrm>
            <a:off x="7561905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one variable</a:t>
            </a:r>
            <a:endParaRPr lang="en-US" sz="1450" dirty="0"/>
          </a:p>
        </p:txBody>
      </p:sp>
      <p:sp>
        <p:nvSpPr>
          <p:cNvPr id="25" name="bld4_2304"/>
          <p:cNvSpPr txBox="1"/>
          <p:nvPr/>
        </p:nvSpPr>
        <p:spPr>
          <a:xfrm>
            <a:off x="7561905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 single material or ratio.</a:t>
            </a:r>
            <a:endParaRPr lang="en-US" sz="1000" dirty="0"/>
          </a:p>
        </p:txBody>
      </p:sp>
      <p:sp>
        <p:nvSpPr>
          <p:cNvPr id="26" name="bld4_2305"/>
          <p:cNvSpPr txBox="1"/>
          <p:nvPr/>
        </p:nvSpPr>
        <p:spPr>
          <a:xfrm>
            <a:off x="9360164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2306"/>
          <p:cNvSpPr/>
          <p:nvPr/>
        </p:nvSpPr>
        <p:spPr>
          <a:xfrm>
            <a:off x="9680204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2307"/>
          <p:cNvSpPr txBox="1"/>
          <p:nvPr/>
        </p:nvSpPr>
        <p:spPr>
          <a:xfrm>
            <a:off x="9844796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2308"/>
          <p:cNvSpPr txBox="1"/>
          <p:nvPr/>
        </p:nvSpPr>
        <p:spPr>
          <a:xfrm>
            <a:off x="9844796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again</a:t>
            </a:r>
            <a:endParaRPr lang="en-US" sz="1450" dirty="0"/>
          </a:p>
        </p:txBody>
      </p:sp>
      <p:sp>
        <p:nvSpPr>
          <p:cNvPr id="30" name="bld5_2309"/>
          <p:cNvSpPr txBox="1"/>
          <p:nvPr/>
        </p:nvSpPr>
        <p:spPr>
          <a:xfrm>
            <a:off x="9844796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accord reads true.</a:t>
            </a:r>
            <a:endParaRPr lang="en-US" sz="1000" dirty="0"/>
          </a:p>
        </p:txBody>
      </p:sp>
      <p:sp>
        <p:nvSpPr>
          <p:cNvPr id="32" name="trans_push_l_13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1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one variable at a time. Change three,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you'll never know which one mattered.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06</a:t>
            </a:r>
            <a:endParaRPr lang="en-US" sz="1100" dirty="0"/>
          </a:p>
        </p:txBody>
      </p:sp>
      <p:sp>
        <p:nvSpPr>
          <p:cNvPr id="10" name="trans_fade_14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1702" y="2053742"/>
            <a:ext cx="2750515" cy="2750515"/>
          </a:xfrm>
          <a:prstGeom prst="ellipse">
            <a:avLst/>
          </a:prstGeom>
          <a:solidFill>
            <a:srgbClr val="5B3A52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150401" y="2612441"/>
            <a:ext cx="1633118" cy="16331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870302"/>
            <a:ext cx="1117397" cy="1117397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66122" y="3128162"/>
            <a:ext cx="601675" cy="601675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08262" y="2870302"/>
            <a:ext cx="1117397" cy="1117397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50401" y="2612441"/>
            <a:ext cx="1633118" cy="16331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07 · FORMULA CONSTRUCTION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Accords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 Full Formula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individual materials and accords come together into a complete, structured perfume.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formula's anatomy, from idea to base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 contrast, volume and diffusion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full example formulas, built and explained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24" name="trans_fade_14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ARCHITECTURE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has the same basic anatomy</a:t>
            </a:r>
            <a:endParaRPr lang="en-US" sz="3200" dirty="0"/>
          </a:p>
        </p:txBody>
      </p:sp>
      <p:sp>
        <p:nvSpPr>
          <p:cNvPr id="7" name="bld1_2310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311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312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idea</a:t>
            </a:r>
            <a:endParaRPr lang="en-US" sz="1450" dirty="0"/>
          </a:p>
        </p:txBody>
      </p:sp>
      <p:sp>
        <p:nvSpPr>
          <p:cNvPr id="10" name="bld1_2313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concept the whole formula serves.</a:t>
            </a:r>
            <a:endParaRPr lang="en-US" sz="1080" dirty="0"/>
          </a:p>
        </p:txBody>
      </p:sp>
      <p:sp>
        <p:nvSpPr>
          <p:cNvPr id="11" name="bld2_2314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315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316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Supporting accord</a:t>
            </a:r>
            <a:endParaRPr lang="en-US" sz="1450" dirty="0"/>
          </a:p>
        </p:txBody>
      </p:sp>
      <p:sp>
        <p:nvSpPr>
          <p:cNvPr id="14" name="bld2_2317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 that carries the main idea.</a:t>
            </a:r>
            <a:endParaRPr lang="en-US" sz="1080" dirty="0"/>
          </a:p>
        </p:txBody>
      </p:sp>
      <p:sp>
        <p:nvSpPr>
          <p:cNvPr id="15" name="bld3_2318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319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320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Modifiers</a:t>
            </a:r>
            <a:endParaRPr lang="en-US" sz="1450" dirty="0"/>
          </a:p>
        </p:txBody>
      </p:sp>
      <p:sp>
        <p:nvSpPr>
          <p:cNvPr id="18" name="bld3_2321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adjustments that shape character.</a:t>
            </a:r>
            <a:endParaRPr lang="en-US" sz="1080" dirty="0"/>
          </a:p>
        </p:txBody>
      </p:sp>
      <p:sp>
        <p:nvSpPr>
          <p:cNvPr id="19" name="bld4_2322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323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2324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materials</a:t>
            </a:r>
            <a:endParaRPr lang="en-US" sz="1450" dirty="0"/>
          </a:p>
        </p:txBody>
      </p:sp>
      <p:sp>
        <p:nvSpPr>
          <p:cNvPr id="22" name="bld4_2325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the formula project and spread.</a:t>
            </a:r>
            <a:endParaRPr lang="en-US" sz="1080" dirty="0"/>
          </a:p>
        </p:txBody>
      </p:sp>
      <p:sp>
        <p:nvSpPr>
          <p:cNvPr id="23" name="bld5_2326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327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2328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structure</a:t>
            </a:r>
            <a:endParaRPr lang="en-US" sz="1450" dirty="0"/>
          </a:p>
        </p:txBody>
      </p:sp>
      <p:sp>
        <p:nvSpPr>
          <p:cNvPr id="26" name="bld5_2329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that anchors the drydown.</a:t>
            </a:r>
            <a:endParaRPr lang="en-US" sz="1080" dirty="0"/>
          </a:p>
        </p:txBody>
      </p:sp>
      <p:sp>
        <p:nvSpPr>
          <p:cNvPr id="27" name="bld6_2330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331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332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materials</a:t>
            </a:r>
            <a:endParaRPr lang="en-US" sz="1450" dirty="0"/>
          </a:p>
        </p:txBody>
      </p:sp>
      <p:sp>
        <p:nvSpPr>
          <p:cNvPr id="30" name="bld6_2333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doses with outsized influence.</a:t>
            </a:r>
            <a:endParaRPr lang="en-US" sz="1080" dirty="0"/>
          </a:p>
        </p:txBody>
      </p:sp>
      <p:sp>
        <p:nvSpPr>
          <p:cNvPr id="32" name="trans_fade_14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starts as a sentence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682748" y="2103183"/>
            <a:ext cx="1729919" cy="172991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27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54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1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35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62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89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447131" y="2867566"/>
            <a:ext cx="201153" cy="20115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sentence, broken into buildable pieces.</a:t>
            </a:r>
            <a:endParaRPr lang="en-US" sz="1050" dirty="0"/>
          </a:p>
        </p:txBody>
      </p:sp>
      <p:sp>
        <p:nvSpPr>
          <p:cNvPr id="22" name="bld1_2334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3" name="bld1_2335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"Cold mineral citrus with smoky woods"</a:t>
            </a:r>
            <a:endParaRPr lang="en-US" sz="1650" dirty="0"/>
          </a:p>
        </p:txBody>
      </p:sp>
      <p:sp>
        <p:nvSpPr>
          <p:cNvPr id="24" name="bld1_2336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starting idea — vivid, specific, and evocative rather than technical.</a:t>
            </a:r>
            <a:endParaRPr lang="en-US" sz="1250" dirty="0"/>
          </a:p>
        </p:txBody>
      </p:sp>
      <p:sp>
        <p:nvSpPr>
          <p:cNvPr id="25" name="bld2_2337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6" name="bld2_2338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 into olfactory components</a:t>
            </a:r>
            <a:endParaRPr lang="en-US" sz="1650" dirty="0"/>
          </a:p>
        </p:txBody>
      </p:sp>
      <p:sp>
        <p:nvSpPr>
          <p:cNvPr id="27" name="bld2_2339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/ mineral. Citrus. Smoky. Woods. Four distinct pieces to build separately.</a:t>
            </a:r>
            <a:endParaRPr lang="en-US" sz="1250" dirty="0"/>
          </a:p>
        </p:txBody>
      </p:sp>
      <p:sp>
        <p:nvSpPr>
          <p:cNvPr id="28" name="bld3_2340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9" name="bld3_2341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piece becomes its own accord</a:t>
            </a:r>
            <a:endParaRPr lang="en-US" sz="1650" dirty="0"/>
          </a:p>
        </p:txBody>
      </p:sp>
      <p:sp>
        <p:nvSpPr>
          <p:cNvPr id="30" name="bld3_2342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construct a small accord for each component, then combine them.</a:t>
            </a:r>
            <a:endParaRPr lang="en-US" sz="1250" dirty="0"/>
          </a:p>
        </p:txBody>
      </p:sp>
      <p:sp>
        <p:nvSpPr>
          <p:cNvPr id="32" name="trans_fade_14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ASSEMBLING THE IDEA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 combine into a fragrance</a:t>
            </a:r>
            <a:endParaRPr lang="en-US" sz="3200" dirty="0"/>
          </a:p>
        </p:txBody>
      </p:sp>
      <p:sp>
        <p:nvSpPr>
          <p:cNvPr id="7" name="bld1_2343"/>
          <p:cNvSpPr/>
          <p:nvPr/>
        </p:nvSpPr>
        <p:spPr>
          <a:xfrm>
            <a:off x="548640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344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345"/>
          <p:cNvSpPr txBox="1"/>
          <p:nvPr/>
        </p:nvSpPr>
        <p:spPr>
          <a:xfrm>
            <a:off x="713232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 accord</a:t>
            </a:r>
            <a:endParaRPr lang="en-US" sz="1450" dirty="0"/>
          </a:p>
        </p:txBody>
      </p:sp>
      <p:sp>
        <p:nvSpPr>
          <p:cNvPr id="10" name="bld1_2346"/>
          <p:cNvSpPr txBox="1"/>
          <p:nvPr/>
        </p:nvSpPr>
        <p:spPr>
          <a:xfrm>
            <a:off x="713232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cold, bright opening.</a:t>
            </a:r>
            <a:endParaRPr lang="en-US" sz="1000" dirty="0"/>
          </a:p>
        </p:txBody>
      </p:sp>
      <p:sp>
        <p:nvSpPr>
          <p:cNvPr id="11" name="bld1_2347"/>
          <p:cNvSpPr txBox="1"/>
          <p:nvPr/>
        </p:nvSpPr>
        <p:spPr>
          <a:xfrm>
            <a:off x="3082214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348"/>
          <p:cNvSpPr/>
          <p:nvPr/>
        </p:nvSpPr>
        <p:spPr>
          <a:xfrm>
            <a:off x="3402254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349"/>
          <p:cNvSpPr txBox="1"/>
          <p:nvPr/>
        </p:nvSpPr>
        <p:spPr>
          <a:xfrm>
            <a:off x="3566846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350"/>
          <p:cNvSpPr txBox="1"/>
          <p:nvPr/>
        </p:nvSpPr>
        <p:spPr>
          <a:xfrm>
            <a:off x="3566846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Mineral accord</a:t>
            </a:r>
            <a:endParaRPr lang="en-US" sz="1450" dirty="0"/>
          </a:p>
        </p:txBody>
      </p:sp>
      <p:sp>
        <p:nvSpPr>
          <p:cNvPr id="15" name="bld2_2351"/>
          <p:cNvSpPr txBox="1"/>
          <p:nvPr/>
        </p:nvSpPr>
        <p:spPr>
          <a:xfrm>
            <a:off x="3566846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cool, stony transparency.</a:t>
            </a:r>
            <a:endParaRPr lang="en-US" sz="1000" dirty="0"/>
          </a:p>
        </p:txBody>
      </p:sp>
      <p:sp>
        <p:nvSpPr>
          <p:cNvPr id="16" name="bld2_2352"/>
          <p:cNvSpPr txBox="1"/>
          <p:nvPr/>
        </p:nvSpPr>
        <p:spPr>
          <a:xfrm>
            <a:off x="593582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353"/>
          <p:cNvSpPr/>
          <p:nvPr/>
        </p:nvSpPr>
        <p:spPr>
          <a:xfrm>
            <a:off x="6255868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354"/>
          <p:cNvSpPr txBox="1"/>
          <p:nvPr/>
        </p:nvSpPr>
        <p:spPr>
          <a:xfrm>
            <a:off x="642046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355"/>
          <p:cNvSpPr txBox="1"/>
          <p:nvPr/>
        </p:nvSpPr>
        <p:spPr>
          <a:xfrm>
            <a:off x="6420460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base</a:t>
            </a:r>
            <a:endParaRPr lang="en-US" sz="1450" dirty="0"/>
          </a:p>
        </p:txBody>
      </p:sp>
      <p:sp>
        <p:nvSpPr>
          <p:cNvPr id="20" name="bld3_2356"/>
          <p:cNvSpPr txBox="1"/>
          <p:nvPr/>
        </p:nvSpPr>
        <p:spPr>
          <a:xfrm>
            <a:off x="6420460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dry, structural foundation.</a:t>
            </a:r>
            <a:endParaRPr lang="en-US" sz="1000" dirty="0"/>
          </a:p>
        </p:txBody>
      </p:sp>
      <p:sp>
        <p:nvSpPr>
          <p:cNvPr id="21" name="bld3_2357"/>
          <p:cNvSpPr txBox="1"/>
          <p:nvPr/>
        </p:nvSpPr>
        <p:spPr>
          <a:xfrm>
            <a:off x="8789441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358"/>
          <p:cNvSpPr/>
          <p:nvPr/>
        </p:nvSpPr>
        <p:spPr>
          <a:xfrm>
            <a:off x="9109481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359"/>
          <p:cNvSpPr txBox="1"/>
          <p:nvPr/>
        </p:nvSpPr>
        <p:spPr>
          <a:xfrm>
            <a:off x="9274073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360"/>
          <p:cNvSpPr txBox="1"/>
          <p:nvPr/>
        </p:nvSpPr>
        <p:spPr>
          <a:xfrm>
            <a:off x="9274073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 structure</a:t>
            </a:r>
            <a:endParaRPr lang="en-US" sz="1450" dirty="0"/>
          </a:p>
        </p:txBody>
      </p:sp>
      <p:sp>
        <p:nvSpPr>
          <p:cNvPr id="25" name="bld4_2361"/>
          <p:cNvSpPr txBox="1"/>
          <p:nvPr/>
        </p:nvSpPr>
        <p:spPr>
          <a:xfrm>
            <a:off x="9274073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skin-like glue holding it together.</a:t>
            </a:r>
            <a:endParaRPr lang="en-US" sz="1000" dirty="0"/>
          </a:p>
        </p:txBody>
      </p:sp>
      <p:sp>
        <p:nvSpPr>
          <p:cNvPr id="27" name="trans_push_l_14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9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METHOD, BIGGER SCALE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Jean Carles at the formula level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2429" y="2758608"/>
            <a:ext cx="419070" cy="419070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9149592" y="2758608"/>
            <a:ext cx="419070" cy="41907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6754" y="2758608"/>
            <a:ext cx="419070" cy="41907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Shape 11"/>
          <p:cNvSpPr/>
          <p:nvPr/>
        </p:nvSpPr>
        <p:spPr>
          <a:xfrm>
            <a:off x="9903917" y="2758608"/>
            <a:ext cx="419070" cy="419070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systematic ratio testing, scaled from materials to full accords.</a:t>
            </a:r>
            <a:endParaRPr lang="en-US" sz="1050" dirty="0"/>
          </a:p>
        </p:txBody>
      </p:sp>
      <p:sp>
        <p:nvSpPr>
          <p:cNvPr id="15" name="bld1_236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bld1_236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accord-to-accord ratios</a:t>
            </a:r>
            <a:endParaRPr lang="en-US" sz="1650" dirty="0"/>
          </a:p>
        </p:txBody>
      </p:sp>
      <p:sp>
        <p:nvSpPr>
          <p:cNvPr id="17" name="bld1_2364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each accord exists individually, blend pairs of them systematically, just like material A:B testing.</a:t>
            </a:r>
            <a:endParaRPr lang="en-US" sz="1250" dirty="0"/>
          </a:p>
        </p:txBody>
      </p:sp>
      <p:sp>
        <p:nvSpPr>
          <p:cNvPr id="18" name="bld2_2365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bld2_2366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right balance point</a:t>
            </a:r>
            <a:endParaRPr lang="en-US" sz="1650" dirty="0"/>
          </a:p>
        </p:txBody>
      </p:sp>
      <p:sp>
        <p:nvSpPr>
          <p:cNvPr id="20" name="bld2_2367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citrus and the woods disappear; too much wood and the opening feels dull.</a:t>
            </a:r>
            <a:endParaRPr lang="en-US" sz="1250" dirty="0"/>
          </a:p>
        </p:txBody>
      </p:sp>
      <p:sp>
        <p:nvSpPr>
          <p:cNvPr id="21" name="bld3_2368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2" name="bld3_2369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up, don't dump in</a:t>
            </a:r>
            <a:endParaRPr lang="en-US" sz="1650" dirty="0"/>
          </a:p>
        </p:txBody>
      </p:sp>
      <p:sp>
        <p:nvSpPr>
          <p:cNvPr id="23" name="bld3_2370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one accord at a time, evaluating after each addition — never combine everything at once.</a:t>
            </a:r>
            <a:endParaRPr lang="en-US" sz="1250" dirty="0"/>
          </a:p>
        </p:txBody>
      </p:sp>
      <p:sp>
        <p:nvSpPr>
          <p:cNvPr id="25" name="trans_fade_14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must total 100%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41941" y="2766974"/>
            <a:ext cx="20115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of every formula always sum to 100%.</a:t>
            </a:r>
            <a:endParaRPr lang="en-US" sz="1050" dirty="0"/>
          </a:p>
        </p:txBody>
      </p:sp>
      <p:sp>
        <p:nvSpPr>
          <p:cNvPr id="13" name="bld1_237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bld1_237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material gets a percentage</a:t>
            </a:r>
            <a:endParaRPr lang="en-US" sz="1650" dirty="0"/>
          </a:p>
        </p:txBody>
      </p:sp>
      <p:sp>
        <p:nvSpPr>
          <p:cNvPr id="15" name="bld1_237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total concentrate, before dilution — every material's share must be tracked.</a:t>
            </a:r>
            <a:endParaRPr lang="en-US" sz="1250" dirty="0"/>
          </a:p>
        </p:txBody>
      </p:sp>
      <p:sp>
        <p:nvSpPr>
          <p:cNvPr id="16" name="bld2_237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2_237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percentages always sum to 100</a:t>
            </a:r>
            <a:endParaRPr lang="en-US" sz="1650" dirty="0"/>
          </a:p>
        </p:txBody>
      </p:sp>
      <p:sp>
        <p:nvSpPr>
          <p:cNvPr id="18" name="bld2_237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isn't optional — it's how you know your formula sheet is complete and correct.</a:t>
            </a:r>
            <a:endParaRPr lang="en-US" sz="1250" dirty="0"/>
          </a:p>
        </p:txBody>
      </p:sp>
      <p:sp>
        <p:nvSpPr>
          <p:cNvPr id="19" name="bld3_237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0" name="bld3_237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makes this effortless</a:t>
            </a:r>
            <a:endParaRPr lang="en-US" sz="1650" dirty="0"/>
          </a:p>
        </p:txBody>
      </p:sp>
      <p:sp>
        <p:nvSpPr>
          <p:cNvPr id="21" name="bld3_237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spreadsheet with a running total column catches errors instantly.</a:t>
            </a:r>
            <a:endParaRPr lang="en-US" sz="1250" dirty="0"/>
          </a:p>
        </p:txBody>
      </p:sp>
      <p:sp>
        <p:nvSpPr>
          <p:cNvPr id="23" name="trans_fade_14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CRAFT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Balancing a formula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83848" y="2590980"/>
            <a:ext cx="754325" cy="754325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9547708" y="2381445"/>
            <a:ext cx="1173395" cy="1173395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loud material balanced against a larger, quiet one — not equal size, equal impact.</a:t>
            </a:r>
            <a:endParaRPr lang="en-US" sz="1050" dirty="0"/>
          </a:p>
        </p:txBody>
      </p:sp>
      <p:sp>
        <p:nvSpPr>
          <p:cNvPr id="13" name="bld1_238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238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Contrast, not sameness</a:t>
            </a:r>
            <a:endParaRPr lang="en-US" sz="1650" dirty="0"/>
          </a:p>
        </p:txBody>
      </p:sp>
      <p:sp>
        <p:nvSpPr>
          <p:cNvPr id="15" name="bld1_2382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opposing textures — a bright citrus against heavy woods, a sharp green against a soft musk. Contrast is what keeps a formula interesting.</a:t>
            </a:r>
            <a:endParaRPr lang="en-US" sz="1250" dirty="0"/>
          </a:p>
        </p:txBody>
      </p:sp>
      <p:sp>
        <p:nvSpPr>
          <p:cNvPr id="16" name="bld2_2383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2_2384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volume to intention</a:t>
            </a:r>
            <a:endParaRPr lang="en-US" sz="1650" dirty="0"/>
          </a:p>
        </p:txBody>
      </p:sp>
      <p:sp>
        <p:nvSpPr>
          <p:cNvPr id="18" name="bld2_2385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loud, diffusive material earns a small percentage; a quiet fixative can carry a much larger share without overwhelming anything.</a:t>
            </a:r>
            <a:endParaRPr lang="en-US" sz="1250" dirty="0"/>
          </a:p>
        </p:txBody>
      </p:sp>
      <p:sp>
        <p:nvSpPr>
          <p:cNvPr id="19" name="bld3_2386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0" name="bld3_2387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diffusive and fixative roles deliberately</a:t>
            </a:r>
            <a:endParaRPr lang="en-US" sz="1650" dirty="0"/>
          </a:p>
        </p:txBody>
      </p:sp>
      <p:sp>
        <p:nvSpPr>
          <p:cNvPr id="21" name="bld3_2388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Diffusive materials (Hedione, citrus) carry the formula outward; fixatives (musks, resins, heavy woods) slow evaporation and anchor the base. Every formula needs both.</a:t>
            </a:r>
            <a:endParaRPr lang="en-US" sz="1250" dirty="0"/>
          </a:p>
        </p:txBody>
      </p:sp>
      <p:sp>
        <p:nvSpPr>
          <p:cNvPr id="22" name="bld4_2389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4_2390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around one central idea</a:t>
            </a:r>
            <a:endParaRPr lang="en-US" sz="1650" dirty="0"/>
          </a:p>
        </p:txBody>
      </p:sp>
      <p:sp>
        <p:nvSpPr>
          <p:cNvPr id="24" name="bld4_2391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material should serve the one-sentence idea from the previous slide — if it doesn't, it's a candidate for removal.</a:t>
            </a:r>
            <a:endParaRPr lang="en-US" sz="1250" dirty="0"/>
          </a:p>
        </p:txBody>
      </p:sp>
      <p:sp>
        <p:nvSpPr>
          <p:cNvPr id="26" name="trans_fade_14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fresh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"Bright, clean citrus that lasts."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1996995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45635" y="2612441"/>
            <a:ext cx="1331330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45635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876965" y="2612441"/>
            <a:ext cx="1664162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76965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41127" y="2612441"/>
            <a:ext cx="33283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73959" y="2612441"/>
            <a:ext cx="2440771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73959" y="2612441"/>
            <a:ext cx="24407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14731" y="2612441"/>
            <a:ext cx="2218883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14731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533614" y="2612441"/>
            <a:ext cx="110944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33614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1" name="bld1_2392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2" name="bld1_2393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18%</a:t>
            </a:r>
            <a:endParaRPr lang="en-US" sz="1250" dirty="0"/>
          </a:p>
        </p:txBody>
      </p:sp>
      <p:sp>
        <p:nvSpPr>
          <p:cNvPr id="23" name="bld1_2394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lift</a:t>
            </a:r>
            <a:endParaRPr lang="en-US" sz="1000" dirty="0"/>
          </a:p>
        </p:txBody>
      </p:sp>
      <p:sp>
        <p:nvSpPr>
          <p:cNvPr id="24" name="bld2_2395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2_2396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Dihydromyrcenol  —  12%</a:t>
            </a:r>
            <a:endParaRPr lang="en-US" sz="1250" dirty="0"/>
          </a:p>
        </p:txBody>
      </p:sp>
      <p:sp>
        <p:nvSpPr>
          <p:cNvPr id="26" name="bld2_2397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Explosive freshness</a:t>
            </a:r>
            <a:endParaRPr lang="en-US" sz="1000" dirty="0"/>
          </a:p>
        </p:txBody>
      </p:sp>
      <p:sp>
        <p:nvSpPr>
          <p:cNvPr id="27" name="bld3_2398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28" name="bld3_2399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15%</a:t>
            </a:r>
            <a:endParaRPr lang="en-US" sz="1250" dirty="0"/>
          </a:p>
        </p:txBody>
      </p:sp>
      <p:sp>
        <p:nvSpPr>
          <p:cNvPr id="29" name="bld3_2400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 diffusion</a:t>
            </a:r>
            <a:endParaRPr lang="en-US" sz="1000" dirty="0"/>
          </a:p>
        </p:txBody>
      </p:sp>
      <p:sp>
        <p:nvSpPr>
          <p:cNvPr id="30" name="bld4_2401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4_2402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 (10%)  —  3%</a:t>
            </a:r>
            <a:endParaRPr lang="en-US" sz="1250" dirty="0"/>
          </a:p>
        </p:txBody>
      </p:sp>
      <p:sp>
        <p:nvSpPr>
          <p:cNvPr id="32" name="bld4_2403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edge</a:t>
            </a:r>
            <a:endParaRPr lang="en-US" sz="1000" dirty="0"/>
          </a:p>
        </p:txBody>
      </p:sp>
      <p:sp>
        <p:nvSpPr>
          <p:cNvPr id="33" name="bld5_2404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4" name="bld5_2405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22%</a:t>
            </a:r>
            <a:endParaRPr lang="en-US" sz="1250" dirty="0"/>
          </a:p>
        </p:txBody>
      </p:sp>
      <p:sp>
        <p:nvSpPr>
          <p:cNvPr id="35" name="bld5_2406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body</a:t>
            </a:r>
            <a:endParaRPr lang="en-US" sz="1000" dirty="0"/>
          </a:p>
        </p:txBody>
      </p:sp>
      <p:sp>
        <p:nvSpPr>
          <p:cNvPr id="36" name="bld6_2407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7" name="bld6_2408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20%</a:t>
            </a:r>
            <a:endParaRPr lang="en-US" sz="1250" dirty="0"/>
          </a:p>
        </p:txBody>
      </p:sp>
      <p:sp>
        <p:nvSpPr>
          <p:cNvPr id="38" name="bld6_2409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woody base</a:t>
            </a:r>
            <a:endParaRPr lang="en-US" sz="1000" dirty="0"/>
          </a:p>
        </p:txBody>
      </p:sp>
      <p:sp>
        <p:nvSpPr>
          <p:cNvPr id="39" name="bld7_2410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0" name="bld7_2411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  —  10%</a:t>
            </a:r>
            <a:endParaRPr lang="en-US" sz="1250" dirty="0"/>
          </a:p>
        </p:txBody>
      </p:sp>
      <p:sp>
        <p:nvSpPr>
          <p:cNvPr id="41" name="bld7_2412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 &amp; lasting power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44" name="trans_push_l_14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woody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"Warm, dry sandalwood with a soft amber glow."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2218883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2612441"/>
            <a:ext cx="166416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31685" y="2612441"/>
            <a:ext cx="2773604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31685" y="2612441"/>
            <a:ext cx="27736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05289" y="2612441"/>
            <a:ext cx="166416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05289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978893" y="2612441"/>
            <a:ext cx="887553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978893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866446" y="2612441"/>
            <a:ext cx="776609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866446" y="2612441"/>
            <a:ext cx="7766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100" dirty="0"/>
          </a:p>
        </p:txBody>
      </p:sp>
      <p:sp>
        <p:nvSpPr>
          <p:cNvPr id="22" name="bld1_2413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3" name="bld1_2414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Cedarwood  —  20%</a:t>
            </a:r>
            <a:endParaRPr lang="en-US" sz="1250" dirty="0"/>
          </a:p>
        </p:txBody>
      </p:sp>
      <p:sp>
        <p:nvSpPr>
          <p:cNvPr id="24" name="bld1_2415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structural wood</a:t>
            </a:r>
            <a:endParaRPr lang="en-US" sz="1000" dirty="0"/>
          </a:p>
        </p:txBody>
      </p:sp>
      <p:sp>
        <p:nvSpPr>
          <p:cNvPr id="25" name="bld2_2416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6" name="bld2_2417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 (natural)  —  15%</a:t>
            </a:r>
            <a:endParaRPr lang="en-US" sz="1250" dirty="0"/>
          </a:p>
        </p:txBody>
      </p:sp>
      <p:sp>
        <p:nvSpPr>
          <p:cNvPr id="27" name="bld2_2418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 woody heart</a:t>
            </a:r>
            <a:endParaRPr lang="en-US" sz="1000" dirty="0"/>
          </a:p>
        </p:txBody>
      </p:sp>
      <p:sp>
        <p:nvSpPr>
          <p:cNvPr id="28" name="bld3_2419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bld3_2420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25%</a:t>
            </a:r>
            <a:endParaRPr lang="en-US" sz="1250" dirty="0"/>
          </a:p>
        </p:txBody>
      </p:sp>
      <p:sp>
        <p:nvSpPr>
          <p:cNvPr id="30" name="bld3_2421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&amp; transparency</a:t>
            </a:r>
            <a:endParaRPr lang="en-US" sz="1000" dirty="0"/>
          </a:p>
        </p:txBody>
      </p:sp>
      <p:sp>
        <p:nvSpPr>
          <p:cNvPr id="31" name="bld4_2422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2" name="bld4_2423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  —  15%</a:t>
            </a:r>
            <a:endParaRPr lang="en-US" sz="1250" dirty="0"/>
          </a:p>
        </p:txBody>
      </p:sp>
      <p:sp>
        <p:nvSpPr>
          <p:cNvPr id="33" name="bld4_2424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Radiant amber warmth</a:t>
            </a:r>
            <a:endParaRPr lang="en-US" sz="1000" dirty="0"/>
          </a:p>
        </p:txBody>
      </p:sp>
      <p:sp>
        <p:nvSpPr>
          <p:cNvPr id="34" name="bld5_2425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5_2426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  —  10%</a:t>
            </a:r>
            <a:endParaRPr lang="en-US" sz="1250" dirty="0"/>
          </a:p>
        </p:txBody>
      </p:sp>
      <p:sp>
        <p:nvSpPr>
          <p:cNvPr id="36" name="bld5_2427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 depth</a:t>
            </a:r>
            <a:endParaRPr lang="en-US" sz="1000" dirty="0"/>
          </a:p>
        </p:txBody>
      </p:sp>
      <p:sp>
        <p:nvSpPr>
          <p:cNvPr id="37" name="bld6_2428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8" name="bld6_2429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Vetiver  —  8%</a:t>
            </a:r>
            <a:endParaRPr lang="en-US" sz="1250" dirty="0"/>
          </a:p>
        </p:txBody>
      </p:sp>
      <p:sp>
        <p:nvSpPr>
          <p:cNvPr id="39" name="bld6_2430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 root note</a:t>
            </a:r>
            <a:endParaRPr lang="en-US" sz="1000" dirty="0"/>
          </a:p>
        </p:txBody>
      </p:sp>
      <p:sp>
        <p:nvSpPr>
          <p:cNvPr id="40" name="bld7_2431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1" name="bld7_2432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 blend  —  7%</a:t>
            </a:r>
            <a:endParaRPr lang="en-US" sz="1250" dirty="0"/>
          </a:p>
        </p:txBody>
      </p:sp>
      <p:sp>
        <p:nvSpPr>
          <p:cNvPr id="42" name="bld7_2433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 fixation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45" name="trans_push_l_14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6" name="Text 4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gourmand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"Warm vanilla and caramel, softened with musk."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665665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6656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214305" y="2612441"/>
            <a:ext cx="166416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14305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878467" y="2612441"/>
            <a:ext cx="1331330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78467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9797" y="2612441"/>
            <a:ext cx="110944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09797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19239" y="2612441"/>
            <a:ext cx="1331330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19239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650568" y="2612441"/>
            <a:ext cx="2218883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50568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978893" y="2612441"/>
            <a:ext cx="166416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978893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24" name="bld1_2434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5" name="bld1_2435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 Maltol  —  6%</a:t>
            </a:r>
            <a:endParaRPr lang="en-US" sz="1250" dirty="0"/>
          </a:p>
        </p:txBody>
      </p:sp>
      <p:sp>
        <p:nvSpPr>
          <p:cNvPr id="26" name="bld1_2436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Sugary sweetness</a:t>
            </a:r>
            <a:endParaRPr lang="en-US" sz="1000" dirty="0"/>
          </a:p>
        </p:txBody>
      </p:sp>
      <p:sp>
        <p:nvSpPr>
          <p:cNvPr id="27" name="bld2_2437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8" name="bld2_2438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 —  15%</a:t>
            </a:r>
            <a:endParaRPr lang="en-US" sz="1250" dirty="0"/>
          </a:p>
        </p:txBody>
      </p:sp>
      <p:sp>
        <p:nvSpPr>
          <p:cNvPr id="29" name="bld2_2439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vanilla warmth</a:t>
            </a:r>
            <a:endParaRPr lang="en-US" sz="1000" dirty="0"/>
          </a:p>
        </p:txBody>
      </p:sp>
      <p:sp>
        <p:nvSpPr>
          <p:cNvPr id="30" name="bld3_2440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1" name="bld3_2441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Coumarin  —  12%</a:t>
            </a:r>
            <a:endParaRPr lang="en-US" sz="1250" dirty="0"/>
          </a:p>
        </p:txBody>
      </p:sp>
      <p:sp>
        <p:nvSpPr>
          <p:cNvPr id="32" name="bld3_2442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hay depth</a:t>
            </a:r>
            <a:endParaRPr lang="en-US" sz="1000" dirty="0"/>
          </a:p>
        </p:txBody>
      </p:sp>
      <p:sp>
        <p:nvSpPr>
          <p:cNvPr id="33" name="bld4_2443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4" name="bld4_2444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10%</a:t>
            </a:r>
            <a:endParaRPr lang="en-US" sz="1250" dirty="0"/>
          </a:p>
        </p:txBody>
      </p:sp>
      <p:sp>
        <p:nvSpPr>
          <p:cNvPr id="35" name="bld4_2445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Softens the sweetness</a:t>
            </a:r>
            <a:endParaRPr lang="en-US" sz="1000" dirty="0"/>
          </a:p>
        </p:txBody>
      </p:sp>
      <p:sp>
        <p:nvSpPr>
          <p:cNvPr id="36" name="bld5_2446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7" name="bld5_2447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Cashmeran  —  12%</a:t>
            </a:r>
            <a:endParaRPr lang="en-US" sz="1250" dirty="0"/>
          </a:p>
        </p:txBody>
      </p:sp>
      <p:sp>
        <p:nvSpPr>
          <p:cNvPr id="38" name="bld5_2448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Spiced, musky wood</a:t>
            </a:r>
            <a:endParaRPr lang="en-US" sz="1000" dirty="0"/>
          </a:p>
        </p:txBody>
      </p:sp>
      <p:sp>
        <p:nvSpPr>
          <p:cNvPr id="39" name="bld6_2449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0" name="bld6_2450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20%</a:t>
            </a:r>
            <a:endParaRPr lang="en-US" sz="1250" dirty="0"/>
          </a:p>
        </p:txBody>
      </p:sp>
      <p:sp>
        <p:nvSpPr>
          <p:cNvPr id="41" name="bld6_2451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body</a:t>
            </a:r>
            <a:endParaRPr lang="en-US" sz="1000" dirty="0"/>
          </a:p>
        </p:txBody>
      </p:sp>
      <p:sp>
        <p:nvSpPr>
          <p:cNvPr id="42" name="bld7_2452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3" name="bld7_2453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10%</a:t>
            </a:r>
            <a:endParaRPr lang="en-US" sz="1250" dirty="0"/>
          </a:p>
        </p:txBody>
      </p:sp>
      <p:sp>
        <p:nvSpPr>
          <p:cNvPr id="44" name="bld7_2454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the sweetness at opening</a:t>
            </a:r>
            <a:endParaRPr lang="en-US" sz="1000" dirty="0"/>
          </a:p>
        </p:txBody>
      </p:sp>
      <p:sp>
        <p:nvSpPr>
          <p:cNvPr id="45" name="bld8_2455"/>
          <p:cNvSpPr/>
          <p:nvPr/>
        </p:nvSpPr>
        <p:spPr>
          <a:xfrm>
            <a:off x="6297016" y="5355641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46" name="bld8_2456"/>
          <p:cNvSpPr txBox="1"/>
          <p:nvPr/>
        </p:nvSpPr>
        <p:spPr>
          <a:xfrm>
            <a:off x="6571336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Patchouli  —  15%</a:t>
            </a:r>
            <a:endParaRPr lang="en-US" sz="1250" dirty="0"/>
          </a:p>
        </p:txBody>
      </p:sp>
      <p:sp>
        <p:nvSpPr>
          <p:cNvPr id="47" name="bld8_2457"/>
          <p:cNvSpPr txBox="1"/>
          <p:nvPr/>
        </p:nvSpPr>
        <p:spPr>
          <a:xfrm>
            <a:off x="6571336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earthy base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50" name="trans_push_l_15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floral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luminous rose and jasmine heart, on a soft musk base."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887553" cy="566928"/>
          </a:xfrm>
          <a:prstGeom prst="rect">
            <a:avLst/>
          </a:prstGeom>
          <a:solidFill>
            <a:srgbClr val="8C3B49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36193" y="2612441"/>
            <a:ext cx="665665" cy="566928"/>
          </a:xfrm>
          <a:prstGeom prst="rect">
            <a:avLst/>
          </a:prstGeom>
          <a:solidFill>
            <a:srgbClr val="8C3B49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36193" y="2612441"/>
            <a:ext cx="6656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01858" y="2612441"/>
            <a:ext cx="2218883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101858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0741" y="2612441"/>
            <a:ext cx="110944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2074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30183" y="2612441"/>
            <a:ext cx="1331330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30183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61513" y="2612441"/>
            <a:ext cx="1996995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1513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758507" y="2612441"/>
            <a:ext cx="1996995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58507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755502" y="2612441"/>
            <a:ext cx="88755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755502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24" name="bld1_2458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1_2459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 (10%)  —  8%</a:t>
            </a:r>
            <a:endParaRPr lang="en-US" sz="1250" dirty="0"/>
          </a:p>
        </p:txBody>
      </p:sp>
      <p:sp>
        <p:nvSpPr>
          <p:cNvPr id="26" name="bld1_2460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rose truth</a:t>
            </a:r>
            <a:endParaRPr lang="en-US" sz="1000" dirty="0"/>
          </a:p>
        </p:txBody>
      </p:sp>
      <p:sp>
        <p:nvSpPr>
          <p:cNvPr id="27" name="bld2_2461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8" name="bld2_2462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absolute (10%)  —  6%</a:t>
            </a:r>
            <a:endParaRPr lang="en-US" sz="1250" dirty="0"/>
          </a:p>
        </p:txBody>
      </p:sp>
      <p:sp>
        <p:nvSpPr>
          <p:cNvPr id="29" name="bld2_2463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Heady floral depth</a:t>
            </a:r>
            <a:endParaRPr lang="en-US" sz="1000" dirty="0"/>
          </a:p>
        </p:txBody>
      </p:sp>
      <p:sp>
        <p:nvSpPr>
          <p:cNvPr id="30" name="bld3_2464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2465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20%</a:t>
            </a:r>
            <a:endParaRPr lang="en-US" sz="1250" dirty="0"/>
          </a:p>
        </p:txBody>
      </p:sp>
      <p:sp>
        <p:nvSpPr>
          <p:cNvPr id="32" name="bld3_2466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&amp; radiance</a:t>
            </a:r>
            <a:endParaRPr lang="en-US" sz="1000" dirty="0"/>
          </a:p>
        </p:txBody>
      </p:sp>
      <p:sp>
        <p:nvSpPr>
          <p:cNvPr id="33" name="bld4_2467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4" name="bld4_2468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Linalool  —  10%</a:t>
            </a:r>
            <a:endParaRPr lang="en-US" sz="1250" dirty="0"/>
          </a:p>
        </p:txBody>
      </p:sp>
      <p:sp>
        <p:nvSpPr>
          <p:cNvPr id="35" name="bld4_2469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floral-woody lift</a:t>
            </a:r>
            <a:endParaRPr lang="en-US" sz="1000" dirty="0"/>
          </a:p>
        </p:txBody>
      </p:sp>
      <p:sp>
        <p:nvSpPr>
          <p:cNvPr id="36" name="bld5_2470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7" name="bld5_2471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12%</a:t>
            </a:r>
            <a:endParaRPr lang="en-US" sz="1250" dirty="0"/>
          </a:p>
        </p:txBody>
      </p:sp>
      <p:sp>
        <p:nvSpPr>
          <p:cNvPr id="38" name="bld5_2472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 opening</a:t>
            </a:r>
            <a:endParaRPr lang="en-US" sz="1000" dirty="0"/>
          </a:p>
        </p:txBody>
      </p:sp>
      <p:sp>
        <p:nvSpPr>
          <p:cNvPr id="39" name="bld6_2473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40" name="bld6_2474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18%</a:t>
            </a:r>
            <a:endParaRPr lang="en-US" sz="1250" dirty="0"/>
          </a:p>
        </p:txBody>
      </p:sp>
      <p:sp>
        <p:nvSpPr>
          <p:cNvPr id="41" name="bld6_2475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support</a:t>
            </a:r>
            <a:endParaRPr lang="en-US" sz="1000" dirty="0"/>
          </a:p>
        </p:txBody>
      </p:sp>
      <p:sp>
        <p:nvSpPr>
          <p:cNvPr id="42" name="bld7_2476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3" name="bld7_2477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18%</a:t>
            </a:r>
            <a:endParaRPr lang="en-US" sz="1250" dirty="0"/>
          </a:p>
        </p:txBody>
      </p:sp>
      <p:sp>
        <p:nvSpPr>
          <p:cNvPr id="44" name="bld7_2478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fixation</a:t>
            </a:r>
            <a:endParaRPr lang="en-US" sz="1000" dirty="0"/>
          </a:p>
        </p:txBody>
      </p:sp>
      <p:sp>
        <p:nvSpPr>
          <p:cNvPr id="45" name="bld8_2479"/>
          <p:cNvSpPr/>
          <p:nvPr/>
        </p:nvSpPr>
        <p:spPr>
          <a:xfrm>
            <a:off x="6297016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6" name="bld8_2480"/>
          <p:cNvSpPr txBox="1"/>
          <p:nvPr/>
        </p:nvSpPr>
        <p:spPr>
          <a:xfrm>
            <a:off x="6571336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 —  8%</a:t>
            </a:r>
            <a:endParaRPr lang="en-US" sz="1250" dirty="0"/>
          </a:p>
        </p:txBody>
      </p:sp>
      <p:sp>
        <p:nvSpPr>
          <p:cNvPr id="47" name="bld8_2481"/>
          <p:cNvSpPr txBox="1"/>
          <p:nvPr/>
        </p:nvSpPr>
        <p:spPr>
          <a:xfrm>
            <a:off x="6571336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warmth in the base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50" name="trans_push_l_15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material earns its place. If you can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it and nothing changes, remove it.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07</a:t>
            </a:r>
            <a:endParaRPr lang="en-US" sz="1100" dirty="0"/>
          </a:p>
        </p:txBody>
      </p:sp>
      <p:sp>
        <p:nvSpPr>
          <p:cNvPr id="10" name="trans_fade_15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30588" y="2182673"/>
            <a:ext cx="274192" cy="2492654"/>
          </a:xfrm>
          <a:prstGeom prst="roundRect">
            <a:avLst>
              <a:gd name="adj" fmla="val 667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44304" y="3827825"/>
            <a:ext cx="246760" cy="829214"/>
          </a:xfrm>
          <a:prstGeom prst="roundRect">
            <a:avLst>
              <a:gd name="adj" fmla="val 5558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08 · EVALUATING &amp; DEVELOPING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Version 1: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&amp; Develop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formula was the easy part. Now the real work of perfumery begins.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a formula across a real 48-hour timeline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questions that replace "do I like it?"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troubleshooting guide — symptom to fix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20" name="trans_fade_15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RULE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evaluate on scent strips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7738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31454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5412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79128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13085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26801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B5652D">
              <a:alpha val="7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1, version 2, version 3 — evaluated side by side, not in isolation.</a:t>
            </a:r>
            <a:endParaRPr lang="en-US" sz="1050" dirty="0"/>
          </a:p>
        </p:txBody>
      </p:sp>
      <p:sp>
        <p:nvSpPr>
          <p:cNvPr id="17" name="bld1_248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bld1_248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Immediate smell ≠ finished evaluation</a:t>
            </a:r>
            <a:endParaRPr lang="en-US" sz="1650" dirty="0"/>
          </a:p>
        </p:txBody>
      </p:sp>
      <p:sp>
        <p:nvSpPr>
          <p:cNvPr id="19" name="bld1_2484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smell in the first five minutes is only the opening — never the whole story.</a:t>
            </a:r>
            <a:endParaRPr lang="en-US" sz="1250" dirty="0"/>
          </a:p>
        </p:txBody>
      </p:sp>
      <p:sp>
        <p:nvSpPr>
          <p:cNvPr id="20" name="bld2_2485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2_2486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strip, dated and labelled</a:t>
            </a:r>
            <a:endParaRPr lang="en-US" sz="1650" dirty="0"/>
          </a:p>
        </p:txBody>
      </p:sp>
      <p:sp>
        <p:nvSpPr>
          <p:cNvPr id="22" name="bld2_2487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version of a formula gets its own dedicated, clearly marked strip.</a:t>
            </a:r>
            <a:endParaRPr lang="en-US" sz="1250" dirty="0"/>
          </a:p>
        </p:txBody>
      </p:sp>
      <p:sp>
        <p:nvSpPr>
          <p:cNvPr id="23" name="bld3_2488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4" name="bld3_2489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strips side by side</a:t>
            </a:r>
            <a:endParaRPr lang="en-US" sz="1650" dirty="0"/>
          </a:p>
        </p:txBody>
      </p:sp>
      <p:sp>
        <p:nvSpPr>
          <p:cNvPr id="25" name="bld3_2490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previous versions to compare directly against the new one at each checkpoint.</a:t>
            </a:r>
            <a:endParaRPr lang="en-US" sz="1250" dirty="0"/>
          </a:p>
        </p:txBody>
      </p:sp>
      <p:sp>
        <p:nvSpPr>
          <p:cNvPr id="27" name="trans_fade_15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EVALUATION TIMELINE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 a formula across 48 hours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2491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bld1_2492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0" name="bld1_2493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min</a:t>
            </a:r>
            <a:endParaRPr lang="en-US" sz="1200" dirty="0"/>
          </a:p>
        </p:txBody>
      </p:sp>
      <p:sp>
        <p:nvSpPr>
          <p:cNvPr id="11" name="bld1_2494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impression</a:t>
            </a:r>
            <a:endParaRPr lang="en-US" sz="1050" dirty="0"/>
          </a:p>
        </p:txBody>
      </p:sp>
      <p:sp>
        <p:nvSpPr>
          <p:cNvPr id="12" name="bld2_2495"/>
          <p:cNvSpPr/>
          <p:nvPr/>
        </p:nvSpPr>
        <p:spPr>
          <a:xfrm>
            <a:off x="284981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2496"/>
          <p:cNvSpPr/>
          <p:nvPr/>
        </p:nvSpPr>
        <p:spPr>
          <a:xfrm>
            <a:off x="276752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4" name="bld2_2497"/>
          <p:cNvSpPr txBox="1"/>
          <p:nvPr/>
        </p:nvSpPr>
        <p:spPr>
          <a:xfrm>
            <a:off x="215487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200" dirty="0"/>
          </a:p>
        </p:txBody>
      </p:sp>
      <p:sp>
        <p:nvSpPr>
          <p:cNvPr id="15" name="bld2_2498"/>
          <p:cNvSpPr txBox="1"/>
          <p:nvPr/>
        </p:nvSpPr>
        <p:spPr>
          <a:xfrm>
            <a:off x="215487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notes settling</a:t>
            </a:r>
            <a:endParaRPr lang="en-US" sz="1050" dirty="0"/>
          </a:p>
        </p:txBody>
      </p:sp>
      <p:sp>
        <p:nvSpPr>
          <p:cNvPr id="16" name="bld3_2499"/>
          <p:cNvSpPr/>
          <p:nvPr/>
        </p:nvSpPr>
        <p:spPr>
          <a:xfrm>
            <a:off x="4958974" y="3575304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bld3_2500"/>
          <p:cNvSpPr/>
          <p:nvPr/>
        </p:nvSpPr>
        <p:spPr>
          <a:xfrm>
            <a:off x="4876678" y="3493008"/>
            <a:ext cx="329184" cy="329184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8" name="bld3_2501"/>
          <p:cNvSpPr txBox="1"/>
          <p:nvPr/>
        </p:nvSpPr>
        <p:spPr>
          <a:xfrm>
            <a:off x="426403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hours</a:t>
            </a:r>
            <a:endParaRPr lang="en-US" sz="1200" dirty="0"/>
          </a:p>
        </p:txBody>
      </p:sp>
      <p:sp>
        <p:nvSpPr>
          <p:cNvPr id="19" name="bld3_2502"/>
          <p:cNvSpPr txBox="1"/>
          <p:nvPr/>
        </p:nvSpPr>
        <p:spPr>
          <a:xfrm>
            <a:off x="426403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taking shape</a:t>
            </a:r>
            <a:endParaRPr lang="en-US" sz="1050" dirty="0"/>
          </a:p>
        </p:txBody>
      </p:sp>
      <p:sp>
        <p:nvSpPr>
          <p:cNvPr id="20" name="bld4_2503"/>
          <p:cNvSpPr/>
          <p:nvPr/>
        </p:nvSpPr>
        <p:spPr>
          <a:xfrm>
            <a:off x="706812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2504"/>
          <p:cNvSpPr/>
          <p:nvPr/>
        </p:nvSpPr>
        <p:spPr>
          <a:xfrm>
            <a:off x="698583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2" name="bld4_2505"/>
          <p:cNvSpPr txBox="1"/>
          <p:nvPr/>
        </p:nvSpPr>
        <p:spPr>
          <a:xfrm>
            <a:off x="637318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hours</a:t>
            </a:r>
            <a:endParaRPr lang="en-US" sz="1200" dirty="0"/>
          </a:p>
        </p:txBody>
      </p:sp>
      <p:sp>
        <p:nvSpPr>
          <p:cNvPr id="23" name="bld4_2506"/>
          <p:cNvSpPr txBox="1"/>
          <p:nvPr/>
        </p:nvSpPr>
        <p:spPr>
          <a:xfrm>
            <a:off x="637318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becoming clear</a:t>
            </a:r>
            <a:endParaRPr lang="en-US" sz="1050" dirty="0"/>
          </a:p>
        </p:txBody>
      </p:sp>
      <p:sp>
        <p:nvSpPr>
          <p:cNvPr id="24" name="bld5_2507"/>
          <p:cNvSpPr/>
          <p:nvPr/>
        </p:nvSpPr>
        <p:spPr>
          <a:xfrm>
            <a:off x="917728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2508"/>
          <p:cNvSpPr/>
          <p:nvPr/>
        </p:nvSpPr>
        <p:spPr>
          <a:xfrm>
            <a:off x="909498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6" name="bld5_2509"/>
          <p:cNvSpPr txBox="1"/>
          <p:nvPr/>
        </p:nvSpPr>
        <p:spPr>
          <a:xfrm>
            <a:off x="848234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27" name="bld5_2510"/>
          <p:cNvSpPr txBox="1"/>
          <p:nvPr/>
        </p:nvSpPr>
        <p:spPr>
          <a:xfrm>
            <a:off x="848234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 forming</a:t>
            </a:r>
            <a:endParaRPr lang="en-US" sz="1050" dirty="0"/>
          </a:p>
        </p:txBody>
      </p:sp>
      <p:sp>
        <p:nvSpPr>
          <p:cNvPr id="28" name="bld6_2511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9" name="bld6_2512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30" name="bld6_2513"/>
          <p:cNvSpPr txBox="1"/>
          <p:nvPr/>
        </p:nvSpPr>
        <p:spPr>
          <a:xfrm>
            <a:off x="1059149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hours</a:t>
            </a:r>
            <a:endParaRPr lang="en-US" sz="1200" dirty="0"/>
          </a:p>
        </p:txBody>
      </p:sp>
      <p:sp>
        <p:nvSpPr>
          <p:cNvPr id="31" name="bld6_2514"/>
          <p:cNvSpPr txBox="1"/>
          <p:nvPr/>
        </p:nvSpPr>
        <p:spPr>
          <a:xfrm>
            <a:off x="1059149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verdict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judged only at 0 minutes has not really been evaluated at all.</a:t>
            </a:r>
            <a:endParaRPr lang="en-US" sz="1250" dirty="0"/>
          </a:p>
        </p:txBody>
      </p:sp>
      <p:sp>
        <p:nvSpPr>
          <p:cNvPr id="34" name="trans_push_l_15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QUESTIONS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this, not "do I like it?"</a:t>
            </a:r>
            <a:endParaRPr lang="en-US" sz="3200" dirty="0"/>
          </a:p>
        </p:txBody>
      </p:sp>
      <p:sp>
        <p:nvSpPr>
          <p:cNvPr id="7" name="bld1_2515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516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517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opening strong enough?</a:t>
            </a:r>
            <a:endParaRPr lang="en-US" sz="1450" dirty="0"/>
          </a:p>
        </p:txBody>
      </p:sp>
      <p:sp>
        <p:nvSpPr>
          <p:cNvPr id="10" name="bld1_2518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announce itself, or vanish immediately?</a:t>
            </a:r>
            <a:endParaRPr lang="en-US" sz="1080" dirty="0"/>
          </a:p>
        </p:txBody>
      </p:sp>
      <p:sp>
        <p:nvSpPr>
          <p:cNvPr id="11" name="bld2_2519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520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2521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heart interesting?</a:t>
            </a:r>
            <a:endParaRPr lang="en-US" sz="1450" dirty="0"/>
          </a:p>
        </p:txBody>
      </p:sp>
      <p:sp>
        <p:nvSpPr>
          <p:cNvPr id="14" name="bld2_2522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hold attention once the top notes fade?</a:t>
            </a:r>
            <a:endParaRPr lang="en-US" sz="1080" dirty="0"/>
          </a:p>
        </p:txBody>
      </p:sp>
      <p:sp>
        <p:nvSpPr>
          <p:cNvPr id="15" name="bld3_2523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524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bld3_2525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it too sweet?</a:t>
            </a:r>
            <a:endParaRPr lang="en-US" sz="1450" dirty="0"/>
          </a:p>
        </p:txBody>
      </p:sp>
      <p:sp>
        <p:nvSpPr>
          <p:cNvPr id="18" name="bld3_2526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too dry, too green, too heavy — check for imbalance.</a:t>
            </a:r>
            <a:endParaRPr lang="en-US" sz="1080" dirty="0"/>
          </a:p>
        </p:txBody>
      </p:sp>
      <p:sp>
        <p:nvSpPr>
          <p:cNvPr id="19" name="bld4_2527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528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2529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one material dominating?</a:t>
            </a:r>
            <a:endParaRPr lang="en-US" sz="1450" dirty="0"/>
          </a:p>
        </p:txBody>
      </p:sp>
      <p:sp>
        <p:nvSpPr>
          <p:cNvPr id="22" name="bld4_2530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name a single note that's drowning everything else?</a:t>
            </a:r>
            <a:endParaRPr lang="en-US" sz="1080" dirty="0"/>
          </a:p>
        </p:txBody>
      </p:sp>
      <p:sp>
        <p:nvSpPr>
          <p:cNvPr id="23" name="bld5_2531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532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5_2533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collapse?</a:t>
            </a:r>
            <a:endParaRPr lang="en-US" sz="1450" dirty="0"/>
          </a:p>
        </p:txBody>
      </p:sp>
      <p:sp>
        <p:nvSpPr>
          <p:cNvPr id="26" name="bld5_2534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structure fall apart at any point in the timeline?</a:t>
            </a:r>
            <a:endParaRPr lang="en-US" sz="1080" dirty="0"/>
          </a:p>
        </p:txBody>
      </p:sp>
      <p:sp>
        <p:nvSpPr>
          <p:cNvPr id="27" name="bld6_2535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536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537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drydown match the idea?</a:t>
            </a:r>
            <a:endParaRPr lang="en-US" sz="1450" dirty="0"/>
          </a:p>
        </p:txBody>
      </p:sp>
      <p:sp>
        <p:nvSpPr>
          <p:cNvPr id="30" name="bld6_2538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ending still serve your original concept?</a:t>
            </a:r>
            <a:endParaRPr lang="en-US" sz="1080" dirty="0"/>
          </a:p>
        </p:txBody>
      </p:sp>
      <p:sp>
        <p:nvSpPr>
          <p:cNvPr id="32" name="trans_fade_15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→ FIX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a rough formula</a:t>
            </a:r>
            <a:endParaRPr lang="en-US" sz="3200" dirty="0"/>
          </a:p>
        </p:txBody>
      </p:sp>
      <p:sp>
        <p:nvSpPr>
          <p:cNvPr id="7" name="bld1_2539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540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541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Feels flat or boring</a:t>
            </a:r>
            <a:endParaRPr lang="en-US" sz="1450" dirty="0"/>
          </a:p>
        </p:txBody>
      </p:sp>
      <p:sp>
        <p:nvSpPr>
          <p:cNvPr id="10" name="bld1_2542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diffusive material — Hedione or a fresh citrus top — to open the formula up and give it lift.</a:t>
            </a:r>
            <a:endParaRPr lang="en-US" sz="1080" dirty="0"/>
          </a:p>
        </p:txBody>
      </p:sp>
      <p:sp>
        <p:nvSpPr>
          <p:cNvPr id="11" name="bld2_2543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544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545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sweet or cloying</a:t>
            </a:r>
            <a:endParaRPr lang="en-US" sz="1450" dirty="0"/>
          </a:p>
        </p:txBody>
      </p:sp>
      <p:sp>
        <p:nvSpPr>
          <p:cNvPr id="14" name="bld2_2546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the gourmand materials, or add a dry, bitter contrast like vetiver or bergamot to cut through it.</a:t>
            </a:r>
            <a:endParaRPr lang="en-US" sz="1080" dirty="0"/>
          </a:p>
        </p:txBody>
      </p:sp>
      <p:sp>
        <p:nvSpPr>
          <p:cNvPr id="15" name="bld3_2547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548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549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Doesn't last</a:t>
            </a:r>
            <a:endParaRPr lang="en-US" sz="1450" dirty="0"/>
          </a:p>
        </p:txBody>
      </p:sp>
      <p:sp>
        <p:nvSpPr>
          <p:cNvPr id="18" name="bld3_2550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fixative or base material — a musk, a resin, a heavier wood — to anchor the drydown.</a:t>
            </a:r>
            <a:endParaRPr lang="en-US" sz="1080" dirty="0"/>
          </a:p>
        </p:txBody>
      </p:sp>
      <p:sp>
        <p:nvSpPr>
          <p:cNvPr id="19" name="bld4_2551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552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2553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material dominates</a:t>
            </a:r>
            <a:endParaRPr lang="en-US" sz="1450" dirty="0"/>
          </a:p>
        </p:txBody>
      </p:sp>
      <p:sp>
        <p:nvSpPr>
          <p:cNvPr id="22" name="bld4_2554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that material's percentage in small increments, re-evaluating on a fresh strip after each change.</a:t>
            </a:r>
            <a:endParaRPr lang="en-US" sz="1080" dirty="0"/>
          </a:p>
        </p:txBody>
      </p:sp>
      <p:sp>
        <p:nvSpPr>
          <p:cNvPr id="23" name="bld5_2555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556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2557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Feels harsh or rough</a:t>
            </a:r>
            <a:endParaRPr lang="en-US" sz="1450" dirty="0"/>
          </a:p>
        </p:txBody>
      </p:sp>
      <p:sp>
        <p:nvSpPr>
          <p:cNvPr id="26" name="bld5_2558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the edges with a diffusive floral or a soft musk — they round out sharp, isolated materials.</a:t>
            </a:r>
            <a:endParaRPr lang="en-US" sz="1080" dirty="0"/>
          </a:p>
        </p:txBody>
      </p:sp>
      <p:sp>
        <p:nvSpPr>
          <p:cNvPr id="27" name="bld6_2559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560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561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Opening is weak</a:t>
            </a:r>
            <a:endParaRPr lang="en-US" sz="1450" dirty="0"/>
          </a:p>
        </p:txBody>
      </p:sp>
      <p:sp>
        <p:nvSpPr>
          <p:cNvPr id="30" name="bld6_2562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the top-note percentage, or add a lift material like an aldehyde or citrus booster.</a:t>
            </a:r>
            <a:endParaRPr lang="en-US" sz="1080" dirty="0"/>
          </a:p>
        </p:txBody>
      </p:sp>
      <p:sp>
        <p:nvSpPr>
          <p:cNvPr id="32" name="trans_fade_15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development cycle</a:t>
            </a:r>
            <a:endParaRPr lang="en-US" sz="3200" dirty="0"/>
          </a:p>
        </p:txBody>
      </p:sp>
      <p:sp>
        <p:nvSpPr>
          <p:cNvPr id="7" name="bld1_2563"/>
          <p:cNvSpPr/>
          <p:nvPr/>
        </p:nvSpPr>
        <p:spPr>
          <a:xfrm>
            <a:off x="548640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564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565"/>
          <p:cNvSpPr txBox="1"/>
          <p:nvPr/>
        </p:nvSpPr>
        <p:spPr>
          <a:xfrm>
            <a:off x="713232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50" dirty="0"/>
          </a:p>
        </p:txBody>
      </p:sp>
      <p:sp>
        <p:nvSpPr>
          <p:cNvPr id="10" name="bld1_2566"/>
          <p:cNvSpPr txBox="1"/>
          <p:nvPr/>
        </p:nvSpPr>
        <p:spPr>
          <a:xfrm>
            <a:off x="713232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current version.</a:t>
            </a:r>
            <a:endParaRPr lang="en-US" sz="1000" dirty="0"/>
          </a:p>
        </p:txBody>
      </p:sp>
      <p:sp>
        <p:nvSpPr>
          <p:cNvPr id="11" name="bld1_2567"/>
          <p:cNvSpPr txBox="1"/>
          <p:nvPr/>
        </p:nvSpPr>
        <p:spPr>
          <a:xfrm>
            <a:off x="213100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568"/>
          <p:cNvSpPr/>
          <p:nvPr/>
        </p:nvSpPr>
        <p:spPr>
          <a:xfrm>
            <a:off x="2451049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569"/>
          <p:cNvSpPr txBox="1"/>
          <p:nvPr/>
        </p:nvSpPr>
        <p:spPr>
          <a:xfrm>
            <a:off x="261564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570"/>
          <p:cNvSpPr txBox="1"/>
          <p:nvPr/>
        </p:nvSpPr>
        <p:spPr>
          <a:xfrm>
            <a:off x="2615641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</a:t>
            </a:r>
            <a:endParaRPr lang="en-US" sz="1450" dirty="0"/>
          </a:p>
        </p:txBody>
      </p:sp>
      <p:sp>
        <p:nvSpPr>
          <p:cNvPr id="15" name="bld2_2571"/>
          <p:cNvSpPr txBox="1"/>
          <p:nvPr/>
        </p:nvSpPr>
        <p:spPr>
          <a:xfrm>
            <a:off x="2615641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dilute it.</a:t>
            </a:r>
            <a:endParaRPr lang="en-US" sz="1000" dirty="0"/>
          </a:p>
        </p:txBody>
      </p:sp>
      <p:sp>
        <p:nvSpPr>
          <p:cNvPr id="16" name="bld2_2572"/>
          <p:cNvSpPr txBox="1"/>
          <p:nvPr/>
        </p:nvSpPr>
        <p:spPr>
          <a:xfrm>
            <a:off x="403341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573"/>
          <p:cNvSpPr/>
          <p:nvPr/>
        </p:nvSpPr>
        <p:spPr>
          <a:xfrm>
            <a:off x="4353458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574"/>
          <p:cNvSpPr txBox="1"/>
          <p:nvPr/>
        </p:nvSpPr>
        <p:spPr>
          <a:xfrm>
            <a:off x="451805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575"/>
          <p:cNvSpPr txBox="1"/>
          <p:nvPr/>
        </p:nvSpPr>
        <p:spPr>
          <a:xfrm>
            <a:off x="4518050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</a:t>
            </a:r>
            <a:endParaRPr lang="en-US" sz="1450" dirty="0"/>
          </a:p>
        </p:txBody>
      </p:sp>
      <p:sp>
        <p:nvSpPr>
          <p:cNvPr id="20" name="bld3_2576"/>
          <p:cNvSpPr txBox="1"/>
          <p:nvPr/>
        </p:nvSpPr>
        <p:spPr>
          <a:xfrm>
            <a:off x="4518050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it across 48 hours.</a:t>
            </a:r>
            <a:endParaRPr lang="en-US" sz="1000" dirty="0"/>
          </a:p>
        </p:txBody>
      </p:sp>
      <p:sp>
        <p:nvSpPr>
          <p:cNvPr id="21" name="bld3_2577"/>
          <p:cNvSpPr txBox="1"/>
          <p:nvPr/>
        </p:nvSpPr>
        <p:spPr>
          <a:xfrm>
            <a:off x="593582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578"/>
          <p:cNvSpPr/>
          <p:nvPr/>
        </p:nvSpPr>
        <p:spPr>
          <a:xfrm>
            <a:off x="6255868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579"/>
          <p:cNvSpPr txBox="1"/>
          <p:nvPr/>
        </p:nvSpPr>
        <p:spPr>
          <a:xfrm>
            <a:off x="642046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580"/>
          <p:cNvSpPr txBox="1"/>
          <p:nvPr/>
        </p:nvSpPr>
        <p:spPr>
          <a:xfrm>
            <a:off x="6420460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issue</a:t>
            </a:r>
            <a:endParaRPr lang="en-US" sz="1450" dirty="0"/>
          </a:p>
        </p:txBody>
      </p:sp>
      <p:sp>
        <p:nvSpPr>
          <p:cNvPr id="25" name="bld4_2581"/>
          <p:cNvSpPr txBox="1"/>
          <p:nvPr/>
        </p:nvSpPr>
        <p:spPr>
          <a:xfrm>
            <a:off x="6420460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specific problem.</a:t>
            </a:r>
            <a:endParaRPr lang="en-US" sz="1000" dirty="0"/>
          </a:p>
        </p:txBody>
      </p:sp>
      <p:sp>
        <p:nvSpPr>
          <p:cNvPr id="26" name="bld4_2582"/>
          <p:cNvSpPr txBox="1"/>
          <p:nvPr/>
        </p:nvSpPr>
        <p:spPr>
          <a:xfrm>
            <a:off x="7838237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2583"/>
          <p:cNvSpPr/>
          <p:nvPr/>
        </p:nvSpPr>
        <p:spPr>
          <a:xfrm>
            <a:off x="8158277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2584"/>
          <p:cNvSpPr txBox="1"/>
          <p:nvPr/>
        </p:nvSpPr>
        <p:spPr>
          <a:xfrm>
            <a:off x="8322869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2585"/>
          <p:cNvSpPr txBox="1"/>
          <p:nvPr/>
        </p:nvSpPr>
        <p:spPr>
          <a:xfrm>
            <a:off x="8322869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Modify</a:t>
            </a:r>
            <a:endParaRPr lang="en-US" sz="1450" dirty="0"/>
          </a:p>
        </p:txBody>
      </p:sp>
      <p:sp>
        <p:nvSpPr>
          <p:cNvPr id="30" name="bld5_2586"/>
          <p:cNvSpPr txBox="1"/>
          <p:nvPr/>
        </p:nvSpPr>
        <p:spPr>
          <a:xfrm>
            <a:off x="8322869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thing.</a:t>
            </a:r>
            <a:endParaRPr lang="en-US" sz="1000" dirty="0"/>
          </a:p>
        </p:txBody>
      </p:sp>
      <p:sp>
        <p:nvSpPr>
          <p:cNvPr id="31" name="bld5_2587"/>
          <p:cNvSpPr txBox="1"/>
          <p:nvPr/>
        </p:nvSpPr>
        <p:spPr>
          <a:xfrm>
            <a:off x="974064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bld6_2588"/>
          <p:cNvSpPr/>
          <p:nvPr/>
        </p:nvSpPr>
        <p:spPr>
          <a:xfrm>
            <a:off x="10060686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2589"/>
          <p:cNvSpPr txBox="1"/>
          <p:nvPr/>
        </p:nvSpPr>
        <p:spPr>
          <a:xfrm>
            <a:off x="1022527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bld6_2590"/>
          <p:cNvSpPr txBox="1"/>
          <p:nvPr/>
        </p:nvSpPr>
        <p:spPr>
          <a:xfrm>
            <a:off x="10225278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</a:t>
            </a:r>
            <a:endParaRPr lang="en-US" sz="1450" dirty="0"/>
          </a:p>
        </p:txBody>
      </p:sp>
      <p:sp>
        <p:nvSpPr>
          <p:cNvPr id="35" name="bld6_2591"/>
          <p:cNvSpPr txBox="1"/>
          <p:nvPr/>
        </p:nvSpPr>
        <p:spPr>
          <a:xfrm>
            <a:off x="10225278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the next version.</a:t>
            </a:r>
            <a:endParaRPr lang="en-US" sz="1000" dirty="0"/>
          </a:p>
        </p:txBody>
      </p:sp>
      <p:sp>
        <p:nvSpPr>
          <p:cNvPr id="37" name="trans_push_l_15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73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DISCIPLINE, NOT GUESSWORK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Changing formulas the right way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"If something feels off, just add a bit of everything and see if it improves."</a:t>
            </a:r>
            <a:endParaRPr lang="en-US" sz="2100" dirty="0"/>
          </a:p>
        </p:txBody>
      </p:sp>
      <p:sp>
        <p:nvSpPr>
          <p:cNvPr id="10" name="bld1_2592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2593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2594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Random, simultaneous changes destroy your ability to learn anything — if three things change and the formula improves, you'll never know which one mattered. Identify the specific issue, change exactly one variable, and re-evaluate before touching anything else.</a:t>
            </a:r>
            <a:endParaRPr lang="en-US" sz="1450" dirty="0"/>
          </a:p>
        </p:txBody>
      </p:sp>
      <p:sp>
        <p:nvSpPr>
          <p:cNvPr id="14" name="trans_wipe_l_15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version is a data point, not a verdict.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across 48 hours before you judge.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08</a:t>
            </a:r>
            <a:endParaRPr lang="en-US" sz="1100" dirty="0"/>
          </a:p>
        </p:txBody>
      </p:sp>
      <p:sp>
        <p:nvSpPr>
          <p:cNvPr id="10" name="trans_fade_16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06227" y="2096719"/>
            <a:ext cx="321466" cy="746077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6354" y="2629632"/>
            <a:ext cx="1461211" cy="213164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70148" y="3482291"/>
            <a:ext cx="993624" cy="1225698"/>
          </a:xfrm>
          <a:prstGeom prst="triangle">
            <a:avLst/>
          </a:prstGeom>
          <a:solidFill>
            <a:srgbClr val="B5652D">
              <a:alpha val="9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09 · ALCOHOL &amp; COMPOUNDING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Alcohol, Scaling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Compounding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 finished concentrate into a real, wearable perfume.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 vs. everyday alcohol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a formula up from a small test batch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Compounding, bottling and labelling basics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21" name="trans_fade_16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A FORMULA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percentages, at any batch size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95454" y="4778792"/>
            <a:ext cx="1460021" cy="1460021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97656" y="4880994"/>
            <a:ext cx="1255618" cy="125561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52464" y="5435802"/>
            <a:ext cx="146002" cy="14600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595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596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2597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10g batch</a:t>
            </a:r>
            <a:endParaRPr lang="en-US" sz="1450" dirty="0"/>
          </a:p>
        </p:txBody>
      </p:sp>
      <p:sp>
        <p:nvSpPr>
          <p:cNvPr id="24" name="bld1_2598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cheap testing size — ideal for early versions.</a:t>
            </a:r>
            <a:endParaRPr lang="en-US" sz="1080" dirty="0"/>
          </a:p>
        </p:txBody>
      </p:sp>
      <p:sp>
        <p:nvSpPr>
          <p:cNvPr id="25" name="bld2_2599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600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2_2601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100g batch</a:t>
            </a:r>
            <a:endParaRPr lang="en-US" sz="1450" dirty="0"/>
          </a:p>
        </p:txBody>
      </p:sp>
      <p:sp>
        <p:nvSpPr>
          <p:cNvPr id="28" name="bld2_2602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comfortable size for refined, near-final formulas.</a:t>
            </a:r>
            <a:endParaRPr lang="en-US" sz="1080" dirty="0"/>
          </a:p>
        </p:txBody>
      </p:sp>
      <p:sp>
        <p:nvSpPr>
          <p:cNvPr id="29" name="bld3_2603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604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2605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1kg batch</a:t>
            </a:r>
            <a:endParaRPr lang="en-US" sz="1450" dirty="0"/>
          </a:p>
        </p:txBody>
      </p:sp>
      <p:sp>
        <p:nvSpPr>
          <p:cNvPr id="32" name="bld3_2606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scale — once the formula is truly locked.</a:t>
            </a:r>
            <a:endParaRPr lang="en-US" sz="1080" dirty="0"/>
          </a:p>
        </p:txBody>
      </p:sp>
      <p:sp>
        <p:nvSpPr>
          <p:cNvPr id="34" name="trans_fade_16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ALCOHOL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Concentrate + perfumer's alcohol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Eau de Parfum ratio, expressed simply.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326770"/>
            <a:ext cx="221888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326770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3326770"/>
            <a:ext cx="8875532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3326770"/>
            <a:ext cx="88755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100" dirty="0"/>
          </a:p>
        </p:txBody>
      </p:sp>
      <p:sp>
        <p:nvSpPr>
          <p:cNvPr id="12" name="bld1_2607"/>
          <p:cNvSpPr/>
          <p:nvPr/>
        </p:nvSpPr>
        <p:spPr>
          <a:xfrm>
            <a:off x="566928" y="4369186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1_2608"/>
          <p:cNvSpPr txBox="1"/>
          <p:nvPr/>
        </p:nvSpPr>
        <p:spPr>
          <a:xfrm>
            <a:off x="841248" y="428689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 concentrate  —  20%</a:t>
            </a:r>
            <a:endParaRPr lang="en-US" sz="1250" dirty="0"/>
          </a:p>
        </p:txBody>
      </p:sp>
      <p:sp>
        <p:nvSpPr>
          <p:cNvPr id="14" name="bld1_2609"/>
          <p:cNvSpPr txBox="1"/>
          <p:nvPr/>
        </p:nvSpPr>
        <p:spPr>
          <a:xfrm>
            <a:off x="841248" y="456121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finished formula</a:t>
            </a:r>
            <a:endParaRPr lang="en-US" sz="1000" dirty="0"/>
          </a:p>
        </p:txBody>
      </p:sp>
      <p:sp>
        <p:nvSpPr>
          <p:cNvPr id="15" name="bld2_2610"/>
          <p:cNvSpPr/>
          <p:nvPr/>
        </p:nvSpPr>
        <p:spPr>
          <a:xfrm>
            <a:off x="6297016" y="4369186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6" name="bld2_2611"/>
          <p:cNvSpPr txBox="1"/>
          <p:nvPr/>
        </p:nvSpPr>
        <p:spPr>
          <a:xfrm>
            <a:off x="6571336" y="428689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  —  80%</a:t>
            </a:r>
            <a:endParaRPr lang="en-US" sz="1250" dirty="0"/>
          </a:p>
        </p:txBody>
      </p:sp>
      <p:sp>
        <p:nvSpPr>
          <p:cNvPr id="17" name="bld2_2612"/>
          <p:cNvSpPr txBox="1"/>
          <p:nvPr/>
        </p:nvSpPr>
        <p:spPr>
          <a:xfrm>
            <a:off x="6571336" y="456121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carrier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631375" y="294272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20" name="trans_push_l_16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WITH CARE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Water in a perfume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81756" y="1355141"/>
            <a:ext cx="331903" cy="1161361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93382" y="2184684"/>
            <a:ext cx="1508650" cy="3318175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34767" y="3511954"/>
            <a:ext cx="1025882" cy="1907950"/>
          </a:xfrm>
          <a:prstGeom prst="triangle">
            <a:avLst/>
          </a:prstGeom>
          <a:solidFill>
            <a:srgbClr val="CFC5AE">
              <a:alpha val="90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is a signal — always check your finished compound in good light.</a:t>
            </a:r>
            <a:endParaRPr lang="en-US" sz="1050" dirty="0"/>
          </a:p>
        </p:txBody>
      </p:sp>
      <p:sp>
        <p:nvSpPr>
          <p:cNvPr id="14" name="bld1_261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261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water is sometimes used</a:t>
            </a:r>
            <a:endParaRPr lang="en-US" sz="1650" dirty="0"/>
          </a:p>
        </p:txBody>
      </p:sp>
      <p:sp>
        <p:nvSpPr>
          <p:cNvPr id="16" name="bld1_2615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amount can soften alcohol's harshness and slightly adjust the final feel.</a:t>
            </a:r>
            <a:endParaRPr lang="en-US" sz="1250" dirty="0"/>
          </a:p>
        </p:txBody>
      </p:sp>
      <p:sp>
        <p:nvSpPr>
          <p:cNvPr id="17" name="bld2_2616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2_2617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excess water is risky</a:t>
            </a:r>
            <a:endParaRPr lang="en-US" sz="1650" dirty="0"/>
          </a:p>
        </p:txBody>
      </p:sp>
      <p:sp>
        <p:nvSpPr>
          <p:cNvPr id="19" name="bld2_2618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materials are not water-soluble — too much water can push them out of solution.</a:t>
            </a:r>
            <a:endParaRPr lang="en-US" sz="1250" dirty="0"/>
          </a:p>
        </p:txBody>
      </p:sp>
      <p:sp>
        <p:nvSpPr>
          <p:cNvPr id="20" name="bld3_2619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3_2620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Cloudiness is a warning sign</a:t>
            </a:r>
            <a:endParaRPr lang="en-US" sz="1650" dirty="0"/>
          </a:p>
        </p:txBody>
      </p:sp>
      <p:sp>
        <p:nvSpPr>
          <p:cNvPr id="22" name="bld3_2621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cloudy or hazy compound usually means something has fallen out of solution.</a:t>
            </a:r>
            <a:endParaRPr lang="en-US" sz="1250" dirty="0"/>
          </a:p>
        </p:txBody>
      </p:sp>
      <p:sp>
        <p:nvSpPr>
          <p:cNvPr id="23" name="bld4_2622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4_2623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Stability over time</a:t>
            </a:r>
            <a:endParaRPr lang="en-US" sz="1650" dirty="0"/>
          </a:p>
        </p:txBody>
      </p:sp>
      <p:sp>
        <p:nvSpPr>
          <p:cNvPr id="25" name="bld4_2624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that looks clear today can still separate weeks later if the balance is wrong.</a:t>
            </a:r>
            <a:endParaRPr lang="en-US" sz="1250" dirty="0"/>
          </a:p>
        </p:txBody>
      </p:sp>
      <p:sp>
        <p:nvSpPr>
          <p:cNvPr id="27" name="trans_fade_16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PROTECTING THE FORMULA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Antioxidants — used thoughtfully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36751" y="1518043"/>
            <a:ext cx="3821914" cy="3821914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3026693"/>
            <a:ext cx="905190" cy="40230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52898" y="3026693"/>
            <a:ext cx="905190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452898" y="3529577"/>
            <a:ext cx="905190" cy="80461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44247" y="4334190"/>
            <a:ext cx="1508650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944247" y="3429000"/>
            <a:ext cx="603460" cy="9051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41364" y="2926117"/>
            <a:ext cx="1106344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86785" y="3268077"/>
            <a:ext cx="321845" cy="321845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337235" y="2911030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242425" y="341391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37235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28584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25701" y="281045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targeted tool for specific oxidation-sensitive materials — not a blanket additive.</a:t>
            </a:r>
            <a:endParaRPr lang="en-US" sz="1050" dirty="0"/>
          </a:p>
        </p:txBody>
      </p:sp>
      <p:sp>
        <p:nvSpPr>
          <p:cNvPr id="24" name="bld1_262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bld1_262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oxidation happens</a:t>
            </a:r>
            <a:endParaRPr lang="en-US" sz="1650" dirty="0"/>
          </a:p>
        </p:txBody>
      </p:sp>
      <p:sp>
        <p:nvSpPr>
          <p:cNvPr id="26" name="bld1_2627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air and time can degrade certain materials, shifting or dulling their smell.</a:t>
            </a:r>
            <a:endParaRPr lang="en-US" sz="1250" dirty="0"/>
          </a:p>
        </p:txBody>
      </p:sp>
      <p:sp>
        <p:nvSpPr>
          <p:cNvPr id="27" name="bld2_2628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8" name="bld2_2629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materials are sensitive</a:t>
            </a:r>
            <a:endParaRPr lang="en-US" sz="1650" dirty="0"/>
          </a:p>
        </p:txBody>
      </p:sp>
      <p:sp>
        <p:nvSpPr>
          <p:cNvPr id="29" name="bld2_2630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oils and many naturals rich in terpenes oxidise fastest.</a:t>
            </a:r>
            <a:endParaRPr lang="en-US" sz="1250" dirty="0"/>
          </a:p>
        </p:txBody>
      </p:sp>
      <p:sp>
        <p:nvSpPr>
          <p:cNvPr id="30" name="bld3_2631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1" name="bld3_2632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BHT and similar antioxidants</a:t>
            </a:r>
            <a:endParaRPr lang="en-US" sz="1650" dirty="0"/>
          </a:p>
        </p:txBody>
      </p:sp>
      <p:sp>
        <p:nvSpPr>
          <p:cNvPr id="32" name="bld3_2633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doses can meaningfully slow this degradation in vulnerable formulas.</a:t>
            </a:r>
            <a:endParaRPr lang="en-US" sz="1250" dirty="0"/>
          </a:p>
        </p:txBody>
      </p:sp>
      <p:sp>
        <p:nvSpPr>
          <p:cNvPr id="33" name="bld4_2634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4" name="bld4_2635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add it blindly</a:t>
            </a:r>
            <a:endParaRPr lang="en-US" sz="1650" dirty="0"/>
          </a:p>
        </p:txBody>
      </p:sp>
      <p:sp>
        <p:nvSpPr>
          <p:cNvPr id="35" name="bld4_2636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formula needs an antioxidant — add it deliberately, for a specific material at risk, not as a default habit.</a:t>
            </a:r>
            <a:endParaRPr lang="en-US" sz="1250" dirty="0"/>
          </a:p>
        </p:txBody>
      </p:sp>
      <p:sp>
        <p:nvSpPr>
          <p:cNvPr id="37" name="trans_fade_16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PROFESSIONAL WORKFLOW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compounding process</a:t>
            </a:r>
            <a:endParaRPr lang="en-US" sz="3200" dirty="0"/>
          </a:p>
        </p:txBody>
      </p:sp>
      <p:sp>
        <p:nvSpPr>
          <p:cNvPr id="7" name="bld1_2637"/>
          <p:cNvSpPr/>
          <p:nvPr/>
        </p:nvSpPr>
        <p:spPr>
          <a:xfrm>
            <a:off x="548640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638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639"/>
          <p:cNvSpPr txBox="1"/>
          <p:nvPr/>
        </p:nvSpPr>
        <p:spPr>
          <a:xfrm>
            <a:off x="713232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</a:t>
            </a:r>
            <a:endParaRPr lang="en-US" sz="1450" dirty="0"/>
          </a:p>
        </p:txBody>
      </p:sp>
      <p:sp>
        <p:nvSpPr>
          <p:cNvPr id="10" name="bld1_2640"/>
          <p:cNvSpPr txBox="1"/>
          <p:nvPr/>
        </p:nvSpPr>
        <p:spPr>
          <a:xfrm>
            <a:off x="713232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formula sheet.</a:t>
            </a:r>
            <a:endParaRPr lang="en-US" sz="1000" dirty="0"/>
          </a:p>
        </p:txBody>
      </p:sp>
      <p:sp>
        <p:nvSpPr>
          <p:cNvPr id="11" name="bld1_2641"/>
          <p:cNvSpPr txBox="1"/>
          <p:nvPr/>
        </p:nvSpPr>
        <p:spPr>
          <a:xfrm>
            <a:off x="185923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642"/>
          <p:cNvSpPr/>
          <p:nvPr/>
        </p:nvSpPr>
        <p:spPr>
          <a:xfrm>
            <a:off x="2179276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643"/>
          <p:cNvSpPr txBox="1"/>
          <p:nvPr/>
        </p:nvSpPr>
        <p:spPr>
          <a:xfrm>
            <a:off x="234386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644"/>
          <p:cNvSpPr txBox="1"/>
          <p:nvPr/>
        </p:nvSpPr>
        <p:spPr>
          <a:xfrm>
            <a:off x="2343868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</a:t>
            </a:r>
            <a:endParaRPr lang="en-US" sz="1450" dirty="0"/>
          </a:p>
        </p:txBody>
      </p:sp>
      <p:sp>
        <p:nvSpPr>
          <p:cNvPr id="15" name="bld2_2645"/>
          <p:cNvSpPr txBox="1"/>
          <p:nvPr/>
        </p:nvSpPr>
        <p:spPr>
          <a:xfrm>
            <a:off x="2343868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gently.</a:t>
            </a:r>
            <a:endParaRPr lang="en-US" sz="1000" dirty="0"/>
          </a:p>
        </p:txBody>
      </p:sp>
      <p:sp>
        <p:nvSpPr>
          <p:cNvPr id="16" name="bld2_2646"/>
          <p:cNvSpPr txBox="1"/>
          <p:nvPr/>
        </p:nvSpPr>
        <p:spPr>
          <a:xfrm>
            <a:off x="3489873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647"/>
          <p:cNvSpPr/>
          <p:nvPr/>
        </p:nvSpPr>
        <p:spPr>
          <a:xfrm>
            <a:off x="3809913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648"/>
          <p:cNvSpPr txBox="1"/>
          <p:nvPr/>
        </p:nvSpPr>
        <p:spPr>
          <a:xfrm>
            <a:off x="3974505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649"/>
          <p:cNvSpPr txBox="1"/>
          <p:nvPr/>
        </p:nvSpPr>
        <p:spPr>
          <a:xfrm>
            <a:off x="3974505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</a:t>
            </a:r>
            <a:endParaRPr lang="en-US" sz="1450" dirty="0"/>
          </a:p>
        </p:txBody>
      </p:sp>
      <p:sp>
        <p:nvSpPr>
          <p:cNvPr id="20" name="bld3_2650"/>
          <p:cNvSpPr txBox="1"/>
          <p:nvPr/>
        </p:nvSpPr>
        <p:spPr>
          <a:xfrm>
            <a:off x="3974505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it settle.</a:t>
            </a:r>
            <a:endParaRPr lang="en-US" sz="1000" dirty="0"/>
          </a:p>
        </p:txBody>
      </p:sp>
      <p:sp>
        <p:nvSpPr>
          <p:cNvPr id="21" name="bld3_2651"/>
          <p:cNvSpPr txBox="1"/>
          <p:nvPr/>
        </p:nvSpPr>
        <p:spPr>
          <a:xfrm>
            <a:off x="512050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652"/>
          <p:cNvSpPr/>
          <p:nvPr/>
        </p:nvSpPr>
        <p:spPr>
          <a:xfrm>
            <a:off x="5440549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653"/>
          <p:cNvSpPr txBox="1"/>
          <p:nvPr/>
        </p:nvSpPr>
        <p:spPr>
          <a:xfrm>
            <a:off x="560514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654"/>
          <p:cNvSpPr txBox="1"/>
          <p:nvPr/>
        </p:nvSpPr>
        <p:spPr>
          <a:xfrm>
            <a:off x="5605141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</a:t>
            </a:r>
            <a:endParaRPr lang="en-US" sz="1450" dirty="0"/>
          </a:p>
        </p:txBody>
      </p:sp>
      <p:sp>
        <p:nvSpPr>
          <p:cNvPr id="25" name="bld4_2655"/>
          <p:cNvSpPr txBox="1"/>
          <p:nvPr/>
        </p:nvSpPr>
        <p:spPr>
          <a:xfrm>
            <a:off x="5605141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alcohol.</a:t>
            </a:r>
            <a:endParaRPr lang="en-US" sz="1000" dirty="0"/>
          </a:p>
        </p:txBody>
      </p:sp>
      <p:sp>
        <p:nvSpPr>
          <p:cNvPr id="26" name="bld4_2656"/>
          <p:cNvSpPr txBox="1"/>
          <p:nvPr/>
        </p:nvSpPr>
        <p:spPr>
          <a:xfrm>
            <a:off x="675114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2657"/>
          <p:cNvSpPr/>
          <p:nvPr/>
        </p:nvSpPr>
        <p:spPr>
          <a:xfrm>
            <a:off x="7071186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2658"/>
          <p:cNvSpPr txBox="1"/>
          <p:nvPr/>
        </p:nvSpPr>
        <p:spPr>
          <a:xfrm>
            <a:off x="723577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2659"/>
          <p:cNvSpPr txBox="1"/>
          <p:nvPr/>
        </p:nvSpPr>
        <p:spPr>
          <a:xfrm>
            <a:off x="7235778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Macerate</a:t>
            </a:r>
            <a:endParaRPr lang="en-US" sz="1450" dirty="0"/>
          </a:p>
        </p:txBody>
      </p:sp>
      <p:sp>
        <p:nvSpPr>
          <p:cNvPr id="30" name="bld5_2660"/>
          <p:cNvSpPr txBox="1"/>
          <p:nvPr/>
        </p:nvSpPr>
        <p:spPr>
          <a:xfrm>
            <a:off x="7235778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 over time.</a:t>
            </a:r>
            <a:endParaRPr lang="en-US" sz="1000" dirty="0"/>
          </a:p>
        </p:txBody>
      </p:sp>
      <p:sp>
        <p:nvSpPr>
          <p:cNvPr id="31" name="bld5_2661"/>
          <p:cNvSpPr txBox="1"/>
          <p:nvPr/>
        </p:nvSpPr>
        <p:spPr>
          <a:xfrm>
            <a:off x="8381782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bld6_2662"/>
          <p:cNvSpPr/>
          <p:nvPr/>
        </p:nvSpPr>
        <p:spPr>
          <a:xfrm>
            <a:off x="8701822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2663"/>
          <p:cNvSpPr txBox="1"/>
          <p:nvPr/>
        </p:nvSpPr>
        <p:spPr>
          <a:xfrm>
            <a:off x="8866414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bld6_2664"/>
          <p:cNvSpPr txBox="1"/>
          <p:nvPr/>
        </p:nvSpPr>
        <p:spPr>
          <a:xfrm>
            <a:off x="8866414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</a:t>
            </a:r>
            <a:endParaRPr lang="en-US" sz="1450" dirty="0"/>
          </a:p>
        </p:txBody>
      </p:sp>
      <p:sp>
        <p:nvSpPr>
          <p:cNvPr id="35" name="bld6_2665"/>
          <p:cNvSpPr txBox="1"/>
          <p:nvPr/>
        </p:nvSpPr>
        <p:spPr>
          <a:xfrm>
            <a:off x="8866414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needed.</a:t>
            </a:r>
            <a:endParaRPr lang="en-US" sz="1000" dirty="0"/>
          </a:p>
        </p:txBody>
      </p:sp>
      <p:sp>
        <p:nvSpPr>
          <p:cNvPr id="36" name="bld6_2666"/>
          <p:cNvSpPr txBox="1"/>
          <p:nvPr/>
        </p:nvSpPr>
        <p:spPr>
          <a:xfrm>
            <a:off x="1001241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bld7_2667"/>
          <p:cNvSpPr/>
          <p:nvPr/>
        </p:nvSpPr>
        <p:spPr>
          <a:xfrm>
            <a:off x="10332459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bld7_2668"/>
          <p:cNvSpPr txBox="1"/>
          <p:nvPr/>
        </p:nvSpPr>
        <p:spPr>
          <a:xfrm>
            <a:off x="1049705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9" name="bld7_2669"/>
          <p:cNvSpPr txBox="1"/>
          <p:nvPr/>
        </p:nvSpPr>
        <p:spPr>
          <a:xfrm>
            <a:off x="10497051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</a:t>
            </a:r>
            <a:endParaRPr lang="en-US" sz="1450" dirty="0"/>
          </a:p>
        </p:txBody>
      </p:sp>
      <p:sp>
        <p:nvSpPr>
          <p:cNvPr id="40" name="bld7_2670"/>
          <p:cNvSpPr txBox="1"/>
          <p:nvPr/>
        </p:nvSpPr>
        <p:spPr>
          <a:xfrm>
            <a:off x="10497051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&amp; date.</a:t>
            </a:r>
            <a:endParaRPr lang="en-US" sz="1000" dirty="0"/>
          </a:p>
        </p:txBody>
      </p:sp>
      <p:sp>
        <p:nvSpPr>
          <p:cNvPr id="42" name="trans_push_l_16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85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isn't filler — treat its ratio, its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rest, and its grade with the same care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the concentrate.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09</a:t>
            </a:r>
            <a:endParaRPr lang="en-US" sz="1100" dirty="0"/>
          </a:p>
        </p:txBody>
      </p:sp>
      <p:sp>
        <p:nvSpPr>
          <p:cNvPr id="10" name="trans_fade_16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7059" y="1967789"/>
            <a:ext cx="359802" cy="292242"/>
          </a:xfrm>
          <a:prstGeom prst="roundRect">
            <a:avLst>
              <a:gd name="adj" fmla="val 12516"/>
            </a:avLst>
          </a:prstGeom>
          <a:solidFill>
            <a:srgbClr val="0E0D0B"/>
          </a:solidFill>
          <a:ln/>
        </p:spPr>
      </p:sp>
      <p:sp>
        <p:nvSpPr>
          <p:cNvPr id="6" name="Shape 4"/>
          <p:cNvSpPr/>
          <p:nvPr/>
        </p:nvSpPr>
        <p:spPr>
          <a:xfrm>
            <a:off x="9810524" y="2260031"/>
            <a:ext cx="312871" cy="467588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727619"/>
            <a:ext cx="1117397" cy="2162593"/>
          </a:xfrm>
          <a:prstGeom prst="roundRect">
            <a:avLst>
              <a:gd name="adj" fmla="val 9820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44838" y="3592656"/>
            <a:ext cx="1044245" cy="1260980"/>
          </a:xfrm>
          <a:prstGeom prst="roundRect">
            <a:avLst>
              <a:gd name="adj" fmla="val 8757"/>
            </a:avLst>
          </a:prstGeom>
          <a:solidFill>
            <a:srgbClr val="5B3A52">
              <a:alpha val="9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· MATURATION &amp; MACERATION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Perfume Needs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To Rest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happens to a compound after it's bottled — and what doesn't.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maceration changes a formula's character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to wait, and how to tell it's ready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conditions that protect — or ruin — a batch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22" name="trans_fade_16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OVER 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real effects of maceration</a:t>
            </a:r>
            <a:endParaRPr lang="en-US" sz="3200" dirty="0"/>
          </a:p>
        </p:txBody>
      </p:sp>
      <p:sp>
        <p:nvSpPr>
          <p:cNvPr id="7" name="bld1_2671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672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673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</a:t>
            </a:r>
            <a:endParaRPr lang="en-US" sz="1450" dirty="0"/>
          </a:p>
        </p:txBody>
      </p:sp>
      <p:sp>
        <p:nvSpPr>
          <p:cNvPr id="10" name="bld1_2674"/>
          <p:cNvSpPr txBox="1"/>
          <p:nvPr/>
        </p:nvSpPr>
        <p:spPr>
          <a:xfrm>
            <a:off x="731520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blend and round together.</a:t>
            </a:r>
            <a:endParaRPr lang="en-US" sz="1080" dirty="0"/>
          </a:p>
        </p:txBody>
      </p:sp>
      <p:sp>
        <p:nvSpPr>
          <p:cNvPr id="11" name="bld2_2675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676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677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Softer alcohol</a:t>
            </a:r>
            <a:endParaRPr lang="en-US" sz="1450" dirty="0"/>
          </a:p>
        </p:txBody>
      </p:sp>
      <p:sp>
        <p:nvSpPr>
          <p:cNvPr id="14" name="bld2_2678"/>
          <p:cNvSpPr txBox="1"/>
          <p:nvPr/>
        </p:nvSpPr>
        <p:spPr>
          <a:xfrm>
            <a:off x="3569132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sharp alcohol bite fades.</a:t>
            </a:r>
            <a:endParaRPr lang="en-US" sz="1080" dirty="0"/>
          </a:p>
        </p:txBody>
      </p:sp>
      <p:sp>
        <p:nvSpPr>
          <p:cNvPr id="15" name="bld3_2679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680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681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Perceived smoothing</a:t>
            </a:r>
            <a:endParaRPr lang="en-US" sz="1450" dirty="0"/>
          </a:p>
        </p:txBody>
      </p:sp>
      <p:sp>
        <p:nvSpPr>
          <p:cNvPr id="18" name="bld3_2682"/>
          <p:cNvSpPr txBox="1"/>
          <p:nvPr/>
        </p:nvSpPr>
        <p:spPr>
          <a:xfrm>
            <a:off x="6406744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 edges settle down.</a:t>
            </a:r>
            <a:endParaRPr lang="en-US" sz="1080" dirty="0"/>
          </a:p>
        </p:txBody>
      </p:sp>
      <p:sp>
        <p:nvSpPr>
          <p:cNvPr id="19" name="bld4_2683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684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2685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Top-note development</a:t>
            </a:r>
            <a:endParaRPr lang="en-US" sz="1450" dirty="0"/>
          </a:p>
        </p:txBody>
      </p:sp>
      <p:sp>
        <p:nvSpPr>
          <p:cNvPr id="22" name="bld4_2686"/>
          <p:cNvSpPr txBox="1"/>
          <p:nvPr/>
        </p:nvSpPr>
        <p:spPr>
          <a:xfrm>
            <a:off x="9244355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notes can shift slightly.</a:t>
            </a:r>
            <a:endParaRPr lang="en-US" sz="1080" dirty="0"/>
          </a:p>
        </p:txBody>
      </p:sp>
      <p:sp>
        <p:nvSpPr>
          <p:cNvPr id="23" name="bld5_2687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688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2689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Solubility</a:t>
            </a:r>
            <a:endParaRPr lang="en-US" sz="1450" dirty="0"/>
          </a:p>
        </p:txBody>
      </p:sp>
      <p:sp>
        <p:nvSpPr>
          <p:cNvPr id="26" name="bld5_2690"/>
          <p:cNvSpPr txBox="1"/>
          <p:nvPr/>
        </p:nvSpPr>
        <p:spPr>
          <a:xfrm>
            <a:off x="731520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fully dissolve into solution.</a:t>
            </a:r>
            <a:endParaRPr lang="en-US" sz="1080" dirty="0"/>
          </a:p>
        </p:txBody>
      </p:sp>
      <p:sp>
        <p:nvSpPr>
          <p:cNvPr id="27" name="bld6_2691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692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693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changes</a:t>
            </a:r>
            <a:endParaRPr lang="en-US" sz="1450" dirty="0"/>
          </a:p>
        </p:txBody>
      </p:sp>
      <p:sp>
        <p:nvSpPr>
          <p:cNvPr id="30" name="bld6_2694"/>
          <p:cNvSpPr txBox="1"/>
          <p:nvPr/>
        </p:nvSpPr>
        <p:spPr>
          <a:xfrm>
            <a:off x="3569132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formulas darken with age.</a:t>
            </a:r>
            <a:endParaRPr lang="en-US" sz="1080" dirty="0"/>
          </a:p>
        </p:txBody>
      </p:sp>
      <p:sp>
        <p:nvSpPr>
          <p:cNvPr id="31" name="bld7_2695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2696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33" name="bld7_2697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Oxidation</a:t>
            </a:r>
            <a:endParaRPr lang="en-US" sz="1450" dirty="0"/>
          </a:p>
        </p:txBody>
      </p:sp>
      <p:sp>
        <p:nvSpPr>
          <p:cNvPr id="34" name="bld7_2698"/>
          <p:cNvSpPr txBox="1"/>
          <p:nvPr/>
        </p:nvSpPr>
        <p:spPr>
          <a:xfrm>
            <a:off x="6406744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chemical change, for better or worse.</a:t>
            </a:r>
            <a:endParaRPr lang="en-US" sz="1080" dirty="0"/>
          </a:p>
        </p:txBody>
      </p:sp>
      <p:sp>
        <p:nvSpPr>
          <p:cNvPr id="35" name="bld8_2699"/>
          <p:cNvSpPr/>
          <p:nvPr/>
        </p:nvSpPr>
        <p:spPr>
          <a:xfrm>
            <a:off x="9061475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2700"/>
          <p:cNvSpPr/>
          <p:nvPr/>
        </p:nvSpPr>
        <p:spPr>
          <a:xfrm>
            <a:off x="9235211" y="4135283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7" name="bld8_2701"/>
          <p:cNvSpPr txBox="1"/>
          <p:nvPr/>
        </p:nvSpPr>
        <p:spPr>
          <a:xfrm>
            <a:off x="9244355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Precipitation</a:t>
            </a:r>
            <a:endParaRPr lang="en-US" sz="1450" dirty="0"/>
          </a:p>
        </p:txBody>
      </p:sp>
      <p:sp>
        <p:nvSpPr>
          <p:cNvPr id="38" name="bld8_2702"/>
          <p:cNvSpPr txBox="1"/>
          <p:nvPr/>
        </p:nvSpPr>
        <p:spPr>
          <a:xfrm>
            <a:off x="9244355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insoluble can settle out.</a:t>
            </a:r>
            <a:endParaRPr lang="en-US" sz="1080" dirty="0"/>
          </a:p>
        </p:txBody>
      </p:sp>
      <p:sp>
        <p:nvSpPr>
          <p:cNvPr id="40" name="trans_fade_16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SCIENCE, BRIEFLY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same liquid smells different later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77504" y="1358797"/>
            <a:ext cx="4140407" cy="4140407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93168"/>
            <a:ext cx="980623" cy="4358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8330" y="2993168"/>
            <a:ext cx="980623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528330" y="3537958"/>
            <a:ext cx="980623" cy="871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93959" y="4409623"/>
            <a:ext cx="1634371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893959" y="3429000"/>
            <a:ext cx="653748" cy="98062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49169" y="2884210"/>
            <a:ext cx="1198539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73375" y="3254667"/>
            <a:ext cx="348666" cy="34866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03028" y="286786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383651" y="341265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03028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68657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3867" y="2758908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slow, ordinary process — not an unpredictable transformation.</a:t>
            </a:r>
            <a:endParaRPr lang="en-US" sz="1050" dirty="0"/>
          </a:p>
        </p:txBody>
      </p:sp>
      <p:sp>
        <p:nvSpPr>
          <p:cNvPr id="24" name="bld1_270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1_270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Molecules keep interacting</a:t>
            </a:r>
            <a:endParaRPr lang="en-US" sz="1650" dirty="0"/>
          </a:p>
        </p:txBody>
      </p:sp>
      <p:sp>
        <p:nvSpPr>
          <p:cNvPr id="26" name="bld1_2705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continue to associate and rearrange in solution long after mixing.</a:t>
            </a:r>
            <a:endParaRPr lang="en-US" sz="1250" dirty="0"/>
          </a:p>
        </p:txBody>
      </p:sp>
      <p:sp>
        <p:nvSpPr>
          <p:cNvPr id="27" name="bld2_2706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2_2707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needs time to settle</a:t>
            </a:r>
            <a:endParaRPr lang="en-US" sz="1650" dirty="0"/>
          </a:p>
        </p:txBody>
      </p:sp>
      <p:sp>
        <p:nvSpPr>
          <p:cNvPr id="29" name="bld2_2708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alcohol reads sharp and hot — that fades measurably within days.</a:t>
            </a:r>
            <a:endParaRPr lang="en-US" sz="1250" dirty="0"/>
          </a:p>
        </p:txBody>
      </p:sp>
      <p:sp>
        <p:nvSpPr>
          <p:cNvPr id="30" name="bld3_2709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31" name="bld3_2710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mysterious is happening</a:t>
            </a:r>
            <a:endParaRPr lang="en-US" sz="1650" dirty="0"/>
          </a:p>
        </p:txBody>
      </p:sp>
      <p:sp>
        <p:nvSpPr>
          <p:cNvPr id="32" name="bld3_2711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slow, ordinary physical chemistry — not magic, and it's predictable enough to plan around.</a:t>
            </a:r>
            <a:endParaRPr lang="en-US" sz="1250" dirty="0"/>
          </a:p>
        </p:txBody>
      </p:sp>
      <p:sp>
        <p:nvSpPr>
          <p:cNvPr id="34" name="trans_fade_17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smell shifts, over weeks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2712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2713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0" name="bld1_2714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</a:t>
            </a:r>
            <a:endParaRPr lang="en-US" sz="1200" dirty="0"/>
          </a:p>
        </p:txBody>
      </p:sp>
      <p:sp>
        <p:nvSpPr>
          <p:cNvPr id="11" name="bld1_2715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hot, unintegrated</a:t>
            </a:r>
            <a:endParaRPr lang="en-US" sz="1050" dirty="0"/>
          </a:p>
        </p:txBody>
      </p:sp>
      <p:sp>
        <p:nvSpPr>
          <p:cNvPr id="12" name="bld2_2716"/>
          <p:cNvSpPr/>
          <p:nvPr/>
        </p:nvSpPr>
        <p:spPr>
          <a:xfrm>
            <a:off x="3377108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3" name="bld2_2717"/>
          <p:cNvSpPr/>
          <p:nvPr/>
        </p:nvSpPr>
        <p:spPr>
          <a:xfrm>
            <a:off x="3294812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14" name="bld2_2718"/>
          <p:cNvSpPr txBox="1"/>
          <p:nvPr/>
        </p:nvSpPr>
        <p:spPr>
          <a:xfrm>
            <a:off x="2682164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15" name="bld2_2719"/>
          <p:cNvSpPr txBox="1"/>
          <p:nvPr/>
        </p:nvSpPr>
        <p:spPr>
          <a:xfrm>
            <a:off x="2682164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bite softening</a:t>
            </a:r>
            <a:endParaRPr lang="en-US" sz="1050" dirty="0"/>
          </a:p>
        </p:txBody>
      </p:sp>
      <p:sp>
        <p:nvSpPr>
          <p:cNvPr id="16" name="bld3_2720"/>
          <p:cNvSpPr/>
          <p:nvPr/>
        </p:nvSpPr>
        <p:spPr>
          <a:xfrm>
            <a:off x="6013552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7" name="bld3_2721"/>
          <p:cNvSpPr/>
          <p:nvPr/>
        </p:nvSpPr>
        <p:spPr>
          <a:xfrm>
            <a:off x="5931256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8" name="bld3_2722"/>
          <p:cNvSpPr txBox="1"/>
          <p:nvPr/>
        </p:nvSpPr>
        <p:spPr>
          <a:xfrm>
            <a:off x="5318608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week</a:t>
            </a:r>
            <a:endParaRPr lang="en-US" sz="1200" dirty="0"/>
          </a:p>
        </p:txBody>
      </p:sp>
      <p:sp>
        <p:nvSpPr>
          <p:cNvPr id="19" name="bld3_2723"/>
          <p:cNvSpPr txBox="1"/>
          <p:nvPr/>
        </p:nvSpPr>
        <p:spPr>
          <a:xfrm>
            <a:off x="5318608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Noticeably smoother</a:t>
            </a:r>
            <a:endParaRPr lang="en-US" sz="1050" dirty="0"/>
          </a:p>
        </p:txBody>
      </p:sp>
      <p:sp>
        <p:nvSpPr>
          <p:cNvPr id="20" name="bld4_2724"/>
          <p:cNvSpPr/>
          <p:nvPr/>
        </p:nvSpPr>
        <p:spPr>
          <a:xfrm>
            <a:off x="8649995" y="357530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1" name="bld4_2725"/>
          <p:cNvSpPr/>
          <p:nvPr/>
        </p:nvSpPr>
        <p:spPr>
          <a:xfrm>
            <a:off x="8567699" y="3493008"/>
            <a:ext cx="329184" cy="329184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22" name="bld4_2726"/>
          <p:cNvSpPr txBox="1"/>
          <p:nvPr/>
        </p:nvSpPr>
        <p:spPr>
          <a:xfrm>
            <a:off x="7955051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</a:t>
            </a:r>
            <a:endParaRPr lang="en-US" sz="1200" dirty="0"/>
          </a:p>
        </p:txBody>
      </p:sp>
      <p:sp>
        <p:nvSpPr>
          <p:cNvPr id="23" name="bld4_2727"/>
          <p:cNvSpPr txBox="1"/>
          <p:nvPr/>
        </p:nvSpPr>
        <p:spPr>
          <a:xfrm>
            <a:off x="7955051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integrated</a:t>
            </a:r>
            <a:endParaRPr lang="en-US" sz="1050" dirty="0"/>
          </a:p>
        </p:txBody>
      </p:sp>
      <p:sp>
        <p:nvSpPr>
          <p:cNvPr id="24" name="bld5_2728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5" name="bld5_2729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6" name="bld5_2730"/>
          <p:cNvSpPr txBox="1"/>
          <p:nvPr/>
        </p:nvSpPr>
        <p:spPr>
          <a:xfrm>
            <a:off x="10591495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</a:t>
            </a:r>
            <a:endParaRPr lang="en-US" sz="1200" dirty="0"/>
          </a:p>
        </p:txBody>
      </p:sp>
      <p:sp>
        <p:nvSpPr>
          <p:cNvPr id="27" name="bld5_2731"/>
          <p:cNvSpPr txBox="1"/>
          <p:nvPr/>
        </p:nvSpPr>
        <p:spPr>
          <a:xfrm>
            <a:off x="10591495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matured character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fresh compound gently — it hasn't finished becoming itself yet.</a:t>
            </a:r>
            <a:endParaRPr lang="en-US" sz="1250" dirty="0"/>
          </a:p>
        </p:txBody>
      </p:sp>
      <p:sp>
        <p:nvSpPr>
          <p:cNvPr id="30" name="trans_push_l_17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EXPECTATIONS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maceration cannot do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"Given enough time, maceration will fix a broken or unbalanced formula."</a:t>
            </a:r>
            <a:endParaRPr lang="en-US" sz="2100" dirty="0"/>
          </a:p>
        </p:txBody>
      </p:sp>
      <p:sp>
        <p:nvSpPr>
          <p:cNvPr id="10" name="bld1_2732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2733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2734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Maturation refines what's already structurally sound — it softens, integrates and rounds. It cannot rescue a formula with the wrong materials, wrong ratios, or a fundamentally broken idea. Fix the structure first; let time do the polishing, not the repairing.</a:t>
            </a:r>
            <a:endParaRPr lang="en-US" sz="1450" dirty="0"/>
          </a:p>
        </p:txBody>
      </p:sp>
      <p:sp>
        <p:nvSpPr>
          <p:cNvPr id="14" name="trans_wipe_l_17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PROTOCOL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simple maceration routine</a:t>
            </a:r>
            <a:endParaRPr lang="en-US" sz="3200" dirty="0"/>
          </a:p>
        </p:txBody>
      </p:sp>
      <p:sp>
        <p:nvSpPr>
          <p:cNvPr id="7" name="bld1_2735"/>
          <p:cNvSpPr txBox="1"/>
          <p:nvPr/>
        </p:nvSpPr>
        <p:spPr>
          <a:xfrm>
            <a:off x="548640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 STAGE</a:t>
            </a:r>
            <a:endParaRPr lang="en-US" sz="1250" dirty="0"/>
          </a:p>
        </p:txBody>
      </p:sp>
      <p:sp>
        <p:nvSpPr>
          <p:cNvPr id="8" name="bld1_2736"/>
          <p:cNvSpPr/>
          <p:nvPr/>
        </p:nvSpPr>
        <p:spPr>
          <a:xfrm>
            <a:off x="548640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bld1_2737"/>
          <p:cNvSpPr txBox="1"/>
          <p:nvPr/>
        </p:nvSpPr>
        <p:spPr>
          <a:xfrm>
            <a:off x="841248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the raw concentrate 24–48 hours</a:t>
            </a:r>
            <a:endParaRPr lang="en-US" sz="1200" dirty="0"/>
          </a:p>
        </p:txBody>
      </p:sp>
      <p:sp>
        <p:nvSpPr>
          <p:cNvPr id="10" name="bld1_2738"/>
          <p:cNvSpPr/>
          <p:nvPr/>
        </p:nvSpPr>
        <p:spPr>
          <a:xfrm>
            <a:off x="548640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bld1_2739"/>
          <p:cNvSpPr txBox="1"/>
          <p:nvPr/>
        </p:nvSpPr>
        <p:spPr>
          <a:xfrm>
            <a:off x="841248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clarity before diluting</a:t>
            </a:r>
            <a:endParaRPr lang="en-US" sz="1200" dirty="0"/>
          </a:p>
        </p:txBody>
      </p:sp>
      <p:sp>
        <p:nvSpPr>
          <p:cNvPr id="12" name="bld2_2740"/>
          <p:cNvSpPr txBox="1"/>
          <p:nvPr/>
        </p:nvSpPr>
        <p:spPr>
          <a:xfrm>
            <a:off x="4353458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STAGE</a:t>
            </a:r>
            <a:endParaRPr lang="en-US" sz="1250" dirty="0"/>
          </a:p>
        </p:txBody>
      </p:sp>
      <p:sp>
        <p:nvSpPr>
          <p:cNvPr id="13" name="bld2_2741"/>
          <p:cNvSpPr/>
          <p:nvPr/>
        </p:nvSpPr>
        <p:spPr>
          <a:xfrm>
            <a:off x="4353458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4" name="bld2_2742"/>
          <p:cNvSpPr txBox="1"/>
          <p:nvPr/>
        </p:nvSpPr>
        <p:spPr>
          <a:xfrm>
            <a:off x="4646066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Macerate 1–4 weeks in a cool, dark place</a:t>
            </a:r>
            <a:endParaRPr lang="en-US" sz="1200" dirty="0"/>
          </a:p>
        </p:txBody>
      </p:sp>
      <p:sp>
        <p:nvSpPr>
          <p:cNvPr id="15" name="bld2_2743"/>
          <p:cNvSpPr/>
          <p:nvPr/>
        </p:nvSpPr>
        <p:spPr>
          <a:xfrm>
            <a:off x="4353458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6" name="bld2_2744"/>
          <p:cNvSpPr txBox="1"/>
          <p:nvPr/>
        </p:nvSpPr>
        <p:spPr>
          <a:xfrm>
            <a:off x="4646066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 gently every few days</a:t>
            </a:r>
            <a:endParaRPr lang="en-US" sz="1200" dirty="0"/>
          </a:p>
        </p:txBody>
      </p:sp>
      <p:sp>
        <p:nvSpPr>
          <p:cNvPr id="17" name="bld3_2745"/>
          <p:cNvSpPr txBox="1"/>
          <p:nvPr/>
        </p:nvSpPr>
        <p:spPr>
          <a:xfrm>
            <a:off x="8158277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BOTTLING</a:t>
            </a:r>
            <a:endParaRPr lang="en-US" sz="1250" dirty="0"/>
          </a:p>
        </p:txBody>
      </p:sp>
      <p:sp>
        <p:nvSpPr>
          <p:cNvPr id="18" name="bld3_2746"/>
          <p:cNvSpPr/>
          <p:nvPr/>
        </p:nvSpPr>
        <p:spPr>
          <a:xfrm>
            <a:off x="8158277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19" name="bld3_2747"/>
          <p:cNvSpPr txBox="1"/>
          <p:nvPr/>
        </p:nvSpPr>
        <p:spPr>
          <a:xfrm>
            <a:off x="8450885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Re-evaluate on a fresh strip</a:t>
            </a:r>
            <a:endParaRPr lang="en-US" sz="1200" dirty="0"/>
          </a:p>
        </p:txBody>
      </p:sp>
      <p:sp>
        <p:nvSpPr>
          <p:cNvPr id="20" name="bld3_2748"/>
          <p:cNvSpPr/>
          <p:nvPr/>
        </p:nvSpPr>
        <p:spPr>
          <a:xfrm>
            <a:off x="8158277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1" name="bld3_2749"/>
          <p:cNvSpPr txBox="1"/>
          <p:nvPr/>
        </p:nvSpPr>
        <p:spPr>
          <a:xfrm>
            <a:off x="8450885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if any haze or sediment appears</a:t>
            </a:r>
            <a:endParaRPr lang="en-US" sz="1200" dirty="0"/>
          </a:p>
        </p:txBody>
      </p:sp>
      <p:sp>
        <p:nvSpPr>
          <p:cNvPr id="23" name="trans_fade_17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9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B5652D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B5652D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B565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Maturation refines what's already good.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cannot rescue a broken structure.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10</a:t>
            </a:r>
            <a:endParaRPr lang="en-US" sz="1100" dirty="0"/>
          </a:p>
        </p:txBody>
      </p:sp>
      <p:sp>
        <p:nvSpPr>
          <p:cNvPr id="10" name="trans_fade_17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5749" y="1967789"/>
            <a:ext cx="2922422" cy="2922422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52076" y="3214116"/>
            <a:ext cx="429768" cy="42976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· COMPLIANCE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Compliance,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Simply Explained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introduction to keeping your formulas safe and legal to sell — not a substitute for professional guidance.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 limits, worked through a real example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SDS and allergen declaration actually cover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look — and what to ignore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20" name="trans_fade_17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module is an introduction.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still responsible for the regulations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apply to your country and product.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READ THIS FIRST</a:t>
            </a:r>
            <a:endParaRPr lang="en-US" sz="1100" dirty="0"/>
          </a:p>
        </p:txBody>
      </p:sp>
      <p:sp>
        <p:nvSpPr>
          <p:cNvPr id="10" name="trans_fade_17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STANDARD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— the industry's safety framework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01941" y="4967705"/>
            <a:ext cx="1331827" cy="133182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463437" y="5329201"/>
            <a:ext cx="608835" cy="608835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2750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2" name="Shape 10"/>
          <p:cNvSpPr/>
          <p:nvPr/>
        </p:nvSpPr>
        <p:spPr>
          <a:xfrm>
            <a:off x="1554137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26949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597510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597510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626949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8" name="bld1_2752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Standards</a:t>
            </a:r>
            <a:endParaRPr lang="en-US" sz="1450" dirty="0"/>
          </a:p>
        </p:txBody>
      </p:sp>
      <p:sp>
        <p:nvSpPr>
          <p:cNvPr id="19" name="bld1_2753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Science-based usage limits for fragrance materials.</a:t>
            </a:r>
            <a:endParaRPr lang="en-US" sz="1080" dirty="0"/>
          </a:p>
        </p:txBody>
      </p:sp>
      <p:sp>
        <p:nvSpPr>
          <p:cNvPr id="20" name="bld2_2754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2" name="Shape 20"/>
          <p:cNvSpPr/>
          <p:nvPr/>
        </p:nvSpPr>
        <p:spPr>
          <a:xfrm>
            <a:off x="4477337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24" name="bld2_2756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Restricted materials</a:t>
            </a:r>
            <a:endParaRPr lang="en-US" sz="1450" dirty="0"/>
          </a:p>
        </p:txBody>
      </p:sp>
      <p:sp>
        <p:nvSpPr>
          <p:cNvPr id="25" name="bld2_2757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Allowed, but only up to a defined maximum %.</a:t>
            </a:r>
            <a:endParaRPr lang="en-US" sz="1080" dirty="0"/>
          </a:p>
        </p:txBody>
      </p:sp>
      <p:sp>
        <p:nvSpPr>
          <p:cNvPr id="26" name="bld3_2758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8" name="Shape 26"/>
          <p:cNvSpPr/>
          <p:nvPr/>
        </p:nvSpPr>
        <p:spPr>
          <a:xfrm>
            <a:off x="7314949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3B382F"/>
            </a:solidFill>
            <a:prstDash val="solid"/>
          </a:ln>
        </p:spPr>
      </p:sp>
      <p:sp>
        <p:nvSpPr>
          <p:cNvPr id="30" name="bld3_2760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Prohibited materials</a:t>
            </a:r>
            <a:endParaRPr lang="en-US" sz="1450" dirty="0"/>
          </a:p>
        </p:txBody>
      </p:sp>
      <p:sp>
        <p:nvSpPr>
          <p:cNvPr id="31" name="bld3_2761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permitted in fragrance at all.</a:t>
            </a:r>
            <a:endParaRPr lang="en-US" sz="1080" dirty="0"/>
          </a:p>
        </p:txBody>
      </p:sp>
      <p:sp>
        <p:nvSpPr>
          <p:cNvPr id="32" name="bld4_2762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4" name="Shape 32"/>
          <p:cNvSpPr/>
          <p:nvPr/>
        </p:nvSpPr>
        <p:spPr>
          <a:xfrm>
            <a:off x="10066973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0139784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0110345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0110345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0139784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0" name="bld4_2764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Category limits</a:t>
            </a:r>
            <a:endParaRPr lang="en-US" sz="1450" dirty="0"/>
          </a:p>
        </p:txBody>
      </p:sp>
      <p:sp>
        <p:nvSpPr>
          <p:cNvPr id="41" name="bld4_2765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vary by how a product is used on the body.</a:t>
            </a:r>
            <a:endParaRPr lang="en-US" sz="1080" dirty="0"/>
          </a:p>
        </p:txBody>
      </p:sp>
      <p:sp>
        <p:nvSpPr>
          <p:cNvPr id="43" name="trans_fade_17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4" name="Text 4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8" grpId="0"/>
      <p:bldP spid="19" grpId="0"/>
      <p:bldP spid="20" grpId="0"/>
      <p:bldP spid="24" grpId="0"/>
      <p:bldP spid="25" grpId="0"/>
      <p:bldP spid="26" grpId="0"/>
      <p:bldP spid="30" grpId="0"/>
      <p:bldP spid="31" grpId="0"/>
      <p:bldP spid="32" grpId="0"/>
      <p:bldP spid="40" grpId="0"/>
      <p:bldP spid="41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a material against its limit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ln w="27432">
            <a:solidFill>
              <a:srgbClr val="6E7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41941" y="2766974"/>
            <a:ext cx="20115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 % × dilution % = final product %. Always check against the finished product.</a:t>
            </a:r>
            <a:endParaRPr lang="en-US" sz="1050" dirty="0"/>
          </a:p>
        </p:txBody>
      </p:sp>
      <p:sp>
        <p:nvSpPr>
          <p:cNvPr id="13" name="bld1_276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4" name="bld1_276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X, Category 4 (fine fragrance)</a:t>
            </a:r>
            <a:endParaRPr lang="en-US" sz="1650" dirty="0"/>
          </a:p>
        </p:txBody>
      </p:sp>
      <p:sp>
        <p:nvSpPr>
          <p:cNvPr id="15" name="bld1_2768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Suppose its IFRA limit in Category 4 is 0.5% of the finished product.</a:t>
            </a:r>
            <a:endParaRPr lang="en-US" sz="1250" dirty="0"/>
          </a:p>
        </p:txBody>
      </p:sp>
      <p:sp>
        <p:nvSpPr>
          <p:cNvPr id="16" name="bld2_2769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7" name="bld2_2770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Used at 2% of the concentrate</a:t>
            </a:r>
            <a:endParaRPr lang="en-US" sz="1650" dirty="0"/>
          </a:p>
        </p:txBody>
      </p:sp>
      <p:sp>
        <p:nvSpPr>
          <p:cNvPr id="18" name="bld2_2771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formula sheet lists Material X at 2% of the perfume concentrate.</a:t>
            </a:r>
            <a:endParaRPr lang="en-US" sz="1250" dirty="0"/>
          </a:p>
        </p:txBody>
      </p:sp>
      <p:sp>
        <p:nvSpPr>
          <p:cNvPr id="19" name="bld3_2772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bld3_2773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concentrate is diluted to 20%</a:t>
            </a:r>
            <a:endParaRPr lang="en-US" sz="1650" dirty="0"/>
          </a:p>
        </p:txBody>
      </p:sp>
      <p:sp>
        <p:nvSpPr>
          <p:cNvPr id="21" name="bld3_2774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finished spray, Material X becomes 2% × 20% = 0.4% of the total product.</a:t>
            </a:r>
            <a:endParaRPr lang="en-US" sz="1250" dirty="0"/>
          </a:p>
        </p:txBody>
      </p:sp>
      <p:sp>
        <p:nvSpPr>
          <p:cNvPr id="22" name="bld4_2775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bld4_2776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 is under the 0.5% limit — compliant</a:t>
            </a:r>
            <a:endParaRPr lang="en-US" sz="1650" dirty="0"/>
          </a:p>
        </p:txBody>
      </p:sp>
      <p:sp>
        <p:nvSpPr>
          <p:cNvPr id="24" name="bld4_2777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calculate the material's share of the finished product, not just the concentrate.</a:t>
            </a:r>
            <a:endParaRPr lang="en-US" sz="1250" dirty="0"/>
          </a:p>
        </p:txBody>
      </p:sp>
      <p:sp>
        <p:nvSpPr>
          <p:cNvPr id="26" name="trans_fade_17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MATERIALS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SDS actually tells you</a:t>
            </a:r>
            <a:endParaRPr lang="en-US" sz="3200" dirty="0"/>
          </a:p>
        </p:txBody>
      </p:sp>
      <p:sp>
        <p:nvSpPr>
          <p:cNvPr id="7" name="bld1_2778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>
            <a:off x="2069866" y="1978030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131756" y="209928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106733" y="2180112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106733" y="2260945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2131756" y="2341778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5" name="bld1_2780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Identification &amp; hazards</a:t>
            </a:r>
            <a:endParaRPr lang="en-US" sz="1450" dirty="0"/>
          </a:p>
        </p:txBody>
      </p:sp>
      <p:sp>
        <p:nvSpPr>
          <p:cNvPr id="16" name="bld1_2781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material is and its key risk classifications.</a:t>
            </a:r>
            <a:endParaRPr lang="en-US" sz="1080" dirty="0"/>
          </a:p>
        </p:txBody>
      </p:sp>
      <p:sp>
        <p:nvSpPr>
          <p:cNvPr id="17" name="bld2_2782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9" name="Shape 17"/>
          <p:cNvSpPr/>
          <p:nvPr/>
        </p:nvSpPr>
        <p:spPr>
          <a:xfrm flipV="1">
            <a:off x="6095848" y="2167179"/>
            <a:ext cx="120037" cy="5335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5885" y="2167179"/>
            <a:ext cx="120037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6215885" y="2233866"/>
            <a:ext cx="120037" cy="10670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15823" y="2340566"/>
            <a:ext cx="200062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6015823" y="2220529"/>
            <a:ext cx="80025" cy="12003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9136" y="2153842"/>
            <a:ext cx="146712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74508" y="2199189"/>
            <a:ext cx="42680" cy="4268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0546" y="2151841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20583" y="22185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00546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00485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3798" y="2138504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2" name="bld2_2784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Composition</a:t>
            </a:r>
            <a:endParaRPr lang="en-US" sz="1450" dirty="0"/>
          </a:p>
        </p:txBody>
      </p:sp>
      <p:sp>
        <p:nvSpPr>
          <p:cNvPr id="33" name="bld2_2785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it's made of, including any listed impurities.</a:t>
            </a:r>
            <a:endParaRPr lang="en-US" sz="1080" dirty="0"/>
          </a:p>
        </p:txBody>
      </p:sp>
      <p:sp>
        <p:nvSpPr>
          <p:cNvPr id="34" name="bld3_2786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6" name="Shape 34"/>
          <p:cNvSpPr/>
          <p:nvPr/>
        </p:nvSpPr>
        <p:spPr>
          <a:xfrm>
            <a:off x="9854343" y="2021680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37" name="Shape 35"/>
          <p:cNvSpPr/>
          <p:nvPr/>
        </p:nvSpPr>
        <p:spPr>
          <a:xfrm>
            <a:off x="9857602" y="2061450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801730" y="2125081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38306" y="2257515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1" name="bld3_2788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&amp; storage</a:t>
            </a:r>
            <a:endParaRPr lang="en-US" sz="1450" dirty="0"/>
          </a:p>
        </p:txBody>
      </p:sp>
      <p:sp>
        <p:nvSpPr>
          <p:cNvPr id="42" name="bld3_2789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store and work with it safely.</a:t>
            </a:r>
            <a:endParaRPr lang="en-US" sz="1080" dirty="0"/>
          </a:p>
        </p:txBody>
      </p:sp>
      <p:sp>
        <p:nvSpPr>
          <p:cNvPr id="43" name="bld4_2790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45" name="Shape 43"/>
          <p:cNvSpPr/>
          <p:nvPr/>
        </p:nvSpPr>
        <p:spPr>
          <a:xfrm>
            <a:off x="2142616" y="4409932"/>
            <a:ext cx="339498" cy="339498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47" name="bld4_2792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aid &amp; fire measures</a:t>
            </a:r>
            <a:endParaRPr lang="en-US" sz="1450" dirty="0"/>
          </a:p>
        </p:txBody>
      </p:sp>
      <p:sp>
        <p:nvSpPr>
          <p:cNvPr id="48" name="bld4_2793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in an exposure or fire incident.</a:t>
            </a:r>
            <a:endParaRPr lang="en-US" sz="1080" dirty="0"/>
          </a:p>
        </p:txBody>
      </p:sp>
      <p:sp>
        <p:nvSpPr>
          <p:cNvPr id="49" name="bld5_2794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51" name="Shape 49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5906698" y="4577256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5906698" y="4516631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906698" y="4448732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56" name="bld5_2796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Physical &amp; chemical properties</a:t>
            </a:r>
            <a:endParaRPr lang="en-US" sz="1450" dirty="0"/>
          </a:p>
        </p:txBody>
      </p:sp>
      <p:sp>
        <p:nvSpPr>
          <p:cNvPr id="57" name="bld5_2797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Flashpoint, solubility, appearance and more.</a:t>
            </a:r>
            <a:endParaRPr lang="en-US" sz="1080" dirty="0"/>
          </a:p>
        </p:txBody>
      </p:sp>
      <p:sp>
        <p:nvSpPr>
          <p:cNvPr id="58" name="bld6_2798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0" name="Shape 58"/>
          <p:cNvSpPr/>
          <p:nvPr/>
        </p:nvSpPr>
        <p:spPr>
          <a:xfrm>
            <a:off x="9636831" y="4337182"/>
            <a:ext cx="484998" cy="484998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698721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9673698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9673698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9698721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3B382F"/>
            </a:solidFill>
            <a:prstDash val="solid"/>
          </a:ln>
        </p:spPr>
      </p:sp>
      <p:sp>
        <p:nvSpPr>
          <p:cNvPr id="66" name="bld6_2800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information</a:t>
            </a:r>
            <a:endParaRPr lang="en-US" sz="1450" dirty="0"/>
          </a:p>
        </p:txBody>
      </p:sp>
      <p:sp>
        <p:nvSpPr>
          <p:cNvPr id="67" name="bld6_2801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material is classified under law.</a:t>
            </a:r>
            <a:endParaRPr lang="en-US" sz="1080" dirty="0"/>
          </a:p>
        </p:txBody>
      </p:sp>
      <p:sp>
        <p:nvSpPr>
          <p:cNvPr id="69" name="trans_fade_17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5" grpId="0"/>
      <p:bldP spid="16" grpId="0"/>
      <p:bldP spid="17" grpId="0"/>
      <p:bldP spid="32" grpId="0"/>
      <p:bldP spid="33" grpId="0"/>
      <p:bldP spid="34" grpId="0"/>
      <p:bldP spid="41" grpId="0"/>
      <p:bldP spid="42" grpId="0"/>
      <p:bldP spid="43" grpId="0"/>
      <p:bldP spid="47" grpId="0"/>
      <p:bldP spid="48" grpId="0"/>
      <p:bldP spid="49" grpId="0"/>
      <p:bldP spid="56" grpId="0"/>
      <p:bldP spid="57" grpId="0"/>
      <p:bldP spid="58" grpId="0"/>
      <p:bldP spid="66" grpId="0"/>
      <p:bldP spid="67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RIGHT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Allergen declarations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17219" y="2038814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9740728" y="2346511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9578962" y="2844375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055477" y="2844375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8893711" y="2346511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326439" y="2746874"/>
            <a:ext cx="442537" cy="442537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 beautiful rose absolute may carry declarable allergens.</a:t>
            </a:r>
            <a:endParaRPr lang="en-US" sz="1050" dirty="0"/>
          </a:p>
        </p:txBody>
      </p:sp>
      <p:sp>
        <p:nvSpPr>
          <p:cNvPr id="17" name="bld1_280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1_280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Certain materials must be declared</a:t>
            </a:r>
            <a:endParaRPr lang="en-US" sz="1650" dirty="0"/>
          </a:p>
        </p:txBody>
      </p:sp>
      <p:sp>
        <p:nvSpPr>
          <p:cNvPr id="19" name="bld1_2804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defined list of fragrance allergens must be listed on packaging above a set concentration threshold.</a:t>
            </a:r>
            <a:endParaRPr lang="en-US" sz="1250" dirty="0"/>
          </a:p>
        </p:txBody>
      </p:sp>
      <p:sp>
        <p:nvSpPr>
          <p:cNvPr id="20" name="bld2_2805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2_2806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applies even to natural materials</a:t>
            </a:r>
            <a:endParaRPr lang="en-US" sz="1650" dirty="0"/>
          </a:p>
        </p:txBody>
      </p:sp>
      <p:sp>
        <p:nvSpPr>
          <p:cNvPr id="22" name="bld2_2807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essential oils contain declarable allergens naturally — linalool and limonene among the most common.</a:t>
            </a:r>
            <a:endParaRPr lang="en-US" sz="1250" dirty="0"/>
          </a:p>
        </p:txBody>
      </p:sp>
      <p:sp>
        <p:nvSpPr>
          <p:cNvPr id="23" name="bld3_2808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4" name="bld3_2809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every material's allergen content</a:t>
            </a:r>
            <a:endParaRPr lang="en-US" sz="1650" dirty="0"/>
          </a:p>
        </p:txBody>
      </p:sp>
      <p:sp>
        <p:nvSpPr>
          <p:cNvPr id="25" name="bld3_2810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supplier's documentation should state the relevant allergen composition of each raw material.</a:t>
            </a:r>
            <a:endParaRPr lang="en-US" sz="1250" dirty="0"/>
          </a:p>
        </p:txBody>
      </p:sp>
      <p:sp>
        <p:nvSpPr>
          <p:cNvPr id="27" name="trans_fade_18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LABELLING HAZARDS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CLP — how hazards get communicated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01941" y="4967705"/>
            <a:ext cx="1331827" cy="133182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463437" y="5329201"/>
            <a:ext cx="608835" cy="608835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2811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355964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14" name="bld1_2813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 classifications</a:t>
            </a:r>
            <a:endParaRPr lang="en-US" sz="1450" dirty="0"/>
          </a:p>
        </p:txBody>
      </p:sp>
      <p:sp>
        <p:nvSpPr>
          <p:cNvPr id="15" name="bld1_2814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 category a product falls into.</a:t>
            </a:r>
            <a:endParaRPr lang="en-US" sz="1080" dirty="0"/>
          </a:p>
        </p:txBody>
      </p:sp>
      <p:sp>
        <p:nvSpPr>
          <p:cNvPr id="16" name="bld2_2815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8" name="Shape 16"/>
          <p:cNvSpPr/>
          <p:nvPr/>
        </p:nvSpPr>
        <p:spPr>
          <a:xfrm>
            <a:off x="3626053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6B2A1A"/>
            </a:solidFill>
            <a:prstDash val="solid"/>
          </a:ln>
        </p:spPr>
      </p:sp>
      <p:sp>
        <p:nvSpPr>
          <p:cNvPr id="20" name="bld2_2817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Pictograms</a:t>
            </a:r>
            <a:endParaRPr lang="en-US" sz="1450" dirty="0"/>
          </a:p>
        </p:txBody>
      </p:sp>
      <p:sp>
        <p:nvSpPr>
          <p:cNvPr id="21" name="bld2_2818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symbols shown on packaging.</a:t>
            </a:r>
            <a:endParaRPr lang="en-US" sz="1080" dirty="0"/>
          </a:p>
        </p:txBody>
      </p:sp>
      <p:sp>
        <p:nvSpPr>
          <p:cNvPr id="22" name="bld3_2819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4" name="Shape 22"/>
          <p:cNvSpPr/>
          <p:nvPr/>
        </p:nvSpPr>
        <p:spPr>
          <a:xfrm>
            <a:off x="5896143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3B382F"/>
            </a:solidFill>
            <a:prstDash val="solid"/>
          </a:ln>
        </p:spPr>
      </p:sp>
      <p:sp>
        <p:nvSpPr>
          <p:cNvPr id="26" name="bld3_2821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 words</a:t>
            </a:r>
            <a:endParaRPr lang="en-US" sz="1450" dirty="0"/>
          </a:p>
        </p:txBody>
      </p:sp>
      <p:sp>
        <p:nvSpPr>
          <p:cNvPr id="27" name="bld3_2822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"Warning" or "Danger," indicating severity.</a:t>
            </a:r>
            <a:endParaRPr lang="en-US" sz="1080" dirty="0"/>
          </a:p>
        </p:txBody>
      </p:sp>
      <p:sp>
        <p:nvSpPr>
          <p:cNvPr id="28" name="bld4_2823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0" name="Shape 28"/>
          <p:cNvSpPr/>
          <p:nvPr/>
        </p:nvSpPr>
        <p:spPr>
          <a:xfrm>
            <a:off x="8080644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15345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12401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812401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815345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6" name="bld4_2825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 statements</a:t>
            </a:r>
            <a:endParaRPr lang="en-US" sz="1450" dirty="0"/>
          </a:p>
        </p:txBody>
      </p:sp>
      <p:sp>
        <p:nvSpPr>
          <p:cNvPr id="37" name="bld4_2826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phrases describing the specific risk.</a:t>
            </a:r>
            <a:endParaRPr lang="en-US" sz="1080" dirty="0"/>
          </a:p>
        </p:txBody>
      </p:sp>
      <p:sp>
        <p:nvSpPr>
          <p:cNvPr id="38" name="bld5_2827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0373557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42" name="bld5_2829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Precautionary statements</a:t>
            </a:r>
            <a:endParaRPr lang="en-US" sz="1450" dirty="0"/>
          </a:p>
        </p:txBody>
      </p:sp>
      <p:sp>
        <p:nvSpPr>
          <p:cNvPr id="43" name="bld5_2830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user should do to stay safe.</a:t>
            </a:r>
            <a:endParaRPr lang="en-US" sz="1080" dirty="0"/>
          </a:p>
        </p:txBody>
      </p:sp>
      <p:sp>
        <p:nvSpPr>
          <p:cNvPr id="45" name="trans_fade_18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6" name="Text 4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4" grpId="0"/>
      <p:bldP spid="15" grpId="0"/>
      <p:bldP spid="16" grpId="0"/>
      <p:bldP spid="20" grpId="0"/>
      <p:bldP spid="21" grpId="0"/>
      <p:bldP spid="22" grpId="0"/>
      <p:bldP spid="26" grpId="0"/>
      <p:bldP spid="27" grpId="0"/>
      <p:bldP spid="28" grpId="0"/>
      <p:bldP spid="36" grpId="0"/>
      <p:bldP spid="37" grpId="0"/>
      <p:bldP spid="38" grpId="0"/>
      <p:bldP spid="42" grpId="0"/>
      <p:bldP spid="43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USEFUL TOOL, NOT AN AUTHORITY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Good Scents Company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"If a material is listed on The Good Scents Company, it's approved and safe to use as I like."</a:t>
            </a:r>
            <a:endParaRPr lang="en-US" sz="2100" dirty="0"/>
          </a:p>
        </p:txBody>
      </p:sp>
      <p:sp>
        <p:nvSpPr>
          <p:cNvPr id="10" name="bld1_2831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2832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2833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Scents is a fantastic research and reference tool for material properties — but it is not a regulatory authority. Always confirm safety and legal usage limits through your supplier's documentation, IFRA, the SDS, and official regulatory databases.</a:t>
            </a:r>
            <a:endParaRPr lang="en-US" sz="1450" dirty="0"/>
          </a:p>
        </p:txBody>
      </p:sp>
      <p:sp>
        <p:nvSpPr>
          <p:cNvPr id="14" name="trans_wipe_l_18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ACTUALLY LOOK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Reliable sources for compliance information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9993" y="5005757"/>
            <a:ext cx="1255723" cy="1255723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227894" y="5093658"/>
            <a:ext cx="1079922" cy="107992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705068" y="5570832"/>
            <a:ext cx="125572" cy="12557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834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3" name="Shape 21"/>
          <p:cNvSpPr/>
          <p:nvPr/>
        </p:nvSpPr>
        <p:spPr>
          <a:xfrm>
            <a:off x="1270376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343188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313749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1313749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1343188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9" name="bld1_2836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Supplier documentation</a:t>
            </a:r>
            <a:endParaRPr lang="en-US" sz="1450" dirty="0"/>
          </a:p>
        </p:txBody>
      </p:sp>
      <p:sp>
        <p:nvSpPr>
          <p:cNvPr id="30" name="bld1_2837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stop for every material.</a:t>
            </a:r>
            <a:endParaRPr lang="en-US" sz="1080" dirty="0"/>
          </a:p>
        </p:txBody>
      </p:sp>
      <p:sp>
        <p:nvSpPr>
          <p:cNvPr id="31" name="bld2_2838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3" name="Shape 31"/>
          <p:cNvSpPr/>
          <p:nvPr/>
        </p:nvSpPr>
        <p:spPr>
          <a:xfrm>
            <a:off x="3540465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613277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3583838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583838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3613277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39" name="bld2_2840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</a:t>
            </a:r>
            <a:endParaRPr lang="en-US" sz="1450" dirty="0"/>
          </a:p>
        </p:txBody>
      </p:sp>
      <p:sp>
        <p:nvSpPr>
          <p:cNvPr id="40" name="bld2_2841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 safety standard.</a:t>
            </a:r>
            <a:endParaRPr lang="en-US" sz="1080" dirty="0"/>
          </a:p>
        </p:txBody>
      </p:sp>
      <p:sp>
        <p:nvSpPr>
          <p:cNvPr id="41" name="bld3_2842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3" name="Shape 41"/>
          <p:cNvSpPr/>
          <p:nvPr/>
        </p:nvSpPr>
        <p:spPr>
          <a:xfrm>
            <a:off x="5810555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83367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585392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585392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5883367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9" name="bld3_2844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SDS</a:t>
            </a:r>
            <a:endParaRPr lang="en-US" sz="1450" dirty="0"/>
          </a:p>
        </p:txBody>
      </p:sp>
      <p:sp>
        <p:nvSpPr>
          <p:cNvPr id="50" name="bld3_2845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Material-specific safety data.</a:t>
            </a:r>
            <a:endParaRPr lang="en-US" sz="1080" dirty="0"/>
          </a:p>
        </p:txBody>
      </p:sp>
      <p:sp>
        <p:nvSpPr>
          <p:cNvPr id="51" name="bld4_2846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3" name="Shape 51"/>
          <p:cNvSpPr/>
          <p:nvPr/>
        </p:nvSpPr>
        <p:spPr>
          <a:xfrm>
            <a:off x="8080644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15345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812401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812401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815345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59" name="bld4_2848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databases</a:t>
            </a:r>
            <a:endParaRPr lang="en-US" sz="1450" dirty="0"/>
          </a:p>
        </p:txBody>
      </p:sp>
      <p:sp>
        <p:nvSpPr>
          <p:cNvPr id="60" name="bld4_2849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government sources.</a:t>
            </a:r>
            <a:endParaRPr lang="en-US" sz="1080" dirty="0"/>
          </a:p>
        </p:txBody>
      </p:sp>
      <p:sp>
        <p:nvSpPr>
          <p:cNvPr id="61" name="bld5_2850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3" name="Shape 61"/>
          <p:cNvSpPr/>
          <p:nvPr/>
        </p:nvSpPr>
        <p:spPr>
          <a:xfrm>
            <a:off x="10350734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042354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0394106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0394106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042354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9" name="bld5_2852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assessors</a:t>
            </a:r>
            <a:endParaRPr lang="en-US" sz="1450" dirty="0"/>
          </a:p>
        </p:txBody>
      </p:sp>
      <p:sp>
        <p:nvSpPr>
          <p:cNvPr id="70" name="bld5_2853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required by your market.</a:t>
            </a:r>
            <a:endParaRPr lang="en-US" sz="1080" dirty="0"/>
          </a:p>
        </p:txBody>
      </p:sp>
      <p:sp>
        <p:nvSpPr>
          <p:cNvPr id="72" name="trans_fade_18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3" name="Text 7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9" grpId="0"/>
      <p:bldP spid="30" grpId="0"/>
      <p:bldP spid="31" grpId="0"/>
      <p:bldP spid="39" grpId="0"/>
      <p:bldP spid="40" grpId="0"/>
      <p:bldP spid="41" grpId="0"/>
      <p:bldP spid="49" grpId="0"/>
      <p:bldP spid="50" grpId="0"/>
      <p:bldP spid="51" grpId="0"/>
      <p:bldP spid="59" grpId="0"/>
      <p:bldP spid="60" grpId="0"/>
      <p:bldP spid="61" grpId="0"/>
      <p:bldP spid="69" grpId="0"/>
      <p:bldP spid="70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COMPLIANCE PATH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formula to sellable label</a:t>
            </a:r>
            <a:endParaRPr lang="en-US" sz="3200" dirty="0"/>
          </a:p>
        </p:txBody>
      </p:sp>
      <p:sp>
        <p:nvSpPr>
          <p:cNvPr id="7" name="bld1_2854"/>
          <p:cNvSpPr txBox="1"/>
          <p:nvPr/>
        </p:nvSpPr>
        <p:spPr>
          <a:xfrm>
            <a:off x="2064990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7314" y="2973354"/>
            <a:ext cx="1642811" cy="164281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188720" y="3653807"/>
            <a:ext cx="317145" cy="140953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05865" y="3653807"/>
            <a:ext cx="317145" cy="17619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505865" y="3829998"/>
            <a:ext cx="317145" cy="281906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290" y="4111905"/>
            <a:ext cx="528574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977290" y="3794760"/>
            <a:ext cx="211430" cy="317145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1099" y="3618569"/>
            <a:ext cx="387621" cy="17619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32339" y="3738379"/>
            <a:ext cx="112763" cy="112763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65341" y="3613283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82485" y="3789474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5341" y="4071381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6766" y="4071381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0575" y="3578044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7314" y="2973354"/>
            <a:ext cx="1642811" cy="164281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2" name="bld1_2856"/>
          <p:cNvSpPr txBox="1"/>
          <p:nvPr/>
        </p:nvSpPr>
        <p:spPr>
          <a:xfrm>
            <a:off x="253014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00" dirty="0"/>
          </a:p>
        </p:txBody>
      </p:sp>
      <p:sp>
        <p:nvSpPr>
          <p:cNvPr id="23" name="bld1_2857"/>
          <p:cNvSpPr txBox="1"/>
          <p:nvPr/>
        </p:nvSpPr>
        <p:spPr>
          <a:xfrm>
            <a:off x="253014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Finalised composition</a:t>
            </a:r>
            <a:endParaRPr lang="en-US" sz="1050" dirty="0"/>
          </a:p>
        </p:txBody>
      </p:sp>
      <p:sp>
        <p:nvSpPr>
          <p:cNvPr id="24" name="bld2_2858"/>
          <p:cNvSpPr txBox="1"/>
          <p:nvPr/>
        </p:nvSpPr>
        <p:spPr>
          <a:xfrm>
            <a:off x="4027841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2330166" y="2973354"/>
            <a:ext cx="1642811" cy="164281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6" name="Shape 24"/>
          <p:cNvSpPr/>
          <p:nvPr/>
        </p:nvSpPr>
        <p:spPr>
          <a:xfrm>
            <a:off x="2510875" y="3154064"/>
            <a:ext cx="1281393" cy="1281393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74392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2608279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2608279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2674392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2330166" y="2973354"/>
            <a:ext cx="1642811" cy="1642811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2" name="bld2_2860"/>
          <p:cNvSpPr txBox="1"/>
          <p:nvPr/>
        </p:nvSpPr>
        <p:spPr>
          <a:xfrm>
            <a:off x="2215866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check</a:t>
            </a:r>
            <a:endParaRPr lang="en-US" sz="1400" dirty="0"/>
          </a:p>
        </p:txBody>
      </p:sp>
      <p:sp>
        <p:nvSpPr>
          <p:cNvPr id="33" name="bld2_2861"/>
          <p:cNvSpPr txBox="1"/>
          <p:nvPr/>
        </p:nvSpPr>
        <p:spPr>
          <a:xfrm>
            <a:off x="2215866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limits met</a:t>
            </a:r>
            <a:endParaRPr lang="en-US" sz="1050" dirty="0"/>
          </a:p>
        </p:txBody>
      </p:sp>
      <p:sp>
        <p:nvSpPr>
          <p:cNvPr id="34" name="bld3_2862"/>
          <p:cNvSpPr txBox="1"/>
          <p:nvPr/>
        </p:nvSpPr>
        <p:spPr>
          <a:xfrm>
            <a:off x="5990692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4293017" y="2973354"/>
            <a:ext cx="1642811" cy="164281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6" name="Shape 34"/>
          <p:cNvSpPr/>
          <p:nvPr/>
        </p:nvSpPr>
        <p:spPr>
          <a:xfrm>
            <a:off x="4473726" y="3154064"/>
            <a:ext cx="1281393" cy="1281393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637243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571130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571130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637243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293017" y="2973354"/>
            <a:ext cx="1642811" cy="1642811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2" name="bld3_2864"/>
          <p:cNvSpPr txBox="1"/>
          <p:nvPr/>
        </p:nvSpPr>
        <p:spPr>
          <a:xfrm>
            <a:off x="4178717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data</a:t>
            </a:r>
            <a:endParaRPr lang="en-US" sz="1400" dirty="0"/>
          </a:p>
        </p:txBody>
      </p:sp>
      <p:sp>
        <p:nvSpPr>
          <p:cNvPr id="43" name="bld3_2865"/>
          <p:cNvSpPr txBox="1"/>
          <p:nvPr/>
        </p:nvSpPr>
        <p:spPr>
          <a:xfrm>
            <a:off x="4178717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each SDS</a:t>
            </a:r>
            <a:endParaRPr lang="en-US" sz="1050" dirty="0"/>
          </a:p>
        </p:txBody>
      </p:sp>
      <p:sp>
        <p:nvSpPr>
          <p:cNvPr id="44" name="bld4_2866"/>
          <p:cNvSpPr txBox="1"/>
          <p:nvPr/>
        </p:nvSpPr>
        <p:spPr>
          <a:xfrm>
            <a:off x="7953543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6255868" y="2973354"/>
            <a:ext cx="1642811" cy="164281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6" name="Shape 44"/>
          <p:cNvSpPr/>
          <p:nvPr/>
        </p:nvSpPr>
        <p:spPr>
          <a:xfrm>
            <a:off x="6981169" y="3370363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2700000">
            <a:off x="7118168" y="3427110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5400000">
            <a:off x="7174915" y="3564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100000">
            <a:off x="7118168" y="3701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0800000">
            <a:off x="6981169" y="3757856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3500000">
            <a:off x="6844169" y="3701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6200000">
            <a:off x="6787422" y="3564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8900000">
            <a:off x="6844169" y="3427110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974762" y="3692249"/>
            <a:ext cx="205023" cy="20502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5" name="Shape 53"/>
          <p:cNvSpPr/>
          <p:nvPr/>
        </p:nvSpPr>
        <p:spPr>
          <a:xfrm>
            <a:off x="6255868" y="2973354"/>
            <a:ext cx="1642811" cy="164281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6" name="bld4_2868"/>
          <p:cNvSpPr txBox="1"/>
          <p:nvPr/>
        </p:nvSpPr>
        <p:spPr>
          <a:xfrm>
            <a:off x="6141568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Allergen info</a:t>
            </a:r>
            <a:endParaRPr lang="en-US" sz="1400" dirty="0"/>
          </a:p>
        </p:txBody>
      </p:sp>
      <p:sp>
        <p:nvSpPr>
          <p:cNvPr id="57" name="bld4_2869"/>
          <p:cNvSpPr txBox="1"/>
          <p:nvPr/>
        </p:nvSpPr>
        <p:spPr>
          <a:xfrm>
            <a:off x="6141568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as required</a:t>
            </a:r>
            <a:endParaRPr lang="en-US" sz="1050" dirty="0"/>
          </a:p>
        </p:txBody>
      </p:sp>
      <p:sp>
        <p:nvSpPr>
          <p:cNvPr id="58" name="bld5_2870"/>
          <p:cNvSpPr txBox="1"/>
          <p:nvPr/>
        </p:nvSpPr>
        <p:spPr>
          <a:xfrm>
            <a:off x="9916394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59" name="Shape 57"/>
          <p:cNvSpPr/>
          <p:nvPr/>
        </p:nvSpPr>
        <p:spPr>
          <a:xfrm>
            <a:off x="8218719" y="2973354"/>
            <a:ext cx="1642811" cy="164281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0" name="Shape 58"/>
          <p:cNvSpPr/>
          <p:nvPr/>
        </p:nvSpPr>
        <p:spPr>
          <a:xfrm>
            <a:off x="8399428" y="3154064"/>
            <a:ext cx="1281393" cy="1281393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562945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8496832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8496832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8562945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8218719" y="2973354"/>
            <a:ext cx="1642811" cy="164281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6" name="bld5_2872"/>
          <p:cNvSpPr txBox="1"/>
          <p:nvPr/>
        </p:nvSpPr>
        <p:spPr>
          <a:xfrm>
            <a:off x="8104419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assessment</a:t>
            </a:r>
            <a:endParaRPr lang="en-US" sz="1400" dirty="0"/>
          </a:p>
        </p:txBody>
      </p:sp>
      <p:sp>
        <p:nvSpPr>
          <p:cNvPr id="67" name="bld5_2873"/>
          <p:cNvSpPr txBox="1"/>
          <p:nvPr/>
        </p:nvSpPr>
        <p:spPr>
          <a:xfrm>
            <a:off x="8104419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your market's rules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10181570" y="2973354"/>
            <a:ext cx="1642811" cy="164281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69" name="Shape 67"/>
          <p:cNvSpPr/>
          <p:nvPr/>
        </p:nvSpPr>
        <p:spPr>
          <a:xfrm>
            <a:off x="10362279" y="3154064"/>
            <a:ext cx="1281393" cy="1281393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10525796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>
            <a:off x="10459683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0459683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0525796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0181570" y="2973354"/>
            <a:ext cx="1642811" cy="1642811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75" name="bld6_2875"/>
          <p:cNvSpPr txBox="1"/>
          <p:nvPr/>
        </p:nvSpPr>
        <p:spPr>
          <a:xfrm>
            <a:off x="10067270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00" dirty="0"/>
          </a:p>
        </p:txBody>
      </p:sp>
      <p:sp>
        <p:nvSpPr>
          <p:cNvPr id="76" name="bld6_2876"/>
          <p:cNvSpPr txBox="1"/>
          <p:nvPr/>
        </p:nvSpPr>
        <p:spPr>
          <a:xfrm>
            <a:off x="10067270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Print, compliant &amp; ready</a:t>
            </a:r>
            <a:endParaRPr lang="en-US" sz="1050" dirty="0"/>
          </a:p>
        </p:txBody>
      </p:sp>
      <p:sp>
        <p:nvSpPr>
          <p:cNvPr id="78" name="trans_push_l_18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9" name="Text 7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2" grpId="0"/>
      <p:bldP spid="23" grpId="0"/>
      <p:bldP spid="24" grpId="0"/>
      <p:bldP spid="32" grpId="0"/>
      <p:bldP spid="33" grpId="0"/>
      <p:bldP spid="34" grpId="0"/>
      <p:bldP spid="42" grpId="0"/>
      <p:bldP spid="43" grpId="0"/>
      <p:bldP spid="44" grpId="0"/>
      <p:bldP spid="56" grpId="0"/>
      <p:bldP spid="57" grpId="0"/>
      <p:bldP spid="58" grpId="0"/>
      <p:bldP spid="66" grpId="0"/>
      <p:bldP spid="67" grpId="0"/>
      <p:bldP spid="75" grpId="0"/>
      <p:bldP spid="76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isn't optional paperwork —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the difference between a hobby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a business you can legally sell.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11</a:t>
            </a:r>
            <a:endParaRPr lang="en-US" sz="1100" dirty="0"/>
          </a:p>
        </p:txBody>
      </p:sp>
      <p:sp>
        <p:nvSpPr>
          <p:cNvPr id="10" name="trans_fade_18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7059" y="1967789"/>
            <a:ext cx="359802" cy="292242"/>
          </a:xfrm>
          <a:prstGeom prst="roundRect">
            <a:avLst>
              <a:gd name="adj" fmla="val 12516"/>
            </a:avLst>
          </a:prstGeom>
          <a:solidFill>
            <a:srgbClr val="0E0D0B"/>
          </a:solidFill>
          <a:ln/>
        </p:spPr>
      </p:sp>
      <p:sp>
        <p:nvSpPr>
          <p:cNvPr id="6" name="Shape 4"/>
          <p:cNvSpPr/>
          <p:nvPr/>
        </p:nvSpPr>
        <p:spPr>
          <a:xfrm>
            <a:off x="9810524" y="2260031"/>
            <a:ext cx="312871" cy="467588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727619"/>
            <a:ext cx="1117397" cy="2162593"/>
          </a:xfrm>
          <a:prstGeom prst="roundRect">
            <a:avLst>
              <a:gd name="adj" fmla="val 9820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44838" y="3592656"/>
            <a:ext cx="1044245" cy="1260980"/>
          </a:xfrm>
          <a:prstGeom prst="roundRect">
            <a:avLst>
              <a:gd name="adj" fmla="val 8757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· STARTING A BRAND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 + KRISTAN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41732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Formula</a:t>
            </a:r>
            <a:endParaRPr lang="en-US" sz="6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Brand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you've learned, now aimed at building something the world can actually buy.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Bottles, labels and packaging that actually work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your lane and telling a real story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fragrance brands actually sell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250" dirty="0"/>
          </a:p>
        </p:txBody>
      </p:sp>
      <p:sp>
        <p:nvSpPr>
          <p:cNvPr id="22" name="trans_fade_18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fragrance comes first</a:t>
            </a:r>
            <a:endParaRPr lang="en-US" sz="3200" dirty="0"/>
          </a:p>
        </p:txBody>
      </p:sp>
      <p:sp>
        <p:nvSpPr>
          <p:cNvPr id="7" name="bld1_2877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" name="Shape 7"/>
          <p:cNvSpPr/>
          <p:nvPr/>
        </p:nvSpPr>
        <p:spPr>
          <a:xfrm>
            <a:off x="2142616" y="2050780"/>
            <a:ext cx="339498" cy="339498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1" name="bld1_2879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</a:t>
            </a:r>
            <a:endParaRPr lang="en-US" sz="1450" dirty="0"/>
          </a:p>
        </p:txBody>
      </p:sp>
      <p:sp>
        <p:nvSpPr>
          <p:cNvPr id="12" name="bld1_2880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the fragrance is built around.</a:t>
            </a:r>
            <a:endParaRPr lang="en-US" sz="1080" dirty="0"/>
          </a:p>
        </p:txBody>
      </p:sp>
      <p:sp>
        <p:nvSpPr>
          <p:cNvPr id="13" name="bld2_2881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5" name="Shape 13"/>
          <p:cNvSpPr/>
          <p:nvPr/>
        </p:nvSpPr>
        <p:spPr>
          <a:xfrm flipV="1">
            <a:off x="6095848" y="2167179"/>
            <a:ext cx="120037" cy="5335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5885" y="2167179"/>
            <a:ext cx="120037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6215885" y="2233866"/>
            <a:ext cx="120037" cy="10670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15823" y="2340566"/>
            <a:ext cx="200062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015823" y="2220529"/>
            <a:ext cx="80025" cy="12003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9136" y="2153842"/>
            <a:ext cx="146712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74508" y="2199189"/>
            <a:ext cx="42680" cy="4268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00546" y="2151841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20583" y="22185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00546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0485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33798" y="2138504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8" name="bld2_2883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50" dirty="0"/>
          </a:p>
        </p:txBody>
      </p:sp>
      <p:sp>
        <p:nvSpPr>
          <p:cNvPr id="29" name="bld2_2884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itself, fully developed.</a:t>
            </a:r>
            <a:endParaRPr lang="en-US" sz="1080" dirty="0"/>
          </a:p>
        </p:txBody>
      </p:sp>
      <p:sp>
        <p:nvSpPr>
          <p:cNvPr id="30" name="bld3_2885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2" name="Shape 30"/>
          <p:cNvSpPr/>
          <p:nvPr/>
        </p:nvSpPr>
        <p:spPr>
          <a:xfrm>
            <a:off x="9862355" y="2055630"/>
            <a:ext cx="36278" cy="329798"/>
          </a:xfrm>
          <a:prstGeom prst="roundRect">
            <a:avLst>
              <a:gd name="adj" fmla="val 50411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876071" y="2279893"/>
            <a:ext cx="8846" cy="87248"/>
          </a:xfrm>
          <a:prstGeom prst="roundRect">
            <a:avLst>
              <a:gd name="adj" fmla="val 155053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5" name="bld3_2887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</a:t>
            </a:r>
            <a:endParaRPr lang="en-US" sz="1450" dirty="0"/>
          </a:p>
        </p:txBody>
      </p:sp>
      <p:sp>
        <p:nvSpPr>
          <p:cNvPr id="36" name="bld3_2888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wear testing, not just strips.</a:t>
            </a:r>
            <a:endParaRPr lang="en-US" sz="1080" dirty="0"/>
          </a:p>
        </p:txBody>
      </p:sp>
      <p:sp>
        <p:nvSpPr>
          <p:cNvPr id="37" name="bld4_2889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9" name="Shape 37"/>
          <p:cNvSpPr/>
          <p:nvPr/>
        </p:nvSpPr>
        <p:spPr>
          <a:xfrm>
            <a:off x="2069866" y="4337182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123216" y="4577256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2123216" y="4516631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2123216" y="4448732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4" name="bld4_2891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Stability</a:t>
            </a:r>
            <a:endParaRPr lang="en-US" sz="1450" dirty="0"/>
          </a:p>
        </p:txBody>
      </p:sp>
      <p:sp>
        <p:nvSpPr>
          <p:cNvPr id="45" name="bld4_2892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clarity and consistency over time.</a:t>
            </a:r>
            <a:endParaRPr lang="en-US" sz="1080" dirty="0"/>
          </a:p>
        </p:txBody>
      </p:sp>
      <p:sp>
        <p:nvSpPr>
          <p:cNvPr id="46" name="bld5_2893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8" name="Shape 46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915239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5890215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890215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5915239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54" name="bld5_2895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450" dirty="0"/>
          </a:p>
        </p:txBody>
      </p:sp>
      <p:sp>
        <p:nvSpPr>
          <p:cNvPr id="55" name="bld5_2896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IFRA, SDS, allergens — all checked.</a:t>
            </a:r>
            <a:endParaRPr lang="en-US" sz="1080" dirty="0"/>
          </a:p>
        </p:txBody>
      </p:sp>
      <p:sp>
        <p:nvSpPr>
          <p:cNvPr id="56" name="bld6_2897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8" name="Shape 56"/>
          <p:cNvSpPr/>
          <p:nvPr/>
        </p:nvSpPr>
        <p:spPr>
          <a:xfrm>
            <a:off x="9854343" y="4380832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59" name="Shape 57"/>
          <p:cNvSpPr/>
          <p:nvPr/>
        </p:nvSpPr>
        <p:spPr>
          <a:xfrm>
            <a:off x="9857602" y="4420602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801730" y="4484233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838306" y="4616667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3" name="bld6_2899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</a:t>
            </a:r>
            <a:endParaRPr lang="en-US" sz="1450" dirty="0"/>
          </a:p>
        </p:txBody>
      </p:sp>
      <p:sp>
        <p:nvSpPr>
          <p:cNvPr id="64" name="bld6_2900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compound and bottle at scale.</a:t>
            </a:r>
            <a:endParaRPr lang="en-US" sz="1080" dirty="0"/>
          </a:p>
        </p:txBody>
      </p:sp>
      <p:sp>
        <p:nvSpPr>
          <p:cNvPr id="66" name="trans_fade_18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7" name="Text 6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28" grpId="0"/>
      <p:bldP spid="29" grpId="0"/>
      <p:bldP spid="30" grpId="0"/>
      <p:bldP spid="35" grpId="0"/>
      <p:bldP spid="36" grpId="0"/>
      <p:bldP spid="37" grpId="0"/>
      <p:bldP spid="44" grpId="0"/>
      <p:bldP spid="45" grpId="0"/>
      <p:bldP spid="46" grpId="0"/>
      <p:bldP spid="54" grpId="0"/>
      <p:bldP spid="55" grpId="0"/>
      <p:bldP spid="56" grpId="0"/>
      <p:bldP spid="63" grpId="0"/>
      <p:bldP spid="64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VESSEL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your bottle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1" name="Shape 9"/>
          <p:cNvSpPr/>
          <p:nvPr/>
        </p:nvSpPr>
        <p:spPr>
          <a:xfrm>
            <a:off x="9426456" y="2233638"/>
            <a:ext cx="242504" cy="192987"/>
          </a:xfrm>
          <a:prstGeom prst="roundRect">
            <a:avLst>
              <a:gd name="adj" fmla="val 18953"/>
            </a:avLst>
          </a:prstGeom>
          <a:solidFill>
            <a:srgbClr val="0E0D0B"/>
          </a:solidFill>
          <a:ln/>
        </p:spPr>
      </p:sp>
      <p:sp>
        <p:nvSpPr>
          <p:cNvPr id="12" name="Shape 10"/>
          <p:cNvSpPr/>
          <p:nvPr/>
        </p:nvSpPr>
        <p:spPr>
          <a:xfrm>
            <a:off x="9442271" y="2426625"/>
            <a:ext cx="210873" cy="308778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71148" y="2735403"/>
            <a:ext cx="753118" cy="1428100"/>
          </a:xfrm>
          <a:prstGeom prst="roundRect">
            <a:avLst>
              <a:gd name="adj" fmla="val 14570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07724" y="3378049"/>
            <a:ext cx="679966" cy="748879"/>
          </a:xfrm>
          <a:prstGeom prst="roundRect">
            <a:avLst>
              <a:gd name="adj" fmla="val 13448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 is the first thing a customer touches — it earns real design attention.</a:t>
            </a:r>
            <a:endParaRPr lang="en-US" sz="1050" dirty="0"/>
          </a:p>
        </p:txBody>
      </p:sp>
      <p:sp>
        <p:nvSpPr>
          <p:cNvPr id="17" name="bld1_290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8" name="bld1_290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vs. custom bottles</a:t>
            </a:r>
            <a:endParaRPr lang="en-US" sz="1650" dirty="0"/>
          </a:p>
        </p:txBody>
      </p:sp>
      <p:sp>
        <p:nvSpPr>
          <p:cNvPr id="19" name="bld1_290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bottles are fast and cheap to start; custom moulds are expensive but build real brand identity.</a:t>
            </a:r>
            <a:endParaRPr lang="en-US" sz="1250" dirty="0"/>
          </a:p>
        </p:txBody>
      </p:sp>
      <p:sp>
        <p:nvSpPr>
          <p:cNvPr id="20" name="bld2_290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2_290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Minimum order quantities</a:t>
            </a:r>
            <a:endParaRPr lang="en-US" sz="1650" dirty="0"/>
          </a:p>
        </p:txBody>
      </p:sp>
      <p:sp>
        <p:nvSpPr>
          <p:cNvPr id="22" name="bld2_290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glass often requires large MOQs — budget and plan inventory accordingly.</a:t>
            </a:r>
            <a:endParaRPr lang="en-US" sz="1250" dirty="0"/>
          </a:p>
        </p:txBody>
      </p:sp>
      <p:sp>
        <p:nvSpPr>
          <p:cNvPr id="23" name="bld3_290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3_290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Pumps, collars &amp; caps</a:t>
            </a:r>
            <a:endParaRPr lang="en-US" sz="1650" dirty="0"/>
          </a:p>
        </p:txBody>
      </p:sp>
      <p:sp>
        <p:nvSpPr>
          <p:cNvPr id="25" name="bld3_290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small components define the feel of a bottle as much as the glass itself.</a:t>
            </a:r>
            <a:endParaRPr lang="en-US" sz="1250" dirty="0"/>
          </a:p>
        </p:txBody>
      </p:sp>
      <p:sp>
        <p:nvSpPr>
          <p:cNvPr id="27" name="trans_fade_18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ON THE BOTTLE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 — more technical than they look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986731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538488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2910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2" name="Shape 10"/>
          <p:cNvSpPr/>
          <p:nvPr/>
        </p:nvSpPr>
        <p:spPr>
          <a:xfrm>
            <a:off x="1270376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343188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313749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313749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343188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8" name="bld1_2912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450" dirty="0"/>
          </a:p>
        </p:txBody>
      </p:sp>
      <p:sp>
        <p:nvSpPr>
          <p:cNvPr id="19" name="bld1_2913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Paper, vinyl or foil — each behaves differently.</a:t>
            </a:r>
            <a:endParaRPr lang="en-US" sz="1080" dirty="0"/>
          </a:p>
        </p:txBody>
      </p:sp>
      <p:sp>
        <p:nvSpPr>
          <p:cNvPr id="20" name="bld2_2914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2" name="Shape 20"/>
          <p:cNvSpPr/>
          <p:nvPr/>
        </p:nvSpPr>
        <p:spPr>
          <a:xfrm>
            <a:off x="3626053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24" name="bld2_2916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Printing</a:t>
            </a:r>
            <a:endParaRPr lang="en-US" sz="1450" dirty="0"/>
          </a:p>
        </p:txBody>
      </p:sp>
      <p:sp>
        <p:nvSpPr>
          <p:cNvPr id="25" name="bld2_2917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vs. letterpress vs. foil stamping.</a:t>
            </a:r>
            <a:endParaRPr lang="en-US" sz="1080" dirty="0"/>
          </a:p>
        </p:txBody>
      </p:sp>
      <p:sp>
        <p:nvSpPr>
          <p:cNvPr id="26" name="bld3_2918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>
            <a:off x="6066451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29" name="Shape 27"/>
          <p:cNvSpPr/>
          <p:nvPr/>
        </p:nvSpPr>
        <p:spPr>
          <a:xfrm>
            <a:off x="6070285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04554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41130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3" name="bld3_2920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Adhesion</a:t>
            </a:r>
            <a:endParaRPr lang="en-US" sz="1450" dirty="0"/>
          </a:p>
        </p:txBody>
      </p:sp>
      <p:sp>
        <p:nvSpPr>
          <p:cNvPr id="34" name="bld3_2921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bond securely to glass long-term.</a:t>
            </a:r>
            <a:endParaRPr lang="en-US" sz="1080" dirty="0"/>
          </a:p>
        </p:txBody>
      </p:sp>
      <p:sp>
        <p:nvSpPr>
          <p:cNvPr id="35" name="bld4_2922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7" name="Shape 35"/>
          <p:cNvSpPr/>
          <p:nvPr/>
        </p:nvSpPr>
        <p:spPr>
          <a:xfrm>
            <a:off x="8080644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143409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143409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43409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2" name="bld4_2924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Oil / alcohol resistance</a:t>
            </a:r>
            <a:endParaRPr lang="en-US" sz="1450" dirty="0"/>
          </a:p>
        </p:txBody>
      </p:sp>
      <p:sp>
        <p:nvSpPr>
          <p:cNvPr id="43" name="bld4_2925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survive spills without smearing or lifting.</a:t>
            </a:r>
            <a:endParaRPr lang="en-US" sz="1080" dirty="0"/>
          </a:p>
        </p:txBody>
      </p:sp>
      <p:sp>
        <p:nvSpPr>
          <p:cNvPr id="44" name="bld5_2926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10350734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42354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394106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0394106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1042354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52" name="bld5_2928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info</a:t>
            </a:r>
            <a:endParaRPr lang="en-US" sz="1450" dirty="0"/>
          </a:p>
        </p:txBody>
      </p:sp>
      <p:sp>
        <p:nvSpPr>
          <p:cNvPr id="53" name="bld5_2929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Ingredients, allergens, volume, batch code.</a:t>
            </a:r>
            <a:endParaRPr lang="en-US" sz="1080" dirty="0"/>
          </a:p>
        </p:txBody>
      </p:sp>
      <p:sp>
        <p:nvSpPr>
          <p:cNvPr id="55" name="trans_fade_18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6" name="Text 5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8" grpId="0"/>
      <p:bldP spid="19" grpId="0"/>
      <p:bldP spid="20" grpId="0"/>
      <p:bldP spid="24" grpId="0"/>
      <p:bldP spid="25" grpId="0"/>
      <p:bldP spid="26" grpId="0"/>
      <p:bldP spid="33" grpId="0"/>
      <p:bldP spid="34" grpId="0"/>
      <p:bldP spid="35" grpId="0"/>
      <p:bldP spid="42" grpId="0"/>
      <p:bldP spid="43" grpId="0"/>
      <p:bldP spid="44" grpId="0"/>
      <p:bldP spid="52" grpId="0"/>
      <p:bldP spid="53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PRESENTATION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Packaging tells the story too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986731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538488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2930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2" name="Shape 10"/>
          <p:cNvSpPr/>
          <p:nvPr/>
        </p:nvSpPr>
        <p:spPr>
          <a:xfrm>
            <a:off x="1810033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3868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48136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84712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7" name="bld1_2932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Boxes</a:t>
            </a:r>
            <a:endParaRPr lang="en-US" sz="1450" dirty="0"/>
          </a:p>
        </p:txBody>
      </p:sp>
      <p:sp>
        <p:nvSpPr>
          <p:cNvPr id="18" name="bld1_2933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and unboxing experience.</a:t>
            </a:r>
            <a:endParaRPr lang="en-US" sz="1080" dirty="0"/>
          </a:p>
        </p:txBody>
      </p:sp>
      <p:sp>
        <p:nvSpPr>
          <p:cNvPr id="19" name="bld2_2934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1" name="Shape 19"/>
          <p:cNvSpPr/>
          <p:nvPr/>
        </p:nvSpPr>
        <p:spPr>
          <a:xfrm>
            <a:off x="4391749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464561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435122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435122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464561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7" name="bld2_2936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</a:t>
            </a:r>
            <a:endParaRPr lang="en-US" sz="1450" dirty="0"/>
          </a:p>
        </p:txBody>
      </p:sp>
      <p:sp>
        <p:nvSpPr>
          <p:cNvPr id="28" name="bld2_2937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and brand identity.</a:t>
            </a:r>
            <a:endParaRPr lang="en-US" sz="1080" dirty="0"/>
          </a:p>
        </p:txBody>
      </p:sp>
      <p:sp>
        <p:nvSpPr>
          <p:cNvPr id="29" name="bld3_2938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1" name="Shape 29"/>
          <p:cNvSpPr/>
          <p:nvPr/>
        </p:nvSpPr>
        <p:spPr>
          <a:xfrm>
            <a:off x="7485257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32" name="Shape 30"/>
          <p:cNvSpPr/>
          <p:nvPr/>
        </p:nvSpPr>
        <p:spPr>
          <a:xfrm>
            <a:off x="7489091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23360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459936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6" name="bld3_2940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 presentation</a:t>
            </a:r>
            <a:endParaRPr lang="en-US" sz="1450" dirty="0"/>
          </a:p>
        </p:txBody>
      </p:sp>
      <p:sp>
        <p:nvSpPr>
          <p:cNvPr id="37" name="bld3_2941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looks and feels in hand.</a:t>
            </a:r>
            <a:endParaRPr lang="en-US" sz="1080" dirty="0"/>
          </a:p>
        </p:txBody>
      </p:sp>
      <p:sp>
        <p:nvSpPr>
          <p:cNvPr id="38" name="bld4_2942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0" name="Shape 38"/>
          <p:cNvSpPr/>
          <p:nvPr/>
        </p:nvSpPr>
        <p:spPr>
          <a:xfrm>
            <a:off x="10322869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26703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260972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297548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45" name="bld4_2944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Samples</a:t>
            </a:r>
            <a:endParaRPr lang="en-US" sz="1450" dirty="0"/>
          </a:p>
        </p:txBody>
      </p:sp>
      <p:sp>
        <p:nvSpPr>
          <p:cNvPr id="46" name="bld4_2945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trial for new customers.</a:t>
            </a:r>
            <a:endParaRPr lang="en-US" sz="1080" dirty="0"/>
          </a:p>
        </p:txBody>
      </p:sp>
      <p:sp>
        <p:nvSpPr>
          <p:cNvPr id="48" name="trans_fade_19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9" name="Text 4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7" grpId="0"/>
      <p:bldP spid="18" grpId="0"/>
      <p:bldP spid="19" grpId="0"/>
      <p:bldP spid="27" grpId="0"/>
      <p:bldP spid="28" grpId="0"/>
      <p:bldP spid="29" grpId="0"/>
      <p:bldP spid="36" grpId="0"/>
      <p:bldP spid="37" grpId="0"/>
      <p:bldP spid="38" grpId="0"/>
      <p:bldP spid="45" grpId="0"/>
      <p:bldP spid="46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LOGO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brand is not just a logo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58127" y="1878562"/>
            <a:ext cx="2179162" cy="2179162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35289" y="2255724"/>
            <a:ext cx="1424836" cy="1424836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logo is one layer. A brand is every layer together.</a:t>
            </a:r>
            <a:endParaRPr lang="en-US" sz="1050" dirty="0"/>
          </a:p>
        </p:txBody>
      </p:sp>
      <p:sp>
        <p:nvSpPr>
          <p:cNvPr id="13" name="bld1_294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4" name="bld1_294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</a:t>
            </a:r>
            <a:endParaRPr lang="en-US" sz="1650" dirty="0"/>
          </a:p>
        </p:txBody>
      </p:sp>
      <p:sp>
        <p:nvSpPr>
          <p:cNvPr id="15" name="bld1_2948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fragrance, why now, why you.</a:t>
            </a:r>
            <a:endParaRPr lang="en-US" sz="1250" dirty="0"/>
          </a:p>
        </p:txBody>
      </p:sp>
      <p:sp>
        <p:nvSpPr>
          <p:cNvPr id="16" name="bld2_2949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7" name="bld2_2950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650" dirty="0"/>
          </a:p>
        </p:txBody>
      </p:sp>
      <p:sp>
        <p:nvSpPr>
          <p:cNvPr id="18" name="bld2_2951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 point of view across everything you make.</a:t>
            </a:r>
            <a:endParaRPr lang="en-US" sz="1250" dirty="0"/>
          </a:p>
        </p:txBody>
      </p:sp>
      <p:sp>
        <p:nvSpPr>
          <p:cNvPr id="19" name="bld3_2952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bld3_2953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</a:t>
            </a:r>
            <a:endParaRPr lang="en-US" sz="1650" dirty="0"/>
          </a:p>
        </p:txBody>
      </p:sp>
      <p:sp>
        <p:nvSpPr>
          <p:cNvPr id="21" name="bld3_2954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 person you're speaking to, not "everyone."</a:t>
            </a:r>
            <a:endParaRPr lang="en-US" sz="1250" dirty="0"/>
          </a:p>
        </p:txBody>
      </p:sp>
      <p:sp>
        <p:nvSpPr>
          <p:cNvPr id="22" name="bld4_2955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3" name="bld4_2956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 language, positioning &amp; tone</a:t>
            </a:r>
            <a:endParaRPr lang="en-US" sz="1650" dirty="0"/>
          </a:p>
        </p:txBody>
      </p:sp>
      <p:sp>
        <p:nvSpPr>
          <p:cNvPr id="24" name="bld4_2957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looks, where it sits in the market, and how it talks to people.</a:t>
            </a:r>
            <a:endParaRPr lang="en-US" sz="1250" dirty="0"/>
          </a:p>
        </p:txBody>
      </p:sp>
      <p:sp>
        <p:nvSpPr>
          <p:cNvPr id="26" name="trans_fade_19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LANE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positioning — pick a lane</a:t>
            </a:r>
            <a:endParaRPr lang="en-US" sz="3200" dirty="0"/>
          </a:p>
        </p:txBody>
      </p:sp>
      <p:sp>
        <p:nvSpPr>
          <p:cNvPr id="7" name="bld1_2958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" name="Shape 7"/>
          <p:cNvSpPr/>
          <p:nvPr/>
        </p:nvSpPr>
        <p:spPr>
          <a:xfrm>
            <a:off x="1669681" y="2050780"/>
            <a:ext cx="339498" cy="339498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1" name="bld1_2960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Luxury</a:t>
            </a:r>
            <a:endParaRPr lang="en-US" sz="1450" dirty="0"/>
          </a:p>
        </p:txBody>
      </p:sp>
      <p:sp>
        <p:nvSpPr>
          <p:cNvPr id="12" name="bld1_2961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pricing, premium everything.</a:t>
            </a:r>
            <a:endParaRPr lang="en-US" sz="1080" dirty="0"/>
          </a:p>
        </p:txBody>
      </p:sp>
      <p:sp>
        <p:nvSpPr>
          <p:cNvPr id="13" name="bld2_2962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4643092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4400000">
            <a:off x="4748097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8000000">
            <a:off x="4748097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643092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3600000">
            <a:off x="4538087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7200000">
            <a:off x="4538087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618842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2" name="Shape 20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3" name="bld2_2964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Niche</a:t>
            </a:r>
            <a:endParaRPr lang="en-US" sz="1450" dirty="0"/>
          </a:p>
        </p:txBody>
      </p:sp>
      <p:sp>
        <p:nvSpPr>
          <p:cNvPr id="24" name="bld2_2965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Distinctive, less mainstream, expressive.</a:t>
            </a:r>
            <a:endParaRPr lang="en-US" sz="1080" dirty="0"/>
          </a:p>
        </p:txBody>
      </p:sp>
      <p:sp>
        <p:nvSpPr>
          <p:cNvPr id="25" name="bld3_2966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7478279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2700000">
            <a:off x="7530132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5400000">
            <a:off x="7551610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8100000">
            <a:off x="7530132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0800000">
            <a:off x="7478279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3500000">
            <a:off x="7426425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6200000">
            <a:off x="7404947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8900000">
            <a:off x="7426425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475854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6" name="Shape 34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37" name="bld3_2968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Affordable niche</a:t>
            </a:r>
            <a:endParaRPr lang="en-US" sz="1450" dirty="0"/>
          </a:p>
        </p:txBody>
      </p:sp>
      <p:sp>
        <p:nvSpPr>
          <p:cNvPr id="38" name="bld3_2969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character, accessible pricing.</a:t>
            </a:r>
            <a:endParaRPr lang="en-US" sz="1080" dirty="0"/>
          </a:p>
        </p:txBody>
      </p:sp>
      <p:sp>
        <p:nvSpPr>
          <p:cNvPr id="39" name="bld4_2970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27278" y="2021680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42" name="Shape 40"/>
          <p:cNvSpPr/>
          <p:nvPr/>
        </p:nvSpPr>
        <p:spPr>
          <a:xfrm>
            <a:off x="10330537" y="2061450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274666" y="2125081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11242" y="2257515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6" name="bld4_2972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Mass market</a:t>
            </a:r>
            <a:endParaRPr lang="en-US" sz="1450" dirty="0"/>
          </a:p>
        </p:txBody>
      </p:sp>
      <p:sp>
        <p:nvSpPr>
          <p:cNvPr id="47" name="bld4_2973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appeal, widest distribution.</a:t>
            </a:r>
            <a:endParaRPr lang="en-US" sz="1080" dirty="0"/>
          </a:p>
        </p:txBody>
      </p:sp>
      <p:sp>
        <p:nvSpPr>
          <p:cNvPr id="48" name="bld5_2974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0" name="Shape 48"/>
          <p:cNvSpPr/>
          <p:nvPr/>
        </p:nvSpPr>
        <p:spPr>
          <a:xfrm flipV="1">
            <a:off x="1839430" y="4526331"/>
            <a:ext cx="120037" cy="5335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959467" y="4526331"/>
            <a:ext cx="120037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1959467" y="4593018"/>
            <a:ext cx="120037" cy="10670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759405" y="4699718"/>
            <a:ext cx="200062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1759405" y="4579681"/>
            <a:ext cx="80025" cy="12003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692718" y="4512994"/>
            <a:ext cx="146712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818090" y="4558341"/>
            <a:ext cx="42680" cy="4268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944129" y="4510993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064166" y="4577680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944129" y="4684380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744067" y="4684380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677380" y="4497656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3" name="bld5_2976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</a:t>
            </a:r>
            <a:endParaRPr lang="en-US" sz="1450" dirty="0"/>
          </a:p>
        </p:txBody>
      </p:sp>
      <p:sp>
        <p:nvSpPr>
          <p:cNvPr id="64" name="bld5_2977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Boundary-pushing, art-forward.</a:t>
            </a:r>
            <a:endParaRPr lang="en-US" sz="1080" dirty="0"/>
          </a:p>
        </p:txBody>
      </p:sp>
      <p:sp>
        <p:nvSpPr>
          <p:cNvPr id="65" name="bld6_2978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67" name="Shape 65"/>
          <p:cNvSpPr/>
          <p:nvPr/>
        </p:nvSpPr>
        <p:spPr>
          <a:xfrm rot="9000000">
            <a:off x="4555792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6000000">
            <a:off x="4492743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11400000">
            <a:off x="4691592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71" name="bld6_2980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Middle Eastern inspired</a:t>
            </a:r>
            <a:endParaRPr lang="en-US" sz="1450" dirty="0"/>
          </a:p>
        </p:txBody>
      </p:sp>
      <p:sp>
        <p:nvSpPr>
          <p:cNvPr id="72" name="bld6_2981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Rich, oud- and amber-forward.</a:t>
            </a:r>
            <a:endParaRPr lang="en-US" sz="1080" dirty="0"/>
          </a:p>
        </p:txBody>
      </p:sp>
      <p:sp>
        <p:nvSpPr>
          <p:cNvPr id="73" name="bld7_2982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75" name="Shape 73"/>
          <p:cNvSpPr/>
          <p:nvPr/>
        </p:nvSpPr>
        <p:spPr>
          <a:xfrm>
            <a:off x="7291555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77" name="bld7_2984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Minimalist</a:t>
            </a:r>
            <a:endParaRPr lang="en-US" sz="1450" dirty="0"/>
          </a:p>
        </p:txBody>
      </p:sp>
      <p:sp>
        <p:nvSpPr>
          <p:cNvPr id="78" name="bld7_2985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restrained, understated.</a:t>
            </a:r>
            <a:endParaRPr lang="en-US" sz="1080" dirty="0"/>
          </a:p>
        </p:txBody>
      </p:sp>
      <p:sp>
        <p:nvSpPr>
          <p:cNvPr id="79" name="bld8_2986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81" name="Shape 79"/>
          <p:cNvSpPr/>
          <p:nvPr/>
        </p:nvSpPr>
        <p:spPr>
          <a:xfrm rot="15300000">
            <a:off x="1018806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 rot="13050000">
            <a:off x="10233538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 rot="10800000">
            <a:off x="10311040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8550000">
            <a:off x="10388543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6300000">
            <a:off x="10434014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87" name="bld8_2988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Natural-focused</a:t>
            </a:r>
            <a:endParaRPr lang="en-US" sz="1450" dirty="0"/>
          </a:p>
        </p:txBody>
      </p:sp>
      <p:sp>
        <p:nvSpPr>
          <p:cNvPr id="88" name="bld8_2989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Naturals-led, ingredient transparency.</a:t>
            </a:r>
            <a:endParaRPr lang="en-US" sz="1080" dirty="0"/>
          </a:p>
        </p:txBody>
      </p:sp>
      <p:sp>
        <p:nvSpPr>
          <p:cNvPr id="90" name="trans_fade_19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91" name="Text 8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23" grpId="0"/>
      <p:bldP spid="24" grpId="0"/>
      <p:bldP spid="25" grpId="0"/>
      <p:bldP spid="37" grpId="0"/>
      <p:bldP spid="38" grpId="0"/>
      <p:bldP spid="39" grpId="0"/>
      <p:bldP spid="46" grpId="0"/>
      <p:bldP spid="47" grpId="0"/>
      <p:bldP spid="48" grpId="0"/>
      <p:bldP spid="63" grpId="0"/>
      <p:bldP spid="64" grpId="0"/>
      <p:bldP spid="65" grpId="0"/>
      <p:bldP spid="71" grpId="0"/>
      <p:bldP spid="72" grpId="0"/>
      <p:bldP spid="73" grpId="0"/>
      <p:bldP spid="77" grpId="0"/>
      <p:bldP spid="78" grpId="0"/>
      <p:bldP spid="79" grpId="0"/>
      <p:bldP spid="87" grpId="0"/>
      <p:bldP spid="88" grpId="0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CUSTOMERS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perfume brands actually sell</a:t>
            </a:r>
            <a:endParaRPr lang="en-US" sz="3200" dirty="0"/>
          </a:p>
        </p:txBody>
      </p:sp>
      <p:sp>
        <p:nvSpPr>
          <p:cNvPr id="7" name="bld1_2990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78030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50281" y="2218104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50281" y="2157479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50281" y="2089580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4" name="bld1_2992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 website</a:t>
            </a:r>
            <a:endParaRPr lang="en-US" sz="1450" dirty="0"/>
          </a:p>
        </p:txBody>
      </p:sp>
      <p:sp>
        <p:nvSpPr>
          <p:cNvPr id="15" name="bld1_2993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control, full margin.</a:t>
            </a:r>
            <a:endParaRPr lang="en-US" sz="1080" dirty="0"/>
          </a:p>
        </p:txBody>
      </p:sp>
      <p:sp>
        <p:nvSpPr>
          <p:cNvPr id="16" name="bld2_2994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8" name="Shape 16"/>
          <p:cNvSpPr/>
          <p:nvPr/>
        </p:nvSpPr>
        <p:spPr>
          <a:xfrm>
            <a:off x="4507292" y="2050780"/>
            <a:ext cx="339498" cy="339498"/>
          </a:xfrm>
          <a:prstGeom prst="star5">
            <a:avLst/>
          </a:prstGeom>
          <a:solidFill>
            <a:srgbClr val="C79BD9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0" name="bld2_2996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TikTok</a:t>
            </a:r>
            <a:endParaRPr lang="en-US" sz="1450" dirty="0"/>
          </a:p>
        </p:txBody>
      </p:sp>
      <p:sp>
        <p:nvSpPr>
          <p:cNvPr id="21" name="bld2_2997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and storytelling at scale.</a:t>
            </a:r>
            <a:endParaRPr lang="en-US" sz="1080" dirty="0"/>
          </a:p>
        </p:txBody>
      </p:sp>
      <p:sp>
        <p:nvSpPr>
          <p:cNvPr id="22" name="bld3_2998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344904" y="2050780"/>
            <a:ext cx="339498" cy="339498"/>
          </a:xfrm>
          <a:prstGeom prst="star5">
            <a:avLst/>
          </a:prstGeom>
          <a:solidFill>
            <a:srgbClr val="C79BD9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26" name="bld3_3000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Instagram</a:t>
            </a:r>
            <a:endParaRPr lang="en-US" sz="1450" dirty="0"/>
          </a:p>
        </p:txBody>
      </p:sp>
      <p:sp>
        <p:nvSpPr>
          <p:cNvPr id="27" name="bld3_3001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brand-building and community.</a:t>
            </a:r>
            <a:endParaRPr lang="en-US" sz="1080" dirty="0"/>
          </a:p>
        </p:txBody>
      </p:sp>
      <p:sp>
        <p:nvSpPr>
          <p:cNvPr id="28" name="bld4_3002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0" name="Shape 28"/>
          <p:cNvSpPr/>
          <p:nvPr/>
        </p:nvSpPr>
        <p:spPr>
          <a:xfrm>
            <a:off x="10327278" y="2021680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31" name="Shape 29"/>
          <p:cNvSpPr/>
          <p:nvPr/>
        </p:nvSpPr>
        <p:spPr>
          <a:xfrm>
            <a:off x="10330537" y="2061450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274666" y="2125081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311242" y="2257515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5" name="bld4_3004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Pop-ups</a:t>
            </a:r>
            <a:endParaRPr lang="en-US" sz="1450" dirty="0"/>
          </a:p>
        </p:txBody>
      </p:sp>
      <p:sp>
        <p:nvSpPr>
          <p:cNvPr id="36" name="bld4_3005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sampling and connection.</a:t>
            </a:r>
            <a:endParaRPr lang="en-US" sz="1080" dirty="0"/>
          </a:p>
        </p:txBody>
      </p:sp>
      <p:sp>
        <p:nvSpPr>
          <p:cNvPr id="37" name="bld5_3006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9" name="Shape 37"/>
          <p:cNvSpPr/>
          <p:nvPr/>
        </p:nvSpPr>
        <p:spPr>
          <a:xfrm>
            <a:off x="1596931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664831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761830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3" name="bld5_3008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Markets</a:t>
            </a:r>
            <a:endParaRPr lang="en-US" sz="1450" dirty="0"/>
          </a:p>
        </p:txBody>
      </p:sp>
      <p:sp>
        <p:nvSpPr>
          <p:cNvPr id="44" name="bld5_3009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Low-cost, direct customer feedback.</a:t>
            </a:r>
            <a:endParaRPr lang="en-US" sz="1080" dirty="0"/>
          </a:p>
        </p:txBody>
      </p:sp>
      <p:sp>
        <p:nvSpPr>
          <p:cNvPr id="45" name="bld6_3010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7" name="Shape 45"/>
          <p:cNvSpPr/>
          <p:nvPr/>
        </p:nvSpPr>
        <p:spPr>
          <a:xfrm>
            <a:off x="4652055" y="4380832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48" name="Shape 46"/>
          <p:cNvSpPr/>
          <p:nvPr/>
        </p:nvSpPr>
        <p:spPr>
          <a:xfrm>
            <a:off x="4655314" y="4420602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9442" y="4484233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36018" y="4616667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52" name="bld6_3012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</a:t>
            </a:r>
            <a:endParaRPr lang="en-US" sz="1450" dirty="0"/>
          </a:p>
        </p:txBody>
      </p:sp>
      <p:sp>
        <p:nvSpPr>
          <p:cNvPr id="53" name="bld6_3013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shelf presence.</a:t>
            </a:r>
            <a:endParaRPr lang="en-US" sz="1080" dirty="0"/>
          </a:p>
        </p:txBody>
      </p:sp>
      <p:sp>
        <p:nvSpPr>
          <p:cNvPr id="54" name="bld7_3014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6" name="Shape 54"/>
          <p:cNvSpPr/>
          <p:nvPr/>
        </p:nvSpPr>
        <p:spPr>
          <a:xfrm>
            <a:off x="7489666" y="4380832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57" name="Shape 55"/>
          <p:cNvSpPr/>
          <p:nvPr/>
        </p:nvSpPr>
        <p:spPr>
          <a:xfrm>
            <a:off x="7492926" y="4420602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37054" y="4484233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73630" y="4616667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1" name="bld7_3016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Wholesale</a:t>
            </a:r>
            <a:endParaRPr lang="en-US" sz="1450" dirty="0"/>
          </a:p>
        </p:txBody>
      </p:sp>
      <p:sp>
        <p:nvSpPr>
          <p:cNvPr id="62" name="bld7_3017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through other retailers.</a:t>
            </a:r>
            <a:endParaRPr lang="en-US" sz="1080" dirty="0"/>
          </a:p>
        </p:txBody>
      </p:sp>
      <p:sp>
        <p:nvSpPr>
          <p:cNvPr id="63" name="bld8_3018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65" name="Shape 63"/>
          <p:cNvSpPr/>
          <p:nvPr/>
        </p:nvSpPr>
        <p:spPr>
          <a:xfrm>
            <a:off x="10182516" y="4409932"/>
            <a:ext cx="339498" cy="339498"/>
          </a:xfrm>
          <a:prstGeom prst="star5">
            <a:avLst/>
          </a:prstGeom>
          <a:solidFill>
            <a:srgbClr val="C9503E">
              <a:alpha val="90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67" name="bld8_3020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Influencers &amp; sampling</a:t>
            </a:r>
            <a:endParaRPr lang="en-US" sz="1450" dirty="0"/>
          </a:p>
        </p:txBody>
      </p:sp>
      <p:sp>
        <p:nvSpPr>
          <p:cNvPr id="68" name="bld8_3021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voices driving discovery.</a:t>
            </a:r>
            <a:endParaRPr lang="en-US" sz="1080" dirty="0"/>
          </a:p>
        </p:txBody>
      </p:sp>
      <p:sp>
        <p:nvSpPr>
          <p:cNvPr id="70" name="trans_fade_19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4" grpId="0"/>
      <p:bldP spid="15" grpId="0"/>
      <p:bldP spid="16" grpId="0"/>
      <p:bldP spid="20" grpId="0"/>
      <p:bldP spid="21" grpId="0"/>
      <p:bldP spid="22" grpId="0"/>
      <p:bldP spid="26" grpId="0"/>
      <p:bldP spid="27" grpId="0"/>
      <p:bldP spid="28" grpId="0"/>
      <p:bldP spid="35" grpId="0"/>
      <p:bldP spid="36" grpId="0"/>
      <p:bldP spid="37" grpId="0"/>
      <p:bldP spid="43" grpId="0"/>
      <p:bldP spid="44" grpId="0"/>
      <p:bldP spid="45" grpId="0"/>
      <p:bldP spid="52" grpId="0"/>
      <p:bldP spid="53" grpId="0"/>
      <p:bldP spid="54" grpId="0"/>
      <p:bldP spid="61" grpId="0"/>
      <p:bldP spid="62" grpId="0"/>
      <p:bldP spid="63" grpId="0"/>
      <p:bldP spid="67" grpId="0"/>
      <p:bldP spid="68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SELLS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the story, not the note list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96266" y="195432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9758275" y="228999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9581803" y="283312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010728" y="283312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8834257" y="228999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306324" y="2726758"/>
            <a:ext cx="482768" cy="482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"Rose, amber, musk" is a list. A story is what makes someone actually buy.</a:t>
            </a:r>
            <a:endParaRPr lang="en-US" sz="1050" dirty="0"/>
          </a:p>
        </p:txBody>
      </p:sp>
      <p:sp>
        <p:nvSpPr>
          <p:cNvPr id="17" name="bld1_302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8" name="bld1_302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</a:t>
            </a:r>
            <a:endParaRPr lang="en-US" sz="1650" dirty="0"/>
          </a:p>
        </p:txBody>
      </p:sp>
      <p:sp>
        <p:nvSpPr>
          <p:cNvPr id="19" name="bld1_3024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make someone feel, not just what's inside it.</a:t>
            </a:r>
            <a:endParaRPr lang="en-US" sz="1250" dirty="0"/>
          </a:p>
        </p:txBody>
      </p:sp>
      <p:sp>
        <p:nvSpPr>
          <p:cNvPr id="20" name="bld2_3025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2_3026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World-building</a:t>
            </a:r>
            <a:endParaRPr lang="en-US" sz="1650" dirty="0"/>
          </a:p>
        </p:txBody>
      </p:sp>
      <p:sp>
        <p:nvSpPr>
          <p:cNvPr id="22" name="bld2_3027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whole aesthetic universe around the fragrance.</a:t>
            </a:r>
            <a:endParaRPr lang="en-US" sz="1250" dirty="0"/>
          </a:p>
        </p:txBody>
      </p:sp>
      <p:sp>
        <p:nvSpPr>
          <p:cNvPr id="23" name="bld3_3028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3_3029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650" dirty="0"/>
          </a:p>
        </p:txBody>
      </p:sp>
      <p:sp>
        <p:nvSpPr>
          <p:cNvPr id="25" name="bld3_3030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this make the wearer feel like?</a:t>
            </a:r>
            <a:endParaRPr lang="en-US" sz="1250" dirty="0"/>
          </a:p>
        </p:txBody>
      </p:sp>
      <p:sp>
        <p:nvSpPr>
          <p:cNvPr id="26" name="bld4_3031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bld4_3032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</a:t>
            </a:r>
            <a:endParaRPr lang="en-US" sz="1650" dirty="0"/>
          </a:p>
        </p:txBody>
      </p:sp>
      <p:sp>
        <p:nvSpPr>
          <p:cNvPr id="28" name="bld4_3033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unboxing, the sampling, the ritual — not just the liquid.</a:t>
            </a:r>
            <a:endParaRPr lang="en-US" sz="1250" dirty="0"/>
          </a:p>
        </p:txBody>
      </p:sp>
      <p:sp>
        <p:nvSpPr>
          <p:cNvPr id="30" name="trans_fade_19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ROADMAP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to growth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3657600"/>
            <a:ext cx="10728655" cy="914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3584448"/>
            <a:ext cx="146304" cy="146304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3511296"/>
            <a:ext cx="292608" cy="292608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99450" y="3584448"/>
            <a:ext cx="146304" cy="14630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Shape 7"/>
          <p:cNvSpPr/>
          <p:nvPr/>
        </p:nvSpPr>
        <p:spPr>
          <a:xfrm>
            <a:off x="1926298" y="3511296"/>
            <a:ext cx="292608" cy="292608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78242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0532" y="3584448"/>
            <a:ext cx="146304" cy="14630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Shape 10"/>
          <p:cNvSpPr/>
          <p:nvPr/>
        </p:nvSpPr>
        <p:spPr>
          <a:xfrm>
            <a:off x="3267380" y="3511296"/>
            <a:ext cx="292608" cy="292608"/>
          </a:xfrm>
          <a:prstGeom prst="ellipse">
            <a:avLst/>
          </a:prstGeom>
          <a:ln w="12802">
            <a:solidFill>
              <a:srgbClr val="C9A3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19324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81614" y="3584448"/>
            <a:ext cx="146304" cy="14630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Shape 13"/>
          <p:cNvSpPr/>
          <p:nvPr/>
        </p:nvSpPr>
        <p:spPr>
          <a:xfrm>
            <a:off x="4608462" y="3511296"/>
            <a:ext cx="292608" cy="292608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0406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22696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9544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01488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63778" y="3584448"/>
            <a:ext cx="146304" cy="14630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Shape 19"/>
          <p:cNvSpPr/>
          <p:nvPr/>
        </p:nvSpPr>
        <p:spPr>
          <a:xfrm>
            <a:off x="7290626" y="3511296"/>
            <a:ext cx="292608" cy="292608"/>
          </a:xfrm>
          <a:prstGeom prst="ellipse">
            <a:avLst/>
          </a:prstGeom>
          <a:ln w="12802">
            <a:solidFill>
              <a:srgbClr val="C9A35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42570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704859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4" name="Shape 22"/>
          <p:cNvSpPr/>
          <p:nvPr/>
        </p:nvSpPr>
        <p:spPr>
          <a:xfrm>
            <a:off x="8631707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3651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045941" y="3584448"/>
            <a:ext cx="146304" cy="146304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7" name="Shape 25"/>
          <p:cNvSpPr/>
          <p:nvPr/>
        </p:nvSpPr>
        <p:spPr>
          <a:xfrm>
            <a:off x="9972789" y="3511296"/>
            <a:ext cx="292608" cy="292608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524733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1387023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0" name="Shape 28"/>
          <p:cNvSpPr/>
          <p:nvPr/>
        </p:nvSpPr>
        <p:spPr>
          <a:xfrm>
            <a:off x="11313871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865815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in this course lives somewhere on this line. Now go build.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10820095" y="-320040"/>
            <a:ext cx="1645920" cy="1645920"/>
          </a:xfrm>
          <a:prstGeom prst="ellipse">
            <a:avLst/>
          </a:prstGeom>
          <a:ln w="16459">
            <a:solidFill>
              <a:srgbClr val="C9A35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great perfume deserves a story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 remembering. Build both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the same care.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COURSE</a:t>
            </a:r>
            <a:endParaRPr lang="en-US" sz="1100" dirty="0"/>
          </a:p>
        </p:txBody>
      </p:sp>
      <p:sp>
        <p:nvSpPr>
          <p:cNvPr id="10" name="trans_fade_19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197</Slides>
  <Notes>197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197</vt:i4>
      </vt:variant>
    </vt:vector>
  </HeadingPairs>
  <TitlesOfParts>
    <vt:vector size="20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Art &amp; Science of Perfumery</dc:title>
  <dc:subject>Beginner-to-intermediate perfumery course companion deck</dc:subject>
  <dc:creator>YEVFUMES</dc:creator>
  <cp:lastModifiedBy>YEVFUMES</cp:lastModifiedBy>
  <cp:revision>1</cp:revision>
  <dcterms:created xsi:type="dcterms:W3CDTF">2026-09-01T18:32:44Z</dcterms:created>
  <dcterms:modified xsi:type="dcterms:W3CDTF">2026-09-01T18:32:44Z</dcterms:modified>
</cp:coreProperties>
</file>