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</p:sldIdLst>
  <p:notesMasterIdLst>
    <p:notesMasterId r:id="rId13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notesMaster" Target="notesMasters/notesMaster1.xml"/><Relationship Id="rId140" Type="http://schemas.openxmlformats.org/officeDocument/2006/relationships/presProps" Target="presProps.xml"/><Relationship Id="rId141" Type="http://schemas.openxmlformats.org/officeDocument/2006/relationships/viewProps" Target="viewProps.xml"/><Relationship Id="rId142" Type="http://schemas.openxmlformats.org/officeDocument/2006/relationships/theme" Target="theme/theme1.xml"/><Relationship Id="rId1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Warm cold open. Set the tone: this is not a corporate course, it's a creative lab. Introduce the energy of the whole program before naming a single ingredient.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the philosophy: slides support the video, they never replace it. Encourage students to keep a physical notebook too.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each teacher a genuine, personal introduction here — background, how you got into perfumery, why you're teaching this together.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these as outcomes, not topics — this is what changes for the student, not just what they'll hear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the roadmap top to bottom. Give students a sense of pacing — this is a real curriculum, not a random collection of videos.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Discord mechanics concretely: channel names, homework threads, how office hours are scheduled.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philosophical core of the whole course — spend real time here. This is what separates hobbyists who plateau from ones who keep improving.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 this hard — the single biggest predictor of student success is whether they actually smell the materials, not whether they watch closely.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specific software/spreadsheet system you use. Show a live example if possible during the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on this note. Let it land — it's the thesis statement for the entire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module is foundational vocabulary and concepts. Nothing hands-on yet, but everything after this depends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slow here — these six words will recur in every future module. Use a quick real-world example for each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Diffusion, tenacity and impact get confused constantly — spend extra time distinguishing them, you'll reuse this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percentage ranges are industry conventions, not fixed law — brands vary widely. The next point is more important than these numbers.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important corrections in the whole basics module — students constantly conflate concentration % with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this pyramid is a simplification. Almost every real material has some presence across multiple layers — don't let students take it too literally.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solvents matter: they let you work at safe, evaluable concentrations and match the final product format (spray vs oil vs roll-on).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round numbers, not a fixed rule — the point is proportion, not precision. This is a teaching example, not a formula to copy.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up the myth-busting that continues in module 03.2 — synthetic does not mean lesser. Both are professional tools.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over-explain each one here — this is a map, not a lesson. Families get their real depth in module 03.1.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fun with this slide — deliver it with energy, it's meant to be memorable and a little provocative.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module 01 by reinforcing that everything just taught is a simplified model. Real perfumery is messier and more interesting.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this is a lean, practical kit, not an expensive lab buildout. Everything shown is realistic for a beginner budget.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Recommend specific models if you have them, but keep the spec (0.001g / ~200g) as the takeaway regardless of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that some solvents degrade certain plastics over time — glass is safer for long-term dedicated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Amber glass isn't optional for long-term storage — UV light degrades many raw materials over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sets up module 05 (training your nose) — evaluation habits start here with the physical object.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quickly through this slide — it's a checklist, not a lecture. Each item gets one sentence at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protects the course from going stale as suppliers change — teach the search habit, not a single vendor.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permission to start small — the essential column is genuinely enough to begin every remaining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reassurance — equipment anxiety stops beginners before they start. Two tools are genuinely enough.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is about vocabulary and behaviour, applied specifically to natural materials. Synthetics get their own module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twelve families from module 01, now framed as a sorting tool you'll use to classify every material you smell.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Longevity is one of the first properties students should log for every material — connect directly to module 05's evaluation habit.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four terms get confused constantly — a material can have huge projection but low tenacity, or the reverse. Use concrete examples.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honest — don't present molecular weight as a deterministic rule, the prompt is explicit about avoiding that oversimplification.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extraction methods of the same plant can smell meaningfully different — e.g. rose absolute vs. rose otto.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source and smell each of these four before the next lesson — they anchor the entire family map.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as previous slide — pair with a smelling assignment before moving to synthetics.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practically: always re-evaluate a new batch of a natural material before trusting an existing formula built on the old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module. Bridge to next: 'now let's look at the other half of the palette — synthetics.'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Bring energy here — this is meant to be one of the most exciting modules. Set up the myth-busting early.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synthetics as an achievement, not a compromise. This sets the tone for the whole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Move briskly — this is a map for the two material-card slides that follow.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one sentence of context per material live, if time allows. These eight are the highest-value to memorise first.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Calone is a great story to tell live — a single material that created an entire olfactory category in the 1990s.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playfully but firmly — these myths do real damage to beginners who avoid a huge, useful part of the palette out of misplaced guilt.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anticipation for the card grid that follows — this is where students realise how disproportionate a material's impact can 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takeaway: percentage and impact are not linear. A 0.3% dose of the right material can outweigh 5% of something else.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confidence — students should leave excited to experiment with synthetics, not intimidated by them.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materials theory to a real purchase order — the most actionable module so far.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this warning — it's the single most common beginner mistake and it kills momentum fast.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representative starter set, not gospel — the point is coverage across every major family with ~30 materials total.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second wave dramatically expands what's possible — but only makes sense once the first 30 are familiar.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shopping categories — encourage students to buy at least one or two materials from every category before doubling 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connects back to the mindset module — buying random "interesting" materials is the equivalent of copying formulas without understanding.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wrap-up before module 04 — a student who checks every box here is genuinely ready to begin diluting.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by reinforcing patience — this module often produces the most excitement and the most temptation to overbuy.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one of the most practical, hands-on modules — encourage students to have their scale out while watching.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dilution as a superpower, not a hurdle — it's what turns raw, unusable materials into a working palette.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ladder will come up repeatedly — most working stocks in this course live at 10% or 1%.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this live on camera if possible — watching the actual weighing is far more valuable than hearing the ratio described.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Warn against overheating — gentle warming only, many materials degrade or evaporate unwanted fractions under heat.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this is a starting guideline — always confirm the right dilution by smelling, not just by category.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habit prevents the single most common lab disaster: an unlabelled bottle of unknown strength.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practical safety reminder as well as a philosophical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the tone: this is a discipline, not a talent. Anyone who does this consistently improves.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timeline should feel familiar — it echoes module 02's scent strip introduction, now turned into a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a template — the same eight fields, every single evaluation, so patterns become visible over months.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Connects directly back to module 04's dilution ladder — reinforce the link between the two modules.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schema we'll show in the sample card next — recommend a spreadsheet or simple database, whichever software you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your actual software on screen here if possible — this slide is a mock-up standing in for a live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by reinforcing the daily habit — consistency over intensity.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hands-on, practical module. Encourage students to have a few materials on hand to build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 live example if possible — build a two-material accord on camera and let it click for viewers.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viewers to guess how many materials might build each of these before revealing the apple breakdown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class to break down apple before you reveal it — this is a genuinely great teaching exercise on camera.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exact mental process students should repeat for any accord they want to build — not a formula to copy verbatim.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Prevent a common mistake: students treating a good accord as a complete, sellable fragrance.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Jean Carles' method is one of the most influential teaching frameworks in perfumery history — worth a short story about him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Once these five ratios are smelled and logged, introduce material C and repeat the process against the best A:B blend.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loop repeats throughout the entire course — module 08 revisits it at the full-formula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— this single discipline is what separates methodical perfumers from ones who guess and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module where everything so far converges — terminology, materials, dilution, accords. Frame it as the culmination.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 mental checklist students should run through for every formula they build from now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write their own one-sentence idea before building — this becomes the north star for the whole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how these four pieces, each built with the Jean Carles method from module 06, come together into one composition.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direct bridge from module 06 — reassure students the method they just learned scales up cleanly.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four example formulas that follow will each demonstrate this explicitly.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Explain why each material earns its place — this is more valuable than the exact percentages themselves.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this with the fresh formula — notice how few volatile top notes it needs; woods live in the heart and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how bergamot's job here is purely structural — preventing the gourmand from feeling flat and cloying.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 the small vanillin at the base — a common technique to add warmth without turning a floral into a gourmand.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principle of restraint — the best formulas are edited, not just assembled.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expectations: version 1 is never the finished formula. This module is about the iteration that follows.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reinforces the habit from module 05, now applied specifically to full formulas rather than single materials.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Same timeline discipline as module 05, scaled up to the whole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"Do I like it?" is an emotional question with no next action. These six questions each point directly to a fix.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mirrors module 06's accord loop exactly — reinforce that it's the same discipline at every scale of the 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directly connects to the Jean Carles "change one variable" principle from module 06 — repeat it here at the formula 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module with patience as the core message — most formulas are abandoned too early, before their drydown is even understood.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bridges formula work to an actual finished bottle — a satisfying, tangible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Emphasise: the percentages never change with scale — only the total weight does. This is why percentage-based formula sheets matter.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simple and visual — students already saw a more detailed breakdown in module 01, this is the practical compounding version.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sets up module 10's discussion of maceration and solubility — the two topics are closely related.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an easy default to overuse — stress the 'not blindly' point, it's explicitly called out for a reason.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seven-step flow is the professional standard — module 10 goes deep on the maceration step specifically.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respect for the process — beginners often rush the alcohol and maceration steps.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module often gets skipped by impatient beginners — make the case for why patience pays off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real, observable effects — ground the module in what's actually measurable, not folklore.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the science accessible — the goal is confidence, not a chemistry lecture.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realistic expectations for how long students should wait before final-judging a compound.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myth causes real wasted time — some students let a broken formula sit for months hoping it will "come together."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concrete, repeatable routine students can follow for every formula going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the module's core lesson — patience matters, but it isn't a substitute for good formula construction.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Deliver this module calmly and clearly — compliance overwhelms beginners fast. Keep the visual language simple throughout.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this disclaimer clearly on camera as well — it protects both students and the course.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IFRA categories cover everything from fine fragrance to household products — explain that the limit depends on end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calculation trips up almost every beginner — walk through it slowly and repeat it for a second material if time allows.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 raw material supplier should provide an SDS — if they don't, that's a red flag about the supplier, not just the material.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Reassure students this isn't a reason to fear naturals — it's simply a labelling requirement to plan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CLP determines what actually has to appear on your finished product's label, based on your formula's hazard profile.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Many self-taught beginners lean on Good Scents for compliance decisions — this correction genuinely matters.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practical answer to "where do I actually check?" — a clean reference list students can return 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flow is the practical checklist to run through before any formula is offered for sale.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firmly but not scarily — this is manageable with the right habits, not a reason to avoid launching a brand.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closing, exciting module — bring both presenters' energy together for the finale.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Everything above this line has been covered in modules 01–11 — this slide is a checkpoint before moving to brand-building.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Encourage students to start with stock bottles for their first run — custom tooling is a later-stage investment.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beautiful label that dissolves the first time it touches spilled perfume is a real, common beginner mistake.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Packaging is often the deciding factor in a first impression, before a customer has smelled anything at 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slide sets up the positioning and storytelling slides that follow — it's the conceptual heart of the module.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There's no wrong lane — the mistake is trying to occupy several at once. Encourage students to commit to 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 successful independent brands start with 2–3 of these channels, not all nine at once.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Contrast a note list against a genuine brand story live — the difference is usually obvious once pointed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the entire course on this slide — it's a map of everything taught across all thirteen modules, end to 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final slide of the entire course — let this close with warmth. Thank the community and point them back to Discord for their next step.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00 · INTRODUCTION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YEVFUMES DISCORD COURSE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Art &amp; Science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6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hands-on, beginner-to-intermediate perfumery education — built to be watched, smelled, and practiced alongside every lesson.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TAUGHT BY YEV &amp; KRISTAN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deck is not the lesson.</a:t>
            </a:r>
            <a:endParaRPr lang="en-US" sz="3200" dirty="0"/>
          </a:p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your lab notebook.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04815" y="1239926"/>
            <a:ext cx="485785" cy="437815"/>
          </a:xfrm>
          <a:prstGeom prst="roundRect">
            <a:avLst>
              <a:gd name="adj" fmla="val 8354"/>
            </a:avLst>
          </a:prstGeom>
          <a:solidFill>
            <a:srgbClr val="0E0D0B"/>
          </a:solidFill>
          <a:ln/>
        </p:spPr>
      </p:sp>
      <p:sp>
        <p:nvSpPr>
          <p:cNvPr id="7" name="Shape 5"/>
          <p:cNvSpPr/>
          <p:nvPr/>
        </p:nvSpPr>
        <p:spPr>
          <a:xfrm>
            <a:off x="9336497" y="1677741"/>
            <a:ext cx="422422" cy="700504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93382" y="2378245"/>
            <a:ext cx="1508650" cy="3239829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29958" y="3674176"/>
            <a:ext cx="1435498" cy="1907321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004594" y="3479787"/>
            <a:ext cx="1086228" cy="842356"/>
          </a:xfrm>
          <a:prstGeom prst="roundRect">
            <a:avLst>
              <a:gd name="adj" fmla="val 3257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course companion — one bottle, one page, one idea at a time.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for video, not for reading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slide is a visual anchor for what Yev or Kristan are explaining out loud — not a script. Watch, listen, and use the slide to stay oriented.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Beginner to intermediate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start with zero assumptions and build to full formula construction, evaluation, compliance and brand launch.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Made to be practiced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real smelling, real dilution, and real formula work — not passive watching.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TEACHERS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 &amp; Kristan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6" name="Shape 4"/>
          <p:cNvSpPr/>
          <p:nvPr/>
        </p:nvSpPr>
        <p:spPr>
          <a:xfrm>
            <a:off x="2586152" y="2121408"/>
            <a:ext cx="1243584" cy="1243584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86152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</a:t>
            </a:r>
            <a:endParaRPr 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Yev</a:t>
            </a:r>
            <a:endParaRPr lang="en-US" sz="19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Formulation · Lab · Business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technical side — equipment, dilution, compounding, compliance and building a brand around a formula.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24448" y="1783080"/>
            <a:ext cx="5318608" cy="4617720"/>
          </a:xfrm>
          <a:prstGeom prst="roundRect">
            <a:avLst>
              <a:gd name="adj" fmla="val 2772"/>
            </a:avLst>
          </a:prstGeom>
          <a:solidFill>
            <a:srgbClr val="EFE6D2"/>
          </a:solidFill>
          <a:ln/>
        </p:spPr>
      </p:sp>
      <p:sp>
        <p:nvSpPr>
          <p:cNvPr id="12" name="Shape 10"/>
          <p:cNvSpPr/>
          <p:nvPr/>
        </p:nvSpPr>
        <p:spPr>
          <a:xfrm>
            <a:off x="8361959" y="2121408"/>
            <a:ext cx="1243584" cy="1243584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61959" y="2121408"/>
            <a:ext cx="12435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</a:t>
            </a:r>
            <a:endParaRPr lang="en-US" sz="3000" dirty="0"/>
          </a:p>
        </p:txBody>
      </p:sp>
      <p:sp>
        <p:nvSpPr>
          <p:cNvPr id="14" name="Text 12"/>
          <p:cNvSpPr txBox="1"/>
          <p:nvPr/>
        </p:nvSpPr>
        <p:spPr>
          <a:xfrm>
            <a:off x="6553048" y="3611880"/>
            <a:ext cx="4861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Kristan</a:t>
            </a:r>
            <a:endParaRPr lang="en-US" sz="1900" dirty="0"/>
          </a:p>
        </p:txBody>
      </p:sp>
      <p:sp>
        <p:nvSpPr>
          <p:cNvPr id="15" name="Text 13"/>
          <p:cNvSpPr txBox="1"/>
          <p:nvPr/>
        </p:nvSpPr>
        <p:spPr>
          <a:xfrm>
            <a:off x="6553048" y="3959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· Nose Training · Composition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644488" y="4389120"/>
            <a:ext cx="467852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the creative side — raw materials, olfactory training, accord building and formula evaluation.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COURSE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will actually be able to 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a material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family, longevity and role from a single scent strip.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 with precision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accurate working dilutions for any raw material.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an accord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 a recognisable smell from individual materials.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Construct a formula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an idea into a structured, balanced composition.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rigorously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formula on scent strip over 48 hours, not by instinct alone.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Launch responsibly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IFRA, SDS, compounding and the first steps of a brand.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COURSE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roadmap through 13 modules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21792" y="172650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21792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Introduction</a:t>
            </a:r>
            <a:endParaRPr lang="en-US" sz="145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169000" y="172650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169000" y="17905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754216" y="160763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Perfumery Basics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6754216" y="19733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1792" y="23265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1792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Equipment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1207008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169000" y="232657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169000" y="23905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6754216" y="22077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Naturals</a:t>
            </a:r>
            <a:endParaRPr lang="en-US" sz="1450" dirty="0"/>
          </a:p>
        </p:txBody>
      </p:sp>
      <p:sp>
        <p:nvSpPr>
          <p:cNvPr id="19" name="Text 17"/>
          <p:cNvSpPr txBox="1"/>
          <p:nvPr/>
        </p:nvSpPr>
        <p:spPr>
          <a:xfrm>
            <a:off x="6754216" y="25734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1792" y="2926652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21792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1207008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Materials — Synthetics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1207008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9000" y="2926652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169000" y="29906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6754216" y="28077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Order</a:t>
            </a:r>
            <a:endParaRPr lang="en-US" sz="1450" dirty="0"/>
          </a:p>
        </p:txBody>
      </p:sp>
      <p:sp>
        <p:nvSpPr>
          <p:cNvPr id="27" name="Text 25"/>
          <p:cNvSpPr txBox="1"/>
          <p:nvPr/>
        </p:nvSpPr>
        <p:spPr>
          <a:xfrm>
            <a:off x="6754216" y="31735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21792" y="3526726"/>
            <a:ext cx="438912" cy="438912"/>
          </a:xfrm>
          <a:prstGeom prst="ellipse">
            <a:avLst/>
          </a:prstGeom>
          <a:ln w="14630">
            <a:solidFill>
              <a:srgbClr val="5B3A52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21792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1207008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1450" dirty="0"/>
          </a:p>
        </p:txBody>
      </p:sp>
      <p:sp>
        <p:nvSpPr>
          <p:cNvPr id="31" name="Text 29"/>
          <p:cNvSpPr txBox="1"/>
          <p:nvPr/>
        </p:nvSpPr>
        <p:spPr>
          <a:xfrm>
            <a:off x="1207008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6169000" y="3526726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6169000" y="35907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4" name="Text 32"/>
          <p:cNvSpPr txBox="1"/>
          <p:nvPr/>
        </p:nvSpPr>
        <p:spPr>
          <a:xfrm>
            <a:off x="6754216" y="3407854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1450" dirty="0"/>
          </a:p>
        </p:txBody>
      </p:sp>
      <p:sp>
        <p:nvSpPr>
          <p:cNvPr id="35" name="Text 33"/>
          <p:cNvSpPr txBox="1"/>
          <p:nvPr/>
        </p:nvSpPr>
        <p:spPr>
          <a:xfrm>
            <a:off x="6754216" y="37736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36" name="Shape 34"/>
          <p:cNvSpPr/>
          <p:nvPr/>
        </p:nvSpPr>
        <p:spPr>
          <a:xfrm>
            <a:off x="621792" y="4126801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621792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1207008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Accords</a:t>
            </a:r>
            <a:endParaRPr lang="en-US" sz="1450" dirty="0"/>
          </a:p>
        </p:txBody>
      </p:sp>
      <p:sp>
        <p:nvSpPr>
          <p:cNvPr id="39" name="Text 37"/>
          <p:cNvSpPr txBox="1"/>
          <p:nvPr/>
        </p:nvSpPr>
        <p:spPr>
          <a:xfrm>
            <a:off x="1207008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6169000" y="4126801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6169000" y="419081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42" name="Text 40"/>
          <p:cNvSpPr txBox="1"/>
          <p:nvPr/>
        </p:nvSpPr>
        <p:spPr>
          <a:xfrm>
            <a:off x="6754216" y="4007929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Construction</a:t>
            </a:r>
            <a:endParaRPr lang="en-US" sz="1450" dirty="0"/>
          </a:p>
        </p:txBody>
      </p:sp>
      <p:sp>
        <p:nvSpPr>
          <p:cNvPr id="43" name="Text 41"/>
          <p:cNvSpPr txBox="1"/>
          <p:nvPr/>
        </p:nvSpPr>
        <p:spPr>
          <a:xfrm>
            <a:off x="6754216" y="437369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44" name="Shape 42"/>
          <p:cNvSpPr/>
          <p:nvPr/>
        </p:nvSpPr>
        <p:spPr>
          <a:xfrm>
            <a:off x="621792" y="4726877"/>
            <a:ext cx="438912" cy="438912"/>
          </a:xfrm>
          <a:prstGeom prst="ellipse">
            <a:avLst/>
          </a:prstGeom>
          <a:ln w="14630">
            <a:solidFill>
              <a:srgbClr val="C9A354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621792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46" name="Text 44"/>
          <p:cNvSpPr txBox="1"/>
          <p:nvPr/>
        </p:nvSpPr>
        <p:spPr>
          <a:xfrm>
            <a:off x="1207008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Evaluating &amp; Developing</a:t>
            </a:r>
            <a:endParaRPr lang="en-US" sz="1450" dirty="0"/>
          </a:p>
        </p:txBody>
      </p:sp>
      <p:sp>
        <p:nvSpPr>
          <p:cNvPr id="47" name="Text 45"/>
          <p:cNvSpPr txBox="1"/>
          <p:nvPr/>
        </p:nvSpPr>
        <p:spPr>
          <a:xfrm>
            <a:off x="1207008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48" name="Shape 46"/>
          <p:cNvSpPr/>
          <p:nvPr/>
        </p:nvSpPr>
        <p:spPr>
          <a:xfrm>
            <a:off x="6169000" y="4726877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49" name="Text 47"/>
          <p:cNvSpPr txBox="1"/>
          <p:nvPr/>
        </p:nvSpPr>
        <p:spPr>
          <a:xfrm>
            <a:off x="6169000" y="479088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50" name="Text 48"/>
          <p:cNvSpPr txBox="1"/>
          <p:nvPr/>
        </p:nvSpPr>
        <p:spPr>
          <a:xfrm>
            <a:off x="6754216" y="460800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&amp; Compounding</a:t>
            </a:r>
            <a:endParaRPr lang="en-US" sz="1450" dirty="0"/>
          </a:p>
        </p:txBody>
      </p:sp>
      <p:sp>
        <p:nvSpPr>
          <p:cNvPr id="51" name="Text 49"/>
          <p:cNvSpPr txBox="1"/>
          <p:nvPr/>
        </p:nvSpPr>
        <p:spPr>
          <a:xfrm>
            <a:off x="6754216" y="497376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52" name="Shape 50"/>
          <p:cNvSpPr/>
          <p:nvPr/>
        </p:nvSpPr>
        <p:spPr>
          <a:xfrm>
            <a:off x="621792" y="5326952"/>
            <a:ext cx="438912" cy="438912"/>
          </a:xfrm>
          <a:prstGeom prst="ellipse">
            <a:avLst/>
          </a:prstGeom>
          <a:ln w="14630">
            <a:solidFill>
              <a:srgbClr val="6E7A50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21792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4" name="Text 52"/>
          <p:cNvSpPr txBox="1"/>
          <p:nvPr/>
        </p:nvSpPr>
        <p:spPr>
          <a:xfrm>
            <a:off x="1207008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&amp; Maceration</a:t>
            </a:r>
            <a:endParaRPr lang="en-US" sz="1450" dirty="0"/>
          </a:p>
        </p:txBody>
      </p:sp>
      <p:sp>
        <p:nvSpPr>
          <p:cNvPr id="55" name="Text 53"/>
          <p:cNvSpPr txBox="1"/>
          <p:nvPr/>
        </p:nvSpPr>
        <p:spPr>
          <a:xfrm>
            <a:off x="1207008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050" dirty="0"/>
          </a:p>
        </p:txBody>
      </p:sp>
      <p:sp>
        <p:nvSpPr>
          <p:cNvPr id="56" name="Shape 54"/>
          <p:cNvSpPr/>
          <p:nvPr/>
        </p:nvSpPr>
        <p:spPr>
          <a:xfrm>
            <a:off x="6169000" y="5326952"/>
            <a:ext cx="438912" cy="438912"/>
          </a:xfrm>
          <a:prstGeom prst="ellipse">
            <a:avLst/>
          </a:prstGeom>
          <a:ln w="14630">
            <a:solidFill>
              <a:srgbClr val="5C5646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6169000" y="5390960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8" name="Text 56"/>
          <p:cNvSpPr txBox="1"/>
          <p:nvPr/>
        </p:nvSpPr>
        <p:spPr>
          <a:xfrm>
            <a:off x="6754216" y="520808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59" name="Text 57"/>
          <p:cNvSpPr txBox="1"/>
          <p:nvPr/>
        </p:nvSpPr>
        <p:spPr>
          <a:xfrm>
            <a:off x="6754216" y="557384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621792" y="5927027"/>
            <a:ext cx="438912" cy="438912"/>
          </a:xfrm>
          <a:prstGeom prst="ellipse">
            <a:avLst/>
          </a:prstGeom>
          <a:ln w="14630">
            <a:solidFill>
              <a:srgbClr val="B5652D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621792" y="5991035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62" name="Text 60"/>
          <p:cNvSpPr txBox="1"/>
          <p:nvPr/>
        </p:nvSpPr>
        <p:spPr>
          <a:xfrm>
            <a:off x="1207008" y="5808155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Starting A Brand</a:t>
            </a:r>
            <a:endParaRPr lang="en-US" sz="1450" dirty="0"/>
          </a:p>
        </p:txBody>
      </p:sp>
      <p:sp>
        <p:nvSpPr>
          <p:cNvPr id="63" name="Text 61"/>
          <p:cNvSpPr txBox="1"/>
          <p:nvPr/>
        </p:nvSpPr>
        <p:spPr>
          <a:xfrm>
            <a:off x="1207008" y="6173915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1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050" dirty="0"/>
          </a:p>
        </p:txBody>
      </p:sp>
      <p:sp>
        <p:nvSpPr>
          <p:cNvPr id="65" name="Text 6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COURSE WORKS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Discord, one rhythm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06685" y="1627120"/>
            <a:ext cx="2682045" cy="2682045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625755" y="2046189"/>
            <a:ext cx="1843906" cy="184390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296266" y="2716701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closed community built around one shared curriculum.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Video + slide, every lesson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the video with this deck open — the slide tells you where you are, the video does the teaching.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Weekly smelling homework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includes materials to physically smell and log before the next lesson.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Community threads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your evaluations, accords and formulas in Discord for feedback from Yev, Kristan and the group.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Office hours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Q&amp;A sessions to troubleshoot formulas and answer anything the videos didn't cover.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LEARN PERFUMERY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mindset that actually works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 yourself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description replaces putting a strip under your nose. Reading about rose is not smelling rose.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 fearlessly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 mistakes on a scent strip are how you learn. Perfect formulas don't come first — reps do.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records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un-logged smell is a lost lesson. Write it down every single time.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Revisit often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change on your skin, on a strip, over hours. Smell things more than once.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Think, don't copy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you copy teaches you nothing. A formula you build teaches you everything.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 patient with your nose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memory is trained like any other skill — daily, gradually, over months.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NON-NEGOTIABLE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cannot learn to smell from a screen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315413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329129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416448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17819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6013552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027268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7862621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876337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711690" y="2360981"/>
            <a:ext cx="324283" cy="2948026"/>
          </a:xfrm>
          <a:prstGeom prst="roundRect">
            <a:avLst>
              <a:gd name="adj" fmla="val 5640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725406" y="4424599"/>
            <a:ext cx="296851" cy="866120"/>
          </a:xfrm>
          <a:prstGeom prst="roundRect">
            <a:avLst>
              <a:gd name="adj" fmla="val 462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pairs with physical scent strips. Order your materials before you start.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ORGANISED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· INTRODUCTION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systems every perfumer keeps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17150F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06900" y="3288193"/>
            <a:ext cx="281615" cy="28161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321" y="2926117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57511" y="3429000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52321" y="4233613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Shape 14"/>
          <p:cNvSpPr/>
          <p:nvPr/>
        </p:nvSpPr>
        <p:spPr>
          <a:xfrm>
            <a:off x="8843671" y="4233613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Shape 15"/>
          <p:cNvSpPr/>
          <p:nvPr/>
        </p:nvSpPr>
        <p:spPr>
          <a:xfrm>
            <a:off x="8340787" y="2825540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We'll show the exact software setup used throughout this course.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Raw material library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material logged with supplier, dilution, family and notes — your personal reference.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library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building blocks — a rose accord, a woody base — you can drop into future formulas.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sheets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every formula, with dates, percentages and change notes.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Scent-strip evaluation log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Dated, timestamped notes on how a material or formula evolves over 48 hours.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not teaching you to copy formulas.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 are teaching you to think like a perfumer.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00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01 · PERFUMERY BASICS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Vocabulary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 Perfumery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can build a formula, you need the words perfumers actually use to describe one.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words you'll hear constantly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undiluted blend of raw materials before alcohol or solvent is added.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finished, mixed formula — naturals and synthetics combined into one liquid.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or formula reduced in strength with a solvent, expressed as a %.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or more materials blended so they read as one new, unified smell.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pre-built accord used as a foundation — e.g. a musk base or an amber base.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added in small amounts to shift the character of an accord.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TERMINOLOGY · PART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more, about how a scent behaves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Solvent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liquid used to carry and dilute materials — ethanol, DPG, TEC and others.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Fixative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that slows evaporation of lighter notes and extends overall wear.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and how easily a scent spreads into the surrounding air.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a material or formula remains detectable over time.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Impact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strongly a material registers, even at very low doses.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hours in — the final character once top notes have faded.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FRAGRANCE CONCENTRATIONS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Extrait, EDP, EDT, EDC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Extrait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20–30% concentrate. The richest, most expensive tier — closest to skin, longest wear.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Parfum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15–20% concentrate. The modern default for most fine fragrance releases.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Toilette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5–15% concentrate. Lighter, fresher, common for everyday and citrus formulas.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Eau de Cologne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2–5% concentrate. Very light, classic citrus-led, applied liberally.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CRITICAL DISTINCTION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Concentration is not performance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 higher concentration percentage always means a stronger, longer-lasting fragrance."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comes from which materials are used — their diffusion, tenacity and fixative structure — far more than from the raw % of concentrate. A well-built 10% EDT can outlast a poorly built 25% extrait. Concentration is a starting ratio, not a guarantee.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MODEL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pyramid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3953933" y="1691640"/>
            <a:ext cx="474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6" name="Shape 4"/>
          <p:cNvSpPr/>
          <p:nvPr/>
        </p:nvSpPr>
        <p:spPr>
          <a:xfrm>
            <a:off x="3906520" y="1771227"/>
            <a:ext cx="1422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3859107" y="1850813"/>
            <a:ext cx="2370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3811693" y="1930400"/>
            <a:ext cx="33189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3764280" y="2009987"/>
            <a:ext cx="42672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3716867" y="2089573"/>
            <a:ext cx="52154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>
            <a:off x="3669453" y="2169160"/>
            <a:ext cx="61637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622040" y="2248747"/>
            <a:ext cx="71120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>
            <a:off x="3574627" y="2328333"/>
            <a:ext cx="80602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3527213" y="2407920"/>
            <a:ext cx="90085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>
            <a:off x="3479800" y="2487507"/>
            <a:ext cx="99568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3432387" y="2567093"/>
            <a:ext cx="109050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>
            <a:off x="3384973" y="2646680"/>
            <a:ext cx="118533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>
            <a:off x="3337560" y="2726267"/>
            <a:ext cx="128016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90147" y="2805853"/>
            <a:ext cx="137498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0" name="Shape 18"/>
          <p:cNvSpPr/>
          <p:nvPr/>
        </p:nvSpPr>
        <p:spPr>
          <a:xfrm>
            <a:off x="3242733" y="2885440"/>
            <a:ext cx="1469813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>
            <a:off x="3195320" y="2965027"/>
            <a:ext cx="1564640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>
            <a:off x="3147907" y="3044613"/>
            <a:ext cx="1659467" cy="83244"/>
          </a:xfrm>
          <a:prstGeom prst="rect">
            <a:avLst/>
          </a:prstGeom>
          <a:solidFill>
            <a:srgbClr val="C9A354">
              <a:alpha val="94000"/>
            </a:srgbClr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-502920" y="211531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211531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fruits, aldehydes, aromatic herbs — the first impression, 0–30 minutes.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100493" y="3124200"/>
            <a:ext cx="17542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053080" y="3203787"/>
            <a:ext cx="18491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7" name="Shape 25"/>
          <p:cNvSpPr/>
          <p:nvPr/>
        </p:nvSpPr>
        <p:spPr>
          <a:xfrm>
            <a:off x="3005667" y="3283373"/>
            <a:ext cx="19439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8" name="Shape 26"/>
          <p:cNvSpPr/>
          <p:nvPr/>
        </p:nvSpPr>
        <p:spPr>
          <a:xfrm>
            <a:off x="2958253" y="3362960"/>
            <a:ext cx="203877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29" name="Shape 27"/>
          <p:cNvSpPr/>
          <p:nvPr/>
        </p:nvSpPr>
        <p:spPr>
          <a:xfrm>
            <a:off x="2910840" y="3442547"/>
            <a:ext cx="213360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0" name="Shape 28"/>
          <p:cNvSpPr/>
          <p:nvPr/>
        </p:nvSpPr>
        <p:spPr>
          <a:xfrm>
            <a:off x="2863427" y="3522133"/>
            <a:ext cx="222842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1" name="Shape 29"/>
          <p:cNvSpPr/>
          <p:nvPr/>
        </p:nvSpPr>
        <p:spPr>
          <a:xfrm>
            <a:off x="2816013" y="3601720"/>
            <a:ext cx="232325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2" name="Shape 30"/>
          <p:cNvSpPr/>
          <p:nvPr/>
        </p:nvSpPr>
        <p:spPr>
          <a:xfrm>
            <a:off x="2768600" y="3681307"/>
            <a:ext cx="241808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2721187" y="3760893"/>
            <a:ext cx="251290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4" name="Shape 32"/>
          <p:cNvSpPr/>
          <p:nvPr/>
        </p:nvSpPr>
        <p:spPr>
          <a:xfrm>
            <a:off x="2673773" y="3840480"/>
            <a:ext cx="260773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5" name="Shape 33"/>
          <p:cNvSpPr/>
          <p:nvPr/>
        </p:nvSpPr>
        <p:spPr>
          <a:xfrm>
            <a:off x="2626360" y="3920067"/>
            <a:ext cx="270256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6" name="Shape 34"/>
          <p:cNvSpPr/>
          <p:nvPr/>
        </p:nvSpPr>
        <p:spPr>
          <a:xfrm>
            <a:off x="2578947" y="3999653"/>
            <a:ext cx="279738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7" name="Shape 35"/>
          <p:cNvSpPr/>
          <p:nvPr/>
        </p:nvSpPr>
        <p:spPr>
          <a:xfrm>
            <a:off x="2531533" y="4079240"/>
            <a:ext cx="289221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8" name="Shape 36"/>
          <p:cNvSpPr/>
          <p:nvPr/>
        </p:nvSpPr>
        <p:spPr>
          <a:xfrm>
            <a:off x="2484120" y="4158827"/>
            <a:ext cx="298704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39" name="Shape 37"/>
          <p:cNvSpPr/>
          <p:nvPr/>
        </p:nvSpPr>
        <p:spPr>
          <a:xfrm>
            <a:off x="2436707" y="4238413"/>
            <a:ext cx="308186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2389293" y="4318000"/>
            <a:ext cx="3176693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1" name="Shape 39"/>
          <p:cNvSpPr/>
          <p:nvPr/>
        </p:nvSpPr>
        <p:spPr>
          <a:xfrm>
            <a:off x="2341880" y="4397587"/>
            <a:ext cx="3271520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2" name="Shape 40"/>
          <p:cNvSpPr/>
          <p:nvPr/>
        </p:nvSpPr>
        <p:spPr>
          <a:xfrm>
            <a:off x="2294467" y="4477173"/>
            <a:ext cx="3366347" cy="83244"/>
          </a:xfrm>
          <a:prstGeom prst="rect">
            <a:avLst/>
          </a:prstGeom>
          <a:solidFill>
            <a:srgbClr val="6E7A50">
              <a:alpha val="94000"/>
            </a:srgbClr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-502920" y="354787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675120" y="354787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Florals, spices, greens — the main character, emerging 30 minutes to a few hours in.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2247053" y="4556760"/>
            <a:ext cx="34611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6" name="Shape 44"/>
          <p:cNvSpPr/>
          <p:nvPr/>
        </p:nvSpPr>
        <p:spPr>
          <a:xfrm>
            <a:off x="2199640" y="4636347"/>
            <a:ext cx="35560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2152227" y="4715933"/>
            <a:ext cx="36508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8" name="Shape 46"/>
          <p:cNvSpPr/>
          <p:nvPr/>
        </p:nvSpPr>
        <p:spPr>
          <a:xfrm>
            <a:off x="2104813" y="4795520"/>
            <a:ext cx="374565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49" name="Shape 47"/>
          <p:cNvSpPr/>
          <p:nvPr/>
        </p:nvSpPr>
        <p:spPr>
          <a:xfrm>
            <a:off x="2057400" y="4875107"/>
            <a:ext cx="384048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0" name="Shape 48"/>
          <p:cNvSpPr/>
          <p:nvPr/>
        </p:nvSpPr>
        <p:spPr>
          <a:xfrm>
            <a:off x="2009987" y="4954693"/>
            <a:ext cx="393530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1" name="Shape 49"/>
          <p:cNvSpPr/>
          <p:nvPr/>
        </p:nvSpPr>
        <p:spPr>
          <a:xfrm>
            <a:off x="1962573" y="5034280"/>
            <a:ext cx="403013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2" name="Shape 50"/>
          <p:cNvSpPr/>
          <p:nvPr/>
        </p:nvSpPr>
        <p:spPr>
          <a:xfrm>
            <a:off x="1915160" y="5113867"/>
            <a:ext cx="412496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3" name="Shape 51"/>
          <p:cNvSpPr/>
          <p:nvPr/>
        </p:nvSpPr>
        <p:spPr>
          <a:xfrm>
            <a:off x="1867747" y="5193453"/>
            <a:ext cx="421978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1820333" y="5273040"/>
            <a:ext cx="431461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5" name="Shape 53"/>
          <p:cNvSpPr/>
          <p:nvPr/>
        </p:nvSpPr>
        <p:spPr>
          <a:xfrm>
            <a:off x="1772920" y="5352627"/>
            <a:ext cx="440944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6" name="Shape 54"/>
          <p:cNvSpPr/>
          <p:nvPr/>
        </p:nvSpPr>
        <p:spPr>
          <a:xfrm>
            <a:off x="1725507" y="5432213"/>
            <a:ext cx="450426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7" name="Shape 55"/>
          <p:cNvSpPr/>
          <p:nvPr/>
        </p:nvSpPr>
        <p:spPr>
          <a:xfrm>
            <a:off x="1678093" y="5511800"/>
            <a:ext cx="459909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8" name="Shape 56"/>
          <p:cNvSpPr/>
          <p:nvPr/>
        </p:nvSpPr>
        <p:spPr>
          <a:xfrm>
            <a:off x="1630680" y="5591387"/>
            <a:ext cx="469392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59" name="Shape 57"/>
          <p:cNvSpPr/>
          <p:nvPr/>
        </p:nvSpPr>
        <p:spPr>
          <a:xfrm>
            <a:off x="1583267" y="5670973"/>
            <a:ext cx="478874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0" name="Shape 58"/>
          <p:cNvSpPr/>
          <p:nvPr/>
        </p:nvSpPr>
        <p:spPr>
          <a:xfrm>
            <a:off x="1535853" y="5750560"/>
            <a:ext cx="4883573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1" name="Shape 59"/>
          <p:cNvSpPr/>
          <p:nvPr/>
        </p:nvSpPr>
        <p:spPr>
          <a:xfrm>
            <a:off x="1488440" y="5830147"/>
            <a:ext cx="4978400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2" name="Shape 60"/>
          <p:cNvSpPr/>
          <p:nvPr/>
        </p:nvSpPr>
        <p:spPr>
          <a:xfrm>
            <a:off x="1441027" y="5909733"/>
            <a:ext cx="5073227" cy="83244"/>
          </a:xfrm>
          <a:prstGeom prst="rect">
            <a:avLst/>
          </a:prstGeom>
          <a:solidFill>
            <a:srgbClr val="5B3A52">
              <a:alpha val="94000"/>
            </a:srgbClr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-502920" y="4980432"/>
            <a:ext cx="18288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5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675120" y="4980432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musks, ambers, resins — the lasting foundation, hours into the drydown.</a:t>
            </a:r>
            <a:endParaRPr lang="en-US" sz="1100" dirty="0"/>
          </a:p>
        </p:txBody>
      </p:sp>
      <p:sp>
        <p:nvSpPr>
          <p:cNvPr id="65" name="Text 63"/>
          <p:cNvSpPr txBox="1"/>
          <p:nvPr/>
        </p:nvSpPr>
        <p:spPr>
          <a:xfrm>
            <a:off x="548640" y="61722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Useful as a teaching and marketing model — but real formulas overlap top, heart and base heavily. Few materials sit in only one layer.</a:t>
            </a:r>
            <a:endParaRPr lang="en-US" sz="1150" dirty="0"/>
          </a:p>
        </p:txBody>
      </p:sp>
      <p:sp>
        <p:nvSpPr>
          <p:cNvPr id="67" name="Text 6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carries a formula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Ethanol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alcohol. The standard solvent for finished fine-fragrance sprays.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DPG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Dipropylene glycol. Odourless, non-flammable — common for oils and roll-ons.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TEC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Triethyl citrate. A gentler, skin-friendly solvent often used in oil-based formats.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IPM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Isopropyl myristate. A light, fast-absorbing carrier used where appropriate.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GOES INTO A BOTTLE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Anatomy of a finished perfume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finished spray perfume is mostly solvent — not concentrate.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67523" y="2286000"/>
            <a:ext cx="8653644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7523" y="2286000"/>
            <a:ext cx="865364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11421167" y="2286000"/>
            <a:ext cx="110944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1532111" y="2286000"/>
            <a:ext cx="5547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1587583" y="2286000"/>
            <a:ext cx="5547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66928" y="332841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41248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formula itself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297016" y="332841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71336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 —  78%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6571336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66928" y="389534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  —  1%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Optional, softens alcohol bite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97016" y="389534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71336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Antioxidants / stabilisers  —  0.5%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71336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462272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Colour  —  0.5%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41248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appropriate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9631375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SOURCES, ONE PALETTE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vs. synthetics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Essential oils — steam or expression distilled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Absolutes — solvent extracted, richer and truer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CO2 extracts — extracted under pressure, very clean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Resinoids — extracted from gums and resins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Complex, variable, often expensive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10" name="Shape 8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Aroma chemicals — single, isolated molecules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Captives / speciality materials — proprietary, exclusive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Bases — pre-blended synthetic accords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Precise, consistent, batch after batch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effects naturals simply cannot achieve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OLFACTORY FAMILIES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twelve families you'll learn to recognise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Bergamot, lemon, mandarin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Rose, jasmine, muguet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Peach, apple, blackcurrant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 grass, galbanum, leaves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Lavender, rosemary, herbs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550920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Cedar, sandalwood, vetiver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Labdanum, resins, warmth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550920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skin, soft, radiant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Vanilla, caramel, sugar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559988" y="5190744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569132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3569132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Suede, birch tar, smoke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397600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6744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</a:t>
            </a:r>
            <a:endParaRPr lang="en-US" sz="1450" dirty="0"/>
          </a:p>
        </p:txBody>
      </p:sp>
      <p:sp>
        <p:nvSpPr>
          <p:cNvPr id="48" name="Text 46"/>
          <p:cNvSpPr txBox="1"/>
          <p:nvPr/>
        </p:nvSpPr>
        <p:spPr>
          <a:xfrm>
            <a:off x="6406744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 air, ozone, melon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235211" y="5190744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244355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52" name="Text 50"/>
          <p:cNvSpPr txBox="1"/>
          <p:nvPr/>
        </p:nvSpPr>
        <p:spPr>
          <a:xfrm>
            <a:off x="9244355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Pepper, clove, cinnamon</a:t>
            </a:r>
            <a:endParaRPr lang="en-US" sz="108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BASICS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perfumery myths, busted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 is always better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bring soul; synthetics bring precision, safety and effects naturals can't. Great perfumery uses both.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oil means stronger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choice, not raw %, drives strength. A well-built low-concentrate formula can outperform a poorly built rich one.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fake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synthetics smell nothing like an approximation — they're original, beautiful materials with no natural equivalent.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Expensive material = better perfume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 reflects rarity and extraction cost, not olfactory value. Cheap materials can be the hero of a formula.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/ heart / base must separate perfectly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materials span multiple layers at once — the pyramid is a teaching model, not a physical law.</a:t>
            </a:r>
            <a:endParaRPr lang="en-US" sz="1080" dirty="0"/>
          </a:p>
        </p:txBody>
      </p:sp>
      <p:sp>
        <p:nvSpPr>
          <p:cNvPr id="30" name="Shape 28"/>
          <p:cNvSpPr/>
          <p:nvPr/>
        </p:nvSpPr>
        <p:spPr>
          <a:xfrm>
            <a:off x="8115605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316773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32" name="Text 30"/>
          <p:cNvSpPr txBox="1"/>
          <p:nvPr/>
        </p:nvSpPr>
        <p:spPr>
          <a:xfrm>
            <a:off x="8316773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More materials = more complexity</a:t>
            </a:r>
            <a:endParaRPr lang="en-US" sz="1350" dirty="0"/>
          </a:p>
        </p:txBody>
      </p:sp>
      <p:sp>
        <p:nvSpPr>
          <p:cNvPr id="33" name="Text 31"/>
          <p:cNvSpPr txBox="1"/>
          <p:nvPr/>
        </p:nvSpPr>
        <p:spPr>
          <a:xfrm>
            <a:off x="8316773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8316773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comes from how materials interact, not how many are in the beaker. Restraint is a skill.</a:t>
            </a:r>
            <a:endParaRPr lang="en-US" sz="1080" dirty="0"/>
          </a:p>
        </p:txBody>
      </p:sp>
      <p:sp>
        <p:nvSpPr>
          <p:cNvPr id="36" name="Text 3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pyramid, the percentages, the categories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are maps — not the territory. Learn them,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learn when real formulas break them.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02 · EQUIPMENT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Home Laboratory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don't need a professional lab to start — you need the right small set of tools, chosen for accuracy.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01 · THE NON-NEGOTIABLE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scale is your accuracy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74313" y="4293108"/>
            <a:ext cx="2346789" cy="1209751"/>
          </a:xfrm>
          <a:prstGeom prst="roundRect">
            <a:avLst>
              <a:gd name="adj" fmla="val 4535"/>
            </a:avLst>
          </a:prstGeom>
          <a:solidFill>
            <a:srgbClr val="B5652D">
              <a:alpha val="80000"/>
            </a:srgbClr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031414" y="2075231"/>
            <a:ext cx="1032587" cy="2338852"/>
          </a:xfrm>
          <a:prstGeom prst="roundRect">
            <a:avLst>
              <a:gd name="adj" fmla="val 2657"/>
            </a:avLst>
          </a:prstGeom>
          <a:solidFill>
            <a:srgbClr val="FAF6EC"/>
          </a:solidFill>
          <a:ln w="12700">
            <a:solidFill>
              <a:srgbClr val="B5652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543136" y="1470355"/>
            <a:ext cx="914" cy="645201"/>
          </a:xfrm>
          <a:prstGeom prst="line">
            <a:avLst/>
          </a:prstGeom>
          <a:noFill/>
          <a:ln w="25400">
            <a:solidFill>
              <a:srgbClr val="B5652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0.01g kitchen scale cannot see a 0.05g dose. Don't guess where you can measure.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0.001g readability, ~200g capacity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sweet spot for perfumery — precise enough for trace materials, large enough for real batches.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0.001g matters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used at fractions of a percent. A 0.01g scale simply cannot see doses that small.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Repeatability over price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cheap scale that gives a different reading each time is worse than useless — it teaches you the wrong lesson.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Calibration &amp; max capacity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Calibrate regularly with a reference weight, and respect the scale's stated capacity — overloading degrades accuracy.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Pipettes — plastic vs. glass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62854" y="1239926"/>
            <a:ext cx="912498" cy="958123"/>
          </a:xfrm>
          <a:prstGeom prst="ellipse">
            <a:avLst/>
          </a:prstGeom>
          <a:solidFill>
            <a:srgbClr val="6E7A50">
              <a:alpha val="85000"/>
            </a:srgbClr>
          </a:solidFill>
          <a:ln w="12700">
            <a:solidFill>
              <a:srgbClr val="6E7A5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908131" y="2152424"/>
            <a:ext cx="914" cy="2571585"/>
          </a:xfrm>
          <a:prstGeom prst="line">
            <a:avLst/>
          </a:prstGeom>
          <a:noFill/>
          <a:ln w="28575">
            <a:solidFill>
              <a:srgbClr val="6E7A5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10800000">
            <a:off x="8794672" y="4724010"/>
            <a:ext cx="248863" cy="663635"/>
          </a:xfrm>
          <a:prstGeom prst="triangl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9" name="Shape 7"/>
          <p:cNvSpPr/>
          <p:nvPr/>
        </p:nvSpPr>
        <p:spPr>
          <a:xfrm>
            <a:off x="9720063" y="1239926"/>
            <a:ext cx="912498" cy="958123"/>
          </a:xfrm>
          <a:prstGeom prst="ellipse">
            <a:avLst/>
          </a:prstGeom>
          <a:solidFill>
            <a:srgbClr val="C9A354">
              <a:alpha val="85000"/>
            </a:srgbClr>
          </a:solidFill>
          <a:ln w="12700">
            <a:solidFill>
              <a:srgbClr val="C9A35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165339" y="2152424"/>
            <a:ext cx="914" cy="2571585"/>
          </a:xfrm>
          <a:prstGeom prst="line">
            <a:avLst/>
          </a:prstGeom>
          <a:noFill/>
          <a:ln w="28575">
            <a:solidFill>
              <a:srgbClr val="C9A35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rot="10800000">
            <a:off x="10051880" y="4724010"/>
            <a:ext cx="248863" cy="663635"/>
          </a:xfrm>
          <a:prstGeom prst="triangle">
            <a:avLst/>
          </a:prstGeom>
          <a:solidFill>
            <a:srgbClr val="C9A354">
              <a:alpha val="80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both on hand — they solve different problems.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Disposable plastic pipettes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Cheap, fast, zero cleanup — ideal for quick transfers and one-time evaluation dips.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Pasteur pipettes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and solvent-resistant — better for repeated, precise dosing of the same material.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to use each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Plastic for speed and disposability; glass when you're working with strong solvents or want a permanent tool for one material.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Bottles for every stage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 glass bottles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UV-protective storage for raw materials and dilutions.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 vials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volumes for evaluation batches and giving out samples.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bottles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bottles per dilution strength, clearly labelled.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storage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Larger bottles for macerating and storing finished compounds.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04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Scent strips — your primary instrument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08203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1919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04634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06005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6E7A50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884481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898197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8C3B49">
              <a:alpha val="75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10722620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736336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strip, one material, one label — every time.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blotters matter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varies too much between evaluations — a blotter is a consistent, repeatable surface for judging a material.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Proper labelling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material, dilution and date on the strip itself before you dip it — not after.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stamps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the exact time you dipped it, so later evaluations are measured against a real clock.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 evaluation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strip lets you return to the same sample hours or days later and track how it truly evolves.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REST OF THE KIT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tools that save real time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Gloves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Nitrile — many materials irritate or stain skin.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Funnels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lab funnels for clean bottle transfers.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Beakers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mixing and staging larger batches.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383438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Glass rods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163568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stirring without introducing air.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550920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383438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&amp; markers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163568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Alcohol-resistant labels and permanent markers — standard ink smears.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377184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3834384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Weighing boats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163568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boats for solids and viscous materials.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548640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731520" y="54742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Spatulas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731520" y="5803392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solid and paste-like materials.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4332122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505858" y="5190744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515002" y="54742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Storage boxes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4515002" y="5803392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Organised, dark storage for your growing material library.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8115605" y="5017008"/>
            <a:ext cx="352745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289341" y="5190744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298485" y="5474208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Cleaning alcohol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8298485" y="5803392"/>
            <a:ext cx="316169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rinsing glassware between materials — never skip this step.</a:t>
            </a:r>
            <a:endParaRPr lang="en-US" sz="108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to search for, not where to buy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374313" y="2255605"/>
            <a:ext cx="2346789" cy="2346789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rot="2700000">
            <a:off x="10343940" y="4225232"/>
            <a:ext cx="502883" cy="914"/>
          </a:xfrm>
          <a:prstGeom prst="line">
            <a:avLst/>
          </a:prstGeom>
          <a:noFill/>
          <a:ln w="38100">
            <a:solidFill>
              <a:srgbClr val="C9A3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the spec — let the market compete for your order.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Search by spec, not by brand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Suppliers change — the specification doesn't. Search for what you need, not a specific store.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"0.001g precision scale ~200g"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the exact scale class covered earlier, across many sellers.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"amber glass bottles wholesale"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Finds bulk glassware suppliers for storage and dilution bottles.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"perfumer's alcohol" / "glass Pasteur pipettes"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most-searched consumables in any starter kit.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EQUIPMENT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vs. nice-to-have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F0E4DA"/>
          </a:solidFill>
          <a:ln/>
        </p:spPr>
      </p:sp>
      <p:sp>
        <p:nvSpPr>
          <p:cNvPr id="6" name="Shape 4"/>
          <p:cNvSpPr/>
          <p:nvPr/>
        </p:nvSpPr>
        <p:spPr>
          <a:xfrm>
            <a:off x="777240" y="2011680"/>
            <a:ext cx="274320" cy="27432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188720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precision scale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Disposable + glass pipettes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glass bottles + dilution bottles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Scent strips (blotters)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Gloves, labels, markers, cleaning alcohol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78728" y="1783080"/>
            <a:ext cx="5364328" cy="4617720"/>
          </a:xfrm>
          <a:prstGeom prst="roundRect">
            <a:avLst>
              <a:gd name="adj" fmla="val 2376"/>
            </a:avLst>
          </a:prstGeom>
          <a:solidFill>
            <a:srgbClr val="E9EDE0"/>
          </a:solidFill>
          <a:ln/>
        </p:spPr>
      </p:sp>
      <p:sp>
        <p:nvSpPr>
          <p:cNvPr id="10" name="Shape 8"/>
          <p:cNvSpPr/>
          <p:nvPr/>
        </p:nvSpPr>
        <p:spPr>
          <a:xfrm>
            <a:off x="6507328" y="2011680"/>
            <a:ext cx="274320" cy="27432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918808" y="2002536"/>
            <a:ext cx="444992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Nice to have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644488" y="2560320"/>
            <a:ext cx="463280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Magnetic stirrer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Fume extraction / ventilation hood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Ultrasonic cleaner for glassware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fridge for volatile materials</a:t>
            </a:r>
            <a:endParaRPr lang="en-US" sz="1300" dirty="0"/>
          </a:p>
          <a:p>
            <a:pPr marL="177800" indent="-1778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labelling printer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precise scale and a stack of scent strips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will teach you more than any expensive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ever will.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02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03.1 · RAW MATERIALS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&amp; How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Materials Behave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shop, you need a framework — how perfumers actually think about a raw material.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Twelve olfactory groups, revisited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volatile top notes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heart of most formulas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leafy, unripe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sweet, often synthetic-assisted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warm structural base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Resinous, warm, enveloping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550920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Skin-like, radiant, soft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550920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Edible, sweet, comforting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Spicy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sharp, piquant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559988" y="5190744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569132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Aromatic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3569132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Herbal, medicinal, fresh</a:t>
            </a:r>
            <a:endParaRPr lang="en-US" sz="1080" dirty="0"/>
          </a:p>
        </p:txBody>
      </p:sp>
      <p:sp>
        <p:nvSpPr>
          <p:cNvPr id="45" name="Shape 43"/>
          <p:cNvSpPr/>
          <p:nvPr/>
        </p:nvSpPr>
        <p:spPr>
          <a:xfrm>
            <a:off x="6223864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6397600" y="5190744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6406744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48" name="Text 46"/>
          <p:cNvSpPr txBox="1"/>
          <p:nvPr/>
        </p:nvSpPr>
        <p:spPr>
          <a:xfrm>
            <a:off x="6406744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animalic, dry</a:t>
            </a:r>
            <a:endParaRPr lang="en-US" sz="1080" dirty="0"/>
          </a:p>
        </p:txBody>
      </p:sp>
      <p:sp>
        <p:nvSpPr>
          <p:cNvPr id="49" name="Shape 47"/>
          <p:cNvSpPr/>
          <p:nvPr/>
        </p:nvSpPr>
        <p:spPr>
          <a:xfrm>
            <a:off x="9061475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9235211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9244355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Marine / fresh</a:t>
            </a:r>
            <a:endParaRPr lang="en-US" sz="1450" dirty="0"/>
          </a:p>
        </p:txBody>
      </p:sp>
      <p:sp>
        <p:nvSpPr>
          <p:cNvPr id="52" name="Text 50"/>
          <p:cNvSpPr txBox="1"/>
          <p:nvPr/>
        </p:nvSpPr>
        <p:spPr>
          <a:xfrm>
            <a:off x="9244355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clean, airy</a:t>
            </a:r>
            <a:endParaRPr lang="en-US" sz="1080" dirty="0"/>
          </a:p>
        </p:txBody>
      </p:sp>
      <p:sp>
        <p:nvSpPr>
          <p:cNvPr id="54" name="Text 5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 OVER 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 — how long a material lasts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Short-lived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Citrus, light greens — gone in under 2 hours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1" name="Shape 9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18608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Medium-lived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318608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florals, spices — present for several hours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5" name="Shape 13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Long-lasting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Woods, resins, musks — detectable a day or more later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 is a spectrum, not three fixed boxes — most materials sit between these markers.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BEHAVIOUR, PRECISELY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is not the same as tenacity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Strong up close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Detectable only right at the skin or strip — low projection.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Projection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a material's smell carries into the surrounding space.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easily and quickly a smell spreads and fills a room.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Tenacity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the material remains detectable at all, regardless of strength.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PIECE OF THE PUZZLE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Molecular weight and volatility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95166" y="3276459"/>
            <a:ext cx="305083" cy="3050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19372" y="2884210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99995" y="3429000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19372" y="4300665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Shape 14"/>
          <p:cNvSpPr/>
          <p:nvPr/>
        </p:nvSpPr>
        <p:spPr>
          <a:xfrm>
            <a:off x="8785001" y="4300665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0211" y="2775252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molecule diagram tells you a starting hypothesis — your nose confirms it.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Lighter molecules tend to evaporate faster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light molecules generally move into the air more readily — this is part of why citrus notes read first.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But it's not the only factor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Polarity, vapour pressure, and how a material binds to skin or fabric all matter just as much.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 it as a rough guide, not a rule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heavier molecules are surprisingly diffusive; some light ones are surprisingly tenacious. Always confirm by smelling.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EXTRACTION METHODS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all naturals are made the same way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Essential oils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Steam-distilled or cold-expressed — direct, classic extraction.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Absolutes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Solvent-extracted — richer, truer to the living flower, more expensive.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CO2 extracts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under pressure — very clean, often closest to the raw material.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Resinoids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Extracted from gums and resins — deep, warm, amber-adjacent.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Tinctures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steeped directly in alcohol — simple, traditional, variable.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 · PART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naturals every perfumer learns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Bergamot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Bright, sparkling citrus — the classic opening note.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archetypal floral — honeyed, green, slightly spicy.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Vetiver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Earthy, smoky root — a foundational woody base.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sweet, gourmand — one of the most versatile bases in perfumery.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TO KNOW · PART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more foundational naturals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Patchouli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Dark, earthy, slightly sweet — a modern woody-amber staple.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Jasmine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Indolic, heady, intensely floral — a heart-note powerhouse.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Labdanum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Amber-resinous, leathery, warm — the backbone of most amber accords.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Cedarwood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pencil-shaving woodiness — soft and structural.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HONEST TRUTH ABOUT NATURALS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03.1 · NATURALS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two harvests smell identical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2709832" y="2617779"/>
            <a:ext cx="559159" cy="126476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3600000">
            <a:off x="2709832" y="2617779"/>
            <a:ext cx="559159" cy="126476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7200000">
            <a:off x="2709832" y="2617779"/>
            <a:ext cx="559159" cy="126476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2709832" y="2617779"/>
            <a:ext cx="559159" cy="126476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2709832" y="2617779"/>
            <a:ext cx="559159" cy="126476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2709832" y="2617779"/>
            <a:ext cx="559159" cy="1264763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2696519" y="3589650"/>
            <a:ext cx="585785" cy="58578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5816268" y="2617779"/>
            <a:ext cx="559159" cy="1264763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3600000">
            <a:off x="5816268" y="2617779"/>
            <a:ext cx="559159" cy="1264763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7200000">
            <a:off x="5816268" y="2617779"/>
            <a:ext cx="559159" cy="1264763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 rot="10800000">
            <a:off x="5816268" y="2617779"/>
            <a:ext cx="559159" cy="1264763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7" name="Shape 15"/>
          <p:cNvSpPr/>
          <p:nvPr/>
        </p:nvSpPr>
        <p:spPr>
          <a:xfrm rot="14400000">
            <a:off x="5816268" y="2617779"/>
            <a:ext cx="559159" cy="1264763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8" name="Shape 16"/>
          <p:cNvSpPr/>
          <p:nvPr/>
        </p:nvSpPr>
        <p:spPr>
          <a:xfrm rot="18000000">
            <a:off x="5816268" y="2617779"/>
            <a:ext cx="559159" cy="1264763"/>
          </a:xfrm>
          <a:prstGeom prst="ellipse">
            <a:avLst/>
          </a:prstGeom>
          <a:solidFill>
            <a:srgbClr val="B5652D">
              <a:alpha val="86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5802955" y="3589650"/>
            <a:ext cx="585785" cy="58578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8922705" y="2617779"/>
            <a:ext cx="559159" cy="1264763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1" name="Shape 19"/>
          <p:cNvSpPr/>
          <p:nvPr/>
        </p:nvSpPr>
        <p:spPr>
          <a:xfrm rot="3600000">
            <a:off x="8922705" y="2617779"/>
            <a:ext cx="559159" cy="1264763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2" name="Shape 20"/>
          <p:cNvSpPr/>
          <p:nvPr/>
        </p:nvSpPr>
        <p:spPr>
          <a:xfrm rot="7200000">
            <a:off x="8922705" y="2617779"/>
            <a:ext cx="559159" cy="1264763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3" name="Shape 21"/>
          <p:cNvSpPr/>
          <p:nvPr/>
        </p:nvSpPr>
        <p:spPr>
          <a:xfrm rot="10800000">
            <a:off x="8922705" y="2617779"/>
            <a:ext cx="559159" cy="1264763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4" name="Shape 22"/>
          <p:cNvSpPr/>
          <p:nvPr/>
        </p:nvSpPr>
        <p:spPr>
          <a:xfrm rot="14400000">
            <a:off x="8922705" y="2617779"/>
            <a:ext cx="559159" cy="1264763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5" name="Shape 23"/>
          <p:cNvSpPr/>
          <p:nvPr/>
        </p:nvSpPr>
        <p:spPr>
          <a:xfrm rot="18000000">
            <a:off x="8922705" y="2617779"/>
            <a:ext cx="559159" cy="1264763"/>
          </a:xfrm>
          <a:prstGeom prst="ellipse">
            <a:avLst/>
          </a:prstGeom>
          <a:solidFill>
            <a:srgbClr val="6E7A50">
              <a:alpha val="80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8909391" y="3589650"/>
            <a:ext cx="585785" cy="58578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Climate, soil, harvest timing and extraction batch all shift the smell of a natural — plan for variation, don't fight it.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bring soul and complexity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they demand respect for their variability.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03.2 · RAW MATERIALS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—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Modern Palette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perfumery is built on synthetic molecules. This module will change how you see them, for good.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Modern perfumery runs on synthetics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flipV="1">
            <a:off x="9547708" y="2959642"/>
            <a:ext cx="1056055" cy="469358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603763" y="2959642"/>
            <a:ext cx="1056055" cy="586697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603763" y="3546339"/>
            <a:ext cx="1056055" cy="938716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43671" y="4485055"/>
            <a:ext cx="17600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843671" y="3429000"/>
            <a:ext cx="704037" cy="105605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56973" y="2842303"/>
            <a:ext cx="1290734" cy="586697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83432" y="3264725"/>
            <a:ext cx="328551" cy="328551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86423" y="2842303"/>
            <a:ext cx="234679" cy="234679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4" name="Shape 12"/>
          <p:cNvSpPr/>
          <p:nvPr/>
        </p:nvSpPr>
        <p:spPr>
          <a:xfrm>
            <a:off x="11542479" y="3429000"/>
            <a:ext cx="234679" cy="234679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86423" y="4367716"/>
            <a:ext cx="234679" cy="234679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Shape 14"/>
          <p:cNvSpPr/>
          <p:nvPr/>
        </p:nvSpPr>
        <p:spPr>
          <a:xfrm>
            <a:off x="8726331" y="4367716"/>
            <a:ext cx="234679" cy="234679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9634" y="2724963"/>
            <a:ext cx="234679" cy="234679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molecule, isolated and perfected — the synthetic advantage.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Consistency, batch after batch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synthetic molecule smells identical this year and next — naturals simply can't promise that.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Effects that don't exist in nature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radiant, transparent-woody — entire categories of smell with no natural equivalent.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and sustainability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Reduces pressure on endangered species and rare harvests — sandalwood and musk deer among them.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Affordability at scale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Makes beautiful perfumery accessible far beyond luxury-only pricing.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CATEGORIES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 major synthetic families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radiance and fixation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radiant, modern amber effect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Transparent, voluminous woodiness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Isolated, hyper-true floral facets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550920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materials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Stable, longer-lasting citrus effects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550920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 materials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vivid fruit facets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550920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materials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Crisp, leafy, sap-like freshness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377184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550920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3834384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Aldehydes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163568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Sparkling, soapy, waxy lift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548640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22376" y="5190744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31520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Aquatic materials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731520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Ozonic, marine, watery freshness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3386252" y="5017008"/>
            <a:ext cx="2581580" cy="1383792"/>
          </a:xfrm>
          <a:prstGeom prst="roundRect">
            <a:avLst>
              <a:gd name="adj" fmla="val 6608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3559988" y="5190744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3569132" y="5474208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 materials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3569132" y="5803392"/>
            <a:ext cx="2215820" cy="4693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edible, comforting facets</a:t>
            </a:r>
            <a:endParaRPr lang="en-US" sz="108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every perfumer knows by name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Velvety, transparent woody volume — used almost everywhere, at almost any dose.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Airy, jasmine-adjacent radiance that opens up space in a formula.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Ambroxan / Ambrofix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Dry, radiant amber-musk — modern perfumery's signature warmth.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Vanillin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essence of vanilla, isolated — warm, sweet, endlessly versatile.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Coumarin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hay, tonka-like warmth — a gourmand and fougère cornerstone.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Cashmeran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musky, spiced woodiness — cosy and enveloping.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858768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Galaxolide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laundry-like musk — the defining "fresh clean" smell of modern products.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Cotton-candy sweetness — the gourmand trend's key material.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FAMOUS MATERIALS · PART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more worth knowing by heart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Habanolide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big, soft musk with real diffusion and volume.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Ambrettolide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Fruity-musky, natural-feeling animalic warmth.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Linalool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Floral-woody freshness — occurs in lavender, also made synthetically.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Linalyl Acetate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pear-like, lavender-adjacent freshness.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citrus-fresh lift — the backbone of the 90s "fresh" trend.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Calone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Watermelon-ozonic — the material that invented the aquatic family.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myths, busted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49808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49808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less safe than naturals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49808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749808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Synthetics are among the most rigorously tested materials in consumer goods — many naturals contain far more allergens and irritants.</a:t>
            </a:r>
            <a:endParaRPr lang="en-US" sz="1080" dirty="0"/>
          </a:p>
        </p:txBody>
      </p:sp>
      <p:sp>
        <p:nvSpPr>
          <p:cNvPr id="10" name="Shape 8"/>
          <p:cNvSpPr/>
          <p:nvPr/>
        </p:nvSpPr>
        <p:spPr>
          <a:xfrm>
            <a:off x="4332122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4533290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533290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 means cheap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4533290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533290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captive synthetic molecules cost more per kilo than gold-standard naturals — exclusivity and R&amp;D drive price, not "natural vs. synthetic."</a:t>
            </a:r>
            <a:endParaRPr lang="en-US" sz="1080" dirty="0"/>
          </a:p>
        </p:txBody>
      </p:sp>
      <p:sp>
        <p:nvSpPr>
          <p:cNvPr id="15" name="Shape 13"/>
          <p:cNvSpPr/>
          <p:nvPr/>
        </p:nvSpPr>
        <p:spPr>
          <a:xfrm>
            <a:off x="8115605" y="1737360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8316773" y="187452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8316773" y="2139696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smell inherently 'chemical'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8316773" y="2927360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316773" y="3183392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poorly built formula smells chemical — with any material. Iso E Super and Hedione are beloved precisely because they don't.</a:t>
            </a:r>
            <a:endParaRPr lang="en-US" sz="1080" dirty="0"/>
          </a:p>
        </p:txBody>
      </p:sp>
      <p:sp>
        <p:nvSpPr>
          <p:cNvPr id="20" name="Shape 18"/>
          <p:cNvSpPr/>
          <p:nvPr/>
        </p:nvSpPr>
        <p:spPr>
          <a:xfrm>
            <a:off x="548640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49808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749808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 are automatically more sophisticated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749808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49808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of history's most acclaimed perfumes lean heavily synthetic. Sophistication is about composition, not ingredient origin.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4332122" y="4197096"/>
            <a:ext cx="3527450" cy="2203704"/>
          </a:xfrm>
          <a:prstGeom prst="roundRect">
            <a:avLst>
              <a:gd name="adj" fmla="val 4149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4533290" y="433425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000" dirty="0"/>
          </a:p>
        </p:txBody>
      </p:sp>
      <p:sp>
        <p:nvSpPr>
          <p:cNvPr id="27" name="Text 25"/>
          <p:cNvSpPr txBox="1"/>
          <p:nvPr/>
        </p:nvSpPr>
        <p:spPr>
          <a:xfrm>
            <a:off x="4533290" y="4599432"/>
            <a:ext cx="3125114" cy="8814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i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Real perfumers avoid synthetics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4533290" y="5387096"/>
            <a:ext cx="316169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4533290" y="5643128"/>
            <a:ext cx="3125114" cy="669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major fine fragrance house uses synthetics extensively — they are the industry standard, not a shortcut.</a:t>
            </a:r>
            <a:endParaRPr lang="en-US" sz="1080" dirty="0"/>
          </a:p>
        </p:txBody>
      </p:sp>
      <p:sp>
        <p:nvSpPr>
          <p:cNvPr id="31" name="Text 2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17150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FOR THE FUN PART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Superpower materials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655076" y="1536869"/>
            <a:ext cx="4881543" cy="4881543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949401" y="1507579"/>
            <a:ext cx="292893" cy="29289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8" name="Shape 6"/>
          <p:cNvSpPr/>
          <p:nvPr/>
        </p:nvSpPr>
        <p:spPr>
          <a:xfrm>
            <a:off x="2545635" y="427427"/>
            <a:ext cx="7100426" cy="7100426"/>
          </a:xfrm>
          <a:prstGeom prst="ellipse">
            <a:avLst/>
          </a:prstGeom>
          <a:ln w="16459">
            <a:solidFill>
              <a:srgbClr val="B5652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6095848" y="3445108"/>
            <a:ext cx="1198197" cy="53253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294044" y="3445108"/>
            <a:ext cx="1198197" cy="66566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7294044" y="4110773"/>
            <a:ext cx="1198197" cy="10650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97050" y="5175837"/>
            <a:ext cx="1996995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5297050" y="3977640"/>
            <a:ext cx="798798" cy="1198197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631385" y="3311975"/>
            <a:ext cx="1464463" cy="66566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909461" y="3791254"/>
            <a:ext cx="372772" cy="37277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Shape 14"/>
          <p:cNvSpPr/>
          <p:nvPr/>
        </p:nvSpPr>
        <p:spPr>
          <a:xfrm>
            <a:off x="7160911" y="3311975"/>
            <a:ext cx="266266" cy="26626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Shape 15"/>
          <p:cNvSpPr/>
          <p:nvPr/>
        </p:nvSpPr>
        <p:spPr>
          <a:xfrm>
            <a:off x="8359108" y="3977640"/>
            <a:ext cx="266266" cy="26626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Shape 16"/>
          <p:cNvSpPr/>
          <p:nvPr/>
        </p:nvSpPr>
        <p:spPr>
          <a:xfrm>
            <a:off x="7160911" y="5042704"/>
            <a:ext cx="266266" cy="26626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Shape 17"/>
          <p:cNvSpPr/>
          <p:nvPr/>
        </p:nvSpPr>
        <p:spPr>
          <a:xfrm>
            <a:off x="5163917" y="5042704"/>
            <a:ext cx="266266" cy="26626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Shape 18"/>
          <p:cNvSpPr/>
          <p:nvPr/>
        </p:nvSpPr>
        <p:spPr>
          <a:xfrm>
            <a:off x="4498252" y="3178842"/>
            <a:ext cx="266266" cy="26626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handful of materials that can transform a formula at less than 1% of the concentrate.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TRANSFORMERS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03.2 · SYNTHETICS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Small doses, massive effect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Hedione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space and diffusion — makes an entire formula feel airier.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E Super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Adds volume and a transparent woody glow around everything else.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Ambrox materials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and persistence — extends how far and how long a formula reads.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Body, texture and fixation — the skin-like glue that holds a formula together.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Dihydromyrcenol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explosive, fresh lift — instantly brightens an opening.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17150F"/>
          </a:solidFill>
          <a:ln w="12700">
            <a:solidFill>
              <a:srgbClr val="35322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Ethyl Maltol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 and gourmand impact — can flip a formula's whole character.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fraction of a percent can change everything.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Synthetics are precision instruments,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 shortcuts.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03.2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</a:t>
            </a:r>
            <a:endParaRPr lang="en-US" sz="10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03 · WHAT TO ORDER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Building Your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Palette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do you actually order first? A practical, no-nonsense shopping module.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not buy three hundred materials.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a balanced palette, not a chemical hoard.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THIS BEFORE YOU SHOP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first 30 — your absolute fundamentals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(natural)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6118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41248" y="35478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3402254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3402254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94862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02254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94862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Habanolide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02254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3694862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02254" y="36118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3694862" y="35478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255868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&amp; GREEN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255868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8476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255868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548476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255868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548476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9109481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BASE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9109481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402089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9109481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9402089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9109481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9402089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09481" y="36118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9402089" y="35478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</a:t>
            </a:r>
            <a:endParaRPr lang="en-US" sz="12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next 30 — expanding possibilities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WOODS &amp; AMBERS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9C7A3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Norlimbanol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3402254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MUSKS &amp; FLORALS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402254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3694862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Ambrettolide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402254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694862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402254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FC5AE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3694862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255868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FRUITY &amp; GREEN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255868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548476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55868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548476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Galbanum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255868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48476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Prunolide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109481" y="1783080"/>
            <a:ext cx="25335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GOURMAND &amp; FRESH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9109481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402089" y="21762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Calone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9109481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402089" y="26334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Maltol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9109481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9402089" y="3090672"/>
            <a:ext cx="221353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</a:t>
            </a:r>
            <a:endParaRPr lang="en-US" sz="120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 BY FAMILY, NOT BY IMPULSE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Organise every purchase around the palette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Structural base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81872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92465" y="1911096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160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00160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Body &amp; fixation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8881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62555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169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27169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Warmth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890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2644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178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Florals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54178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962899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02734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1187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81187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548640" y="3685032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731520" y="4142232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Fruity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31520" y="4471416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Juiciness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2818729" y="3685032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2992465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3001609" y="4142232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3001609" y="4471416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Freshness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5088819" y="3685032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262555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271699" y="4142232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 / Aquatic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5271699" y="4471416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Airiness</a:t>
            </a:r>
            <a:endParaRPr lang="en-US" sz="1080" dirty="0"/>
          </a:p>
        </p:txBody>
      </p:sp>
      <p:sp>
        <p:nvSpPr>
          <p:cNvPr id="37" name="Shape 35"/>
          <p:cNvSpPr/>
          <p:nvPr/>
        </p:nvSpPr>
        <p:spPr>
          <a:xfrm>
            <a:off x="7358908" y="3685032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32644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7541788" y="4142232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Gourmand</a:t>
            </a:r>
            <a:endParaRPr lang="en-US" sz="1450" dirty="0"/>
          </a:p>
        </p:txBody>
      </p:sp>
      <p:sp>
        <p:nvSpPr>
          <p:cNvPr id="40" name="Text 38"/>
          <p:cNvSpPr txBox="1"/>
          <p:nvPr/>
        </p:nvSpPr>
        <p:spPr>
          <a:xfrm>
            <a:off x="7541788" y="4471416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Sweetness</a:t>
            </a:r>
            <a:endParaRPr lang="en-US" sz="1080" dirty="0"/>
          </a:p>
        </p:txBody>
      </p:sp>
      <p:sp>
        <p:nvSpPr>
          <p:cNvPr id="41" name="Shape 39"/>
          <p:cNvSpPr/>
          <p:nvPr/>
        </p:nvSpPr>
        <p:spPr>
          <a:xfrm>
            <a:off x="9628998" y="3685032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9802734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9811878" y="4142232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Naturals</a:t>
            </a:r>
            <a:endParaRPr lang="en-US" sz="1450" dirty="0"/>
          </a:p>
        </p:txBody>
      </p:sp>
      <p:sp>
        <p:nvSpPr>
          <p:cNvPr id="44" name="Text 42"/>
          <p:cNvSpPr txBox="1"/>
          <p:nvPr/>
        </p:nvSpPr>
        <p:spPr>
          <a:xfrm>
            <a:off x="9811878" y="4471416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Depth &amp; soul</a:t>
            </a:r>
            <a:endParaRPr lang="en-US" sz="1080" dirty="0"/>
          </a:p>
        </p:txBody>
      </p:sp>
      <p:sp>
        <p:nvSpPr>
          <p:cNvPr id="46" name="Text 4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beats curiosity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374313" y="3177558"/>
            <a:ext cx="502883" cy="5028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Shape 5"/>
          <p:cNvSpPr/>
          <p:nvPr/>
        </p:nvSpPr>
        <p:spPr>
          <a:xfrm>
            <a:off x="8835289" y="3177558"/>
            <a:ext cx="502883" cy="502883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8" name="Shape 6"/>
          <p:cNvSpPr/>
          <p:nvPr/>
        </p:nvSpPr>
        <p:spPr>
          <a:xfrm>
            <a:off x="9296266" y="3177558"/>
            <a:ext cx="502883" cy="502883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9" name="Shape 7"/>
          <p:cNvSpPr/>
          <p:nvPr/>
        </p:nvSpPr>
        <p:spPr>
          <a:xfrm>
            <a:off x="9757242" y="3177558"/>
            <a:ext cx="502883" cy="502883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Shape 8"/>
          <p:cNvSpPr/>
          <p:nvPr/>
        </p:nvSpPr>
        <p:spPr>
          <a:xfrm>
            <a:off x="10218219" y="3177558"/>
            <a:ext cx="502883" cy="502883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balanced palette, not a random hoard.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Cover every family first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from each of the ten categories teaches you more than ten materials from one category.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Resist the rare and expensive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exotic captive material is exciting — but useless without the fundamentals to build around it.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comes later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your first 60 materials are familiar, specialise into what you actually love working with.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</a:t>
            </a:r>
            <a:endParaRPr lang="en-US" sz="10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ORDER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SHOPPING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starter-perfumer checklist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1762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30 list complete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6334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material per family minimum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30906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 + synthetics both represented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4353458" y="178308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353458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46066" y="21762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0.001g scale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353458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646066" y="26334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Pipettes (plastic + glass)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353458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4646066" y="30906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Amber bottles + scent strips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8158277" y="178308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ORGANISATION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8158277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50885" y="21762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 log started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158277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450885" y="26334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 boxes labelled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8277" y="31546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450885" y="30906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bottles ready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Depth beats width. Thirty materials you know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intimately beat three hundred you've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really smelled.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03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04 · DILUTION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To Dilute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Confidence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 is the skill that makes every other skill in this course possible.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WE DILUTE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reasons every perfumer dilutes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Accuracy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Weighing 0.05g of pure material is unreliable — weighing it diluted is precise.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evaluation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diluted material is safer and clearer to smell on a strip.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Easier dosing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Small, controlled doses become achievable at any strength.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Understanding potency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materials reveal their true character only once tamed.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Working with solids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Solid materials become usable liquids once dissolved.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development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stocks let you iterate a formula quickly and repeatably.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DILUTION LADDER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working strengths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Neat material — undiluted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81872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92465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160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50%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00160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Half strength — strong materials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8881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62555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169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10%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27169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common working dilution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890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2644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178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1%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54178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very potent materials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962899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02734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1187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0.1%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81187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most powerful trace materials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liquid material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9A354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10% dilution.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1 — weigh the material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 your bottle on the scale, tare, and weigh out exactly 1g of material.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2 — add solvent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9g of your chosen solvent (often ethanol or DPG) to the same bottle.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Step 3 — you now have 10%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1g material + 9g solvent = 10g total, and the material is 10% of that total.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55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Diluting a solid material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 the solid material precisely on the scale.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511491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1531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96123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96123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 solvent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996123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the calculated weight of solvent to the same container.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94382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114422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279014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79014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Warm gently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279014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needed, warm gently to help the solid dissolve fully.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077273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97313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61905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61905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561905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Stir with a glass rod until completely dissolved.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60164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80204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844796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4796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44796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material, dilution %, solvent and date immediately.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CHOOSING STRENGTH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 depends on potency and purpose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100%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Gentle, low-impact materials — many light woods and musks.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10%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default for most working materials in a formula.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Often evaluated at 1%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Powerful trace materials — strong musks, some florals, superpower synthetics.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THIS EVERY TIME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DILUTION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ideal dilution label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158712" y="2265883"/>
            <a:ext cx="1214617" cy="342351"/>
          </a:xfrm>
          <a:prstGeom prst="roundRect">
            <a:avLst>
              <a:gd name="adj" fmla="val 10684"/>
            </a:avLst>
          </a:prstGeom>
          <a:solidFill>
            <a:srgbClr val="0E0D0B"/>
          </a:solidFill>
          <a:ln/>
        </p:spPr>
      </p:sp>
      <p:sp>
        <p:nvSpPr>
          <p:cNvPr id="7" name="Shape 5"/>
          <p:cNvSpPr/>
          <p:nvPr/>
        </p:nvSpPr>
        <p:spPr>
          <a:xfrm>
            <a:off x="3237926" y="2608235"/>
            <a:ext cx="1056188" cy="54776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879970" y="3155997"/>
            <a:ext cx="3772101" cy="2533400"/>
          </a:xfrm>
          <a:prstGeom prst="roundRect">
            <a:avLst>
              <a:gd name="adj" fmla="val 4331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916546" y="4296027"/>
            <a:ext cx="3698949" cy="1356794"/>
          </a:xfrm>
          <a:prstGeom prst="roundRect">
            <a:avLst>
              <a:gd name="adj" fmla="val 6739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2408064" y="4017353"/>
            <a:ext cx="2715913" cy="658684"/>
          </a:xfrm>
          <a:prstGeom prst="roundRect">
            <a:avLst>
              <a:gd name="adj" fmla="val 4165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17736" y="2646274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Material:  Hedione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6317736" y="3264408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Dilution:  10% in DPG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317736" y="3882542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Solvent:  DPG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6317736" y="4500677"/>
            <a:ext cx="465965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Date:  Prepared today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Material, dilution, solvent, date — every single bottle, no exceptions.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When in doubt, dilute. You can always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stronger — you can't un-smell overload.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04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05 · NOSE TRAINING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Your Nose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Like A Perfumer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nose is a muscle. This module is how professionals actually train it.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HABIT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on a strip, across real time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impression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 settling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hour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emerging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Shape 17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hours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maturing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Shape 21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Shape 25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Final, true character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material you only smelled at 0 minutes is a material you don't actually know yet.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RECORD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Consistent evaluation, every single time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impression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gut reaction, unfiltered.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Character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family, what mood, what texture.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intense at each time point.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far it reaches from the strip.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shifts between checkpoints.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Drydown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remains once it settles.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858768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Associations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reminds you of.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Possible uses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might work in a formula.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COMMON MISTAKE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Neat alone can mislead you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31454" y="4206697"/>
            <a:ext cx="390796" cy="932231"/>
          </a:xfrm>
          <a:prstGeom prst="roundRect">
            <a:avLst>
              <a:gd name="adj" fmla="val 3510"/>
            </a:avLst>
          </a:prstGeom>
          <a:solidFill>
            <a:srgbClr val="5B3A52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79128" y="3446282"/>
            <a:ext cx="390796" cy="1692646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26801" y="2685867"/>
            <a:ext cx="390796" cy="2453061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material, three strengths — three different lessons.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Powerful materials overwhelm at 100%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materials are so potent neat that your nose can't parse their real character.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Formulas rarely use materials neat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almost always work with the material diluted — so evaluate it the way you'll actually use 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across the dilution ladder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 material at 100%, 10% and 1% to understand how its character shifts with concentration.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GOING DIGITAL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your material log should track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name and CAS if known.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was sourced.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 and solvent used.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Description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written evaluation.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Longevity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it lasted on strip.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Family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olfactory group it belongs to.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858768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 usage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formulas it's appeared in.</a:t>
            </a:r>
            <a:endParaRPr lang="en-US" sz="1080" dirty="0"/>
          </a:p>
        </p:txBody>
      </p:sp>
      <p:sp>
        <p:nvSpPr>
          <p:cNvPr id="34" name="Text 3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</a:t>
            </a:r>
            <a:endParaRPr lang="en-US" sz="10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600200"/>
            <a:ext cx="11094415" cy="4754880"/>
          </a:xfrm>
          <a:prstGeom prst="roundRect">
            <a:avLst>
              <a:gd name="adj" fmla="val 3077"/>
            </a:avLst>
          </a:prstGeom>
          <a:solidFill>
            <a:srgbClr val="EFE6D2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SAMPLE RECORD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NOSE TRAINING</a:t>
            </a:r>
            <a:endParaRPr lang="en-US" sz="105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one material evaluation looks like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436193" y="2075688"/>
            <a:ext cx="9319309" cy="3803904"/>
          </a:xfrm>
          <a:prstGeom prst="roundRect">
            <a:avLst>
              <a:gd name="adj" fmla="val 288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673937" y="2313432"/>
            <a:ext cx="256032" cy="25603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2076273" y="2295144"/>
            <a:ext cx="8404909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 Absolute — Bulgarian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1801953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1801953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Floral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6095848" y="2852928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2" name="Text 10"/>
          <p:cNvSpPr txBox="1"/>
          <p:nvPr/>
        </p:nvSpPr>
        <p:spPr>
          <a:xfrm>
            <a:off x="6095848" y="3072384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 in DPG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1801953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LONGEVITY</a:t>
            </a:r>
            <a:endParaRPr lang="en-US" sz="950" dirty="0"/>
          </a:p>
        </p:txBody>
      </p:sp>
      <p:sp>
        <p:nvSpPr>
          <p:cNvPr id="14" name="Text 12"/>
          <p:cNvSpPr txBox="1"/>
          <p:nvPr/>
        </p:nvSpPr>
        <p:spPr>
          <a:xfrm>
            <a:off x="1801953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Medium–long (8h+)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095848" y="3419856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3639312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slightly spiced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1801953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1801953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powdery, lightly sweet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95848" y="3986784"/>
            <a:ext cx="41110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POSSIBLE USE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6095848" y="4206240"/>
            <a:ext cx="411101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of a floral formula, rounds out fruity accords</a:t>
            </a:r>
            <a:endParaRPr lang="en-US" sz="115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5806440"/>
            <a:ext cx="103628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exact shape of a good digital material card — recreate it for every material you own.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64</a:t>
            </a:r>
            <a:endParaRPr lang="en-US" sz="10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nose is a muscle. Train it daily,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writing — not just in passing sniffs.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05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</a:t>
            </a:r>
            <a:endParaRPr lang="en-US" sz="10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8C3B4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06 · BUILDING ACCORDS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Materials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Accords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where perfumery gets creative — combining individual materials into one recognisable smell.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IDEA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is an accord?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36497" y="1897449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3600000">
            <a:off x="9336497" y="1897449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7200000">
            <a:off x="9336497" y="1897449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9336497" y="1897449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336497" y="1897449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9336497" y="1897449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326439" y="2631659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or four materials → one unmistakable rose.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Multiple materials, one smell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accord happens when separate materials blend so completely they read as a single, new impression.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exceeds the parts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should no longer smell the individual materials — you smell "rose," not "three chemicals."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building block of formulas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complete perfume is really a composition of several accords working together.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</a:t>
            </a:r>
            <a:endParaRPr lang="en-US" sz="10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FAMILIAR TARGETS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you already know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Apple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Juicy, green, slightly sweet.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Rose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Honeyed, green, floral.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Amber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Warm, resinous, enveloping.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Leather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Smoky, dry, animalic.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Vanilla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Sweet, warm, gourmand.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Fresh-cut grass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green, sappy.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</a:t>
            </a:r>
            <a:endParaRPr lang="en-US" sz="10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actually makes something smell like apple?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sugary, ripe quality.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unripe, stem-and-skin edge.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wet, fresh-cut sensation.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Fruitiness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broad, rounded fruit body.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Freshness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bright, crisp lift.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waxy, slightly bitter outer note.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</a:t>
            </a:r>
            <a:endParaRPr lang="en-US" sz="10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— APPLE, CONTINUED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Mapping materials to each facet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41941" y="2077590"/>
            <a:ext cx="2011534" cy="2011534"/>
          </a:xfrm>
          <a:prstGeom prst="ellipse">
            <a:avLst/>
          </a:prstGeom>
          <a:solidFill>
            <a:srgbClr val="6E7A50">
              <a:alpha val="9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682748" y="2218397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" name="Shape 6"/>
          <p:cNvSpPr/>
          <p:nvPr/>
        </p:nvSpPr>
        <p:spPr>
          <a:xfrm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36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72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08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44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8000000">
            <a:off x="9497419" y="2278743"/>
            <a:ext cx="100577" cy="784498"/>
          </a:xfrm>
          <a:prstGeom prst="ellipse">
            <a:avLst/>
          </a:prstGeom>
          <a:solidFill>
            <a:srgbClr val="6E7A50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>
            <a:off x="9447131" y="2982780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the idea into facets — then find one material per facet.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Sweetness → a trace of Ethyl Maltol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tiny amount adds sugary roundness without tipping into candy.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Green character → cis-3-Hexenol (diluted)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classic "green leaf" molecule, used in a whisper.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Juiciness / fruitiness → fruity esters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Allyl amyl glycolate and similar esters carry the juicy fruit body.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/ peel → a natural or aldehyde touch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waxy or aldehydic note rounds out the peel character.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</a:t>
            </a:r>
            <a:endParaRPr lang="en-US" sz="10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 formulas are starting structures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build upon — not finished perfumes.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DISTINCTION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</a:t>
            </a:r>
            <a:endParaRPr lang="en-US" sz="1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 METHOD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Jean Carles method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09569" y="2549073"/>
            <a:ext cx="838139" cy="83813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Shape 5"/>
          <p:cNvSpPr/>
          <p:nvPr/>
        </p:nvSpPr>
        <p:spPr>
          <a:xfrm>
            <a:off x="9547708" y="2549073"/>
            <a:ext cx="838139" cy="838139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systematic, repeatable way to explore a relationship between materials.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Pick two materials, A and B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with just two — nothing more — so you can see their interaction clearly.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ratios methodically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them at different proportions and evaluate each one on its own strip.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 how they behave together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You're mapping the relationship between A and B before adding any complexity.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</a:t>
            </a:r>
            <a:endParaRPr lang="en-US" sz="10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EXPERIMENTS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: B, explored step by step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 : 10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Almost entirely A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81872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92465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160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: 20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00160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 A lean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8881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62555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169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 : 30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27169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dominant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890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2644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178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: 40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54178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Balancing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962899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02734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1187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 : 50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81187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True midpoint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72</a:t>
            </a:r>
            <a:endParaRPr lang="en-US" sz="10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 AN ACCORD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ACCORDS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accord development loop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 1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first pass at the accord.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511491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831531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996123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96123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it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996123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 on a fresh scent strip.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794382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114422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279014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5279014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the problem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5279014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missing, dominant, or off?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7077273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7397313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561905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7561905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7561905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 a single material or ratio.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9360164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9680204" y="3017520"/>
            <a:ext cx="1962851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9844796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844796" y="3547872"/>
            <a:ext cx="1633667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Smell again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9844796" y="4041648"/>
            <a:ext cx="1633667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until the accord reads true.</a:t>
            </a:r>
            <a:endParaRPr lang="en-US" sz="100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</a:t>
            </a:r>
            <a:endParaRPr lang="en-US" sz="10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one variable at a time. Change three,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you'll never know which one mattered.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06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</a:t>
            </a:r>
            <a:endParaRPr lang="en-US" sz="1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07 · FORMULA CONSTRUCTION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Accords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A Full Formula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individual materials and accords come together into a complete, structured perfume.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 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has the same basic anatomy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Main idea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concept the whole formula serves.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Supporting accord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structure that carries the main idea.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Modifiers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adjustments that shape character.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Diffusion materials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makes the formula project and spread.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structure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 that anchors the drydown.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Trace materials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Tiny doses with outsized influence.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</a:t>
            </a:r>
            <a:endParaRPr lang="en-US" sz="10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STARTING 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starts as a sentence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solidFill>
            <a:srgbClr val="C9A354">
              <a:alpha val="92000"/>
            </a:srgbClr>
          </a:solidFill>
          <a:ln/>
        </p:spPr>
      </p:sp>
      <p:sp>
        <p:nvSpPr>
          <p:cNvPr id="7" name="Shape 5"/>
          <p:cNvSpPr/>
          <p:nvPr/>
        </p:nvSpPr>
        <p:spPr>
          <a:xfrm>
            <a:off x="8682748" y="2103183"/>
            <a:ext cx="1729919" cy="1729919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8" name="Shape 6"/>
          <p:cNvSpPr/>
          <p:nvPr/>
        </p:nvSpPr>
        <p:spPr>
          <a:xfrm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27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54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81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 rot="108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3" name="Shape 11"/>
          <p:cNvSpPr/>
          <p:nvPr/>
        </p:nvSpPr>
        <p:spPr>
          <a:xfrm rot="135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4" name="Shape 12"/>
          <p:cNvSpPr/>
          <p:nvPr/>
        </p:nvSpPr>
        <p:spPr>
          <a:xfrm rot="162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5" name="Shape 13"/>
          <p:cNvSpPr/>
          <p:nvPr/>
        </p:nvSpPr>
        <p:spPr>
          <a:xfrm rot="18900000">
            <a:off x="9497419" y="2163529"/>
            <a:ext cx="100577" cy="784498"/>
          </a:xfrm>
          <a:prstGeom prst="ellipse">
            <a:avLst/>
          </a:prstGeom>
          <a:solidFill>
            <a:srgbClr val="C9A354">
              <a:alpha val="82000"/>
            </a:srgbClr>
          </a:solidFill>
          <a:ln/>
        </p:spPr>
      </p:sp>
      <p:sp>
        <p:nvSpPr>
          <p:cNvPr id="16" name="Shape 14"/>
          <p:cNvSpPr/>
          <p:nvPr/>
        </p:nvSpPr>
        <p:spPr>
          <a:xfrm>
            <a:off x="9447131" y="2867566"/>
            <a:ext cx="201153" cy="201153"/>
          </a:xfrm>
          <a:prstGeom prst="ellipse">
            <a:avLst/>
          </a:prstGeom>
          <a:solidFill>
            <a:srgbClr val="FAF6E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sentence, broken into buildable pieces.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"Cold mineral citrus with smoky woods"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starting idea — vivid, specific, and evocative rather than technical.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Break it into olfactory components</a:t>
            </a:r>
            <a:endParaRPr lang="en-US" sz="1650" dirty="0"/>
          </a:p>
        </p:txBody>
      </p:sp>
      <p:sp>
        <p:nvSpPr>
          <p:cNvPr id="23" name="Text 21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/ mineral. Citrus. Smoky. Woods. Four distinct pieces to build separately.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Each piece becomes its own accord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You'll construct a small accord for each component, then combine them.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0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ASSEMBLING THE IDEA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Accords combine into a fragrance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2533574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547872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Citrus accord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41648"/>
            <a:ext cx="22043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cold, bright opening.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3082214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3402254" y="3017520"/>
            <a:ext cx="2533574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566846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3566846" y="3547872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Mineral accord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3566846" y="4041648"/>
            <a:ext cx="22043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cool, stony transparency.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5935828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6255868" y="3017520"/>
            <a:ext cx="2533574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6420460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20460" y="3547872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Woody base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6420460" y="4041648"/>
            <a:ext cx="22043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dry, structural foundation.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8789441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9109481" y="3017520"/>
            <a:ext cx="2533574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9274073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74073" y="3547872"/>
            <a:ext cx="220439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Musk structure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9274073" y="4041648"/>
            <a:ext cx="220439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skin-like glue holding it together.</a:t>
            </a:r>
            <a:endParaRPr lang="en-US" sz="1000" dirty="0"/>
          </a:p>
        </p:txBody>
      </p:sp>
      <p:sp>
        <p:nvSpPr>
          <p:cNvPr id="25" name="Text 2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</a:t>
            </a:r>
            <a:endParaRPr lang="en-US" sz="10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METHOD, BIGGER SCALE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Jean Carles at the formula level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772429" y="2758608"/>
            <a:ext cx="419070" cy="41907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Shape 5"/>
          <p:cNvSpPr/>
          <p:nvPr/>
        </p:nvSpPr>
        <p:spPr>
          <a:xfrm>
            <a:off x="9149592" y="2758608"/>
            <a:ext cx="419070" cy="41907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8" name="Shape 6"/>
          <p:cNvSpPr/>
          <p:nvPr/>
        </p:nvSpPr>
        <p:spPr>
          <a:xfrm>
            <a:off x="9526754" y="2758608"/>
            <a:ext cx="419070" cy="41907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9903917" y="2758608"/>
            <a:ext cx="419070" cy="41907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systematic ratio testing, scaled from materials to full accords.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 accord-to-accord ratios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Once each accord exists individually, blend pairs of them systematically, just like material A:B testing.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the right balance point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much citrus and the woods disappear; too much wood and the opening feels dull.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up, don't dump in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one accord at a time, evaluating after each addition — never combine everything at once.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100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formula must total 100%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percentages of every formula always sum to 100%.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gets a percentage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total concentrate, before dilution — every material's share must be tracked.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percentages always sum to 100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isn't optional — it's how you know your formula sheet is complete and correct.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Software makes this effortless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simple spreadsheet with a running total column catches errors instantly.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</a:t>
            </a:r>
            <a:endParaRPr lang="en-US" sz="10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fresh fragrance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"Bright, clean citrus that lasts."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1996995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45635" y="2286000"/>
            <a:ext cx="1331330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545635" y="2286000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876965" y="2286000"/>
            <a:ext cx="166416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876965" y="2286000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541127" y="2286000"/>
            <a:ext cx="33283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73959" y="2286000"/>
            <a:ext cx="2440771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873959" y="2286000"/>
            <a:ext cx="2440771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22%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314731" y="2286000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14731" y="228600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10533614" y="2286000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10533614" y="2286000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66928" y="332841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41248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18%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841248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lift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297016" y="3328416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6571336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Dihydromyrcenol  —  12%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571336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Explosive freshness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3895344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841248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15%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41248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Airy diffusion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97016" y="389534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6571336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Cis-3-hexenol (10%)  —  3%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571336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edge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66928" y="4462272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841248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22%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841248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297016" y="4462272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6571336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20%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6571336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woody base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66928" y="5029200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841248" y="4946904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10%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841248" y="5221224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Radiance &amp; lasting power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9631375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2" name="Text 3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</a:t>
            </a:r>
            <a:endParaRPr lang="en-US" sz="10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woody fragrance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"Warm, dry sandalwood with a soft amber glow."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218883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67523" y="2286000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7523" y="2286000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431685" y="2286000"/>
            <a:ext cx="2773604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431685" y="2286000"/>
            <a:ext cx="27736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205289" y="2286000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205289" y="2286000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869451" y="2286000"/>
            <a:ext cx="1109442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869451" y="2286000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978893" y="2286000"/>
            <a:ext cx="88755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978893" y="2286000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10866446" y="2286000"/>
            <a:ext cx="776609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866446" y="2286000"/>
            <a:ext cx="77660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3328416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41248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Cedarwood  —  20%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41248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structural wood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6297016" y="3328416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571336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Sandalwood (natural)  —  15%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571336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Creamy woody heart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566928" y="3895344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41248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25%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841248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&amp; transparency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6297016" y="3895344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571336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Ambroxan  —  15%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6571336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Radiant amber warmth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4462272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841248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Labdanum  —  10%</a:t>
            </a:r>
            <a:endParaRPr lang="en-US" sz="1250" dirty="0"/>
          </a:p>
        </p:txBody>
      </p:sp>
      <p:sp>
        <p:nvSpPr>
          <p:cNvPr id="34" name="Text 32"/>
          <p:cNvSpPr txBox="1"/>
          <p:nvPr/>
        </p:nvSpPr>
        <p:spPr>
          <a:xfrm>
            <a:off x="841248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Resinous depth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97016" y="4462272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571336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Vetiver  —  8%</a:t>
            </a:r>
            <a:endParaRPr lang="en-US" sz="1250" dirty="0"/>
          </a:p>
        </p:txBody>
      </p:sp>
      <p:sp>
        <p:nvSpPr>
          <p:cNvPr id="37" name="Text 35"/>
          <p:cNvSpPr txBox="1"/>
          <p:nvPr/>
        </p:nvSpPr>
        <p:spPr>
          <a:xfrm>
            <a:off x="6571336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Earthy root note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566928" y="5029200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841248" y="4946904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Musk blend  —  7%</a:t>
            </a:r>
            <a:endParaRPr lang="en-US" sz="1250" dirty="0"/>
          </a:p>
        </p:txBody>
      </p:sp>
      <p:sp>
        <p:nvSpPr>
          <p:cNvPr id="40" name="Text 38"/>
          <p:cNvSpPr txBox="1"/>
          <p:nvPr/>
        </p:nvSpPr>
        <p:spPr>
          <a:xfrm>
            <a:off x="841248" y="5221224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Skin-like fixation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9631375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3" name="Text 4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</a:t>
            </a:r>
            <a:endParaRPr lang="en-US" sz="10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gourmand fragrance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"Warm vanilla and caramel, softened with musk."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665665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214305" y="2286000"/>
            <a:ext cx="166416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214305" y="2286000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878467" y="2286000"/>
            <a:ext cx="1331330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78467" y="2286000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209797" y="2286000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209797" y="2286000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19239" y="2286000"/>
            <a:ext cx="1331330" cy="566928"/>
          </a:xfrm>
          <a:prstGeom prst="rect">
            <a:avLst/>
          </a:prstGeom>
          <a:solidFill>
            <a:srgbClr val="5B3A52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319239" y="2286000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650568" y="2286000"/>
            <a:ext cx="2218883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650568" y="228600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869451" y="2286000"/>
            <a:ext cx="1109442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869451" y="2286000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9978893" y="2286000"/>
            <a:ext cx="1664162" cy="566928"/>
          </a:xfrm>
          <a:prstGeom prst="rect">
            <a:avLst/>
          </a:prstGeom>
          <a:solidFill>
            <a:srgbClr val="B5652D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978893" y="2286000"/>
            <a:ext cx="166416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328416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1248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Ethyl Maltol  —  6%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Sugary sweetness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97016" y="332841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71336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15%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571336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vanilla warmth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895344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Coumarin  —  12%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Sweet hay depth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97016" y="389534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71336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10%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571336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Softens the sweetness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462272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41248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Cashmeran  —  12%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41248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Spiced, musky wood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97016" y="4462272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71336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20%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571336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body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5029200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1248" y="4946904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10%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41248" y="5221224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Cuts the sweetness at opening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97016" y="5029200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71336" y="4946904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Patchouli  —  15%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571336" y="5221224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Grounding earthy base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9631375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</a:t>
            </a:r>
            <a:endParaRPr lang="en-US" sz="10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FORMULA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FORMULA CONSTRUCTION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floral fragrance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 luminous rose and jasmine heart, on a soft musk base."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887553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436193" y="2286000"/>
            <a:ext cx="665665" cy="566928"/>
          </a:xfrm>
          <a:prstGeom prst="rect">
            <a:avLst/>
          </a:prstGeom>
          <a:solidFill>
            <a:srgbClr val="8C3B49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436193" y="2286000"/>
            <a:ext cx="66566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01858" y="2286000"/>
            <a:ext cx="2218883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101858" y="228600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320741" y="2286000"/>
            <a:ext cx="1109442" cy="566928"/>
          </a:xfrm>
          <a:prstGeom prst="rect">
            <a:avLst/>
          </a:prstGeom>
          <a:solidFill>
            <a:srgbClr val="6E7A50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320741" y="2286000"/>
            <a:ext cx="110944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30183" y="2286000"/>
            <a:ext cx="1331330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30183" y="2286000"/>
            <a:ext cx="133133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61513" y="2286000"/>
            <a:ext cx="1996995" cy="566928"/>
          </a:xfrm>
          <a:prstGeom prst="rect">
            <a:avLst/>
          </a:prstGeom>
          <a:solidFill>
            <a:srgbClr val="9C7A3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761513" y="2286000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758507" y="2286000"/>
            <a:ext cx="1996995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758507" y="2286000"/>
            <a:ext cx="199699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18%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0755502" y="2286000"/>
            <a:ext cx="88755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755502" y="2286000"/>
            <a:ext cx="88755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66928" y="3328416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841248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Rose absolute (10%)  —  8%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rose truth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297016" y="3328416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6571336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Jasmine absolute (10%)  —  6%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571336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Heady floral depth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566928" y="389534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841248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Hedione  —  20%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841248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Diffusion &amp; radiance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97016" y="389534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6571336" y="3813048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Linalool  —  10%</a:t>
            </a:r>
            <a:endParaRPr lang="en-US" sz="1250" dirty="0"/>
          </a:p>
        </p:txBody>
      </p:sp>
      <p:sp>
        <p:nvSpPr>
          <p:cNvPr id="33" name="Text 31"/>
          <p:cNvSpPr txBox="1"/>
          <p:nvPr/>
        </p:nvSpPr>
        <p:spPr>
          <a:xfrm>
            <a:off x="6571336" y="4087368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floral-woody lift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66928" y="4462272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41248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Bergamot  —  12%</a:t>
            </a:r>
            <a:endParaRPr lang="en-US" sz="1250" dirty="0"/>
          </a:p>
        </p:txBody>
      </p:sp>
      <p:sp>
        <p:nvSpPr>
          <p:cNvPr id="36" name="Text 34"/>
          <p:cNvSpPr txBox="1"/>
          <p:nvPr/>
        </p:nvSpPr>
        <p:spPr>
          <a:xfrm>
            <a:off x="841248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Bright opening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6297016" y="4462272"/>
            <a:ext cx="164592" cy="164592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71336" y="4379976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E Super  —  18%</a:t>
            </a:r>
            <a:endParaRPr lang="en-US" sz="1250" dirty="0"/>
          </a:p>
        </p:txBody>
      </p:sp>
      <p:sp>
        <p:nvSpPr>
          <p:cNvPr id="39" name="Text 37"/>
          <p:cNvSpPr txBox="1"/>
          <p:nvPr/>
        </p:nvSpPr>
        <p:spPr>
          <a:xfrm>
            <a:off x="6571336" y="4654296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support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566928" y="5029200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841248" y="4946904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Galaxolide  —  18%</a:t>
            </a:r>
            <a:endParaRPr lang="en-US" sz="1250" dirty="0"/>
          </a:p>
        </p:txBody>
      </p:sp>
      <p:sp>
        <p:nvSpPr>
          <p:cNvPr id="42" name="Text 40"/>
          <p:cNvSpPr txBox="1"/>
          <p:nvPr/>
        </p:nvSpPr>
        <p:spPr>
          <a:xfrm>
            <a:off x="841248" y="5221224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musk fixation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6297016" y="5029200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6571336" y="4946904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Vanillin  —  8%</a:t>
            </a:r>
            <a:endParaRPr lang="en-US" sz="1250" dirty="0"/>
          </a:p>
        </p:txBody>
      </p:sp>
      <p:sp>
        <p:nvSpPr>
          <p:cNvPr id="45" name="Text 43"/>
          <p:cNvSpPr txBox="1"/>
          <p:nvPr/>
        </p:nvSpPr>
        <p:spPr>
          <a:xfrm>
            <a:off x="6571336" y="5221224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warmth in the base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9631375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48" name="Text 4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</a:t>
            </a:r>
            <a:endParaRPr lang="en-US" sz="10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material earns its place. If you can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it and nothing changes, remove it.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07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</a:t>
            </a:r>
            <a:endParaRPr lang="en-US" sz="10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08 · EVALUATING &amp; DEVELOPING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After Version 1: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&amp; Develop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Making the formula was the easy part. Now the real work of perfumery begins.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RULE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Always evaluate on scent strips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17738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431454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5C5646">
              <a:alpha val="75000"/>
            </a:srgbClr>
          </a:solidFill>
          <a:ln/>
        </p:spPr>
      </p:sp>
      <p:sp>
        <p:nvSpPr>
          <p:cNvPr id="8" name="Shape 6"/>
          <p:cNvSpPr/>
          <p:nvPr/>
        </p:nvSpPr>
        <p:spPr>
          <a:xfrm>
            <a:off x="9465412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479128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C9A354">
              <a:alpha val="75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10513085" y="1355141"/>
            <a:ext cx="418228" cy="3802075"/>
          </a:xfrm>
          <a:prstGeom prst="roundRect">
            <a:avLst>
              <a:gd name="adj" fmla="val 4373"/>
            </a:avLst>
          </a:prstGeom>
          <a:solidFill>
            <a:srgbClr val="FAF6EC"/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0526801" y="4016593"/>
            <a:ext cx="390796" cy="1122335"/>
          </a:xfrm>
          <a:prstGeom prst="roundRect">
            <a:avLst>
              <a:gd name="adj" fmla="val 3510"/>
            </a:avLst>
          </a:prstGeom>
          <a:solidFill>
            <a:srgbClr val="B5652D">
              <a:alpha val="75000"/>
            </a:srgbClr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1, version 2, version 3 — evaluated side by side, not in isolation.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Immediate smell ≠ finished evaluation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smell in the first five minutes is only the opening — never the whole story.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strip, dated and labelled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version of a formula gets its own dedicated, clearly marked strip.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Compare strips side by side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previous versions to compare directly against the new one at each checkpoint.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</a:t>
            </a:r>
            <a:endParaRPr lang="en-US" sz="10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EVALUATION TIMELINE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Judge a formula across 48 hours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min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impression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84981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Shape 9"/>
          <p:cNvSpPr/>
          <p:nvPr/>
        </p:nvSpPr>
        <p:spPr>
          <a:xfrm>
            <a:off x="276752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15487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15487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notes settling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958974" y="3575304"/>
            <a:ext cx="164592" cy="164592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Shape 13"/>
          <p:cNvSpPr/>
          <p:nvPr/>
        </p:nvSpPr>
        <p:spPr>
          <a:xfrm>
            <a:off x="4876678" y="3493008"/>
            <a:ext cx="329184" cy="329184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26403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hours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426403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 taking shape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7068129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Shape 17"/>
          <p:cNvSpPr/>
          <p:nvPr/>
        </p:nvSpPr>
        <p:spPr>
          <a:xfrm>
            <a:off x="6985833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37318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hours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637318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 becoming clear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17728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Shape 21"/>
          <p:cNvSpPr/>
          <p:nvPr/>
        </p:nvSpPr>
        <p:spPr>
          <a:xfrm>
            <a:off x="909498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8234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848234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Drydown forming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7" name="Shape 25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91495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hours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591495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verdict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judged only at 0 minutes has not really been evaluated at all.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86</a:t>
            </a:r>
            <a:endParaRPr lang="en-US" sz="1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BETTER QUESTIONS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Ask this, not "do I like it?"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opening strong enough?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announce itself, or vanish immediately?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the heart interesting?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it hold attention once the top notes fade?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it too sweet?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too dry, too green, too heavy — check for imbalance.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 one material dominating?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name a single note that's drowning everything else?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it collapse?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structure fall apart at any point in the timeline?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drydown match the idea?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ending still serve your original concept?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</a:t>
            </a:r>
            <a:endParaRPr lang="en-US" sz="10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LOOP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development cycle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version.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31009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451049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615641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15641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Compound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615641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dilute it.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033418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53458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18050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18050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18050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it across 48 hours.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35828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55868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20460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20460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Identify issue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420460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the specific problem.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838237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158277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22869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Modify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322869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one thing.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40646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060686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225278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225278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10225278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Compound the next version.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</a:t>
            </a:r>
            <a:endParaRPr lang="en-US" sz="10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DISCIPLINE, NOT GUESSWORK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EVALUATING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Changing formulas the right way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something feels off, just add a bit of everything and see if it improves."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Random, simultaneous changes destroy your ability to learn anything — if three things change and the formula improves, you'll never know which one mattered. Identify the specific issue, change exactly one variable, and re-evaluate before touching anything else.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</a:t>
            </a:r>
            <a:endParaRPr lang="en-US" sz="10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version is a data point, not a verdict.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Evaluate across 48 hours before you judge.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08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</a:t>
            </a:r>
            <a:endParaRPr lang="en-US" sz="10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B5652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09 · ALCOHOL &amp; COMPOUNDING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Alcohol, Scaling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&amp; Compounding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Turning a finished concentrate into a real, wearable perfume.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SCALING A FORMULA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 &amp; COMPOUNDING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percentages, at any batch size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10g batch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cheap testing size — ideal for early versions.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100g batch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comfortable size for refined, near-final formulas.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1kg batch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scale — once the formula is truly locked.</a:t>
            </a:r>
            <a:endParaRPr lang="en-US" sz="1080" dirty="0"/>
          </a:p>
        </p:txBody>
      </p:sp>
      <p:sp>
        <p:nvSpPr>
          <p:cNvPr id="18" name="Text 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</a:t>
            </a:r>
            <a:endParaRPr lang="en-US" sz="10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ALCOHOL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 &amp; COMPOUNDING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Concentrate + perfumer's alcohol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9164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typical Eau de Parfum ratio, expressed simply.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2218883" cy="566928"/>
          </a:xfrm>
          <a:prstGeom prst="rect">
            <a:avLst/>
          </a:prstGeom>
          <a:solidFill>
            <a:srgbClr val="C9A354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286000"/>
            <a:ext cx="2218883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767523" y="2286000"/>
            <a:ext cx="8875532" cy="566928"/>
          </a:xfrm>
          <a:prstGeom prst="rect">
            <a:avLst/>
          </a:prstGeom>
          <a:solidFill>
            <a:srgbClr val="CFC5AE">
              <a:alpha val="96000"/>
            </a:srgbClr>
          </a:solidFill>
          <a:ln w="19050">
            <a:solidFill>
              <a:srgbClr val="FAF6E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7523" y="2286000"/>
            <a:ext cx="887553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328416"/>
            <a:ext cx="164592" cy="164592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41248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 concentrate  —  20%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finished formula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297016" y="3328416"/>
            <a:ext cx="164592" cy="164592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71336" y="3246120"/>
            <a:ext cx="417560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Perfumer's alcohol  —  80%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71336" y="3520440"/>
            <a:ext cx="4998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carrier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9631375" y="1901952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spc="1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= 100%</a:t>
            </a:r>
            <a:endParaRPr lang="en-US" sz="1100" dirty="0"/>
          </a:p>
        </p:txBody>
      </p:sp>
      <p:sp>
        <p:nvSpPr>
          <p:cNvPr id="18" name="Text 1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92</a:t>
            </a:r>
            <a:endParaRPr lang="en-US" sz="10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WITH CARE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 &amp; COMPOUNDING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Water in a perfume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81756" y="1355141"/>
            <a:ext cx="331903" cy="1161361"/>
          </a:xfrm>
          <a:prstGeom prst="rect">
            <a:avLst/>
          </a:prstGeom>
          <a:solidFill>
            <a:srgbClr val="CFC5AE">
              <a:alpha val="5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793382" y="2184684"/>
            <a:ext cx="1508650" cy="3318175"/>
          </a:xfrm>
          <a:prstGeom prst="triangle">
            <a:avLst/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034767" y="3511954"/>
            <a:ext cx="1025882" cy="1907950"/>
          </a:xfrm>
          <a:prstGeom prst="triangle">
            <a:avLst/>
          </a:prstGeom>
          <a:solidFill>
            <a:srgbClr val="CFC5AE">
              <a:alpha val="90000"/>
            </a:srgbClr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Clarity is a signal — always check your finished compound in good light.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water is sometimes used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small amount can soften alcohol's harshness and slightly adjust the final feel.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excess water is risky</a:t>
            </a:r>
            <a:endParaRPr lang="en-US" sz="1650" dirty="0"/>
          </a:p>
        </p:txBody>
      </p:sp>
      <p:sp>
        <p:nvSpPr>
          <p:cNvPr id="15" name="Text 13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materials are not water-soluble — too much water can push them out of solution.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Cloudiness is a warning sign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cloudy or hazy compound usually means something has fallen out of solution.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 over time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formula that looks clear today can still separate weeks later if the balance is wrong.</a:t>
            </a:r>
            <a:endParaRPr lang="en-US" sz="1250" dirty="0"/>
          </a:p>
        </p:txBody>
      </p:sp>
      <p:sp>
        <p:nvSpPr>
          <p:cNvPr id="23" name="Text 20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</a:t>
            </a:r>
            <a:endParaRPr lang="en-US" sz="1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PROTECTING THE FORMULA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 &amp; COMPOUNDING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Antioxidants — used thoughtfully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flipV="1">
            <a:off x="9547708" y="3026693"/>
            <a:ext cx="905190" cy="402307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452898" y="3026693"/>
            <a:ext cx="905190" cy="50288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452898" y="3529577"/>
            <a:ext cx="905190" cy="80461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944247" y="4334190"/>
            <a:ext cx="1508650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944247" y="3429000"/>
            <a:ext cx="603460" cy="905190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41364" y="2926117"/>
            <a:ext cx="1106344" cy="50288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406900" y="3288193"/>
            <a:ext cx="281615" cy="281615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352321" y="2926117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11257511" y="3429000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10352321" y="4233613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Shape 14"/>
          <p:cNvSpPr/>
          <p:nvPr/>
        </p:nvSpPr>
        <p:spPr>
          <a:xfrm>
            <a:off x="8843671" y="4233613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Shape 15"/>
          <p:cNvSpPr/>
          <p:nvPr/>
        </p:nvSpPr>
        <p:spPr>
          <a:xfrm>
            <a:off x="8340787" y="2825540"/>
            <a:ext cx="201153" cy="20115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targeted tool for specific oxidation-sensitive materials — not a blanket additive.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oxidation happens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Light, air and time can degrade certain materials, shifting or dulling their smell.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Which materials are sensitive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Citrus oils and many naturals rich in terpenes oxidise fastest.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BHT and similar antioxidants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doses can meaningfully slow this degradation in vulnerable formulas.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Never add it blindly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formula needs an antioxidant — add it deliberately, for a specific material at risk, not as a default habit.</a:t>
            </a:r>
            <a:endParaRPr lang="en-US" sz="1250" dirty="0"/>
          </a:p>
        </p:txBody>
      </p:sp>
      <p:sp>
        <p:nvSpPr>
          <p:cNvPr id="32" name="Text 2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94</a:t>
            </a:r>
            <a:endParaRPr lang="en-US" sz="10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PROFESSIONAL WORKFLOW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ALCOHOL &amp; COMPOUNDING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compounding process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Weigh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the formula sheet.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1859236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179276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343868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343868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Mix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343868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gently.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3489873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3809913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3974505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974505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3974505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 it settle.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120509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5440549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5605141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605141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Dilute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5605141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alcohol.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6751146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7071186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235778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7235778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Macerate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7235778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Mature over time.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8381782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8701822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8866414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8866414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Filter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8866414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needed.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10012419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0332459" y="3017520"/>
            <a:ext cx="1310596" cy="1737360"/>
          </a:xfrm>
          <a:prstGeom prst="roundRect">
            <a:avLst>
              <a:gd name="adj" fmla="val 6977"/>
            </a:avLst>
          </a:prstGeom>
          <a:solidFill>
            <a:srgbClr val="FFFFFF"/>
          </a:solidFill>
          <a:ln w="19050">
            <a:solidFill>
              <a:srgbClr val="5B3A52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6" name="Text 34"/>
          <p:cNvSpPr txBox="1"/>
          <p:nvPr/>
        </p:nvSpPr>
        <p:spPr>
          <a:xfrm>
            <a:off x="10497051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B3A5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10497051" y="3547872"/>
            <a:ext cx="9814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</a:t>
            </a:r>
            <a:endParaRPr lang="en-US" sz="1450" dirty="0"/>
          </a:p>
        </p:txBody>
      </p:sp>
      <p:sp>
        <p:nvSpPr>
          <p:cNvPr id="38" name="Text 36"/>
          <p:cNvSpPr txBox="1"/>
          <p:nvPr/>
        </p:nvSpPr>
        <p:spPr>
          <a:xfrm>
            <a:off x="10497051" y="4041648"/>
            <a:ext cx="9814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 &amp; date.</a:t>
            </a:r>
            <a:endParaRPr lang="en-US" sz="1000" dirty="0"/>
          </a:p>
        </p:txBody>
      </p:sp>
      <p:sp>
        <p:nvSpPr>
          <p:cNvPr id="40" name="Text 3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</a:t>
            </a:r>
            <a:endParaRPr lang="en-US" sz="1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isn't filler — treat its ratio, its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rest, and its grade with the same care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the concentrate.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09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</a:t>
            </a:r>
            <a:endParaRPr lang="en-US" sz="10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B3A5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10 · MATURATION &amp; MACERATION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Perfume Needs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Time To Rest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happens to a compound after it's bottled — and what doesn't.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KRISTAN</a:t>
            </a:r>
            <a:endParaRPr lang="en-US" sz="12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 OVER TIME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real effects of maceration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Integration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blend and round together.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Softer alcohol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sharp alcohol bite fades.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Perceived smoothing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Rough edges settle down.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Top-note development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Opening notes can shift slightly.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Solubility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fully dissolve into solution.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Colour changes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 formulas darken with age.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858768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Oxidation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chemical change, for better or worse.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858768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Precipitation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Anything insoluble can settle out.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</a:t>
            </a:r>
            <a:endParaRPr lang="en-US" sz="10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SCIENCE, BRIEFLY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the same liquid smells different later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 flipV="1">
            <a:off x="9547708" y="2993168"/>
            <a:ext cx="980623" cy="43583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0528330" y="2993168"/>
            <a:ext cx="980623" cy="544790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10528330" y="3537958"/>
            <a:ext cx="980623" cy="87166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93959" y="4409623"/>
            <a:ext cx="1634371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8893959" y="3429000"/>
            <a:ext cx="653748" cy="980623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349169" y="2884210"/>
            <a:ext cx="1198539" cy="544790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395166" y="3276459"/>
            <a:ext cx="305083" cy="305083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19372" y="2884210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11399995" y="3429000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19372" y="4300665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Shape 14"/>
          <p:cNvSpPr/>
          <p:nvPr/>
        </p:nvSpPr>
        <p:spPr>
          <a:xfrm>
            <a:off x="8785001" y="4300665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7" name="Shape 15"/>
          <p:cNvSpPr/>
          <p:nvPr/>
        </p:nvSpPr>
        <p:spPr>
          <a:xfrm>
            <a:off x="8240211" y="2775252"/>
            <a:ext cx="217916" cy="21791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slow, ordinary process — not an unpredictable transformation.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Molecules keep interacting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Materials continue to associate and rearrange in solution long after mixing.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Alcohol needs time to settle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Fresh alcohol reads sharp and hot — that fades measurably within days.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Nothing mysterious is happening</a:t>
            </a:r>
            <a:endParaRPr lang="en-US" sz="1650" dirty="0"/>
          </a:p>
        </p:txBody>
      </p:sp>
      <p:sp>
        <p:nvSpPr>
          <p:cNvPr id="27" name="Text 25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slow, ordinary physical chemistry — not magic, and it's predictable enough to plan around.</a:t>
            </a:r>
            <a:endParaRPr lang="en-US" sz="1250" dirty="0"/>
          </a:p>
        </p:txBody>
      </p:sp>
      <p:sp>
        <p:nvSpPr>
          <p:cNvPr id="29" name="Text 26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98</a:t>
            </a:r>
            <a:endParaRPr lang="en-US" sz="10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EXPECT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the smell shifts, over weeks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822960" y="3657600"/>
            <a:ext cx="10545775" cy="914"/>
          </a:xfrm>
          <a:prstGeom prst="line">
            <a:avLst/>
          </a:prstGeom>
          <a:noFill/>
          <a:ln w="25400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0664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720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Immediately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45720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Sharp, hot, unintegrated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7108" y="3575304"/>
            <a:ext cx="164592" cy="164592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Shape 9"/>
          <p:cNvSpPr/>
          <p:nvPr/>
        </p:nvSpPr>
        <p:spPr>
          <a:xfrm>
            <a:off x="3294812" y="3493008"/>
            <a:ext cx="329184" cy="329184"/>
          </a:xfrm>
          <a:prstGeom prst="ellipse">
            <a:avLst/>
          </a:prstGeom>
          <a:ln w="12802">
            <a:solidFill>
              <a:srgbClr val="5B3A5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682164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B3A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 hours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2682164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Alcohol bite softening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13552" y="3575304"/>
            <a:ext cx="164592" cy="164592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5" name="Shape 13"/>
          <p:cNvSpPr/>
          <p:nvPr/>
        </p:nvSpPr>
        <p:spPr>
          <a:xfrm>
            <a:off x="5931256" y="3493008"/>
            <a:ext cx="329184" cy="329184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318608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8C3B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week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5318608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Noticeably smoother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8649995" y="3575304"/>
            <a:ext cx="164592" cy="164592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Shape 17"/>
          <p:cNvSpPr/>
          <p:nvPr/>
        </p:nvSpPr>
        <p:spPr>
          <a:xfrm>
            <a:off x="8567699" y="3493008"/>
            <a:ext cx="329184" cy="329184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955051" y="3931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weeks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7955051" y="4261104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Well integrated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11286439" y="3575304"/>
            <a:ext cx="164592" cy="164592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3" name="Shape 21"/>
          <p:cNvSpPr/>
          <p:nvPr/>
        </p:nvSpPr>
        <p:spPr>
          <a:xfrm>
            <a:off x="11204143" y="3493008"/>
            <a:ext cx="329184" cy="329184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591495" y="269748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weeks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591495" y="3035808"/>
            <a:ext cx="1554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Fully matured character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48640" y="59893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Judge a fresh compound gently — it hasn't finished becoming itself yet.</a:t>
            </a:r>
            <a:endParaRPr lang="en-US" sz="1250" dirty="0"/>
          </a:p>
        </p:txBody>
      </p:sp>
      <p:sp>
        <p:nvSpPr>
          <p:cNvPr id="28" name="Text 2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99</a:t>
            </a:r>
            <a:endParaRPr lang="en-US" sz="10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 EXPECTATIONS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maceration cannot 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"Given enough time, maceration will fix a broken or unbalanced formula."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Maturation refines what's already structurally sound — it softens, integrates and rounds. It cannot rescue a formula with the wrong materials, wrong ratios, or a fundamentally broken idea. Fix the structure first; let time do the polishing, not the repairing.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00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PROTOCOL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MATURATION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simple maceration routine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STAGE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48640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41248" y="21762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the raw concentrate 24–48 hours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C9A3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41248" y="26334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for clarity before diluting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4353458" y="178308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DILUTED STAGE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4353458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46066" y="21762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Macerate 1–4 weeks in a cool, dark place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353458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B5652D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46066" y="26334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Shake gently every few days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8158277" y="1783080"/>
            <a:ext cx="34847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50" kern="0" dirty="0">
                <a:solidFill>
                  <a:srgbClr val="6E7A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BOTTLING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8158277" y="22402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50885" y="21762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Re-evaluate on a fresh strip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158277" y="2697480"/>
            <a:ext cx="182880" cy="182880"/>
          </a:xfrm>
          <a:prstGeom prst="roundRect">
            <a:avLst>
              <a:gd name="adj" fmla="val 15000"/>
            </a:avLst>
          </a:prstGeom>
          <a:ln w="19050">
            <a:solidFill>
              <a:srgbClr val="6E7A50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450885" y="2633472"/>
            <a:ext cx="316473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if any haze or sediment appears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101</a:t>
            </a:r>
            <a:endParaRPr lang="en-US" sz="1000" dirty="0"/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Maturation refines what's already good.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 cannot rescue a broken structure.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10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102</a:t>
            </a:r>
            <a:endParaRPr lang="en-US" sz="1000" dirty="0"/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5C564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11 · COMPLIANCE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Compliance,</a:t>
            </a:r>
            <a:endParaRPr lang="en-US" sz="4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Simply Explained</a:t>
            </a:r>
            <a:endParaRPr lang="en-US" sz="46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introduction to keeping your formulas safe and legal to sell — not a substitute for professional guidance.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</a:t>
            </a:r>
            <a:endParaRPr lang="en-US" sz="1250" dirty="0"/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module is an introduction.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are still responsible for the regulations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that apply to your country and product.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PLEASE READ THIS FIRST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103</a:t>
            </a:r>
            <a:endParaRPr lang="en-US" sz="1000" dirty="0"/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GLOBAL STANDARD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— the industry's safety framework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Standards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Science-based usage limits for fragrance materials.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Restricted materials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Allowed, but only up to a defined maximum %.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Prohibited materials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permitted in fragrance at all.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Category limits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vary by how a product is used on the body.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104</a:t>
            </a:r>
            <a:endParaRPr lang="en-US" sz="1000" dirty="0"/>
          </a:p>
        </p:txBody>
      </p:sp>
    </p:spTree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WORKED EXAMPLE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Checking a material against its limit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541941" y="1962376"/>
            <a:ext cx="2011534" cy="2011534"/>
          </a:xfrm>
          <a:prstGeom prst="ellipse">
            <a:avLst/>
          </a:prstGeom>
          <a:ln w="27432">
            <a:solidFill>
              <a:srgbClr val="6E7A5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541941" y="2766974"/>
            <a:ext cx="201153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Concentrate % × dilution % = final product %. Always check against the finished product.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 X, Category 4 (fine fragrance)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Suppose its IFRA limit in Category 4 is 0.5% of the finished product.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Used at 2% of the concentrate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formula sheet lists Material X at 2% of the perfume concentrate.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concentrate is diluted to 20%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finished spray, Material X becomes 2% × 20% = 0.4% of the total product.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0.4% is under the 0.5% limit — compliant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calculate the material's share of the finished product, not just the concentrate.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105</a:t>
            </a:r>
            <a:endParaRPr lang="en-US" sz="1000" dirty="0"/>
          </a:p>
        </p:txBody>
      </p:sp>
    </p:spTree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 YOUR MATERIALS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an SDS actually tells you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Identification &amp; hazards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material is and its key risk classifications.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Composition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it's made of, including any listed impurities.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Handling &amp; storage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store and work with it safely.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 aid &amp; fire measures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to do in an exposure or fire incident.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Physical &amp; chemical properties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Flashpoint, solubility, appearance and more.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information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the material is classified under law.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106</a:t>
            </a:r>
            <a:endParaRPr lang="en-US" sz="1000" dirty="0"/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 RIGHT TO KNOW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declarations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54097" y="2092287"/>
            <a:ext cx="387220" cy="875855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3600000">
            <a:off x="9354097" y="2092287"/>
            <a:ext cx="387220" cy="875855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7200000">
            <a:off x="9354097" y="2092287"/>
            <a:ext cx="387220" cy="875855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9354097" y="2092287"/>
            <a:ext cx="387220" cy="875855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354097" y="2092287"/>
            <a:ext cx="387220" cy="875855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9354097" y="2092287"/>
            <a:ext cx="387220" cy="875855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344878" y="2765313"/>
            <a:ext cx="405659" cy="405659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a beautiful rose absolute may carry declarable allergens.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Certain materials must be declared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defined list of fragrance allergens must be listed on packaging above a set concentration threshold.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applies even to natural materials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Many essential oils contain declarable allergens naturally — linalool and limonene among the most common.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Check every material's allergen content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supplier's documentation should state the relevant allergen composition of each raw material.</a:t>
            </a:r>
            <a:endParaRPr lang="en-US" sz="1250" dirty="0"/>
          </a:p>
        </p:txBody>
      </p:sp>
      <p:sp>
        <p:nvSpPr>
          <p:cNvPr id="24" name="Text 21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107</a:t>
            </a:r>
            <a:endParaRPr lang="en-US" sz="1000" dirty="0"/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LABELLING HAZARDS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CLP — how hazards get communicated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classifications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formal category a product falls into.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81872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92465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160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Pictograms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00160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symbols shown on packaging.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8881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62555" y="1911096"/>
            <a:ext cx="237744" cy="237744"/>
          </a:xfrm>
          <a:prstGeom prst="ellipse">
            <a:avLst/>
          </a:prstGeom>
          <a:solidFill>
            <a:srgbClr val="3B382F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169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Signal words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27169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"Warning" or "Danger," indicating severity.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890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2644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178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 statements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54178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phrases describing the specific risk.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962899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02734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1187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Precautionary statements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81187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 user should do to stay safe.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108</a:t>
            </a:r>
            <a:endParaRPr lang="en-US" sz="1000" dirty="0"/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USEFUL TOOL, NOT AN AUTHORITY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Good Scents Company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0E0D0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68680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565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MYTH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b="1" i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"If a material is listed on The Good Scents Company, it's approved and safe to use as I like."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6278728" y="1920240"/>
            <a:ext cx="5364328" cy="4389120"/>
          </a:xfrm>
          <a:prstGeom prst="roundRect">
            <a:avLst>
              <a:gd name="adj" fmla="val 2500"/>
            </a:avLst>
          </a:prstGeom>
          <a:solidFill>
            <a:srgbClr val="EFE6D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194560"/>
            <a:ext cx="47242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651760"/>
            <a:ext cx="4724248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50" dirty="0">
                <a:solidFill>
                  <a:srgbClr val="0E0D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Scents is a fantastic research and reference tool for material properties — but it is not a regulatory authority. Always confirm safety and legal usage limits through your supplier's documentation, IFRA, the SDS, and official regulatory databases.</a:t>
            </a:r>
            <a:endParaRPr lang="en-US" sz="1450" dirty="0"/>
          </a:p>
        </p:txBody>
      </p:sp>
      <p:sp>
        <p:nvSpPr>
          <p:cNvPr id="12" name="Text 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109</a:t>
            </a:r>
            <a:endParaRPr lang="en-US" sz="1000" dirty="0"/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ACTUALLY LOOK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Reliable sources for compliance information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Supplier documentation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first stop for every material.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81872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92465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160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00160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industry safety standard.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8881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62555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169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SDS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27169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Material-specific safety data.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890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2644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178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databases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54178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government sources.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962899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02734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1187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Professional assessors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81187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required by your market.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110</a:t>
            </a:r>
            <a:endParaRPr lang="en-US" sz="1000" dirty="0"/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COMPLIANCE PATH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COMPLIANCE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 to sellable label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6E7A50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713232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E7A5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Finalised composition.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2131009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2451049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B5652D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2615641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652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615641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IFRA check</a:t>
            </a:r>
            <a:endParaRPr lang="en-US" sz="1450" dirty="0"/>
          </a:p>
        </p:txBody>
      </p:sp>
      <p:sp>
        <p:nvSpPr>
          <p:cNvPr id="13" name="Text 11"/>
          <p:cNvSpPr txBox="1"/>
          <p:nvPr/>
        </p:nvSpPr>
        <p:spPr>
          <a:xfrm>
            <a:off x="2615641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limits met.</a:t>
            </a:r>
            <a:endParaRPr lang="en-US" sz="1000" dirty="0"/>
          </a:p>
        </p:txBody>
      </p:sp>
      <p:sp>
        <p:nvSpPr>
          <p:cNvPr id="14" name="Text 12"/>
          <p:cNvSpPr txBox="1"/>
          <p:nvPr/>
        </p:nvSpPr>
        <p:spPr>
          <a:xfrm>
            <a:off x="4033418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4353458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C9A354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518050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9A3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518050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Safety data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4518050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each SDS.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935828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0" name="Shape 18"/>
          <p:cNvSpPr/>
          <p:nvPr/>
        </p:nvSpPr>
        <p:spPr>
          <a:xfrm>
            <a:off x="6255868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420460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20460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Allergen info</a:t>
            </a:r>
            <a:endParaRPr lang="en-US" sz="1450" dirty="0"/>
          </a:p>
        </p:txBody>
      </p:sp>
      <p:sp>
        <p:nvSpPr>
          <p:cNvPr id="23" name="Text 21"/>
          <p:cNvSpPr txBox="1"/>
          <p:nvPr/>
        </p:nvSpPr>
        <p:spPr>
          <a:xfrm>
            <a:off x="6420460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 as required.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7838237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158277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8C3B49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22869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3B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8322869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Local assessment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322869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your market's rules.</a:t>
            </a:r>
            <a:endParaRPr lang="en-US" sz="1000" dirty="0"/>
          </a:p>
        </p:txBody>
      </p:sp>
      <p:sp>
        <p:nvSpPr>
          <p:cNvPr id="29" name="Text 27"/>
          <p:cNvSpPr txBox="1"/>
          <p:nvPr/>
        </p:nvSpPr>
        <p:spPr>
          <a:xfrm>
            <a:off x="9740646" y="365760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Shape 28"/>
          <p:cNvSpPr/>
          <p:nvPr/>
        </p:nvSpPr>
        <p:spPr>
          <a:xfrm>
            <a:off x="10060686" y="3017520"/>
            <a:ext cx="1582369" cy="1737360"/>
          </a:xfrm>
          <a:prstGeom prst="roundRect">
            <a:avLst>
              <a:gd name="adj" fmla="val 5779"/>
            </a:avLst>
          </a:prstGeom>
          <a:solidFill>
            <a:srgbClr val="FFFFFF"/>
          </a:solidFill>
          <a:ln w="19050">
            <a:solidFill>
              <a:srgbClr val="5C5646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8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10225278" y="312724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C564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10225278" y="3547872"/>
            <a:ext cx="125318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</a:t>
            </a:r>
            <a:endParaRPr lang="en-US" sz="1450" dirty="0"/>
          </a:p>
        </p:txBody>
      </p:sp>
      <p:sp>
        <p:nvSpPr>
          <p:cNvPr id="33" name="Text 31"/>
          <p:cNvSpPr txBox="1"/>
          <p:nvPr/>
        </p:nvSpPr>
        <p:spPr>
          <a:xfrm>
            <a:off x="10225278" y="4041648"/>
            <a:ext cx="125318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Print, compliant &amp; ready.</a:t>
            </a:r>
            <a:endParaRPr lang="en-US" sz="1000" dirty="0"/>
          </a:p>
        </p:txBody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111</a:t>
            </a:r>
            <a:endParaRPr lang="en-US" sz="1000" dirty="0"/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isn't optional paperwork —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it's the difference between a hobby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and a business you can legally sell.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MODULE 11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112</a:t>
            </a:r>
            <a:endParaRPr lang="en-US" sz="1000" dirty="0"/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818120" y="1280160"/>
            <a:ext cx="4297680" cy="4297680"/>
          </a:xfrm>
          <a:prstGeom prst="ellipse">
            <a:avLst/>
          </a:prstGeom>
          <a:ln w="18288">
            <a:solidFill>
              <a:srgbClr val="C9A35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0" y="1874520"/>
            <a:ext cx="3108960" cy="3108960"/>
          </a:xfrm>
          <a:prstGeom prst="ellipse">
            <a:avLst/>
          </a:prstGeom>
          <a:ln w="12802">
            <a:solidFill>
              <a:srgbClr val="3B382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 flipV="1">
            <a:off x="9966960" y="3202229"/>
            <a:ext cx="510235" cy="226771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477195" y="3202229"/>
            <a:ext cx="510235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10477195" y="3485693"/>
            <a:ext cx="510235" cy="453542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626803" y="3939235"/>
            <a:ext cx="850392" cy="914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9626803" y="3429000"/>
            <a:ext cx="340157" cy="510235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343339" y="3145536"/>
            <a:ext cx="623621" cy="283464"/>
          </a:xfrm>
          <a:prstGeom prst="line">
            <a:avLst/>
          </a:prstGeom>
          <a:noFill/>
          <a:ln w="22225">
            <a:solidFill>
              <a:srgbClr val="CFC5A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887590" y="3349630"/>
            <a:ext cx="158740" cy="158740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1" name="Shape 9"/>
          <p:cNvSpPr/>
          <p:nvPr/>
        </p:nvSpPr>
        <p:spPr>
          <a:xfrm>
            <a:off x="10420502" y="3145536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30738" y="3429000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Shape 11"/>
          <p:cNvSpPr/>
          <p:nvPr/>
        </p:nvSpPr>
        <p:spPr>
          <a:xfrm>
            <a:off x="10420502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4" name="Shape 12"/>
          <p:cNvSpPr/>
          <p:nvPr/>
        </p:nvSpPr>
        <p:spPr>
          <a:xfrm>
            <a:off x="9570110" y="3882542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5" name="Shape 13"/>
          <p:cNvSpPr/>
          <p:nvPr/>
        </p:nvSpPr>
        <p:spPr>
          <a:xfrm>
            <a:off x="9286646" y="3088843"/>
            <a:ext cx="113386" cy="113386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0292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 12 · STARTING A BRAND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960120"/>
            <a:ext cx="8686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spc="250" kern="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YEV + KRISTAN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1417320"/>
            <a:ext cx="850392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Formula</a:t>
            </a:r>
            <a:endParaRPr lang="en-US" sz="6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6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 Brand</a:t>
            </a:r>
            <a:endParaRPr lang="en-US" sz="6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42900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you've learned, now aimed at building something the world can actually buy.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566928" y="6089904"/>
            <a:ext cx="109728" cy="10972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04672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200" kern="0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YEV + KRISTAN</a:t>
            </a:r>
            <a:endParaRPr lang="en-US" sz="1250" dirty="0"/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FOUNDATION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fragrance comes first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Concept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idea the fragrance is built around.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4332122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0585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15002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Formula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4515002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composition itself, fully developed.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8115605" y="1737360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289341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298485" y="2194560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8298485" y="2523744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wear testing, not just strips.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548640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31520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Stability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31520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Confirmed clarity and consistency over time.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4332122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05858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15002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4515002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IFRA, SDS, allergens — all checked.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8115605" y="3685032"/>
            <a:ext cx="352745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8289341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8298485" y="4142232"/>
            <a:ext cx="316169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Production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8298485" y="4471416"/>
            <a:ext cx="316169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to compound and bottle at scale.</a:t>
            </a:r>
            <a:endParaRPr lang="en-US" sz="1080" dirty="0"/>
          </a:p>
        </p:txBody>
      </p:sp>
      <p:sp>
        <p:nvSpPr>
          <p:cNvPr id="30" name="Text 27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113</a:t>
            </a:r>
            <a:endParaRPr lang="en-US" sz="1000" dirty="0"/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VESSEL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your bottle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04815" y="1124712"/>
            <a:ext cx="485785" cy="460858"/>
          </a:xfrm>
          <a:prstGeom prst="roundRect">
            <a:avLst>
              <a:gd name="adj" fmla="val 7937"/>
            </a:avLst>
          </a:prstGeom>
          <a:solidFill>
            <a:srgbClr val="0E0D0B"/>
          </a:solidFill>
          <a:ln/>
        </p:spPr>
      </p:sp>
      <p:sp>
        <p:nvSpPr>
          <p:cNvPr id="7" name="Shape 5"/>
          <p:cNvSpPr/>
          <p:nvPr/>
        </p:nvSpPr>
        <p:spPr>
          <a:xfrm>
            <a:off x="9336497" y="1585570"/>
            <a:ext cx="422422" cy="737372"/>
          </a:xfrm>
          <a:prstGeom prst="rect">
            <a:avLst/>
          </a:prstGeom>
          <a:solidFill>
            <a:srgbClr val="CFC5AE">
              <a:alpha val="75000"/>
            </a:srgbClr>
          </a:solidFill>
          <a:ln w="12700">
            <a:solidFill>
              <a:srgbClr val="CFC5A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793382" y="2322942"/>
            <a:ext cx="1508650" cy="3410346"/>
          </a:xfrm>
          <a:prstGeom prst="roundRect">
            <a:avLst>
              <a:gd name="adj" fmla="val 7273"/>
            </a:avLst>
          </a:prstGeom>
          <a:solidFill>
            <a:srgbClr val="CFC5AE">
              <a:alpha val="45000"/>
            </a:srgbClr>
          </a:solidFill>
          <a:ln w="15875">
            <a:solidFill>
              <a:srgbClr val="CFC5A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829958" y="3687080"/>
            <a:ext cx="1435498" cy="2009632"/>
          </a:xfrm>
          <a:prstGeom prst="roundRect">
            <a:avLst>
              <a:gd name="adj" fmla="val 6370"/>
            </a:avLst>
          </a:prstGeom>
          <a:solidFill>
            <a:srgbClr val="C9A354">
              <a:alpha val="90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>
            <a:off x="9004594" y="3482459"/>
            <a:ext cx="1086228" cy="886690"/>
          </a:xfrm>
          <a:prstGeom prst="roundRect">
            <a:avLst>
              <a:gd name="adj" fmla="val 3094"/>
            </a:avLst>
          </a:prstGeom>
          <a:solidFill>
            <a:srgbClr val="FAF6EC">
              <a:alpha val="92000"/>
            </a:srgbClr>
          </a:solidFill>
          <a:ln w="9525">
            <a:solidFill>
              <a:srgbClr val="CFC5A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bottle is the first thing a customer touches — it earns real design attention.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Stock vs. custom bottles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075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Stock bottles are fast and cheap to start; custom moulds are expensive but build real brand identity.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307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3279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Minimum order quantities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3599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glass often requires large MOQs — budget and plan inventory accordingly.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831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4803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Pumps, collars &amp; caps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123688"/>
            <a:ext cx="6080760" cy="1158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These small components define the feel of a bottle as much as the glass itself.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114</a:t>
            </a:r>
            <a:endParaRPr lang="en-US" sz="1000" dirty="0"/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GOES ON THE BOTTLE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 — more technical than they look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Material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Paper, vinyl or foil — each behaves differently.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281872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992465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00160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Printing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00160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vs. letterpress vs. foil stamping.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5088819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262555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271699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Adhesion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5271699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bond securely to glass long-term.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735890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532644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754178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Oil / alcohol resistance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754178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survive spills without smearing or lifting.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9628998" y="1737360"/>
            <a:ext cx="2014057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9802734" y="1911096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9811878" y="2194560"/>
            <a:ext cx="164829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info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9811878" y="2523744"/>
            <a:ext cx="1648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Ingredients, allergens, volume, batch code.</a:t>
            </a:r>
            <a:endParaRPr lang="en-US" sz="1080" dirty="0"/>
          </a:p>
        </p:txBody>
      </p:sp>
      <p:sp>
        <p:nvSpPr>
          <p:cNvPr id="26" name="Text 23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115</a:t>
            </a:r>
            <a:endParaRPr lang="en-US" sz="1000" dirty="0"/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PRESENTATION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Packaging tells the story too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Boxes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Protection and unboxing experience.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Labels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 and brand identity.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Bottle presentation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 and feels in hand.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Samples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 trial for new customers.</a:t>
            </a:r>
            <a:endParaRPr lang="en-US" sz="108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116</a:t>
            </a:r>
            <a:endParaRPr lang="en-US" sz="1000" dirty="0"/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LOGO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brand is not just a logo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458127" y="1878562"/>
            <a:ext cx="2179162" cy="2179162"/>
          </a:xfrm>
          <a:prstGeom prst="ellipse">
            <a:avLst/>
          </a:prstGeom>
          <a:ln w="27432">
            <a:solidFill>
              <a:srgbClr val="C9A35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835289" y="2255724"/>
            <a:ext cx="1424836" cy="1424836"/>
          </a:xfrm>
          <a:prstGeom prst="ellipse">
            <a:avLst/>
          </a:prstGeom>
          <a:ln w="18288">
            <a:solidFill>
              <a:srgbClr val="6E7A50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logo is one layer. A brand is every layer together.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Story</a:t>
            </a:r>
            <a:endParaRPr lang="en-US" sz="1650" dirty="0"/>
          </a:p>
        </p:txBody>
      </p:sp>
      <p:sp>
        <p:nvSpPr>
          <p:cNvPr id="11" name="Text 9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fragrance, why now, why you.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consistent point of view across everything you make.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Customer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 person you're speaking to, not "everyone."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Visual language, positioning &amp; tone</a:t>
            </a:r>
            <a:endParaRPr lang="en-US" sz="165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looks, where it sits in the market, and how it talks to people.</a:t>
            </a:r>
            <a:endParaRPr lang="en-US" sz="1250" dirty="0"/>
          </a:p>
        </p:txBody>
      </p:sp>
      <p:sp>
        <p:nvSpPr>
          <p:cNvPr id="22" name="Text 19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</a:t>
            </a:r>
            <a:endParaRPr lang="en-US" sz="1000" dirty="0"/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YOUR LANE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 positioning — pick a lane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Luxury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pricing, premium everything.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Niche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Distinctive, less mainstream, expressive.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Affordable niche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Niche character, accessible pricing.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Mass market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Broad appeal, widest distribution.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Experimental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Boundary-pushing, art-forward.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858768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Middle Eastern inspired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Rich, oud- and amber-forward.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858768"/>
            <a:ext cx="237744" cy="23774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Minimalist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Clean, restrained, understated.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Natural-focused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Naturals-led, ingredient transparency.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118</a:t>
            </a:r>
            <a:endParaRPr lang="en-US" sz="1000" dirty="0"/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CUSTOMERS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perfume brands actually sell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22376" y="1911096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31520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Own website</a:t>
            </a:r>
            <a:endParaRPr lang="en-US" sz="14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control, full margin.</a:t>
            </a:r>
            <a:endParaRPr lang="en-US" sz="1080" dirty="0"/>
          </a:p>
        </p:txBody>
      </p:sp>
      <p:sp>
        <p:nvSpPr>
          <p:cNvPr id="9" name="Shape 7"/>
          <p:cNvSpPr/>
          <p:nvPr/>
        </p:nvSpPr>
        <p:spPr>
          <a:xfrm>
            <a:off x="3386252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59988" y="1911096"/>
            <a:ext cx="237744" cy="23774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3569132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TikTok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3569132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and storytelling at scale.</a:t>
            </a:r>
            <a:endParaRPr lang="en-US" sz="1080" dirty="0"/>
          </a:p>
        </p:txBody>
      </p:sp>
      <p:sp>
        <p:nvSpPr>
          <p:cNvPr id="13" name="Shape 11"/>
          <p:cNvSpPr/>
          <p:nvPr/>
        </p:nvSpPr>
        <p:spPr>
          <a:xfrm>
            <a:off x="6223864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97600" y="1911096"/>
            <a:ext cx="237744" cy="237744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06744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Instagram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6406744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brand-building and community.</a:t>
            </a:r>
            <a:endParaRPr lang="en-US" sz="1080" dirty="0"/>
          </a:p>
        </p:txBody>
      </p:sp>
      <p:sp>
        <p:nvSpPr>
          <p:cNvPr id="17" name="Shape 15"/>
          <p:cNvSpPr/>
          <p:nvPr/>
        </p:nvSpPr>
        <p:spPr>
          <a:xfrm>
            <a:off x="9061475" y="1737360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9235211" y="1911096"/>
            <a:ext cx="237744" cy="23774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44355" y="2194560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Pop-ups</a:t>
            </a:r>
            <a:endParaRPr lang="en-US" sz="1450" dirty="0"/>
          </a:p>
        </p:txBody>
      </p:sp>
      <p:sp>
        <p:nvSpPr>
          <p:cNvPr id="20" name="Text 18"/>
          <p:cNvSpPr txBox="1"/>
          <p:nvPr/>
        </p:nvSpPr>
        <p:spPr>
          <a:xfrm>
            <a:off x="9244355" y="2523744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Real-world sampling and connection.</a:t>
            </a:r>
            <a:endParaRPr lang="en-US" sz="1080" dirty="0"/>
          </a:p>
        </p:txBody>
      </p:sp>
      <p:sp>
        <p:nvSpPr>
          <p:cNvPr id="21" name="Shape 19"/>
          <p:cNvSpPr/>
          <p:nvPr/>
        </p:nvSpPr>
        <p:spPr>
          <a:xfrm>
            <a:off x="548640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22376" y="3858768"/>
            <a:ext cx="237744" cy="23774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731520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Markets</a:t>
            </a:r>
            <a:endParaRPr lang="en-US" sz="1450" dirty="0"/>
          </a:p>
        </p:txBody>
      </p:sp>
      <p:sp>
        <p:nvSpPr>
          <p:cNvPr id="24" name="Text 22"/>
          <p:cNvSpPr txBox="1"/>
          <p:nvPr/>
        </p:nvSpPr>
        <p:spPr>
          <a:xfrm>
            <a:off x="731520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Low-cost, direct customer feedback.</a:t>
            </a:r>
            <a:endParaRPr lang="en-US" sz="1080" dirty="0"/>
          </a:p>
        </p:txBody>
      </p:sp>
      <p:sp>
        <p:nvSpPr>
          <p:cNvPr id="25" name="Shape 23"/>
          <p:cNvSpPr/>
          <p:nvPr/>
        </p:nvSpPr>
        <p:spPr>
          <a:xfrm>
            <a:off x="3386252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559988" y="3858768"/>
            <a:ext cx="237744" cy="237744"/>
          </a:xfrm>
          <a:prstGeom prst="ellipse">
            <a:avLst/>
          </a:prstGeom>
          <a:solidFill>
            <a:srgbClr val="CFC5AE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569132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Retail</a:t>
            </a:r>
            <a:endParaRPr lang="en-US" sz="1450" dirty="0"/>
          </a:p>
        </p:txBody>
      </p:sp>
      <p:sp>
        <p:nvSpPr>
          <p:cNvPr id="28" name="Text 26"/>
          <p:cNvSpPr txBox="1"/>
          <p:nvPr/>
        </p:nvSpPr>
        <p:spPr>
          <a:xfrm>
            <a:off x="3569132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shelf presence.</a:t>
            </a:r>
            <a:endParaRPr lang="en-US" sz="1080" dirty="0"/>
          </a:p>
        </p:txBody>
      </p:sp>
      <p:sp>
        <p:nvSpPr>
          <p:cNvPr id="29" name="Shape 27"/>
          <p:cNvSpPr/>
          <p:nvPr/>
        </p:nvSpPr>
        <p:spPr>
          <a:xfrm>
            <a:off x="6223864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6397600" y="3858768"/>
            <a:ext cx="237744" cy="237744"/>
          </a:xfrm>
          <a:prstGeom prst="ellipse">
            <a:avLst/>
          </a:prstGeom>
          <a:solidFill>
            <a:srgbClr val="9C7A3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406744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Wholesale</a:t>
            </a:r>
            <a:endParaRPr lang="en-US" sz="1450" dirty="0"/>
          </a:p>
        </p:txBody>
      </p:sp>
      <p:sp>
        <p:nvSpPr>
          <p:cNvPr id="32" name="Text 30"/>
          <p:cNvSpPr txBox="1"/>
          <p:nvPr/>
        </p:nvSpPr>
        <p:spPr>
          <a:xfrm>
            <a:off x="6406744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through other retailers.</a:t>
            </a:r>
            <a:endParaRPr lang="en-US" sz="1080" dirty="0"/>
          </a:p>
        </p:txBody>
      </p:sp>
      <p:sp>
        <p:nvSpPr>
          <p:cNvPr id="33" name="Shape 31"/>
          <p:cNvSpPr/>
          <p:nvPr/>
        </p:nvSpPr>
        <p:spPr>
          <a:xfrm>
            <a:off x="9061475" y="3685032"/>
            <a:ext cx="258158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 w="12700">
            <a:solidFill>
              <a:srgbClr val="D8CFB9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8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9235211" y="3858768"/>
            <a:ext cx="237744" cy="23774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9244355" y="4142232"/>
            <a:ext cx="22158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Influencers &amp; sampling</a:t>
            </a:r>
            <a:endParaRPr lang="en-US" sz="1450" dirty="0"/>
          </a:p>
        </p:txBody>
      </p:sp>
      <p:sp>
        <p:nvSpPr>
          <p:cNvPr id="36" name="Text 34"/>
          <p:cNvSpPr txBox="1"/>
          <p:nvPr/>
        </p:nvSpPr>
        <p:spPr>
          <a:xfrm>
            <a:off x="9244355" y="4471416"/>
            <a:ext cx="22158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8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 voices driving discovery.</a:t>
            </a:r>
            <a:endParaRPr lang="en-US" sz="1080" dirty="0"/>
          </a:p>
        </p:txBody>
      </p:sp>
      <p:sp>
        <p:nvSpPr>
          <p:cNvPr id="38" name="Text 35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119</a:t>
            </a:r>
            <a:endParaRPr lang="en-US" sz="1000" dirty="0"/>
          </a:p>
        </p:txBody>
      </p:sp>
    </p:spTree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FAF6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300" kern="0" dirty="0">
                <a:solidFill>
                  <a:srgbClr val="9C7A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ACTUALLY SELLS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8899855" y="3840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spc="20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STARTING A BRAND</a:t>
            </a:r>
            <a:endParaRPr lang="en-US" sz="105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777240"/>
            <a:ext cx="6583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320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Sell the story, not the note list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452360" y="548640"/>
            <a:ext cx="4190695" cy="5760720"/>
          </a:xfrm>
          <a:prstGeom prst="roundRect">
            <a:avLst>
              <a:gd name="adj" fmla="val 3055"/>
            </a:avLst>
          </a:prstGeom>
          <a:solidFill>
            <a:srgbClr val="EFE6D2"/>
          </a:solidFill>
          <a:ln/>
          <a:effectLst>
            <a:outerShdw sx="100000" sy="100000" kx="0" ky="0" algn="bl" rotWithShape="0" blurRad="177800" dist="50800" dir="5400000">
              <a:srgbClr val="000000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336497" y="2012664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7" name="Shape 5"/>
          <p:cNvSpPr/>
          <p:nvPr/>
        </p:nvSpPr>
        <p:spPr>
          <a:xfrm rot="3600000">
            <a:off x="9336497" y="2012664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8" name="Shape 6"/>
          <p:cNvSpPr/>
          <p:nvPr/>
        </p:nvSpPr>
        <p:spPr>
          <a:xfrm rot="7200000">
            <a:off x="9336497" y="2012664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9" name="Shape 7"/>
          <p:cNvSpPr/>
          <p:nvPr/>
        </p:nvSpPr>
        <p:spPr>
          <a:xfrm rot="10800000">
            <a:off x="9336497" y="2012664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0" name="Shape 8"/>
          <p:cNvSpPr/>
          <p:nvPr/>
        </p:nvSpPr>
        <p:spPr>
          <a:xfrm rot="14400000">
            <a:off x="9336497" y="2012664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1" name="Shape 9"/>
          <p:cNvSpPr/>
          <p:nvPr/>
        </p:nvSpPr>
        <p:spPr>
          <a:xfrm rot="18000000">
            <a:off x="9336497" y="2012664"/>
            <a:ext cx="422422" cy="955479"/>
          </a:xfrm>
          <a:prstGeom prst="ellipse">
            <a:avLst/>
          </a:prstGeom>
          <a:solidFill>
            <a:srgbClr val="8C3B49">
              <a:alpha val="88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9326439" y="2746874"/>
            <a:ext cx="442537" cy="442537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0" y="5806440"/>
            <a:ext cx="37334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"Rose, amber, musk" is a list. A story is what makes someone actually buy.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48640" y="1783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1005840" y="1755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Emotion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2075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it make someone feel, not just what's inside it.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548640" y="2926080"/>
            <a:ext cx="292608" cy="292608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2898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World-building</a:t>
            </a:r>
            <a:endParaRPr lang="en-US" sz="1650" dirty="0"/>
          </a:p>
        </p:txBody>
      </p:sp>
      <p:sp>
        <p:nvSpPr>
          <p:cNvPr id="19" name="Text 17"/>
          <p:cNvSpPr txBox="1"/>
          <p:nvPr/>
        </p:nvSpPr>
        <p:spPr>
          <a:xfrm>
            <a:off x="1005840" y="3218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whole aesthetic universe around the fragrance.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4069080"/>
            <a:ext cx="292608" cy="292608"/>
          </a:xfrm>
          <a:prstGeom prst="ellipse">
            <a:avLst/>
          </a:prstGeom>
          <a:solidFill>
            <a:srgbClr val="5B3A52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05840" y="4041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Identity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4361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does this make the wearer feel like?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548640" y="5212080"/>
            <a:ext cx="292608" cy="292608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1005840" y="5184648"/>
            <a:ext cx="6080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E0D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Experience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1005840" y="5504688"/>
            <a:ext cx="6080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5C56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unboxing, the sampling, the ritual — not just the liquid.</a:t>
            </a:r>
            <a:endParaRPr lang="en-US" sz="1250" dirty="0"/>
          </a:p>
        </p:txBody>
      </p:sp>
      <p:sp>
        <p:nvSpPr>
          <p:cNvPr id="27" name="Text 2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120</a:t>
            </a:r>
            <a:endParaRPr lang="en-US" sz="1000" dirty="0"/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ROADMAP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8686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Idea to growth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731520" y="3657600"/>
            <a:ext cx="10728655" cy="914"/>
          </a:xfrm>
          <a:prstGeom prst="line">
            <a:avLst/>
          </a:prstGeom>
          <a:noFill/>
          <a:ln w="25400">
            <a:solidFill>
              <a:srgbClr val="3B382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58368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6" name="Shape 4"/>
          <p:cNvSpPr/>
          <p:nvPr/>
        </p:nvSpPr>
        <p:spPr>
          <a:xfrm>
            <a:off x="585216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37160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1999450" y="3584448"/>
            <a:ext cx="146304" cy="146304"/>
          </a:xfrm>
          <a:prstGeom prst="ellipse">
            <a:avLst/>
          </a:prstGeom>
          <a:solidFill>
            <a:srgbClr val="B5652D"/>
          </a:solidFill>
          <a:ln/>
        </p:spPr>
      </p:sp>
      <p:sp>
        <p:nvSpPr>
          <p:cNvPr id="9" name="Shape 7"/>
          <p:cNvSpPr/>
          <p:nvPr/>
        </p:nvSpPr>
        <p:spPr>
          <a:xfrm>
            <a:off x="1926298" y="3511296"/>
            <a:ext cx="292608" cy="292608"/>
          </a:xfrm>
          <a:prstGeom prst="ellipse">
            <a:avLst/>
          </a:prstGeom>
          <a:ln w="12802">
            <a:solidFill>
              <a:srgbClr val="B5652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1478242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340532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12" name="Shape 10"/>
          <p:cNvSpPr/>
          <p:nvPr/>
        </p:nvSpPr>
        <p:spPr>
          <a:xfrm>
            <a:off x="3267380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2819324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681614" y="3584448"/>
            <a:ext cx="146304" cy="146304"/>
          </a:xfrm>
          <a:prstGeom prst="ellipse">
            <a:avLst/>
          </a:prstGeom>
          <a:solidFill>
            <a:srgbClr val="6E7A50"/>
          </a:solidFill>
          <a:ln/>
        </p:spPr>
      </p:sp>
      <p:sp>
        <p:nvSpPr>
          <p:cNvPr id="15" name="Shape 13"/>
          <p:cNvSpPr/>
          <p:nvPr/>
        </p:nvSpPr>
        <p:spPr>
          <a:xfrm>
            <a:off x="4608462" y="3511296"/>
            <a:ext cx="292608" cy="292608"/>
          </a:xfrm>
          <a:prstGeom prst="ellipse">
            <a:avLst/>
          </a:prstGeom>
          <a:ln w="12802">
            <a:solidFill>
              <a:srgbClr val="6E7A5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160406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022696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9544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501488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63778" y="3584448"/>
            <a:ext cx="146304" cy="146304"/>
          </a:xfrm>
          <a:prstGeom prst="ellipse">
            <a:avLst/>
          </a:prstGeom>
          <a:solidFill>
            <a:srgbClr val="C9A354"/>
          </a:solidFill>
          <a:ln/>
        </p:spPr>
      </p:sp>
      <p:sp>
        <p:nvSpPr>
          <p:cNvPr id="21" name="Shape 19"/>
          <p:cNvSpPr/>
          <p:nvPr/>
        </p:nvSpPr>
        <p:spPr>
          <a:xfrm>
            <a:off x="7290626" y="3511296"/>
            <a:ext cx="292608" cy="292608"/>
          </a:xfrm>
          <a:prstGeom prst="ellipse">
            <a:avLst/>
          </a:prstGeom>
          <a:ln w="12802">
            <a:solidFill>
              <a:srgbClr val="C9A354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6842570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PACKAGING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704859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24" name="Shape 22"/>
          <p:cNvSpPr/>
          <p:nvPr/>
        </p:nvSpPr>
        <p:spPr>
          <a:xfrm>
            <a:off x="8631707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183651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10045941" y="3584448"/>
            <a:ext cx="146304" cy="146304"/>
          </a:xfrm>
          <a:prstGeom prst="ellipse">
            <a:avLst/>
          </a:prstGeom>
          <a:solidFill>
            <a:srgbClr val="5C5646"/>
          </a:solidFill>
          <a:ln/>
        </p:spPr>
      </p:sp>
      <p:sp>
        <p:nvSpPr>
          <p:cNvPr id="27" name="Shape 25"/>
          <p:cNvSpPr/>
          <p:nvPr/>
        </p:nvSpPr>
        <p:spPr>
          <a:xfrm>
            <a:off x="9972789" y="3511296"/>
            <a:ext cx="292608" cy="292608"/>
          </a:xfrm>
          <a:prstGeom prst="ellipse">
            <a:avLst/>
          </a:prstGeom>
          <a:ln w="12802">
            <a:solidFill>
              <a:srgbClr val="5C564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524733" y="3858768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11387023" y="3584448"/>
            <a:ext cx="146304" cy="146304"/>
          </a:xfrm>
          <a:prstGeom prst="ellipse">
            <a:avLst/>
          </a:prstGeom>
          <a:solidFill>
            <a:srgbClr val="8C3B49"/>
          </a:solidFill>
          <a:ln/>
        </p:spPr>
      </p:sp>
      <p:sp>
        <p:nvSpPr>
          <p:cNvPr id="30" name="Shape 28"/>
          <p:cNvSpPr/>
          <p:nvPr/>
        </p:nvSpPr>
        <p:spPr>
          <a:xfrm>
            <a:off x="11313871" y="3511296"/>
            <a:ext cx="292608" cy="292608"/>
          </a:xfrm>
          <a:prstGeom prst="ellipse">
            <a:avLst/>
          </a:prstGeom>
          <a:ln w="12802">
            <a:solidFill>
              <a:srgbClr val="8C3B4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865815" y="3154680"/>
            <a:ext cx="1188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A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594360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CFC5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module in this course lives somewhere on this line. Now go build.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10820095" y="-320040"/>
            <a:ext cx="1645920" cy="1645920"/>
          </a:xfrm>
          <a:prstGeom prst="ellipse">
            <a:avLst/>
          </a:prstGeom>
          <a:ln w="16459">
            <a:solidFill>
              <a:srgbClr val="C9A354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121</a:t>
            </a:r>
            <a:endParaRPr lang="en-US" sz="1000" dirty="0"/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0E0D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306928" y="640080"/>
            <a:ext cx="5577840" cy="5577840"/>
          </a:xfrm>
          <a:prstGeom prst="ellipse">
            <a:avLst/>
          </a:prstGeom>
          <a:ln w="14630">
            <a:solidFill>
              <a:srgbClr val="3B382F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0" y="1371600"/>
            <a:ext cx="1219169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400" kern="0" dirty="0">
                <a:solidFill>
                  <a:srgbClr val="C9A3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 THIS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463040" y="2011680"/>
            <a:ext cx="9265615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great perfume deserves a story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worth remembering. Build both</a:t>
            </a:r>
            <a:endParaRPr lang="en-US" sz="3400" dirty="0"/>
          </a:p>
          <a:p>
            <a:pPr algn="ctr" indent="0" marL="0">
              <a:lnSpc>
                <a:spcPct val="112000"/>
              </a:lnSpc>
              <a:buNone/>
            </a:pPr>
            <a:r>
              <a:rPr lang="en-US" sz="3400" b="1" dirty="0">
                <a:solidFill>
                  <a:srgbClr val="FAF6E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with the same care.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0" y="5989320"/>
            <a:ext cx="121916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50" kern="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OF COURSE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11368735" y="64008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C82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122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137</Slides>
  <Notes>137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Art &amp; Science of Perfumery</dc:title>
  <dc:subject>Beginner-to-intermediate perfumery course companion deck</dc:subject>
  <dc:creator>YEVFUMES</dc:creator>
  <cp:lastModifiedBy>YEVFUMES</cp:lastModifiedBy>
  <cp:revision>1</cp:revision>
  <dcterms:created xsi:type="dcterms:W3CDTF">2026-08-31T18:51:55Z</dcterms:created>
  <dcterms:modified xsi:type="dcterms:W3CDTF">2026-08-31T18:51:55Z</dcterms:modified>
</cp:coreProperties>
</file>