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</p:sldIdLst>
  <p:notesMasterIdLst>
    <p:notesMasterId r:id="rId24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notesMaster" Target="notesMasters/notesMaster1.xml"/><Relationship Id="rId248" Type="http://schemas.openxmlformats.org/officeDocument/2006/relationships/presProps" Target="presProps.xml"/><Relationship Id="rId249" Type="http://schemas.openxmlformats.org/officeDocument/2006/relationships/viewProps" Target="viewProps.xml"/><Relationship Id="rId250" Type="http://schemas.openxmlformats.org/officeDocument/2006/relationships/theme" Target="theme/theme1.xml"/><Relationship Id="rId2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examples make these words stick far better than definitions alone — pair each with a live smell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some solvents degrade certain plastics over time — glass is safer for long-term dedicated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 through this slide — it's a checklist, not a lecture. Each item gets one sentence at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protects the course from going stale as suppliers change — teach the search habit, not a single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permission to start small — the essential column is genuinely enough to begin every remaining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mistakes is cheap to avoid and expensive to recover from — worth emphasising strongly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 Today we go deep on eight of them, natural-side.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examples: bergamot projects instantly but fades fast; sandalwood projects little but lasts for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Bright, inviting, easy to remember — this moodboard format repeats for every family across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side-by-side smelling — citrus oils are the easiest family to tell apart when compared directly, and the hardest to tell apart from memory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show the range within one family — bergamot for lift, grapefruit for sparkle, petitgrain for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the flower icon shape itself changes — round for rose, star for jasmine, small for violet-adjacent materials — a visual cue for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Florals are where naturals matter most — synthetics can approximate a rose, but rarely replace it entirely. This is the most expensive category to shop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smell all four side by side — the differences between rose, jasmine, neroli and ylang-ylang are the clearest floral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Wood-ring icons for the cross-section woods, a root icon for vetiver, a single leaf for patchouli.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Woods are the load-bearing walls of a formula — almost every finished perfume rests on one or two of these at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naturals are the backbone naturals used across almost every genre, from fresh to oriental.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Resins are the warm, sticky, ancient heart of perfumery — most predate synthetic chemistry by thousands of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resin is a natural fixative — this is exactly why they anchor base notes and slow the evaporation of everything above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Labdanum, benzoin and frankincense together roughly define the natural "amber" space long before Ambroxan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Spices are used in tiny amounts — this family teaches restraint faster than any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Spices are almost always used at a fraction of a percent — this is a good moment to reinforce the 0.001g scale lesson from module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dilute these three heavily before smelling neat — spices punish overconfidence fastest.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"kitchen and apothecary" family — herbal, medicinal, immediately familiar smells.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Lavender was introduced back in module 01 — remind students it belongs firmly in this same aromatic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together define the "barbershop / fougère" territory — a genuinely useful trio to smell as a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of the eight families in raw material count, but a distinctive and important one — sharp, unripe, stemmy smells.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Greens are a texture, not a season — a small amount of galbanum can make an entire floral heart feel alive rather than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deserve a heavy dilution before smelling neat — galbanum in particular is far stronger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gourmand corner of the naturals palette — most of the category's real depth is synthetic, covered next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Tonka's coumarin content is exactly why this category and the synthetic gourmand family overlap so closely — a natural preview of next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ten deep-dive sections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Musks are the skin of a formula — they don't announce themselves, but everything else leans on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compare Galaxolide against Ambrettolide directly — "clean laundry" versus "warm skin" is the clearest musk lesson there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define the modern musk palette — clean, voluminous, and natural-feeling, respectively.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single-handedly defines the last twenty-five years of mainstream perfumery.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lightly for a subtle radiant "glow," or strongly as the entire backbone of a modern amber-woody genre — this family does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dose Ambroxan at 0.1% and then 3% in two strips — the difference is a genuinely eye-opening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and most-used synthetic family — almost every modern base note leans on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E Super, Javanol and Cashmeran alone can define three completely different "woody" moods — transparent, creamy, and cosy.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Comparing Javanol against Sandalore against natural sandalwood on three strips is one of the best exercises in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Isolated floral facets — each one is a single true note pulled out of a whole flower's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biggest synthetic family in raw material count — most "natural-smelling" florals are actually built from several of these stacked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build a five-second "rose" from phenylethyl alcohol, citronellol, geraniol and a trace of rose oxide — it's a genuinely convincing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natural citrus fades in under two hours, these synthetics keep freshness alive for far longer.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Dihydromyrcenol single-handedly extended the citrus opening from ten minutes to a genuinely wearable freshness — a great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Dose cis-3-hexenol extremely lightly first — at full strength it reads as more "lawnmower" than most students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between "juicy and realistic" and "candy" is entirely a question of dose — this family teaches restraint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realism-versus-candy line is entirely about dose — the same material that reads as "ripe peach" at 0.5% reads as "bubblegum" at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Smell gamma undecalactone at three different dilutions side by side — realism versus candy is the whole lesson in one strip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synthetics do the same job as galbanum, but with more control and far more consistency batch to 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synthetics let a perfumer dial in exactly how much "bite" a formula needs, independent of a natural harvest's variability.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family that built an entire modern genre — without it, the last decade of gourmand perfumery doesn't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Vanillin and ethyl maltol together are the two most bought gourmand materials in the hobbyist world — make sure both get smelled this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rewards restraint more than almost any other — a little goes further here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entire olfactory family invented in a lab — there is no natural equivalent to "ozonic."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Calone's story is a great live anecdote — one molecule from the 1990s effectively created an entire genre of "ocean" fragrances.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 is famously dose-sensitive — too much reads as "synthetic pool" rather than "ocean air."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boldest, most divisive family in the course — used well, these materials add character no other family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is best taught by contrast — smell isobutyl quinoline's sharp bitterness against Suederal's soft suede to show the full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punishes overconfidence the same way spices do — dilute heavily and add in tiny increments.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process at a glance — every worked example on the next few slides fills in one of these four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"stock of a stock" technique is the single most useful trick in this module — it turns an impossible 0.1g weighing into two easy 1g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directly to module 11's IFRA discussion — a well-chosen low dilution is a compliance tool as much as a workflow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hobbyist who plateaus and a nose that keeps improving for years — treat it as a daily habit, not a one-time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a natural pairing exercise after apple — it shows the same facet-mapping method applied to a base-note accord instead of a top-note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Leather is a great contrast to amber — almost entirely one family, showing that an accord doesn't always need materials from many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 one of these four as homework — building even a rough version from the facet list teaches the method faster than watching another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exists because raw-material knowledge alone doesn't make a perfumer. Set that expectation clearly from the first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framing slide in the module. Deliver it slowly, one line building on the last — this is the thesis the whole rest of the section 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recaps module 06's opening idea deliberately — it's the foundation the whole bases discussion is built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visual simple and generic — it's the shape of the process, not a specific recipe.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nine reappear constantly across genres — a student who can build rough versions of all nine has a genuinely useful toolkit.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genuinely liberating idea for beginners who feel every accord must chase photographic realism.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nested rings visual sets up the next slide's thesis directly — a base really is a formula living inside your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 as its own moment — it's the single sentence that reframes everything students think they know about "cheating" with bases.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explicitly on camera: using a base is not the finish line. It's a highly capable starting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is a real, professional reason — not a shortcut for people who don't understand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point matters most for advanced students — this is standard practice at every level of the industry, not a beginner crutch.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"what do I actually do with a base?" — a base is a starting point for editorial decisions, not a finished ingredient to leave untouched.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honestly here — this section teaches how to evaluate and use bases, not to memorise exact proprietary recipes.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Rose Givco as one well-known example of a category, not the only rose base worth knowing — the modification slide that follows is the more universally useful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clearly on camera: these are directions of travel, not literal percentages — the point is to teach the thinking, not a recipe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an exact product name isn't certain, describe the category honestly rather than guessing at a name — that's a deliberate choice, not a gap in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flagship material for teaching that a perfumer's reason for using something is often structural, not literal note-matching.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spacing difference between the two panels IS the lesson — narrate it explicitly rather than assuming it reads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isn't precise technical specification — it's teaching students not to treat named variants as interchangeable without smelling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E Super is the clearest example in the course of a material whose role scales from invisible support to the entire structure, depending purely on dose.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good moment to mention that entire modern fragrance genres are built around this exact dose-dependent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texture as a category of effect here — Cashmeran is the clearest teaching example of a material valued for feel over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illustrated composite standing in for the four facets Cashmeran fuses together — useful as a quick visual recap after the deep-dive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this directly to the module 03.2 synthetics content — same material, now framed through the lens of control and dose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relevant, mention that supplier-specific grades of the same named material can behave slightly differently — always confirm on a fresh strip rather than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pick two musks from opposite ends of this spectrum and rebuild the same base with each — the textural difference is dramatic and immediate.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base family slide asks the same question: what effect is this category trying to deliver, and why would a perfumer reach for it instead of raw materials?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Fruit bases exist because building a convincing tropical or stone-fruit character from scratch takes real specialist knowledge — most perfumers reach for a base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Woody bases are the load-bearing walls of formula construction — nearly every finished perfume rests on one of these categories at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Classic vs. modern amber gets its own dedicated slide later — flag that connection here so it doesn't feel repeated when it arrives.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 bases decide how a perfume sits on skin more than almost any other category — worth its own slot after the musk spectrum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leather base is trying to smell literally like tanned hide — each is chasing a specific texture and mood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Gourmand bases are where the biggest modern commercial growth has happened — worth pointing out to students who want a commercially relevant specialty.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whole family has no natural equivalent at all — a good bridge back to module 03.2's synthetics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roles, not six fixed materials — any material that fills a role can stand in for the example given.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indolic facet is what beginners most often try to remove — explain that a trace of it is exactly what makes jasmine read as jasmine, not a generic white floral.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Already introduced in module 06 with a satellite diagram — this slide revisits it through the role-and-role-filler lens the rest of this module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 Javanol for natural sandalwood, or the reverse, and the accord's character shifts noticeably — a good live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matters more than almost any other in the module — "amber" means two genuinely different builds depending on the era and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building blocks are the same handful of facets — smoke, dryness, animalic character, woody structure, saffron-like sharpness, suede softness — combined in different ratios.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rose base stays visually central on purpose — every version is still recognisably built from the same starting point, just carried in a different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lesson isn't the percentages — it's that a finished formula legitimately mixes raw materials, accords and bases together, at every level of the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thesis statement students should carry out of the module — reinforce it clearly before moving into the base library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homework worth assigning explicitly — a base library built over months becomes a genuine creative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fundamentals are genuinely understood, these become true building blocks — not a shortcut around learning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firmly on: both approaches are legitimate, professional tools — the skill is knowing when to reach for which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closing flow mirrors the module's opening thesis slide exactly — bring it full circle before the final remember-this.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warmly. Bridge to module 07: 'now let's put all of this — materials, accords, and bases — into a complete formula.'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conceptual bridge between the architecture checklist and the four worked examples that follow — point back to it while walking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companion to the six questions on the previous slide — every "yes, this is a problem" answer points here for the actual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YEVFUMES DISCORD COURSE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&amp; Science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deck, the videos and Discord fit together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teachers, Yev and Kristan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roadmap through all 13 modules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  <p:sp>
        <p:nvSpPr>
          <p:cNvPr id="20" name="trans_fade_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6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8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9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21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2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4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6" name="trans_fade_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8" name="bld1_10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9" name="bld1_11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10" name="bld1_12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11" name="bld1_13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2" name="bld1_14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3" name="bld2_15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4" name="bld2_16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5" name="bld2_17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6" name="bld2_18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7" name="bld2_19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8" name="bld2_20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20" name="trans_fade_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2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2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3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3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4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4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rans_fade_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14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&amp; Bases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 + 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169000" y="592702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169000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6754216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7" name="Text 65"/>
          <p:cNvSpPr txBox="1"/>
          <p:nvPr/>
        </p:nvSpPr>
        <p:spPr>
          <a:xfrm>
            <a:off x="6754216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9" name="trans_push_l_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4" name="bld1_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6" name="bld1_4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7" name="bld2_4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2_4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9" name="bld2_5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20" name="bld3_5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5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2" name="bld3_5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23" name="bld4_5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4_5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5" name="bld4_5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7" name="trans_fade_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5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6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6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6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6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7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7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7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7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7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7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rans_fade_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rans_fade_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4" name="bld1_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6" name="bld1_8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7" name="bld2_8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8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9" name="bld2_8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30" name="bld3_8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8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2" name="bld3_8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3" name="bld4_9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4" name="bld4_9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5" name="bld4_9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7" name="trans_fade_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rans_fade_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key terms, with real-world examples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fragrance pyramid and concentration tiers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vs. synthetics, and the myths around both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31" name="trans_fade_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9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0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1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rans_fade_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2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2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3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rans_fade_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SIX WORDS, WITH REAL EXAMPLES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accord, base and modifier actually look like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1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43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accord, in practice</a:t>
            </a:r>
            <a:endParaRPr lang="en-US" sz="1450" dirty="0"/>
          </a:p>
        </p:txBody>
      </p:sp>
      <p:sp>
        <p:nvSpPr>
          <p:cNvPr id="13" name="bld1_144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+ geranium + a trace of clove — three materials that read as one unmistakable flower, not three chemicals.</a:t>
            </a:r>
            <a:endParaRPr lang="en-US" sz="1080" dirty="0"/>
          </a:p>
        </p:txBody>
      </p:sp>
      <p:sp>
        <p:nvSpPr>
          <p:cNvPr id="14" name="bld2_145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46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147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base, in practice</a:t>
            </a:r>
            <a:endParaRPr lang="en-US" sz="1450" dirty="0"/>
          </a:p>
        </p:txBody>
      </p:sp>
      <p:sp>
        <p:nvSpPr>
          <p:cNvPr id="17" name="bld2_148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pre-blended "musk base" bought ready-made and dropped straight into a formula for instant skin-like depth.</a:t>
            </a:r>
            <a:endParaRPr lang="en-US" sz="1080" dirty="0"/>
          </a:p>
        </p:txBody>
      </p:sp>
      <p:sp>
        <p:nvSpPr>
          <p:cNvPr id="18" name="bld3_149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0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0" name="bld3_151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modifier, in practice</a:t>
            </a:r>
            <a:endParaRPr lang="en-US" sz="1450" dirty="0"/>
          </a:p>
        </p:txBody>
      </p:sp>
      <p:sp>
        <p:nvSpPr>
          <p:cNvPr id="21" name="bld3_152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whisper of black pepper added to a vanilla accord — the vanilla is still the star, but it now reads spiced, not flat.</a:t>
            </a:r>
            <a:endParaRPr lang="en-US" sz="1080" dirty="0"/>
          </a:p>
        </p:txBody>
      </p:sp>
      <p:sp>
        <p:nvSpPr>
          <p:cNvPr id="23" name="trans_fade_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53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5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55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56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57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58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59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60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61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62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63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64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65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66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67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68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rans_fade_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69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70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71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rans_wipe_l_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72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73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74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75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76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77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78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79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80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81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82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83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84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85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86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87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88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89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90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91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92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93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194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195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196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197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198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199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200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201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202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203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204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205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206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207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208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209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210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211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12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13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14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15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16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17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18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19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20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21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22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23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24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25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26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27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28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29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30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31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rans_fade_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3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3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3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3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3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3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3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3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4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4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4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4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4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4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4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rans_fade_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48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49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50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51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52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53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54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55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56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57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58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59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60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61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62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rans_push_l_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63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64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65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66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67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68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69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70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71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72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73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74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rans_wipe_l_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75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77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278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25" name="bld2_279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281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282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36" name="bld3_283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804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509167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7532942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3_285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43" name="bld3_286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44" name="bld4_287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188067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233538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311040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388543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434014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4_289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53" name="bld4_290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54" name="bld5_291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6" name="Shape 54"/>
          <p:cNvSpPr/>
          <p:nvPr/>
        </p:nvSpPr>
        <p:spPr>
          <a:xfrm>
            <a:off x="1803055" y="365546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2700000">
            <a:off x="1854908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1876387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100000">
            <a:off x="1854908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803055" y="38021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1751202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6200000">
            <a:off x="1729723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8900000">
            <a:off x="1751202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800630" y="3777296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65" name="Shape 6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6" name="bld5_293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67" name="bld5_294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68" name="bld6_295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0" name="Shape 68"/>
          <p:cNvSpPr/>
          <p:nvPr/>
        </p:nvSpPr>
        <p:spPr>
          <a:xfrm>
            <a:off x="4434543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515376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2" name="Shape 70"/>
          <p:cNvSpPr/>
          <p:nvPr/>
        </p:nvSpPr>
        <p:spPr>
          <a:xfrm>
            <a:off x="4596209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7942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4" name="Shape 7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5" name="bld6_297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76" name="bld6_298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77" name="bld7_299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79" name="Shape 77"/>
          <p:cNvSpPr/>
          <p:nvPr/>
        </p:nvSpPr>
        <p:spPr>
          <a:xfrm rot="9000000">
            <a:off x="7393404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6000000">
            <a:off x="7330354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1400000">
            <a:off x="7529203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83" name="bld7_301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84" name="bld7_302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85" name="bld8_303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29166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9" name="bld8_305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90" name="bld8_306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91" name="bld9_307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3" name="Shape 91"/>
          <p:cNvSpPr/>
          <p:nvPr/>
        </p:nvSpPr>
        <p:spPr>
          <a:xfrm rot="840000">
            <a:off x="1781230" y="5225546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40000">
            <a:off x="1833944" y="5281321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784868" y="529465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1802328" y="535479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7" name="Shape 95"/>
          <p:cNvSpPr/>
          <p:nvPr/>
        </p:nvSpPr>
        <p:spPr>
          <a:xfrm>
            <a:off x="1819787" y="54149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8" name="Shape 96"/>
          <p:cNvSpPr/>
          <p:nvPr/>
        </p:nvSpPr>
        <p:spPr>
          <a:xfrm>
            <a:off x="1837247" y="547507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9" name="Shape 97"/>
          <p:cNvSpPr/>
          <p:nvPr/>
        </p:nvSpPr>
        <p:spPr>
          <a:xfrm>
            <a:off x="1854707" y="553521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72167" y="559535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2" name="bld9_309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103" name="bld9_310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104" name="bld10_311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434543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496433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4471410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4471410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4496433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12" name="bld10_313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13" name="bld10_314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114" name="bld11_315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7325504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25504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325504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1" name="bld11_317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122" name="bld11_318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123" name="bld12_319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5" name="Shape 123"/>
          <p:cNvSpPr/>
          <p:nvPr/>
        </p:nvSpPr>
        <p:spPr>
          <a:xfrm rot="9000000">
            <a:off x="10231016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6000000">
            <a:off x="10167966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1400000">
            <a:off x="10366815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9" name="bld12_321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130" name="bld12_322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132" name="trans_fade_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2" grpId="0"/>
      <p:bldP spid="43" grpId="0"/>
      <p:bldP spid="44" grpId="0"/>
      <p:bldP spid="52" grpId="0"/>
      <p:bldP spid="53" grpId="0"/>
      <p:bldP spid="54" grpId="0"/>
      <p:bldP spid="66" grpId="0"/>
      <p:bldP spid="67" grpId="0"/>
      <p:bldP spid="68" grpId="0"/>
      <p:bldP spid="75" grpId="0"/>
      <p:bldP spid="76" grpId="0"/>
      <p:bldP spid="77" grpId="0"/>
      <p:bldP spid="83" grpId="0"/>
      <p:bldP spid="84" grpId="0"/>
      <p:bldP spid="85" grpId="0"/>
      <p:bldP spid="89" grpId="0"/>
      <p:bldP spid="90" grpId="0"/>
      <p:bldP spid="91" grpId="0"/>
      <p:bldP spid="102" grpId="0"/>
      <p:bldP spid="103" grpId="0"/>
      <p:bldP spid="104" grpId="0"/>
      <p:bldP spid="112" grpId="0"/>
      <p:bldP spid="113" grpId="0"/>
      <p:bldP spid="114" grpId="0"/>
      <p:bldP spid="121" grpId="0"/>
      <p:bldP spid="122" grpId="0"/>
      <p:bldP spid="123" grpId="0"/>
      <p:bldP spid="129" grpId="0"/>
      <p:bldP spid="13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23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24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25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26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27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28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29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30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31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32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33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34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35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36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37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38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39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40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41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42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43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44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45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46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47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48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49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50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51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52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rans_fade_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rans_fade_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Laboratory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0.001g scale is non-negotiable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Pipettes, bottles, strips — and what each is for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vs. nice-to-have, and common mistakes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39687"/>
            <a:ext cx="582490" cy="25888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30197" y="2939687"/>
            <a:ext cx="582490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130197" y="3263292"/>
            <a:ext cx="582490" cy="51776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9381" y="3781061"/>
            <a:ext cx="97081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59381" y="3198571"/>
            <a:ext cx="388327" cy="58249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35776" y="2874966"/>
            <a:ext cx="711932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44154" y="3095017"/>
            <a:ext cx="207108" cy="207108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5768" y="2865258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38258" y="3188863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5768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84952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1346" y="2800536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25" name="bld1_3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1_3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27" name="bld1_35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28" name="bld2_35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2_35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30" name="bld2_35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used at fractions of a percent. A 0.01g scale simply cannot see doses that small.</a:t>
            </a:r>
            <a:endParaRPr lang="en-US" sz="1250" dirty="0"/>
          </a:p>
        </p:txBody>
      </p:sp>
      <p:sp>
        <p:nvSpPr>
          <p:cNvPr id="31" name="bld3_35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bld3_36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33" name="bld3_36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34" name="bld4_36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36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36" name="bld4_36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38" name="trans_fade_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 — plastic vs. glass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13336" y="2192804"/>
            <a:ext cx="2011534" cy="2011534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8789661" y="2586663"/>
            <a:ext cx="258884" cy="271829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08131" y="2845547"/>
            <a:ext cx="914" cy="729583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8883801" y="3575130"/>
            <a:ext cx="70605" cy="188280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913336" y="2192804"/>
            <a:ext cx="2011534" cy="2011534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96266" y="2192804"/>
            <a:ext cx="2011534" cy="2011534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72591" y="2586663"/>
            <a:ext cx="258884" cy="271829"/>
          </a:xfrm>
          <a:prstGeom prst="ellipse">
            <a:avLst/>
          </a:prstGeom>
          <a:solidFill>
            <a:srgbClr val="C9A354">
              <a:alpha val="85000"/>
            </a:srgbClr>
          </a:solidFill>
          <a:ln w="12700">
            <a:solidFill>
              <a:srgbClr val="C9A3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91060" y="2845547"/>
            <a:ext cx="914" cy="729583"/>
          </a:xfrm>
          <a:prstGeom prst="line">
            <a:avLst/>
          </a:prstGeom>
          <a:noFill/>
          <a:ln w="28575">
            <a:solidFill>
              <a:srgbClr val="C9A35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0800000">
            <a:off x="10266730" y="3575130"/>
            <a:ext cx="70605" cy="188280"/>
          </a:xfrm>
          <a:prstGeom prst="triangle">
            <a:avLst/>
          </a:prstGeom>
          <a:solidFill>
            <a:srgbClr val="C9A354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296266" y="2192804"/>
            <a:ext cx="2011534" cy="2011534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both on hand — they solve different problems.</a:t>
            </a:r>
            <a:endParaRPr lang="en-US" sz="1050" dirty="0"/>
          </a:p>
        </p:txBody>
      </p:sp>
      <p:sp>
        <p:nvSpPr>
          <p:cNvPr id="21" name="bld1_36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36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plastic pipettes</a:t>
            </a:r>
            <a:endParaRPr lang="en-US" sz="1650" dirty="0"/>
          </a:p>
        </p:txBody>
      </p:sp>
      <p:sp>
        <p:nvSpPr>
          <p:cNvPr id="23" name="bld1_36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fast, zero cleanup — ideal for quick transfers and one-time evaluation dips.</a:t>
            </a:r>
            <a:endParaRPr lang="en-US" sz="1250" dirty="0"/>
          </a:p>
        </p:txBody>
      </p:sp>
      <p:sp>
        <p:nvSpPr>
          <p:cNvPr id="24" name="bld2_36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36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Pasteur pipettes</a:t>
            </a:r>
            <a:endParaRPr lang="en-US" sz="1650" dirty="0"/>
          </a:p>
        </p:txBody>
      </p:sp>
      <p:sp>
        <p:nvSpPr>
          <p:cNvPr id="26" name="bld2_37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solvent-resistant — better for repeated, precise dosing of the same material.</a:t>
            </a:r>
            <a:endParaRPr lang="en-US" sz="1250" dirty="0"/>
          </a:p>
        </p:txBody>
      </p:sp>
      <p:sp>
        <p:nvSpPr>
          <p:cNvPr id="27" name="bld3_37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3_37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each</a:t>
            </a:r>
            <a:endParaRPr lang="en-US" sz="1650" dirty="0"/>
          </a:p>
        </p:txBody>
      </p:sp>
      <p:sp>
        <p:nvSpPr>
          <p:cNvPr id="29" name="bld3_37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for speed and disposability; glass when you're working with strong solvents or want a permanent tool for one material.</a:t>
            </a:r>
            <a:endParaRPr lang="en-US" sz="1250" dirty="0"/>
          </a:p>
        </p:txBody>
      </p:sp>
      <p:sp>
        <p:nvSpPr>
          <p:cNvPr id="31" name="trans_fade_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Bottles for every stage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7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7" name="bld1_37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1450" dirty="0"/>
          </a:p>
        </p:txBody>
      </p:sp>
      <p:sp>
        <p:nvSpPr>
          <p:cNvPr id="18" name="bld1_37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UV-protective storage for raw materials and dilutions.</a:t>
            </a:r>
            <a:endParaRPr lang="en-US" sz="1080" dirty="0"/>
          </a:p>
        </p:txBody>
      </p:sp>
      <p:sp>
        <p:nvSpPr>
          <p:cNvPr id="19" name="bld2_37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1" name="Shape 19"/>
          <p:cNvSpPr/>
          <p:nvPr/>
        </p:nvSpPr>
        <p:spPr>
          <a:xfrm>
            <a:off x="4647645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651479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85748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324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6" name="bld2_38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vials</a:t>
            </a:r>
            <a:endParaRPr lang="en-US" sz="1450" dirty="0"/>
          </a:p>
        </p:txBody>
      </p:sp>
      <p:sp>
        <p:nvSpPr>
          <p:cNvPr id="27" name="bld2_38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volumes for evaluation batches and giving out samples.</a:t>
            </a:r>
            <a:endParaRPr lang="en-US" sz="1080" dirty="0"/>
          </a:p>
        </p:txBody>
      </p:sp>
      <p:sp>
        <p:nvSpPr>
          <p:cNvPr id="28" name="bld3_38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5" name="bld3_38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36" name="bld3_38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bottles per dilution strength, clearly labelled.</a:t>
            </a:r>
            <a:endParaRPr lang="en-US" sz="1080" dirty="0"/>
          </a:p>
        </p:txBody>
      </p:sp>
      <p:sp>
        <p:nvSpPr>
          <p:cNvPr id="37" name="bld4_38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4_38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storage</a:t>
            </a:r>
            <a:endParaRPr lang="en-US" sz="1450" dirty="0"/>
          </a:p>
        </p:txBody>
      </p:sp>
      <p:sp>
        <p:nvSpPr>
          <p:cNvPr id="45" name="bld4_38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bottles for macerating and storing finished compounds.</a:t>
            </a:r>
            <a:endParaRPr lang="en-US" sz="1080" dirty="0"/>
          </a:p>
        </p:txBody>
      </p:sp>
      <p:sp>
        <p:nvSpPr>
          <p:cNvPr id="47" name="trans_fade_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6" grpId="0"/>
      <p:bldP spid="27" grpId="0"/>
      <p:bldP spid="28" grpId="0"/>
      <p:bldP spid="35" grpId="0"/>
      <p:bldP spid="36" grpId="0"/>
      <p:bldP spid="37" grpId="0"/>
      <p:bldP spid="44" grpId="0"/>
      <p:bldP spid="4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025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0741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5" name="Shape 13"/>
          <p:cNvSpPr/>
          <p:nvPr/>
        </p:nvSpPr>
        <p:spPr>
          <a:xfrm>
            <a:off x="9085164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98880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9" name="Shape 17"/>
          <p:cNvSpPr/>
          <p:nvPr/>
        </p:nvSpPr>
        <p:spPr>
          <a:xfrm>
            <a:off x="9923303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7019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61442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775158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27" name="bld1_3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3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29" name="bld1_39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material.</a:t>
            </a:r>
            <a:endParaRPr lang="en-US" sz="1250" dirty="0"/>
          </a:p>
        </p:txBody>
      </p:sp>
      <p:sp>
        <p:nvSpPr>
          <p:cNvPr id="30" name="bld2_39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2_39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32" name="bld2_39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material, dilution and date on the strip itself before you dip it — not after.</a:t>
            </a:r>
            <a:endParaRPr lang="en-US" sz="1250" dirty="0"/>
          </a:p>
        </p:txBody>
      </p:sp>
      <p:sp>
        <p:nvSpPr>
          <p:cNvPr id="33" name="bld3_39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3_39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stamps</a:t>
            </a:r>
            <a:endParaRPr lang="en-US" sz="1650" dirty="0"/>
          </a:p>
        </p:txBody>
      </p:sp>
      <p:sp>
        <p:nvSpPr>
          <p:cNvPr id="35" name="bld3_39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exact time you dipped it, so later evaluations are measured against a real clock.</a:t>
            </a:r>
            <a:endParaRPr lang="en-US" sz="1250" dirty="0"/>
          </a:p>
        </p:txBody>
      </p:sp>
      <p:sp>
        <p:nvSpPr>
          <p:cNvPr id="36" name="bld4_39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4_40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 evaluation</a:t>
            </a:r>
            <a:endParaRPr lang="en-US" sz="1650" dirty="0"/>
          </a:p>
        </p:txBody>
      </p:sp>
      <p:sp>
        <p:nvSpPr>
          <p:cNvPr id="38" name="bld4_40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lets you return to the same sample hours or days later and track how it truly evolves.</a:t>
            </a:r>
            <a:endParaRPr lang="en-US" sz="1250" dirty="0"/>
          </a:p>
        </p:txBody>
      </p:sp>
      <p:sp>
        <p:nvSpPr>
          <p:cNvPr id="40" name="trans_fade_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KIT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tools that save real time</a:t>
            </a:r>
            <a:endParaRPr lang="en-US" sz="3200" dirty="0"/>
          </a:p>
        </p:txBody>
      </p:sp>
      <p:sp>
        <p:nvSpPr>
          <p:cNvPr id="7" name="bld1_402"/>
          <p:cNvSpPr/>
          <p:nvPr/>
        </p:nvSpPr>
        <p:spPr>
          <a:xfrm>
            <a:off x="548640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865376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2089266" y="2025923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01469" y="1865376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404"/>
          <p:cNvSpPr txBox="1"/>
          <p:nvPr/>
        </p:nvSpPr>
        <p:spPr>
          <a:xfrm>
            <a:off x="731520" y="2578608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2" name="bld1_405"/>
          <p:cNvSpPr txBox="1"/>
          <p:nvPr/>
        </p:nvSpPr>
        <p:spPr>
          <a:xfrm>
            <a:off x="731520" y="3035808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— many materials irritate or stain skin.</a:t>
            </a:r>
            <a:endParaRPr lang="en-US" sz="1080" dirty="0"/>
          </a:p>
        </p:txBody>
      </p:sp>
      <p:sp>
        <p:nvSpPr>
          <p:cNvPr id="13" name="bld2_406"/>
          <p:cNvSpPr/>
          <p:nvPr/>
        </p:nvSpPr>
        <p:spPr>
          <a:xfrm>
            <a:off x="4332122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865376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4508" y="2006523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98848" y="2074422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29888" y="2183062"/>
            <a:ext cx="131919" cy="156169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784952" y="1865376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9" name="bld2_408"/>
          <p:cNvSpPr txBox="1"/>
          <p:nvPr/>
        </p:nvSpPr>
        <p:spPr>
          <a:xfrm>
            <a:off x="4515002" y="2578608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20" name="bld2_409"/>
          <p:cNvSpPr txBox="1"/>
          <p:nvPr/>
        </p:nvSpPr>
        <p:spPr>
          <a:xfrm>
            <a:off x="4515002" y="3035808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lab funnels for clean bottle transfers.</a:t>
            </a:r>
            <a:endParaRPr lang="en-US" sz="1080" dirty="0"/>
          </a:p>
        </p:txBody>
      </p:sp>
      <p:sp>
        <p:nvSpPr>
          <p:cNvPr id="21" name="bld3_410"/>
          <p:cNvSpPr/>
          <p:nvPr/>
        </p:nvSpPr>
        <p:spPr>
          <a:xfrm>
            <a:off x="8115605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68434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3" name="Shape 21"/>
          <p:cNvSpPr/>
          <p:nvPr/>
        </p:nvSpPr>
        <p:spPr>
          <a:xfrm>
            <a:off x="9857990" y="2006523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2330" y="2074422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13370" y="2183062"/>
            <a:ext cx="131919" cy="156169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568434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7" name="bld3_412"/>
          <p:cNvSpPr txBox="1"/>
          <p:nvPr/>
        </p:nvSpPr>
        <p:spPr>
          <a:xfrm>
            <a:off x="8298485" y="2578608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28" name="bld3_413"/>
          <p:cNvSpPr txBox="1"/>
          <p:nvPr/>
        </p:nvSpPr>
        <p:spPr>
          <a:xfrm>
            <a:off x="8298485" y="3035808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mixing and staging larger batches.</a:t>
            </a:r>
            <a:endParaRPr lang="en-US" sz="1080" dirty="0"/>
          </a:p>
        </p:txBody>
      </p:sp>
      <p:sp>
        <p:nvSpPr>
          <p:cNvPr id="29" name="bld4_414"/>
          <p:cNvSpPr/>
          <p:nvPr/>
        </p:nvSpPr>
        <p:spPr>
          <a:xfrm>
            <a:off x="548640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001469" y="3505200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2191116" y="3694847"/>
            <a:ext cx="242499" cy="242499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001469" y="3505200"/>
            <a:ext cx="621792" cy="621792"/>
          </a:xfrm>
          <a:prstGeom prst="ellipse">
            <a:avLst/>
          </a:prstGeom>
          <a:ln w="25603">
            <a:solidFill>
              <a:srgbClr val="2A5266"/>
            </a:solidFill>
            <a:prstDash val="solid"/>
          </a:ln>
        </p:spPr>
      </p:sp>
      <p:sp>
        <p:nvSpPr>
          <p:cNvPr id="33" name="bld4_416"/>
          <p:cNvSpPr txBox="1"/>
          <p:nvPr/>
        </p:nvSpPr>
        <p:spPr>
          <a:xfrm>
            <a:off x="731520" y="4218432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rods</a:t>
            </a:r>
            <a:endParaRPr lang="en-US" sz="1450" dirty="0"/>
          </a:p>
        </p:txBody>
      </p:sp>
      <p:sp>
        <p:nvSpPr>
          <p:cNvPr id="34" name="bld4_417"/>
          <p:cNvSpPr txBox="1"/>
          <p:nvPr/>
        </p:nvSpPr>
        <p:spPr>
          <a:xfrm>
            <a:off x="731520" y="4675632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stirring without introducing air.</a:t>
            </a:r>
            <a:endParaRPr lang="en-US" sz="1080" dirty="0"/>
          </a:p>
        </p:txBody>
      </p:sp>
      <p:sp>
        <p:nvSpPr>
          <p:cNvPr id="35" name="bld5_418"/>
          <p:cNvSpPr/>
          <p:nvPr/>
        </p:nvSpPr>
        <p:spPr>
          <a:xfrm>
            <a:off x="4332122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84952" y="3505200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>
            <a:off x="5853349" y="3573597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15239" y="3694847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890215" y="3775680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890215" y="38565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915239" y="3937345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784952" y="3505200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5_420"/>
          <p:cNvSpPr txBox="1"/>
          <p:nvPr/>
        </p:nvSpPr>
        <p:spPr>
          <a:xfrm>
            <a:off x="4515002" y="4218432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markers</a:t>
            </a:r>
            <a:endParaRPr lang="en-US" sz="1450" dirty="0"/>
          </a:p>
        </p:txBody>
      </p:sp>
      <p:sp>
        <p:nvSpPr>
          <p:cNvPr id="44" name="bld5_421"/>
          <p:cNvSpPr txBox="1"/>
          <p:nvPr/>
        </p:nvSpPr>
        <p:spPr>
          <a:xfrm>
            <a:off x="4515002" y="4675632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 labels and permanent markers — standard ink smears.</a:t>
            </a:r>
            <a:endParaRPr lang="en-US" sz="1080" dirty="0"/>
          </a:p>
        </p:txBody>
      </p:sp>
      <p:sp>
        <p:nvSpPr>
          <p:cNvPr id="45" name="bld6_422"/>
          <p:cNvSpPr/>
          <p:nvPr/>
        </p:nvSpPr>
        <p:spPr>
          <a:xfrm>
            <a:off x="8115605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568434" y="3505200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7" name="Shape 45"/>
          <p:cNvSpPr/>
          <p:nvPr/>
        </p:nvSpPr>
        <p:spPr>
          <a:xfrm>
            <a:off x="9636831" y="3573597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98721" y="3694847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673698" y="3775680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9673698" y="38565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9698721" y="3937345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568434" y="3505200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3" name="bld6_424"/>
          <p:cNvSpPr txBox="1"/>
          <p:nvPr/>
        </p:nvSpPr>
        <p:spPr>
          <a:xfrm>
            <a:off x="8298485" y="4218432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</a:t>
            </a:r>
            <a:endParaRPr lang="en-US" sz="1450" dirty="0"/>
          </a:p>
        </p:txBody>
      </p:sp>
      <p:sp>
        <p:nvSpPr>
          <p:cNvPr id="54" name="bld6_425"/>
          <p:cNvSpPr txBox="1"/>
          <p:nvPr/>
        </p:nvSpPr>
        <p:spPr>
          <a:xfrm>
            <a:off x="8298485" y="4675632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boats for solids and viscous materials.</a:t>
            </a:r>
            <a:endParaRPr lang="en-US" sz="1080" dirty="0"/>
          </a:p>
        </p:txBody>
      </p:sp>
      <p:sp>
        <p:nvSpPr>
          <p:cNvPr id="55" name="bld7_426"/>
          <p:cNvSpPr/>
          <p:nvPr/>
        </p:nvSpPr>
        <p:spPr>
          <a:xfrm>
            <a:off x="548640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2001469" y="5145024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7" name="Shape 55"/>
          <p:cNvSpPr/>
          <p:nvPr/>
        </p:nvSpPr>
        <p:spPr>
          <a:xfrm rot="8100000">
            <a:off x="2191116" y="5334671"/>
            <a:ext cx="242499" cy="2424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2001469" y="5145024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7_428"/>
          <p:cNvSpPr txBox="1"/>
          <p:nvPr/>
        </p:nvSpPr>
        <p:spPr>
          <a:xfrm>
            <a:off x="731520" y="5858256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60" name="bld7_429"/>
          <p:cNvSpPr txBox="1"/>
          <p:nvPr/>
        </p:nvSpPr>
        <p:spPr>
          <a:xfrm>
            <a:off x="731520" y="6315456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 and paste-like materials.</a:t>
            </a:r>
            <a:endParaRPr lang="en-US" sz="1080" dirty="0"/>
          </a:p>
        </p:txBody>
      </p:sp>
      <p:sp>
        <p:nvSpPr>
          <p:cNvPr id="61" name="bld8_430"/>
          <p:cNvSpPr/>
          <p:nvPr/>
        </p:nvSpPr>
        <p:spPr>
          <a:xfrm>
            <a:off x="4332122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784952" y="5145024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53349" y="5213421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915239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5890215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5890215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5915239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5784952" y="5145024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69" name="bld8_432"/>
          <p:cNvSpPr txBox="1"/>
          <p:nvPr/>
        </p:nvSpPr>
        <p:spPr>
          <a:xfrm>
            <a:off x="4515002" y="5858256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boxes</a:t>
            </a:r>
            <a:endParaRPr lang="en-US" sz="1450" dirty="0"/>
          </a:p>
        </p:txBody>
      </p:sp>
      <p:sp>
        <p:nvSpPr>
          <p:cNvPr id="70" name="bld8_433"/>
          <p:cNvSpPr txBox="1"/>
          <p:nvPr/>
        </p:nvSpPr>
        <p:spPr>
          <a:xfrm>
            <a:off x="4515002" y="6315456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 storage for your growing material library.</a:t>
            </a:r>
            <a:endParaRPr lang="en-US" sz="1080" dirty="0"/>
          </a:p>
        </p:txBody>
      </p:sp>
      <p:sp>
        <p:nvSpPr>
          <p:cNvPr id="71" name="bld9_434"/>
          <p:cNvSpPr/>
          <p:nvPr/>
        </p:nvSpPr>
        <p:spPr>
          <a:xfrm>
            <a:off x="8115605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9568434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3" name="Shape 71"/>
          <p:cNvSpPr/>
          <p:nvPr/>
        </p:nvSpPr>
        <p:spPr>
          <a:xfrm>
            <a:off x="9636831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690181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690181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690181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568434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8" name="bld9_436"/>
          <p:cNvSpPr txBox="1"/>
          <p:nvPr/>
        </p:nvSpPr>
        <p:spPr>
          <a:xfrm>
            <a:off x="8298485" y="5858256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alcohol</a:t>
            </a:r>
            <a:endParaRPr lang="en-US" sz="1450" dirty="0"/>
          </a:p>
        </p:txBody>
      </p:sp>
      <p:sp>
        <p:nvSpPr>
          <p:cNvPr id="79" name="bld9_437"/>
          <p:cNvSpPr txBox="1"/>
          <p:nvPr/>
        </p:nvSpPr>
        <p:spPr>
          <a:xfrm>
            <a:off x="8298485" y="6315456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rinsing glassware between materials — never skip this step.</a:t>
            </a:r>
            <a:endParaRPr lang="en-US" sz="1080" dirty="0"/>
          </a:p>
        </p:txBody>
      </p:sp>
      <p:sp>
        <p:nvSpPr>
          <p:cNvPr id="81" name="trans_fade_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2" name="Text 7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7" grpId="0"/>
      <p:bldP spid="28" grpId="0"/>
      <p:bldP spid="29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  <p:bldP spid="55" grpId="0"/>
      <p:bldP spid="59" grpId="0"/>
      <p:bldP spid="60" grpId="0"/>
      <p:bldP spid="61" grpId="0"/>
      <p:bldP spid="69" grpId="0"/>
      <p:bldP spid="70" grpId="0"/>
      <p:bldP spid="71" grpId="0"/>
      <p:bldP spid="78" grpId="0"/>
      <p:bldP spid="7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search for, not where to buy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10343940" y="4225232"/>
            <a:ext cx="502883" cy="914"/>
          </a:xfrm>
          <a:prstGeom prst="line">
            <a:avLst/>
          </a:prstGeom>
          <a:noFill/>
          <a:ln w="3810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spec — let the market compete for your order.</a:t>
            </a:r>
            <a:endParaRPr lang="en-US" sz="1050" dirty="0"/>
          </a:p>
        </p:txBody>
      </p:sp>
      <p:sp>
        <p:nvSpPr>
          <p:cNvPr id="14" name="bld1_43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1_43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spec, not by brand</a:t>
            </a:r>
            <a:endParaRPr lang="en-US" sz="1650" dirty="0"/>
          </a:p>
        </p:txBody>
      </p:sp>
      <p:sp>
        <p:nvSpPr>
          <p:cNvPr id="16" name="bld1_44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change — the specification doesn't. Search for what you need, not a specific store.</a:t>
            </a:r>
            <a:endParaRPr lang="en-US" sz="1250" dirty="0"/>
          </a:p>
        </p:txBody>
      </p:sp>
      <p:sp>
        <p:nvSpPr>
          <p:cNvPr id="17" name="bld2_44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bld2_44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"0.001g precision scale ~200g"</a:t>
            </a:r>
            <a:endParaRPr lang="en-US" sz="1650" dirty="0"/>
          </a:p>
        </p:txBody>
      </p:sp>
      <p:sp>
        <p:nvSpPr>
          <p:cNvPr id="19" name="bld2_44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exact scale class covered earlier, across many sellers.</a:t>
            </a:r>
            <a:endParaRPr lang="en-US" sz="1250" dirty="0"/>
          </a:p>
        </p:txBody>
      </p:sp>
      <p:sp>
        <p:nvSpPr>
          <p:cNvPr id="20" name="bld3_44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44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"amber glass bottles wholesale"</a:t>
            </a:r>
            <a:endParaRPr lang="en-US" sz="1650" dirty="0"/>
          </a:p>
        </p:txBody>
      </p:sp>
      <p:sp>
        <p:nvSpPr>
          <p:cNvPr id="22" name="bld3_44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bulk glassware suppliers for storage and dilution bottles.</a:t>
            </a:r>
            <a:endParaRPr lang="en-US" sz="1250" dirty="0"/>
          </a:p>
        </p:txBody>
      </p:sp>
      <p:sp>
        <p:nvSpPr>
          <p:cNvPr id="23" name="bld4_44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4_44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"perfumer's alcohol" / "glass Pasteur pipettes"</a:t>
            </a:r>
            <a:endParaRPr lang="en-US" sz="1650" dirty="0"/>
          </a:p>
        </p:txBody>
      </p:sp>
      <p:sp>
        <p:nvSpPr>
          <p:cNvPr id="25" name="bld4_44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most-searched consumables in any starter kit.</a:t>
            </a:r>
            <a:endParaRPr lang="en-US" sz="1250" dirty="0"/>
          </a:p>
        </p:txBody>
      </p:sp>
      <p:sp>
        <p:nvSpPr>
          <p:cNvPr id="27" name="trans_fade_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vs. nice-to-have</a:t>
            </a:r>
            <a:endParaRPr lang="en-US" sz="3200" dirty="0"/>
          </a:p>
        </p:txBody>
      </p:sp>
      <p:sp>
        <p:nvSpPr>
          <p:cNvPr id="7" name="bld1_450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451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452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bld1_453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scale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+ glass pipettes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bottles + dilution bottles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 (blotters)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labels, markers, cleaning alcohol</a:t>
            </a:r>
            <a:endParaRPr lang="en-US" sz="1300" dirty="0"/>
          </a:p>
        </p:txBody>
      </p:sp>
      <p:sp>
        <p:nvSpPr>
          <p:cNvPr id="11" name="bld1_454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455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456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457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458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Nice to have</a:t>
            </a:r>
            <a:endParaRPr lang="en-US" sz="1800" dirty="0"/>
          </a:p>
        </p:txBody>
      </p:sp>
      <p:sp>
        <p:nvSpPr>
          <p:cNvPr id="16" name="bld2_459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stirrer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Fume extraction / ventilation hood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cleaner for glassware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fridge for volatile materials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labelling printer</a:t>
            </a:r>
            <a:endParaRPr lang="en-US" sz="1300" dirty="0"/>
          </a:p>
        </p:txBody>
      </p:sp>
      <p:sp>
        <p:nvSpPr>
          <p:cNvPr id="17" name="bld2_460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461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OTHERS' MISTAKES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beginner equipment mistakes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46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46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46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kitchen scale</a:t>
            </a:r>
            <a:endParaRPr lang="en-US" sz="1450" dirty="0"/>
          </a:p>
        </p:txBody>
      </p:sp>
      <p:sp>
        <p:nvSpPr>
          <p:cNvPr id="24" name="bld1_46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to 0.01g or 0.1g — invisible to most trace materials. It will silently ruin every formula you weigh on it.</a:t>
            </a:r>
            <a:endParaRPr lang="en-US" sz="1080" dirty="0"/>
          </a:p>
        </p:txBody>
      </p:sp>
      <p:sp>
        <p:nvSpPr>
          <p:cNvPr id="25" name="bld2_46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46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46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Reusing one pipette</a:t>
            </a:r>
            <a:endParaRPr lang="en-US" sz="1450" dirty="0"/>
          </a:p>
        </p:txBody>
      </p:sp>
      <p:sp>
        <p:nvSpPr>
          <p:cNvPr id="28" name="bld2_46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Cross-contaminates materials and skews every reading after the first. One pipette per material, or rinse thoroughly between uses.</a:t>
            </a:r>
            <a:endParaRPr lang="en-US" sz="1080" dirty="0"/>
          </a:p>
        </p:txBody>
      </p:sp>
      <p:sp>
        <p:nvSpPr>
          <p:cNvPr id="29" name="bld3_47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47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47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glass storage</a:t>
            </a:r>
            <a:endParaRPr lang="en-US" sz="1450" dirty="0"/>
          </a:p>
        </p:txBody>
      </p:sp>
      <p:sp>
        <p:nvSpPr>
          <p:cNvPr id="32" name="bld3_47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light degrades citrus oils and many naturals within weeks. Amber glass is not optional for anything you plan to keep.</a:t>
            </a:r>
            <a:endParaRPr lang="en-US" sz="1080" dirty="0"/>
          </a:p>
        </p:txBody>
      </p:sp>
      <p:sp>
        <p:nvSpPr>
          <p:cNvPr id="33" name="bld4_47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47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47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Unlabelled bottles</a:t>
            </a:r>
            <a:endParaRPr lang="en-US" sz="1450" dirty="0"/>
          </a:p>
        </p:txBody>
      </p:sp>
      <p:sp>
        <p:nvSpPr>
          <p:cNvPr id="36" name="bld4_47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bottle without material, %, solvent and date becomes a mystery liquid within a month — and mystery liquids get thrown away.</a:t>
            </a:r>
            <a:endParaRPr lang="en-US" sz="1080" dirty="0"/>
          </a:p>
        </p:txBody>
      </p:sp>
      <p:sp>
        <p:nvSpPr>
          <p:cNvPr id="38" name="trans_fade_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rans_fade_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47213" y="3109253"/>
            <a:ext cx="639495" cy="63949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vocabulary: volatility, diffusion, tenacity, role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natural material families, in real depth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named materials — not just categories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4" name="trans_fade_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478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480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481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25" name="bld2_482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484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485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36" name="bld3_486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7350455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7395926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7473429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550931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596403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4" name="bld3_488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45" name="bld3_489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46" name="bld4_490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53416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46779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2000000">
            <a:off x="10370553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2" name="bld4_492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3" name="bld4_493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54" name="bld5_494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596931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77764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758597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10330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5_496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62" name="bld5_497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63" name="bld6_498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5" name="Shape 63"/>
          <p:cNvSpPr/>
          <p:nvPr/>
        </p:nvSpPr>
        <p:spPr>
          <a:xfrm rot="9000000">
            <a:off x="4555792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000000">
            <a:off x="4492743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1400000">
            <a:off x="4691592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6_500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70" name="bld6_501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71" name="bld7_502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3" name="Shape 71"/>
          <p:cNvSpPr/>
          <p:nvPr/>
        </p:nvSpPr>
        <p:spPr>
          <a:xfrm>
            <a:off x="7291555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5" name="bld7_504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76" name="bld7_505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77" name="bld8_506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10294066" y="3585722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10346779" y="3641497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97703" y="365483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15163" y="371497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32623" y="377511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50083" y="383525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10367543" y="389539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10385003" y="395553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508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509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90" name="bld9_510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2" name="Shape 90"/>
          <p:cNvSpPr/>
          <p:nvPr/>
        </p:nvSpPr>
        <p:spPr>
          <a:xfrm rot="9000000">
            <a:off x="1718180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6000000">
            <a:off x="1655131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11400000">
            <a:off x="1853980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96" name="bld9_512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97" name="bld9_513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98" name="bld10_514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40667" y="529528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4692520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4713999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4692520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4640667" y="5441952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4588814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4567335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4588814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638242" y="5417120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10" name="bld10_516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111" name="bld10_517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112" name="bld11_518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7334045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7309021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7309021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334045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0" name="bld11_520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21" name="bld11_521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122" name="bld12_522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109766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63116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63116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163116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9" name="bld12_524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130" name="bld12_525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132" name="trans_fade_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4" grpId="0"/>
      <p:bldP spid="45" grpId="0"/>
      <p:bldP spid="46" grpId="0"/>
      <p:bldP spid="52" grpId="0"/>
      <p:bldP spid="53" grpId="0"/>
      <p:bldP spid="54" grpId="0"/>
      <p:bldP spid="61" grpId="0"/>
      <p:bldP spid="62" grpId="0"/>
      <p:bldP spid="63" grpId="0"/>
      <p:bldP spid="69" grpId="0"/>
      <p:bldP spid="70" grpId="0"/>
      <p:bldP spid="71" grpId="0"/>
      <p:bldP spid="75" grpId="0"/>
      <p:bldP spid="76" grpId="0"/>
      <p:bldP spid="77" grpId="0"/>
      <p:bldP spid="88" grpId="0"/>
      <p:bldP spid="89" grpId="0"/>
      <p:bldP spid="90" grpId="0"/>
      <p:bldP spid="96" grpId="0"/>
      <p:bldP spid="97" grpId="0"/>
      <p:bldP spid="98" grpId="0"/>
      <p:bldP spid="110" grpId="0"/>
      <p:bldP spid="111" grpId="0"/>
      <p:bldP spid="112" grpId="0"/>
      <p:bldP spid="120" grpId="0"/>
      <p:bldP spid="121" grpId="0"/>
      <p:bldP spid="122" grpId="0"/>
      <p:bldP spid="129" grpId="0"/>
      <p:bldP spid="13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526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527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528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529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530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531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532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533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534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535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536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537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rans_push_l_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80091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353952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538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53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40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541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projection, an "intimate" material.</a:t>
            </a:r>
            <a:endParaRPr lang="en-US" sz="1080" dirty="0"/>
          </a:p>
        </p:txBody>
      </p:sp>
      <p:sp>
        <p:nvSpPr>
          <p:cNvPr id="18" name="bld2_542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543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544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545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 beyond the skin.</a:t>
            </a:r>
            <a:endParaRPr lang="en-US" sz="1080" dirty="0"/>
          </a:p>
        </p:txBody>
      </p:sp>
      <p:sp>
        <p:nvSpPr>
          <p:cNvPr id="22" name="bld3_546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547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548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549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 from a small amount.</a:t>
            </a:r>
            <a:endParaRPr lang="en-US" sz="1080" dirty="0"/>
          </a:p>
        </p:txBody>
      </p:sp>
      <p:sp>
        <p:nvSpPr>
          <p:cNvPr id="26" name="bld4_550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551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552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553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how strong it is.</a:t>
            </a:r>
            <a:endParaRPr lang="en-US" sz="1080" dirty="0"/>
          </a:p>
        </p:txBody>
      </p:sp>
      <p:sp>
        <p:nvSpPr>
          <p:cNvPr id="31" name="trans_fade_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4" name="bld1_55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55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6" name="bld1_55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7" name="bld2_55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55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9" name="bld2_55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30" name="bld3_56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56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2" name="bld3_56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4" name="trans_fade_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563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8100000">
            <a:off x="1413022" y="2611526"/>
            <a:ext cx="285293" cy="2852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565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9" name="bld1_566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20" name="bld2_567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754435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4320000">
            <a:off x="3885487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640000">
            <a:off x="383543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2960000">
            <a:off x="367344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7280000">
            <a:off x="3623383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57288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9" name="bld2_569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30" name="bld2_570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31" name="bld3_571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8" name="bld3_573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39" name="bld3_574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40" name="bld4_575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6" name="bld4_577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47" name="bld4_578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48" name="bld5_579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0" name="Shape 48"/>
          <p:cNvSpPr/>
          <p:nvPr/>
        </p:nvSpPr>
        <p:spPr>
          <a:xfrm>
            <a:off x="10606630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610464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544733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81309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5" name="bld5_581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56" name="bld5_582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58" name="trans_fade_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9" grpId="0"/>
      <p:bldP spid="30" grpId="0"/>
      <p:bldP spid="31" grpId="0"/>
      <p:bldP spid="38" grpId="0"/>
      <p:bldP spid="39" grpId="0"/>
      <p:bldP spid="40" grpId="0"/>
      <p:bldP spid="46" grpId="0"/>
      <p:bldP spid="47" grpId="0"/>
      <p:bldP spid="48" grpId="0"/>
      <p:bldP spid="55" grpId="0"/>
      <p:bldP spid="5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1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Citrus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4" name="bld1_584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2865793" y="3668974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2099" y="3755280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20617" y="4223798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586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>
            <a:off x="4688095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63213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4" name="Shape 42"/>
          <p:cNvSpPr/>
          <p:nvPr/>
        </p:nvSpPr>
        <p:spPr>
          <a:xfrm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21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43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4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29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51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72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94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170997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3_588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0484" y="3748887"/>
            <a:ext cx="1073117" cy="1073117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505602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0" name="Shape 58"/>
          <p:cNvSpPr/>
          <p:nvPr/>
        </p:nvSpPr>
        <p:spPr>
          <a:xfrm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16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432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48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64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080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296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512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728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944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913386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72" name="bld4_590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74" name="Shape 72"/>
          <p:cNvSpPr/>
          <p:nvPr/>
        </p:nvSpPr>
        <p:spPr>
          <a:xfrm>
            <a:off x="8092960" y="3399610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179266" y="3485916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21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43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4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6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080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29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51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72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94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647784" y="3954434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7" name="Shape 8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88" name="bld5_592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350" dirty="0"/>
          </a:p>
        </p:txBody>
      </p:sp>
      <p:sp>
        <p:nvSpPr>
          <p:cNvPr id="89" name="Shape 8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0" name="Shape 88"/>
          <p:cNvSpPr/>
          <p:nvPr/>
        </p:nvSpPr>
        <p:spPr>
          <a:xfrm>
            <a:off x="9915262" y="3748887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9990380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216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432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648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864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1080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296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512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728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944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98165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104" name="bld6_594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Yuzu</a:t>
            </a:r>
            <a:endParaRPr lang="en-US" sz="1350" dirty="0"/>
          </a:p>
        </p:txBody>
      </p:sp>
      <p:sp>
        <p:nvSpPr>
          <p:cNvPr id="106" name="trans_fade_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7" name="Text 10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6" grpId="0"/>
      <p:bldP spid="72" grpId="0"/>
      <p:bldP spid="88" grpId="0"/>
      <p:bldP spid="10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CITRUS,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citrus oils, six different jobs</a:t>
            </a:r>
            <a:endParaRPr lang="en-US" sz="3200" dirty="0"/>
          </a:p>
        </p:txBody>
      </p:sp>
      <p:sp>
        <p:nvSpPr>
          <p:cNvPr id="7" name="bld1_595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47120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31419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597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24" name="bld1_598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Floral-sharp, slightly bitter. Very fast top note, gone in under 2 hours — intimate, diffusive on first spray only.</a:t>
            </a:r>
            <a:endParaRPr lang="en-US" sz="1080" dirty="0"/>
          </a:p>
        </p:txBody>
      </p:sp>
      <p:sp>
        <p:nvSpPr>
          <p:cNvPr id="25" name="bld2_599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3583259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17209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801508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601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450" dirty="0"/>
          </a:p>
        </p:txBody>
      </p:sp>
      <p:sp>
        <p:nvSpPr>
          <p:cNvPr id="42" name="bld2_602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clean, zesty. Fleeting top note; classic freshness lift, easily overwhelmed by heavier materials.</a:t>
            </a:r>
            <a:endParaRPr lang="en-US" sz="1080" dirty="0"/>
          </a:p>
        </p:txBody>
      </p:sp>
      <p:sp>
        <p:nvSpPr>
          <p:cNvPr id="43" name="bld3_603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5" name="Shape 43"/>
          <p:cNvSpPr/>
          <p:nvPr/>
        </p:nvSpPr>
        <p:spPr>
          <a:xfrm>
            <a:off x="5853349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87299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071598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59" name="bld3_605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450" dirty="0"/>
          </a:p>
        </p:txBody>
      </p:sp>
      <p:sp>
        <p:nvSpPr>
          <p:cNvPr id="60" name="bld3_606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warm, candy-like. Short-lived top note; softer and rounder than lemon, less bitter than grapefruit.</a:t>
            </a:r>
            <a:endParaRPr lang="en-US" sz="1080" dirty="0"/>
          </a:p>
        </p:txBody>
      </p:sp>
      <p:sp>
        <p:nvSpPr>
          <p:cNvPr id="61" name="bld4_607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3" name="Shape 61"/>
          <p:cNvSpPr/>
          <p:nvPr/>
        </p:nvSpPr>
        <p:spPr>
          <a:xfrm>
            <a:off x="812343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57388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216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432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48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64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512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728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1944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34168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77" name="bld4_609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Bitter Orange</a:t>
            </a:r>
            <a:endParaRPr lang="en-US" sz="1450" dirty="0"/>
          </a:p>
        </p:txBody>
      </p:sp>
      <p:sp>
        <p:nvSpPr>
          <p:cNvPr id="78" name="bld4_610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Drier, more tart than sweet orange. Top note with a slightly green, peel-like edge — less gourmand.</a:t>
            </a:r>
            <a:endParaRPr lang="en-US" sz="1080" dirty="0"/>
          </a:p>
        </p:txBody>
      </p:sp>
      <p:sp>
        <p:nvSpPr>
          <p:cNvPr id="79" name="bld5_611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1" name="Shape 79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3" name="Shape 81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4" name="Shape 92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5" name="bld5_613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Orange</a:t>
            </a:r>
            <a:endParaRPr lang="en-US" sz="1450" dirty="0"/>
          </a:p>
        </p:txBody>
      </p:sp>
      <p:sp>
        <p:nvSpPr>
          <p:cNvPr id="96" name="bld5_614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Deeper, faintly berry-like sweetness. Top note; a warmer, richer twist on standard orange.</a:t>
            </a:r>
            <a:endParaRPr lang="en-US" sz="1080" dirty="0"/>
          </a:p>
        </p:txBody>
      </p:sp>
      <p:sp>
        <p:nvSpPr>
          <p:cNvPr id="97" name="bld6_615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9" name="Shape 97"/>
          <p:cNvSpPr/>
          <p:nvPr/>
        </p:nvSpPr>
        <p:spPr>
          <a:xfrm>
            <a:off x="1313170" y="4337182"/>
            <a:ext cx="484998" cy="484998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1347120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216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432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648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864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080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296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512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728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944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531419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13" name="bld6_617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450" dirty="0"/>
          </a:p>
        </p:txBody>
      </p:sp>
      <p:sp>
        <p:nvSpPr>
          <p:cNvPr id="114" name="bld6_618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Tart, slightly bitter, radiant. Top note that reads further into the heart than most citrus — good diffusion.</a:t>
            </a:r>
            <a:endParaRPr lang="en-US" sz="1080" dirty="0"/>
          </a:p>
        </p:txBody>
      </p:sp>
      <p:sp>
        <p:nvSpPr>
          <p:cNvPr id="115" name="bld7_619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6" name="Shape 114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361720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216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432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 rot="648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 rot="864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 rot="1080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 rot="1296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1512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728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 rot="1944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380150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131" name="bld7_621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450" dirty="0"/>
          </a:p>
        </p:txBody>
      </p:sp>
      <p:sp>
        <p:nvSpPr>
          <p:cNvPr id="132" name="bld7_622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sweet, gentle citrus. Very short top note; a smoother, less acidic alternative to orange.</a:t>
            </a:r>
            <a:endParaRPr lang="en-US" sz="1080" dirty="0"/>
          </a:p>
        </p:txBody>
      </p:sp>
      <p:sp>
        <p:nvSpPr>
          <p:cNvPr id="133" name="bld8_623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9" name="bld8_625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150" name="bld8_626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— distilled from leaves and twigs, not fruit. Top-to-heart bridge, longer-lived than the peel oils.</a:t>
            </a:r>
            <a:endParaRPr lang="en-US" sz="1080" dirty="0"/>
          </a:p>
        </p:txBody>
      </p:sp>
      <p:sp>
        <p:nvSpPr>
          <p:cNvPr id="151" name="bld9_627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2" name="Shape 150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8157388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 rot="216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 rot="432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 rot="648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 rot="864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 rot="1080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 rot="1296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 rot="1512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 rot="1728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 rot="1944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8341687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167" name="bld9_629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Yuzu</a:t>
            </a:r>
            <a:endParaRPr lang="en-US" sz="1450" dirty="0"/>
          </a:p>
        </p:txBody>
      </p:sp>
      <p:sp>
        <p:nvSpPr>
          <p:cNvPr id="168" name="bld9_630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Tart, floral, more complex than lemon. Fleeting top note prized for its unusual, slightly spicy brightness.</a:t>
            </a:r>
            <a:endParaRPr lang="en-US" sz="1080" dirty="0"/>
          </a:p>
        </p:txBody>
      </p:sp>
      <p:sp>
        <p:nvSpPr>
          <p:cNvPr id="170" name="trans_fade_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71" name="Text 1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59" grpId="0"/>
      <p:bldP spid="60" grpId="0"/>
      <p:bldP spid="61" grpId="0"/>
      <p:bldP spid="77" grpId="0"/>
      <p:bldP spid="78" grpId="0"/>
      <p:bldP spid="79" grpId="0"/>
      <p:bldP spid="95" grpId="0"/>
      <p:bldP spid="96" grpId="0"/>
      <p:bldP spid="97" grpId="0"/>
      <p:bldP spid="113" grpId="0"/>
      <p:bldP spid="114" grpId="0"/>
      <p:bldP spid="115" grpId="0"/>
      <p:bldP spid="131" grpId="0"/>
      <p:bldP spid="132" grpId="0"/>
      <p:bldP spid="133" grpId="0"/>
      <p:bldP spid="149" grpId="0"/>
      <p:bldP spid="150" grpId="0"/>
      <p:bldP spid="151" grpId="0"/>
      <p:bldP spid="167" grpId="0"/>
      <p:bldP spid="16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citrus oils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632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800" dirty="0"/>
          </a:p>
        </p:txBody>
      </p:sp>
      <p:sp>
        <p:nvSpPr>
          <p:cNvPr id="23" name="bld1_633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634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sparkling, faintly floral</a:t>
            </a:r>
            <a:endParaRPr lang="en-US" sz="1100" dirty="0"/>
          </a:p>
        </p:txBody>
      </p:sp>
      <p:sp>
        <p:nvSpPr>
          <p:cNvPr id="25" name="bld1_635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636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fresh opening lift</a:t>
            </a:r>
            <a:endParaRPr lang="en-US" sz="1100" dirty="0"/>
          </a:p>
        </p:txBody>
      </p:sp>
      <p:sp>
        <p:nvSpPr>
          <p:cNvPr id="27" name="bld1_637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638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fleeting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33261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2" name="Shape 30"/>
          <p:cNvSpPr/>
          <p:nvPr/>
        </p:nvSpPr>
        <p:spPr>
          <a:xfrm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1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43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4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6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080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51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72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94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56626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44" name="bld2_640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800" dirty="0"/>
          </a:p>
        </p:txBody>
      </p:sp>
      <p:sp>
        <p:nvSpPr>
          <p:cNvPr id="45" name="bld2_641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2_642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Tart, radiant, slightly bitter</a:t>
            </a:r>
            <a:endParaRPr lang="en-US" sz="1100" dirty="0"/>
          </a:p>
        </p:txBody>
      </p:sp>
      <p:sp>
        <p:nvSpPr>
          <p:cNvPr id="47" name="bld2_643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2_644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sparkling brightness</a:t>
            </a:r>
            <a:endParaRPr lang="en-US" sz="1100" dirty="0"/>
          </a:p>
        </p:txBody>
      </p:sp>
      <p:sp>
        <p:nvSpPr>
          <p:cNvPr id="49" name="bld2_645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2_646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short · diffusive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26600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4" name="Shape 52"/>
          <p:cNvSpPr/>
          <p:nvPr/>
        </p:nvSpPr>
        <p:spPr>
          <a:xfrm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21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4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86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29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51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94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49964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6" name="bld3_648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800" dirty="0"/>
          </a:p>
        </p:txBody>
      </p:sp>
      <p:sp>
        <p:nvSpPr>
          <p:cNvPr id="67" name="bld3_649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8" name="bld3_650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woody-twiggy</a:t>
            </a:r>
            <a:endParaRPr lang="en-US" sz="1100" dirty="0"/>
          </a:p>
        </p:txBody>
      </p:sp>
      <p:sp>
        <p:nvSpPr>
          <p:cNvPr id="69" name="bld3_651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70" name="bld3_652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citrus into the heart</a:t>
            </a:r>
            <a:endParaRPr lang="en-US" sz="1100" dirty="0"/>
          </a:p>
        </p:txBody>
      </p:sp>
      <p:sp>
        <p:nvSpPr>
          <p:cNvPr id="71" name="bld3_653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2" name="bld3_654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intimate</a:t>
            </a:r>
            <a:endParaRPr lang="en-US" sz="1100" dirty="0"/>
          </a:p>
        </p:txBody>
      </p:sp>
      <p:sp>
        <p:nvSpPr>
          <p:cNvPr id="74" name="trans_fade_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6" grpId="0"/>
      <p:bldP spid="67" grpId="0"/>
      <p:bldP spid="68" grpId="0"/>
      <p:bldP spid="69" grpId="0"/>
      <p:bldP spid="70" grpId="0"/>
      <p:bldP spid="71" grpId="0"/>
      <p:bldP spid="7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2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Florals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1605735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1852209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175806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453406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359261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1101" y="3887307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65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3395958" y="3668974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366289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366289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395958" y="4285445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312901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312901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34311" y="4137492"/>
            <a:ext cx="295906" cy="295906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65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090513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5336987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640000">
            <a:off x="5242842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2960000">
            <a:off x="493818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7280000">
            <a:off x="4844040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95879" y="3887307"/>
            <a:ext cx="257548" cy="25754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6" name="bld3_66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8" name="Shape 36"/>
          <p:cNvSpPr/>
          <p:nvPr/>
        </p:nvSpPr>
        <p:spPr>
          <a:xfrm rot="10800000">
            <a:off x="6891924" y="374888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4400000">
            <a:off x="7124261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8000000">
            <a:off x="7124261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891924" y="4285445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3600000">
            <a:off x="6659587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7200000">
            <a:off x="6659587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38268" y="4156671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6" name="bld4_66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8" name="Shape 46"/>
          <p:cNvSpPr/>
          <p:nvPr/>
        </p:nvSpPr>
        <p:spPr>
          <a:xfrm>
            <a:off x="8616961" y="360773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700000">
            <a:off x="8748780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5400000">
            <a:off x="8803382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100000">
            <a:off x="8748780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16961" y="3980573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3500000">
            <a:off x="8485141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6200000">
            <a:off x="8430540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8900000">
            <a:off x="8485141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10796" y="3917446"/>
            <a:ext cx="197271" cy="19727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66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71337" y="3930029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700000">
            <a:off x="10486069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1053359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8100000">
            <a:off x="10486069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371337" y="4254540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3500000">
            <a:off x="10256605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6200000">
            <a:off x="1020908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8900000">
            <a:off x="10256605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365971" y="4199596"/>
            <a:ext cx="171699" cy="171699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69" name="Shape 6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0" name="bld6_66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350" dirty="0"/>
          </a:p>
        </p:txBody>
      </p:sp>
      <p:sp>
        <p:nvSpPr>
          <p:cNvPr id="72" name="trans_fade_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36" grpId="0"/>
      <p:bldP spid="46" grpId="0"/>
      <p:bldP spid="58" grpId="0"/>
      <p:bldP spid="7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FLORALS,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heart of nearly every formula</a:t>
            </a:r>
            <a:endParaRPr lang="en-US" sz="3200" dirty="0"/>
          </a:p>
        </p:txBody>
      </p:sp>
      <p:sp>
        <p:nvSpPr>
          <p:cNvPr id="7" name="bld1_667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495044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60643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563889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1426199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1383650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669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7" name="bld1_670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spicy. Heart note, medium-long, moderately diffusive — the archetypal floral.</a:t>
            </a:r>
            <a:endParaRPr lang="en-US" sz="1080" dirty="0"/>
          </a:p>
        </p:txBody>
      </p:sp>
      <p:sp>
        <p:nvSpPr>
          <p:cNvPr id="18" name="bld2_671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3791808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3896813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3896813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91808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3686803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3686803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6755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bld2_673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29" name="bld2_674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with an animalic edge. Heart note, long-lasting, very diffusive in tiny amounts.</a:t>
            </a:r>
            <a:endParaRPr lang="en-US" sz="1080" dirty="0"/>
          </a:p>
        </p:txBody>
      </p:sp>
      <p:sp>
        <p:nvSpPr>
          <p:cNvPr id="30" name="bld3_675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39" name="bld3_677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450" dirty="0"/>
          </a:p>
        </p:txBody>
      </p:sp>
      <p:sp>
        <p:nvSpPr>
          <p:cNvPr id="40" name="bld3_678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bitter-orange-blossom, faintly green. Top-heart note — lighter and fresher than absolute orange blossom.</a:t>
            </a:r>
            <a:endParaRPr lang="en-US" sz="1080" dirty="0"/>
          </a:p>
        </p:txBody>
      </p:sp>
      <p:sp>
        <p:nvSpPr>
          <p:cNvPr id="41" name="bld4_679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3" name="Shape 41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9" name="Shape 47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4_681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450" dirty="0"/>
          </a:p>
        </p:txBody>
      </p:sp>
      <p:sp>
        <p:nvSpPr>
          <p:cNvPr id="51" name="bld4_682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and more indolic than neroli, from the same flower via solvent extraction. Heart note, warm and lush.</a:t>
            </a:r>
            <a:endParaRPr lang="en-US" sz="1080" dirty="0"/>
          </a:p>
        </p:txBody>
      </p:sp>
      <p:sp>
        <p:nvSpPr>
          <p:cNvPr id="52" name="bld5_683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1060207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107070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107070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060207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1049707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1049707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057782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5_685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450" dirty="0"/>
          </a:p>
        </p:txBody>
      </p:sp>
      <p:sp>
        <p:nvSpPr>
          <p:cNvPr id="63" name="bld5_686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banana-custard, exotic and heavy. Heart note, long, very diffusive — easy to overdose.</a:t>
            </a:r>
            <a:endParaRPr lang="en-US" sz="1080" dirty="0"/>
          </a:p>
        </p:txBody>
      </p:sp>
      <p:sp>
        <p:nvSpPr>
          <p:cNvPr id="64" name="bld6_687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6" name="Shape 64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5" name="Shape 7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76" name="bld6_689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450" dirty="0"/>
          </a:p>
        </p:txBody>
      </p:sp>
      <p:sp>
        <p:nvSpPr>
          <p:cNvPr id="77" name="bld6_690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camphoraceous, clean. Top-heart, medium tenacity — the bridge between aromatic and floral.</a:t>
            </a:r>
            <a:endParaRPr lang="en-US" sz="1080" dirty="0"/>
          </a:p>
        </p:txBody>
      </p:sp>
      <p:sp>
        <p:nvSpPr>
          <p:cNvPr id="78" name="bld7_691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0" name="Shape 78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9" name="Shape 8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90" name="bld7_693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450" dirty="0"/>
          </a:p>
        </p:txBody>
      </p:sp>
      <p:sp>
        <p:nvSpPr>
          <p:cNvPr id="91" name="bld7_694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 but sharper and greener than rose itself, minty-metallic edge. Heart note, medium — a common rose extender.</a:t>
            </a:r>
            <a:endParaRPr lang="en-US" sz="1080" dirty="0"/>
          </a:p>
        </p:txBody>
      </p:sp>
      <p:sp>
        <p:nvSpPr>
          <p:cNvPr id="92" name="bld8_695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4" name="Shape 92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00" name="bld8_697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450" dirty="0"/>
          </a:p>
        </p:txBody>
      </p:sp>
      <p:sp>
        <p:nvSpPr>
          <p:cNvPr id="101" name="bld8_698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green, cucumber-like — not floral at all despite the name. Top-heart, intimate, used for freshness not sweetness.</a:t>
            </a:r>
            <a:endParaRPr lang="en-US" sz="1080" dirty="0"/>
          </a:p>
        </p:txBody>
      </p:sp>
      <p:sp>
        <p:nvSpPr>
          <p:cNvPr id="102" name="bld9_699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4" name="bld9_701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450" dirty="0"/>
          </a:p>
        </p:txBody>
      </p:sp>
      <p:sp>
        <p:nvSpPr>
          <p:cNvPr id="115" name="bld9_702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Apricot-suede, tea-like, unusual. Heart note, medium-long — a distinctive, less common floral choice.</a:t>
            </a:r>
            <a:endParaRPr lang="en-US" sz="1080" dirty="0"/>
          </a:p>
        </p:txBody>
      </p:sp>
      <p:sp>
        <p:nvSpPr>
          <p:cNvPr id="117" name="trans_fade_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8" name="Text 1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8" grpId="0"/>
      <p:bldP spid="29" grpId="0"/>
      <p:bldP spid="30" grpId="0"/>
      <p:bldP spid="39" grpId="0"/>
      <p:bldP spid="40" grpId="0"/>
      <p:bldP spid="41" grpId="0"/>
      <p:bldP spid="50" grpId="0"/>
      <p:bldP spid="51" grpId="0"/>
      <p:bldP spid="52" grpId="0"/>
      <p:bldP spid="62" grpId="0"/>
      <p:bldP spid="63" grpId="0"/>
      <p:bldP spid="64" grpId="0"/>
      <p:bldP spid="76" grpId="0"/>
      <p:bldP spid="77" grpId="0"/>
      <p:bldP spid="78" grpId="0"/>
      <p:bldP spid="90" grpId="0"/>
      <p:bldP spid="91" grpId="0"/>
      <p:bldP spid="92" grpId="0"/>
      <p:bldP spid="100" grpId="0"/>
      <p:bldP spid="101" grpId="0"/>
      <p:bldP spid="102" grpId="0"/>
      <p:bldP spid="114" grpId="0"/>
      <p:bldP spid="11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1574397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922766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789701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35909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22602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704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800" dirty="0"/>
          </a:p>
        </p:txBody>
      </p:sp>
      <p:sp>
        <p:nvSpPr>
          <p:cNvPr id="16" name="bld1_705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706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</a:t>
            </a:r>
            <a:endParaRPr lang="en-US" sz="1100" dirty="0"/>
          </a:p>
        </p:txBody>
      </p:sp>
      <p:sp>
        <p:nvSpPr>
          <p:cNvPr id="18" name="bld1_707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708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and romance</a:t>
            </a:r>
            <a:endParaRPr lang="en-US" sz="1100" dirty="0"/>
          </a:p>
        </p:txBody>
      </p:sp>
      <p:sp>
        <p:nvSpPr>
          <p:cNvPr id="20" name="bld1_709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710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moderate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712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800" dirty="0"/>
          </a:p>
        </p:txBody>
      </p:sp>
      <p:sp>
        <p:nvSpPr>
          <p:cNvPr id="32" name="bld2_713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3" name="bld2_714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sensual</a:t>
            </a:r>
            <a:endParaRPr lang="en-US" sz="1100" dirty="0"/>
          </a:p>
        </p:txBody>
      </p:sp>
      <p:sp>
        <p:nvSpPr>
          <p:cNvPr id="34" name="bld2_715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5" name="bld2_716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Radiance, depth</a:t>
            </a:r>
            <a:endParaRPr lang="en-US" sz="1100" dirty="0"/>
          </a:p>
        </p:txBody>
      </p:sp>
      <p:sp>
        <p:nvSpPr>
          <p:cNvPr id="36" name="bld2_717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7" name="bld2_718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435805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6784174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6651109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2960000">
            <a:off x="6220500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7280000">
            <a:off x="6087435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43388" y="2332589"/>
            <a:ext cx="364022" cy="3640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46" name="bld3_720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800" dirty="0"/>
          </a:p>
        </p:txBody>
      </p:sp>
      <p:sp>
        <p:nvSpPr>
          <p:cNvPr id="47" name="bld3_721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722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bitter-orange blossom</a:t>
            </a:r>
            <a:endParaRPr lang="en-US" sz="1100" dirty="0"/>
          </a:p>
        </p:txBody>
      </p:sp>
      <p:sp>
        <p:nvSpPr>
          <p:cNvPr id="49" name="bld3_723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724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and lightens a floral heart</a:t>
            </a:r>
            <a:endParaRPr lang="en-US" sz="1100" dirty="0"/>
          </a:p>
        </p:txBody>
      </p:sp>
      <p:sp>
        <p:nvSpPr>
          <p:cNvPr id="51" name="bld3_725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726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diffusive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8949930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9278318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9278318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9930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8621542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8621542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4_728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800" dirty="0"/>
          </a:p>
        </p:txBody>
      </p:sp>
      <p:sp>
        <p:nvSpPr>
          <p:cNvPr id="63" name="bld4_729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4" name="bld4_730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exotic, banana-custard</a:t>
            </a:r>
            <a:endParaRPr lang="en-US" sz="1100" dirty="0"/>
          </a:p>
        </p:txBody>
      </p:sp>
      <p:sp>
        <p:nvSpPr>
          <p:cNvPr id="65" name="bld4_731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6" name="bld4_732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Lushness, tropical warmth</a:t>
            </a:r>
            <a:endParaRPr lang="en-US" sz="1100" dirty="0"/>
          </a:p>
        </p:txBody>
      </p:sp>
      <p:sp>
        <p:nvSpPr>
          <p:cNvPr id="67" name="bld4_733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8" name="bld4_734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70" name="trans_fade_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62" grpId="0"/>
      <p:bldP spid="63" grpId="0"/>
      <p:bldP spid="64" grpId="0"/>
      <p:bldP spid="65" grpId="0"/>
      <p:bldP spid="66" grpId="0"/>
      <p:bldP spid="67" grpId="0"/>
      <p:bldP spid="6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3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Woods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1595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73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6" name="Shape 14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1283" y="3874465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6773" y="4079955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2_73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106610" y="3511717"/>
            <a:ext cx="236086" cy="2360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819600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920697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082305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4653" y="3629759"/>
            <a:ext cx="9144" cy="788741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24653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24653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24653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74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6634376" y="3802543"/>
            <a:ext cx="665332" cy="965805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1556" y="3963510"/>
            <a:ext cx="914" cy="59021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74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0" name="Shape 38"/>
          <p:cNvSpPr/>
          <p:nvPr/>
        </p:nvSpPr>
        <p:spPr>
          <a:xfrm>
            <a:off x="8401196" y="3707846"/>
            <a:ext cx="616471" cy="61647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2" name="Shape 40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3" name="bld5_74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5" name="Shape 43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0" name="bld6_74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350" dirty="0"/>
          </a:p>
        </p:txBody>
      </p:sp>
      <p:sp>
        <p:nvSpPr>
          <p:cNvPr id="52" name="trans_fade_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3" name="Text 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1" grpId="0"/>
      <p:bldP spid="32" grpId="0"/>
      <p:bldP spid="37" grpId="0"/>
      <p:bldP spid="43" grpId="0"/>
      <p:bldP spid="5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WOODS,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base of the formula</a:t>
            </a:r>
            <a:endParaRPr lang="en-US" sz="3200" dirty="0"/>
          </a:p>
        </p:txBody>
      </p:sp>
      <p:sp>
        <p:nvSpPr>
          <p:cNvPr id="7" name="bld1_74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718180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10330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3" name="bld1_74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14" name="bld1_75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milky, soft woody-sweet. Base note, very long, intimate — the gold standard for smooth woods.</a:t>
            </a:r>
            <a:endParaRPr lang="en-US" sz="1080" dirty="0"/>
          </a:p>
        </p:txBody>
      </p:sp>
      <p:sp>
        <p:nvSpPr>
          <p:cNvPr id="15" name="bld2_75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34543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15376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9" name="Shape 17"/>
          <p:cNvSpPr/>
          <p:nvPr/>
        </p:nvSpPr>
        <p:spPr>
          <a:xfrm>
            <a:off x="4596209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647942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2_75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3" name="bld2_75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woodiness. Base note, long, quietly diffusive — a gentle structural wood.</a:t>
            </a:r>
            <a:endParaRPr lang="en-US" sz="1080" dirty="0"/>
          </a:p>
        </p:txBody>
      </p:sp>
      <p:sp>
        <p:nvSpPr>
          <p:cNvPr id="24" name="bld3_75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6" name="Shape 24"/>
          <p:cNvSpPr/>
          <p:nvPr/>
        </p:nvSpPr>
        <p:spPr>
          <a:xfrm>
            <a:off x="7461304" y="1992580"/>
            <a:ext cx="106700" cy="106700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7331589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377280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450319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14654" y="2045930"/>
            <a:ext cx="9144" cy="356473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14654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14654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14654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5" name="bld3_75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36" name="bld3_75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 with grassy-green top facets. Base note, very long, grounding and textured.</a:t>
            </a:r>
            <a:endParaRPr lang="en-US" sz="1080" dirty="0"/>
          </a:p>
        </p:txBody>
      </p:sp>
      <p:sp>
        <p:nvSpPr>
          <p:cNvPr id="37" name="bld4_75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 rot="18900000">
            <a:off x="10201916" y="2002280"/>
            <a:ext cx="300699" cy="436498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346779" y="2075030"/>
            <a:ext cx="914" cy="26674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2" name="bld4_76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43" name="bld4_76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 with a wine-like depth. Base note, extremely long, moderately diffusive.</a:t>
            </a:r>
            <a:endParaRPr lang="en-US" sz="1080" dirty="0"/>
          </a:p>
        </p:txBody>
      </p:sp>
      <p:sp>
        <p:nvSpPr>
          <p:cNvPr id="44" name="bld5_76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69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718180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8103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0" name="bld5_76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450" dirty="0"/>
          </a:p>
        </p:txBody>
      </p:sp>
      <p:sp>
        <p:nvSpPr>
          <p:cNvPr id="51" name="bld5_76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slightly oily, budget-friendly sandalwood-adjacent. Base note, long, gentle and inexpensive.</a:t>
            </a:r>
            <a:endParaRPr lang="en-US" sz="1080" dirty="0"/>
          </a:p>
        </p:txBody>
      </p:sp>
      <p:sp>
        <p:nvSpPr>
          <p:cNvPr id="52" name="bld6_76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4543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4515376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4596209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4647942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9" name="bld6_76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450" dirty="0"/>
          </a:p>
        </p:txBody>
      </p:sp>
      <p:sp>
        <p:nvSpPr>
          <p:cNvPr id="60" name="bld6_77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rosy-woody, faintly tea-like. Base note, long — an underused, characterful natural wood.</a:t>
            </a:r>
            <a:endParaRPr lang="en-US" sz="1080" dirty="0"/>
          </a:p>
        </p:txBody>
      </p:sp>
      <p:sp>
        <p:nvSpPr>
          <p:cNvPr id="61" name="bld7_77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2155" y="4337182"/>
            <a:ext cx="484998" cy="484998"/>
          </a:xfrm>
          <a:prstGeom prst="donut">
            <a:avLst/>
          </a:prstGeom>
          <a:solidFill>
            <a:srgbClr val="9BAE84"/>
          </a:solidFill>
          <a:ln/>
        </p:spPr>
      </p:sp>
      <p:sp>
        <p:nvSpPr>
          <p:cNvPr id="64" name="Shape 62"/>
          <p:cNvSpPr/>
          <p:nvPr/>
        </p:nvSpPr>
        <p:spPr>
          <a:xfrm>
            <a:off x="7393404" y="4458432"/>
            <a:ext cx="242499" cy="242499"/>
          </a:xfrm>
          <a:prstGeom prst="donut">
            <a:avLst/>
          </a:prstGeom>
          <a:solidFill>
            <a:srgbClr val="63754A">
              <a:alpha val="90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485554" y="4550581"/>
            <a:ext cx="58200" cy="58200"/>
          </a:xfrm>
          <a:prstGeom prst="ellipse">
            <a:avLst/>
          </a:prstGeom>
          <a:solidFill>
            <a:srgbClr val="63754A"/>
          </a:solidFill>
          <a:ln/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7" name="bld7_77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 Wood</a:t>
            </a:r>
            <a:endParaRPr lang="en-US" sz="1450" dirty="0"/>
          </a:p>
        </p:txBody>
      </p:sp>
      <p:sp>
        <p:nvSpPr>
          <p:cNvPr id="68" name="bld7_77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floral-camphoraceous, close to natural linalool. Top-heart, medium — gentler than most true woods.</a:t>
            </a:r>
            <a:endParaRPr lang="en-US" sz="1080" dirty="0"/>
          </a:p>
        </p:txBody>
      </p:sp>
      <p:sp>
        <p:nvSpPr>
          <p:cNvPr id="70" name="trans_fade_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2" grpId="0"/>
      <p:bldP spid="23" grpId="0"/>
      <p:bldP spid="24" grpId="0"/>
      <p:bldP spid="35" grpId="0"/>
      <p:bldP spid="36" grpId="0"/>
      <p:bldP spid="37" grpId="0"/>
      <p:bldP spid="42" grpId="0"/>
      <p:bldP spid="43" grpId="0"/>
      <p:bldP spid="44" grpId="0"/>
      <p:bldP spid="50" grpId="0"/>
      <p:bldP spid="51" grpId="0"/>
      <p:bldP spid="52" grpId="0"/>
      <p:bldP spid="59" grpId="0"/>
      <p:bldP spid="60" grpId="0"/>
      <p:bldP spid="61" grpId="0"/>
      <p:bldP spid="67" grpId="0"/>
      <p:bldP spid="6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1384802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2" name="bld1_77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800" dirty="0"/>
          </a:p>
        </p:txBody>
      </p:sp>
      <p:sp>
        <p:nvSpPr>
          <p:cNvPr id="13" name="bld1_77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77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milky, soft woody-sweet</a:t>
            </a:r>
            <a:endParaRPr lang="en-US" sz="1100" dirty="0"/>
          </a:p>
        </p:txBody>
      </p:sp>
      <p:sp>
        <p:nvSpPr>
          <p:cNvPr id="15" name="bld1_77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78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Smoothness, comfort</a:t>
            </a:r>
            <a:endParaRPr lang="en-US" sz="1100" dirty="0"/>
          </a:p>
        </p:txBody>
      </p:sp>
      <p:sp>
        <p:nvSpPr>
          <p:cNvPr id="17" name="bld1_78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78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027852" y="1801723"/>
            <a:ext cx="333687" cy="33368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3622187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765079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993500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4696" y="1968567"/>
            <a:ext cx="9144" cy="1114818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94696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94696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94696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78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800" dirty="0"/>
          </a:p>
        </p:txBody>
      </p:sp>
      <p:sp>
        <p:nvSpPr>
          <p:cNvPr id="30" name="bld2_78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78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</a:t>
            </a:r>
            <a:endParaRPr lang="en-US" sz="1100" dirty="0"/>
          </a:p>
        </p:txBody>
      </p:sp>
      <p:sp>
        <p:nvSpPr>
          <p:cNvPr id="32" name="bld2_78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78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Grounding, texture</a:t>
            </a:r>
            <a:endParaRPr lang="en-US" sz="1100" dirty="0"/>
          </a:p>
        </p:txBody>
      </p:sp>
      <p:sp>
        <p:nvSpPr>
          <p:cNvPr id="34" name="bld2_78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79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moderate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 rot="18900000">
            <a:off x="6155204" y="1832058"/>
            <a:ext cx="940391" cy="1365083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19913" y="2059572"/>
            <a:ext cx="914" cy="83421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0" name="bld3_79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800" dirty="0"/>
          </a:p>
        </p:txBody>
      </p:sp>
      <p:sp>
        <p:nvSpPr>
          <p:cNvPr id="41" name="bld3_79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2" name="bld3_79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</a:t>
            </a:r>
            <a:endParaRPr lang="en-US" sz="1100" dirty="0"/>
          </a:p>
        </p:txBody>
      </p:sp>
      <p:sp>
        <p:nvSpPr>
          <p:cNvPr id="43" name="bld3_79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4" name="bld3_79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grip</a:t>
            </a:r>
            <a:endParaRPr lang="en-US" sz="1100" dirty="0"/>
          </a:p>
        </p:txBody>
      </p:sp>
      <p:sp>
        <p:nvSpPr>
          <p:cNvPr id="45" name="bld3_79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6" name="bld3_79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extremely long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550517" y="2009014"/>
            <a:ext cx="1011173" cy="101117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803310" y="2261807"/>
            <a:ext cx="505586" cy="505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3" name="bld4_80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800" dirty="0"/>
          </a:p>
        </p:txBody>
      </p:sp>
      <p:sp>
        <p:nvSpPr>
          <p:cNvPr id="54" name="bld4_80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80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</a:t>
            </a:r>
            <a:endParaRPr lang="en-US" sz="1100" dirty="0"/>
          </a:p>
        </p:txBody>
      </p:sp>
      <p:sp>
        <p:nvSpPr>
          <p:cNvPr id="56" name="bld4_80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80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Softness, structure</a:t>
            </a:r>
            <a:endParaRPr lang="en-US" sz="1100" dirty="0"/>
          </a:p>
        </p:txBody>
      </p:sp>
      <p:sp>
        <p:nvSpPr>
          <p:cNvPr id="58" name="bld4_80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80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quiet</a:t>
            </a:r>
            <a:endParaRPr lang="en-US" sz="1100" dirty="0"/>
          </a:p>
        </p:txBody>
      </p:sp>
      <p:sp>
        <p:nvSpPr>
          <p:cNvPr id="61" name="trans_fade_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4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Resins &amp; Ambers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RESINS &amp; AMBERS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808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810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812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814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8401196" y="3732505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8240913" y="3658528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8746420" y="3584552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816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Opoponax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6_818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350" dirty="0"/>
          </a:p>
        </p:txBody>
      </p:sp>
      <p:sp>
        <p:nvSpPr>
          <p:cNvPr id="46" name="trans_fade_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  <p:bldP spid="4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RESINS &amp; AMBERS,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Warm, sticky, and thousands of years old</a:t>
            </a:r>
            <a:endParaRPr lang="en-US" sz="3200" dirty="0"/>
          </a:p>
        </p:txBody>
      </p:sp>
      <p:sp>
        <p:nvSpPr>
          <p:cNvPr id="7" name="bld1_819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1718180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16551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18539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821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4" name="bld1_822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honeyed. Base note, very long, richly diffusive — the backbone of most amber accords.</a:t>
            </a:r>
            <a:endParaRPr lang="en-US" sz="1080" dirty="0"/>
          </a:p>
        </p:txBody>
      </p:sp>
      <p:sp>
        <p:nvSpPr>
          <p:cNvPr id="15" name="bld2_823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1" name="bld2_825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450" dirty="0"/>
          </a:p>
        </p:txBody>
      </p:sp>
      <p:sp>
        <p:nvSpPr>
          <p:cNvPr id="22" name="bld2_826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vanilla-like, balsamic. Base note, long, warm and softly diffusive — a natural sweetener and fixative.</a:t>
            </a:r>
            <a:endParaRPr lang="en-US" sz="1080" dirty="0"/>
          </a:p>
        </p:txBody>
      </p:sp>
      <p:sp>
        <p:nvSpPr>
          <p:cNvPr id="23" name="bld3_827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7393404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7330354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7529203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9" name="bld3_829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450" dirty="0"/>
          </a:p>
        </p:txBody>
      </p:sp>
      <p:sp>
        <p:nvSpPr>
          <p:cNvPr id="30" name="bld3_830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cinnamon-vanilla, slightly spicy. Base note, long — closer to gourmand than most resins.</a:t>
            </a:r>
            <a:endParaRPr lang="en-US" sz="1080" dirty="0"/>
          </a:p>
        </p:txBody>
      </p:sp>
      <p:sp>
        <p:nvSpPr>
          <p:cNvPr id="31" name="bld4_831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102310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101679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103668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7" name="bld4_833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450" dirty="0"/>
          </a:p>
        </p:txBody>
      </p:sp>
      <p:sp>
        <p:nvSpPr>
          <p:cNvPr id="38" name="bld4_834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floral-balsamic, softer than Peru balsam. Base note, long, gentle sweetness and fixation.</a:t>
            </a:r>
            <a:endParaRPr lang="en-US" sz="1080" dirty="0"/>
          </a:p>
        </p:txBody>
      </p:sp>
      <p:sp>
        <p:nvSpPr>
          <p:cNvPr id="39" name="bld5_835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1718180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16551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18539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5_837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450" dirty="0"/>
          </a:p>
        </p:txBody>
      </p:sp>
      <p:sp>
        <p:nvSpPr>
          <p:cNvPr id="46" name="bld5_838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faintly smoky. Base-heart, long — cooler and fresher than most resins.</a:t>
            </a:r>
            <a:endParaRPr lang="en-US" sz="1080" dirty="0"/>
          </a:p>
        </p:txBody>
      </p:sp>
      <p:sp>
        <p:nvSpPr>
          <p:cNvPr id="47" name="bld6_839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3" name="bld6_841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450" dirty="0"/>
          </a:p>
        </p:txBody>
      </p:sp>
      <p:sp>
        <p:nvSpPr>
          <p:cNvPr id="54" name="bld6_842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medicinal, dark-resinous. Base note, very long, low diffusion — an intimate, brooding depth note.</a:t>
            </a:r>
            <a:endParaRPr lang="en-US" sz="1080" dirty="0"/>
          </a:p>
        </p:txBody>
      </p:sp>
      <p:sp>
        <p:nvSpPr>
          <p:cNvPr id="55" name="bld7_843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7" name="Shape 55"/>
          <p:cNvSpPr/>
          <p:nvPr/>
        </p:nvSpPr>
        <p:spPr>
          <a:xfrm rot="9000000">
            <a:off x="7393404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000000">
            <a:off x="7330354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1400000">
            <a:off x="7529203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1" name="bld7_845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Opoponax</a:t>
            </a:r>
            <a:endParaRPr lang="en-US" sz="1450" dirty="0"/>
          </a:p>
        </p:txBody>
      </p:sp>
      <p:sp>
        <p:nvSpPr>
          <p:cNvPr id="62" name="bld7_846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myrrh — softer, more balsamic and honeyed than true myrrh. Base note, long, warm.</a:t>
            </a:r>
            <a:endParaRPr lang="en-US" sz="1080" dirty="0"/>
          </a:p>
        </p:txBody>
      </p:sp>
      <p:sp>
        <p:nvSpPr>
          <p:cNvPr id="64" name="trans_fade_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  <p:bldP spid="55" grpId="0"/>
      <p:bldP spid="61" grpId="0"/>
      <p:bldP spid="6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resins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848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800" dirty="0"/>
          </a:p>
        </p:txBody>
      </p:sp>
      <p:sp>
        <p:nvSpPr>
          <p:cNvPr id="13" name="bld1_849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850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</a:t>
            </a:r>
            <a:endParaRPr lang="en-US" sz="1100" dirty="0"/>
          </a:p>
        </p:txBody>
      </p:sp>
      <p:sp>
        <p:nvSpPr>
          <p:cNvPr id="15" name="bld1_851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852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fixation</a:t>
            </a:r>
            <a:endParaRPr lang="en-US" sz="1100" dirty="0"/>
          </a:p>
        </p:txBody>
      </p:sp>
      <p:sp>
        <p:nvSpPr>
          <p:cNvPr id="17" name="bld1_853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854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856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800" dirty="0"/>
          </a:p>
        </p:txBody>
      </p:sp>
      <p:sp>
        <p:nvSpPr>
          <p:cNvPr id="25" name="bld2_857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858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vanilla-balsamic</a:t>
            </a:r>
            <a:endParaRPr lang="en-US" sz="1100" dirty="0"/>
          </a:p>
        </p:txBody>
      </p:sp>
      <p:sp>
        <p:nvSpPr>
          <p:cNvPr id="27" name="bld2_859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860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 and sweetness</a:t>
            </a:r>
            <a:endParaRPr lang="en-US" sz="1100" dirty="0"/>
          </a:p>
        </p:txBody>
      </p:sp>
      <p:sp>
        <p:nvSpPr>
          <p:cNvPr id="29" name="bld2_861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862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gentle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864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800" dirty="0"/>
          </a:p>
        </p:txBody>
      </p:sp>
      <p:sp>
        <p:nvSpPr>
          <p:cNvPr id="37" name="bld3_865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866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smoky</a:t>
            </a:r>
            <a:endParaRPr lang="en-US" sz="1100" dirty="0"/>
          </a:p>
        </p:txBody>
      </p:sp>
      <p:sp>
        <p:nvSpPr>
          <p:cNvPr id="39" name="bld3_867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868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Coolness within warmth</a:t>
            </a:r>
            <a:endParaRPr lang="en-US" sz="1100" dirty="0"/>
          </a:p>
        </p:txBody>
      </p:sp>
      <p:sp>
        <p:nvSpPr>
          <p:cNvPr id="41" name="bld3_869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870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Base-heart · long</a:t>
            </a:r>
            <a:endParaRPr lang="en-US" sz="1100" dirty="0"/>
          </a:p>
        </p:txBody>
      </p:sp>
      <p:sp>
        <p:nvSpPr>
          <p:cNvPr id="44" name="trans_fade_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5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Spices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9DFC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872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Pepper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0" name="bld2_874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Cardamom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6" name="bld3_876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Clove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32" name="bld4_878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Cinnamon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4" name="Shape 32"/>
          <p:cNvSpPr/>
          <p:nvPr/>
        </p:nvSpPr>
        <p:spPr>
          <a:xfrm>
            <a:off x="8573808" y="3436598"/>
            <a:ext cx="271247" cy="271247"/>
          </a:xfrm>
          <a:prstGeom prst="ellipse">
            <a:avLst/>
          </a:prstGeom>
          <a:solidFill>
            <a:srgbClr val="A6402A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flipV="1">
            <a:off x="8244051" y="3572222"/>
            <a:ext cx="465381" cy="68995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8360205" y="3572222"/>
            <a:ext cx="349227" cy="836219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8545883" y="3572222"/>
            <a:ext cx="163548" cy="816008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09431" y="3572222"/>
            <a:ext cx="9144" cy="906213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09431" y="3572222"/>
            <a:ext cx="163548" cy="816008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09431" y="3572222"/>
            <a:ext cx="349227" cy="836219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9431" y="3572222"/>
            <a:ext cx="465381" cy="68995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3" name="bld5_880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Ginger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9" name="bld6_882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Saffron</a:t>
            </a:r>
            <a:endParaRPr lang="en-US" sz="1350" dirty="0"/>
          </a:p>
        </p:txBody>
      </p:sp>
      <p:sp>
        <p:nvSpPr>
          <p:cNvPr id="51" name="trans_fade_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43" grpId="0"/>
      <p:bldP spid="4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SPICES,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enormous impact</a:t>
            </a:r>
            <a:endParaRPr lang="en-US" sz="3200" dirty="0"/>
          </a:p>
        </p:txBody>
      </p:sp>
      <p:sp>
        <p:nvSpPr>
          <p:cNvPr id="7" name="bld1_883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1718180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1655131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1853980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3" name="bld1_885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Pepper</a:t>
            </a:r>
            <a:endParaRPr lang="en-US" sz="1450" dirty="0"/>
          </a:p>
        </p:txBody>
      </p:sp>
      <p:sp>
        <p:nvSpPr>
          <p:cNvPr id="14" name="bld1_886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dry, slightly woody-green. Top note, short — adds a piquant sparkle right at the opening.</a:t>
            </a:r>
            <a:endParaRPr lang="en-US" sz="1080" dirty="0"/>
          </a:p>
        </p:txBody>
      </p:sp>
      <p:sp>
        <p:nvSpPr>
          <p:cNvPr id="15" name="bld2_887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07A46"/>
            </a:solidFill>
            <a:prstDash val="solid"/>
          </a:ln>
        </p:spPr>
      </p:sp>
      <p:sp>
        <p:nvSpPr>
          <p:cNvPr id="21" name="bld2_889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Cardamom</a:t>
            </a:r>
            <a:endParaRPr lang="en-US" sz="1450" dirty="0"/>
          </a:p>
        </p:txBody>
      </p:sp>
      <p:sp>
        <p:nvSpPr>
          <p:cNvPr id="22" name="bld2_890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eucalyptus-like, faintly citrus. Top note, medium — a cooling, aromatic spice unlike most others.</a:t>
            </a:r>
            <a:endParaRPr lang="en-US" sz="1080" dirty="0"/>
          </a:p>
        </p:txBody>
      </p:sp>
      <p:sp>
        <p:nvSpPr>
          <p:cNvPr id="23" name="bld3_891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7393404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7330354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7529203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9" name="bld3_893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Clove</a:t>
            </a:r>
            <a:endParaRPr lang="en-US" sz="1450" dirty="0"/>
          </a:p>
        </p:txBody>
      </p:sp>
      <p:sp>
        <p:nvSpPr>
          <p:cNvPr id="30" name="bld3_894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medicinal, sharply spicy. Top-heart, medium-long, very potent — overdoses instantly.</a:t>
            </a:r>
            <a:endParaRPr lang="en-US" sz="1080" dirty="0"/>
          </a:p>
        </p:txBody>
      </p:sp>
      <p:sp>
        <p:nvSpPr>
          <p:cNvPr id="31" name="bld4_895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10231016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10167966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10366815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E07A46"/>
            </a:solidFill>
            <a:prstDash val="solid"/>
          </a:ln>
        </p:spPr>
      </p:sp>
      <p:sp>
        <p:nvSpPr>
          <p:cNvPr id="37" name="bld4_897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Nutmeg</a:t>
            </a:r>
            <a:endParaRPr lang="en-US" sz="1450" dirty="0"/>
          </a:p>
        </p:txBody>
      </p:sp>
      <p:sp>
        <p:nvSpPr>
          <p:cNvPr id="38" name="bld4_898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woody-spicy, faintly sweet. Top-heart, medium — pairs naturally with gourmand accords.</a:t>
            </a:r>
            <a:endParaRPr lang="en-US" sz="1080" dirty="0"/>
          </a:p>
        </p:txBody>
      </p:sp>
      <p:sp>
        <p:nvSpPr>
          <p:cNvPr id="39" name="bld5_899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1718180" y="446813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1655131" y="4439032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1853980" y="4409932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45" name="bld5_901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Cinnamon</a:t>
            </a:r>
            <a:endParaRPr lang="en-US" sz="1450" dirty="0"/>
          </a:p>
        </p:txBody>
      </p:sp>
      <p:sp>
        <p:nvSpPr>
          <p:cNvPr id="46" name="bld5_902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sweet-spicy, bark-like intensity. Heart note, medium-long — dominant, used sparingly.</a:t>
            </a:r>
            <a:endParaRPr lang="en-US" sz="1080" dirty="0"/>
          </a:p>
        </p:txBody>
      </p:sp>
      <p:sp>
        <p:nvSpPr>
          <p:cNvPr id="47" name="bld6_903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3692" y="4351732"/>
            <a:ext cx="106700" cy="106700"/>
          </a:xfrm>
          <a:prstGeom prst="ellipse">
            <a:avLst/>
          </a:prstGeom>
          <a:solidFill>
            <a:srgbClr val="A6402A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4493977" y="4405082"/>
            <a:ext cx="183065" cy="27140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4539668" y="4405082"/>
            <a:ext cx="137374" cy="32894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4612707" y="4405082"/>
            <a:ext cx="64334" cy="32099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77042" y="4405082"/>
            <a:ext cx="9144" cy="356473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677042" y="4405082"/>
            <a:ext cx="64334" cy="32099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77042" y="4405082"/>
            <a:ext cx="137374" cy="32894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77042" y="4405082"/>
            <a:ext cx="183065" cy="27140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58" name="bld6_905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Ginger</a:t>
            </a:r>
            <a:endParaRPr lang="en-US" sz="1450" dirty="0"/>
          </a:p>
        </p:txBody>
      </p:sp>
      <p:sp>
        <p:nvSpPr>
          <p:cNvPr id="59" name="bld6_906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sharp, faintly citrus-spicy. Top note, short-medium — a lively, unexpected lift.</a:t>
            </a:r>
            <a:endParaRPr lang="en-US" sz="1080" dirty="0"/>
          </a:p>
        </p:txBody>
      </p:sp>
      <p:sp>
        <p:nvSpPr>
          <p:cNvPr id="60" name="bld7_907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62" name="Shape 60"/>
          <p:cNvSpPr/>
          <p:nvPr/>
        </p:nvSpPr>
        <p:spPr>
          <a:xfrm rot="9000000">
            <a:off x="7393404" y="446813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000000">
            <a:off x="7330354" y="4439032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1400000">
            <a:off x="7529203" y="4409932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66" name="bld7_909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Saffron-style effects</a:t>
            </a:r>
            <a:endParaRPr lang="en-US" sz="1450" dirty="0"/>
          </a:p>
        </p:txBody>
      </p:sp>
      <p:sp>
        <p:nvSpPr>
          <p:cNvPr id="67" name="bld7_910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Leathery, hay-like, faintly medicinal. Heart note, medium — rare, expensive, distinctive.</a:t>
            </a:r>
            <a:endParaRPr lang="en-US" sz="1080" dirty="0"/>
          </a:p>
        </p:txBody>
      </p:sp>
      <p:sp>
        <p:nvSpPr>
          <p:cNvPr id="69" name="trans_fade_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8" grpId="0"/>
      <p:bldP spid="59" grpId="0"/>
      <p:bldP spid="60" grpId="0"/>
      <p:bldP spid="66" grpId="0"/>
      <p:bldP spid="6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spices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" name="bld1_912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Pepper</a:t>
            </a:r>
            <a:endParaRPr lang="en-US" sz="1800" dirty="0"/>
          </a:p>
        </p:txBody>
      </p:sp>
      <p:sp>
        <p:nvSpPr>
          <p:cNvPr id="13" name="bld1_913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914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dry, slightly green</a:t>
            </a:r>
            <a:endParaRPr lang="en-US" sz="1100" dirty="0"/>
          </a:p>
        </p:txBody>
      </p:sp>
      <p:sp>
        <p:nvSpPr>
          <p:cNvPr id="15" name="bld1_915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916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Piquant sparkle up top</a:t>
            </a:r>
            <a:endParaRPr lang="en-US" sz="1100" dirty="0"/>
          </a:p>
        </p:txBody>
      </p:sp>
      <p:sp>
        <p:nvSpPr>
          <p:cNvPr id="17" name="bld1_917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918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07A46"/>
            </a:solidFill>
            <a:prstDash val="solid"/>
          </a:ln>
        </p:spPr>
      </p:sp>
      <p:sp>
        <p:nvSpPr>
          <p:cNvPr id="24" name="bld2_920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Cardamom</a:t>
            </a:r>
            <a:endParaRPr lang="en-US" sz="1800" dirty="0"/>
          </a:p>
        </p:txBody>
      </p:sp>
      <p:sp>
        <p:nvSpPr>
          <p:cNvPr id="25" name="bld2_921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922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eucalyptus-like</a:t>
            </a:r>
            <a:endParaRPr lang="en-US" sz="1100" dirty="0"/>
          </a:p>
        </p:txBody>
      </p:sp>
      <p:sp>
        <p:nvSpPr>
          <p:cNvPr id="27" name="bld2_923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924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aromatic lift</a:t>
            </a:r>
            <a:endParaRPr lang="en-US" sz="1100" dirty="0"/>
          </a:p>
        </p:txBody>
      </p:sp>
      <p:sp>
        <p:nvSpPr>
          <p:cNvPr id="29" name="bld2_925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926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36" name="bld3_928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Clove</a:t>
            </a:r>
            <a:endParaRPr lang="en-US" sz="1800" dirty="0"/>
          </a:p>
        </p:txBody>
      </p:sp>
      <p:sp>
        <p:nvSpPr>
          <p:cNvPr id="37" name="bld3_929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930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medicinal, potent</a:t>
            </a:r>
            <a:endParaRPr lang="en-US" sz="1100" dirty="0"/>
          </a:p>
        </p:txBody>
      </p:sp>
      <p:sp>
        <p:nvSpPr>
          <p:cNvPr id="39" name="bld3_931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932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unmistakable spice</a:t>
            </a:r>
            <a:endParaRPr lang="en-US" sz="1100" dirty="0"/>
          </a:p>
        </p:txBody>
      </p:sp>
      <p:sp>
        <p:nvSpPr>
          <p:cNvPr id="41" name="bld3_933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934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4" name="trans_fade_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6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Herbal &amp; Aromatic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0E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 &amp; AROMATIC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" name="Shape 8"/>
          <p:cNvSpPr/>
          <p:nvPr/>
        </p:nvSpPr>
        <p:spPr>
          <a:xfrm rot="15300000">
            <a:off x="1376565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3050000">
            <a:off x="1477176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1648660" y="4016081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550000">
            <a:off x="1820144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300000">
            <a:off x="1920754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6" name="bld1_93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Rosemary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3389793" y="3877095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2700000">
            <a:off x="3521613" y="393169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5400000">
            <a:off x="3576214" y="406351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100000">
            <a:off x="3521613" y="4195335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0800000">
            <a:off x="3389793" y="4249937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500000">
            <a:off x="3257974" y="4195335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6200000">
            <a:off x="3203372" y="406351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900000">
            <a:off x="3257974" y="393169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83628" y="4186810"/>
            <a:ext cx="197271" cy="197271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27" name="Shape 25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28" name="bld2_93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Clary Sage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30" name="Shape 28"/>
          <p:cNvSpPr/>
          <p:nvPr/>
        </p:nvSpPr>
        <p:spPr>
          <a:xfrm rot="15300000">
            <a:off x="4861343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3050000">
            <a:off x="4961954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5133438" y="4016081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550000">
            <a:off x="5304922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300000">
            <a:off x="5405533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36" name="bld3_94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Thyme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6603733" y="407666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6704343" y="4227234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6875827" y="4285445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047311" y="4227234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147922" y="407666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44" name="bld4_94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8292012" y="3776200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8407607" y="3949201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8604631" y="4016081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8801655" y="3949201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8917251" y="3776200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52" name="bld5_94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Eucalyptus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11843" y="3888392"/>
            <a:ext cx="879956" cy="879956"/>
          </a:xfrm>
          <a:prstGeom prst="ellipse">
            <a:avLst/>
          </a:prstGeom>
          <a:solidFill>
            <a:srgbClr val="5C8A45">
              <a:alpha val="96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446334" y="3866930"/>
            <a:ext cx="914" cy="150236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12000000">
            <a:off x="10470109" y="3824005"/>
            <a:ext cx="203892" cy="139505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58" name="bld6_94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Juniper Berry</a:t>
            </a:r>
            <a:endParaRPr lang="en-US" sz="1350" dirty="0"/>
          </a:p>
        </p:txBody>
      </p:sp>
      <p:sp>
        <p:nvSpPr>
          <p:cNvPr id="60" name="trans_fade_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8" grpId="0"/>
      <p:bldP spid="36" grpId="0"/>
      <p:bldP spid="44" grpId="0"/>
      <p:bldP spid="52" grpId="0"/>
      <p:bldP spid="5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HERBAL &amp; AROMATIC,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Herbal, medicinal, and immediately familiar</a:t>
            </a:r>
            <a:endParaRPr lang="en-US" sz="3200" dirty="0"/>
          </a:p>
        </p:txBody>
      </p:sp>
      <p:sp>
        <p:nvSpPr>
          <p:cNvPr id="7" name="bld1_94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9" name="Shape 7"/>
          <p:cNvSpPr/>
          <p:nvPr/>
        </p:nvSpPr>
        <p:spPr>
          <a:xfrm rot="15300000">
            <a:off x="1675231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3050000">
            <a:off x="1720703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1798205" y="2220529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550000">
            <a:off x="1875708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300000">
            <a:off x="1921179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5" name="bld1_94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Rosemary</a:t>
            </a:r>
            <a:endParaRPr lang="en-US" sz="1450" dirty="0"/>
          </a:p>
        </p:txBody>
      </p:sp>
      <p:sp>
        <p:nvSpPr>
          <p:cNvPr id="16" name="bld1_95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Camphoraceous, piney, sharp. Top note, medium — a classic fougère and cologne building block.</a:t>
            </a:r>
            <a:endParaRPr lang="en-US" sz="1080" dirty="0"/>
          </a:p>
        </p:txBody>
      </p:sp>
      <p:sp>
        <p:nvSpPr>
          <p:cNvPr id="17" name="bld2_95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9" name="Shape 17"/>
          <p:cNvSpPr/>
          <p:nvPr/>
        </p:nvSpPr>
        <p:spPr>
          <a:xfrm>
            <a:off x="4640667" y="205989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2700000">
            <a:off x="4692520" y="208137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4713999" y="213322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100000">
            <a:off x="4692520" y="218508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640667" y="220656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3500000">
            <a:off x="4588814" y="218508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6200000">
            <a:off x="4567335" y="213322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8900000">
            <a:off x="4588814" y="208137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38242" y="2181729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28" name="Shape 2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9BAE84"/>
            </a:solidFill>
            <a:prstDash val="solid"/>
          </a:ln>
        </p:spPr>
      </p:sp>
      <p:sp>
        <p:nvSpPr>
          <p:cNvPr id="29" name="bld2_95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Clary Sage</a:t>
            </a:r>
            <a:endParaRPr lang="en-US" sz="1450" dirty="0"/>
          </a:p>
        </p:txBody>
      </p:sp>
      <p:sp>
        <p:nvSpPr>
          <p:cNvPr id="30" name="bld2_95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faintly floral, tea-like, slightly musky. Top-heart, medium — softer than most aromatics.</a:t>
            </a:r>
            <a:endParaRPr lang="en-US" sz="1080" dirty="0"/>
          </a:p>
        </p:txBody>
      </p:sp>
      <p:sp>
        <p:nvSpPr>
          <p:cNvPr id="31" name="bld3_95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33" name="Shape 31"/>
          <p:cNvSpPr/>
          <p:nvPr/>
        </p:nvSpPr>
        <p:spPr>
          <a:xfrm rot="15300000">
            <a:off x="7350455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3050000">
            <a:off x="7395926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0800000">
            <a:off x="7473429" y="2220529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550000">
            <a:off x="7550931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6300000">
            <a:off x="7596403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39" name="bld3_95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Thyme</a:t>
            </a:r>
            <a:endParaRPr lang="en-US" sz="1450" dirty="0"/>
          </a:p>
        </p:txBody>
      </p:sp>
      <p:sp>
        <p:nvSpPr>
          <p:cNvPr id="40" name="bld3_95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medicinal, green-herbal. Top note, medium — potent, used in small amounts.</a:t>
            </a:r>
            <a:endParaRPr lang="en-US" sz="1080" dirty="0"/>
          </a:p>
        </p:txBody>
      </p:sp>
      <p:sp>
        <p:nvSpPr>
          <p:cNvPr id="41" name="bld4_95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43" name="Shape 41"/>
          <p:cNvSpPr/>
          <p:nvPr/>
        </p:nvSpPr>
        <p:spPr>
          <a:xfrm rot="15300000">
            <a:off x="10188067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050000">
            <a:off x="10233538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0800000">
            <a:off x="10311040" y="2220529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8550000">
            <a:off x="10388543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300000">
            <a:off x="10434014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9" name="bld4_96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Basil</a:t>
            </a:r>
            <a:endParaRPr lang="en-US" sz="1450" dirty="0"/>
          </a:p>
        </p:txBody>
      </p:sp>
      <p:sp>
        <p:nvSpPr>
          <p:cNvPr id="50" name="bld4_96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anise-like, peppery-fresh. Top note, short-medium — bright and slightly sweet.</a:t>
            </a:r>
            <a:endParaRPr lang="en-US" sz="1080" dirty="0"/>
          </a:p>
        </p:txBody>
      </p:sp>
      <p:sp>
        <p:nvSpPr>
          <p:cNvPr id="51" name="bld5_96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3" name="Shape 51"/>
          <p:cNvSpPr/>
          <p:nvPr/>
        </p:nvSpPr>
        <p:spPr>
          <a:xfrm rot="15300000">
            <a:off x="1675231" y="44853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3050000">
            <a:off x="1720703" y="4553372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0800000">
            <a:off x="1798205" y="4579681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8550000">
            <a:off x="1875708" y="4553372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300000">
            <a:off x="1921179" y="44853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59" name="bld5_96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Eucalyptus</a:t>
            </a:r>
            <a:endParaRPr lang="en-US" sz="1450" dirty="0"/>
          </a:p>
        </p:txBody>
      </p:sp>
      <p:sp>
        <p:nvSpPr>
          <p:cNvPr id="60" name="bld5_96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Cooling, medicinal, camphoraceous. Top note, short — instantly recognisable, easily overdosed.</a:t>
            </a:r>
            <a:endParaRPr lang="en-US" sz="1080" dirty="0"/>
          </a:p>
        </p:txBody>
      </p:sp>
      <p:sp>
        <p:nvSpPr>
          <p:cNvPr id="61" name="bld6_96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3" name="Shape 61"/>
          <p:cNvSpPr/>
          <p:nvPr/>
        </p:nvSpPr>
        <p:spPr>
          <a:xfrm>
            <a:off x="4640667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2700000">
            <a:off x="4692520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5400000">
            <a:off x="4713999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8100000">
            <a:off x="4692520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0800000">
            <a:off x="4640667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3500000">
            <a:off x="4588814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6200000">
            <a:off x="4567335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8900000">
            <a:off x="4588814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638242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2" name="Shape 7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9BAE84"/>
            </a:solidFill>
            <a:prstDash val="solid"/>
          </a:ln>
        </p:spPr>
      </p:sp>
      <p:sp>
        <p:nvSpPr>
          <p:cNvPr id="73" name="bld6_96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Artemisia</a:t>
            </a:r>
            <a:endParaRPr lang="en-US" sz="1450" dirty="0"/>
          </a:p>
        </p:txBody>
      </p:sp>
      <p:sp>
        <p:nvSpPr>
          <p:cNvPr id="74" name="bld6_97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herbal, faintly liquorice-like. Top-heart, medium — an unusual, characterful bitterness.</a:t>
            </a:r>
            <a:endParaRPr lang="en-US" sz="1080" dirty="0"/>
          </a:p>
        </p:txBody>
      </p:sp>
      <p:sp>
        <p:nvSpPr>
          <p:cNvPr id="75" name="bld7_97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77" name="Shape 75"/>
          <p:cNvSpPr/>
          <p:nvPr/>
        </p:nvSpPr>
        <p:spPr>
          <a:xfrm>
            <a:off x="7315804" y="4400232"/>
            <a:ext cx="397698" cy="397698"/>
          </a:xfrm>
          <a:prstGeom prst="ellipse">
            <a:avLst/>
          </a:prstGeom>
          <a:solidFill>
            <a:srgbClr val="5C8A45">
              <a:alpha val="96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509167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rot="12000000">
            <a:off x="7532942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81" name="bld7_97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Juniper Berry</a:t>
            </a:r>
            <a:endParaRPr lang="en-US" sz="1450" dirty="0"/>
          </a:p>
        </p:txBody>
      </p:sp>
      <p:sp>
        <p:nvSpPr>
          <p:cNvPr id="82" name="bld7_97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Piney, fresh, faintly fruity-resinous. Top note, medium — the classic gin-adjacent aromatic.</a:t>
            </a:r>
            <a:endParaRPr lang="en-US" sz="1080" dirty="0"/>
          </a:p>
        </p:txBody>
      </p:sp>
      <p:sp>
        <p:nvSpPr>
          <p:cNvPr id="84" name="trans_fade_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5" name="Text 8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73" grpId="0"/>
      <p:bldP spid="74" grpId="0"/>
      <p:bldP spid="75" grpId="0"/>
      <p:bldP spid="81" grpId="0"/>
      <p:bldP spid="8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aromatics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8" name="Shape 6"/>
          <p:cNvSpPr/>
          <p:nvPr/>
        </p:nvSpPr>
        <p:spPr>
          <a:xfrm>
            <a:off x="2122277" y="197128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700000">
            <a:off x="2297663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2370310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2297663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2122277" y="246735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3500000">
            <a:off x="1946890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6200000">
            <a:off x="1874243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8900000">
            <a:off x="1946890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114075" y="2383365"/>
            <a:ext cx="262469" cy="262469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7" name="Shape 1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8" name="bld1_976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800" dirty="0"/>
          </a:p>
        </p:txBody>
      </p:sp>
      <p:sp>
        <p:nvSpPr>
          <p:cNvPr id="19" name="bld1_977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0" name="bld1_978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</a:t>
            </a:r>
            <a:endParaRPr lang="en-US" sz="1100" dirty="0"/>
          </a:p>
        </p:txBody>
      </p:sp>
      <p:sp>
        <p:nvSpPr>
          <p:cNvPr id="21" name="bld1_979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2" name="bld1_980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timeless freshness</a:t>
            </a:r>
            <a:endParaRPr lang="en-US" sz="1100" dirty="0"/>
          </a:p>
        </p:txBody>
      </p:sp>
      <p:sp>
        <p:nvSpPr>
          <p:cNvPr id="23" name="bld1_981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4" name="bld1_982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5083270" y="2195437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5237070" y="2425615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5499211" y="2514600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5761352" y="2425615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5915152" y="2195437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32" name="bld2_984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Rosemary</a:t>
            </a:r>
            <a:endParaRPr lang="en-US" sz="1800" dirty="0"/>
          </a:p>
        </p:txBody>
      </p:sp>
      <p:sp>
        <p:nvSpPr>
          <p:cNvPr id="33" name="bld2_985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986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Camphoraceous, piney, sharp</a:t>
            </a:r>
            <a:endParaRPr lang="en-US" sz="1100" dirty="0"/>
          </a:p>
        </p:txBody>
      </p:sp>
      <p:sp>
        <p:nvSpPr>
          <p:cNvPr id="35" name="bld2_987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988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in a fougère</a:t>
            </a:r>
            <a:endParaRPr lang="en-US" sz="1100" dirty="0"/>
          </a:p>
        </p:txBody>
      </p:sp>
      <p:sp>
        <p:nvSpPr>
          <p:cNvPr id="37" name="bld2_989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990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40" name="Shape 38"/>
          <p:cNvSpPr/>
          <p:nvPr/>
        </p:nvSpPr>
        <p:spPr>
          <a:xfrm>
            <a:off x="8908953" y="197128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9084340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9156987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9084340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8908953" y="246735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8733567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8660920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8733567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00751" y="2383365"/>
            <a:ext cx="262469" cy="262469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49" name="Shape 4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9BAE84"/>
            </a:solidFill>
            <a:prstDash val="solid"/>
          </a:ln>
        </p:spPr>
      </p:sp>
      <p:sp>
        <p:nvSpPr>
          <p:cNvPr id="50" name="bld3_992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Clary Sage</a:t>
            </a:r>
            <a:endParaRPr lang="en-US" sz="1800" dirty="0"/>
          </a:p>
        </p:txBody>
      </p:sp>
      <p:sp>
        <p:nvSpPr>
          <p:cNvPr id="51" name="bld3_993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994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tea-like, musky-floral</a:t>
            </a:r>
            <a:endParaRPr lang="en-US" sz="1100" dirty="0"/>
          </a:p>
        </p:txBody>
      </p:sp>
      <p:sp>
        <p:nvSpPr>
          <p:cNvPr id="53" name="bld3_995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996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sharper aromatics</a:t>
            </a:r>
            <a:endParaRPr lang="en-US" sz="1100" dirty="0"/>
          </a:p>
        </p:txBody>
      </p:sp>
      <p:sp>
        <p:nvSpPr>
          <p:cNvPr id="55" name="bld3_997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998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58" name="trans_fade_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7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Greens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 rot="15300000">
            <a:off x="1744209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3050000">
            <a:off x="1863638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2067196" y="4016081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550000">
            <a:off x="2270754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300000">
            <a:off x="2390183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6" name="bld1_1000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8" name="Shape 16"/>
          <p:cNvSpPr/>
          <p:nvPr/>
        </p:nvSpPr>
        <p:spPr>
          <a:xfrm rot="15300000">
            <a:off x="4293562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3050000">
            <a:off x="4430778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64654" y="428544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550000">
            <a:off x="4898529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6300000">
            <a:off x="5035745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2_1002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>
            <a:off x="6765723" y="3379165"/>
            <a:ext cx="1273832" cy="127383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854892" y="3468333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338948" y="3952390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3_1004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9584960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9704389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9907948" y="42854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10111506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10230935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006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 Grass</a:t>
            </a:r>
            <a:endParaRPr lang="en-US" sz="1350" dirty="0"/>
          </a:p>
        </p:txBody>
      </p:sp>
      <p:sp>
        <p:nvSpPr>
          <p:cNvPr id="50" name="trans_fade_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4" grpId="0"/>
      <p:bldP spid="40" grpId="0"/>
      <p:bldP spid="48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GREENS,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Sharp, leafy, and deliberately unripe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1007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15300000">
            <a:off x="164625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050000">
            <a:off x="169975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0800000">
            <a:off x="1790930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550000">
            <a:off x="1882110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6300000">
            <a:off x="193560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2" name="bld1_1009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</a:t>
            </a:r>
            <a:endParaRPr lang="en-US" sz="1450" dirty="0"/>
          </a:p>
        </p:txBody>
      </p:sp>
      <p:sp>
        <p:nvSpPr>
          <p:cNvPr id="23" name="bld1_1010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Intensely green, bitter, almost vegetal-sharp. Top note, medium — famous for its raw, uncompromising bite.</a:t>
            </a:r>
            <a:endParaRPr lang="en-US" sz="1080" dirty="0"/>
          </a:p>
        </p:txBody>
      </p:sp>
      <p:sp>
        <p:nvSpPr>
          <p:cNvPr id="24" name="bld2_1011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448386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4537362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4628542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471972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477321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2_1013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450" dirty="0"/>
          </a:p>
        </p:txBody>
      </p:sp>
      <p:sp>
        <p:nvSpPr>
          <p:cNvPr id="33" name="bld2_1014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cucumber-green, waxy. Top-heart, intimate — used for freshness, not sweetness.</a:t>
            </a:r>
            <a:endParaRPr lang="en-US" sz="1080" dirty="0"/>
          </a:p>
        </p:txBody>
      </p:sp>
      <p:sp>
        <p:nvSpPr>
          <p:cNvPr id="34" name="bld3_1015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6" name="Shape 34"/>
          <p:cNvSpPr/>
          <p:nvPr/>
        </p:nvSpPr>
        <p:spPr>
          <a:xfrm>
            <a:off x="7229361" y="2468880"/>
            <a:ext cx="570586" cy="570586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69302" y="2508821"/>
            <a:ext cx="490704" cy="49070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216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48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64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296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512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728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944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86124" y="2725644"/>
            <a:ext cx="57059" cy="570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9" name="Shape 4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0" name="bld3_1017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51" name="bld3_1018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citrus-leaf oil. Top-heart, medium — a natural bridge from citrus into green.</a:t>
            </a:r>
            <a:endParaRPr lang="en-US" sz="1080" dirty="0"/>
          </a:p>
        </p:txBody>
      </p:sp>
      <p:sp>
        <p:nvSpPr>
          <p:cNvPr id="52" name="bld4_1019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60" name="bld4_1021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Stemmy / leafy naturals</a:t>
            </a:r>
            <a:endParaRPr lang="en-US" sz="1450" dirty="0"/>
          </a:p>
        </p:txBody>
      </p:sp>
      <p:sp>
        <p:nvSpPr>
          <p:cNvPr id="61" name="bld4_1022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broad, useful category — crushed leaf and stem extracts used to rough up an otherwise-polished floral.</a:t>
            </a:r>
            <a:endParaRPr lang="en-US" sz="1080" dirty="0"/>
          </a:p>
        </p:txBody>
      </p:sp>
      <p:sp>
        <p:nvSpPr>
          <p:cNvPr id="63" name="trans_fade_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4" name="Text 6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2" grpId="0"/>
      <p:bldP spid="23" grpId="0"/>
      <p:bldP spid="24" grpId="0"/>
      <p:bldP spid="32" grpId="0"/>
      <p:bldP spid="33" grpId="0"/>
      <p:bldP spid="34" grpId="0"/>
      <p:bldP spid="50" grpId="0"/>
      <p:bldP spid="51" grpId="0"/>
      <p:bldP spid="52" grpId="0"/>
      <p:bldP spid="60" grpId="0"/>
      <p:bldP spid="6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greens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 rot="15300000">
            <a:off x="2652566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3050000">
            <a:off x="2806366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3068507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550000">
            <a:off x="333064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6300000">
            <a:off x="348444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" name="bld1_1024"/>
          <p:cNvSpPr txBox="1"/>
          <p:nvPr/>
        </p:nvSpPr>
        <p:spPr>
          <a:xfrm>
            <a:off x="685800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</a:t>
            </a:r>
            <a:endParaRPr lang="en-US" sz="1800" dirty="0"/>
          </a:p>
        </p:txBody>
      </p:sp>
      <p:sp>
        <p:nvSpPr>
          <p:cNvPr id="15" name="bld1_1025"/>
          <p:cNvSpPr txBox="1"/>
          <p:nvPr/>
        </p:nvSpPr>
        <p:spPr>
          <a:xfrm>
            <a:off x="658368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6" name="bld1_1026"/>
          <p:cNvSpPr txBox="1"/>
          <p:nvPr/>
        </p:nvSpPr>
        <p:spPr>
          <a:xfrm>
            <a:off x="658368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Intensely green, bitter, sharp</a:t>
            </a:r>
            <a:endParaRPr lang="en-US" sz="1100" dirty="0"/>
          </a:p>
        </p:txBody>
      </p:sp>
      <p:sp>
        <p:nvSpPr>
          <p:cNvPr id="17" name="bld1_1027"/>
          <p:cNvSpPr txBox="1"/>
          <p:nvPr/>
        </p:nvSpPr>
        <p:spPr>
          <a:xfrm>
            <a:off x="658368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8" name="bld1_1028"/>
          <p:cNvSpPr txBox="1"/>
          <p:nvPr/>
        </p:nvSpPr>
        <p:spPr>
          <a:xfrm>
            <a:off x="658368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uncompromising bite</a:t>
            </a:r>
            <a:endParaRPr lang="en-US" sz="1100" dirty="0"/>
          </a:p>
        </p:txBody>
      </p:sp>
      <p:sp>
        <p:nvSpPr>
          <p:cNvPr id="19" name="bld1_1029"/>
          <p:cNvSpPr txBox="1"/>
          <p:nvPr/>
        </p:nvSpPr>
        <p:spPr>
          <a:xfrm>
            <a:off x="658368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0" name="bld1_1030"/>
          <p:cNvSpPr txBox="1"/>
          <p:nvPr/>
        </p:nvSpPr>
        <p:spPr>
          <a:xfrm>
            <a:off x="658368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71174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8124973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387115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649256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803056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1032"/>
          <p:cNvSpPr txBox="1"/>
          <p:nvPr/>
        </p:nvSpPr>
        <p:spPr>
          <a:xfrm>
            <a:off x="6004408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800" dirty="0"/>
          </a:p>
        </p:txBody>
      </p:sp>
      <p:sp>
        <p:nvSpPr>
          <p:cNvPr id="29" name="bld2_1033"/>
          <p:cNvSpPr txBox="1"/>
          <p:nvPr/>
        </p:nvSpPr>
        <p:spPr>
          <a:xfrm>
            <a:off x="5976976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0" name="bld2_1034"/>
          <p:cNvSpPr txBox="1"/>
          <p:nvPr/>
        </p:nvSpPr>
        <p:spPr>
          <a:xfrm>
            <a:off x="5976976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cucumber-green, waxy</a:t>
            </a:r>
            <a:endParaRPr lang="en-US" sz="1100" dirty="0"/>
          </a:p>
        </p:txBody>
      </p:sp>
      <p:sp>
        <p:nvSpPr>
          <p:cNvPr id="31" name="bld2_1035"/>
          <p:cNvSpPr txBox="1"/>
          <p:nvPr/>
        </p:nvSpPr>
        <p:spPr>
          <a:xfrm>
            <a:off x="5976976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2" name="bld2_1036"/>
          <p:cNvSpPr txBox="1"/>
          <p:nvPr/>
        </p:nvSpPr>
        <p:spPr>
          <a:xfrm>
            <a:off x="5976976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freshness, no sweetness</a:t>
            </a:r>
            <a:endParaRPr lang="en-US" sz="1100" dirty="0"/>
          </a:p>
        </p:txBody>
      </p:sp>
      <p:sp>
        <p:nvSpPr>
          <p:cNvPr id="33" name="bld2_1037"/>
          <p:cNvSpPr txBox="1"/>
          <p:nvPr/>
        </p:nvSpPr>
        <p:spPr>
          <a:xfrm>
            <a:off x="5976976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4" name="bld2_1038"/>
          <p:cNvSpPr txBox="1"/>
          <p:nvPr/>
        </p:nvSpPr>
        <p:spPr>
          <a:xfrm>
            <a:off x="5976976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intimate</a:t>
            </a:r>
            <a:endParaRPr lang="en-US" sz="1100" dirty="0"/>
          </a:p>
        </p:txBody>
      </p:sp>
      <p:sp>
        <p:nvSpPr>
          <p:cNvPr id="36" name="trans_fade_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8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Gourmand &amp; Sweet-Leaning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2022612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2169986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32166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2078024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23882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2169740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2215598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61456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040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>
            <a:off x="4057280" y="3553669"/>
            <a:ext cx="1463552" cy="1463552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262177" y="3758567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54887" y="4051277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5" name="bld2_1042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Cocoa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7" name="Shape 25"/>
          <p:cNvSpPr/>
          <p:nvPr/>
        </p:nvSpPr>
        <p:spPr>
          <a:xfrm rot="840000">
            <a:off x="7249780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840000">
            <a:off x="7397153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59333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05191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1" name="Shape 29"/>
          <p:cNvSpPr/>
          <p:nvPr/>
        </p:nvSpPr>
        <p:spPr>
          <a:xfrm>
            <a:off x="7351049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2" name="Shape 30"/>
          <p:cNvSpPr/>
          <p:nvPr/>
        </p:nvSpPr>
        <p:spPr>
          <a:xfrm>
            <a:off x="7396907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42765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4" name="Shape 32"/>
          <p:cNvSpPr/>
          <p:nvPr/>
        </p:nvSpPr>
        <p:spPr>
          <a:xfrm>
            <a:off x="7488623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5" name="Shape 3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044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Tonka Bean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9379307" y="3648529"/>
            <a:ext cx="1273832" cy="1273832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557644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812410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832400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10737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89073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5" name="bld4_1046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 CO2</a:t>
            </a:r>
            <a:endParaRPr lang="en-US" sz="1350" dirty="0"/>
          </a:p>
        </p:txBody>
      </p:sp>
      <p:sp>
        <p:nvSpPr>
          <p:cNvPr id="47" name="trans_fade_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25" grpId="0"/>
      <p:bldP spid="36" grpId="0"/>
      <p:bldP spid="4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GOURMAND &amp; SWEET-LEANING,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Edible, warm, and genuinely comforting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1047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6" name="Shape 14"/>
          <p:cNvSpPr/>
          <p:nvPr/>
        </p:nvSpPr>
        <p:spPr>
          <a:xfrm rot="840000">
            <a:off x="1770960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840000">
            <a:off x="1833944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5239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9" name="Shape 17"/>
          <p:cNvSpPr/>
          <p:nvPr/>
        </p:nvSpPr>
        <p:spPr>
          <a:xfrm>
            <a:off x="1795780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0" name="Shape 18"/>
          <p:cNvSpPr/>
          <p:nvPr/>
        </p:nvSpPr>
        <p:spPr>
          <a:xfrm>
            <a:off x="1816321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1" name="Shape 19"/>
          <p:cNvSpPr/>
          <p:nvPr/>
        </p:nvSpPr>
        <p:spPr>
          <a:xfrm>
            <a:off x="1836862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2" name="Shape 20"/>
          <p:cNvSpPr/>
          <p:nvPr/>
        </p:nvSpPr>
        <p:spPr>
          <a:xfrm>
            <a:off x="1857403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7944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5" name="bld1_1049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26" name="bld1_1050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boozy-balsamic. Base note, very long, richly diffusive — the most versatile base in perfumery.</a:t>
            </a:r>
            <a:endParaRPr lang="en-US" sz="1080" dirty="0"/>
          </a:p>
        </p:txBody>
      </p:sp>
      <p:sp>
        <p:nvSpPr>
          <p:cNvPr id="27" name="bld2_1051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9" name="Shape 27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471631" y="2548762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5748" y="2662879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33" name="bld2_1053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Cocoa</a:t>
            </a:r>
            <a:endParaRPr lang="en-US" sz="1450" dirty="0"/>
          </a:p>
        </p:txBody>
      </p:sp>
      <p:sp>
        <p:nvSpPr>
          <p:cNvPr id="34" name="bld2_1054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roasted, faintly bitter-sweet. Base note, long — an unusual, food-adjacent depth note.</a:t>
            </a:r>
            <a:endParaRPr lang="en-US" sz="1080" dirty="0"/>
          </a:p>
        </p:txBody>
      </p:sp>
      <p:sp>
        <p:nvSpPr>
          <p:cNvPr id="35" name="bld3_1055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 rot="840000">
            <a:off x="7446183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840000">
            <a:off x="7509167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50463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7471004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7491545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2086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7532627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3168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5" name="Shape 4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46" name="bld3_1057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Tonka Bean</a:t>
            </a:r>
            <a:endParaRPr lang="en-US" sz="1450" dirty="0"/>
          </a:p>
        </p:txBody>
      </p:sp>
      <p:sp>
        <p:nvSpPr>
          <p:cNvPr id="47" name="bld3_1058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Almond-hay, coumarinic, warm. Base note, very long — softer and drier than vanilla, less sugary.</a:t>
            </a:r>
            <a:endParaRPr lang="en-US" sz="1080" dirty="0"/>
          </a:p>
        </p:txBody>
      </p:sp>
      <p:sp>
        <p:nvSpPr>
          <p:cNvPr id="48" name="bld4_1059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146854" y="2548762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260972" y="2662879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0266897" y="2397557"/>
            <a:ext cx="914" cy="12838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46779" y="2397557"/>
            <a:ext cx="914" cy="12838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426661" y="2397557"/>
            <a:ext cx="914" cy="12838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57" name="bld4_1061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 CO2</a:t>
            </a:r>
            <a:endParaRPr lang="en-US" sz="1450" dirty="0"/>
          </a:p>
        </p:txBody>
      </p:sp>
      <p:sp>
        <p:nvSpPr>
          <p:cNvPr id="58" name="bld4_1062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Roasted, dark, intensely aromatic. Base-heart, long — a bold, modern gourmand accent.</a:t>
            </a:r>
            <a:endParaRPr lang="en-US" sz="1080" dirty="0"/>
          </a:p>
        </p:txBody>
      </p:sp>
      <p:sp>
        <p:nvSpPr>
          <p:cNvPr id="60" name="trans_fade_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5" grpId="0"/>
      <p:bldP spid="26" grpId="0"/>
      <p:bldP spid="27" grpId="0"/>
      <p:bldP spid="33" grpId="0"/>
      <p:bldP spid="34" grpId="0"/>
      <p:bldP spid="35" grpId="0"/>
      <p:bldP spid="46" grpId="0"/>
      <p:bldP spid="47" grpId="0"/>
      <p:bldP spid="48" grpId="0"/>
      <p:bldP spid="57" grpId="0"/>
      <p:bldP spid="5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69892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76328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82765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rans_fade_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rans_fade_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synthetic families, in real depth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"superpower" materials worth learning first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Busting the naturals-vs-synthetics myths for good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31" name="trans_fade_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4" name="bld1_106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1_106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6" name="bld1_106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7" name="bld2_106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106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9" name="bld2_106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30" name="bld3_106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07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2" name="bld3_107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3" name="bld4_107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4_107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5" name="bld4_107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7" name="trans_fade_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major synthetic families</a:t>
            </a:r>
            <a:endParaRPr lang="en-US" sz="3200" dirty="0"/>
          </a:p>
        </p:txBody>
      </p:sp>
      <p:sp>
        <p:nvSpPr>
          <p:cNvPr id="7" name="bld1_1075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332570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077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bld1_1078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3" name="bld2_1079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3704509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3641459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384030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2_1081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/ Ambrox</a:t>
            </a:r>
            <a:endParaRPr lang="en-US" sz="1450" dirty="0"/>
          </a:p>
        </p:txBody>
      </p:sp>
      <p:sp>
        <p:nvSpPr>
          <p:cNvPr id="20" name="bld2_1082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21" name="bld3_1083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34182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15015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3_1085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9" name="bld3_1086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30" name="bld4_1087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089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40" name="bld4_1090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41" name="bld5_1091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093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citrus / aromatic</a:t>
            </a:r>
            <a:endParaRPr lang="en-US" sz="1450" dirty="0"/>
          </a:p>
        </p:txBody>
      </p:sp>
      <p:sp>
        <p:nvSpPr>
          <p:cNvPr id="58" name="bld5_1094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longer-lasting brightness</a:t>
            </a:r>
            <a:endParaRPr lang="en-US" sz="1080" dirty="0"/>
          </a:p>
        </p:txBody>
      </p:sp>
      <p:sp>
        <p:nvSpPr>
          <p:cNvPr id="59" name="bld6_1095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097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098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67" name="bld7_1099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101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102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Crisp, leafy, sap-like freshness</a:t>
            </a:r>
            <a:endParaRPr lang="en-US" sz="1080" dirty="0"/>
          </a:p>
        </p:txBody>
      </p:sp>
      <p:sp>
        <p:nvSpPr>
          <p:cNvPr id="77" name="bld8_1103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1105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1106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90" name="bld9_1107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2" name="Shape 90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817678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817678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817678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97" name="bld9_1109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/ marine</a:t>
            </a:r>
            <a:endParaRPr lang="en-US" sz="1450" dirty="0"/>
          </a:p>
        </p:txBody>
      </p:sp>
      <p:sp>
        <p:nvSpPr>
          <p:cNvPr id="98" name="bld9_1110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marine, watery freshness</a:t>
            </a:r>
            <a:endParaRPr lang="en-US" sz="1080" dirty="0"/>
          </a:p>
        </p:txBody>
      </p:sp>
      <p:sp>
        <p:nvSpPr>
          <p:cNvPr id="99" name="bld10_1111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393528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455418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>
            <a:off x="10430394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10430394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10455418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07" name="bld10_1113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/ smoky / animalic</a:t>
            </a:r>
            <a:endParaRPr lang="en-US" sz="1450" dirty="0"/>
          </a:p>
        </p:txBody>
      </p:sp>
      <p:sp>
        <p:nvSpPr>
          <p:cNvPr id="108" name="bld10_1114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Textural, dark, boldly effect-driven</a:t>
            </a:r>
            <a:endParaRPr lang="en-US" sz="1080" dirty="0"/>
          </a:p>
        </p:txBody>
      </p:sp>
      <p:sp>
        <p:nvSpPr>
          <p:cNvPr id="110" name="trans_fade_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1" name="Text 10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8" grpId="0"/>
      <p:bldP spid="89" grpId="0"/>
      <p:bldP spid="90" grpId="0"/>
      <p:bldP spid="97" grpId="0"/>
      <p:bldP spid="98" grpId="0"/>
      <p:bldP spid="99" grpId="0"/>
      <p:bldP spid="107" grpId="0"/>
      <p:bldP spid="10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11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11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11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</a:t>
            </a:r>
            <a:endParaRPr lang="en-US" sz="1100" dirty="0"/>
          </a:p>
        </p:txBody>
      </p:sp>
      <p:sp>
        <p:nvSpPr>
          <p:cNvPr id="18" name="bld1_111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12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12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12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almost everywhere,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39173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32" name="bld2_112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33" name="bld2_112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12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35" name="bld2_112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12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up space in a formula</a:t>
            </a:r>
            <a:endParaRPr lang="en-US" sz="1100" dirty="0"/>
          </a:p>
        </p:txBody>
      </p:sp>
      <p:sp>
        <p:nvSpPr>
          <p:cNvPr id="37" name="bld2_112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13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superpower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113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45" name="bld3_113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3_113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47" name="bld3_113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3_113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49" name="bld3_113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3_113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perfumery's signature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2" name="Shape 5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7" name="Shape 5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8" name="Shape 5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1" name="bld4_114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62" name="bld4_114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3" name="bld4_114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64" name="bld4_114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5" name="bld4_114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66" name="bld4_114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7" name="bld4_114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and base workhorse</a:t>
            </a:r>
            <a:endParaRPr lang="en-US" sz="1100" dirty="0"/>
          </a:p>
        </p:txBody>
      </p:sp>
      <p:sp>
        <p:nvSpPr>
          <p:cNvPr id="69" name="trans_fade_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1" grpId="0"/>
      <p:bldP spid="62" grpId="0"/>
      <p:bldP spid="63" grpId="0"/>
      <p:bldP spid="64" grpId="0"/>
      <p:bldP spid="65" grpId="0"/>
      <p:bldP spid="66" grpId="0"/>
      <p:bldP spid="6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1147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48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1149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1150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1151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1152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153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1154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1155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1156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1157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158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1159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1160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1161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1162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163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1164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1165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1166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1167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168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1169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1170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1171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rans_fade_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0E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0" name="Shape 8"/>
          <p:cNvSpPr/>
          <p:nvPr/>
        </p:nvSpPr>
        <p:spPr>
          <a:xfrm>
            <a:off x="1328151" y="3621193"/>
            <a:ext cx="1171926" cy="789776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2" name="bld1_1173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4" name="Shape 12"/>
          <p:cNvSpPr/>
          <p:nvPr/>
        </p:nvSpPr>
        <p:spPr>
          <a:xfrm>
            <a:off x="3331747" y="3831744"/>
            <a:ext cx="1346468" cy="90740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6" name="bld2_1175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5509885" y="3621193"/>
            <a:ext cx="1171926" cy="789776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0" name="bld3_1177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7600752" y="3890557"/>
            <a:ext cx="1171926" cy="789776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4_1179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4348" y="3562380"/>
            <a:ext cx="1346468" cy="90740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8" name="bld5_1181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Muscenone</a:t>
            </a:r>
            <a:endParaRPr lang="en-US" sz="1350" dirty="0"/>
          </a:p>
        </p:txBody>
      </p:sp>
      <p:sp>
        <p:nvSpPr>
          <p:cNvPr id="30" name="trans_fade_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6" grpId="0"/>
      <p:bldP spid="20" grpId="0"/>
      <p:bldP spid="24" grpId="0"/>
      <p:bldP spid="2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Clean, soft, metallic, fruity — not one smell</a:t>
            </a:r>
            <a:endParaRPr lang="en-US" sz="3200" dirty="0"/>
          </a:p>
        </p:txBody>
      </p:sp>
      <p:sp>
        <p:nvSpPr>
          <p:cNvPr id="7" name="bld1_1182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6163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184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12" name="bld1_1185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laundry-like, soft. Base note, very long, radiant at low % — the classic "fresh clean" musk.</a:t>
            </a:r>
            <a:endParaRPr lang="en-US" sz="1080" dirty="0"/>
          </a:p>
        </p:txBody>
      </p:sp>
      <p:sp>
        <p:nvSpPr>
          <p:cNvPr id="13" name="bld2_1186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5" name="Shape 13"/>
          <p:cNvSpPr/>
          <p:nvPr/>
        </p:nvSpPr>
        <p:spPr>
          <a:xfrm>
            <a:off x="4453943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7" name="bld2_1188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18" name="bld2_1189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Big, soft, voluminous musk. Base note, very long — real diffusion and body, not just a background hum.</a:t>
            </a:r>
            <a:endParaRPr lang="en-US" sz="1080" dirty="0"/>
          </a:p>
        </p:txBody>
      </p:sp>
      <p:sp>
        <p:nvSpPr>
          <p:cNvPr id="19" name="bld3_1190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1555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3" name="bld3_1192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24" name="bld3_1193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 with a natural, animalic warmth. Base note, long — closer to ambrette seed than a lab-clean musk.</a:t>
            </a:r>
            <a:endParaRPr lang="en-US" sz="1080" dirty="0"/>
          </a:p>
        </p:txBody>
      </p:sp>
      <p:sp>
        <p:nvSpPr>
          <p:cNvPr id="25" name="bld4_1194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29166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9" name="bld4_1196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450" dirty="0"/>
          </a:p>
        </p:txBody>
      </p:sp>
      <p:sp>
        <p:nvSpPr>
          <p:cNvPr id="30" name="bld4_1197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fruity-musky, slightly creamy. Base note, medium-long, intimate — a gentler, more skin-like effect.</a:t>
            </a:r>
            <a:endParaRPr lang="en-US" sz="1080" dirty="0"/>
          </a:p>
        </p:txBody>
      </p:sp>
      <p:sp>
        <p:nvSpPr>
          <p:cNvPr id="31" name="bld5_1198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616331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5" name="bld5_1200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450" dirty="0"/>
          </a:p>
        </p:txBody>
      </p:sp>
      <p:sp>
        <p:nvSpPr>
          <p:cNvPr id="36" name="bld5_1201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sweet, musky-soft. Base note, long — an affordable classic musk with a slight sweetness.</a:t>
            </a:r>
            <a:endParaRPr lang="en-US" sz="1080" dirty="0"/>
          </a:p>
        </p:txBody>
      </p:sp>
      <p:sp>
        <p:nvSpPr>
          <p:cNvPr id="37" name="bld6_1202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9" name="Shape 37"/>
          <p:cNvSpPr/>
          <p:nvPr/>
        </p:nvSpPr>
        <p:spPr>
          <a:xfrm>
            <a:off x="4453943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1" name="bld6_1204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450" dirty="0"/>
          </a:p>
        </p:txBody>
      </p:sp>
      <p:sp>
        <p:nvSpPr>
          <p:cNvPr id="42" name="bld6_1205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earliest clean musks, soft and powdery. Base note, long, very gentle diffusion.</a:t>
            </a:r>
            <a:endParaRPr lang="en-US" sz="1080" dirty="0"/>
          </a:p>
        </p:txBody>
      </p:sp>
      <p:sp>
        <p:nvSpPr>
          <p:cNvPr id="43" name="bld7_1206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5" name="Shape 4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7" name="bld7_1208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Muscenone</a:t>
            </a:r>
            <a:endParaRPr lang="en-US" sz="1450" dirty="0"/>
          </a:p>
        </p:txBody>
      </p:sp>
      <p:sp>
        <p:nvSpPr>
          <p:cNvPr id="48" name="bld7_1209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slightly animalic, natural musk-deer-adjacent character. Base note, long — a premium, complex musk.</a:t>
            </a:r>
            <a:endParaRPr lang="en-US" sz="1080" dirty="0"/>
          </a:p>
        </p:txBody>
      </p:sp>
      <p:sp>
        <p:nvSpPr>
          <p:cNvPr id="50" name="trans_fade_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7" grpId="0"/>
      <p:bldP spid="18" grpId="0"/>
      <p:bldP spid="19" grpId="0"/>
      <p:bldP spid="23" grpId="0"/>
      <p:bldP spid="24" grpId="0"/>
      <p:bldP spid="25" grpId="0"/>
      <p:bldP spid="29" grpId="0"/>
      <p:bldP spid="30" grpId="0"/>
      <p:bldP spid="31" grpId="0"/>
      <p:bldP spid="35" grpId="0"/>
      <p:bldP spid="36" grpId="0"/>
      <p:bldP spid="37" grpId="0"/>
      <p:bldP spid="41" grpId="0"/>
      <p:bldP spid="42" grpId="0"/>
      <p:bldP spid="43" grpId="0"/>
      <p:bldP spid="47" grpId="0"/>
      <p:bldP spid="4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musks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" name="Shape 6"/>
          <p:cNvSpPr/>
          <p:nvPr/>
        </p:nvSpPr>
        <p:spPr>
          <a:xfrm>
            <a:off x="1490710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0" name="bld1_1211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800" dirty="0"/>
          </a:p>
        </p:txBody>
      </p:sp>
      <p:sp>
        <p:nvSpPr>
          <p:cNvPr id="11" name="bld1_1212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2" name="bld1_1213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</a:t>
            </a:r>
            <a:endParaRPr lang="en-US" sz="1100" dirty="0"/>
          </a:p>
        </p:txBody>
      </p:sp>
      <p:sp>
        <p:nvSpPr>
          <p:cNvPr id="13" name="bld1_1214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4" name="bld1_1215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"fresh clean" signature</a:t>
            </a:r>
            <a:endParaRPr lang="en-US" sz="1100" dirty="0"/>
          </a:p>
        </p:txBody>
      </p:sp>
      <p:sp>
        <p:nvSpPr>
          <p:cNvPr id="15" name="bld1_1216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6" name="bld1_1217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radiant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884048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219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800" dirty="0"/>
          </a:p>
        </p:txBody>
      </p:sp>
      <p:sp>
        <p:nvSpPr>
          <p:cNvPr id="21" name="bld2_1220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2" name="bld2_1221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Big, soft, voluminous</a:t>
            </a:r>
            <a:endParaRPr lang="en-US" sz="1100" dirty="0"/>
          </a:p>
        </p:txBody>
      </p:sp>
      <p:sp>
        <p:nvSpPr>
          <p:cNvPr id="23" name="bld2_1222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4" name="bld2_1223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diffusion and body</a:t>
            </a:r>
            <a:endParaRPr lang="en-US" sz="1100" dirty="0"/>
          </a:p>
        </p:txBody>
      </p:sp>
      <p:sp>
        <p:nvSpPr>
          <p:cNvPr id="25" name="bld2_1224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6" name="bld2_1225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7387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0" name="bld3_1227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800" dirty="0"/>
          </a:p>
        </p:txBody>
      </p:sp>
      <p:sp>
        <p:nvSpPr>
          <p:cNvPr id="31" name="bld3_1228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2" name="bld3_1229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Fruity-musky, animalic warmth</a:t>
            </a:r>
            <a:endParaRPr lang="en-US" sz="1100" dirty="0"/>
          </a:p>
        </p:txBody>
      </p:sp>
      <p:sp>
        <p:nvSpPr>
          <p:cNvPr id="33" name="bld3_1230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4" name="bld3_1231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skin-like feel</a:t>
            </a:r>
            <a:endParaRPr lang="en-US" sz="1100" dirty="0"/>
          </a:p>
        </p:txBody>
      </p:sp>
      <p:sp>
        <p:nvSpPr>
          <p:cNvPr id="35" name="bld3_1232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6" name="bld3_1233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8" name="trans_fade_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2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Amber, Ambrox &amp; Radiant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&amp; AMBROX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595655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430057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952328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23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639093" y="3948828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448831" y="3861015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4048887" y="3773202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23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5777390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5611791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6134063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23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7868257" y="3992464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7702658" y="3916034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8224930" y="3839604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24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9911694" y="3679464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9721432" y="3591651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10321488" y="3503838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124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Orcanox</a:t>
            </a:r>
            <a:endParaRPr lang="en-US" sz="1350" dirty="0"/>
          </a:p>
        </p:txBody>
      </p:sp>
      <p:sp>
        <p:nvSpPr>
          <p:cNvPr id="40" name="trans_fade_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AMBER, AMBROX &amp; RADIANT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perfumery's defining effect</a:t>
            </a:r>
            <a:endParaRPr lang="en-US" sz="3200" dirty="0"/>
          </a:p>
        </p:txBody>
      </p:sp>
      <p:sp>
        <p:nvSpPr>
          <p:cNvPr id="7" name="bld1_1244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21911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21280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23269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1246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14" name="bld1_1247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with real skin-warmth. Base note, very long, extremely diffusive — used lightly for radiance, strongly as a genre-defining base.</a:t>
            </a:r>
            <a:endParaRPr lang="en-US" sz="1080" dirty="0"/>
          </a:p>
        </p:txBody>
      </p:sp>
      <p:sp>
        <p:nvSpPr>
          <p:cNvPr id="15" name="bld2_1248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1" name="bld2_1250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450" dirty="0"/>
          </a:p>
        </p:txBody>
      </p:sp>
      <p:sp>
        <p:nvSpPr>
          <p:cNvPr id="22" name="bld2_1251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cleaner, more consistent take on Ambroxan's effect. Base note, very long — favoured for reliability batch to batch.</a:t>
            </a:r>
            <a:endParaRPr lang="en-US" sz="1080" dirty="0"/>
          </a:p>
        </p:txBody>
      </p:sp>
      <p:sp>
        <p:nvSpPr>
          <p:cNvPr id="23" name="bld3_1252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9" name="bld3_1254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450" dirty="0"/>
          </a:p>
        </p:txBody>
      </p:sp>
      <p:sp>
        <p:nvSpPr>
          <p:cNvPr id="30" name="bld3_1255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slightly musky. Base note, long — a gentler, rounder alternative to pure Ambroxan.</a:t>
            </a:r>
            <a:endParaRPr lang="en-US" sz="1080" dirty="0"/>
          </a:p>
        </p:txBody>
      </p:sp>
      <p:sp>
        <p:nvSpPr>
          <p:cNvPr id="31" name="bld4_1256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2191116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2128066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2326915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7" name="bld4_1258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450" dirty="0"/>
          </a:p>
        </p:txBody>
      </p:sp>
      <p:sp>
        <p:nvSpPr>
          <p:cNvPr id="38" name="bld4_1259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 with a dry, radiant lift. Base note, long — bridges the woody and amber families.</a:t>
            </a:r>
            <a:endParaRPr lang="en-US" sz="1080" dirty="0"/>
          </a:p>
        </p:txBody>
      </p:sp>
      <p:sp>
        <p:nvSpPr>
          <p:cNvPr id="39" name="bld5_1260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5974598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5911548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6110398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5" name="bld5_1262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Xtreme</a:t>
            </a:r>
            <a:endParaRPr lang="en-US" sz="1450" dirty="0"/>
          </a:p>
        </p:txBody>
      </p:sp>
      <p:sp>
        <p:nvSpPr>
          <p:cNvPr id="46" name="bld5_1263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powerful, high-impact amber-woody radiance. Base note, very long — used at a fraction of a percent.</a:t>
            </a:r>
            <a:endParaRPr lang="en-US" sz="1080" dirty="0"/>
          </a:p>
        </p:txBody>
      </p:sp>
      <p:sp>
        <p:nvSpPr>
          <p:cNvPr id="47" name="bld6_1264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9758081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96950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98938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53" name="bld6_1266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Orcanox</a:t>
            </a:r>
            <a:endParaRPr lang="en-US" sz="1450" dirty="0"/>
          </a:p>
        </p:txBody>
      </p:sp>
      <p:sp>
        <p:nvSpPr>
          <p:cNvPr id="54" name="bld6_1267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ambery-woody, understated. Base note, long — a quieter, more blendable amber-radiant option.</a:t>
            </a:r>
            <a:endParaRPr lang="en-US" sz="1080" dirty="0"/>
          </a:p>
        </p:txBody>
      </p:sp>
      <p:sp>
        <p:nvSpPr>
          <p:cNvPr id="56" name="trans_fade_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amber-radiants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269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13" name="bld1_1270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271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15" name="bld1_1272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273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17" name="bld1_1274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275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extreme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277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800" dirty="0"/>
          </a:p>
        </p:txBody>
      </p:sp>
      <p:sp>
        <p:nvSpPr>
          <p:cNvPr id="25" name="bld2_1278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279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musky</a:t>
            </a:r>
            <a:endParaRPr lang="en-US" sz="1100" dirty="0"/>
          </a:p>
        </p:txBody>
      </p:sp>
      <p:sp>
        <p:nvSpPr>
          <p:cNvPr id="27" name="bld2_1280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281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gentler radiant glow</a:t>
            </a:r>
            <a:endParaRPr lang="en-US" sz="1100" dirty="0"/>
          </a:p>
        </p:txBody>
      </p:sp>
      <p:sp>
        <p:nvSpPr>
          <p:cNvPr id="29" name="bld2_1282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283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285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800" dirty="0"/>
          </a:p>
        </p:txBody>
      </p:sp>
      <p:sp>
        <p:nvSpPr>
          <p:cNvPr id="37" name="bld3_1286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287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</a:t>
            </a:r>
            <a:endParaRPr lang="en-US" sz="1100" dirty="0"/>
          </a:p>
        </p:txBody>
      </p:sp>
      <p:sp>
        <p:nvSpPr>
          <p:cNvPr id="39" name="bld3_1288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289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wood and amber</a:t>
            </a:r>
            <a:endParaRPr lang="en-US" sz="1100" dirty="0"/>
          </a:p>
        </p:txBody>
      </p:sp>
      <p:sp>
        <p:nvSpPr>
          <p:cNvPr id="41" name="bld3_1290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291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diffusive</a:t>
            </a:r>
            <a:endParaRPr lang="en-US" sz="1100" dirty="0"/>
          </a:p>
        </p:txBody>
      </p:sp>
      <p:sp>
        <p:nvSpPr>
          <p:cNvPr id="44" name="trans_fade_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3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10628" y="3586835"/>
            <a:ext cx="858493" cy="8584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417940" y="3694146"/>
            <a:ext cx="643870" cy="64387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5251" y="3801458"/>
            <a:ext cx="429247" cy="42924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1632563" y="3908770"/>
            <a:ext cx="214623" cy="2146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1293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9910" y="3823092"/>
            <a:ext cx="924707" cy="92470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4028" y="3977210"/>
            <a:ext cx="616471" cy="61647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328146" y="4131328"/>
            <a:ext cx="308236" cy="30823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1295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688095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6374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160266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0" name="Shape 28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1" name="bld3_1297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0484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4" name="Shape 32"/>
          <p:cNvSpPr/>
          <p:nvPr/>
        </p:nvSpPr>
        <p:spPr>
          <a:xfrm>
            <a:off x="6698763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2655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1299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1301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6_1303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350" dirty="0"/>
          </a:p>
        </p:txBody>
      </p:sp>
      <p:sp>
        <p:nvSpPr>
          <p:cNvPr id="53" name="trans_fade_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5" grpId="0"/>
      <p:bldP spid="31" grpId="0"/>
      <p:bldP spid="37" grpId="0"/>
      <p:bldP spid="44" grpId="0"/>
      <p:bldP spid="5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creamy, transparent, and textured woods</a:t>
            </a:r>
            <a:endParaRPr lang="en-US" sz="3200" dirty="0"/>
          </a:p>
        </p:txBody>
      </p:sp>
      <p:sp>
        <p:nvSpPr>
          <p:cNvPr id="7" name="bld1_1304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61670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10169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458669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507169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1306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7" name="bld1_1307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volume. Base note, very long — the single most-used woody synthetic in the world.</a:t>
            </a:r>
            <a:endParaRPr lang="en-US" sz="1080" dirty="0"/>
          </a:p>
        </p:txBody>
      </p:sp>
      <p:sp>
        <p:nvSpPr>
          <p:cNvPr id="18" name="bld2_1308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583259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1" name="Shape 19"/>
          <p:cNvSpPr/>
          <p:nvPr/>
        </p:nvSpPr>
        <p:spPr>
          <a:xfrm>
            <a:off x="3643884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704509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3765133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79665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6" name="bld2_1310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Timbersilk</a:t>
            </a:r>
            <a:endParaRPr lang="en-US" sz="1450" dirty="0"/>
          </a:p>
        </p:txBody>
      </p:sp>
      <p:sp>
        <p:nvSpPr>
          <p:cNvPr id="27" name="bld2_1311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silky, gentle woodiness. Base note, long — a softer, quieter cousin of Iso E Super.</a:t>
            </a:r>
            <a:endParaRPr lang="en-US" sz="1080" dirty="0"/>
          </a:p>
        </p:txBody>
      </p:sp>
      <p:sp>
        <p:nvSpPr>
          <p:cNvPr id="28" name="bld3_1312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1" name="Shape 29"/>
          <p:cNvSpPr/>
          <p:nvPr/>
        </p:nvSpPr>
        <p:spPr>
          <a:xfrm>
            <a:off x="5913973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974598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3" name="Shape 31"/>
          <p:cNvSpPr/>
          <p:nvPr/>
        </p:nvSpPr>
        <p:spPr>
          <a:xfrm>
            <a:off x="6035223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5" name="Shape 33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6" name="bld3_1314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37" name="bld3_1315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woodiness. Base note, very long, cosy — a comfort-wood texture unlike any natural.</a:t>
            </a:r>
            <a:endParaRPr lang="en-US" sz="1080" dirty="0"/>
          </a:p>
        </p:txBody>
      </p:sp>
      <p:sp>
        <p:nvSpPr>
          <p:cNvPr id="38" name="bld4_1316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0" name="Shape 38"/>
          <p:cNvSpPr/>
          <p:nvPr/>
        </p:nvSpPr>
        <p:spPr>
          <a:xfrm>
            <a:off x="8123438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244688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33683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4_1318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450" dirty="0"/>
          </a:p>
        </p:txBody>
      </p:sp>
      <p:sp>
        <p:nvSpPr>
          <p:cNvPr id="45" name="bld4_1319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creamy, true-to-life sandalwood. Base note, long, intense at tiny doses — a modern sandalwood benchmark.</a:t>
            </a:r>
            <a:endParaRPr lang="en-US" sz="1080" dirty="0"/>
          </a:p>
        </p:txBody>
      </p:sp>
      <p:sp>
        <p:nvSpPr>
          <p:cNvPr id="46" name="bld5_1320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393528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474361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10555194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60692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5_1322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450" dirty="0"/>
          </a:p>
        </p:txBody>
      </p:sp>
      <p:sp>
        <p:nvSpPr>
          <p:cNvPr id="54" name="bld5_1323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sandalwood with a drier edge than Javanol. Base note, long — a versatile, affordable sandalwood substitute.</a:t>
            </a:r>
            <a:endParaRPr lang="en-US" sz="1080" dirty="0"/>
          </a:p>
        </p:txBody>
      </p:sp>
      <p:sp>
        <p:nvSpPr>
          <p:cNvPr id="55" name="bld6_1324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7" name="Shape 55"/>
          <p:cNvSpPr/>
          <p:nvPr/>
        </p:nvSpPr>
        <p:spPr>
          <a:xfrm>
            <a:off x="1313170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434419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526569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61" name="bld6_1326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450" dirty="0"/>
          </a:p>
        </p:txBody>
      </p:sp>
      <p:sp>
        <p:nvSpPr>
          <p:cNvPr id="62" name="bld6_1327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milky, gentle sandalwood effect. Base note, medium-long — the mildest of the sandalwood synthetics.</a:t>
            </a:r>
            <a:endParaRPr lang="en-US" sz="1080" dirty="0"/>
          </a:p>
        </p:txBody>
      </p:sp>
      <p:sp>
        <p:nvSpPr>
          <p:cNvPr id="63" name="bld7_1328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583259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66" name="Shape 64"/>
          <p:cNvSpPr/>
          <p:nvPr/>
        </p:nvSpPr>
        <p:spPr>
          <a:xfrm>
            <a:off x="3704509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79665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9" name="bld7_1330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Bacdanol</a:t>
            </a:r>
            <a:endParaRPr lang="en-US" sz="1450" dirty="0"/>
          </a:p>
        </p:txBody>
      </p:sp>
      <p:sp>
        <p:nvSpPr>
          <p:cNvPr id="70" name="bld7_1331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woody-balsamic sandalwood facet. Base note, long — adds roundness alongside sharper woods.</a:t>
            </a:r>
            <a:endParaRPr lang="en-US" sz="1080" dirty="0"/>
          </a:p>
        </p:txBody>
      </p:sp>
      <p:sp>
        <p:nvSpPr>
          <p:cNvPr id="71" name="bld8_1332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53349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5934182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5" name="Shape 73"/>
          <p:cNvSpPr/>
          <p:nvPr/>
        </p:nvSpPr>
        <p:spPr>
          <a:xfrm>
            <a:off x="6015015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606674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7" name="Shape 7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8" name="bld8_1334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450" dirty="0"/>
          </a:p>
        </p:txBody>
      </p:sp>
      <p:sp>
        <p:nvSpPr>
          <p:cNvPr id="79" name="bld8_1335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Intense, creamy-sweet sandalwood character. Base note, long, potent — used in very small amounts.</a:t>
            </a:r>
            <a:endParaRPr lang="en-US" sz="1080" dirty="0"/>
          </a:p>
        </p:txBody>
      </p:sp>
      <p:sp>
        <p:nvSpPr>
          <p:cNvPr id="80" name="bld9_1336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2" name="Shape 80"/>
          <p:cNvSpPr/>
          <p:nvPr/>
        </p:nvSpPr>
        <p:spPr>
          <a:xfrm>
            <a:off x="8123438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8171938" y="4385682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84" name="Shape 82"/>
          <p:cNvSpPr/>
          <p:nvPr/>
        </p:nvSpPr>
        <p:spPr>
          <a:xfrm>
            <a:off x="8220438" y="4434182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8268937" y="4482681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86" name="Shape 84"/>
          <p:cNvSpPr/>
          <p:nvPr/>
        </p:nvSpPr>
        <p:spPr>
          <a:xfrm>
            <a:off x="8317437" y="4531181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8336837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88" name="Shape 86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89" name="bld9_1338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Kephalis</a:t>
            </a:r>
            <a:endParaRPr lang="en-US" sz="1450" dirty="0"/>
          </a:p>
        </p:txBody>
      </p:sp>
      <p:sp>
        <p:nvSpPr>
          <p:cNvPr id="90" name="bld9_1339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vetiver-cedar textured woodiness. Base note, long — adds grain and structure rather than smoothness.</a:t>
            </a:r>
            <a:endParaRPr lang="en-US" sz="1080" dirty="0"/>
          </a:p>
        </p:txBody>
      </p:sp>
      <p:sp>
        <p:nvSpPr>
          <p:cNvPr id="92" name="trans_fade_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3" name="Text 9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6" grpId="0"/>
      <p:bldP spid="27" grpId="0"/>
      <p:bldP spid="28" grpId="0"/>
      <p:bldP spid="36" grpId="0"/>
      <p:bldP spid="37" grpId="0"/>
      <p:bldP spid="38" grpId="0"/>
      <p:bldP spid="44" grpId="0"/>
      <p:bldP spid="45" grpId="0"/>
      <p:bldP spid="46" grpId="0"/>
      <p:bldP spid="53" grpId="0"/>
      <p:bldP spid="54" grpId="0"/>
      <p:bldP spid="55" grpId="0"/>
      <p:bldP spid="61" grpId="0"/>
      <p:bldP spid="62" grpId="0"/>
      <p:bldP spid="63" grpId="0"/>
      <p:bldP spid="69" grpId="0"/>
      <p:bldP spid="70" grpId="0"/>
      <p:bldP spid="71" grpId="0"/>
      <p:bldP spid="78" grpId="0"/>
      <p:bldP spid="79" grpId="0"/>
      <p:bldP spid="80" grpId="0"/>
      <p:bldP spid="89" grpId="0"/>
      <p:bldP spid="90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341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342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343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</a:t>
            </a:r>
            <a:endParaRPr lang="en-US" sz="1100" dirty="0"/>
          </a:p>
        </p:txBody>
      </p:sp>
      <p:sp>
        <p:nvSpPr>
          <p:cNvPr id="18" name="bld1_1344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345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346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347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436316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25911" y="1945815"/>
            <a:ext cx="1137569" cy="11375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15506" y="2135410"/>
            <a:ext cx="758380" cy="75838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05101" y="2325005"/>
            <a:ext cx="379190" cy="3791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03690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1349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30" name="bld2_1350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351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</a:t>
            </a:r>
            <a:endParaRPr lang="en-US" sz="1100" dirty="0"/>
          </a:p>
        </p:txBody>
      </p:sp>
      <p:sp>
        <p:nvSpPr>
          <p:cNvPr id="32" name="bld2_1352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353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Cosy, enveloping warmth</a:t>
            </a:r>
            <a:endParaRPr lang="en-US" sz="1100" dirty="0"/>
          </a:p>
        </p:txBody>
      </p:sp>
      <p:sp>
        <p:nvSpPr>
          <p:cNvPr id="34" name="bld2_1354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355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8" name="Shape 36"/>
          <p:cNvSpPr/>
          <p:nvPr/>
        </p:nvSpPr>
        <p:spPr>
          <a:xfrm>
            <a:off x="6246210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34394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3_1357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800" dirty="0"/>
          </a:p>
        </p:txBody>
      </p:sp>
      <p:sp>
        <p:nvSpPr>
          <p:cNvPr id="42" name="bld3_1358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359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 sandalwood</a:t>
            </a:r>
            <a:endParaRPr lang="en-US" sz="1100" dirty="0"/>
          </a:p>
        </p:txBody>
      </p:sp>
      <p:sp>
        <p:nvSpPr>
          <p:cNvPr id="44" name="bld3_1360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361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True-to-life sandalwood, intense</a:t>
            </a:r>
            <a:endParaRPr lang="en-US" sz="1100" dirty="0"/>
          </a:p>
        </p:txBody>
      </p:sp>
      <p:sp>
        <p:nvSpPr>
          <p:cNvPr id="46" name="bld3_1362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363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tiny dose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676914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4_1365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800" dirty="0"/>
          </a:p>
        </p:txBody>
      </p:sp>
      <p:sp>
        <p:nvSpPr>
          <p:cNvPr id="54" name="bld4_1366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367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 sandalwood</a:t>
            </a:r>
            <a:endParaRPr lang="en-US" sz="1100" dirty="0"/>
          </a:p>
        </p:txBody>
      </p:sp>
      <p:sp>
        <p:nvSpPr>
          <p:cNvPr id="56" name="bld4_1368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369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mildest sandalwood effect</a:t>
            </a:r>
            <a:endParaRPr lang="en-US" sz="1100" dirty="0"/>
          </a:p>
        </p:txBody>
      </p:sp>
      <p:sp>
        <p:nvSpPr>
          <p:cNvPr id="58" name="bld4_1370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371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medium-long</a:t>
            </a:r>
            <a:endParaRPr lang="en-US" sz="1100" dirty="0"/>
          </a:p>
        </p:txBody>
      </p:sp>
      <p:sp>
        <p:nvSpPr>
          <p:cNvPr id="61" name="trans_fade_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4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1824945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2100738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2100738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24945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3600000">
            <a:off x="154915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7200000">
            <a:off x="154915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1254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8" name="bld1_1373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22037" y="3547815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4158185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4029788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3614285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3485888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29354" y="4109819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1375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06679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4400000">
            <a:off x="628247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628247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06679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3600000">
            <a:off x="5730887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7200000">
            <a:off x="5730887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42988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3_1377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1177" y="386355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2700000">
            <a:off x="8227368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5400000">
            <a:off x="8283781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100000">
            <a:off x="8227368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8091177" y="4248759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500000">
            <a:off x="7954986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6200000">
            <a:off x="7898574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8900000">
            <a:off x="7954986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84808" y="4183539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8" name="Shape 4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9" name="bld4_1379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Ionone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94638" y="3278451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4320000">
            <a:off x="10430787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640000">
            <a:off x="10302389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9886886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9758489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0101955" y="3840455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1381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350" dirty="0"/>
          </a:p>
        </p:txBody>
      </p:sp>
      <p:sp>
        <p:nvSpPr>
          <p:cNvPr id="60" name="trans_fade_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27" grpId="0"/>
      <p:bldP spid="37" grpId="0"/>
      <p:bldP spid="49" grpId="0"/>
      <p:bldP spid="5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Isolated, hyper-true floral facets</a:t>
            </a:r>
            <a:endParaRPr lang="en-US" sz="3200" dirty="0"/>
          </a:p>
        </p:txBody>
      </p:sp>
      <p:sp>
        <p:nvSpPr>
          <p:cNvPr id="7" name="bld1_1382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384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385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radiance. Heart note, medium-long, hugely diffusive — opens space around every other material.</a:t>
            </a:r>
            <a:endParaRPr lang="en-US" sz="1080" dirty="0"/>
          </a:p>
        </p:txBody>
      </p:sp>
      <p:sp>
        <p:nvSpPr>
          <p:cNvPr id="19" name="bld2_1386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388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Hydroxycitronellal</a:t>
            </a:r>
            <a:endParaRPr lang="en-US" sz="1450" dirty="0"/>
          </a:p>
        </p:txBody>
      </p:sp>
      <p:sp>
        <p:nvSpPr>
          <p:cNvPr id="32" name="bld2_1389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muguet (lily-of-the-valley) floral. Heart note, medium — a clean, slightly waxy floral lift.</a:t>
            </a:r>
            <a:endParaRPr lang="en-US" sz="1080" dirty="0"/>
          </a:p>
        </p:txBody>
      </p:sp>
      <p:sp>
        <p:nvSpPr>
          <p:cNvPr id="33" name="bld3_1390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2" name="bld3_1392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450" dirty="0"/>
          </a:p>
        </p:txBody>
      </p:sp>
      <p:sp>
        <p:nvSpPr>
          <p:cNvPr id="43" name="bld3_1393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slightly honeyed. Heart note, medium — the single most-used rose material in the world.</a:t>
            </a:r>
            <a:endParaRPr lang="en-US" sz="1080" dirty="0"/>
          </a:p>
        </p:txBody>
      </p:sp>
      <p:sp>
        <p:nvSpPr>
          <p:cNvPr id="44" name="bld4_1394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833198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4400000">
            <a:off x="843699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000000">
            <a:off x="843699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3198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3600000">
            <a:off x="82269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7200000">
            <a:off x="82269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3" name="Shape 5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4" name="bld4_1396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450" dirty="0"/>
          </a:p>
        </p:txBody>
      </p:sp>
      <p:sp>
        <p:nvSpPr>
          <p:cNvPr id="55" name="bld4_1397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fruity-jasmine, pear-like. Top-heart, medium — a bright lift inside a jasmine accord.</a:t>
            </a:r>
            <a:endParaRPr lang="en-US" sz="1080" dirty="0"/>
          </a:p>
        </p:txBody>
      </p:sp>
      <p:sp>
        <p:nvSpPr>
          <p:cNvPr id="56" name="bld5_1398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99652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2700000">
            <a:off x="1065150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10672983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8100000">
            <a:off x="1065150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0800000">
            <a:off x="10599652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500000">
            <a:off x="10547798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6200000">
            <a:off x="1052632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8900000">
            <a:off x="10547798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597227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7" name="Shape 6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8" name="bld5_1400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69" name="bld5_1401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freshness, occurs naturally too. Top-heart, medium — a foundational, near-invisible freshener.</a:t>
            </a:r>
            <a:endParaRPr lang="en-US" sz="1080" dirty="0"/>
          </a:p>
        </p:txBody>
      </p:sp>
      <p:sp>
        <p:nvSpPr>
          <p:cNvPr id="70" name="bld6_1402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2" name="Shape 70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1" name="Shape 7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82" name="bld6_1404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83" name="bld6_1405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lavender-adjacent. Top note, medium — rounds out linalool with a fruity edge.</a:t>
            </a:r>
            <a:endParaRPr lang="en-US" sz="1080" dirty="0"/>
          </a:p>
        </p:txBody>
      </p:sp>
      <p:sp>
        <p:nvSpPr>
          <p:cNvPr id="84" name="bld7_1406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6" name="Shape 84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5" name="Shape 9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6" name="bld7_1408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Citronellol</a:t>
            </a:r>
            <a:endParaRPr lang="en-US" sz="1450" dirty="0"/>
          </a:p>
        </p:txBody>
      </p:sp>
      <p:sp>
        <p:nvSpPr>
          <p:cNvPr id="97" name="bld7_1409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rosy-citrus freshness. Top-heart, medium — a common rose extender and freshener.</a:t>
            </a:r>
            <a:endParaRPr lang="en-US" sz="1080" dirty="0"/>
          </a:p>
        </p:txBody>
      </p:sp>
      <p:sp>
        <p:nvSpPr>
          <p:cNvPr id="98" name="bld8_1410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0" name="Shape 98"/>
          <p:cNvSpPr/>
          <p:nvPr/>
        </p:nvSpPr>
        <p:spPr>
          <a:xfrm>
            <a:off x="605947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611132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613280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611132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605947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600761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598614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600761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605704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0" name="bld8_1412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Geraniol</a:t>
            </a:r>
            <a:endParaRPr lang="en-US" sz="1450" dirty="0"/>
          </a:p>
        </p:txBody>
      </p:sp>
      <p:sp>
        <p:nvSpPr>
          <p:cNvPr id="111" name="bld8_1413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Rosy, slightly sweet, geranium-adjacent. Heart note, medium — pairs naturally with citronellol.</a:t>
            </a:r>
            <a:endParaRPr lang="en-US" sz="1080" dirty="0"/>
          </a:p>
        </p:txBody>
      </p:sp>
      <p:sp>
        <p:nvSpPr>
          <p:cNvPr id="112" name="bld9_1414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4A66"/>
            </a:solidFill>
            <a:prstDash val="solid"/>
          </a:ln>
        </p:spPr>
      </p:sp>
      <p:sp>
        <p:nvSpPr>
          <p:cNvPr id="124" name="bld9_1416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450" dirty="0"/>
          </a:p>
        </p:txBody>
      </p:sp>
      <p:sp>
        <p:nvSpPr>
          <p:cNvPr id="125" name="bld9_1417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Alpha, beta &amp; methyl ionone — powdery violet-woody-suede. Heart-base, medium-long — the entire "violet" effect comes from this trio.</a:t>
            </a:r>
            <a:endParaRPr lang="en-US" sz="1080" dirty="0"/>
          </a:p>
        </p:txBody>
      </p:sp>
      <p:sp>
        <p:nvSpPr>
          <p:cNvPr id="126" name="bld10_1418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7" name="Shape 125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575402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 rot="4320000">
            <a:off x="10686796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 rot="8640000">
            <a:off x="10644247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 rot="12960000">
            <a:off x="10506556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 rot="17280000">
            <a:off x="10464007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77827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35" name="bld10_1420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450" dirty="0"/>
          </a:p>
        </p:txBody>
      </p:sp>
      <p:sp>
        <p:nvSpPr>
          <p:cNvPr id="136" name="bld10_1421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 top facet. Top note, short — a tiny dose gives rose an unmistakable natural sparkle.</a:t>
            </a:r>
            <a:endParaRPr lang="en-US" sz="1080" dirty="0"/>
          </a:p>
        </p:txBody>
      </p:sp>
      <p:sp>
        <p:nvSpPr>
          <p:cNvPr id="138" name="trans_fade_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9" name="Text 1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2" grpId="0"/>
      <p:bldP spid="43" grpId="0"/>
      <p:bldP spid="44" grpId="0"/>
      <p:bldP spid="54" grpId="0"/>
      <p:bldP spid="55" grpId="0"/>
      <p:bldP spid="56" grpId="0"/>
      <p:bldP spid="68" grpId="0"/>
      <p:bldP spid="69" grpId="0"/>
      <p:bldP spid="70" grpId="0"/>
      <p:bldP spid="82" grpId="0"/>
      <p:bldP spid="83" grpId="0"/>
      <p:bldP spid="84" grpId="0"/>
      <p:bldP spid="96" grpId="0"/>
      <p:bldP spid="97" grpId="0"/>
      <p:bldP spid="98" grpId="0"/>
      <p:bldP spid="110" grpId="0"/>
      <p:bldP spid="111" grpId="0"/>
      <p:bldP spid="112" grpId="0"/>
      <p:bldP spid="124" grpId="0"/>
      <p:bldP spid="125" grpId="0"/>
      <p:bldP spid="126" grpId="0"/>
      <p:bldP spid="135" grpId="0"/>
      <p:bldP spid="13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1657819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1986207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1986207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7819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132943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132943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8470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17" name="bld1_1423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18" name="bld1_1424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425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20" name="bld1_1426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427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in a formula</a:t>
            </a:r>
            <a:endParaRPr lang="en-US" sz="1100" dirty="0"/>
          </a:p>
        </p:txBody>
      </p:sp>
      <p:sp>
        <p:nvSpPr>
          <p:cNvPr id="22" name="bld1_1428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429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005101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4320000">
            <a:off x="4353470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8640000">
            <a:off x="4220405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2960000">
            <a:off x="3789797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7280000">
            <a:off x="3656731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1" name="Shape 29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2" name="bld2_1431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800" dirty="0"/>
          </a:p>
        </p:txBody>
      </p:sp>
      <p:sp>
        <p:nvSpPr>
          <p:cNvPr id="33" name="bld2_1432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433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honeyed</a:t>
            </a:r>
            <a:endParaRPr lang="en-US" sz="1100" dirty="0"/>
          </a:p>
        </p:txBody>
      </p:sp>
      <p:sp>
        <p:nvSpPr>
          <p:cNvPr id="35" name="bld2_1434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435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most-used rose note</a:t>
            </a:r>
            <a:endParaRPr lang="en-US" sz="1100" dirty="0"/>
          </a:p>
        </p:txBody>
      </p:sp>
      <p:sp>
        <p:nvSpPr>
          <p:cNvPr id="37" name="bld2_1436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437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511643" y="2012249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6673806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740977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6673806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511643" y="247091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6349479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6282309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6349479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04059" y="2393259"/>
            <a:ext cx="242681" cy="24268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3_1439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800" dirty="0"/>
          </a:p>
        </p:txBody>
      </p:sp>
      <p:sp>
        <p:nvSpPr>
          <p:cNvPr id="51" name="bld3_1440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1441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violet-woody-suede</a:t>
            </a:r>
            <a:endParaRPr lang="en-US" sz="1100" dirty="0"/>
          </a:p>
        </p:txBody>
      </p:sp>
      <p:sp>
        <p:nvSpPr>
          <p:cNvPr id="53" name="bld3_1442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1443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"violet" effect</a:t>
            </a:r>
            <a:endParaRPr lang="en-US" sz="1100" dirty="0"/>
          </a:p>
        </p:txBody>
      </p:sp>
      <p:sp>
        <p:nvSpPr>
          <p:cNvPr id="55" name="bld3_1444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1445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8866508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921487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908181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8651204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518139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4_1447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800" dirty="0"/>
          </a:p>
        </p:txBody>
      </p:sp>
      <p:sp>
        <p:nvSpPr>
          <p:cNvPr id="66" name="bld4_1448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7" name="bld4_1449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</a:t>
            </a:r>
            <a:endParaRPr lang="en-US" sz="1100" dirty="0"/>
          </a:p>
        </p:txBody>
      </p:sp>
      <p:sp>
        <p:nvSpPr>
          <p:cNvPr id="68" name="bld4_1450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9" name="bld4_1451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sparkle at a tiny dose</a:t>
            </a:r>
            <a:endParaRPr lang="en-US" sz="1100" dirty="0"/>
          </a:p>
        </p:txBody>
      </p:sp>
      <p:sp>
        <p:nvSpPr>
          <p:cNvPr id="70" name="bld4_1452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1" name="bld4_1453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73" name="trans_fade_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4" name="Text 7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65" grpId="0"/>
      <p:bldP spid="66" grpId="0"/>
      <p:bldP spid="67" grpId="0"/>
      <p:bldP spid="68" grpId="0"/>
      <p:bldP spid="69" grpId="0"/>
      <p:bldP spid="70" grpId="0"/>
      <p:bldP spid="7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5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Fresh, Citrus &amp; Aromatic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>
            <a:off x="1277197" y="3379165"/>
            <a:ext cx="1273832" cy="127383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66366" y="3468333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0422" y="3952390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1_145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3273205" y="3553669"/>
            <a:ext cx="1463552" cy="146355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5653" y="3656118"/>
            <a:ext cx="1258655" cy="1258655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931803" y="4212268"/>
            <a:ext cx="146355" cy="146355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145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2" name="Shape 40"/>
          <p:cNvSpPr/>
          <p:nvPr/>
        </p:nvSpPr>
        <p:spPr>
          <a:xfrm>
            <a:off x="6000310" y="3594188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2700000">
            <a:off x="6136501" y="3650600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5400000">
            <a:off x="6192914" y="378679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100000">
            <a:off x="6136501" y="3922983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6000310" y="3979395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500000">
            <a:off x="5864119" y="3922983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6200000">
            <a:off x="5807707" y="378679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8900000">
            <a:off x="5864119" y="3650600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93941" y="3914175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1" name="Shape 4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2" name="bld3_145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Undecavertol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7755452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7874881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8078439" y="42854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8281997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8401426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0" name="bld4_146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2" name="Shape 60"/>
          <p:cNvSpPr/>
          <p:nvPr/>
        </p:nvSpPr>
        <p:spPr>
          <a:xfrm rot="15300000">
            <a:off x="9782088" y="3731333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050000">
            <a:off x="9919304" y="3936691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153180" y="4016081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8550000">
            <a:off x="10387055" y="3936691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300000">
            <a:off x="10524271" y="3731333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8" name="bld5_146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70" name="trans_fade_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2" grpId="0"/>
      <p:bldP spid="60" grpId="0"/>
      <p:bldP spid="68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CITRUS &amp; AROMATIC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Sparkle, lift, and long-lasting brightness</a:t>
            </a:r>
            <a:endParaRPr lang="en-US" sz="3200" dirty="0"/>
          </a:p>
        </p:txBody>
      </p:sp>
      <p:sp>
        <p:nvSpPr>
          <p:cNvPr id="7" name="bld1_1464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038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881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466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bld1_1467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lift. Top note, medium (longer than natural citrus) — the backbone of the 1990s "fresh" trend.</a:t>
            </a:r>
            <a:endParaRPr lang="en-US" sz="1080" dirty="0"/>
          </a:p>
        </p:txBody>
      </p:sp>
      <p:sp>
        <p:nvSpPr>
          <p:cNvPr id="25" name="bld2_1468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5853349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887299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71598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1470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Citral</a:t>
            </a:r>
            <a:endParaRPr lang="en-US" sz="1450" dirty="0"/>
          </a:p>
        </p:txBody>
      </p:sp>
      <p:sp>
        <p:nvSpPr>
          <p:cNvPr id="42" name="bld2_1471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intensely lemon. Top note, short-medium — a concentrated citrus punch, also found naturally in lemongrass.</a:t>
            </a:r>
            <a:endParaRPr lang="en-US" sz="1080" dirty="0"/>
          </a:p>
        </p:txBody>
      </p:sp>
      <p:sp>
        <p:nvSpPr>
          <p:cNvPr id="43" name="bld3_1472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5" name="Shape 43"/>
          <p:cNvSpPr/>
          <p:nvPr/>
        </p:nvSpPr>
        <p:spPr>
          <a:xfrm>
            <a:off x="9709581" y="2050780"/>
            <a:ext cx="339498" cy="339498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7" name="bld3_1474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 (C8–C12 MNA)</a:t>
            </a:r>
            <a:endParaRPr lang="en-US" sz="1450" dirty="0"/>
          </a:p>
        </p:txBody>
      </p:sp>
      <p:sp>
        <p:nvSpPr>
          <p:cNvPr id="48" name="bld3_1475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 lift. Top note, medium — the material family behind the classic "aldehydic" perfume effect.</a:t>
            </a:r>
            <a:endParaRPr lang="en-US" sz="1080" dirty="0"/>
          </a:p>
        </p:txBody>
      </p:sp>
      <p:sp>
        <p:nvSpPr>
          <p:cNvPr id="49" name="bld4_1476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2275990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2700000">
            <a:off x="2327844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5400000">
            <a:off x="234932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8100000">
            <a:off x="2327844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0800000">
            <a:off x="2275990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3500000">
            <a:off x="22241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6200000">
            <a:off x="2202659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8900000">
            <a:off x="22241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2273565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0" name="Shape 5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61" name="bld4_1478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Undecavertol</a:t>
            </a:r>
            <a:endParaRPr lang="en-US" sz="1450" dirty="0"/>
          </a:p>
        </p:txBody>
      </p:sp>
      <p:sp>
        <p:nvSpPr>
          <p:cNvPr id="62" name="bld4_1479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slightly muguet-green. Top-heart, medium — a watery, lily-of-the-valley-adjacent brightness.</a:t>
            </a:r>
            <a:endParaRPr lang="en-US" sz="1080" dirty="0"/>
          </a:p>
        </p:txBody>
      </p:sp>
      <p:sp>
        <p:nvSpPr>
          <p:cNvPr id="63" name="bld5_1480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5" name="Shape 63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1" name="bld5_1482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 (Leaf Alcohol)</a:t>
            </a:r>
            <a:endParaRPr lang="en-US" sz="1450" dirty="0"/>
          </a:p>
        </p:txBody>
      </p:sp>
      <p:sp>
        <p:nvSpPr>
          <p:cNvPr id="72" name="bld5_1483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green. Top note, short — the exact smell of a freshly mown lawn, dosed carefully.</a:t>
            </a:r>
            <a:endParaRPr lang="en-US" sz="1080" dirty="0"/>
          </a:p>
        </p:txBody>
      </p:sp>
      <p:sp>
        <p:nvSpPr>
          <p:cNvPr id="73" name="bld6_1484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75" name="Shape 73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81" name="bld6_1486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82" name="bld6_1487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fresh, slightly melon-stem. Top note, short-medium — an unusual, modern green-fresh accent.</a:t>
            </a:r>
            <a:endParaRPr lang="en-US" sz="1080" dirty="0"/>
          </a:p>
        </p:txBody>
      </p:sp>
      <p:sp>
        <p:nvSpPr>
          <p:cNvPr id="84" name="trans_fade_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5" name="Text 8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47" grpId="0"/>
      <p:bldP spid="48" grpId="0"/>
      <p:bldP spid="49" grpId="0"/>
      <p:bldP spid="61" grpId="0"/>
      <p:bldP spid="62" grpId="0"/>
      <p:bldP spid="63" grpId="0"/>
      <p:bldP spid="71" grpId="0"/>
      <p:bldP spid="72" grpId="0"/>
      <p:bldP spid="73" grpId="0"/>
      <p:bldP spid="81" grpId="0"/>
      <p:bldP spid="8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fresh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1489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800" dirty="0"/>
          </a:p>
        </p:txBody>
      </p:sp>
      <p:sp>
        <p:nvSpPr>
          <p:cNvPr id="23" name="bld1_1490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1491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</a:t>
            </a:r>
            <a:endParaRPr lang="en-US" sz="1100" dirty="0"/>
          </a:p>
        </p:txBody>
      </p:sp>
      <p:sp>
        <p:nvSpPr>
          <p:cNvPr id="25" name="bld1_1492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1493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citrus far past 2 hours</a:t>
            </a:r>
            <a:endParaRPr lang="en-US" sz="1100" dirty="0"/>
          </a:p>
        </p:txBody>
      </p:sp>
      <p:sp>
        <p:nvSpPr>
          <p:cNvPr id="27" name="bld1_1494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1495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0" name="Shape 28"/>
          <p:cNvSpPr/>
          <p:nvPr/>
        </p:nvSpPr>
        <p:spPr>
          <a:xfrm>
            <a:off x="5064496" y="1940448"/>
            <a:ext cx="1148304" cy="1148304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2" name="bld2_1497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800" dirty="0"/>
          </a:p>
        </p:txBody>
      </p:sp>
      <p:sp>
        <p:nvSpPr>
          <p:cNvPr id="33" name="bld2_1498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499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</a:t>
            </a:r>
            <a:endParaRPr lang="en-US" sz="1100" dirty="0"/>
          </a:p>
        </p:txBody>
      </p:sp>
      <p:sp>
        <p:nvSpPr>
          <p:cNvPr id="35" name="bld2_1500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501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"aldehydic" lift</a:t>
            </a:r>
            <a:endParaRPr lang="en-US" sz="1100" dirty="0"/>
          </a:p>
        </p:txBody>
      </p:sp>
      <p:sp>
        <p:nvSpPr>
          <p:cNvPr id="37" name="bld2_1502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503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0" name="Shape 38"/>
          <p:cNvSpPr/>
          <p:nvPr/>
        </p:nvSpPr>
        <p:spPr>
          <a:xfrm rot="15300000">
            <a:off x="847660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3050000">
            <a:off x="863040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8892549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550000">
            <a:off x="9154690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6300000">
            <a:off x="9308490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6" name="bld3_1505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800" dirty="0"/>
          </a:p>
        </p:txBody>
      </p:sp>
      <p:sp>
        <p:nvSpPr>
          <p:cNvPr id="47" name="bld3_1506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507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</a:t>
            </a:r>
            <a:endParaRPr lang="en-US" sz="1100" dirty="0"/>
          </a:p>
        </p:txBody>
      </p:sp>
      <p:sp>
        <p:nvSpPr>
          <p:cNvPr id="49" name="bld3_1508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509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freshly-mown-lawn effect</a:t>
            </a:r>
            <a:endParaRPr lang="en-US" sz="1100" dirty="0"/>
          </a:p>
        </p:txBody>
      </p:sp>
      <p:sp>
        <p:nvSpPr>
          <p:cNvPr id="51" name="bld3_1510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511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54" name="trans_fade_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6" grpId="0"/>
      <p:bldP spid="47" grpId="0"/>
      <p:bldP spid="48" grpId="0"/>
      <p:bldP spid="49" grpId="0"/>
      <p:bldP spid="50" grpId="0"/>
      <p:bldP spid="51" grpId="0"/>
      <p:bldP spid="5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6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4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0" name="Shape 8"/>
          <p:cNvSpPr/>
          <p:nvPr/>
        </p:nvSpPr>
        <p:spPr>
          <a:xfrm>
            <a:off x="1391842" y="3544763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08627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2000000">
            <a:off x="1932402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4" name="bld1_1513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04924" y="3743931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9494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000000">
            <a:off x="4023269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0" name="bld2_1515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2" name="Shape 20"/>
          <p:cNvSpPr/>
          <p:nvPr/>
        </p:nvSpPr>
        <p:spPr>
          <a:xfrm>
            <a:off x="5573576" y="3544763"/>
            <a:ext cx="1044543" cy="1044543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0361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2000000">
            <a:off x="6114136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6" name="bld3_1517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8" name="Shape 26"/>
          <p:cNvSpPr/>
          <p:nvPr/>
        </p:nvSpPr>
        <p:spPr>
          <a:xfrm>
            <a:off x="7664443" y="3814127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181228" y="3788651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2000000">
            <a:off x="8205003" y="3737697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2" name="bld4_1519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4" name="Shape 32"/>
          <p:cNvSpPr/>
          <p:nvPr/>
        </p:nvSpPr>
        <p:spPr>
          <a:xfrm>
            <a:off x="9677525" y="3474567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272095" y="3445296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12000000">
            <a:off x="10295870" y="3386754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8" name="bld5_1521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350" dirty="0"/>
          </a:p>
        </p:txBody>
      </p:sp>
      <p:sp>
        <p:nvSpPr>
          <p:cNvPr id="40" name="trans_fade_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Juicy realism versus candy effect</a:t>
            </a:r>
            <a:endParaRPr lang="en-US" sz="3200" dirty="0"/>
          </a:p>
        </p:txBody>
      </p:sp>
      <p:sp>
        <p:nvSpPr>
          <p:cNvPr id="7" name="bld1_1522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524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450" dirty="0"/>
          </a:p>
        </p:txBody>
      </p:sp>
      <p:sp>
        <p:nvSpPr>
          <p:cNvPr id="14" name="bld1_1525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sharp-fruity. Top note, short — instantly recognisable, easily tips into "candy" if overdosed.</a:t>
            </a:r>
            <a:endParaRPr lang="en-US" sz="1080" dirty="0"/>
          </a:p>
        </p:txBody>
      </p:sp>
      <p:sp>
        <p:nvSpPr>
          <p:cNvPr id="15" name="bld2_1526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699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090361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611413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1" name="bld2_1528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450" dirty="0"/>
          </a:p>
        </p:txBody>
      </p:sp>
      <p:sp>
        <p:nvSpPr>
          <p:cNvPr id="22" name="bld2_1529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apple-like, gentle fruitiness. Top-heart, medium — a rounder, less sharp fruity effect than most esters.</a:t>
            </a:r>
            <a:endParaRPr lang="en-US" sz="1080" dirty="0"/>
          </a:p>
        </p:txBody>
      </p:sp>
      <p:sp>
        <p:nvSpPr>
          <p:cNvPr id="23" name="bld3_1530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680481" y="2041080"/>
            <a:ext cx="397698" cy="397698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8738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2000000">
            <a:off x="98976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9" name="bld3_1532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450" dirty="0"/>
          </a:p>
        </p:txBody>
      </p:sp>
      <p:sp>
        <p:nvSpPr>
          <p:cNvPr id="30" name="bld3_1533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peach. Heart note, medium-long — the definitive peach material in modern perfumery.</a:t>
            </a:r>
            <a:endParaRPr lang="en-US" sz="1080" dirty="0"/>
          </a:p>
        </p:txBody>
      </p:sp>
      <p:sp>
        <p:nvSpPr>
          <p:cNvPr id="31" name="bld4_1534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3516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06879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2000000">
            <a:off x="2330653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37" name="bld4_1536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450" dirty="0"/>
          </a:p>
        </p:txBody>
      </p:sp>
      <p:sp>
        <p:nvSpPr>
          <p:cNvPr id="38" name="bld4_1537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coconut-peach, milkier than undecalactone. Heart note, medium-long — softer, more gourmand-adjacent.</a:t>
            </a:r>
            <a:endParaRPr lang="en-US" sz="1080" dirty="0"/>
          </a:p>
        </p:txBody>
      </p:sp>
      <p:sp>
        <p:nvSpPr>
          <p:cNvPr id="39" name="bld5_1538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1" name="Shape 39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5" name="bld5_1540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450" dirty="0"/>
          </a:p>
        </p:txBody>
      </p:sp>
      <p:sp>
        <p:nvSpPr>
          <p:cNvPr id="46" name="bld5_1541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pineapple-tropical. Top note, medium — a distinctive tropical-fruit accent used in small amounts.</a:t>
            </a:r>
            <a:endParaRPr lang="en-US" sz="1080" dirty="0"/>
          </a:p>
        </p:txBody>
      </p:sp>
      <p:sp>
        <p:nvSpPr>
          <p:cNvPr id="47" name="bld6_1542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9" name="Shape 4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5" name="bld6_1544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56" name="bld6_1545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Green-fruity, pear-skin freshness. Top note, short — bridges the fruity and green families.</a:t>
            </a:r>
            <a:endParaRPr lang="en-US" sz="1080" dirty="0"/>
          </a:p>
        </p:txBody>
      </p:sp>
      <p:sp>
        <p:nvSpPr>
          <p:cNvPr id="58" name="trans_fade_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5" grpId="0"/>
      <p:bldP spid="5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fruity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1572731" y="1907640"/>
            <a:ext cx="1345156" cy="1345156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239823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2263597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2" name="bld1_1547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800" dirty="0"/>
          </a:p>
        </p:txBody>
      </p:sp>
      <p:sp>
        <p:nvSpPr>
          <p:cNvPr id="13" name="bld1_1548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549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</a:t>
            </a:r>
            <a:endParaRPr lang="en-US" sz="1100" dirty="0"/>
          </a:p>
        </p:txBody>
      </p:sp>
      <p:sp>
        <p:nvSpPr>
          <p:cNvPr id="15" name="bld1_1550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551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definitive peach note</a:t>
            </a:r>
            <a:endParaRPr lang="en-US" sz="1100" dirty="0"/>
          </a:p>
        </p:txBody>
      </p:sp>
      <p:sp>
        <p:nvSpPr>
          <p:cNvPr id="17" name="bld1_1552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553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6070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633161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000000">
            <a:off x="5656936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4" name="bld2_1555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800" dirty="0"/>
          </a:p>
        </p:txBody>
      </p:sp>
      <p:sp>
        <p:nvSpPr>
          <p:cNvPr id="25" name="bld2_1556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557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</a:t>
            </a:r>
            <a:endParaRPr lang="en-US" sz="1100" dirty="0"/>
          </a:p>
        </p:txBody>
      </p:sp>
      <p:sp>
        <p:nvSpPr>
          <p:cNvPr id="27" name="bld2_1558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559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fruity recognition</a:t>
            </a:r>
            <a:endParaRPr lang="en-US" sz="1100" dirty="0"/>
          </a:p>
        </p:txBody>
      </p:sp>
      <p:sp>
        <p:nvSpPr>
          <p:cNvPr id="29" name="bld2_1560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561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9408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026500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2000000">
            <a:off x="9050274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6" name="bld3_1563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800" dirty="0"/>
          </a:p>
        </p:txBody>
      </p:sp>
      <p:sp>
        <p:nvSpPr>
          <p:cNvPr id="37" name="bld3_1564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565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</a:t>
            </a:r>
            <a:endParaRPr lang="en-US" sz="1100" dirty="0"/>
          </a:p>
        </p:txBody>
      </p:sp>
      <p:sp>
        <p:nvSpPr>
          <p:cNvPr id="39" name="bld3_1566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567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tropical accent</a:t>
            </a:r>
            <a:endParaRPr lang="en-US" sz="1100" dirty="0"/>
          </a:p>
        </p:txBody>
      </p:sp>
      <p:sp>
        <p:nvSpPr>
          <p:cNvPr id="41" name="bld3_1568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569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44" name="trans_fade_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7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 rot="15300000">
            <a:off x="1744209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3050000">
            <a:off x="1863638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2067196" y="4016081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550000">
            <a:off x="2270754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300000">
            <a:off x="2390183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6" name="bld1_1571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8" name="Shape 16"/>
          <p:cNvSpPr/>
          <p:nvPr/>
        </p:nvSpPr>
        <p:spPr>
          <a:xfrm rot="15300000">
            <a:off x="4293562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3050000">
            <a:off x="4430778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64654" y="428544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550000">
            <a:off x="4898529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6300000">
            <a:off x="5035745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2_1573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6971377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7090805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7294364" y="4016081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7497922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7617351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3_1575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 rot="15300000">
            <a:off x="9584960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3050000">
            <a:off x="9704389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0800000">
            <a:off x="9907948" y="42854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550000">
            <a:off x="10111506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300000">
            <a:off x="10230935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4_1577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42" name="trans_fade_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4" grpId="0"/>
      <p:bldP spid="32" grpId="0"/>
      <p:bldP spid="4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Precision-controlled leafiness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578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2" name="Shape 10"/>
          <p:cNvSpPr/>
          <p:nvPr/>
        </p:nvSpPr>
        <p:spPr>
          <a:xfrm rot="15300000">
            <a:off x="164625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3050000">
            <a:off x="169975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0800000">
            <a:off x="1790930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550000">
            <a:off x="1882110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300000">
            <a:off x="193560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1580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450" dirty="0"/>
          </a:p>
        </p:txBody>
      </p:sp>
      <p:sp>
        <p:nvSpPr>
          <p:cNvPr id="19" name="bld1_1581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green, slightly floral-leafy. Top note, medium — a modern, versatile green with less bitterness than galbanum.</a:t>
            </a:r>
            <a:endParaRPr lang="en-US" sz="1080" dirty="0"/>
          </a:p>
        </p:txBody>
      </p:sp>
      <p:sp>
        <p:nvSpPr>
          <p:cNvPr id="20" name="bld2_1582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448386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4537362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4628542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471972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477321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28" name="bld2_1584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29" name="bld2_1585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Green-fruity, pear-skin freshness. Top note, short — softer and fruitier than raw leaf alcohol.</a:t>
            </a:r>
            <a:endParaRPr lang="en-US" sz="1080" dirty="0"/>
          </a:p>
        </p:txBody>
      </p:sp>
      <p:sp>
        <p:nvSpPr>
          <p:cNvPr id="30" name="bld3_1586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2" name="Shape 30"/>
          <p:cNvSpPr/>
          <p:nvPr/>
        </p:nvSpPr>
        <p:spPr>
          <a:xfrm rot="15300000">
            <a:off x="7321479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3050000">
            <a:off x="7374974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7466154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8550000">
            <a:off x="7557333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6300000">
            <a:off x="7610829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38" name="bld3_1588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39" name="bld3_1589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fresh, faintly melon-stem. Top note, short-medium — an unusual, modern green-fresh accent.</a:t>
            </a:r>
            <a:endParaRPr lang="en-US" sz="1080" dirty="0"/>
          </a:p>
        </p:txBody>
      </p:sp>
      <p:sp>
        <p:nvSpPr>
          <p:cNvPr id="40" name="bld4_1590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592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Galbanum-style green bases</a:t>
            </a:r>
            <a:endParaRPr lang="en-US" sz="1450" dirty="0"/>
          </a:p>
        </p:txBody>
      </p:sp>
      <p:sp>
        <p:nvSpPr>
          <p:cNvPr id="49" name="bld4_1593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accords built to replace or extend natural galbanum. Top note, medium — consistent bitterness, batch after batch.</a:t>
            </a:r>
            <a:endParaRPr lang="en-US" sz="1080" dirty="0"/>
          </a:p>
        </p:txBody>
      </p:sp>
      <p:sp>
        <p:nvSpPr>
          <p:cNvPr id="51" name="trans_fade_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8" grpId="0"/>
      <p:bldP spid="29" grpId="0"/>
      <p:bldP spid="30" grpId="0"/>
      <p:bldP spid="38" grpId="0"/>
      <p:bldP spid="39" grpId="0"/>
      <p:bldP spid="40" grpId="0"/>
      <p:bldP spid="48" grpId="0"/>
      <p:bldP spid="4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8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761254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1908627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0807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6665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62523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08381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954239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000097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59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 rot="840000">
            <a:off x="3829354" y="3590258"/>
            <a:ext cx="351252" cy="1390374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3999494" y="3758567"/>
            <a:ext cx="914" cy="105375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331" y="3798814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3893019" y="398029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3945707" y="416177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8395" y="434325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1082" y="452473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03770" y="4706217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0" name="bld2_159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2" name="Shape 30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37268" y="3557502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92034" y="3812268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59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49798" y="3648529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28135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82901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2" name="bld4_160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750703" y="3489203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3413" y="3781913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8" name="bld5_160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350" dirty="0"/>
          </a:p>
        </p:txBody>
      </p:sp>
      <p:sp>
        <p:nvSpPr>
          <p:cNvPr id="50" name="trans_fade_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30" grpId="0"/>
      <p:bldP spid="36" grpId="0"/>
      <p:bldP spid="42" grpId="0"/>
      <p:bldP spid="48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Sweetness, warmth, and powderiness on tap</a:t>
            </a:r>
            <a:endParaRPr lang="en-US" sz="3200" dirty="0"/>
          </a:p>
        </p:txBody>
      </p:sp>
      <p:sp>
        <p:nvSpPr>
          <p:cNvPr id="7" name="bld1_160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81230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833944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84868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802328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9787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37247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54707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872167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8" name="bld1_160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19" name="bld1_160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isolated. Base note, very long, richly diffusive — the single most-used gourmand material.</a:t>
            </a:r>
            <a:endParaRPr lang="en-US" sz="1080" dirty="0"/>
          </a:p>
        </p:txBody>
      </p:sp>
      <p:sp>
        <p:nvSpPr>
          <p:cNvPr id="20" name="bld2_160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4618842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4671555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479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4639939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57399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74859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2319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4709779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2_161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450" dirty="0"/>
          </a:p>
        </p:txBody>
      </p:sp>
      <p:sp>
        <p:nvSpPr>
          <p:cNvPr id="32" name="bld2_161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several times stronger than vanillin, less "round." Base note, very long — used in tiny amounts for extra lift.</a:t>
            </a:r>
            <a:endParaRPr lang="en-US" sz="1080" dirty="0"/>
          </a:p>
        </p:txBody>
      </p:sp>
      <p:sp>
        <p:nvSpPr>
          <p:cNvPr id="33" name="bld3_161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40054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37054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9" name="bld3_161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40" name="bld3_161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warmth. Base note, long — a fougère and gourmand cornerstone, softly powdery.</a:t>
            </a:r>
            <a:endParaRPr lang="en-US" sz="1080" dirty="0"/>
          </a:p>
        </p:txBody>
      </p:sp>
      <p:sp>
        <p:nvSpPr>
          <p:cNvPr id="41" name="bld4_161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177666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274666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7" name="bld4_161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48" name="bld4_161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sweetness. Top-heart, medium-long, very diffusive — the defining "sugar trend" material.</a:t>
            </a:r>
            <a:endParaRPr lang="en-US" sz="1080" dirty="0"/>
          </a:p>
        </p:txBody>
      </p:sp>
      <p:sp>
        <p:nvSpPr>
          <p:cNvPr id="49" name="bld5_162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5" name="bld5_162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450" dirty="0"/>
          </a:p>
        </p:txBody>
      </p:sp>
      <p:sp>
        <p:nvSpPr>
          <p:cNvPr id="56" name="bld5_162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breadier sweetness than ethyl maltol. Heart note, medium — a gentler caramelised-sugar effect.</a:t>
            </a:r>
            <a:endParaRPr lang="en-US" sz="1080" dirty="0"/>
          </a:p>
        </p:txBody>
      </p:sp>
      <p:sp>
        <p:nvSpPr>
          <p:cNvPr id="57" name="bld6_162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9" name="Shape 5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502443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4599442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3" name="bld6_162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450" dirty="0"/>
          </a:p>
        </p:txBody>
      </p:sp>
      <p:sp>
        <p:nvSpPr>
          <p:cNvPr id="64" name="bld6_162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almond, faintly floral. Heart-base, medium-long — a classic soft, cosmetic-powder facet.</a:t>
            </a:r>
            <a:endParaRPr lang="en-US" sz="1080" dirty="0"/>
          </a:p>
        </p:txBody>
      </p:sp>
      <p:sp>
        <p:nvSpPr>
          <p:cNvPr id="65" name="bld7_162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340054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437054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71" name="bld7_163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Furaneol</a:t>
            </a:r>
            <a:endParaRPr lang="en-US" sz="1450" dirty="0"/>
          </a:p>
        </p:txBody>
      </p:sp>
      <p:sp>
        <p:nvSpPr>
          <p:cNvPr id="72" name="bld7_163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Caramelised, strawberry-like sweetness. Heart note, medium — an unusual, jammy gourmand accent.</a:t>
            </a:r>
            <a:endParaRPr lang="en-US" sz="1080" dirty="0"/>
          </a:p>
        </p:txBody>
      </p:sp>
      <p:sp>
        <p:nvSpPr>
          <p:cNvPr id="73" name="bld8_163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5" name="Shape 73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10177666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10274666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10278879" y="4276557"/>
            <a:ext cx="914" cy="109124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346779" y="4276557"/>
            <a:ext cx="914" cy="109124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414679" y="4276557"/>
            <a:ext cx="914" cy="109124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82" name="bld8_163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 / cocoa effect bases</a:t>
            </a:r>
            <a:endParaRPr lang="en-US" sz="1450" dirty="0"/>
          </a:p>
        </p:txBody>
      </p:sp>
      <p:sp>
        <p:nvSpPr>
          <p:cNvPr id="83" name="bld8_163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Roasted, dark, bitter-sweet accords built around real coffee and cocoa extracts. Base note, long — a bold modern accent.</a:t>
            </a:r>
            <a:endParaRPr lang="en-US" sz="1080" dirty="0"/>
          </a:p>
        </p:txBody>
      </p:sp>
      <p:sp>
        <p:nvSpPr>
          <p:cNvPr id="85" name="trans_fade_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6" name="Text 8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8" grpId="0"/>
      <p:bldP spid="19" grpId="0"/>
      <p:bldP spid="20" grpId="0"/>
      <p:bldP spid="31" grpId="0"/>
      <p:bldP spid="32" grpId="0"/>
      <p:bldP spid="33" grpId="0"/>
      <p:bldP spid="39" grpId="0"/>
      <p:bldP spid="40" grpId="0"/>
      <p:bldP spid="41" grpId="0"/>
      <p:bldP spid="47" grpId="0"/>
      <p:bldP spid="48" grpId="0"/>
      <p:bldP spid="49" grpId="0"/>
      <p:bldP spid="55" grpId="0"/>
      <p:bldP spid="56" grpId="0"/>
      <p:bldP spid="57" grpId="0"/>
      <p:bldP spid="63" grpId="0"/>
      <p:bldP spid="64" grpId="0"/>
      <p:bldP spid="65" grpId="0"/>
      <p:bldP spid="71" grpId="0"/>
      <p:bldP spid="72" grpId="0"/>
      <p:bldP spid="73" grpId="0"/>
      <p:bldP spid="82" grpId="0"/>
      <p:bldP spid="8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gourmand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" name="Shape 6"/>
          <p:cNvSpPr/>
          <p:nvPr/>
        </p:nvSpPr>
        <p:spPr>
          <a:xfrm rot="840000">
            <a:off x="1581981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58506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3356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1" name="Shape 9"/>
          <p:cNvSpPr/>
          <p:nvPr/>
        </p:nvSpPr>
        <p:spPr>
          <a:xfrm>
            <a:off x="1647960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3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757166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11770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6373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7" name="bld1_1637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18" name="bld1_1638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639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20" name="bld1_1640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641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22" name="bld1_1642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643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5" name="Shape 23"/>
          <p:cNvSpPr/>
          <p:nvPr/>
        </p:nvSpPr>
        <p:spPr>
          <a:xfrm>
            <a:off x="3436316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48662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52014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9" name="bld2_1645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800" dirty="0"/>
          </a:p>
        </p:txBody>
      </p:sp>
      <p:sp>
        <p:nvSpPr>
          <p:cNvPr id="30" name="bld2_1646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647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</a:t>
            </a:r>
            <a:endParaRPr lang="en-US" sz="1100" dirty="0"/>
          </a:p>
        </p:txBody>
      </p:sp>
      <p:sp>
        <p:nvSpPr>
          <p:cNvPr id="32" name="bld2_1648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649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and sweetens</a:t>
            </a:r>
            <a:endParaRPr lang="en-US" sz="1100" dirty="0"/>
          </a:p>
        </p:txBody>
      </p:sp>
      <p:sp>
        <p:nvSpPr>
          <p:cNvPr id="34" name="bld2_1650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651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powdery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79366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82718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1" name="bld3_1653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800" dirty="0"/>
          </a:p>
        </p:txBody>
      </p:sp>
      <p:sp>
        <p:nvSpPr>
          <p:cNvPr id="42" name="bld3_1654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655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</a:t>
            </a:r>
            <a:endParaRPr lang="en-US" sz="1100" dirty="0"/>
          </a:p>
        </p:txBody>
      </p:sp>
      <p:sp>
        <p:nvSpPr>
          <p:cNvPr id="44" name="bld3_1656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657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gourmand lift</a:t>
            </a:r>
            <a:endParaRPr lang="en-US" sz="1100" dirty="0"/>
          </a:p>
        </p:txBody>
      </p:sp>
      <p:sp>
        <p:nvSpPr>
          <p:cNvPr id="46" name="bld3_1658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659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510070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3422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3" name="bld4_1661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800" dirty="0"/>
          </a:p>
        </p:txBody>
      </p:sp>
      <p:sp>
        <p:nvSpPr>
          <p:cNvPr id="54" name="bld4_1662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663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</a:t>
            </a:r>
            <a:endParaRPr lang="en-US" sz="1100" dirty="0"/>
          </a:p>
        </p:txBody>
      </p:sp>
      <p:sp>
        <p:nvSpPr>
          <p:cNvPr id="56" name="bld4_1664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665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soft, cosmetic-powder facet</a:t>
            </a:r>
            <a:endParaRPr lang="en-US" sz="1100" dirty="0"/>
          </a:p>
        </p:txBody>
      </p:sp>
      <p:sp>
        <p:nvSpPr>
          <p:cNvPr id="58" name="bld4_1666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667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61" name="trans_fade_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9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&amp; Marine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4F3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A5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AQUATIC &amp; MARINE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0" name="Shape 8"/>
          <p:cNvSpPr/>
          <p:nvPr/>
        </p:nvSpPr>
        <p:spPr>
          <a:xfrm>
            <a:off x="1538556" y="3379165"/>
            <a:ext cx="1273832" cy="1273832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78677" y="4009712"/>
            <a:ext cx="993589" cy="19107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8677" y="3850483"/>
            <a:ext cx="993589" cy="19107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8677" y="3672147"/>
            <a:ext cx="993589" cy="19107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bld1_1669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188999" y="3743931"/>
            <a:ext cx="1200113" cy="1200113"/>
          </a:xfrm>
          <a:prstGeom prst="ellipse">
            <a:avLst/>
          </a:prstGeom>
          <a:solidFill>
            <a:srgbClr val="4090AF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783569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4807344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1" name="bld2_1671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Melonal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5723" y="3379165"/>
            <a:ext cx="1273832" cy="1273832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905845" y="4009712"/>
            <a:ext cx="993589" cy="19107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905845" y="3850483"/>
            <a:ext cx="993589" cy="19107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905845" y="3672147"/>
            <a:ext cx="993589" cy="19107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8" name="bld3_1673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Helional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9379307" y="3648529"/>
            <a:ext cx="1273832" cy="1273832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19429" y="4279076"/>
            <a:ext cx="993589" cy="19107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9519429" y="4119847"/>
            <a:ext cx="993589" cy="19107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519429" y="3941511"/>
            <a:ext cx="993589" cy="19107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5" name="bld4_1675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Floralozone</a:t>
            </a:r>
            <a:endParaRPr lang="en-US" sz="1350" dirty="0"/>
          </a:p>
        </p:txBody>
      </p:sp>
      <p:sp>
        <p:nvSpPr>
          <p:cNvPr id="37" name="trans_fade_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1" grpId="0"/>
      <p:bldP spid="28" grpId="0"/>
      <p:bldP spid="3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AQUATIC &amp; MARINE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 with no natural equivalent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676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16902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616902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6902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7" name="bld1_1678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450" dirty="0"/>
          </a:p>
        </p:txBody>
      </p:sp>
      <p:sp>
        <p:nvSpPr>
          <p:cNvPr id="18" name="bld1_1679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Watermelon-ozonic, salty-fresh. Top-heart, medium — the material that invented the aquatic family in the 1990s.</a:t>
            </a:r>
            <a:endParaRPr lang="en-US" sz="1080" dirty="0"/>
          </a:p>
        </p:txBody>
      </p:sp>
      <p:sp>
        <p:nvSpPr>
          <p:cNvPr id="19" name="bld2_1680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443102" y="2543056"/>
            <a:ext cx="467880" cy="467880"/>
          </a:xfrm>
          <a:prstGeom prst="ellipse">
            <a:avLst/>
          </a:prstGeom>
          <a:solidFill>
            <a:srgbClr val="4090AF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71555" y="2531644"/>
            <a:ext cx="914" cy="7988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2000000">
            <a:off x="4695330" y="2508821"/>
            <a:ext cx="108411" cy="7417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5" name="bld2_1682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Melonal</a:t>
            </a:r>
            <a:endParaRPr lang="en-US" sz="1450" dirty="0"/>
          </a:p>
        </p:txBody>
      </p:sp>
      <p:sp>
        <p:nvSpPr>
          <p:cNvPr id="26" name="bld2_1683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green-melon, watery. Top note, short-medium — softer and fruitier than pure Calone.</a:t>
            </a:r>
            <a:endParaRPr lang="en-US" sz="1080" dirty="0"/>
          </a:p>
        </p:txBody>
      </p:sp>
      <p:sp>
        <p:nvSpPr>
          <p:cNvPr id="27" name="bld3_1684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229361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292125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292125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292125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34" name="bld3_1686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Helional</a:t>
            </a:r>
            <a:endParaRPr lang="en-US" sz="1450" dirty="0"/>
          </a:p>
        </p:txBody>
      </p:sp>
      <p:sp>
        <p:nvSpPr>
          <p:cNvPr id="35" name="bld3_1687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faintly floral-marine. Top-heart, medium — a more floral, less "salty" take on aquatic freshness.</a:t>
            </a:r>
            <a:endParaRPr lang="en-US" sz="1080" dirty="0"/>
          </a:p>
        </p:txBody>
      </p:sp>
      <p:sp>
        <p:nvSpPr>
          <p:cNvPr id="36" name="bld4_1688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129737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129737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0129737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43" name="bld4_1690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Floralozone</a:t>
            </a:r>
            <a:endParaRPr lang="en-US" sz="1450" dirty="0"/>
          </a:p>
        </p:txBody>
      </p:sp>
      <p:sp>
        <p:nvSpPr>
          <p:cNvPr id="44" name="bld4_1691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Ozonic-floral, lily-of-the-valley adjacent. Top-heart, medium — bridges aquatic and white-floral effects.</a:t>
            </a:r>
            <a:endParaRPr lang="en-US" sz="1080" dirty="0"/>
          </a:p>
        </p:txBody>
      </p:sp>
      <p:sp>
        <p:nvSpPr>
          <p:cNvPr id="46" name="trans_fade_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5" grpId="0"/>
      <p:bldP spid="26" grpId="0"/>
      <p:bldP spid="27" grpId="0"/>
      <p:bldP spid="34" grpId="0"/>
      <p:bldP spid="35" grpId="0"/>
      <p:bldP spid="36" grpId="0"/>
      <p:bldP spid="43" grpId="0"/>
      <p:bldP spid="4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aquatics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8" name="Shape 6"/>
          <p:cNvSpPr/>
          <p:nvPr/>
        </p:nvSpPr>
        <p:spPr>
          <a:xfrm>
            <a:off x="2387727" y="1694383"/>
            <a:ext cx="1640434" cy="1640434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568175" y="2506398"/>
            <a:ext cx="1279538" cy="24606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568175" y="2301344"/>
            <a:ext cx="1279538" cy="24606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568175" y="2071683"/>
            <a:ext cx="1279538" cy="24606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3" name="bld1_1693"/>
          <p:cNvSpPr txBox="1"/>
          <p:nvPr/>
        </p:nvSpPr>
        <p:spPr>
          <a:xfrm>
            <a:off x="685800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800" dirty="0"/>
          </a:p>
        </p:txBody>
      </p:sp>
      <p:sp>
        <p:nvSpPr>
          <p:cNvPr id="14" name="bld1_1694"/>
          <p:cNvSpPr txBox="1"/>
          <p:nvPr/>
        </p:nvSpPr>
        <p:spPr>
          <a:xfrm>
            <a:off x="658368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5" name="bld1_1695"/>
          <p:cNvSpPr txBox="1"/>
          <p:nvPr/>
        </p:nvSpPr>
        <p:spPr>
          <a:xfrm>
            <a:off x="658368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Watermelon-ozonic, salty-fresh</a:t>
            </a:r>
            <a:endParaRPr lang="en-US" sz="1100" dirty="0"/>
          </a:p>
        </p:txBody>
      </p:sp>
      <p:sp>
        <p:nvSpPr>
          <p:cNvPr id="16" name="bld1_1696"/>
          <p:cNvSpPr txBox="1"/>
          <p:nvPr/>
        </p:nvSpPr>
        <p:spPr>
          <a:xfrm>
            <a:off x="658368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7" name="bld1_1697"/>
          <p:cNvSpPr txBox="1"/>
          <p:nvPr/>
        </p:nvSpPr>
        <p:spPr>
          <a:xfrm>
            <a:off x="658368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the aquatic family</a:t>
            </a:r>
            <a:endParaRPr lang="en-US" sz="1100" dirty="0"/>
          </a:p>
        </p:txBody>
      </p:sp>
      <p:sp>
        <p:nvSpPr>
          <p:cNvPr id="18" name="bld1_1698"/>
          <p:cNvSpPr txBox="1"/>
          <p:nvPr/>
        </p:nvSpPr>
        <p:spPr>
          <a:xfrm>
            <a:off x="658368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9" name="bld1_1699"/>
          <p:cNvSpPr txBox="1"/>
          <p:nvPr/>
        </p:nvSpPr>
        <p:spPr>
          <a:xfrm>
            <a:off x="658368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06335" y="1694383"/>
            <a:ext cx="1640434" cy="1640434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886782" y="2506398"/>
            <a:ext cx="1279538" cy="24606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886782" y="2301344"/>
            <a:ext cx="1279538" cy="24606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886782" y="2071683"/>
            <a:ext cx="1279538" cy="24606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26" name="bld2_1701"/>
          <p:cNvSpPr txBox="1"/>
          <p:nvPr/>
        </p:nvSpPr>
        <p:spPr>
          <a:xfrm>
            <a:off x="6004408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Helional</a:t>
            </a:r>
            <a:endParaRPr lang="en-US" sz="1800" dirty="0"/>
          </a:p>
        </p:txBody>
      </p:sp>
      <p:sp>
        <p:nvSpPr>
          <p:cNvPr id="27" name="bld2_1702"/>
          <p:cNvSpPr txBox="1"/>
          <p:nvPr/>
        </p:nvSpPr>
        <p:spPr>
          <a:xfrm>
            <a:off x="5976976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8" name="bld2_1703"/>
          <p:cNvSpPr txBox="1"/>
          <p:nvPr/>
        </p:nvSpPr>
        <p:spPr>
          <a:xfrm>
            <a:off x="5976976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faintly floral-marine</a:t>
            </a:r>
            <a:endParaRPr lang="en-US" sz="1100" dirty="0"/>
          </a:p>
        </p:txBody>
      </p:sp>
      <p:sp>
        <p:nvSpPr>
          <p:cNvPr id="29" name="bld2_1704"/>
          <p:cNvSpPr txBox="1"/>
          <p:nvPr/>
        </p:nvSpPr>
        <p:spPr>
          <a:xfrm>
            <a:off x="5976976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0" name="bld2_1705"/>
          <p:cNvSpPr txBox="1"/>
          <p:nvPr/>
        </p:nvSpPr>
        <p:spPr>
          <a:xfrm>
            <a:off x="5976976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softer, more floral freshness</a:t>
            </a:r>
            <a:endParaRPr lang="en-US" sz="1100" dirty="0"/>
          </a:p>
        </p:txBody>
      </p:sp>
      <p:sp>
        <p:nvSpPr>
          <p:cNvPr id="31" name="bld2_1706"/>
          <p:cNvSpPr txBox="1"/>
          <p:nvPr/>
        </p:nvSpPr>
        <p:spPr>
          <a:xfrm>
            <a:off x="5976976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2" name="bld2_1707"/>
          <p:cNvSpPr txBox="1"/>
          <p:nvPr/>
        </p:nvSpPr>
        <p:spPr>
          <a:xfrm>
            <a:off x="5976976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34" name="trans_fade_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10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Leather, Smoky &amp; Animalic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F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 &amp; SMOKY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1506487" y="3570240"/>
            <a:ext cx="280243" cy="82799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5400000">
            <a:off x="1773992" y="3665777"/>
            <a:ext cx="280243" cy="82799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5400000">
            <a:off x="2041497" y="3761315"/>
            <a:ext cx="280243" cy="82799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bld1_1709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Birch Tar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3205" y="3553669"/>
            <a:ext cx="1463552" cy="146355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9967" y="3919557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384455" y="4163483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3384455" y="4407408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459967" y="4651333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2_1711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Safraleine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621484" y="3697623"/>
            <a:ext cx="9487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555761" y="3909929"/>
            <a:ext cx="1080173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555761" y="4122234"/>
            <a:ext cx="1080173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621484" y="4334539"/>
            <a:ext cx="9487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0" name="bld3_1713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Isobutyl Quinoline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7779088" y="3839604"/>
            <a:ext cx="280243" cy="82799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8046593" y="3935141"/>
            <a:ext cx="280243" cy="82799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8314098" y="4030679"/>
            <a:ext cx="280243" cy="82799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1715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Guaiacol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732568" y="3650193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657057" y="3894119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9657057" y="4138044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9732568" y="4381969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4" name="bld5_1717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Castoreum</a:t>
            </a:r>
            <a:endParaRPr lang="en-US" sz="1350" dirty="0"/>
          </a:p>
        </p:txBody>
      </p:sp>
      <p:sp>
        <p:nvSpPr>
          <p:cNvPr id="46" name="trans_fade_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2" grpId="0"/>
      <p:bldP spid="30" grpId="0"/>
      <p:bldP spid="36" grpId="0"/>
      <p:bldP spid="44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LEATHER, SMOKY &amp; ANIMALIC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Bold, textural, and effect-driven</a:t>
            </a:r>
            <a:endParaRPr lang="en-US" sz="3200" dirty="0"/>
          </a:p>
        </p:txBody>
      </p:sp>
      <p:sp>
        <p:nvSpPr>
          <p:cNvPr id="7" name="bld1_171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2157166" y="2050780"/>
            <a:ext cx="106700" cy="315249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2259015" y="2087155"/>
            <a:ext cx="106700" cy="315249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5400000">
            <a:off x="2360865" y="2123529"/>
            <a:ext cx="106700" cy="315249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13" name="bld1_172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Birch Tar</a:t>
            </a:r>
            <a:endParaRPr lang="en-US" sz="1450" dirty="0"/>
          </a:p>
        </p:txBody>
      </p:sp>
      <p:sp>
        <p:nvSpPr>
          <p:cNvPr id="14" name="bld1_172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tar-like, campfire-leather. Base note, long — a bold smoky accent used in tiny amounts.</a:t>
            </a:r>
            <a:endParaRPr lang="en-US" sz="1080" dirty="0"/>
          </a:p>
        </p:txBody>
      </p:sp>
      <p:sp>
        <p:nvSpPr>
          <p:cNvPr id="15" name="bld2_172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3349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915239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890215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890215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15239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3" name="bld2_172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Safraleine</a:t>
            </a:r>
            <a:endParaRPr lang="en-US" sz="1450" dirty="0"/>
          </a:p>
        </p:txBody>
      </p:sp>
      <p:sp>
        <p:nvSpPr>
          <p:cNvPr id="24" name="bld2_172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Leathery, saffron-adjacent, dry. Heart-base, long — a modern, refined leather facet.</a:t>
            </a:r>
            <a:endParaRPr lang="en-US" sz="1080" dirty="0"/>
          </a:p>
        </p:txBody>
      </p:sp>
      <p:sp>
        <p:nvSpPr>
          <p:cNvPr id="25" name="bld3_172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7" name="Shape 25"/>
          <p:cNvSpPr/>
          <p:nvPr/>
        </p:nvSpPr>
        <p:spPr>
          <a:xfrm>
            <a:off x="9636831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698721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673698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9673698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698721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3" name="bld3_172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Isobutyl Quinoline</a:t>
            </a:r>
            <a:endParaRPr lang="en-US" sz="1450" dirty="0"/>
          </a:p>
        </p:txBody>
      </p:sp>
      <p:sp>
        <p:nvSpPr>
          <p:cNvPr id="34" name="bld3_172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Green-leather, bitter, dry. Heart-base, long — the classic "old leather glove" material.</a:t>
            </a:r>
            <a:endParaRPr lang="en-US" sz="1080" dirty="0"/>
          </a:p>
        </p:txBody>
      </p:sp>
      <p:sp>
        <p:nvSpPr>
          <p:cNvPr id="35" name="bld4_173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 rot="5400000">
            <a:off x="2157166" y="4409932"/>
            <a:ext cx="106700" cy="315249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5400000">
            <a:off x="2259015" y="4446307"/>
            <a:ext cx="106700" cy="315249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5400000">
            <a:off x="2360865" y="4482681"/>
            <a:ext cx="106700" cy="315249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41" name="bld4_173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Guaiacol</a:t>
            </a:r>
            <a:endParaRPr lang="en-US" sz="1450" dirty="0"/>
          </a:p>
        </p:txBody>
      </p:sp>
      <p:sp>
        <p:nvSpPr>
          <p:cNvPr id="42" name="bld4_173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medicinal, faintly sweet. Top-heart, medium — a phenolic smokiness used with a very light hand.</a:t>
            </a:r>
            <a:endParaRPr lang="en-US" sz="1080" dirty="0"/>
          </a:p>
        </p:txBody>
      </p:sp>
      <p:sp>
        <p:nvSpPr>
          <p:cNvPr id="43" name="bld5_173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5" name="Shape 43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1" name="bld5_173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Castoreum-style bases</a:t>
            </a:r>
            <a:endParaRPr lang="en-US" sz="1450" dirty="0"/>
          </a:p>
        </p:txBody>
      </p:sp>
      <p:sp>
        <p:nvSpPr>
          <p:cNvPr id="52" name="bld5_173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leathery, subtly animalic. Base note, very long — built to evoke traditional castoreum without the raw material.</a:t>
            </a:r>
            <a:endParaRPr lang="en-US" sz="1080" dirty="0"/>
          </a:p>
        </p:txBody>
      </p:sp>
      <p:sp>
        <p:nvSpPr>
          <p:cNvPr id="53" name="bld6_173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5" name="Shape 53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1" name="bld6_174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Suederal</a:t>
            </a:r>
            <a:endParaRPr lang="en-US" sz="1450" dirty="0"/>
          </a:p>
        </p:txBody>
      </p:sp>
      <p:sp>
        <p:nvSpPr>
          <p:cNvPr id="62" name="bld6_174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suede-like, powdery-dry. Base note, long — a gentler, wearable leather texture.</a:t>
            </a:r>
            <a:endParaRPr lang="en-US" sz="1080" dirty="0"/>
          </a:p>
        </p:txBody>
      </p:sp>
      <p:sp>
        <p:nvSpPr>
          <p:cNvPr id="64" name="trans_fade_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3" grpId="0"/>
      <p:bldP spid="24" grpId="0"/>
      <p:bldP spid="25" grpId="0"/>
      <p:bldP spid="33" grpId="0"/>
      <p:bldP spid="34" grpId="0"/>
      <p:bldP spid="35" grpId="0"/>
      <p:bldP spid="41" grpId="0"/>
      <p:bldP spid="42" grpId="0"/>
      <p:bldP spid="43" grpId="0"/>
      <p:bldP spid="51" grpId="0"/>
      <p:bldP spid="52" grpId="0"/>
      <p:bldP spid="53" grpId="0"/>
      <p:bldP spid="61" grpId="0"/>
      <p:bldP spid="6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leather-smoky materials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34427" y="2104492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549789" y="2377897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549789" y="2651303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634427" y="2924708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bld1_1743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Safraleine</a:t>
            </a:r>
            <a:endParaRPr lang="en-US" sz="1800" dirty="0"/>
          </a:p>
        </p:txBody>
      </p:sp>
      <p:sp>
        <p:nvSpPr>
          <p:cNvPr id="15" name="bld1_1744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6" name="bld1_1745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Leathery, saffron-adjacent, dry</a:t>
            </a:r>
            <a:endParaRPr lang="en-US" sz="1100" dirty="0"/>
          </a:p>
        </p:txBody>
      </p:sp>
      <p:sp>
        <p:nvSpPr>
          <p:cNvPr id="17" name="bld1_1746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8" name="bld1_1747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modern, refined leather facet</a:t>
            </a:r>
            <a:endParaRPr lang="en-US" sz="1100" dirty="0"/>
          </a:p>
        </p:txBody>
      </p:sp>
      <p:sp>
        <p:nvSpPr>
          <p:cNvPr id="19" name="bld1_1748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0" name="bld1_1749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long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027765" y="2104492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943127" y="2377897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943127" y="2651303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27765" y="2924708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28" name="bld2_1751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Isobutyl Quinoline</a:t>
            </a:r>
            <a:endParaRPr lang="en-US" sz="1800" dirty="0"/>
          </a:p>
        </p:txBody>
      </p:sp>
      <p:sp>
        <p:nvSpPr>
          <p:cNvPr id="29" name="bld2_1752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0" name="bld2_1753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Green-leather, bitter, dry</a:t>
            </a:r>
            <a:endParaRPr lang="en-US" sz="1100" dirty="0"/>
          </a:p>
        </p:txBody>
      </p:sp>
      <p:sp>
        <p:nvSpPr>
          <p:cNvPr id="31" name="bld2_1754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2" name="bld2_1755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old-leather effect</a:t>
            </a:r>
            <a:endParaRPr lang="en-US" sz="1100" dirty="0"/>
          </a:p>
        </p:txBody>
      </p:sp>
      <p:sp>
        <p:nvSpPr>
          <p:cNvPr id="33" name="bld2_1756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4" name="bld2_1757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long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421103" y="2104492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336466" y="2377897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336466" y="2651303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421103" y="2924708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42" name="bld3_1759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Castoreum-style bases</a:t>
            </a:r>
            <a:endParaRPr lang="en-US" sz="1800" dirty="0"/>
          </a:p>
        </p:txBody>
      </p:sp>
      <p:sp>
        <p:nvSpPr>
          <p:cNvPr id="43" name="bld3_1760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4" name="bld3_1761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leathery, subtly animalic</a:t>
            </a:r>
            <a:endParaRPr lang="en-US" sz="1100" dirty="0"/>
          </a:p>
        </p:txBody>
      </p:sp>
      <p:sp>
        <p:nvSpPr>
          <p:cNvPr id="45" name="bld3_1762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6" name="bld3_1763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depth without the raw material</a:t>
            </a:r>
            <a:endParaRPr lang="en-US" sz="1100" dirty="0"/>
          </a:p>
        </p:txBody>
      </p:sp>
      <p:sp>
        <p:nvSpPr>
          <p:cNvPr id="47" name="bld3_1764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8" name="bld3_1765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50" name="trans_fade_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42" grpId="0"/>
      <p:bldP spid="43" grpId="0"/>
      <p:bldP spid="44" grpId="0"/>
      <p:bldP spid="45" grpId="0"/>
      <p:bldP spid="46" grpId="0"/>
      <p:bldP spid="47" grpId="0"/>
      <p:bldP spid="48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rans_fade_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176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278415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38342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38342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78415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217341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217341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4165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7" name="bld1_176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76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9" name="bld2_177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901848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950348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98848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47348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8" name="bld2_177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29" name="bld2_177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30" name="bld3_177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177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37" name="bld3_177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38" name="bld4_177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2" name="bld4_178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43" name="bld4_178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44" name="bld5_178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9" name="Shape 5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0" name="bld5_178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1" name="bld5_178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62" name="bld6_178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4" name="Shape 62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047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8017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8" name="bld6_178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69" name="bld6_178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71" name="trans_fade_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2" name="Text 6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28" grpId="0"/>
      <p:bldP spid="29" grpId="0"/>
      <p:bldP spid="30" grpId="0"/>
      <p:bldP spid="36" grpId="0"/>
      <p:bldP spid="37" grpId="0"/>
      <p:bldP spid="38" grpId="0"/>
      <p:bldP spid="42" grpId="0"/>
      <p:bldP spid="43" grpId="0"/>
      <p:bldP spid="44" grpId="0"/>
      <p:bldP spid="60" grpId="0"/>
      <p:bldP spid="61" grpId="0"/>
      <p:bldP spid="62" grpId="0"/>
      <p:bldP spid="68" grpId="0"/>
      <p:bldP spid="6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rans_fade_1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30 materials, then the next 30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by family, not by impulse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starter-perfumer checklist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31" name="trans_fade_1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rans_fade_1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7" name="bld1_1790"/>
          <p:cNvSpPr txBox="1"/>
          <p:nvPr/>
        </p:nvSpPr>
        <p:spPr>
          <a:xfrm>
            <a:off x="548640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791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792"/>
          <p:cNvSpPr txBox="1"/>
          <p:nvPr/>
        </p:nvSpPr>
        <p:spPr>
          <a:xfrm>
            <a:off x="841248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10" name="bld1_1793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794"/>
          <p:cNvSpPr txBox="1"/>
          <p:nvPr/>
        </p:nvSpPr>
        <p:spPr>
          <a:xfrm>
            <a:off x="841248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2" name="bld1_1795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796"/>
          <p:cNvSpPr txBox="1"/>
          <p:nvPr/>
        </p:nvSpPr>
        <p:spPr>
          <a:xfrm>
            <a:off x="841248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4" name="bld1_1797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1798"/>
          <p:cNvSpPr txBox="1"/>
          <p:nvPr/>
        </p:nvSpPr>
        <p:spPr>
          <a:xfrm>
            <a:off x="841248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6" name="bld2_1799"/>
          <p:cNvSpPr txBox="1"/>
          <p:nvPr/>
        </p:nvSpPr>
        <p:spPr>
          <a:xfrm>
            <a:off x="3402254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7" name="bld2_1800"/>
          <p:cNvSpPr/>
          <p:nvPr/>
        </p:nvSpPr>
        <p:spPr>
          <a:xfrm>
            <a:off x="3402254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801"/>
          <p:cNvSpPr txBox="1"/>
          <p:nvPr/>
        </p:nvSpPr>
        <p:spPr>
          <a:xfrm>
            <a:off x="3694862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9" name="bld2_1802"/>
          <p:cNvSpPr/>
          <p:nvPr/>
        </p:nvSpPr>
        <p:spPr>
          <a:xfrm>
            <a:off x="3402254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803"/>
          <p:cNvSpPr txBox="1"/>
          <p:nvPr/>
        </p:nvSpPr>
        <p:spPr>
          <a:xfrm>
            <a:off x="3694862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1" name="bld2_1804"/>
          <p:cNvSpPr/>
          <p:nvPr/>
        </p:nvSpPr>
        <p:spPr>
          <a:xfrm>
            <a:off x="3402254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bld2_1805"/>
          <p:cNvSpPr txBox="1"/>
          <p:nvPr/>
        </p:nvSpPr>
        <p:spPr>
          <a:xfrm>
            <a:off x="3694862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3" name="bld2_1806"/>
          <p:cNvSpPr/>
          <p:nvPr/>
        </p:nvSpPr>
        <p:spPr>
          <a:xfrm>
            <a:off x="3402254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4" name="bld2_1807"/>
          <p:cNvSpPr txBox="1"/>
          <p:nvPr/>
        </p:nvSpPr>
        <p:spPr>
          <a:xfrm>
            <a:off x="3694862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5" name="bld3_1808"/>
          <p:cNvSpPr txBox="1"/>
          <p:nvPr/>
        </p:nvSpPr>
        <p:spPr>
          <a:xfrm>
            <a:off x="6255868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6" name="bld3_1809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bld3_1810"/>
          <p:cNvSpPr txBox="1"/>
          <p:nvPr/>
        </p:nvSpPr>
        <p:spPr>
          <a:xfrm>
            <a:off x="6548476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8" name="bld3_1811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bld3_1812"/>
          <p:cNvSpPr txBox="1"/>
          <p:nvPr/>
        </p:nvSpPr>
        <p:spPr>
          <a:xfrm>
            <a:off x="6548476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30" name="bld3_1813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31" name="bld3_1814"/>
          <p:cNvSpPr txBox="1"/>
          <p:nvPr/>
        </p:nvSpPr>
        <p:spPr>
          <a:xfrm>
            <a:off x="6548476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2" name="bld4_1815"/>
          <p:cNvSpPr txBox="1"/>
          <p:nvPr/>
        </p:nvSpPr>
        <p:spPr>
          <a:xfrm>
            <a:off x="9109481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3" name="bld4_1816"/>
          <p:cNvSpPr/>
          <p:nvPr/>
        </p:nvSpPr>
        <p:spPr>
          <a:xfrm>
            <a:off x="9109481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817"/>
          <p:cNvSpPr txBox="1"/>
          <p:nvPr/>
        </p:nvSpPr>
        <p:spPr>
          <a:xfrm>
            <a:off x="9402089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5" name="bld4_1818"/>
          <p:cNvSpPr/>
          <p:nvPr/>
        </p:nvSpPr>
        <p:spPr>
          <a:xfrm>
            <a:off x="9109481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bld4_1819"/>
          <p:cNvSpPr txBox="1"/>
          <p:nvPr/>
        </p:nvSpPr>
        <p:spPr>
          <a:xfrm>
            <a:off x="9402089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7" name="bld4_1820"/>
          <p:cNvSpPr/>
          <p:nvPr/>
        </p:nvSpPr>
        <p:spPr>
          <a:xfrm>
            <a:off x="9109481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bld4_1821"/>
          <p:cNvSpPr txBox="1"/>
          <p:nvPr/>
        </p:nvSpPr>
        <p:spPr>
          <a:xfrm>
            <a:off x="9402089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9" name="bld4_1822"/>
          <p:cNvSpPr/>
          <p:nvPr/>
        </p:nvSpPr>
        <p:spPr>
          <a:xfrm>
            <a:off x="9109481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40" name="bld4_1823"/>
          <p:cNvSpPr txBox="1"/>
          <p:nvPr/>
        </p:nvSpPr>
        <p:spPr>
          <a:xfrm>
            <a:off x="9402089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2" name="trans_fade_1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1824"/>
          <p:cNvSpPr txBox="1"/>
          <p:nvPr/>
        </p:nvSpPr>
        <p:spPr>
          <a:xfrm>
            <a:off x="548640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825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826"/>
          <p:cNvSpPr txBox="1"/>
          <p:nvPr/>
        </p:nvSpPr>
        <p:spPr>
          <a:xfrm>
            <a:off x="841248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1827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828"/>
          <p:cNvSpPr txBox="1"/>
          <p:nvPr/>
        </p:nvSpPr>
        <p:spPr>
          <a:xfrm>
            <a:off x="841248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2" name="bld1_1829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830"/>
          <p:cNvSpPr txBox="1"/>
          <p:nvPr/>
        </p:nvSpPr>
        <p:spPr>
          <a:xfrm>
            <a:off x="841248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1831"/>
          <p:cNvSpPr txBox="1"/>
          <p:nvPr/>
        </p:nvSpPr>
        <p:spPr>
          <a:xfrm>
            <a:off x="3402254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bld2_1832"/>
          <p:cNvSpPr/>
          <p:nvPr/>
        </p:nvSpPr>
        <p:spPr>
          <a:xfrm>
            <a:off x="340225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1833"/>
          <p:cNvSpPr txBox="1"/>
          <p:nvPr/>
        </p:nvSpPr>
        <p:spPr>
          <a:xfrm>
            <a:off x="3694862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2_1834"/>
          <p:cNvSpPr/>
          <p:nvPr/>
        </p:nvSpPr>
        <p:spPr>
          <a:xfrm>
            <a:off x="340225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835"/>
          <p:cNvSpPr txBox="1"/>
          <p:nvPr/>
        </p:nvSpPr>
        <p:spPr>
          <a:xfrm>
            <a:off x="3694862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9" name="bld2_1836"/>
          <p:cNvSpPr/>
          <p:nvPr/>
        </p:nvSpPr>
        <p:spPr>
          <a:xfrm>
            <a:off x="340225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837"/>
          <p:cNvSpPr txBox="1"/>
          <p:nvPr/>
        </p:nvSpPr>
        <p:spPr>
          <a:xfrm>
            <a:off x="3694862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1" name="bld3_1838"/>
          <p:cNvSpPr txBox="1"/>
          <p:nvPr/>
        </p:nvSpPr>
        <p:spPr>
          <a:xfrm>
            <a:off x="6255868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2" name="bld3_1839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840"/>
          <p:cNvSpPr txBox="1"/>
          <p:nvPr/>
        </p:nvSpPr>
        <p:spPr>
          <a:xfrm>
            <a:off x="6548476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4" name="bld3_1841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842"/>
          <p:cNvSpPr txBox="1"/>
          <p:nvPr/>
        </p:nvSpPr>
        <p:spPr>
          <a:xfrm>
            <a:off x="6548476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6" name="bld3_1843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844"/>
          <p:cNvSpPr txBox="1"/>
          <p:nvPr/>
        </p:nvSpPr>
        <p:spPr>
          <a:xfrm>
            <a:off x="6548476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8" name="bld4_1845"/>
          <p:cNvSpPr txBox="1"/>
          <p:nvPr/>
        </p:nvSpPr>
        <p:spPr>
          <a:xfrm>
            <a:off x="9109481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9" name="bld4_1846"/>
          <p:cNvSpPr/>
          <p:nvPr/>
        </p:nvSpPr>
        <p:spPr>
          <a:xfrm>
            <a:off x="910948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bld4_1847"/>
          <p:cNvSpPr txBox="1"/>
          <p:nvPr/>
        </p:nvSpPr>
        <p:spPr>
          <a:xfrm>
            <a:off x="9402089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1" name="bld4_1848"/>
          <p:cNvSpPr/>
          <p:nvPr/>
        </p:nvSpPr>
        <p:spPr>
          <a:xfrm>
            <a:off x="9109481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bld4_1849"/>
          <p:cNvSpPr txBox="1"/>
          <p:nvPr/>
        </p:nvSpPr>
        <p:spPr>
          <a:xfrm>
            <a:off x="9402089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3" name="bld4_1850"/>
          <p:cNvSpPr/>
          <p:nvPr/>
        </p:nvSpPr>
        <p:spPr>
          <a:xfrm>
            <a:off x="9109481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851"/>
          <p:cNvSpPr txBox="1"/>
          <p:nvPr/>
        </p:nvSpPr>
        <p:spPr>
          <a:xfrm>
            <a:off x="9402089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6" name="trans_fade_1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1852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4003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4836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1854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5" name="bld1_1855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6" name="bld2_1856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360265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858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1" name="bld2_1859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22" name="bld3_1860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3_1862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9" name="bld3_1863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30" name="bld4_1864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866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1867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41" name="bld5_1868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870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58" name="bld5_1871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59" name="bld6_1872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874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875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67" name="bld7_1876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878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879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77" name="bld8_1880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9" name="Shape 77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4" name="bld8_1882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85" name="bld8_1883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86" name="bld9_1884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8" name="Shape 86"/>
          <p:cNvSpPr/>
          <p:nvPr/>
        </p:nvSpPr>
        <p:spPr>
          <a:xfrm rot="840000">
            <a:off x="8307737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40000">
            <a:off x="836045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137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1" name="Shape 89"/>
          <p:cNvSpPr/>
          <p:nvPr/>
        </p:nvSpPr>
        <p:spPr>
          <a:xfrm>
            <a:off x="832883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2" name="Shape 90"/>
          <p:cNvSpPr/>
          <p:nvPr/>
        </p:nvSpPr>
        <p:spPr>
          <a:xfrm>
            <a:off x="834629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3" name="Shape 91"/>
          <p:cNvSpPr/>
          <p:nvPr/>
        </p:nvSpPr>
        <p:spPr>
          <a:xfrm>
            <a:off x="836375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4" name="Shape 92"/>
          <p:cNvSpPr/>
          <p:nvPr/>
        </p:nvSpPr>
        <p:spPr>
          <a:xfrm>
            <a:off x="8381214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5" name="Shape 93"/>
          <p:cNvSpPr/>
          <p:nvPr/>
        </p:nvSpPr>
        <p:spPr>
          <a:xfrm>
            <a:off x="8398674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7" name="bld9_1886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98" name="bld9_1887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99" name="bld10_1888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1" name="Shape 99"/>
          <p:cNvSpPr/>
          <p:nvPr/>
        </p:nvSpPr>
        <p:spPr>
          <a:xfrm rot="9000000">
            <a:off x="10514777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6000000">
            <a:off x="10451727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1400000">
            <a:off x="10650576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05" name="bld10_1890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106" name="bld10_1891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108" name="trans_fade_1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9" name="Text 10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4" grpId="0"/>
      <p:bldP spid="85" grpId="0"/>
      <p:bldP spid="86" grpId="0"/>
      <p:bldP spid="97" grpId="0"/>
      <p:bldP spid="98" grpId="0"/>
      <p:bldP spid="99" grpId="0"/>
      <p:bldP spid="105" grpId="0"/>
      <p:bldP spid="106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6" name="bld1_189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1_189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8" name="bld1_189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9" name="bld2_189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189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21" name="bld2_189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2" name="bld3_189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89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4" name="bld3_190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6" name="trans_fade_1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1901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1902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903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1904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905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1906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1907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1908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1909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1910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1911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1912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 (plastic + glass)</a:t>
            </a:r>
            <a:endParaRPr lang="en-US" sz="1200" dirty="0"/>
          </a:p>
        </p:txBody>
      </p:sp>
      <p:sp>
        <p:nvSpPr>
          <p:cNvPr id="19" name="bld2_1913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1914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1915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1916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917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1918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919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1920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921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rans_fade_1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rans_fade_1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 at 10%, 1% and 0.1%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Diluting liquids vs. solids, step by step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label a dilution so it's never a mystery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1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1922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92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924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1925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1926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927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928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1929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1930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931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932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1933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1934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93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936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1937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1938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939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1940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1941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1942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943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1944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1945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rans_fade_1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94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94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194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194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195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95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195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195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195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95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95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195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195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95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96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196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196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196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196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196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rans_fade_1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material to labelled bottle</a:t>
            </a:r>
            <a:endParaRPr lang="en-US" sz="3200" dirty="0"/>
          </a:p>
        </p:txBody>
      </p:sp>
      <p:sp>
        <p:nvSpPr>
          <p:cNvPr id="7" name="bld1_1966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6009" y="3212049"/>
            <a:ext cx="1165421" cy="116542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0963" y="3727003"/>
            <a:ext cx="135514" cy="13551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968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</a:t>
            </a:r>
            <a:endParaRPr lang="en-US" sz="1400" dirty="0"/>
          </a:p>
        </p:txBody>
      </p:sp>
      <p:sp>
        <p:nvSpPr>
          <p:cNvPr id="24" name="bld1_1969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you're diluting</a:t>
            </a:r>
            <a:endParaRPr lang="en-US" sz="1050" dirty="0"/>
          </a:p>
        </p:txBody>
      </p:sp>
      <p:sp>
        <p:nvSpPr>
          <p:cNvPr id="25" name="bld2_1970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782568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31633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1633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1633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2" name="bld2_1972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00" dirty="0"/>
          </a:p>
        </p:txBody>
      </p:sp>
      <p:sp>
        <p:nvSpPr>
          <p:cNvPr id="33" name="bld2_1973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Ethanol, DPG or similar</a:t>
            </a:r>
            <a:endParaRPr lang="en-US" sz="1050" dirty="0"/>
          </a:p>
        </p:txBody>
      </p:sp>
      <p:sp>
        <p:nvSpPr>
          <p:cNvPr id="34" name="bld3_1974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3986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43706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14734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0" name="bld3_1976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dilution</a:t>
            </a:r>
            <a:endParaRPr lang="en-US" sz="1400" dirty="0"/>
          </a:p>
        </p:txBody>
      </p:sp>
      <p:sp>
        <p:nvSpPr>
          <p:cNvPr id="41" name="bld3_1977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Weighed, combined, stirred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33158" y="3239152"/>
            <a:ext cx="139634" cy="111122"/>
          </a:xfrm>
          <a:prstGeom prst="roundRect">
            <a:avLst>
              <a:gd name="adj" fmla="val 32915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42265" y="3350274"/>
            <a:ext cx="121421" cy="177794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6153" y="3528068"/>
            <a:ext cx="433645" cy="822299"/>
          </a:xfrm>
          <a:prstGeom prst="roundRect">
            <a:avLst>
              <a:gd name="adj" fmla="val 25304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22729" y="3898103"/>
            <a:ext cx="360493" cy="415689"/>
          </a:xfrm>
          <a:prstGeom prst="roundRect">
            <a:avLst>
              <a:gd name="adj" fmla="val 2536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8" name="bld4_1979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bottle</a:t>
            </a:r>
            <a:endParaRPr lang="en-US" sz="1400" dirty="0"/>
          </a:p>
        </p:txBody>
      </p:sp>
      <p:sp>
        <p:nvSpPr>
          <p:cNvPr id="49" name="bld4_1980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1" name="trans_push_l_1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2" grpId="0"/>
      <p:bldP spid="33" grpId="0"/>
      <p:bldP spid="34" grpId="0"/>
      <p:bldP spid="40" grpId="0"/>
      <p:bldP spid="41" grpId="0"/>
      <p:bldP spid="48" grpId="0"/>
      <p:bldP spid="49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8992021" y="2642885"/>
            <a:ext cx="1111372" cy="1111372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4" name="bld1_19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9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6" name="bld1_198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7" name="bld2_198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98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9" name="bld2_198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20" name="bld3_198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98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2" name="bld3_198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4" name="trans_fade_1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down to 1% and 0.1%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9569" y="2130003"/>
            <a:ext cx="1676278" cy="1676278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8638" y="2549073"/>
            <a:ext cx="838139" cy="838139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dilution is built from the one before it — a chain, not three separate weighings.</a:t>
            </a:r>
            <a:endParaRPr lang="en-US" sz="1050" dirty="0"/>
          </a:p>
        </p:txBody>
      </p:sp>
      <p:sp>
        <p:nvSpPr>
          <p:cNvPr id="14" name="bld1_19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9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straight from raw material</a:t>
            </a:r>
            <a:endParaRPr lang="en-US" sz="1650" dirty="0"/>
          </a:p>
        </p:txBody>
      </p:sp>
      <p:sp>
        <p:nvSpPr>
          <p:cNvPr id="16" name="bld1_199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0.1g material + 9.9g solvent = 10g total, and the material is 1% of that total.</a:t>
            </a:r>
            <a:endParaRPr lang="en-US" sz="1250" dirty="0"/>
          </a:p>
        </p:txBody>
      </p:sp>
      <p:sp>
        <p:nvSpPr>
          <p:cNvPr id="17" name="bld2_199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99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the easier way — from a 10% stock</a:t>
            </a:r>
            <a:endParaRPr lang="en-US" sz="1650" dirty="0"/>
          </a:p>
        </p:txBody>
      </p:sp>
      <p:sp>
        <p:nvSpPr>
          <p:cNvPr id="19" name="bld2_199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existing 10% stock + 9g solvent = 10g at 1%. No need to weigh a tiny 0.1g amount twice.</a:t>
            </a:r>
            <a:endParaRPr lang="en-US" sz="1250" dirty="0"/>
          </a:p>
        </p:txBody>
      </p:sp>
      <p:sp>
        <p:nvSpPr>
          <p:cNvPr id="20" name="bld3_199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99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0.1%, the same trick again</a:t>
            </a:r>
            <a:endParaRPr lang="en-US" sz="1650" dirty="0"/>
          </a:p>
        </p:txBody>
      </p:sp>
      <p:sp>
        <p:nvSpPr>
          <p:cNvPr id="22" name="bld3_199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1% stock + 9g solvent = 10g at 0.1%. Each stock becomes the starting point for the next.</a:t>
            </a:r>
            <a:endParaRPr lang="en-US" sz="1250" dirty="0"/>
          </a:p>
        </p:txBody>
      </p:sp>
      <p:sp>
        <p:nvSpPr>
          <p:cNvPr id="24" name="trans_fade_1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HOW LOW TO 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some materials need lower dilutions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99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00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00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potency</a:t>
            </a:r>
            <a:endParaRPr lang="en-US" sz="1450" dirty="0"/>
          </a:p>
        </p:txBody>
      </p:sp>
      <p:sp>
        <p:nvSpPr>
          <p:cNvPr id="24" name="bld1_200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powerful that even 10% overwhelms a scent strip — 1% or lower reveals their real character.</a:t>
            </a:r>
            <a:endParaRPr lang="en-US" sz="1080" dirty="0"/>
          </a:p>
        </p:txBody>
      </p:sp>
      <p:sp>
        <p:nvSpPr>
          <p:cNvPr id="25" name="bld2_200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00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00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dosing in a formula</a:t>
            </a:r>
            <a:endParaRPr lang="en-US" sz="1450" dirty="0"/>
          </a:p>
        </p:txBody>
      </p:sp>
      <p:sp>
        <p:nvSpPr>
          <p:cNvPr id="28" name="bld2_200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used at 0.05% of a formula needs a dilute stock — otherwise you simply can't weigh a small enough amount of the neat material.</a:t>
            </a:r>
            <a:endParaRPr lang="en-US" sz="1080" dirty="0"/>
          </a:p>
        </p:txBody>
      </p:sp>
      <p:sp>
        <p:nvSpPr>
          <p:cNvPr id="29" name="bld3_200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00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00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usage limits</a:t>
            </a:r>
            <a:endParaRPr lang="en-US" sz="1450" dirty="0"/>
          </a:p>
        </p:txBody>
      </p:sp>
      <p:sp>
        <p:nvSpPr>
          <p:cNvPr id="32" name="bld3_201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and other guidelines cap some materials at very low percentages — a pre-made low dilution keeps you safely under the limit by default.</a:t>
            </a:r>
            <a:endParaRPr lang="en-US" sz="1080" dirty="0"/>
          </a:p>
        </p:txBody>
      </p:sp>
      <p:sp>
        <p:nvSpPr>
          <p:cNvPr id="34" name="trans_fade_1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2011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45695"/>
            <a:ext cx="335397" cy="14906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4117" y="3645695"/>
            <a:ext cx="335397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4117" y="3832026"/>
            <a:ext cx="335397" cy="29813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122" y="4130157"/>
            <a:ext cx="55899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5122" y="3794760"/>
            <a:ext cx="223598" cy="33539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790" y="3608428"/>
            <a:ext cx="409930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094" y="3735134"/>
            <a:ext cx="119252" cy="11925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261" y="3602838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6658" y="3789170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1261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265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5934" y="3565572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2013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00" dirty="0"/>
          </a:p>
        </p:txBody>
      </p:sp>
      <p:sp>
        <p:nvSpPr>
          <p:cNvPr id="23" name="bld1_2014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Precisely, on the scale</a:t>
            </a:r>
            <a:endParaRPr lang="en-US" sz="1050" dirty="0"/>
          </a:p>
        </p:txBody>
      </p:sp>
      <p:sp>
        <p:nvSpPr>
          <p:cNvPr id="24" name="bld2_2015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2964713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13779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13779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13779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1" name="bld2_2017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00" dirty="0"/>
          </a:p>
        </p:txBody>
      </p:sp>
      <p:sp>
        <p:nvSpPr>
          <p:cNvPr id="32" name="bld2_2018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calculated weight</a:t>
            </a:r>
            <a:endParaRPr lang="en-US" sz="1050" dirty="0"/>
          </a:p>
        </p:txBody>
      </p:sp>
      <p:sp>
        <p:nvSpPr>
          <p:cNvPr id="33" name="bld3_2019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5757062" y="3455975"/>
            <a:ext cx="677570" cy="677570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7" name="bld3_2021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00" dirty="0"/>
          </a:p>
        </p:txBody>
      </p:sp>
      <p:sp>
        <p:nvSpPr>
          <p:cNvPr id="38" name="bld3_2022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050" dirty="0"/>
          </a:p>
        </p:txBody>
      </p:sp>
      <p:sp>
        <p:nvSpPr>
          <p:cNvPr id="39" name="bld4_2023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10626" y="3455975"/>
            <a:ext cx="677570" cy="677570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3" name="bld4_2025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00" dirty="0"/>
          </a:p>
        </p:txBody>
      </p:sp>
      <p:sp>
        <p:nvSpPr>
          <p:cNvPr id="44" name="bld4_2026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fully dissolved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25405" y="3117190"/>
            <a:ext cx="1355141" cy="1355141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98333" y="345597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428415" y="3681832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428415" y="3907688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8333" y="413354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2" name="bld5_2028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53" name="bld5_2029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5" name="trans_push_l_1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  <p:bldP spid="52" grpId="0"/>
      <p:bldP spid="53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030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03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2032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2033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2034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035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2036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2037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2038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039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040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2041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rans_fade_1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9" name="trans_fade_1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rans_fade_1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 strip across 48 real hours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record, every single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actually build lasting scent memory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042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2043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2044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045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2046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2047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2048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2049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2050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2051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2052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2053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2054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2055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2056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2057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2058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59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060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061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06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06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064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065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rans_push_l_1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7" name="bld1_2066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6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068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10" name="bld1_2069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11" name="bld2_2070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071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072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4" name="bld2_2073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5" name="bld3_2074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075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076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8" name="bld3_2077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9" name="bld4_2078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079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080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2" name="bld4_2081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3" name="bld5_2082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08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84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6" name="bld5_2085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7" name="bld6_2086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087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088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2089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31" name="bld7_2090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091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092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4" name="bld7_2093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5" name="bld8_2094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095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2096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8" name="bld8_2097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40" name="trans_fade_1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7" name="bld1_209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1_209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9" name="bld1_210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20" name="bld2_210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10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2" name="bld2_210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3" name="bld3_210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10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5" name="bld3_210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7" name="trans_fade_1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2107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10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109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2110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2111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112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113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2114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2115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116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117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2118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2119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120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121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2122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2123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12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125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2126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2127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128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129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2130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2131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132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133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2134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rans_fade_1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actually build scent memory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135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13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137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comparisons</a:t>
            </a:r>
            <a:endParaRPr lang="en-US" sz="1450" dirty="0"/>
          </a:p>
        </p:txBody>
      </p:sp>
      <p:sp>
        <p:nvSpPr>
          <p:cNvPr id="24" name="bld1_2138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unlabelled strips, guess the material, then check — this forces active recall instead of passive sniffing.</a:t>
            </a:r>
            <a:endParaRPr lang="en-US" sz="1080" dirty="0"/>
          </a:p>
        </p:txBody>
      </p:sp>
      <p:sp>
        <p:nvSpPr>
          <p:cNvPr id="25" name="bld2_2139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140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141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monthly</a:t>
            </a:r>
            <a:endParaRPr lang="en-US" sz="1450" dirty="0"/>
          </a:p>
        </p:txBody>
      </p:sp>
      <p:sp>
        <p:nvSpPr>
          <p:cNvPr id="28" name="bld2_2142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Re-smell materials you "know" every few weeks. Memory fades faster than confidence does.</a:t>
            </a:r>
            <a:endParaRPr lang="en-US" sz="1080" dirty="0"/>
          </a:p>
        </p:txBody>
      </p:sp>
      <p:sp>
        <p:nvSpPr>
          <p:cNvPr id="29" name="bld3_2143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144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145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opposites</a:t>
            </a:r>
            <a:endParaRPr lang="en-US" sz="1450" dirty="0"/>
          </a:p>
        </p:txBody>
      </p:sp>
      <p:sp>
        <p:nvSpPr>
          <p:cNvPr id="32" name="bld3_2146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two contrasting materials back to back — a sharp citrus against a soft musk sharpens perception of both.</a:t>
            </a:r>
            <a:endParaRPr lang="en-US" sz="1080" dirty="0"/>
          </a:p>
        </p:txBody>
      </p:sp>
      <p:sp>
        <p:nvSpPr>
          <p:cNvPr id="33" name="bld4_2147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148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149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with association</a:t>
            </a:r>
            <a:endParaRPr lang="en-US" sz="1450" dirty="0"/>
          </a:p>
        </p:txBody>
      </p:sp>
      <p:sp>
        <p:nvSpPr>
          <p:cNvPr id="36" name="bld4_2150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 smell to a vivid image or memory of your own — invented associations stick better than technical descriptions.</a:t>
            </a:r>
            <a:endParaRPr lang="en-US" sz="1080" dirty="0"/>
          </a:p>
        </p:txBody>
      </p:sp>
      <p:sp>
        <p:nvSpPr>
          <p:cNvPr id="38" name="trans_fade_1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rans_fade_1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rans_fade_1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apple, amber and leather into facets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Jean Carles method, step by step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 until it reads true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611544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7" name="bld1_215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15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9" name="bld1_215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20" name="bld2_215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15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22" name="bld2_215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3" name="bld3_215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215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5" name="bld3_215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7" name="trans_fade_1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2160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2162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2163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5" name="bld2_2164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4" name="bld2_2166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25" name="bld2_2167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26" name="bld3_2168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2170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3" name="bld3_2171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2172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131756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106733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106733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131756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2174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3" name="bld4_2175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44" name="bld5_2176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6" name="Shape 44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1" name="Shape 49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2" name="Shape 50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3" name="Shape 51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55" name="bld5_2178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56" name="bld5_2179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57" name="bld6_2180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9" name="Shape 5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5" name="bld6_2182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6" name="bld6_2183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68" name="trans_fade_1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5" grpId="0"/>
      <p:bldP spid="56" grpId="0"/>
      <p:bldP spid="57" grpId="0"/>
      <p:bldP spid="65" grpId="0"/>
      <p:bldP spid="66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2776612" y="3402281"/>
            <a:ext cx="1579096" cy="157909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560674" y="3363767"/>
            <a:ext cx="914" cy="26960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3584448" y="3286738"/>
            <a:ext cx="365888" cy="250344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950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350" dirty="0"/>
          </a:p>
        </p:txBody>
      </p:sp>
      <p:sp>
        <p:nvSpPr>
          <p:cNvPr id="13" name="bld1_2184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5" name="Shape 13"/>
          <p:cNvSpPr/>
          <p:nvPr/>
        </p:nvSpPr>
        <p:spPr>
          <a:xfrm>
            <a:off x="7828544" y="1884944"/>
            <a:ext cx="527792" cy="52779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902435" y="1958835"/>
            <a:ext cx="380010" cy="38001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7993" y="2064393"/>
            <a:ext cx="168893" cy="16889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2186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0" name="bld2_2187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13753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7963237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047578" y="297180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131919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181402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2189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350" dirty="0"/>
          </a:p>
        </p:txBody>
      </p:sp>
      <p:sp>
        <p:nvSpPr>
          <p:cNvPr id="29" name="bld3_2190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1" name="Shape 29"/>
          <p:cNvSpPr/>
          <p:nvPr/>
        </p:nvSpPr>
        <p:spPr>
          <a:xfrm>
            <a:off x="7876045" y="3599477"/>
            <a:ext cx="432789" cy="432789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86954" y="358892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2000000">
            <a:off x="8110728" y="356781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5" name="bld3_2192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350" dirty="0"/>
          </a:p>
        </p:txBody>
      </p:sp>
      <p:sp>
        <p:nvSpPr>
          <p:cNvPr id="36" name="bld4_2193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876045" y="4422437"/>
            <a:ext cx="432789" cy="432789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6954" y="441188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8110728" y="439077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4_2195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350" dirty="0"/>
          </a:p>
        </p:txBody>
      </p:sp>
      <p:sp>
        <p:nvSpPr>
          <p:cNvPr id="43" name="bld5_2196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9EC24C">
                <a:alpha val="75000"/>
              </a:srgbClr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828544" y="5176784"/>
            <a:ext cx="527792" cy="52779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65490" y="5213730"/>
            <a:ext cx="453901" cy="45390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66050" y="5414290"/>
            <a:ext cx="52779" cy="5277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9" name="bld5_2198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350" dirty="0"/>
          </a:p>
        </p:txBody>
      </p:sp>
      <p:sp>
        <p:nvSpPr>
          <p:cNvPr id="60" name="bld6_2199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2" name="Shape 60"/>
          <p:cNvSpPr/>
          <p:nvPr/>
        </p:nvSpPr>
        <p:spPr>
          <a:xfrm>
            <a:off x="7828544" y="5999744"/>
            <a:ext cx="527792" cy="52779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895895" y="6131692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868664" y="6219657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868664" y="6307623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895895" y="6395588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8" name="bld6_2201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350" dirty="0"/>
          </a:p>
        </p:txBody>
      </p:sp>
      <p:sp>
        <p:nvSpPr>
          <p:cNvPr id="70" name="trans_push_l_1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8" grpId="0"/>
      <p:bldP spid="29" grpId="0"/>
      <p:bldP spid="35" grpId="0"/>
      <p:bldP spid="36" grpId="0"/>
      <p:bldP spid="42" grpId="0"/>
      <p:bldP spid="43" grpId="0"/>
      <p:bldP spid="59" grpId="0"/>
      <p:bldP spid="60" grpId="0"/>
      <p:bldP spid="6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20" name="bld1_220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1_220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22" name="bld1_2204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23" name="bld2_220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2_2206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5" name="bld2_2207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6" name="bld3_2208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3_2209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8" name="bld3_2210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9" name="bld4_2211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0" name="bld4_2212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31" name="bld4_2213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33" name="trans_fade_1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AMBER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convincing amber from scratch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3084728" y="3671883"/>
            <a:ext cx="1116921" cy="111692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2834384" y="3556339"/>
            <a:ext cx="693262" cy="69326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3623932" y="3440796"/>
            <a:ext cx="577718" cy="57771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17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350" dirty="0"/>
          </a:p>
        </p:txBody>
      </p:sp>
      <p:sp>
        <p:nvSpPr>
          <p:cNvPr id="13" name="bld1_2214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7920373" y="19905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7830898" y="19492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8113088" y="19079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1_2216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Resinous depth</a:t>
            </a:r>
            <a:endParaRPr lang="en-US" sz="1350" dirty="0"/>
          </a:p>
        </p:txBody>
      </p:sp>
      <p:sp>
        <p:nvSpPr>
          <p:cNvPr id="20" name="bld2_2217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920373" y="30192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7830898" y="29779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8113088" y="29366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2_2219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7" name="bld3_2220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9" name="Shape 27"/>
          <p:cNvSpPr/>
          <p:nvPr/>
        </p:nvSpPr>
        <p:spPr>
          <a:xfrm rot="9000000">
            <a:off x="7920373" y="40479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000000">
            <a:off x="7830898" y="40066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1400000">
            <a:off x="8113088" y="39653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2222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Radiance</a:t>
            </a:r>
            <a:endParaRPr lang="en-US" sz="1350" dirty="0"/>
          </a:p>
        </p:txBody>
      </p:sp>
      <p:sp>
        <p:nvSpPr>
          <p:cNvPr id="34" name="bld4_2223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5" name="Shape 33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09848" y="4908012"/>
            <a:ext cx="165185" cy="653855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40000">
            <a:off x="8086954" y="4987163"/>
            <a:ext cx="914" cy="49555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15010" y="500609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39787" y="5091436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64565" y="517678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089343" y="526212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14120" y="5347472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8898" y="543281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4" name="Shape 42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5" name="bld4_2225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Powdery warmth</a:t>
            </a:r>
            <a:endParaRPr lang="en-US" sz="1350" dirty="0"/>
          </a:p>
        </p:txBody>
      </p:sp>
      <p:sp>
        <p:nvSpPr>
          <p:cNvPr id="46" name="bld5_2226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47" name="Shape 45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879077" y="5953919"/>
            <a:ext cx="426727" cy="619442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86954" y="6057159"/>
            <a:ext cx="914" cy="37854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5_2228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grip</a:t>
            </a:r>
            <a:endParaRPr lang="en-US" sz="1350" dirty="0"/>
          </a:p>
        </p:txBody>
      </p:sp>
      <p:sp>
        <p:nvSpPr>
          <p:cNvPr id="53" name="trans_push_l_1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6" grpId="0"/>
      <p:bldP spid="27" grpId="0"/>
      <p:bldP spid="33" grpId="0"/>
      <p:bldP spid="34" grpId="0"/>
      <p:bldP spid="45" grpId="0"/>
      <p:bldP spid="46" grpId="0"/>
      <p:bldP spid="5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LEATHER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smoky, animalic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849037" y="3633368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749680" y="3954323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9680" y="4275277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849037" y="4596232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5C42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</a:t>
            </a:r>
            <a:endParaRPr lang="en-US" sz="1350" dirty="0"/>
          </a:p>
        </p:txBody>
      </p:sp>
      <p:sp>
        <p:nvSpPr>
          <p:cNvPr id="15" name="bld1_2229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16" name="Shape 14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7650236" y="17066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63095" y="19277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717464" y="20751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17464" y="22225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63095" y="23699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3" name="bld1_2231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 bitterness</a:t>
            </a:r>
            <a:endParaRPr lang="en-US" sz="1350" dirty="0"/>
          </a:p>
        </p:txBody>
      </p:sp>
      <p:sp>
        <p:nvSpPr>
          <p:cNvPr id="24" name="bld2_2232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 rot="5400000">
            <a:off x="7809430" y="3210897"/>
            <a:ext cx="194570" cy="574865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7995155" y="3277228"/>
            <a:ext cx="194570" cy="574865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5400000">
            <a:off x="8180881" y="3343558"/>
            <a:ext cx="194570" cy="574865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0" name="bld2_2234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Smokiness</a:t>
            </a:r>
            <a:endParaRPr lang="en-US" sz="1350" dirty="0"/>
          </a:p>
        </p:txBody>
      </p:sp>
      <p:sp>
        <p:nvSpPr>
          <p:cNvPr id="31" name="bld3_2235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32" name="Shape 30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7650236" y="44498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63095" y="46709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7717464" y="48183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7717464" y="49657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7763095" y="51131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3_2237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softness</a:t>
            </a:r>
            <a:endParaRPr lang="en-US" sz="1350" dirty="0"/>
          </a:p>
        </p:txBody>
      </p:sp>
      <p:sp>
        <p:nvSpPr>
          <p:cNvPr id="40" name="bld4_2238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2" name="Shape 40"/>
          <p:cNvSpPr/>
          <p:nvPr/>
        </p:nvSpPr>
        <p:spPr>
          <a:xfrm>
            <a:off x="7650236" y="58214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763095" y="60425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717464" y="61899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7717464" y="63373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763095" y="64847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8" name="bld4_2240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Animalic warmth</a:t>
            </a:r>
            <a:endParaRPr lang="en-US" sz="1350" dirty="0"/>
          </a:p>
        </p:txBody>
      </p:sp>
      <p:sp>
        <p:nvSpPr>
          <p:cNvPr id="50" name="trans_push_l_1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3" grpId="0"/>
      <p:bldP spid="24" grpId="0"/>
      <p:bldP spid="30" grpId="0"/>
      <p:bldP spid="31" grpId="0"/>
      <p:bldP spid="39" grpId="0"/>
      <p:bldP spid="40" grpId="0"/>
      <p:bldP spid="48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 TRY AT HOME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accords worth building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241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1768107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4320000">
            <a:off x="1899159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640000">
            <a:off x="1849101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2960000">
            <a:off x="1687112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7280000">
            <a:off x="1637055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770960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0" name="bld1_2243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31" name="bld1_2244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Phenylethyl alcohol + citronellol + geraniol, with a trace of rose oxide for sparkle.</a:t>
            </a:r>
            <a:endParaRPr lang="en-US" sz="1080" dirty="0"/>
          </a:p>
        </p:txBody>
      </p:sp>
      <p:sp>
        <p:nvSpPr>
          <p:cNvPr id="32" name="bld2_2245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4" name="Shape 32"/>
          <p:cNvSpPr/>
          <p:nvPr/>
        </p:nvSpPr>
        <p:spPr>
          <a:xfrm rot="840000">
            <a:off x="4608571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840000">
            <a:off x="4671555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12851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7" name="Shape 35"/>
          <p:cNvSpPr/>
          <p:nvPr/>
        </p:nvSpPr>
        <p:spPr>
          <a:xfrm>
            <a:off x="4633392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8" name="Shape 36"/>
          <p:cNvSpPr/>
          <p:nvPr/>
        </p:nvSpPr>
        <p:spPr>
          <a:xfrm>
            <a:off x="4653933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4674474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4695015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15556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2_2247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44" name="bld2_2248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as the core, softened with coumarin and rounded with a trace of benzoin.</a:t>
            </a:r>
            <a:endParaRPr lang="en-US" sz="1080" dirty="0"/>
          </a:p>
        </p:txBody>
      </p:sp>
      <p:sp>
        <p:nvSpPr>
          <p:cNvPr id="45" name="bld3_2249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7229361" y="246888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4458" y="256397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9" name="Shape 47"/>
          <p:cNvSpPr/>
          <p:nvPr/>
        </p:nvSpPr>
        <p:spPr>
          <a:xfrm>
            <a:off x="7419556" y="265907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80418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1" name="Shape 49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3_2251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53" name="bld3_2252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for volume, sandalwood or Javanol for cream, cedarwood for dry structure.</a:t>
            </a:r>
            <a:endParaRPr lang="en-US" sz="1080" dirty="0"/>
          </a:p>
        </p:txBody>
      </p:sp>
      <p:sp>
        <p:nvSpPr>
          <p:cNvPr id="54" name="bld4_2253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6" name="Shape 54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2" name="bld4_2255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3" name="bld4_2256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for the cut-leaf bite, stemone for green freshness, a trace of galbanum for bitterness.</a:t>
            </a:r>
            <a:endParaRPr lang="en-US" sz="1080" dirty="0"/>
          </a:p>
        </p:txBody>
      </p:sp>
      <p:sp>
        <p:nvSpPr>
          <p:cNvPr id="65" name="trans_fade_1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30" grpId="0"/>
      <p:bldP spid="31" grpId="0"/>
      <p:bldP spid="32" grpId="0"/>
      <p:bldP spid="43" grpId="0"/>
      <p:bldP spid="44" grpId="0"/>
      <p:bldP spid="45" grpId="0"/>
      <p:bldP spid="52" grpId="0"/>
      <p:bldP spid="53" grpId="0"/>
      <p:bldP spid="54" grpId="0"/>
      <p:bldP spid="62" grpId="0"/>
      <p:bldP spid="6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rans_fade_1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3" name="bld1_225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bld1_225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5" name="bld1_225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6" name="bld2_226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2_226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8" name="bld2_226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9" name="bld3_226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26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21" name="bld3_226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3" name="trans_fade_1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26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26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226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226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227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27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227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227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227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27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227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227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227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27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228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228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228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228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228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228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rans_fade_1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2286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87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288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2289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2290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291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292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293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2294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2295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296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297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298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2299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2300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01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02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03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2304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2305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306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307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308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2309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rans_push_l_1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rans_fade_1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06.1 · ACCORDS &amp; BASES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 +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Accords, Bases &amp;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Perfumery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are only the alphabet. This module teaches you to build words, phrases — and eventually a story.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Accords vs. bases — a clear, visual distinction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and specialities, used honestly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and modify your own base library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 + YEV</a:t>
            </a:r>
            <a:endParaRPr lang="en-US" sz="1250" dirty="0"/>
          </a:p>
        </p:txBody>
      </p:sp>
      <p:sp>
        <p:nvSpPr>
          <p:cNvPr id="20" name="trans_fade_1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8449056"/>
            <a:ext cx="12801600" cy="128016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71455" y="-6016752"/>
            <a:ext cx="7936992" cy="7936992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professional perfumery actually works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914" cy="3017520"/>
          </a:xfrm>
          <a:prstGeom prst="line">
            <a:avLst/>
          </a:prstGeom>
          <a:noFill/>
          <a:ln w="19050">
            <a:solidFill>
              <a:srgbClr val="3B382F"/>
            </a:solidFill>
            <a:prstDash val="solid"/>
          </a:ln>
        </p:spPr>
      </p:sp>
      <p:sp>
        <p:nvSpPr>
          <p:cNvPr id="7" name="bld1_2310"/>
          <p:cNvSpPr/>
          <p:nvPr/>
        </p:nvSpPr>
        <p:spPr>
          <a:xfrm>
            <a:off x="740664" y="2066544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8" name="bld1_2311"/>
          <p:cNvSpPr txBox="1"/>
          <p:nvPr/>
        </p:nvSpPr>
        <p:spPr>
          <a:xfrm>
            <a:off x="1143000" y="194767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bld1_2312"/>
          <p:cNvSpPr txBox="1"/>
          <p:nvPr/>
        </p:nvSpPr>
        <p:spPr>
          <a:xfrm>
            <a:off x="1737360" y="2008163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 </a:t>
            </a:r>
            <a:pPr indent="0" marL="0">
              <a:buNone/>
            </a:pPr>
            <a:r>
              <a:rPr lang="en-US" sz="2000" i="1" dirty="0">
                <a:solidFill>
                  <a:srgbClr val="CFC5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the alphabet</a:t>
            </a:r>
            <a:endParaRPr lang="en-US" sz="2000" dirty="0"/>
          </a:p>
        </p:txBody>
      </p:sp>
      <p:sp>
        <p:nvSpPr>
          <p:cNvPr id="10" name="bld2_2313"/>
          <p:cNvSpPr/>
          <p:nvPr/>
        </p:nvSpPr>
        <p:spPr>
          <a:xfrm>
            <a:off x="740664" y="3072384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bld2_2314"/>
          <p:cNvSpPr txBox="1"/>
          <p:nvPr/>
        </p:nvSpPr>
        <p:spPr>
          <a:xfrm>
            <a:off x="1143000" y="295351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bld2_2315"/>
          <p:cNvSpPr txBox="1"/>
          <p:nvPr/>
        </p:nvSpPr>
        <p:spPr>
          <a:xfrm>
            <a:off x="1737360" y="29858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 </a:t>
            </a:r>
            <a:pPr indent="0" marL="0">
              <a:buNone/>
            </a:pPr>
            <a:r>
              <a:rPr lang="en-US" sz="2400" i="1" dirty="0">
                <a:solidFill>
                  <a:srgbClr val="CFC5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words</a:t>
            </a:r>
            <a:endParaRPr lang="en-US" sz="2400" dirty="0"/>
          </a:p>
        </p:txBody>
      </p:sp>
      <p:sp>
        <p:nvSpPr>
          <p:cNvPr id="13" name="bld3_2316"/>
          <p:cNvSpPr/>
          <p:nvPr/>
        </p:nvSpPr>
        <p:spPr>
          <a:xfrm>
            <a:off x="740664" y="4078224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3_2317"/>
          <p:cNvSpPr txBox="1"/>
          <p:nvPr/>
        </p:nvSpPr>
        <p:spPr>
          <a:xfrm>
            <a:off x="1143000" y="39593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bld3_2318"/>
          <p:cNvSpPr txBox="1"/>
          <p:nvPr/>
        </p:nvSpPr>
        <p:spPr>
          <a:xfrm>
            <a:off x="1737360" y="39635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  </a:t>
            </a:r>
            <a:pPr indent="0" marL="0">
              <a:buNone/>
            </a:pPr>
            <a:r>
              <a:rPr lang="en-US" sz="2800" i="1" dirty="0">
                <a:solidFill>
                  <a:srgbClr val="CFC5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phrases</a:t>
            </a:r>
            <a:endParaRPr lang="en-US" sz="2800" dirty="0"/>
          </a:p>
        </p:txBody>
      </p:sp>
      <p:sp>
        <p:nvSpPr>
          <p:cNvPr id="16" name="bld4_2319"/>
          <p:cNvSpPr/>
          <p:nvPr/>
        </p:nvSpPr>
        <p:spPr>
          <a:xfrm>
            <a:off x="740664" y="5084064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4_2320"/>
          <p:cNvSpPr txBox="1"/>
          <p:nvPr/>
        </p:nvSpPr>
        <p:spPr>
          <a:xfrm>
            <a:off x="1143000" y="49651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bld4_2321"/>
          <p:cNvSpPr txBox="1"/>
          <p:nvPr/>
        </p:nvSpPr>
        <p:spPr>
          <a:xfrm>
            <a:off x="1737360" y="4927209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PERFUME  </a:t>
            </a:r>
            <a:pPr indent="0" marL="0">
              <a:buNone/>
            </a:pPr>
            <a:r>
              <a:rPr lang="en-US" sz="3400" i="1" dirty="0">
                <a:solidFill>
                  <a:srgbClr val="CFC5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story</a:t>
            </a:r>
            <a:endParaRPr lang="en-US" sz="3400" dirty="0"/>
          </a:p>
        </p:txBody>
      </p:sp>
      <p:sp>
        <p:nvSpPr>
          <p:cNvPr id="20" name="trans_fade_1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ACCORDS VS. BASES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7" name="bld1_232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32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Several materials, one idea</a:t>
            </a:r>
            <a:endParaRPr lang="en-US" sz="1650" dirty="0"/>
          </a:p>
        </p:txBody>
      </p:sp>
      <p:sp>
        <p:nvSpPr>
          <p:cNvPr id="19" name="bld1_232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materials combined so completely that you smell one recognisable impression — "rose," not three separate chemicals.</a:t>
            </a:r>
            <a:endParaRPr lang="en-US" sz="1250" dirty="0"/>
          </a:p>
        </p:txBody>
      </p:sp>
      <p:sp>
        <p:nvSpPr>
          <p:cNvPr id="20" name="bld2_232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2_232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doesn't have to be realistic</a:t>
            </a:r>
            <a:endParaRPr lang="en-US" sz="1650" dirty="0"/>
          </a:p>
        </p:txBody>
      </p:sp>
      <p:sp>
        <p:nvSpPr>
          <p:cNvPr id="22" name="bld2_232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accord's job can be texture, colour, atmosphere or abstraction — not just recreating a real flower or fruit.</a:t>
            </a:r>
            <a:endParaRPr lang="en-US" sz="1250" dirty="0"/>
          </a:p>
        </p:txBody>
      </p:sp>
      <p:sp>
        <p:nvSpPr>
          <p:cNvPr id="23" name="bld3_232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4" name="bld3_232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everything after this</a:t>
            </a:r>
            <a:endParaRPr lang="en-US" sz="1650" dirty="0"/>
          </a:p>
        </p:txBody>
      </p:sp>
      <p:sp>
        <p:nvSpPr>
          <p:cNvPr id="25" name="bld3_233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base, and every finished perfume, is really a composition of accords working together.</a:t>
            </a:r>
            <a:endParaRPr lang="en-US" sz="1250" dirty="0"/>
          </a:p>
        </p:txBody>
      </p:sp>
      <p:sp>
        <p:nvSpPr>
          <p:cNvPr id="27" name="trans_fade_1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materials, combined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143000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32501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432501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9999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49999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9166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533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5509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010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5509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08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174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1_2332"/>
          <p:cNvSpPr txBox="1"/>
          <p:nvPr/>
        </p:nvSpPr>
        <p:spPr>
          <a:xfrm>
            <a:off x="-1135310" y="4599432"/>
            <a:ext cx="4556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materials</a:t>
            </a:r>
            <a:endParaRPr lang="en-US" sz="1250" dirty="0"/>
          </a:p>
        </p:txBody>
      </p:sp>
      <p:sp>
        <p:nvSpPr>
          <p:cNvPr id="22" name="bld2_2333"/>
          <p:cNvSpPr txBox="1"/>
          <p:nvPr/>
        </p:nvSpPr>
        <p:spPr>
          <a:xfrm>
            <a:off x="1938528" y="3410712"/>
            <a:ext cx="3361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5803422" y="3410895"/>
            <a:ext cx="584850" cy="584850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2_2335"/>
          <p:cNvSpPr txBox="1"/>
          <p:nvPr/>
        </p:nvSpPr>
        <p:spPr>
          <a:xfrm>
            <a:off x="3817538" y="4599432"/>
            <a:ext cx="4556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Combined, in ratio</a:t>
            </a:r>
            <a:endParaRPr lang="en-US" sz="1250" dirty="0"/>
          </a:p>
        </p:txBody>
      </p:sp>
      <p:sp>
        <p:nvSpPr>
          <p:cNvPr id="27" name="bld3_2336"/>
          <p:cNvSpPr txBox="1"/>
          <p:nvPr/>
        </p:nvSpPr>
        <p:spPr>
          <a:xfrm>
            <a:off x="6891376" y="3410712"/>
            <a:ext cx="3361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39300" y="3293925"/>
            <a:ext cx="818790" cy="81879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A6402A"/>
            </a:solidFill>
            <a:prstDash val="solid"/>
          </a:ln>
        </p:spPr>
      </p:sp>
      <p:sp>
        <p:nvSpPr>
          <p:cNvPr id="31" name="bld3_2338"/>
          <p:cNvSpPr txBox="1"/>
          <p:nvPr/>
        </p:nvSpPr>
        <p:spPr>
          <a:xfrm>
            <a:off x="8770385" y="4599432"/>
            <a:ext cx="4556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recognisable smell</a:t>
            </a:r>
            <a:endParaRPr lang="en-US" sz="1500" dirty="0"/>
          </a:p>
        </p:txBody>
      </p:sp>
      <p:sp>
        <p:nvSpPr>
          <p:cNvPr id="33" name="trans_push_l_1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6" grpId="0"/>
      <p:bldP spid="27" grpId="0"/>
      <p:bldP spid="3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ACCORDS YOU SHOULD RECOGNISE BY NAME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accords worth knowing</a:t>
            </a:r>
            <a:endParaRPr lang="en-US" sz="3200" dirty="0"/>
          </a:p>
        </p:txBody>
      </p:sp>
      <p:sp>
        <p:nvSpPr>
          <p:cNvPr id="7" name="bld1_2339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495044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60643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563889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1426199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1383650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2341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accord</a:t>
            </a:r>
            <a:endParaRPr lang="en-US" sz="1450" dirty="0"/>
          </a:p>
        </p:txBody>
      </p:sp>
      <p:sp>
        <p:nvSpPr>
          <p:cNvPr id="17" name="bld1_2342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rosy floral built from several materials.</a:t>
            </a:r>
            <a:endParaRPr lang="en-US" sz="1080" dirty="0"/>
          </a:p>
        </p:txBody>
      </p:sp>
      <p:sp>
        <p:nvSpPr>
          <p:cNvPr id="18" name="bld2_2343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0" name="Shape 18"/>
          <p:cNvSpPr/>
          <p:nvPr/>
        </p:nvSpPr>
        <p:spPr>
          <a:xfrm>
            <a:off x="362690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820272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000000">
            <a:off x="384404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4" name="bld2_2345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accord</a:t>
            </a:r>
            <a:endParaRPr lang="en-US" sz="1450" dirty="0"/>
          </a:p>
        </p:txBody>
      </p:sp>
      <p:sp>
        <p:nvSpPr>
          <p:cNvPr id="25" name="bld2_2346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juicy, crisp fruit character.</a:t>
            </a:r>
            <a:endParaRPr lang="en-US" sz="1080" dirty="0"/>
          </a:p>
        </p:txBody>
      </p:sp>
      <p:sp>
        <p:nvSpPr>
          <p:cNvPr id="26" name="bld3_2347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2349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accord</a:t>
            </a:r>
            <a:endParaRPr lang="en-US" sz="1450" dirty="0"/>
          </a:p>
        </p:txBody>
      </p:sp>
      <p:sp>
        <p:nvSpPr>
          <p:cNvPr id="33" name="bld3_2350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2351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8123438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185328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160305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160305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185328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2353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accord</a:t>
            </a:r>
            <a:endParaRPr lang="en-US" sz="1450" dirty="0"/>
          </a:p>
        </p:txBody>
      </p:sp>
      <p:sp>
        <p:nvSpPr>
          <p:cNvPr id="43" name="bld4_2354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 texture.</a:t>
            </a:r>
            <a:endParaRPr lang="en-US" sz="1080" dirty="0"/>
          </a:p>
        </p:txBody>
      </p:sp>
      <p:sp>
        <p:nvSpPr>
          <p:cNvPr id="44" name="bld5_2355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471828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517299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594802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672304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717776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5_2357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 accord</a:t>
            </a:r>
            <a:endParaRPr lang="en-US" sz="1450" dirty="0"/>
          </a:p>
        </p:txBody>
      </p:sp>
      <p:sp>
        <p:nvSpPr>
          <p:cNvPr id="53" name="bld5_2358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 freshness.</a:t>
            </a:r>
            <a:endParaRPr lang="en-US" sz="1080" dirty="0"/>
          </a:p>
        </p:txBody>
      </p:sp>
      <p:sp>
        <p:nvSpPr>
          <p:cNvPr id="54" name="bld6_2359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6" name="Shape 54"/>
          <p:cNvSpPr/>
          <p:nvPr/>
        </p:nvSpPr>
        <p:spPr>
          <a:xfrm rot="840000">
            <a:off x="1497469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40000">
            <a:off x="1550182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01106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1518566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1536026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1" name="Shape 59"/>
          <p:cNvSpPr/>
          <p:nvPr/>
        </p:nvSpPr>
        <p:spPr>
          <a:xfrm>
            <a:off x="1553486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2" name="Shape 60"/>
          <p:cNvSpPr/>
          <p:nvPr/>
        </p:nvSpPr>
        <p:spPr>
          <a:xfrm>
            <a:off x="1570946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3" name="Shape 61"/>
          <p:cNvSpPr/>
          <p:nvPr/>
        </p:nvSpPr>
        <p:spPr>
          <a:xfrm>
            <a:off x="1588406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5" name="bld6_2361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 accord</a:t>
            </a:r>
            <a:endParaRPr lang="en-US" sz="1450" dirty="0"/>
          </a:p>
        </p:txBody>
      </p:sp>
      <p:sp>
        <p:nvSpPr>
          <p:cNvPr id="66" name="bld6_2362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gourmand comfort.</a:t>
            </a:r>
            <a:endParaRPr lang="en-US" sz="1080" dirty="0"/>
          </a:p>
        </p:txBody>
      </p:sp>
      <p:sp>
        <p:nvSpPr>
          <p:cNvPr id="67" name="bld7_2363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69" name="Shape 67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3636609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636609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3636609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4" name="bld7_2365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accord</a:t>
            </a:r>
            <a:endParaRPr lang="en-US" sz="1450" dirty="0"/>
          </a:p>
        </p:txBody>
      </p:sp>
      <p:sp>
        <p:nvSpPr>
          <p:cNvPr id="75" name="bld7_2366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watery, oceanic freshness.</a:t>
            </a:r>
            <a:endParaRPr lang="en-US" sz="1080" dirty="0"/>
          </a:p>
        </p:txBody>
      </p:sp>
      <p:sp>
        <p:nvSpPr>
          <p:cNvPr id="76" name="bld8_2367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8" name="Shape 76"/>
          <p:cNvSpPr/>
          <p:nvPr/>
        </p:nvSpPr>
        <p:spPr>
          <a:xfrm>
            <a:off x="5872749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0" name="bld8_2369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accord</a:t>
            </a:r>
            <a:endParaRPr lang="en-US" sz="1450" dirty="0"/>
          </a:p>
        </p:txBody>
      </p:sp>
      <p:sp>
        <p:nvSpPr>
          <p:cNvPr id="81" name="bld8_2370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soft, radiant.</a:t>
            </a:r>
            <a:endParaRPr lang="en-US" sz="1080" dirty="0"/>
          </a:p>
        </p:txBody>
      </p:sp>
      <p:sp>
        <p:nvSpPr>
          <p:cNvPr id="82" name="bld9_2371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4" name="Shape 82"/>
          <p:cNvSpPr/>
          <p:nvPr/>
        </p:nvSpPr>
        <p:spPr>
          <a:xfrm>
            <a:off x="8123438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85" name="Shape 83"/>
          <p:cNvSpPr/>
          <p:nvPr/>
        </p:nvSpPr>
        <p:spPr>
          <a:xfrm>
            <a:off x="8244688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336837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88" name="bld9_2373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 accord</a:t>
            </a:r>
            <a:endParaRPr lang="en-US" sz="1450" dirty="0"/>
          </a:p>
        </p:txBody>
      </p:sp>
      <p:sp>
        <p:nvSpPr>
          <p:cNvPr id="89" name="bld9_2374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milky, warm woodiness.</a:t>
            </a:r>
            <a:endParaRPr lang="en-US" sz="1080" dirty="0"/>
          </a:p>
        </p:txBody>
      </p:sp>
      <p:sp>
        <p:nvSpPr>
          <p:cNvPr id="91" name="trans_fade_1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2" name="Text 8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2" grpId="0"/>
      <p:bldP spid="53" grpId="0"/>
      <p:bldP spid="54" grpId="0"/>
      <p:bldP spid="65" grpId="0"/>
      <p:bldP spid="66" grpId="0"/>
      <p:bldP spid="67" grpId="0"/>
      <p:bldP spid="74" grpId="0"/>
      <p:bldP spid="75" grpId="0"/>
      <p:bldP spid="76" grpId="0"/>
      <p:bldP spid="80" grpId="0"/>
      <p:bldP spid="81" grpId="0"/>
      <p:bldP spid="82" grpId="0"/>
      <p:bldP spid="88" grpId="0"/>
      <p:bldP spid="89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REALISM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accord doesn't have to smell "real"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375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37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2377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Texture</a:t>
            </a:r>
            <a:endParaRPr lang="en-US" sz="1450" dirty="0"/>
          </a:p>
        </p:txBody>
      </p:sp>
      <p:sp>
        <p:nvSpPr>
          <p:cNvPr id="13" name="bld1_2378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physical-feeling quality — soft, dry, powdery, fuzzy.</a:t>
            </a:r>
            <a:endParaRPr lang="en-US" sz="1080" dirty="0"/>
          </a:p>
        </p:txBody>
      </p:sp>
      <p:sp>
        <p:nvSpPr>
          <p:cNvPr id="14" name="bld2_2379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380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2381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</a:t>
            </a:r>
            <a:endParaRPr lang="en-US" sz="1450" dirty="0"/>
          </a:p>
        </p:txBody>
      </p:sp>
      <p:sp>
        <p:nvSpPr>
          <p:cNvPr id="17" name="bld2_2382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tonal quality — dark, bright, transparent, golden.</a:t>
            </a:r>
            <a:endParaRPr lang="en-US" sz="1080" dirty="0"/>
          </a:p>
        </p:txBody>
      </p:sp>
      <p:sp>
        <p:nvSpPr>
          <p:cNvPr id="18" name="bld3_2383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384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2385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Atmosphere</a:t>
            </a:r>
            <a:endParaRPr lang="en-US" sz="1450" dirty="0"/>
          </a:p>
        </p:txBody>
      </p:sp>
      <p:sp>
        <p:nvSpPr>
          <p:cNvPr id="21" name="bld3_2386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mood or setting — a rainy street, a warm room.</a:t>
            </a:r>
            <a:endParaRPr lang="en-US" sz="1080" dirty="0"/>
          </a:p>
        </p:txBody>
      </p:sp>
      <p:sp>
        <p:nvSpPr>
          <p:cNvPr id="22" name="bld4_2387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88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2389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Abstraction</a:t>
            </a:r>
            <a:endParaRPr lang="en-US" sz="1450" dirty="0"/>
          </a:p>
        </p:txBody>
      </p:sp>
      <p:sp>
        <p:nvSpPr>
          <p:cNvPr id="25" name="bld4_2390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with no real-world equivalent at all.</a:t>
            </a:r>
            <a:endParaRPr lang="en-US" sz="1080" dirty="0"/>
          </a:p>
        </p:txBody>
      </p:sp>
      <p:sp>
        <p:nvSpPr>
          <p:cNvPr id="26" name="bld5_2391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2392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5_2393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</a:t>
            </a:r>
            <a:endParaRPr lang="en-US" sz="1450" dirty="0"/>
          </a:p>
        </p:txBody>
      </p:sp>
      <p:sp>
        <p:nvSpPr>
          <p:cNvPr id="29" name="bld5_2394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Reinforcing another accord rather than standing alone.</a:t>
            </a:r>
            <a:endParaRPr lang="en-US" sz="1080" dirty="0"/>
          </a:p>
        </p:txBody>
      </p:sp>
      <p:sp>
        <p:nvSpPr>
          <p:cNvPr id="31" name="trans_fade_1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ACCORDS VS. BASES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base?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22860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9569" y="2130003"/>
            <a:ext cx="1676278" cy="1676278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8638" y="2549073"/>
            <a:ext cx="838139" cy="838139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is layered, like a formula nested inside a formula.</a:t>
            </a:r>
            <a:endParaRPr lang="en-US" sz="1050" dirty="0"/>
          </a:p>
        </p:txBody>
      </p:sp>
      <p:sp>
        <p:nvSpPr>
          <p:cNvPr id="14" name="bld1_239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1_239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pre-composed mixture with a job</a:t>
            </a:r>
            <a:endParaRPr lang="en-US" sz="1650" dirty="0"/>
          </a:p>
        </p:txBody>
      </p:sp>
      <p:sp>
        <p:nvSpPr>
          <p:cNvPr id="16" name="bld1_239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is built in advance to deliver a specific olfactory effect or structural function — floral, woody, musk, amber, leather, fruit, or purely functional.</a:t>
            </a:r>
            <a:endParaRPr lang="en-US" sz="1250" dirty="0"/>
          </a:p>
        </p:txBody>
      </p:sp>
      <p:sp>
        <p:nvSpPr>
          <p:cNvPr id="17" name="bld2_239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bld2_239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 behave like a single raw material</a:t>
            </a:r>
            <a:endParaRPr lang="en-US" sz="1650" dirty="0"/>
          </a:p>
        </p:txBody>
      </p:sp>
      <p:sp>
        <p:nvSpPr>
          <p:cNvPr id="19" name="bld2_240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 base, even one containing dozens of materials, can be dropped into a formula and treated much like one complex ingredient.</a:t>
            </a:r>
            <a:endParaRPr lang="en-US" sz="1250" dirty="0"/>
          </a:p>
        </p:txBody>
      </p:sp>
      <p:sp>
        <p:nvSpPr>
          <p:cNvPr id="20" name="bld3_240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3_240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reconstruction or proprietary speciality</a:t>
            </a:r>
            <a:endParaRPr lang="en-US" sz="1650" dirty="0"/>
          </a:p>
        </p:txBody>
      </p:sp>
      <p:sp>
        <p:nvSpPr>
          <p:cNvPr id="22" name="bld3_240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bases rebuild a real smell (a rose, a fruit); others are original, proprietary effects unique to the house that built them.</a:t>
            </a:r>
            <a:endParaRPr lang="en-US" sz="1250" dirty="0"/>
          </a:p>
        </p:txBody>
      </p:sp>
      <p:sp>
        <p:nvSpPr>
          <p:cNvPr id="24" name="trans_fade_1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formula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your formula.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100" dirty="0"/>
          </a:p>
        </p:txBody>
      </p:sp>
      <p:sp>
        <p:nvSpPr>
          <p:cNvPr id="10" name="trans_fade_1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BASE BECOMES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+ your own work = a new perfume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>
            <a:off x="558150" y="3118470"/>
            <a:ext cx="1169700" cy="1169700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21908" y="3282228"/>
            <a:ext cx="842184" cy="842184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55848" y="3516168"/>
            <a:ext cx="374304" cy="374304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2405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50" dirty="0"/>
          </a:p>
        </p:txBody>
      </p:sp>
      <p:sp>
        <p:nvSpPr>
          <p:cNvPr id="13" name="bld2_2406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5" name="Shape 13"/>
          <p:cNvSpPr/>
          <p:nvPr/>
        </p:nvSpPr>
        <p:spPr>
          <a:xfrm>
            <a:off x="3210029" y="3293925"/>
            <a:ext cx="818790" cy="81879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7" name="bld2_2408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250" dirty="0"/>
          </a:p>
        </p:txBody>
      </p:sp>
      <p:sp>
        <p:nvSpPr>
          <p:cNvPr id="18" name="bld3_2409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095848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5348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6385348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02847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5902847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42013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44381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48357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37858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48357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65855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05021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3" name="bld3_2411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materials</a:t>
            </a:r>
            <a:endParaRPr lang="en-US" sz="1250" dirty="0"/>
          </a:p>
        </p:txBody>
      </p:sp>
      <p:sp>
        <p:nvSpPr>
          <p:cNvPr id="34" name="bld4_2412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 rot="8100000">
            <a:off x="8279846" y="3410895"/>
            <a:ext cx="584850" cy="584850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4_2414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idea</a:t>
            </a:r>
            <a:endParaRPr lang="en-US" sz="1250" dirty="0"/>
          </a:p>
        </p:txBody>
      </p:sp>
      <p:sp>
        <p:nvSpPr>
          <p:cNvPr id="39" name="bld5_2415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988432" y="3223743"/>
            <a:ext cx="120526" cy="95915"/>
          </a:xfrm>
          <a:prstGeom prst="roundRect">
            <a:avLst>
              <a:gd name="adj" fmla="val 38134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996293" y="3319658"/>
            <a:ext cx="104805" cy="153465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861543" y="3473123"/>
            <a:ext cx="374304" cy="709774"/>
          </a:xfrm>
          <a:prstGeom prst="roundRect">
            <a:avLst>
              <a:gd name="adj" fmla="val 29315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98119" y="3792521"/>
            <a:ext cx="301152" cy="353800"/>
          </a:xfrm>
          <a:prstGeom prst="roundRect">
            <a:avLst>
              <a:gd name="adj" fmla="val 30363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C1752F"/>
            </a:solidFill>
            <a:prstDash val="solid"/>
          </a:ln>
        </p:spPr>
      </p:sp>
      <p:sp>
        <p:nvSpPr>
          <p:cNvPr id="46" name="bld5_2417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perfume</a:t>
            </a:r>
            <a:endParaRPr lang="en-US" sz="1500" dirty="0"/>
          </a:p>
        </p:txBody>
      </p:sp>
      <p:sp>
        <p:nvSpPr>
          <p:cNvPr id="48" name="trans_push_l_1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7" grpId="0"/>
      <p:bldP spid="18" grpId="0"/>
      <p:bldP spid="33" grpId="0"/>
      <p:bldP spid="34" grpId="0"/>
      <p:bldP spid="38" grpId="0"/>
      <p:bldP spid="39" grpId="0"/>
      <p:bldP spid="46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PERFUMERS USE BASES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cheating — it's professional practice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418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41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420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</a:t>
            </a:r>
            <a:endParaRPr lang="en-US" sz="1450" dirty="0"/>
          </a:p>
        </p:txBody>
      </p:sp>
      <p:sp>
        <p:nvSpPr>
          <p:cNvPr id="24" name="bld1_2421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polished effect in one drop, instead of days of trial and error.</a:t>
            </a:r>
            <a:endParaRPr lang="en-US" sz="1080" dirty="0"/>
          </a:p>
        </p:txBody>
      </p:sp>
      <p:sp>
        <p:nvSpPr>
          <p:cNvPr id="25" name="bld2_2422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423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424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</a:t>
            </a:r>
            <a:endParaRPr lang="en-US" sz="1450" dirty="0"/>
          </a:p>
        </p:txBody>
      </p:sp>
      <p:sp>
        <p:nvSpPr>
          <p:cNvPr id="28" name="bld2_2425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reliable result, batch after batch.</a:t>
            </a:r>
            <a:endParaRPr lang="en-US" sz="1080" dirty="0"/>
          </a:p>
        </p:txBody>
      </p:sp>
      <p:sp>
        <p:nvSpPr>
          <p:cNvPr id="29" name="bld3_2426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27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428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</a:t>
            </a:r>
            <a:endParaRPr lang="en-US" sz="1450" dirty="0"/>
          </a:p>
        </p:txBody>
      </p:sp>
      <p:sp>
        <p:nvSpPr>
          <p:cNvPr id="32" name="bld3_2429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materials' worth of nuance in a single ingredient.</a:t>
            </a:r>
            <a:endParaRPr lang="en-US" sz="1080" dirty="0"/>
          </a:p>
        </p:txBody>
      </p:sp>
      <p:sp>
        <p:nvSpPr>
          <p:cNvPr id="33" name="bld4_2430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431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432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 effects</a:t>
            </a:r>
            <a:endParaRPr lang="en-US" sz="1450" dirty="0"/>
          </a:p>
        </p:txBody>
      </p:sp>
      <p:sp>
        <p:nvSpPr>
          <p:cNvPr id="36" name="bld4_2433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structures are genuinely hard to build alone, at any skill level.</a:t>
            </a:r>
            <a:endParaRPr lang="en-US" sz="1080" dirty="0"/>
          </a:p>
        </p:txBody>
      </p:sp>
      <p:sp>
        <p:nvSpPr>
          <p:cNvPr id="37" name="bld5_2434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2435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2436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reconstructions</a:t>
            </a:r>
            <a:endParaRPr lang="en-US" sz="1450" dirty="0"/>
          </a:p>
        </p:txBody>
      </p:sp>
      <p:sp>
        <p:nvSpPr>
          <p:cNvPr id="40" name="bld5_2437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flowers barely yield usable natural extracts — bases fill the gap.</a:t>
            </a:r>
            <a:endParaRPr lang="en-US" sz="1080" dirty="0"/>
          </a:p>
        </p:txBody>
      </p:sp>
      <p:sp>
        <p:nvSpPr>
          <p:cNvPr id="42" name="trans_fade_1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PERFUMERS USE BASES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more genuine advantages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438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43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2440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Polish</a:t>
            </a:r>
            <a:endParaRPr lang="en-US" sz="1450" dirty="0"/>
          </a:p>
        </p:txBody>
      </p:sp>
      <p:sp>
        <p:nvSpPr>
          <p:cNvPr id="24" name="bld1_2441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refined, "finished" quality that raw materials alone rarely give instantly.</a:t>
            </a:r>
            <a:endParaRPr lang="en-US" sz="1080" dirty="0"/>
          </a:p>
        </p:txBody>
      </p:sp>
      <p:sp>
        <p:nvSpPr>
          <p:cNvPr id="25" name="bld2_2442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443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2444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1450" dirty="0"/>
          </a:p>
        </p:txBody>
      </p:sp>
      <p:sp>
        <p:nvSpPr>
          <p:cNvPr id="28" name="bld2_2445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ready-made skeleton to build the rest of a formula around.</a:t>
            </a:r>
            <a:endParaRPr lang="en-US" sz="1080" dirty="0"/>
          </a:p>
        </p:txBody>
      </p:sp>
      <p:sp>
        <p:nvSpPr>
          <p:cNvPr id="29" name="bld3_2446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47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448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Multi-material effects</a:t>
            </a:r>
            <a:endParaRPr lang="en-US" sz="1450" dirty="0"/>
          </a:p>
        </p:txBody>
      </p:sp>
      <p:sp>
        <p:nvSpPr>
          <p:cNvPr id="32" name="bld3_2449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that would otherwise require ten or more separate ingredients.</a:t>
            </a:r>
            <a:endParaRPr lang="en-US" sz="1080" dirty="0"/>
          </a:p>
        </p:txBody>
      </p:sp>
      <p:sp>
        <p:nvSpPr>
          <p:cNvPr id="33" name="bld4_2450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451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5" name="bld4_2452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reference point for beginners</a:t>
            </a:r>
            <a:endParaRPr lang="en-US" sz="1450" dirty="0"/>
          </a:p>
        </p:txBody>
      </p:sp>
      <p:sp>
        <p:nvSpPr>
          <p:cNvPr id="36" name="bld4_2453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reliable to compare your own attempts against.</a:t>
            </a:r>
            <a:endParaRPr lang="en-US" sz="1080" dirty="0"/>
          </a:p>
        </p:txBody>
      </p:sp>
      <p:sp>
        <p:nvSpPr>
          <p:cNvPr id="37" name="bld5_2454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2455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9" name="bld5_2456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for experienced perfumers</a:t>
            </a:r>
            <a:endParaRPr lang="en-US" sz="1450" dirty="0"/>
          </a:p>
        </p:txBody>
      </p:sp>
      <p:sp>
        <p:nvSpPr>
          <p:cNvPr id="40" name="bld5_2457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professionals reach for a trusted base to work faster, not because they can't build it themselves.</a:t>
            </a:r>
            <a:endParaRPr lang="en-US" sz="1080" dirty="0"/>
          </a:p>
        </p:txBody>
      </p:sp>
      <p:sp>
        <p:nvSpPr>
          <p:cNvPr id="42" name="trans_fade_1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BASE PROPERLY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"drop 20% and stop"</a:t>
            </a:r>
            <a:endParaRPr lang="en-US" sz="3200" dirty="0"/>
          </a:p>
        </p:txBody>
      </p:sp>
      <p:sp>
        <p:nvSpPr>
          <p:cNvPr id="7" name="bld1_2458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>
            <a:off x="548024" y="3154064"/>
            <a:ext cx="1281393" cy="1281393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27419" y="3333459"/>
            <a:ext cx="922603" cy="922603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83697" y="3589737"/>
            <a:ext cx="410046" cy="410046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2460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00" dirty="0"/>
          </a:p>
        </p:txBody>
      </p:sp>
      <p:sp>
        <p:nvSpPr>
          <p:cNvPr id="14" name="bld1_2461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starting structure</a:t>
            </a:r>
            <a:endParaRPr lang="en-US" sz="1050" dirty="0"/>
          </a:p>
        </p:txBody>
      </p:sp>
      <p:sp>
        <p:nvSpPr>
          <p:cNvPr id="15" name="bld2_2462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7" name="Shape 15"/>
          <p:cNvSpPr/>
          <p:nvPr/>
        </p:nvSpPr>
        <p:spPr>
          <a:xfrm rot="8100000">
            <a:off x="2831223" y="3474412"/>
            <a:ext cx="640696" cy="640696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2_2464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sweetness</a:t>
            </a:r>
            <a:endParaRPr lang="en-US" sz="1400" dirty="0"/>
          </a:p>
        </p:txBody>
      </p:sp>
      <p:sp>
        <p:nvSpPr>
          <p:cNvPr id="20" name="bld2_2465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back what's too loud</a:t>
            </a:r>
            <a:endParaRPr lang="en-US" sz="1050" dirty="0"/>
          </a:p>
        </p:txBody>
      </p:sp>
      <p:sp>
        <p:nvSpPr>
          <p:cNvPr id="21" name="bld3_2466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5024725" y="3154064"/>
            <a:ext cx="179395" cy="6406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5302154" y="3314238"/>
            <a:ext cx="179395" cy="6406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5302154" y="3634586"/>
            <a:ext cx="179395" cy="6406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024725" y="3794760"/>
            <a:ext cx="179395" cy="6406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4747295" y="3634586"/>
            <a:ext cx="179395" cy="6406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4747295" y="3314238"/>
            <a:ext cx="179395" cy="6406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960655" y="3640993"/>
            <a:ext cx="307534" cy="30753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3_2468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diffusion</a:t>
            </a:r>
            <a:endParaRPr lang="en-US" sz="1400" dirty="0"/>
          </a:p>
        </p:txBody>
      </p:sp>
      <p:sp>
        <p:nvSpPr>
          <p:cNvPr id="32" name="bld3_2469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up space</a:t>
            </a:r>
            <a:endParaRPr lang="en-US" sz="1050" dirty="0"/>
          </a:p>
        </p:txBody>
      </p:sp>
      <p:sp>
        <p:nvSpPr>
          <p:cNvPr id="33" name="bld4_2470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5" name="Shape 33"/>
          <p:cNvSpPr/>
          <p:nvPr/>
        </p:nvSpPr>
        <p:spPr>
          <a:xfrm>
            <a:off x="6436577" y="3154064"/>
            <a:ext cx="1281393" cy="1281393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526274" y="3243761"/>
            <a:ext cx="1101998" cy="11019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7" name="Shape 35"/>
          <p:cNvSpPr/>
          <p:nvPr/>
        </p:nvSpPr>
        <p:spPr>
          <a:xfrm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216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432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648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296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512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728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9440000">
            <a:off x="7045238" y="3282203"/>
            <a:ext cx="64070" cy="499743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013203" y="3730690"/>
            <a:ext cx="128139" cy="12813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9" name="bld4_2472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freshness</a:t>
            </a:r>
            <a:endParaRPr lang="en-US" sz="1400" dirty="0"/>
          </a:p>
        </p:txBody>
      </p:sp>
      <p:sp>
        <p:nvSpPr>
          <p:cNvPr id="50" name="bld4_2473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opening</a:t>
            </a:r>
            <a:endParaRPr lang="en-US" sz="1050" dirty="0"/>
          </a:p>
        </p:txBody>
      </p:sp>
      <p:sp>
        <p:nvSpPr>
          <p:cNvPr id="51" name="bld5_2474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399428" y="3154064"/>
            <a:ext cx="1281393" cy="12813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4" name="Shape 52"/>
          <p:cNvSpPr/>
          <p:nvPr/>
        </p:nvSpPr>
        <p:spPr>
          <a:xfrm>
            <a:off x="8559602" y="3314238"/>
            <a:ext cx="961044" cy="96104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19776" y="3474412"/>
            <a:ext cx="640696" cy="64069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8879950" y="3634586"/>
            <a:ext cx="320348" cy="3203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63241" y="3717876"/>
            <a:ext cx="153767" cy="153767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5_2476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texture</a:t>
            </a:r>
            <a:endParaRPr lang="en-US" sz="1400" dirty="0"/>
          </a:p>
        </p:txBody>
      </p:sp>
      <p:sp>
        <p:nvSpPr>
          <p:cNvPr id="60" name="bld5_2477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grain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2" name="Shape 60"/>
          <p:cNvSpPr/>
          <p:nvPr/>
        </p:nvSpPr>
        <p:spPr>
          <a:xfrm rot="9000000">
            <a:off x="10682627" y="3500040"/>
            <a:ext cx="743208" cy="7432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000000">
            <a:off x="10516046" y="3423156"/>
            <a:ext cx="461301" cy="46130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1400000">
            <a:off x="11041417" y="3346273"/>
            <a:ext cx="384418" cy="38441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6" name="bld6_2479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drydown</a:t>
            </a:r>
            <a:endParaRPr lang="en-US" sz="1400" dirty="0"/>
          </a:p>
        </p:txBody>
      </p:sp>
      <p:sp>
        <p:nvSpPr>
          <p:cNvPr id="67" name="bld6_2480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the ending</a:t>
            </a:r>
            <a:endParaRPr lang="en-US" sz="1050" dirty="0"/>
          </a:p>
        </p:txBody>
      </p:sp>
      <p:sp>
        <p:nvSpPr>
          <p:cNvPr id="69" name="trans_push_l_1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19" grpId="0"/>
      <p:bldP spid="20" grpId="0"/>
      <p:bldP spid="21" grpId="0"/>
      <p:bldP spid="31" grpId="0"/>
      <p:bldP spid="32" grpId="0"/>
      <p:bldP spid="33" grpId="0"/>
      <p:bldP spid="49" grpId="0"/>
      <p:bldP spid="50" grpId="0"/>
      <p:bldP spid="51" grpId="0"/>
      <p:bldP spid="59" grpId="0"/>
      <p:bldP spid="60" grpId="0"/>
      <p:bldP spid="66" grpId="0"/>
      <p:bldP spid="67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&amp; SPECIALITIES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the industry's building blocks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8567085" y="2102734"/>
            <a:ext cx="1961245" cy="1961245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41659" y="2377308"/>
            <a:ext cx="1412097" cy="1412097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33908" y="2769558"/>
            <a:ext cx="627599" cy="6275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goal: recognise the shape of a professional base card, and what to listen for when a supplier describes one.</a:t>
            </a:r>
            <a:endParaRPr lang="en-US" sz="1050" dirty="0"/>
          </a:p>
        </p:txBody>
      </p:sp>
      <p:sp>
        <p:nvSpPr>
          <p:cNvPr id="16" name="bld1_24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1_24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card follows the same structure</a:t>
            </a:r>
            <a:endParaRPr lang="en-US" sz="1650" dirty="0"/>
          </a:p>
        </p:txBody>
      </p:sp>
      <p:sp>
        <p:nvSpPr>
          <p:cNvPr id="18" name="bld1_248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type, general odour profile, main effect, typical role, and how it can be modified — practical character, not confidential formulas.</a:t>
            </a:r>
            <a:endParaRPr lang="en-US" sz="1250" dirty="0"/>
          </a:p>
        </p:txBody>
      </p:sp>
      <p:sp>
        <p:nvSpPr>
          <p:cNvPr id="19" name="bld2_248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2_248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 on character, never composition</a:t>
            </a:r>
            <a:endParaRPr lang="en-US" sz="1650" dirty="0"/>
          </a:p>
        </p:txBody>
      </p:sp>
      <p:sp>
        <p:nvSpPr>
          <p:cNvPr id="21" name="bld2_248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describe what a base smells like and does — never its exact internal percentages, which suppliers keep proprietary for good reason.</a:t>
            </a:r>
            <a:endParaRPr lang="en-US" sz="1250" dirty="0"/>
          </a:p>
        </p:txBody>
      </p:sp>
      <p:sp>
        <p:nvSpPr>
          <p:cNvPr id="22" name="bld3_248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248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 over invented names</a:t>
            </a:r>
            <a:endParaRPr lang="en-US" sz="1650" dirty="0"/>
          </a:p>
        </p:txBody>
      </p:sp>
      <p:sp>
        <p:nvSpPr>
          <p:cNvPr id="24" name="bld3_248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specific commercial product isn't certain, we describe the category of base instead of guessing at a name.</a:t>
            </a:r>
            <a:endParaRPr lang="en-US" sz="1250" dirty="0"/>
          </a:p>
        </p:txBody>
      </p:sp>
      <p:sp>
        <p:nvSpPr>
          <p:cNvPr id="26" name="trans_fade_1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BASES · A NAMED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2834640" cy="2834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2969743" y="2634686"/>
            <a:ext cx="552755" cy="116078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477570" y="3003644"/>
            <a:ext cx="552755" cy="116078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283597" y="3600631"/>
            <a:ext cx="552755" cy="116078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655888" y="3600631"/>
            <a:ext cx="552755" cy="116078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461915" y="3003644"/>
            <a:ext cx="552755" cy="116078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980798" y="3483718"/>
            <a:ext cx="530645" cy="53064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331720"/>
            <a:ext cx="2834640" cy="2834640"/>
          </a:xfrm>
          <a:prstGeom prst="ellipse">
            <a:avLst/>
          </a:prstGeom>
          <a:ln w="41148">
            <a:solidFill>
              <a:srgbClr val="C79B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539496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8C3B49">
              <a:alpha val="12000"/>
            </a:srgbClr>
          </a:solidFill>
          <a:ln w="12700">
            <a:solidFill>
              <a:srgbClr val="8C3B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06040" y="53949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</a:t>
            </a:r>
            <a:endParaRPr lang="en-US" sz="850" dirty="0"/>
          </a:p>
        </p:txBody>
      </p:sp>
      <p:sp>
        <p:nvSpPr>
          <p:cNvPr id="17" name="bld1_2490"/>
          <p:cNvSpPr txBox="1"/>
          <p:nvPr/>
        </p:nvSpPr>
        <p:spPr>
          <a:xfrm>
            <a:off x="5577840" y="1783080"/>
            <a:ext cx="6065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</a:t>
            </a:r>
            <a:endParaRPr lang="en-US" sz="1000" dirty="0"/>
          </a:p>
        </p:txBody>
      </p:sp>
      <p:sp>
        <p:nvSpPr>
          <p:cNvPr id="18" name="bld1_2491"/>
          <p:cNvSpPr txBox="1"/>
          <p:nvPr/>
        </p:nvSpPr>
        <p:spPr>
          <a:xfrm>
            <a:off x="5577840" y="2002536"/>
            <a:ext cx="60652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rose speciality historically associated with Givaudan, in the long-standing "Givco" family of named bases.</a:t>
            </a:r>
            <a:endParaRPr lang="en-US" sz="1200" dirty="0"/>
          </a:p>
        </p:txBody>
      </p:sp>
      <p:sp>
        <p:nvSpPr>
          <p:cNvPr id="19" name="bld2_2492"/>
          <p:cNvSpPr txBox="1"/>
          <p:nvPr/>
        </p:nvSpPr>
        <p:spPr>
          <a:xfrm>
            <a:off x="5577840" y="2679192"/>
            <a:ext cx="6065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00" dirty="0"/>
          </a:p>
        </p:txBody>
      </p:sp>
      <p:sp>
        <p:nvSpPr>
          <p:cNvPr id="20" name="bld2_2493"/>
          <p:cNvSpPr txBox="1"/>
          <p:nvPr/>
        </p:nvSpPr>
        <p:spPr>
          <a:xfrm>
            <a:off x="5577840" y="2898648"/>
            <a:ext cx="60652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ready-built rose speciality — a formula inside your formula, not a single molecule.</a:t>
            </a:r>
            <a:endParaRPr lang="en-US" sz="1200" dirty="0"/>
          </a:p>
        </p:txBody>
      </p:sp>
      <p:sp>
        <p:nvSpPr>
          <p:cNvPr id="21" name="bld3_2494"/>
          <p:cNvSpPr txBox="1"/>
          <p:nvPr/>
        </p:nvSpPr>
        <p:spPr>
          <a:xfrm>
            <a:off x="5577840" y="3575304"/>
            <a:ext cx="6065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PROFILE</a:t>
            </a:r>
            <a:endParaRPr lang="en-US" sz="1000" dirty="0"/>
          </a:p>
        </p:txBody>
      </p:sp>
      <p:sp>
        <p:nvSpPr>
          <p:cNvPr id="22" name="bld3_2495"/>
          <p:cNvSpPr txBox="1"/>
          <p:nvPr/>
        </p:nvSpPr>
        <p:spPr>
          <a:xfrm>
            <a:off x="5577840" y="3794760"/>
            <a:ext cx="60652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rounded, complex rosy character — more layered than any single rose chemical smelled alone.</a:t>
            </a:r>
            <a:endParaRPr lang="en-US" sz="1200" dirty="0"/>
          </a:p>
        </p:txBody>
      </p:sp>
      <p:sp>
        <p:nvSpPr>
          <p:cNvPr id="23" name="bld4_2496"/>
          <p:cNvSpPr txBox="1"/>
          <p:nvPr/>
        </p:nvSpPr>
        <p:spPr>
          <a:xfrm>
            <a:off x="5577840" y="4471416"/>
            <a:ext cx="6065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</a:t>
            </a:r>
            <a:endParaRPr lang="en-US" sz="1000" dirty="0"/>
          </a:p>
        </p:txBody>
      </p:sp>
      <p:sp>
        <p:nvSpPr>
          <p:cNvPr id="24" name="bld4_2497"/>
          <p:cNvSpPr txBox="1"/>
          <p:nvPr/>
        </p:nvSpPr>
        <p:spPr>
          <a:xfrm>
            <a:off x="5577840" y="4690872"/>
            <a:ext cx="60652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rose complexity, useful as a starting body for a floral heart.</a:t>
            </a:r>
            <a:endParaRPr lang="en-US" sz="1200" dirty="0"/>
          </a:p>
        </p:txBody>
      </p:sp>
      <p:sp>
        <p:nvSpPr>
          <p:cNvPr id="25" name="bld5_2498"/>
          <p:cNvSpPr txBox="1"/>
          <p:nvPr/>
        </p:nvSpPr>
        <p:spPr>
          <a:xfrm>
            <a:off x="5577840" y="5367528"/>
            <a:ext cx="6065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ROLE</a:t>
            </a:r>
            <a:endParaRPr lang="en-US" sz="1000" dirty="0"/>
          </a:p>
        </p:txBody>
      </p:sp>
      <p:sp>
        <p:nvSpPr>
          <p:cNvPr id="26" name="bld5_2499"/>
          <p:cNvSpPr txBox="1"/>
          <p:nvPr/>
        </p:nvSpPr>
        <p:spPr>
          <a:xfrm>
            <a:off x="5577840" y="5586984"/>
            <a:ext cx="60652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support or partly replace a hand-built rose accord, depending on how much of the formula's rose character it's asked to carry.</a:t>
            </a:r>
            <a:endParaRPr lang="en-US" sz="1200" dirty="0"/>
          </a:p>
        </p:txBody>
      </p:sp>
      <p:sp>
        <p:nvSpPr>
          <p:cNvPr id="28" name="trans_fade_1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SKILL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modify a rose base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directions, not fixed recipes — the same six moves work on almost any floral base.</a:t>
            </a:r>
            <a:endParaRPr lang="en-US" sz="1050" dirty="0"/>
          </a:p>
        </p:txBody>
      </p:sp>
      <p:sp>
        <p:nvSpPr>
          <p:cNvPr id="17" name="bld1_250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1_250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fresh / dewy → add watery floral or green effects</a:t>
            </a:r>
            <a:endParaRPr lang="en-US" sz="1650" dirty="0"/>
          </a:p>
        </p:txBody>
      </p:sp>
      <p:sp>
        <p:nvSpPr>
          <p:cNvPr id="19" name="bld1_2502"/>
          <p:cNvSpPr txBox="1"/>
          <p:nvPr/>
        </p:nvSpPr>
        <p:spPr>
          <a:xfrm>
            <a:off x="1005840" y="2075688"/>
            <a:ext cx="60807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touch of a green or aquatic-floral material lifts the top and adds morning-dew freshness.</a:t>
            </a:r>
            <a:endParaRPr lang="en-US" sz="1250" dirty="0"/>
          </a:p>
        </p:txBody>
      </p:sp>
      <p:sp>
        <p:nvSpPr>
          <p:cNvPr id="20" name="bld2_2503"/>
          <p:cNvSpPr/>
          <p:nvPr/>
        </p:nvSpPr>
        <p:spPr>
          <a:xfrm>
            <a:off x="548640" y="2545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504"/>
          <p:cNvSpPr txBox="1"/>
          <p:nvPr/>
        </p:nvSpPr>
        <p:spPr>
          <a:xfrm>
            <a:off x="1005840" y="2517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natural → support with rose absolute, geranium, citronellol or phenylethyl alcohol</a:t>
            </a:r>
            <a:endParaRPr lang="en-US" sz="1650" dirty="0"/>
          </a:p>
        </p:txBody>
      </p:sp>
      <p:sp>
        <p:nvSpPr>
          <p:cNvPr id="22" name="bld2_2505"/>
          <p:cNvSpPr txBox="1"/>
          <p:nvPr/>
        </p:nvSpPr>
        <p:spPr>
          <a:xfrm>
            <a:off x="1005840" y="2837688"/>
            <a:ext cx="60807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rose materials round out a synthetic-leaning base toward something closer to the living flower.</a:t>
            </a:r>
            <a:endParaRPr lang="en-US" sz="1250" dirty="0"/>
          </a:p>
        </p:txBody>
      </p:sp>
      <p:sp>
        <p:nvSpPr>
          <p:cNvPr id="23" name="bld3_250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50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diffusive → Hedione-type materials</a:t>
            </a:r>
            <a:endParaRPr lang="en-US" sz="1650" dirty="0"/>
          </a:p>
        </p:txBody>
      </p:sp>
      <p:sp>
        <p:nvSpPr>
          <p:cNvPr id="25" name="bld3_2508"/>
          <p:cNvSpPr txBox="1"/>
          <p:nvPr/>
        </p:nvSpPr>
        <p:spPr>
          <a:xfrm>
            <a:off x="1005840" y="3599688"/>
            <a:ext cx="60807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air and radiance without changing the rose's identity.</a:t>
            </a:r>
            <a:endParaRPr lang="en-US" sz="1250" dirty="0"/>
          </a:p>
        </p:txBody>
      </p:sp>
      <p:sp>
        <p:nvSpPr>
          <p:cNvPr id="26" name="bld4_250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4_251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fruity → fruity esters or berry facets</a:t>
            </a:r>
            <a:endParaRPr lang="en-US" sz="1650" dirty="0"/>
          </a:p>
        </p:txBody>
      </p:sp>
      <p:sp>
        <p:nvSpPr>
          <p:cNvPr id="28" name="bld4_2511"/>
          <p:cNvSpPr txBox="1"/>
          <p:nvPr/>
        </p:nvSpPr>
        <p:spPr>
          <a:xfrm>
            <a:off x="1005840" y="4361688"/>
            <a:ext cx="60807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the rose toward a modern, juicy character.</a:t>
            </a:r>
            <a:endParaRPr lang="en-US" sz="1250" dirty="0"/>
          </a:p>
        </p:txBody>
      </p:sp>
      <p:sp>
        <p:nvSpPr>
          <p:cNvPr id="29" name="bld5_251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bld5_251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Darker → patchouli, woods or spicy facets</a:t>
            </a:r>
            <a:endParaRPr lang="en-US" sz="1650" dirty="0"/>
          </a:p>
        </p:txBody>
      </p:sp>
      <p:sp>
        <p:nvSpPr>
          <p:cNvPr id="31" name="bld5_2514"/>
          <p:cNvSpPr txBox="1"/>
          <p:nvPr/>
        </p:nvSpPr>
        <p:spPr>
          <a:xfrm>
            <a:off x="1005840" y="5123688"/>
            <a:ext cx="60807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Grounds the rose and gives it weight and shadow.</a:t>
            </a:r>
            <a:endParaRPr lang="en-US" sz="1250" dirty="0"/>
          </a:p>
        </p:txBody>
      </p:sp>
      <p:sp>
        <p:nvSpPr>
          <p:cNvPr id="32" name="bld6_2515"/>
          <p:cNvSpPr/>
          <p:nvPr/>
        </p:nvSpPr>
        <p:spPr>
          <a:xfrm>
            <a:off x="548640" y="559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6_2516"/>
          <p:cNvSpPr txBox="1"/>
          <p:nvPr/>
        </p:nvSpPr>
        <p:spPr>
          <a:xfrm>
            <a:off x="1005840" y="556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modern → musks and transparent woods</a:t>
            </a:r>
            <a:endParaRPr lang="en-US" sz="1650" dirty="0"/>
          </a:p>
        </p:txBody>
      </p:sp>
      <p:sp>
        <p:nvSpPr>
          <p:cNvPr id="34" name="bld6_2517"/>
          <p:cNvSpPr txBox="1"/>
          <p:nvPr/>
        </p:nvSpPr>
        <p:spPr>
          <a:xfrm>
            <a:off x="1005840" y="5885688"/>
            <a:ext cx="60807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traditional richness for a clean, contemporary silhouette.</a:t>
            </a:r>
            <a:endParaRPr lang="en-US" sz="1250" dirty="0"/>
          </a:p>
        </p:txBody>
      </p:sp>
      <p:sp>
        <p:nvSpPr>
          <p:cNvPr id="36" name="trans_fade_1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floral base categories to know</a:t>
            </a:r>
            <a:endParaRPr lang="en-US" sz="3200" dirty="0"/>
          </a:p>
        </p:txBody>
      </p:sp>
      <p:sp>
        <p:nvSpPr>
          <p:cNvPr id="7" name="bld1_2518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805480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910485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910485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05480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700475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700475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781230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2520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bases</a:t>
            </a:r>
            <a:endParaRPr lang="en-US" sz="1450" dirty="0"/>
          </a:p>
        </p:txBody>
      </p:sp>
      <p:sp>
        <p:nvSpPr>
          <p:cNvPr id="18" name="bld1_2521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indolic, heady florals — major houses each keep proprietary jasmine specialities.</a:t>
            </a:r>
            <a:endParaRPr lang="en-US" sz="1080" dirty="0"/>
          </a:p>
        </p:txBody>
      </p:sp>
      <p:sp>
        <p:nvSpPr>
          <p:cNvPr id="19" name="bld2_2522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40667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469252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4713999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469252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4640667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4588814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456733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4588814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38242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2524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Muguet bases</a:t>
            </a:r>
            <a:endParaRPr lang="en-US" sz="1450" dirty="0"/>
          </a:p>
        </p:txBody>
      </p:sp>
      <p:sp>
        <p:nvSpPr>
          <p:cNvPr id="32" name="bld2_2525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Lily-of-the-valley — always synthetic, since muguet yields no usable natural extract.</a:t>
            </a:r>
            <a:endParaRPr lang="en-US" sz="1080" dirty="0"/>
          </a:p>
        </p:txBody>
      </p:sp>
      <p:sp>
        <p:nvSpPr>
          <p:cNvPr id="33" name="bld3_2526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7454029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4320000">
            <a:off x="7565423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640000">
            <a:off x="7522874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7385183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7280000">
            <a:off x="7342634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456454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1" name="Shape 39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42" name="bld3_2528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 / neroli bases</a:t>
            </a:r>
            <a:endParaRPr lang="en-US" sz="1450" dirty="0"/>
          </a:p>
        </p:txBody>
      </p:sp>
      <p:sp>
        <p:nvSpPr>
          <p:cNvPr id="43" name="bld3_2529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Fresh-to-rich white floral, from airy neroli through to lush orange blossom absolute character.</a:t>
            </a:r>
            <a:endParaRPr lang="en-US" sz="1080" dirty="0"/>
          </a:p>
        </p:txBody>
      </p:sp>
      <p:sp>
        <p:nvSpPr>
          <p:cNvPr id="44" name="bld4_2530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2" name="Shape 5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3" name="bld4_2532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Tuberose bases</a:t>
            </a:r>
            <a:endParaRPr lang="en-US" sz="1450" dirty="0"/>
          </a:p>
        </p:txBody>
      </p:sp>
      <p:sp>
        <p:nvSpPr>
          <p:cNvPr id="54" name="bld4_2533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heady, slightly rubbery-green — a notoriously difficult flower to reconstruct.</a:t>
            </a:r>
            <a:endParaRPr lang="en-US" sz="1080" dirty="0"/>
          </a:p>
        </p:txBody>
      </p:sp>
      <p:sp>
        <p:nvSpPr>
          <p:cNvPr id="55" name="bld5_2534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7" name="Shape 55"/>
          <p:cNvSpPr/>
          <p:nvPr/>
        </p:nvSpPr>
        <p:spPr>
          <a:xfrm>
            <a:off x="1786080" y="4351732"/>
            <a:ext cx="106700" cy="106700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flipV="1">
            <a:off x="1656365" y="4405082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702056" y="4405082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775096" y="4405082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39430" y="4405082"/>
            <a:ext cx="9144" cy="356473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39430" y="4405082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39430" y="4405082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839430" y="4405082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66" name="bld5_2536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/ orris bases</a:t>
            </a:r>
            <a:endParaRPr lang="en-US" sz="1450" dirty="0"/>
          </a:p>
        </p:txBody>
      </p:sp>
      <p:sp>
        <p:nvSpPr>
          <p:cNvPr id="67" name="bld5_2537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cool, slightly carroty-woody — orris butter is one of perfumery's most expensive naturals.</a:t>
            </a:r>
            <a:endParaRPr lang="en-US" sz="1080" dirty="0"/>
          </a:p>
        </p:txBody>
      </p:sp>
      <p:sp>
        <p:nvSpPr>
          <p:cNvPr id="68" name="bld6_2538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4643092" y="4337182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4400000">
            <a:off x="4748097" y="4397807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8000000">
            <a:off x="4748097" y="4519056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3092" y="4579681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3600000">
            <a:off x="4538087" y="4519056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7200000">
            <a:off x="4538087" y="4397807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4618842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78" name="bld6_2540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Lilac bases</a:t>
            </a:r>
            <a:endParaRPr lang="en-US" sz="1450" dirty="0"/>
          </a:p>
        </p:txBody>
      </p:sp>
      <p:sp>
        <p:nvSpPr>
          <p:cNvPr id="79" name="bld6_2541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green-floral, almost entirely synthetic — lilac has no commercially extractable natural oil.</a:t>
            </a:r>
            <a:endParaRPr lang="en-US" sz="1080" dirty="0"/>
          </a:p>
        </p:txBody>
      </p:sp>
      <p:sp>
        <p:nvSpPr>
          <p:cNvPr id="80" name="bld7_2542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2" name="Shape 80"/>
          <p:cNvSpPr/>
          <p:nvPr/>
        </p:nvSpPr>
        <p:spPr>
          <a:xfrm>
            <a:off x="7454029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4320000">
            <a:off x="7565423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640000">
            <a:off x="7522874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2960000">
            <a:off x="7385183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17280000">
            <a:off x="7342634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7456454" y="4521481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8" name="Shape 86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89" name="bld7_2544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Gardenia bases</a:t>
            </a:r>
            <a:endParaRPr lang="en-US" sz="1450" dirty="0"/>
          </a:p>
        </p:txBody>
      </p:sp>
      <p:sp>
        <p:nvSpPr>
          <p:cNvPr id="90" name="bld7_2545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fruity-green white floral, built entirely from synthesis and other florals in combination.</a:t>
            </a:r>
            <a:endParaRPr lang="en-US" sz="1080" dirty="0"/>
          </a:p>
        </p:txBody>
      </p:sp>
      <p:sp>
        <p:nvSpPr>
          <p:cNvPr id="91" name="bld8_2546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3" name="Shape 91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10177666" y="4405082"/>
            <a:ext cx="349198" cy="349198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0274666" y="4502081"/>
            <a:ext cx="155199" cy="1551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97" name="bld8_2548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major house keeps its own</a:t>
            </a:r>
            <a:endParaRPr lang="en-US" sz="1450" dirty="0"/>
          </a:p>
        </p:txBody>
      </p:sp>
      <p:sp>
        <p:nvSpPr>
          <p:cNvPr id="98" name="bld8_2549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Givaudan, Firmenich, IFF, Symrise and Robertet each maintain proprietary bases across these categories.</a:t>
            </a:r>
            <a:endParaRPr lang="en-US" sz="1080" dirty="0"/>
          </a:p>
        </p:txBody>
      </p:sp>
      <p:sp>
        <p:nvSpPr>
          <p:cNvPr id="100" name="trans_fade_1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1" name="Text 9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2" grpId="0"/>
      <p:bldP spid="43" grpId="0"/>
      <p:bldP spid="44" grpId="0"/>
      <p:bldP spid="53" grpId="0"/>
      <p:bldP spid="54" grpId="0"/>
      <p:bldP spid="55" grpId="0"/>
      <p:bldP spid="66" grpId="0"/>
      <p:bldP spid="67" grpId="0"/>
      <p:bldP spid="68" grpId="0"/>
      <p:bldP spid="78" grpId="0"/>
      <p:bldP spid="79" grpId="0"/>
      <p:bldP spid="80" grpId="0"/>
      <p:bldP spid="89" grpId="0"/>
      <p:bldP spid="90" grpId="0"/>
      <p:bldP spid="91" grpId="0"/>
      <p:bldP spid="97" grpId="0"/>
      <p:bldP spid="98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DEEPER · RAW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1888968" y="1892808"/>
            <a:ext cx="199705" cy="713232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2197806" y="2071116"/>
            <a:ext cx="199705" cy="713232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2197806" y="2427732"/>
            <a:ext cx="199705" cy="713232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88968" y="2606040"/>
            <a:ext cx="199705" cy="713232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1580129" y="2427732"/>
            <a:ext cx="199705" cy="713232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1580129" y="2071116"/>
            <a:ext cx="199705" cy="713232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817644" y="2434864"/>
            <a:ext cx="342351" cy="34235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850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421892" y="414223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C79BD9">
              <a:alpha val="12000"/>
            </a:srgbClr>
          </a:solidFill>
          <a:ln w="12700">
            <a:solidFill>
              <a:srgbClr val="C79B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21892" y="414223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21892" y="441655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5C5646">
              <a:alpha val="12000"/>
            </a:srgbClr>
          </a:solidFill>
          <a:ln w="12700">
            <a:solidFill>
              <a:srgbClr val="5C56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421892" y="441655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850" dirty="0"/>
          </a:p>
        </p:txBody>
      </p:sp>
      <p:sp>
        <p:nvSpPr>
          <p:cNvPr id="21" name="bld1_2550"/>
          <p:cNvSpPr txBox="1"/>
          <p:nvPr/>
        </p:nvSpPr>
        <p:spPr>
          <a:xfrm>
            <a:off x="3886200" y="1737360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ODOUR</a:t>
            </a:r>
            <a:endParaRPr lang="en-US" sz="1000" dirty="0"/>
          </a:p>
        </p:txBody>
      </p:sp>
      <p:sp>
        <p:nvSpPr>
          <p:cNvPr id="22" name="bld1_2551"/>
          <p:cNvSpPr txBox="1"/>
          <p:nvPr/>
        </p:nvSpPr>
        <p:spPr>
          <a:xfrm>
            <a:off x="3886200" y="1956816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jasmine-like floral effect with a fresh, airy, almost dewy-citrus lift.</a:t>
            </a:r>
            <a:endParaRPr lang="en-US" sz="1250" dirty="0"/>
          </a:p>
        </p:txBody>
      </p:sp>
      <p:sp>
        <p:nvSpPr>
          <p:cNvPr id="23" name="bld2_2552"/>
          <p:cNvSpPr/>
          <p:nvPr/>
        </p:nvSpPr>
        <p:spPr>
          <a:xfrm>
            <a:off x="3886200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4" name="bld2_2553"/>
          <p:cNvSpPr txBox="1"/>
          <p:nvPr/>
        </p:nvSpPr>
        <p:spPr>
          <a:xfrm>
            <a:off x="3995928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850" dirty="0"/>
          </a:p>
        </p:txBody>
      </p:sp>
      <p:sp>
        <p:nvSpPr>
          <p:cNvPr id="25" name="bld2_2554"/>
          <p:cNvSpPr txBox="1"/>
          <p:nvPr/>
        </p:nvSpPr>
        <p:spPr>
          <a:xfrm>
            <a:off x="3995928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250" dirty="0"/>
          </a:p>
        </p:txBody>
      </p:sp>
      <p:sp>
        <p:nvSpPr>
          <p:cNvPr id="26" name="bld2_2555"/>
          <p:cNvSpPr/>
          <p:nvPr/>
        </p:nvSpPr>
        <p:spPr>
          <a:xfrm>
            <a:off x="6517538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7" name="bld2_2556"/>
          <p:cNvSpPr txBox="1"/>
          <p:nvPr/>
        </p:nvSpPr>
        <p:spPr>
          <a:xfrm>
            <a:off x="6627266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850" dirty="0"/>
          </a:p>
        </p:txBody>
      </p:sp>
      <p:sp>
        <p:nvSpPr>
          <p:cNvPr id="28" name="bld2_2557"/>
          <p:cNvSpPr txBox="1"/>
          <p:nvPr/>
        </p:nvSpPr>
        <p:spPr>
          <a:xfrm>
            <a:off x="6627266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Very high</a:t>
            </a:r>
            <a:endParaRPr lang="en-US" sz="1250" dirty="0"/>
          </a:p>
        </p:txBody>
      </p:sp>
      <p:sp>
        <p:nvSpPr>
          <p:cNvPr id="29" name="bld2_2558"/>
          <p:cNvSpPr/>
          <p:nvPr/>
        </p:nvSpPr>
        <p:spPr>
          <a:xfrm>
            <a:off x="9148877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30" name="bld2_2559"/>
          <p:cNvSpPr txBox="1"/>
          <p:nvPr/>
        </p:nvSpPr>
        <p:spPr>
          <a:xfrm>
            <a:off x="9258605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850" dirty="0"/>
          </a:p>
        </p:txBody>
      </p:sp>
      <p:sp>
        <p:nvSpPr>
          <p:cNvPr id="31" name="bld2_2560"/>
          <p:cNvSpPr txBox="1"/>
          <p:nvPr/>
        </p:nvSpPr>
        <p:spPr>
          <a:xfrm>
            <a:off x="9258605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250" dirty="0"/>
          </a:p>
        </p:txBody>
      </p:sp>
      <p:sp>
        <p:nvSpPr>
          <p:cNvPr id="32" name="bld3_2561"/>
          <p:cNvSpPr txBox="1"/>
          <p:nvPr/>
        </p:nvSpPr>
        <p:spPr>
          <a:xfrm>
            <a:off x="3886200" y="31181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ROLE</a:t>
            </a:r>
            <a:endParaRPr lang="en-US" sz="1000" dirty="0"/>
          </a:p>
        </p:txBody>
      </p:sp>
      <p:sp>
        <p:nvSpPr>
          <p:cNvPr id="33" name="bld3_2562"/>
          <p:cNvSpPr txBox="1"/>
          <p:nvPr/>
        </p:nvSpPr>
        <p:spPr>
          <a:xfrm>
            <a:off x="3886200" y="3337560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Diffusion, radiance and openness — it gives a formula volume and air, more than it gives a specific note.</a:t>
            </a:r>
            <a:endParaRPr lang="en-US" sz="1250" dirty="0"/>
          </a:p>
        </p:txBody>
      </p:sp>
      <p:sp>
        <p:nvSpPr>
          <p:cNvPr id="34" name="bld4_2563"/>
          <p:cNvSpPr txBox="1"/>
          <p:nvPr/>
        </p:nvSpPr>
        <p:spPr>
          <a:xfrm>
            <a:off x="3886200" y="3831336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35" name="bld4_2564"/>
          <p:cNvSpPr txBox="1"/>
          <p:nvPr/>
        </p:nvSpPr>
        <p:spPr>
          <a:xfrm>
            <a:off x="3886200" y="4050792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accords, modern florals, and opening up space inside a dense base.</a:t>
            </a:r>
            <a:endParaRPr lang="en-US" sz="1250" dirty="0"/>
          </a:p>
        </p:txBody>
      </p:sp>
      <p:sp>
        <p:nvSpPr>
          <p:cNvPr id="36" name="bld5_2565"/>
          <p:cNvSpPr txBox="1"/>
          <p:nvPr/>
        </p:nvSpPr>
        <p:spPr>
          <a:xfrm>
            <a:off x="3886200" y="44897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WELL WITH</a:t>
            </a:r>
            <a:endParaRPr lang="en-US" sz="1000" dirty="0"/>
          </a:p>
        </p:txBody>
      </p:sp>
      <p:sp>
        <p:nvSpPr>
          <p:cNvPr id="37" name="bld5_2566"/>
          <p:cNvSpPr txBox="1"/>
          <p:nvPr/>
        </p:nvSpPr>
        <p:spPr>
          <a:xfrm>
            <a:off x="3886200" y="4709160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citrus, transparent woods, clean musks.</a:t>
            </a:r>
            <a:endParaRPr lang="en-US" sz="1250" dirty="0"/>
          </a:p>
        </p:txBody>
      </p:sp>
      <p:sp>
        <p:nvSpPr>
          <p:cNvPr id="38" name="bld6_2567"/>
          <p:cNvSpPr txBox="1"/>
          <p:nvPr/>
        </p:nvSpPr>
        <p:spPr>
          <a:xfrm>
            <a:off x="3886200" y="5148072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 FOR</a:t>
            </a:r>
            <a:endParaRPr lang="en-US" sz="1000" dirty="0"/>
          </a:p>
        </p:txBody>
      </p:sp>
      <p:sp>
        <p:nvSpPr>
          <p:cNvPr id="39" name="bld6_2568"/>
          <p:cNvSpPr txBox="1"/>
          <p:nvPr/>
        </p:nvSpPr>
        <p:spPr>
          <a:xfrm>
            <a:off x="3886200" y="5367528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reach for it only because you want "jasmine" — its real value is often structural, not a scent match.</a:t>
            </a:r>
            <a:endParaRPr lang="en-US" sz="1250" dirty="0"/>
          </a:p>
        </p:txBody>
      </p:sp>
      <p:sp>
        <p:nvSpPr>
          <p:cNvPr id="40" name="bld7_2569"/>
          <p:cNvSpPr/>
          <p:nvPr/>
        </p:nvSpPr>
        <p:spPr>
          <a:xfrm>
            <a:off x="3886200" y="5806440"/>
            <a:ext cx="7756855" cy="475488"/>
          </a:xfrm>
          <a:prstGeom prst="roundRect">
            <a:avLst>
              <a:gd name="adj" fmla="val 15385"/>
            </a:avLst>
          </a:prstGeom>
          <a:solidFill>
            <a:srgbClr val="C79BD9">
              <a:alpha val="12000"/>
            </a:srgbClr>
          </a:solidFill>
          <a:ln/>
        </p:spPr>
      </p:sp>
      <p:sp>
        <p:nvSpPr>
          <p:cNvPr id="41" name="bld7_2570"/>
          <p:cNvSpPr txBox="1"/>
          <p:nvPr/>
        </p:nvSpPr>
        <p:spPr>
          <a:xfrm>
            <a:off x="4069080" y="5806440"/>
            <a:ext cx="7391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79B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air conditioning of a formula — it doesn't add a smell, it opens a window."</a:t>
            </a:r>
            <a:endParaRPr lang="en-US" sz="1300" dirty="0"/>
          </a:p>
        </p:txBody>
      </p:sp>
      <p:sp>
        <p:nvSpPr>
          <p:cNvPr id="43" name="trans_fade_1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HEDIONE MATTERS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smell — a structural effect</a:t>
            </a:r>
            <a:endParaRPr lang="en-US" sz="3200" dirty="0"/>
          </a:p>
        </p:txBody>
      </p:sp>
      <p:sp>
        <p:nvSpPr>
          <p:cNvPr id="7" name="bld1_2571"/>
          <p:cNvSpPr/>
          <p:nvPr/>
        </p:nvSpPr>
        <p:spPr>
          <a:xfrm>
            <a:off x="548640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72"/>
          <p:cNvSpPr txBox="1"/>
          <p:nvPr/>
        </p:nvSpPr>
        <p:spPr>
          <a:xfrm>
            <a:off x="841248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FLORAL STRUCTURE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604673" y="3308116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1825501" y="3366755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1923790" y="3438166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1886247" y="355371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764755" y="355371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727212" y="3438166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827641" y="3531084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604673" y="3308116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57691" y="3204012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078518" y="3262651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4320000">
            <a:off x="4176808" y="333406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8640000">
            <a:off x="4139264" y="344960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2960000">
            <a:off x="4017772" y="344960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7280000">
            <a:off x="3980229" y="333406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080658" y="3426979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4" name="Shape 22"/>
          <p:cNvSpPr/>
          <p:nvPr/>
        </p:nvSpPr>
        <p:spPr>
          <a:xfrm>
            <a:off x="3857691" y="3204012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73694" y="4383862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4522" y="4442501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4320000">
            <a:off x="2792811" y="451391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8640000">
            <a:off x="2755268" y="462945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2960000">
            <a:off x="2633776" y="462945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7280000">
            <a:off x="2596233" y="451391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96662" y="4606829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2" name="Shape 30"/>
          <p:cNvSpPr/>
          <p:nvPr/>
        </p:nvSpPr>
        <p:spPr>
          <a:xfrm>
            <a:off x="2473694" y="4383862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43922" y="4175653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4464750" y="423429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4320000">
            <a:off x="4563039" y="4305703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640000">
            <a:off x="4525496" y="4421249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2960000">
            <a:off x="4404004" y="4421249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7280000">
            <a:off x="4366461" y="4305703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466890" y="4398621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43922" y="4175653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95554" y="3828639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2" name="Shape 40"/>
          <p:cNvSpPr/>
          <p:nvPr/>
        </p:nvSpPr>
        <p:spPr>
          <a:xfrm>
            <a:off x="3016382" y="3887277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4320000">
            <a:off x="3114671" y="395868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8640000">
            <a:off x="3077128" y="4074234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2960000">
            <a:off x="2955636" y="4074234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7280000">
            <a:off x="2918092" y="395868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018521" y="4051606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8" name="Shape 46"/>
          <p:cNvSpPr/>
          <p:nvPr/>
        </p:nvSpPr>
        <p:spPr>
          <a:xfrm>
            <a:off x="2795554" y="3828639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69045" y="4418564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1889873" y="447720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4320000">
            <a:off x="1988162" y="4548614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1950619" y="4664159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1829127" y="4664159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7280000">
            <a:off x="1791584" y="4548614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892012" y="4641531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6" name="Shape 54"/>
          <p:cNvSpPr/>
          <p:nvPr/>
        </p:nvSpPr>
        <p:spPr>
          <a:xfrm>
            <a:off x="1669045" y="4418564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39273" y="3689833"/>
            <a:ext cx="548640" cy="54864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3660101" y="3748471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3758390" y="381988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3720847" y="393542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3599355" y="3935428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3561812" y="3819882"/>
            <a:ext cx="106985" cy="224668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3662241" y="3912800"/>
            <a:ext cx="102705" cy="10270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3439273" y="3689833"/>
            <a:ext cx="548640" cy="54864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2_2573"/>
          <p:cNvSpPr/>
          <p:nvPr/>
        </p:nvSpPr>
        <p:spPr>
          <a:xfrm>
            <a:off x="6278728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bld2_2574"/>
          <p:cNvSpPr txBox="1"/>
          <p:nvPr/>
        </p:nvSpPr>
        <p:spPr>
          <a:xfrm>
            <a:off x="6571336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AND SPACE, WITH HEDIONE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6791989" y="3292640"/>
            <a:ext cx="475488" cy="47548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6983373" y="334346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4320000">
            <a:off x="7068557" y="340535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8640000">
            <a:off x="7036020" y="350549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6930727" y="350549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7280000">
            <a:off x="6898189" y="340535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6985228" y="3485878"/>
            <a:ext cx="89011" cy="8901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74" name="Shape 72"/>
          <p:cNvSpPr/>
          <p:nvPr/>
        </p:nvSpPr>
        <p:spPr>
          <a:xfrm>
            <a:off x="6791989" y="3292640"/>
            <a:ext cx="475488" cy="47548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332446" y="3205886"/>
            <a:ext cx="475488" cy="47548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6" name="Shape 74"/>
          <p:cNvSpPr/>
          <p:nvPr/>
        </p:nvSpPr>
        <p:spPr>
          <a:xfrm>
            <a:off x="10523830" y="3256707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4320000">
            <a:off x="10609014" y="3318596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8640000">
            <a:off x="10576476" y="3418736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12960000">
            <a:off x="10471183" y="3418736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17280000">
            <a:off x="10438646" y="3318596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10525684" y="3399125"/>
            <a:ext cx="89011" cy="8901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32446" y="3205886"/>
            <a:ext cx="475488" cy="47548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693197" y="4593946"/>
            <a:ext cx="475488" cy="47548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4" name="Shape 82"/>
          <p:cNvSpPr/>
          <p:nvPr/>
        </p:nvSpPr>
        <p:spPr>
          <a:xfrm>
            <a:off x="7884580" y="4644766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4320000">
            <a:off x="7969764" y="4706655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8640000">
            <a:off x="7937227" y="4806795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12960000">
            <a:off x="7831934" y="4806795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17280000">
            <a:off x="7799397" y="4706655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7886435" y="4787184"/>
            <a:ext cx="89011" cy="8901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0" name="Shape 88"/>
          <p:cNvSpPr/>
          <p:nvPr/>
        </p:nvSpPr>
        <p:spPr>
          <a:xfrm>
            <a:off x="7693197" y="4593946"/>
            <a:ext cx="475488" cy="47548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493376" y="4455140"/>
            <a:ext cx="475488" cy="47548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2" name="Shape 90"/>
          <p:cNvSpPr/>
          <p:nvPr/>
        </p:nvSpPr>
        <p:spPr>
          <a:xfrm>
            <a:off x="10684759" y="450596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4320000">
            <a:off x="10769943" y="456785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640000">
            <a:off x="10737406" y="4667989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12960000">
            <a:off x="10632113" y="4667989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17280000">
            <a:off x="10599576" y="456785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10686614" y="4648378"/>
            <a:ext cx="89011" cy="8901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8" name="Shape 96"/>
          <p:cNvSpPr/>
          <p:nvPr/>
        </p:nvSpPr>
        <p:spPr>
          <a:xfrm>
            <a:off x="10493376" y="4455140"/>
            <a:ext cx="475488" cy="47548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52919" y="4524543"/>
            <a:ext cx="475488" cy="47548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0" name="Shape 98"/>
          <p:cNvSpPr/>
          <p:nvPr/>
        </p:nvSpPr>
        <p:spPr>
          <a:xfrm>
            <a:off x="7144303" y="4575363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4320000">
            <a:off x="7229487" y="4637253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8640000">
            <a:off x="7196950" y="4737392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2960000">
            <a:off x="7091657" y="4737392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7280000">
            <a:off x="7059119" y="4637253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7146158" y="4717781"/>
            <a:ext cx="89011" cy="8901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952919" y="4524543"/>
            <a:ext cx="475488" cy="47548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045007" y="3292640"/>
            <a:ext cx="475488" cy="47548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236391" y="334346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4320000">
            <a:off x="9321575" y="340535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8640000">
            <a:off x="9289038" y="350549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 rot="12960000">
            <a:off x="9183744" y="350549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 rot="17280000">
            <a:off x="9151207" y="3405350"/>
            <a:ext cx="92720" cy="19471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9238245" y="3485878"/>
            <a:ext cx="89011" cy="8901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45007" y="3292640"/>
            <a:ext cx="475488" cy="47548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759723" y="4188866"/>
            <a:ext cx="402336" cy="40233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6" name="Shape 114"/>
          <p:cNvSpPr/>
          <p:nvPr/>
        </p:nvSpPr>
        <p:spPr>
          <a:xfrm rot="10800000">
            <a:off x="8938924" y="4233123"/>
            <a:ext cx="43935" cy="15691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 rot="14400000">
            <a:off x="9006868" y="4272351"/>
            <a:ext cx="43935" cy="15691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 rot="18000000">
            <a:off x="9006868" y="4350807"/>
            <a:ext cx="43935" cy="15691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8938924" y="4390034"/>
            <a:ext cx="43935" cy="15691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3600000">
            <a:off x="8870979" y="4350807"/>
            <a:ext cx="43935" cy="15691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7200000">
            <a:off x="8870979" y="4272351"/>
            <a:ext cx="43935" cy="15691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923233" y="4352376"/>
            <a:ext cx="75317" cy="7531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759723" y="4188866"/>
            <a:ext cx="402336" cy="40233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materials, same idea — Hedione simply gives them room to breathe.</a:t>
            </a:r>
            <a:endParaRPr lang="en-US" sz="1250" dirty="0"/>
          </a:p>
        </p:txBody>
      </p:sp>
      <p:sp>
        <p:nvSpPr>
          <p:cNvPr id="126" name="trans_wipe_l_1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27" name="Text 1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5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65" grpId="0"/>
      <p:bldP spid="66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vs. Hedione HC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8887790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4400000">
            <a:off x="9114256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9114256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790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3600000">
            <a:off x="8661325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7200000">
            <a:off x="8661325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835491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10061185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1028765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1028765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061185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983472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983472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08885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them side by side rather than assuming one simply replaces the other.</a:t>
            </a:r>
            <a:endParaRPr lang="en-US" sz="1050" dirty="0"/>
          </a:p>
        </p:txBody>
      </p:sp>
      <p:sp>
        <p:nvSpPr>
          <p:cNvPr id="29" name="bld1_257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0" name="bld1_257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are related, not identical</a:t>
            </a:r>
            <a:endParaRPr lang="en-US" sz="1650" dirty="0"/>
          </a:p>
        </p:txBody>
      </p:sp>
      <p:sp>
        <p:nvSpPr>
          <p:cNvPr id="31" name="bld1_257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HC is a distinct material with its own character — treat it as a relative of Hedione, not an interchangeable substitute.</a:t>
            </a:r>
            <a:endParaRPr lang="en-US" sz="1250" dirty="0"/>
          </a:p>
        </p:txBody>
      </p:sp>
      <p:sp>
        <p:nvSpPr>
          <p:cNvPr id="32" name="bld2_257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bld2_257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reads bright and citrus-dewy</a:t>
            </a:r>
            <a:endParaRPr lang="en-US" sz="1650" dirty="0"/>
          </a:p>
        </p:txBody>
      </p:sp>
      <p:sp>
        <p:nvSpPr>
          <p:cNvPr id="34" name="bld2_258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material — airy, radiant, with a fresh green-citrus edge to its jasmine transparency.</a:t>
            </a:r>
            <a:endParaRPr lang="en-US" sz="1250" dirty="0"/>
          </a:p>
        </p:txBody>
      </p:sp>
      <p:sp>
        <p:nvSpPr>
          <p:cNvPr id="35" name="bld3_258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6" name="bld3_258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HC reads smoother and rounder</a:t>
            </a:r>
            <a:endParaRPr lang="en-US" sz="1650" dirty="0"/>
          </a:p>
        </p:txBody>
      </p:sp>
      <p:sp>
        <p:nvSpPr>
          <p:cNvPr id="37" name="bld3_258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softer and more discreet in character, with different diffusion behaviour worth evaluating on its own strip.</a:t>
            </a:r>
            <a:endParaRPr lang="en-US" sz="1250" dirty="0"/>
          </a:p>
        </p:txBody>
      </p:sp>
      <p:sp>
        <p:nvSpPr>
          <p:cNvPr id="39" name="trans_fade_1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DEEPER · RAW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275588" y="1892808"/>
            <a:ext cx="1426464" cy="142646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18234" y="2035454"/>
            <a:ext cx="1141171" cy="114117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560881" y="2178101"/>
            <a:ext cx="855878" cy="85587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03527" y="2320747"/>
            <a:ext cx="570586" cy="57058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846174" y="2463394"/>
            <a:ext cx="285293" cy="28529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03232" y="2520452"/>
            <a:ext cx="171176" cy="171176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6850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421892" y="414223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8A6339">
              <a:alpha val="12000"/>
            </a:srgbClr>
          </a:solidFill>
          <a:ln w="12700">
            <a:solidFill>
              <a:srgbClr val="8A63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21892" y="414223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421892" y="441655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5C5646">
              <a:alpha val="12000"/>
            </a:srgbClr>
          </a:solidFill>
          <a:ln w="12700">
            <a:solidFill>
              <a:srgbClr val="5C56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21892" y="441655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850" dirty="0"/>
          </a:p>
        </p:txBody>
      </p:sp>
      <p:sp>
        <p:nvSpPr>
          <p:cNvPr id="20" name="bld1_2584"/>
          <p:cNvSpPr txBox="1"/>
          <p:nvPr/>
        </p:nvSpPr>
        <p:spPr>
          <a:xfrm>
            <a:off x="3886200" y="1737360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ODOUR</a:t>
            </a:r>
            <a:endParaRPr lang="en-US" sz="1000" dirty="0"/>
          </a:p>
        </p:txBody>
      </p:sp>
      <p:sp>
        <p:nvSpPr>
          <p:cNvPr id="21" name="bld1_2585"/>
          <p:cNvSpPr txBox="1"/>
          <p:nvPr/>
        </p:nvSpPr>
        <p:spPr>
          <a:xfrm>
            <a:off x="3886200" y="1956816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velvety, cedar-like woodiness with a soft, almost powdery-smooth texture.</a:t>
            </a:r>
            <a:endParaRPr lang="en-US" sz="1250" dirty="0"/>
          </a:p>
        </p:txBody>
      </p:sp>
      <p:sp>
        <p:nvSpPr>
          <p:cNvPr id="22" name="bld2_2586"/>
          <p:cNvSpPr/>
          <p:nvPr/>
        </p:nvSpPr>
        <p:spPr>
          <a:xfrm>
            <a:off x="3886200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3" name="bld2_2587"/>
          <p:cNvSpPr txBox="1"/>
          <p:nvPr/>
        </p:nvSpPr>
        <p:spPr>
          <a:xfrm>
            <a:off x="3995928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850" dirty="0"/>
          </a:p>
        </p:txBody>
      </p:sp>
      <p:sp>
        <p:nvSpPr>
          <p:cNvPr id="24" name="bld2_2588"/>
          <p:cNvSpPr txBox="1"/>
          <p:nvPr/>
        </p:nvSpPr>
        <p:spPr>
          <a:xfrm>
            <a:off x="3995928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Low–medium</a:t>
            </a:r>
            <a:endParaRPr lang="en-US" sz="1250" dirty="0"/>
          </a:p>
        </p:txBody>
      </p:sp>
      <p:sp>
        <p:nvSpPr>
          <p:cNvPr id="25" name="bld2_2589"/>
          <p:cNvSpPr/>
          <p:nvPr/>
        </p:nvSpPr>
        <p:spPr>
          <a:xfrm>
            <a:off x="6517538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6" name="bld2_2590"/>
          <p:cNvSpPr txBox="1"/>
          <p:nvPr/>
        </p:nvSpPr>
        <p:spPr>
          <a:xfrm>
            <a:off x="6627266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850" dirty="0"/>
          </a:p>
        </p:txBody>
      </p:sp>
      <p:sp>
        <p:nvSpPr>
          <p:cNvPr id="27" name="bld2_2591"/>
          <p:cNvSpPr txBox="1"/>
          <p:nvPr/>
        </p:nvSpPr>
        <p:spPr>
          <a:xfrm>
            <a:off x="6627266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endParaRPr lang="en-US" sz="1250" dirty="0"/>
          </a:p>
        </p:txBody>
      </p:sp>
      <p:sp>
        <p:nvSpPr>
          <p:cNvPr id="28" name="bld2_2592"/>
          <p:cNvSpPr/>
          <p:nvPr/>
        </p:nvSpPr>
        <p:spPr>
          <a:xfrm>
            <a:off x="9148877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9" name="bld2_2593"/>
          <p:cNvSpPr txBox="1"/>
          <p:nvPr/>
        </p:nvSpPr>
        <p:spPr>
          <a:xfrm>
            <a:off x="9258605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850" dirty="0"/>
          </a:p>
        </p:txBody>
      </p:sp>
      <p:sp>
        <p:nvSpPr>
          <p:cNvPr id="30" name="bld2_2594"/>
          <p:cNvSpPr txBox="1"/>
          <p:nvPr/>
        </p:nvSpPr>
        <p:spPr>
          <a:xfrm>
            <a:off x="9258605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</a:t>
            </a:r>
            <a:endParaRPr lang="en-US" sz="1250" dirty="0"/>
          </a:p>
        </p:txBody>
      </p:sp>
      <p:sp>
        <p:nvSpPr>
          <p:cNvPr id="31" name="bld3_2595"/>
          <p:cNvSpPr txBox="1"/>
          <p:nvPr/>
        </p:nvSpPr>
        <p:spPr>
          <a:xfrm>
            <a:off x="3886200" y="31181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ROLE</a:t>
            </a:r>
            <a:endParaRPr lang="en-US" sz="1000" dirty="0"/>
          </a:p>
        </p:txBody>
      </p:sp>
      <p:sp>
        <p:nvSpPr>
          <p:cNvPr id="32" name="bld3_2596"/>
          <p:cNvSpPr txBox="1"/>
          <p:nvPr/>
        </p:nvSpPr>
        <p:spPr>
          <a:xfrm>
            <a:off x="3886200" y="3337560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blending — it softens the transitions between other materials and adds a woody glow around the whole formula.</a:t>
            </a:r>
            <a:endParaRPr lang="en-US" sz="1250" dirty="0"/>
          </a:p>
        </p:txBody>
      </p:sp>
      <p:sp>
        <p:nvSpPr>
          <p:cNvPr id="33" name="bld4_2597"/>
          <p:cNvSpPr txBox="1"/>
          <p:nvPr/>
        </p:nvSpPr>
        <p:spPr>
          <a:xfrm>
            <a:off x="3886200" y="3831336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34" name="bld4_2598"/>
          <p:cNvSpPr txBox="1"/>
          <p:nvPr/>
        </p:nvSpPr>
        <p:spPr>
          <a:xfrm>
            <a:off x="3886200" y="4050792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woody and woody-amber structures; softening sharp materials; adding radiance without weight.</a:t>
            </a:r>
            <a:endParaRPr lang="en-US" sz="1250" dirty="0"/>
          </a:p>
        </p:txBody>
      </p:sp>
      <p:sp>
        <p:nvSpPr>
          <p:cNvPr id="35" name="bld5_2599"/>
          <p:cNvSpPr txBox="1"/>
          <p:nvPr/>
        </p:nvSpPr>
        <p:spPr>
          <a:xfrm>
            <a:off x="3886200" y="44897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WELL WITH</a:t>
            </a:r>
            <a:endParaRPr lang="en-US" sz="1000" dirty="0"/>
          </a:p>
        </p:txBody>
      </p:sp>
      <p:sp>
        <p:nvSpPr>
          <p:cNvPr id="36" name="bld5_2600"/>
          <p:cNvSpPr txBox="1"/>
          <p:nvPr/>
        </p:nvSpPr>
        <p:spPr>
          <a:xfrm>
            <a:off x="3886200" y="4709160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Ambroxan-type materials, clean musks, most florals, citrus.</a:t>
            </a:r>
            <a:endParaRPr lang="en-US" sz="1250" dirty="0"/>
          </a:p>
        </p:txBody>
      </p:sp>
      <p:sp>
        <p:nvSpPr>
          <p:cNvPr id="37" name="bld6_2601"/>
          <p:cNvSpPr txBox="1"/>
          <p:nvPr/>
        </p:nvSpPr>
        <p:spPr>
          <a:xfrm>
            <a:off x="3886200" y="5148072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 FOR</a:t>
            </a:r>
            <a:endParaRPr lang="en-US" sz="1000" dirty="0"/>
          </a:p>
        </p:txBody>
      </p:sp>
      <p:sp>
        <p:nvSpPr>
          <p:cNvPr id="38" name="bld6_2602"/>
          <p:cNvSpPr txBox="1"/>
          <p:nvPr/>
        </p:nvSpPr>
        <p:spPr>
          <a:xfrm>
            <a:off x="3886200" y="5367528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large amounts it stops supporting the architecture and becomes the architecture itself.</a:t>
            </a:r>
            <a:endParaRPr lang="en-US" sz="1250" dirty="0"/>
          </a:p>
        </p:txBody>
      </p:sp>
      <p:sp>
        <p:nvSpPr>
          <p:cNvPr id="39" name="bld7_2603"/>
          <p:cNvSpPr/>
          <p:nvPr/>
        </p:nvSpPr>
        <p:spPr>
          <a:xfrm>
            <a:off x="3886200" y="5806440"/>
            <a:ext cx="7756855" cy="475488"/>
          </a:xfrm>
          <a:prstGeom prst="roundRect">
            <a:avLst>
              <a:gd name="adj" fmla="val 15385"/>
            </a:avLst>
          </a:prstGeom>
          <a:solidFill>
            <a:srgbClr val="8A6339">
              <a:alpha val="12000"/>
            </a:srgbClr>
          </a:solidFill>
          <a:ln/>
        </p:spPr>
      </p:sp>
      <p:sp>
        <p:nvSpPr>
          <p:cNvPr id="40" name="bld7_2604"/>
          <p:cNvSpPr txBox="1"/>
          <p:nvPr/>
        </p:nvSpPr>
        <p:spPr>
          <a:xfrm>
            <a:off x="4069080" y="5806440"/>
            <a:ext cx="7391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8A63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soft-focus lens placed over the entire formula."</a:t>
            </a:r>
            <a:endParaRPr lang="en-US" sz="1300" dirty="0"/>
          </a:p>
        </p:txBody>
      </p:sp>
      <p:sp>
        <p:nvSpPr>
          <p:cNvPr id="42" name="trans_fade_1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CHANGES ITS JOB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amount vs. large amount</a:t>
            </a:r>
            <a:endParaRPr lang="en-US" sz="3200" dirty="0"/>
          </a:p>
        </p:txBody>
      </p:sp>
      <p:sp>
        <p:nvSpPr>
          <p:cNvPr id="7" name="bld1_2605"/>
          <p:cNvSpPr/>
          <p:nvPr/>
        </p:nvSpPr>
        <p:spPr>
          <a:xfrm>
            <a:off x="548640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06"/>
          <p:cNvSpPr txBox="1"/>
          <p:nvPr/>
        </p:nvSpPr>
        <p:spPr>
          <a:xfrm>
            <a:off x="841248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AMOUNT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87084" y="3178473"/>
            <a:ext cx="1287439" cy="1287439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2728703" y="3320091"/>
            <a:ext cx="1004202" cy="100420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829123" y="3420511"/>
            <a:ext cx="803362" cy="8033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2929543" y="3520931"/>
            <a:ext cx="602521" cy="60252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029963" y="3621352"/>
            <a:ext cx="401681" cy="40168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3130384" y="3721772"/>
            <a:ext cx="200840" cy="20084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170552" y="3761940"/>
            <a:ext cx="120504" cy="12050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2587084" y="3178473"/>
            <a:ext cx="1287439" cy="1287439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30952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texture</a:t>
            </a:r>
            <a:endParaRPr lang="en-US" sz="1200" dirty="0"/>
          </a:p>
        </p:txBody>
      </p:sp>
      <p:sp>
        <p:nvSpPr>
          <p:cNvPr id="18" name="bld2_2607"/>
          <p:cNvSpPr/>
          <p:nvPr/>
        </p:nvSpPr>
        <p:spPr>
          <a:xfrm>
            <a:off x="6278728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2608"/>
          <p:cNvSpPr txBox="1"/>
          <p:nvPr/>
        </p:nvSpPr>
        <p:spPr>
          <a:xfrm>
            <a:off x="6571336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AMOUNT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951394" y="2749601"/>
            <a:ext cx="2018995" cy="20189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8173483" y="2971690"/>
            <a:ext cx="1574816" cy="157481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330965" y="3129172"/>
            <a:ext cx="1259853" cy="125985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8488447" y="3286654"/>
            <a:ext cx="944890" cy="9448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645928" y="3444135"/>
            <a:ext cx="629927" cy="62992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8803410" y="3601617"/>
            <a:ext cx="314963" cy="31496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866402" y="3664609"/>
            <a:ext cx="188978" cy="188978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1394" y="2749601"/>
            <a:ext cx="2018995" cy="20189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61608" y="5330952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part of the architecture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modern fragrance styles use Iso E Super at very high percentages, deliberately, as the fragrance's main idea.</a:t>
            </a:r>
            <a:endParaRPr lang="en-US" sz="1250" dirty="0"/>
          </a:p>
        </p:txBody>
      </p:sp>
      <p:sp>
        <p:nvSpPr>
          <p:cNvPr id="31" name="trans_wipe_l_1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5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18" grpId="0"/>
      <p:bldP spid="19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DEEPER · RAW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275588" y="1892808"/>
            <a:ext cx="1426464" cy="142646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1453896" y="2071116"/>
            <a:ext cx="1069848" cy="10698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2204" y="2249424"/>
            <a:ext cx="713232" cy="7132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810512" y="2427732"/>
            <a:ext cx="356616" cy="35661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903232" y="2520452"/>
            <a:ext cx="171176" cy="171176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421892" y="414223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5C4326">
              <a:alpha val="12000"/>
            </a:srgbClr>
          </a:solidFill>
          <a:ln w="12700">
            <a:solidFill>
              <a:srgbClr val="5C43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21892" y="414223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421892" y="441655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5C5646">
              <a:alpha val="12000"/>
            </a:srgbClr>
          </a:solidFill>
          <a:ln w="12700">
            <a:solidFill>
              <a:srgbClr val="5C564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21892" y="441655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/ MUSK</a:t>
            </a:r>
            <a:endParaRPr lang="en-US" sz="850" dirty="0"/>
          </a:p>
        </p:txBody>
      </p:sp>
      <p:sp>
        <p:nvSpPr>
          <p:cNvPr id="19" name="bld1_2609"/>
          <p:cNvSpPr txBox="1"/>
          <p:nvPr/>
        </p:nvSpPr>
        <p:spPr>
          <a:xfrm>
            <a:off x="3886200" y="1737360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ODOUR</a:t>
            </a:r>
            <a:endParaRPr lang="en-US" sz="1000" dirty="0"/>
          </a:p>
        </p:txBody>
      </p:sp>
      <p:sp>
        <p:nvSpPr>
          <p:cNvPr id="20" name="bld1_2610"/>
          <p:cNvSpPr txBox="1"/>
          <p:nvPr/>
        </p:nvSpPr>
        <p:spPr>
          <a:xfrm>
            <a:off x="3886200" y="1956816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Woody, musky, spicy and mineral all at once — a warm, textural, almost "soft fabric" quality.</a:t>
            </a:r>
            <a:endParaRPr lang="en-US" sz="1250" dirty="0"/>
          </a:p>
        </p:txBody>
      </p:sp>
      <p:sp>
        <p:nvSpPr>
          <p:cNvPr id="21" name="bld2_2611"/>
          <p:cNvSpPr/>
          <p:nvPr/>
        </p:nvSpPr>
        <p:spPr>
          <a:xfrm>
            <a:off x="3886200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2" name="bld2_2612"/>
          <p:cNvSpPr txBox="1"/>
          <p:nvPr/>
        </p:nvSpPr>
        <p:spPr>
          <a:xfrm>
            <a:off x="3995928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850" dirty="0"/>
          </a:p>
        </p:txBody>
      </p:sp>
      <p:sp>
        <p:nvSpPr>
          <p:cNvPr id="23" name="bld2_2613"/>
          <p:cNvSpPr txBox="1"/>
          <p:nvPr/>
        </p:nvSpPr>
        <p:spPr>
          <a:xfrm>
            <a:off x="3995928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Medium–high</a:t>
            </a:r>
            <a:endParaRPr lang="en-US" sz="1250" dirty="0"/>
          </a:p>
        </p:txBody>
      </p:sp>
      <p:sp>
        <p:nvSpPr>
          <p:cNvPr id="24" name="bld2_2614"/>
          <p:cNvSpPr/>
          <p:nvPr/>
        </p:nvSpPr>
        <p:spPr>
          <a:xfrm>
            <a:off x="6517538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5" name="bld2_2615"/>
          <p:cNvSpPr txBox="1"/>
          <p:nvPr/>
        </p:nvSpPr>
        <p:spPr>
          <a:xfrm>
            <a:off x="6627266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850" dirty="0"/>
          </a:p>
        </p:txBody>
      </p:sp>
      <p:sp>
        <p:nvSpPr>
          <p:cNvPr id="26" name="bld2_2616"/>
          <p:cNvSpPr txBox="1"/>
          <p:nvPr/>
        </p:nvSpPr>
        <p:spPr>
          <a:xfrm>
            <a:off x="6627266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Medium–high</a:t>
            </a:r>
            <a:endParaRPr lang="en-US" sz="1250" dirty="0"/>
          </a:p>
        </p:txBody>
      </p:sp>
      <p:sp>
        <p:nvSpPr>
          <p:cNvPr id="27" name="bld2_2617"/>
          <p:cNvSpPr/>
          <p:nvPr/>
        </p:nvSpPr>
        <p:spPr>
          <a:xfrm>
            <a:off x="9148877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28" name="bld2_2618"/>
          <p:cNvSpPr txBox="1"/>
          <p:nvPr/>
        </p:nvSpPr>
        <p:spPr>
          <a:xfrm>
            <a:off x="9258605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850" dirty="0"/>
          </a:p>
        </p:txBody>
      </p:sp>
      <p:sp>
        <p:nvSpPr>
          <p:cNvPr id="29" name="bld2_2619"/>
          <p:cNvSpPr txBox="1"/>
          <p:nvPr/>
        </p:nvSpPr>
        <p:spPr>
          <a:xfrm>
            <a:off x="9258605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</a:t>
            </a:r>
            <a:endParaRPr lang="en-US" sz="1250" dirty="0"/>
          </a:p>
        </p:txBody>
      </p:sp>
      <p:sp>
        <p:nvSpPr>
          <p:cNvPr id="30" name="bld3_2620"/>
          <p:cNvSpPr txBox="1"/>
          <p:nvPr/>
        </p:nvSpPr>
        <p:spPr>
          <a:xfrm>
            <a:off x="3886200" y="31181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ROLE</a:t>
            </a:r>
            <a:endParaRPr lang="en-US" sz="1000" dirty="0"/>
          </a:p>
        </p:txBody>
      </p:sp>
      <p:sp>
        <p:nvSpPr>
          <p:cNvPr id="31" name="bld3_2621"/>
          <p:cNvSpPr txBox="1"/>
          <p:nvPr/>
        </p:nvSpPr>
        <p:spPr>
          <a:xfrm>
            <a:off x="3886200" y="3337560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physical texture — a cosy, enveloping warmth — rather than a single recognisable note.</a:t>
            </a:r>
            <a:endParaRPr lang="en-US" sz="1250" dirty="0"/>
          </a:p>
        </p:txBody>
      </p:sp>
      <p:sp>
        <p:nvSpPr>
          <p:cNvPr id="32" name="bld4_2622"/>
          <p:cNvSpPr txBox="1"/>
          <p:nvPr/>
        </p:nvSpPr>
        <p:spPr>
          <a:xfrm>
            <a:off x="3886200" y="3831336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33" name="bld4_2623"/>
          <p:cNvSpPr txBox="1"/>
          <p:nvPr/>
        </p:nvSpPr>
        <p:spPr>
          <a:xfrm>
            <a:off x="3886200" y="4050792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Comfort-driven woody or gourmand-adjacent formulas; warm skin-scent effects.</a:t>
            </a:r>
            <a:endParaRPr lang="en-US" sz="1250" dirty="0"/>
          </a:p>
        </p:txBody>
      </p:sp>
      <p:sp>
        <p:nvSpPr>
          <p:cNvPr id="34" name="bld5_2624"/>
          <p:cNvSpPr txBox="1"/>
          <p:nvPr/>
        </p:nvSpPr>
        <p:spPr>
          <a:xfrm>
            <a:off x="3886200" y="44897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WELL WITH</a:t>
            </a:r>
            <a:endParaRPr lang="en-US" sz="1000" dirty="0"/>
          </a:p>
        </p:txBody>
      </p:sp>
      <p:sp>
        <p:nvSpPr>
          <p:cNvPr id="35" name="bld5_2625"/>
          <p:cNvSpPr txBox="1"/>
          <p:nvPr/>
        </p:nvSpPr>
        <p:spPr>
          <a:xfrm>
            <a:off x="3886200" y="4709160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ambers, spices, vanilla.</a:t>
            </a:r>
            <a:endParaRPr lang="en-US" sz="1250" dirty="0"/>
          </a:p>
        </p:txBody>
      </p:sp>
      <p:sp>
        <p:nvSpPr>
          <p:cNvPr id="36" name="bld6_2626"/>
          <p:cNvSpPr txBox="1"/>
          <p:nvPr/>
        </p:nvSpPr>
        <p:spPr>
          <a:xfrm>
            <a:off x="3886200" y="5148072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 FOR</a:t>
            </a:r>
            <a:endParaRPr lang="en-US" sz="1000" dirty="0"/>
          </a:p>
        </p:txBody>
      </p:sp>
      <p:sp>
        <p:nvSpPr>
          <p:cNvPr id="37" name="bld6_2627"/>
          <p:cNvSpPr txBox="1"/>
          <p:nvPr/>
        </p:nvSpPr>
        <p:spPr>
          <a:xfrm>
            <a:off x="3886200" y="5367528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warmth reads heavy fast if it isn't balanced with something diffusive or fresh.</a:t>
            </a:r>
            <a:endParaRPr lang="en-US" sz="1250" dirty="0"/>
          </a:p>
        </p:txBody>
      </p:sp>
      <p:sp>
        <p:nvSpPr>
          <p:cNvPr id="38" name="bld7_2628"/>
          <p:cNvSpPr/>
          <p:nvPr/>
        </p:nvSpPr>
        <p:spPr>
          <a:xfrm>
            <a:off x="3886200" y="5806440"/>
            <a:ext cx="7756855" cy="475488"/>
          </a:xfrm>
          <a:prstGeom prst="roundRect">
            <a:avLst>
              <a:gd name="adj" fmla="val 15385"/>
            </a:avLst>
          </a:prstGeom>
          <a:solidFill>
            <a:srgbClr val="5C4326">
              <a:alpha val="12000"/>
            </a:srgbClr>
          </a:solidFill>
          <a:ln/>
        </p:spPr>
      </p:sp>
      <p:sp>
        <p:nvSpPr>
          <p:cNvPr id="39" name="bld7_2629"/>
          <p:cNvSpPr txBox="1"/>
          <p:nvPr/>
        </p:nvSpPr>
        <p:spPr>
          <a:xfrm>
            <a:off x="4069080" y="5806440"/>
            <a:ext cx="7391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cashmere sweater, rendered in scent."</a:t>
            </a:r>
            <a:endParaRPr lang="en-US" sz="1300" dirty="0"/>
          </a:p>
        </p:txBody>
      </p:sp>
      <p:sp>
        <p:nvSpPr>
          <p:cNvPr id="41" name="trans_fade_1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VISUALISING TEXTURE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 + fabric + spice + warm mineral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724248" y="2560320"/>
            <a:ext cx="2743200" cy="2743200"/>
          </a:xfrm>
          <a:prstGeom prst="ellipse">
            <a:avLst/>
          </a:prstGeom>
          <a:ln w="27432">
            <a:solidFill>
              <a:srgbClr val="5C432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1408" y="2834640"/>
            <a:ext cx="1097280" cy="10972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44288" y="3017520"/>
            <a:ext cx="731520" cy="731520"/>
          </a:xfrm>
          <a:prstGeom prst="donut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5227168" y="3200400"/>
            <a:ext cx="365760" cy="36576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344211" y="3317443"/>
            <a:ext cx="131674" cy="1316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2" name="Shape 10"/>
          <p:cNvSpPr/>
          <p:nvPr/>
        </p:nvSpPr>
        <p:spPr>
          <a:xfrm>
            <a:off x="6208319" y="3111703"/>
            <a:ext cx="1009498" cy="68031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9000000">
            <a:off x="5286604" y="4240804"/>
            <a:ext cx="604601" cy="60460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000000">
            <a:off x="5151090" y="4178259"/>
            <a:ext cx="375270" cy="375270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1400000">
            <a:off x="5578480" y="4115714"/>
            <a:ext cx="312725" cy="31272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315304" y="4151376"/>
            <a:ext cx="713232" cy="713232"/>
          </a:xfrm>
          <a:prstGeom prst="star5">
            <a:avLst/>
          </a:prstGeom>
          <a:solidFill>
            <a:srgbClr val="BE9A66">
              <a:alpha val="90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combines all four in one material</a:t>
            </a:r>
            <a:endParaRPr lang="en-US" sz="1250" dirty="0"/>
          </a:p>
        </p:txBody>
      </p:sp>
      <p:sp>
        <p:nvSpPr>
          <p:cNvPr id="19" name="trans_fade_1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DEEPER · RAW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>
            <a:off x="1275588" y="1892808"/>
            <a:ext cx="1426464" cy="142646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75440" y="1992660"/>
            <a:ext cx="1226759" cy="12267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953158" y="2035454"/>
            <a:ext cx="71323" cy="556321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917497" y="2534717"/>
            <a:ext cx="142646" cy="14264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4420" y="1691640"/>
            <a:ext cx="1828800" cy="182880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6850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421892" y="414223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9EC24C">
              <a:alpha val="12000"/>
            </a:srgbClr>
          </a:solidFill>
          <a:ln w="12700">
            <a:solidFill>
              <a:srgbClr val="9EC24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21892" y="414223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421892" y="4416552"/>
            <a:ext cx="1133856" cy="237744"/>
          </a:xfrm>
          <a:prstGeom prst="roundRect">
            <a:avLst>
              <a:gd name="adj" fmla="val 50000"/>
            </a:avLst>
          </a:prstGeom>
          <a:solidFill>
            <a:srgbClr val="5C5646">
              <a:alpha val="12000"/>
            </a:srgbClr>
          </a:solidFill>
          <a:ln w="12700">
            <a:solidFill>
              <a:srgbClr val="5C564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421892" y="441655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/ CITRUS</a:t>
            </a:r>
            <a:endParaRPr lang="en-US" sz="850" dirty="0"/>
          </a:p>
        </p:txBody>
      </p:sp>
      <p:sp>
        <p:nvSpPr>
          <p:cNvPr id="27" name="bld1_2630"/>
          <p:cNvSpPr txBox="1"/>
          <p:nvPr/>
        </p:nvSpPr>
        <p:spPr>
          <a:xfrm>
            <a:off x="3886200" y="1737360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ODOUR</a:t>
            </a:r>
            <a:endParaRPr lang="en-US" sz="1000" dirty="0"/>
          </a:p>
        </p:txBody>
      </p:sp>
      <p:sp>
        <p:nvSpPr>
          <p:cNvPr id="28" name="bld1_2631"/>
          <p:cNvSpPr txBox="1"/>
          <p:nvPr/>
        </p:nvSpPr>
        <p:spPr>
          <a:xfrm>
            <a:off x="3886200" y="1956816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fresh, citrus-aromatic and clean, with a slightly floral-lime edge.</a:t>
            </a:r>
            <a:endParaRPr lang="en-US" sz="1250" dirty="0"/>
          </a:p>
        </p:txBody>
      </p:sp>
      <p:sp>
        <p:nvSpPr>
          <p:cNvPr id="29" name="bld2_2632"/>
          <p:cNvSpPr/>
          <p:nvPr/>
        </p:nvSpPr>
        <p:spPr>
          <a:xfrm>
            <a:off x="3886200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30" name="bld2_2633"/>
          <p:cNvSpPr txBox="1"/>
          <p:nvPr/>
        </p:nvSpPr>
        <p:spPr>
          <a:xfrm>
            <a:off x="3995928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850" dirty="0"/>
          </a:p>
        </p:txBody>
      </p:sp>
      <p:sp>
        <p:nvSpPr>
          <p:cNvPr id="31" name="bld2_2634"/>
          <p:cNvSpPr txBox="1"/>
          <p:nvPr/>
        </p:nvSpPr>
        <p:spPr>
          <a:xfrm>
            <a:off x="3995928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endParaRPr lang="en-US" sz="1250" dirty="0"/>
          </a:p>
        </p:txBody>
      </p:sp>
      <p:sp>
        <p:nvSpPr>
          <p:cNvPr id="32" name="bld2_2635"/>
          <p:cNvSpPr/>
          <p:nvPr/>
        </p:nvSpPr>
        <p:spPr>
          <a:xfrm>
            <a:off x="6517538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33" name="bld2_2636"/>
          <p:cNvSpPr txBox="1"/>
          <p:nvPr/>
        </p:nvSpPr>
        <p:spPr>
          <a:xfrm>
            <a:off x="6627266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850" dirty="0"/>
          </a:p>
        </p:txBody>
      </p:sp>
      <p:sp>
        <p:nvSpPr>
          <p:cNvPr id="34" name="bld2_2637"/>
          <p:cNvSpPr txBox="1"/>
          <p:nvPr/>
        </p:nvSpPr>
        <p:spPr>
          <a:xfrm>
            <a:off x="6627266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Very high</a:t>
            </a:r>
            <a:endParaRPr lang="en-US" sz="1250" dirty="0"/>
          </a:p>
        </p:txBody>
      </p:sp>
      <p:sp>
        <p:nvSpPr>
          <p:cNvPr id="35" name="bld2_2638"/>
          <p:cNvSpPr/>
          <p:nvPr/>
        </p:nvSpPr>
        <p:spPr>
          <a:xfrm>
            <a:off x="9148877" y="2450592"/>
            <a:ext cx="2494178" cy="502920"/>
          </a:xfrm>
          <a:prstGeom prst="roundRect">
            <a:avLst>
              <a:gd name="adj" fmla="val 14545"/>
            </a:avLst>
          </a:prstGeom>
          <a:solidFill>
            <a:srgbClr val="EFE6D2"/>
          </a:solidFill>
          <a:ln/>
        </p:spPr>
      </p:sp>
      <p:sp>
        <p:nvSpPr>
          <p:cNvPr id="36" name="bld2_2639"/>
          <p:cNvSpPr txBox="1"/>
          <p:nvPr/>
        </p:nvSpPr>
        <p:spPr>
          <a:xfrm>
            <a:off x="9258605" y="2514600"/>
            <a:ext cx="2274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850" dirty="0"/>
          </a:p>
        </p:txBody>
      </p:sp>
      <p:sp>
        <p:nvSpPr>
          <p:cNvPr id="37" name="bld2_2640"/>
          <p:cNvSpPr txBox="1"/>
          <p:nvPr/>
        </p:nvSpPr>
        <p:spPr>
          <a:xfrm>
            <a:off x="9258605" y="2679192"/>
            <a:ext cx="2274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250" dirty="0"/>
          </a:p>
        </p:txBody>
      </p:sp>
      <p:sp>
        <p:nvSpPr>
          <p:cNvPr id="38" name="bld3_2641"/>
          <p:cNvSpPr txBox="1"/>
          <p:nvPr/>
        </p:nvSpPr>
        <p:spPr>
          <a:xfrm>
            <a:off x="3886200" y="31181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ROLE</a:t>
            </a:r>
            <a:endParaRPr lang="en-US" sz="1000" dirty="0"/>
          </a:p>
        </p:txBody>
      </p:sp>
      <p:sp>
        <p:nvSpPr>
          <p:cNvPr id="39" name="bld3_2642"/>
          <p:cNvSpPr txBox="1"/>
          <p:nvPr/>
        </p:nvSpPr>
        <p:spPr>
          <a:xfrm>
            <a:off x="3886200" y="3337560"/>
            <a:ext cx="7756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Lift, energy, cleanliness and space at the top of a formula.</a:t>
            </a:r>
            <a:endParaRPr lang="en-US" sz="1250" dirty="0"/>
          </a:p>
        </p:txBody>
      </p:sp>
      <p:sp>
        <p:nvSpPr>
          <p:cNvPr id="40" name="bld4_2643"/>
          <p:cNvSpPr txBox="1"/>
          <p:nvPr/>
        </p:nvSpPr>
        <p:spPr>
          <a:xfrm>
            <a:off x="3886200" y="3831336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41" name="bld4_2644"/>
          <p:cNvSpPr txBox="1"/>
          <p:nvPr/>
        </p:nvSpPr>
        <p:spPr>
          <a:xfrm>
            <a:off x="3886200" y="4050792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masculine fresh fragrances, fougères, cologne-style openings.</a:t>
            </a:r>
            <a:endParaRPr lang="en-US" sz="1250" dirty="0"/>
          </a:p>
        </p:txBody>
      </p:sp>
      <p:sp>
        <p:nvSpPr>
          <p:cNvPr id="42" name="bld5_2645"/>
          <p:cNvSpPr txBox="1"/>
          <p:nvPr/>
        </p:nvSpPr>
        <p:spPr>
          <a:xfrm>
            <a:off x="3886200" y="4489704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WELL WITH</a:t>
            </a:r>
            <a:endParaRPr lang="en-US" sz="1000" dirty="0"/>
          </a:p>
        </p:txBody>
      </p:sp>
      <p:sp>
        <p:nvSpPr>
          <p:cNvPr id="43" name="bld5_2646"/>
          <p:cNvSpPr txBox="1"/>
          <p:nvPr/>
        </p:nvSpPr>
        <p:spPr>
          <a:xfrm>
            <a:off x="3886200" y="4709160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lavender, clean musks, marine materials.</a:t>
            </a:r>
            <a:endParaRPr lang="en-US" sz="1250" dirty="0"/>
          </a:p>
        </p:txBody>
      </p:sp>
      <p:sp>
        <p:nvSpPr>
          <p:cNvPr id="44" name="bld6_2647"/>
          <p:cNvSpPr txBox="1"/>
          <p:nvPr/>
        </p:nvSpPr>
        <p:spPr>
          <a:xfrm>
            <a:off x="3886200" y="5148072"/>
            <a:ext cx="7756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 FOR</a:t>
            </a:r>
            <a:endParaRPr lang="en-US" sz="1000" dirty="0"/>
          </a:p>
        </p:txBody>
      </p:sp>
      <p:sp>
        <p:nvSpPr>
          <p:cNvPr id="45" name="bld6_2648"/>
          <p:cNvSpPr txBox="1"/>
          <p:nvPr/>
        </p:nvSpPr>
        <p:spPr>
          <a:xfrm>
            <a:off x="3886200" y="5367528"/>
            <a:ext cx="7756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dominates an opening fast if overdosed, flattening more delicate top notes around it.</a:t>
            </a:r>
            <a:endParaRPr lang="en-US" sz="1250" dirty="0"/>
          </a:p>
        </p:txBody>
      </p:sp>
      <p:sp>
        <p:nvSpPr>
          <p:cNvPr id="46" name="bld7_2649"/>
          <p:cNvSpPr/>
          <p:nvPr/>
        </p:nvSpPr>
        <p:spPr>
          <a:xfrm>
            <a:off x="3886200" y="5806440"/>
            <a:ext cx="7756855" cy="475488"/>
          </a:xfrm>
          <a:prstGeom prst="roundRect">
            <a:avLst>
              <a:gd name="adj" fmla="val 15385"/>
            </a:avLst>
          </a:prstGeom>
          <a:solidFill>
            <a:srgbClr val="9EC24C">
              <a:alpha val="12000"/>
            </a:srgbClr>
          </a:solidFill>
          <a:ln/>
        </p:spPr>
      </p:sp>
      <p:sp>
        <p:nvSpPr>
          <p:cNvPr id="47" name="bld7_2650"/>
          <p:cNvSpPr txBox="1"/>
          <p:nvPr/>
        </p:nvSpPr>
        <p:spPr>
          <a:xfrm>
            <a:off x="4069080" y="5806440"/>
            <a:ext cx="7391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9EC2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cold shower, in liquid form."</a:t>
            </a:r>
            <a:endParaRPr lang="en-US" sz="1300" dirty="0"/>
          </a:p>
        </p:txBody>
      </p:sp>
      <p:sp>
        <p:nvSpPr>
          <p:cNvPr id="49" name="trans_fade_1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0" name="Text 4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AMBERGRIS-STYLE FAMILY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 are not interchangeable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59019" y="5024783"/>
            <a:ext cx="1217671" cy="1217671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06358" y="5272122"/>
            <a:ext cx="722992" cy="722992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0515" y="5386279"/>
            <a:ext cx="494679" cy="494679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34672" y="5500436"/>
            <a:ext cx="266365" cy="26636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0515" y="5386279"/>
            <a:ext cx="494679" cy="494679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06358" y="5272122"/>
            <a:ext cx="722992" cy="722992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2651"/>
          <p:cNvSpPr/>
          <p:nvPr/>
        </p:nvSpPr>
        <p:spPr>
          <a:xfrm>
            <a:off x="548640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2169719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2095543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2329483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1_2653"/>
          <p:cNvSpPr txBox="1"/>
          <p:nvPr/>
        </p:nvSpPr>
        <p:spPr>
          <a:xfrm>
            <a:off x="731520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21" name="bld1_2654"/>
          <p:cNvSpPr txBox="1"/>
          <p:nvPr/>
        </p:nvSpPr>
        <p:spPr>
          <a:xfrm>
            <a:off x="731520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— dry, radiant amber-musk with strong, far-reaching projection.</a:t>
            </a:r>
            <a:endParaRPr lang="en-US" sz="1080" dirty="0"/>
          </a:p>
        </p:txBody>
      </p:sp>
      <p:sp>
        <p:nvSpPr>
          <p:cNvPr id="22" name="bld2_2655"/>
          <p:cNvSpPr/>
          <p:nvPr/>
        </p:nvSpPr>
        <p:spPr>
          <a:xfrm>
            <a:off x="4332122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5320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87902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296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2_2657"/>
          <p:cNvSpPr txBox="1"/>
          <p:nvPr/>
        </p:nvSpPr>
        <p:spPr>
          <a:xfrm>
            <a:off x="4515002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450" dirty="0"/>
          </a:p>
        </p:txBody>
      </p:sp>
      <p:sp>
        <p:nvSpPr>
          <p:cNvPr id="29" name="bld2_2658"/>
          <p:cNvSpPr txBox="1"/>
          <p:nvPr/>
        </p:nvSpPr>
        <p:spPr>
          <a:xfrm>
            <a:off x="4515002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cleaner, more consistent take on the same effect — prized for reliability batch to batch.</a:t>
            </a:r>
            <a:endParaRPr lang="en-US" sz="1080" dirty="0"/>
          </a:p>
        </p:txBody>
      </p:sp>
      <p:sp>
        <p:nvSpPr>
          <p:cNvPr id="30" name="bld3_2659"/>
          <p:cNvSpPr/>
          <p:nvPr/>
        </p:nvSpPr>
        <p:spPr>
          <a:xfrm>
            <a:off x="8115605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36684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62507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6448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2661"/>
          <p:cNvSpPr txBox="1"/>
          <p:nvPr/>
        </p:nvSpPr>
        <p:spPr>
          <a:xfrm>
            <a:off x="8298485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450" dirty="0"/>
          </a:p>
        </p:txBody>
      </p:sp>
      <p:sp>
        <p:nvSpPr>
          <p:cNvPr id="37" name="bld3_2662"/>
          <p:cNvSpPr txBox="1"/>
          <p:nvPr/>
        </p:nvSpPr>
        <p:spPr>
          <a:xfrm>
            <a:off x="8298485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 and rounder, more ambery-woody, less sharp and dry than pure Ambroxan.</a:t>
            </a:r>
            <a:endParaRPr lang="en-US" sz="1080" dirty="0"/>
          </a:p>
        </p:txBody>
      </p:sp>
      <p:sp>
        <p:nvSpPr>
          <p:cNvPr id="39" name="trans_fade_1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1" grpId="0"/>
      <p:bldP spid="22" grpId="0"/>
      <p:bldP spid="28" grpId="0"/>
      <p:bldP spid="29" grpId="0"/>
      <p:bldP spid="30" grpId="0"/>
      <p:bldP spid="36" grpId="0"/>
      <p:bldP spid="37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IS NOT ONE SMELL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musk spectrum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88720" y="3794760"/>
            <a:ext cx="98142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" y="3282696"/>
            <a:ext cx="1024128" cy="102412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821263" y="3547126"/>
            <a:ext cx="734914" cy="49526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3282696"/>
            <a:ext cx="1024128" cy="102412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1" name="bld1_2664"/>
          <p:cNvSpPr txBox="1"/>
          <p:nvPr/>
        </p:nvSpPr>
        <p:spPr>
          <a:xfrm>
            <a:off x="411480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250" dirty="0"/>
          </a:p>
        </p:txBody>
      </p:sp>
      <p:sp>
        <p:nvSpPr>
          <p:cNvPr id="12" name="bld1_2665"/>
          <p:cNvSpPr txBox="1"/>
          <p:nvPr/>
        </p:nvSpPr>
        <p:spPr>
          <a:xfrm>
            <a:off x="411480" y="4782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soft, laundry-like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39507" y="3282696"/>
            <a:ext cx="1024128" cy="102412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4" name="Shape 12"/>
          <p:cNvSpPr/>
          <p:nvPr/>
        </p:nvSpPr>
        <p:spPr>
          <a:xfrm>
            <a:off x="2784114" y="3547126"/>
            <a:ext cx="734914" cy="49526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9507" y="3282696"/>
            <a:ext cx="1024128" cy="102412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6" name="bld2_2667"/>
          <p:cNvSpPr txBox="1"/>
          <p:nvPr/>
        </p:nvSpPr>
        <p:spPr>
          <a:xfrm>
            <a:off x="2374331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250" dirty="0"/>
          </a:p>
        </p:txBody>
      </p:sp>
      <p:sp>
        <p:nvSpPr>
          <p:cNvPr id="17" name="bld2_2668"/>
          <p:cNvSpPr txBox="1"/>
          <p:nvPr/>
        </p:nvSpPr>
        <p:spPr>
          <a:xfrm>
            <a:off x="2374331" y="4782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metallic, modern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02358" y="3282696"/>
            <a:ext cx="1024128" cy="102412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9" name="Shape 17"/>
          <p:cNvSpPr/>
          <p:nvPr/>
        </p:nvSpPr>
        <p:spPr>
          <a:xfrm>
            <a:off x="4746965" y="3547126"/>
            <a:ext cx="734914" cy="49526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02358" y="3282696"/>
            <a:ext cx="1024128" cy="102412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1" name="bld3_2670"/>
          <p:cNvSpPr txBox="1"/>
          <p:nvPr/>
        </p:nvSpPr>
        <p:spPr>
          <a:xfrm>
            <a:off x="4337182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250" dirty="0"/>
          </a:p>
        </p:txBody>
      </p:sp>
      <p:sp>
        <p:nvSpPr>
          <p:cNvPr id="22" name="bld3_2671"/>
          <p:cNvSpPr txBox="1"/>
          <p:nvPr/>
        </p:nvSpPr>
        <p:spPr>
          <a:xfrm>
            <a:off x="4337182" y="4782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skin-like, ambrette-fruity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5209" y="3282696"/>
            <a:ext cx="1024128" cy="102412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4" name="Shape 22"/>
          <p:cNvSpPr/>
          <p:nvPr/>
        </p:nvSpPr>
        <p:spPr>
          <a:xfrm>
            <a:off x="6709816" y="3547126"/>
            <a:ext cx="734914" cy="49526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65209" y="3282696"/>
            <a:ext cx="1024128" cy="102412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6" name="bld4_2673"/>
          <p:cNvSpPr txBox="1"/>
          <p:nvPr/>
        </p:nvSpPr>
        <p:spPr>
          <a:xfrm>
            <a:off x="6300033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250" dirty="0"/>
          </a:p>
        </p:txBody>
      </p:sp>
      <p:sp>
        <p:nvSpPr>
          <p:cNvPr id="27" name="bld4_2674"/>
          <p:cNvSpPr txBox="1"/>
          <p:nvPr/>
        </p:nvSpPr>
        <p:spPr>
          <a:xfrm>
            <a:off x="6300033" y="4782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Fruity, pear-like nuance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28060" y="3282696"/>
            <a:ext cx="1024128" cy="102412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9" name="Shape 27"/>
          <p:cNvSpPr/>
          <p:nvPr/>
        </p:nvSpPr>
        <p:spPr>
          <a:xfrm>
            <a:off x="8672667" y="3547126"/>
            <a:ext cx="734914" cy="49526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28060" y="3282696"/>
            <a:ext cx="1024128" cy="102412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1" name="bld5_2676"/>
          <p:cNvSpPr txBox="1"/>
          <p:nvPr/>
        </p:nvSpPr>
        <p:spPr>
          <a:xfrm>
            <a:off x="8262884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250" dirty="0"/>
          </a:p>
        </p:txBody>
      </p:sp>
      <p:sp>
        <p:nvSpPr>
          <p:cNvPr id="32" name="bld5_2677"/>
          <p:cNvSpPr txBox="1"/>
          <p:nvPr/>
        </p:nvSpPr>
        <p:spPr>
          <a:xfrm>
            <a:off x="8262884" y="4782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rounded, economical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490911" y="3282696"/>
            <a:ext cx="1024128" cy="102412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0635518" y="3547126"/>
            <a:ext cx="734914" cy="49526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90911" y="3282696"/>
            <a:ext cx="1024128" cy="102412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6" name="bld6_2679"/>
          <p:cNvSpPr txBox="1"/>
          <p:nvPr/>
        </p:nvSpPr>
        <p:spPr>
          <a:xfrm>
            <a:off x="10225735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250" dirty="0"/>
          </a:p>
        </p:txBody>
      </p:sp>
      <p:sp>
        <p:nvSpPr>
          <p:cNvPr id="37" name="bld6_2680"/>
          <p:cNvSpPr txBox="1"/>
          <p:nvPr/>
        </p:nvSpPr>
        <p:spPr>
          <a:xfrm>
            <a:off x="10225735" y="4782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Macrocyclic, soft, naturalistic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selection changes the texture of the entire perfume — clean, metallic, skin-like or fruity are completely different design choices.</a:t>
            </a:r>
            <a:endParaRPr lang="en-US" sz="1350" dirty="0"/>
          </a:p>
        </p:txBody>
      </p:sp>
      <p:sp>
        <p:nvSpPr>
          <p:cNvPr id="40" name="trans_push_l_1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6" grpId="0"/>
      <p:bldP spid="17" grpId="0"/>
      <p:bldP spid="21" grpId="0"/>
      <p:bldP spid="22" grpId="0"/>
      <p:bldP spid="26" grpId="0"/>
      <p:bldP spid="27" grpId="0"/>
      <p:bldP spid="31" grpId="0"/>
      <p:bldP spid="32" grpId="0"/>
      <p:bldP spid="36" grpId="0"/>
      <p:bldP spid="37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FLORAL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 bases — what each is trying to achieve</a:t>
            </a:r>
            <a:endParaRPr lang="en-US" sz="3200" dirty="0"/>
          </a:p>
        </p:txBody>
      </p:sp>
      <p:sp>
        <p:nvSpPr>
          <p:cNvPr id="7" name="bld1_2681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2251740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23631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23205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21828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21403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254165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2683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7" name="bld1_2684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rounded, complex rosy body — more depth than one rose material alone.</a:t>
            </a:r>
            <a:endParaRPr lang="en-US" sz="1080" dirty="0"/>
          </a:p>
        </p:txBody>
      </p:sp>
      <p:sp>
        <p:nvSpPr>
          <p:cNvPr id="18" name="bld2_2685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6061898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6166903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6166903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61898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5956893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5956893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bld2_2687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29" name="bld2_2688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Heady, indolic richness — the heart-note powerhouse of countless florals.</a:t>
            </a:r>
            <a:endParaRPr lang="en-US" sz="1080" dirty="0"/>
          </a:p>
        </p:txBody>
      </p:sp>
      <p:sp>
        <p:nvSpPr>
          <p:cNvPr id="30" name="bld3_2689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9842955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700000">
            <a:off x="9894808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9916287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9894808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0800000">
            <a:off x="9842955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3500000">
            <a:off x="9791102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6200000">
            <a:off x="9769624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8900000">
            <a:off x="9791102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840530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42" name="bld3_2691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Muguet</a:t>
            </a:r>
            <a:endParaRPr lang="en-US" sz="1450" dirty="0"/>
          </a:p>
        </p:txBody>
      </p:sp>
      <p:sp>
        <p:nvSpPr>
          <p:cNvPr id="43" name="bld3_2692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dewy lily-of-the-valley effect built entirely from synthesis.</a:t>
            </a:r>
            <a:endParaRPr lang="en-US" sz="1080" dirty="0"/>
          </a:p>
        </p:txBody>
      </p:sp>
      <p:sp>
        <p:nvSpPr>
          <p:cNvPr id="44" name="bld4_2693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2251740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2363135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2320586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2960000">
            <a:off x="2182895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7280000">
            <a:off x="2140346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2254165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2" name="Shape 5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3" name="bld4_2695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Tuberose</a:t>
            </a:r>
            <a:endParaRPr lang="en-US" sz="1450" dirty="0"/>
          </a:p>
        </p:txBody>
      </p:sp>
      <p:sp>
        <p:nvSpPr>
          <p:cNvPr id="54" name="bld4_2696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heady, slightly rubbery-green — famously difficult to reconstruct.</a:t>
            </a:r>
            <a:endParaRPr lang="en-US" sz="1080" dirty="0"/>
          </a:p>
        </p:txBody>
      </p:sp>
      <p:sp>
        <p:nvSpPr>
          <p:cNvPr id="55" name="bld5_2697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7" name="Shape 55"/>
          <p:cNvSpPr/>
          <p:nvPr/>
        </p:nvSpPr>
        <p:spPr>
          <a:xfrm>
            <a:off x="6035223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4320000">
            <a:off x="6146617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640000">
            <a:off x="6104068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2960000">
            <a:off x="5966377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7280000">
            <a:off x="5923829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037648" y="4521481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3" name="Shape 6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4" name="bld5_2699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450" dirty="0"/>
          </a:p>
        </p:txBody>
      </p:sp>
      <p:sp>
        <p:nvSpPr>
          <p:cNvPr id="65" name="bld5_2700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Fresh-to-lush white floral warmth, from airy to indolic.</a:t>
            </a:r>
            <a:endParaRPr lang="en-US" sz="1080" dirty="0"/>
          </a:p>
        </p:txBody>
      </p:sp>
      <p:sp>
        <p:nvSpPr>
          <p:cNvPr id="66" name="bld6_2701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9825980" y="4351732"/>
            <a:ext cx="106700" cy="106700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flipV="1">
            <a:off x="9696265" y="4405082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9741956" y="4405082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9814996" y="4405082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79330" y="4405082"/>
            <a:ext cx="9144" cy="356473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79330" y="4405082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79330" y="4405082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879330" y="4405082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77" name="bld6_2703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/ orris</a:t>
            </a:r>
            <a:endParaRPr lang="en-US" sz="1450" dirty="0"/>
          </a:p>
        </p:txBody>
      </p:sp>
      <p:sp>
        <p:nvSpPr>
          <p:cNvPr id="78" name="bld6_2704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powdery, carroty-woody — built around one of perfumery's costliest naturals.</a:t>
            </a:r>
            <a:endParaRPr lang="en-US" sz="1080" dirty="0"/>
          </a:p>
        </p:txBody>
      </p:sp>
      <p:sp>
        <p:nvSpPr>
          <p:cNvPr id="80" name="trans_fade_1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1" name="Text 7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8" grpId="0"/>
      <p:bldP spid="29" grpId="0"/>
      <p:bldP spid="30" grpId="0"/>
      <p:bldP spid="42" grpId="0"/>
      <p:bldP spid="43" grpId="0"/>
      <p:bldP spid="44" grpId="0"/>
      <p:bldP spid="53" grpId="0"/>
      <p:bldP spid="54" grpId="0"/>
      <p:bldP spid="55" grpId="0"/>
      <p:bldP spid="64" grpId="0"/>
      <p:bldP spid="65" grpId="0"/>
      <p:bldP spid="66" grpId="0"/>
      <p:bldP spid="77" grpId="0"/>
      <p:bldP spid="78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FRUIT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 bases — juicy character on demand</a:t>
            </a:r>
            <a:endParaRPr lang="en-US" sz="3200" dirty="0"/>
          </a:p>
        </p:txBody>
      </p:sp>
      <p:sp>
        <p:nvSpPr>
          <p:cNvPr id="7" name="bld1_2705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1640581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339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18577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2707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2708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Crisp, green-juicy, instantly recognisable.</a:t>
            </a:r>
            <a:endParaRPr lang="en-US" sz="1080" dirty="0"/>
          </a:p>
        </p:txBody>
      </p:sp>
      <p:sp>
        <p:nvSpPr>
          <p:cNvPr id="15" name="bld2_2709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7" name="Shape 15"/>
          <p:cNvSpPr/>
          <p:nvPr/>
        </p:nvSpPr>
        <p:spPr>
          <a:xfrm>
            <a:off x="4478193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71555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4695330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1" name="bld2_2711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</a:t>
            </a:r>
            <a:endParaRPr lang="en-US" sz="1450" dirty="0"/>
          </a:p>
        </p:txBody>
      </p:sp>
      <p:sp>
        <p:nvSpPr>
          <p:cNvPr id="22" name="bld2_2712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watery-sweet, gentler than apple.</a:t>
            </a:r>
            <a:endParaRPr lang="en-US" sz="1080" dirty="0"/>
          </a:p>
        </p:txBody>
      </p:sp>
      <p:sp>
        <p:nvSpPr>
          <p:cNvPr id="23" name="bld3_2713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804" y="2041080"/>
            <a:ext cx="397698" cy="397698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509167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2000000">
            <a:off x="7532942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9" name="bld3_2715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Peach</a:t>
            </a:r>
            <a:endParaRPr lang="en-US" sz="1450" dirty="0"/>
          </a:p>
        </p:txBody>
      </p:sp>
      <p:sp>
        <p:nvSpPr>
          <p:cNvPr id="30" name="bld3_2716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creamy, lactonic warmth.</a:t>
            </a:r>
            <a:endParaRPr lang="en-US" sz="1080" dirty="0"/>
          </a:p>
        </p:txBody>
      </p:sp>
      <p:sp>
        <p:nvSpPr>
          <p:cNvPr id="31" name="bld4_2717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53416" y="2041080"/>
            <a:ext cx="397698" cy="397698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3467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2000000">
            <a:off x="103705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4_2719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Berry</a:t>
            </a:r>
            <a:endParaRPr lang="en-US" sz="1450" dirty="0"/>
          </a:p>
        </p:txBody>
      </p:sp>
      <p:sp>
        <p:nvSpPr>
          <p:cNvPr id="38" name="bld4_2720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jammy, slightly tart fruit.</a:t>
            </a:r>
            <a:endParaRPr lang="en-US" sz="1080" dirty="0"/>
          </a:p>
        </p:txBody>
      </p:sp>
      <p:sp>
        <p:nvSpPr>
          <p:cNvPr id="39" name="bld5_2721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1718180" y="4458432"/>
            <a:ext cx="242499" cy="242499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3" name="bld5_2723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Pineapple</a:t>
            </a:r>
            <a:endParaRPr lang="en-US" sz="1450" dirty="0"/>
          </a:p>
        </p:txBody>
      </p:sp>
      <p:sp>
        <p:nvSpPr>
          <p:cNvPr id="44" name="bld5_2724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tropical, slightly fermented facet.</a:t>
            </a:r>
            <a:endParaRPr lang="en-US" sz="1080" dirty="0"/>
          </a:p>
        </p:txBody>
      </p:sp>
      <p:sp>
        <p:nvSpPr>
          <p:cNvPr id="45" name="bld6_2725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 rot="8100000">
            <a:off x="4555792" y="4458432"/>
            <a:ext cx="242499" cy="242499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49" name="bld6_2727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Tropical fruit</a:t>
            </a:r>
            <a:endParaRPr lang="en-US" sz="1450" dirty="0"/>
          </a:p>
        </p:txBody>
      </p:sp>
      <p:sp>
        <p:nvSpPr>
          <p:cNvPr id="50" name="bld6_2728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Exotic, sweet, sun-ripened character.</a:t>
            </a:r>
            <a:endParaRPr lang="en-US" sz="1080" dirty="0"/>
          </a:p>
        </p:txBody>
      </p:sp>
      <p:sp>
        <p:nvSpPr>
          <p:cNvPr id="51" name="bld7_2729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53" name="Shape 51"/>
          <p:cNvSpPr/>
          <p:nvPr/>
        </p:nvSpPr>
        <p:spPr>
          <a:xfrm>
            <a:off x="7315804" y="4400232"/>
            <a:ext cx="397698" cy="397698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509167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2000000">
            <a:off x="7532942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7" name="bld7_2731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Cherry</a:t>
            </a:r>
            <a:endParaRPr lang="en-US" sz="1450" dirty="0"/>
          </a:p>
        </p:txBody>
      </p:sp>
      <p:sp>
        <p:nvSpPr>
          <p:cNvPr id="58" name="bld7_2732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Sweet-tart, slightly almond-adjacent.</a:t>
            </a:r>
            <a:endParaRPr lang="en-US" sz="1080" dirty="0"/>
          </a:p>
        </p:txBody>
      </p:sp>
      <p:sp>
        <p:nvSpPr>
          <p:cNvPr id="60" name="trans_fade_1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3" grpId="0"/>
      <p:bldP spid="44" grpId="0"/>
      <p:bldP spid="45" grpId="0"/>
      <p:bldP spid="49" grpId="0"/>
      <p:bldP spid="50" grpId="0"/>
      <p:bldP spid="51" grpId="0"/>
      <p:bldP spid="57" grpId="0"/>
      <p:bldP spid="58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WOODY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bases — the structural workhorses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733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413022" y="2611526"/>
            <a:ext cx="285293" cy="28529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21434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2735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17" name="bld1_2736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milky, soft — the smoothest of the woody bases.</a:t>
            </a:r>
            <a:endParaRPr lang="en-US" sz="1080" dirty="0"/>
          </a:p>
        </p:txBody>
      </p:sp>
      <p:sp>
        <p:nvSpPr>
          <p:cNvPr id="18" name="bld2_2737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540465" y="246888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635563" y="256397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730661" y="265907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91523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2739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</a:t>
            </a:r>
            <a:endParaRPr lang="en-US" sz="1450" dirty="0"/>
          </a:p>
        </p:txBody>
      </p:sp>
      <p:sp>
        <p:nvSpPr>
          <p:cNvPr id="26" name="bld2_2740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structure.</a:t>
            </a:r>
            <a:endParaRPr lang="en-US" sz="1080" dirty="0"/>
          </a:p>
        </p:txBody>
      </p:sp>
      <p:sp>
        <p:nvSpPr>
          <p:cNvPr id="27" name="bld3_2741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810555" y="2468880"/>
            <a:ext cx="570586" cy="57058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0" name="Shape 28"/>
          <p:cNvSpPr/>
          <p:nvPr/>
        </p:nvSpPr>
        <p:spPr>
          <a:xfrm>
            <a:off x="5881878" y="2540203"/>
            <a:ext cx="427939" cy="42793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953201" y="2611526"/>
            <a:ext cx="285293" cy="2852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2" name="Shape 30"/>
          <p:cNvSpPr/>
          <p:nvPr/>
        </p:nvSpPr>
        <p:spPr>
          <a:xfrm>
            <a:off x="6024524" y="2682850"/>
            <a:ext cx="142646" cy="14264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061612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4" name="Shape 32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5" name="bld3_2743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Oud-style</a:t>
            </a:r>
            <a:endParaRPr lang="en-US" sz="1450" dirty="0"/>
          </a:p>
        </p:txBody>
      </p:sp>
      <p:sp>
        <p:nvSpPr>
          <p:cNvPr id="36" name="bld3_2744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animalic, resinous-woody intensity.</a:t>
            </a:r>
            <a:endParaRPr lang="en-US" sz="1080" dirty="0"/>
          </a:p>
        </p:txBody>
      </p:sp>
      <p:sp>
        <p:nvSpPr>
          <p:cNvPr id="37" name="bld4_2745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 rot="8100000">
            <a:off x="8223291" y="2611526"/>
            <a:ext cx="285293" cy="285293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41" name="bld4_2747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 woods</a:t>
            </a:r>
            <a:endParaRPr lang="en-US" sz="1450" dirty="0"/>
          </a:p>
        </p:txBody>
      </p:sp>
      <p:sp>
        <p:nvSpPr>
          <p:cNvPr id="42" name="bld4_2748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Austere, transparent, minimal sweetness.</a:t>
            </a:r>
            <a:endParaRPr lang="en-US" sz="1080" dirty="0"/>
          </a:p>
        </p:txBody>
      </p:sp>
      <p:sp>
        <p:nvSpPr>
          <p:cNvPr id="43" name="bld5_2749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5" name="Shape 43"/>
          <p:cNvSpPr/>
          <p:nvPr/>
        </p:nvSpPr>
        <p:spPr>
          <a:xfrm rot="5400000">
            <a:off x="10453439" y="2554468"/>
            <a:ext cx="125529" cy="37088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5400000">
            <a:off x="10573262" y="2597262"/>
            <a:ext cx="125529" cy="37088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5400000">
            <a:off x="10693085" y="2640056"/>
            <a:ext cx="125529" cy="37088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49" name="bld5_2751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Smoky woods</a:t>
            </a:r>
            <a:endParaRPr lang="en-US" sz="1450" dirty="0"/>
          </a:p>
        </p:txBody>
      </p:sp>
      <p:sp>
        <p:nvSpPr>
          <p:cNvPr id="50" name="bld5_2752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Charred, campfire-adjacent depth.</a:t>
            </a:r>
            <a:endParaRPr lang="en-US" sz="1080" dirty="0"/>
          </a:p>
        </p:txBody>
      </p:sp>
      <p:sp>
        <p:nvSpPr>
          <p:cNvPr id="52" name="trans_fade_1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3" name="Text 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6" grpId="0"/>
      <p:bldP spid="17" grpId="0"/>
      <p:bldP spid="18" grpId="0"/>
      <p:bldP spid="25" grpId="0"/>
      <p:bldP spid="26" grpId="0"/>
      <p:bldP spid="27" grpId="0"/>
      <p:bldP spid="35" grpId="0"/>
      <p:bldP spid="36" grpId="0"/>
      <p:bldP spid="37" grpId="0"/>
      <p:bldP spid="41" grpId="0"/>
      <p:bldP spid="42" grpId="0"/>
      <p:bldP spid="43" grpId="0"/>
      <p:bldP spid="49" grpId="0"/>
      <p:bldP spid="50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AMBER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bases — warmth, five different ways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753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1413022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1338846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1572786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1_2755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</a:t>
            </a:r>
            <a:endParaRPr lang="en-US" sz="1450" dirty="0"/>
          </a:p>
        </p:txBody>
      </p:sp>
      <p:sp>
        <p:nvSpPr>
          <p:cNvPr id="21" name="bld1_2756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vanilla and balsamic sweetness — the traditional recipe.</a:t>
            </a:r>
            <a:endParaRPr lang="en-US" sz="1080" dirty="0"/>
          </a:p>
        </p:txBody>
      </p:sp>
      <p:sp>
        <p:nvSpPr>
          <p:cNvPr id="22" name="bld2_2757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3683112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3608936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3842876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8" name="bld2_2759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woody amber</a:t>
            </a:r>
            <a:endParaRPr lang="en-US" sz="1450" dirty="0"/>
          </a:p>
        </p:txBody>
      </p:sp>
      <p:sp>
        <p:nvSpPr>
          <p:cNvPr id="29" name="bld2_2760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 materials, musks and transparent woods — a completely different build.</a:t>
            </a:r>
            <a:endParaRPr lang="en-US" sz="1080" dirty="0"/>
          </a:p>
        </p:txBody>
      </p:sp>
      <p:sp>
        <p:nvSpPr>
          <p:cNvPr id="30" name="bld3_2761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595320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587902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611296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2763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Resinous amber</a:t>
            </a:r>
            <a:endParaRPr lang="en-US" sz="1450" dirty="0"/>
          </a:p>
        </p:txBody>
      </p:sp>
      <p:sp>
        <p:nvSpPr>
          <p:cNvPr id="37" name="bld3_2764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sticky, incense-adjacent richness.</a:t>
            </a:r>
            <a:endParaRPr lang="en-US" sz="1080" dirty="0"/>
          </a:p>
        </p:txBody>
      </p:sp>
      <p:sp>
        <p:nvSpPr>
          <p:cNvPr id="38" name="bld4_2765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4" name="bld4_2767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 amber</a:t>
            </a:r>
            <a:endParaRPr lang="en-US" sz="1450" dirty="0"/>
          </a:p>
        </p:txBody>
      </p:sp>
      <p:sp>
        <p:nvSpPr>
          <p:cNvPr id="45" name="bld4_2768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Restrained, woody-forward, low sweetness.</a:t>
            </a:r>
            <a:endParaRPr lang="en-US" sz="1080" dirty="0"/>
          </a:p>
        </p:txBody>
      </p:sp>
      <p:sp>
        <p:nvSpPr>
          <p:cNvPr id="46" name="bld5_2769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8" name="Shape 46"/>
          <p:cNvSpPr/>
          <p:nvPr/>
        </p:nvSpPr>
        <p:spPr>
          <a:xfrm rot="9000000">
            <a:off x="10493380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6000000">
            <a:off x="10419204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1400000">
            <a:off x="10653144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2" name="bld5_2771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amber</a:t>
            </a:r>
            <a:endParaRPr lang="en-US" sz="1450" dirty="0"/>
          </a:p>
        </p:txBody>
      </p:sp>
      <p:sp>
        <p:nvSpPr>
          <p:cNvPr id="53" name="bld5_2772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and benzoin-led, gourmand-leaning.</a:t>
            </a:r>
            <a:endParaRPr lang="en-US" sz="1080" dirty="0"/>
          </a:p>
        </p:txBody>
      </p:sp>
      <p:sp>
        <p:nvSpPr>
          <p:cNvPr id="55" name="trans_fade_1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1" grpId="0"/>
      <p:bldP spid="22" grpId="0"/>
      <p:bldP spid="28" grpId="0"/>
      <p:bldP spid="29" grpId="0"/>
      <p:bldP spid="30" grpId="0"/>
      <p:bldP spid="36" grpId="0"/>
      <p:bldP spid="37" grpId="0"/>
      <p:bldP spid="38" grpId="0"/>
      <p:bldP spid="44" grpId="0"/>
      <p:bldP spid="45" grpId="0"/>
      <p:bldP spid="46" grpId="0"/>
      <p:bldP spid="52" grpId="0"/>
      <p:bldP spid="5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MUSK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bases — the skin-layer of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82915" y="4948679"/>
            <a:ext cx="1369879" cy="1369879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67854" y="5473799"/>
            <a:ext cx="359593" cy="15981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27448" y="5473799"/>
            <a:ext cx="35959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127448" y="5673573"/>
            <a:ext cx="359593" cy="31963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126" y="5993212"/>
            <a:ext cx="59932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126" y="5633618"/>
            <a:ext cx="239729" cy="35959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8351" y="5433844"/>
            <a:ext cx="43950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3927" y="5569691"/>
            <a:ext cx="127855" cy="127855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81500" y="5427851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41093" y="5627625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1500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82177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82403" y="5387896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773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293199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5" name="bld1_2775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musk</a:t>
            </a:r>
            <a:endParaRPr lang="en-US" sz="1450" dirty="0"/>
          </a:p>
        </p:txBody>
      </p:sp>
      <p:sp>
        <p:nvSpPr>
          <p:cNvPr id="26" name="bld1_2776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neutral, almost invisible radiance.</a:t>
            </a:r>
            <a:endParaRPr lang="en-US" sz="1080" dirty="0"/>
          </a:p>
        </p:txBody>
      </p:sp>
      <p:sp>
        <p:nvSpPr>
          <p:cNvPr id="27" name="bld2_2777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3289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1" name="bld2_2779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musk</a:t>
            </a:r>
            <a:endParaRPr lang="en-US" sz="1450" dirty="0"/>
          </a:p>
        </p:txBody>
      </p:sp>
      <p:sp>
        <p:nvSpPr>
          <p:cNvPr id="32" name="bld2_2780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intimate, body-adjacent.</a:t>
            </a:r>
            <a:endParaRPr lang="en-US" sz="1080" dirty="0"/>
          </a:p>
        </p:txBody>
      </p:sp>
      <p:sp>
        <p:nvSpPr>
          <p:cNvPr id="33" name="bld3_2781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5" name="Shape 33"/>
          <p:cNvSpPr/>
          <p:nvPr/>
        </p:nvSpPr>
        <p:spPr>
          <a:xfrm>
            <a:off x="5810555" y="2468880"/>
            <a:ext cx="570586" cy="57058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6" name="Shape 34"/>
          <p:cNvSpPr/>
          <p:nvPr/>
        </p:nvSpPr>
        <p:spPr>
          <a:xfrm>
            <a:off x="5881878" y="2540203"/>
            <a:ext cx="427939" cy="42793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953201" y="2611526"/>
            <a:ext cx="285293" cy="2852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8" name="Shape 36"/>
          <p:cNvSpPr/>
          <p:nvPr/>
        </p:nvSpPr>
        <p:spPr>
          <a:xfrm>
            <a:off x="6024524" y="2682850"/>
            <a:ext cx="142646" cy="14264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61612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0" name="Shape 38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1" name="bld3_2783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Laundry musk</a:t>
            </a:r>
            <a:endParaRPr lang="en-US" sz="1450" dirty="0"/>
          </a:p>
        </p:txBody>
      </p:sp>
      <p:sp>
        <p:nvSpPr>
          <p:cNvPr id="42" name="bld3_2784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soapy, detergent-adjacent familiarity.</a:t>
            </a:r>
            <a:endParaRPr lang="en-US" sz="1080" dirty="0"/>
          </a:p>
        </p:txBody>
      </p:sp>
      <p:sp>
        <p:nvSpPr>
          <p:cNvPr id="43" name="bld4_2785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5" name="Shape 43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1" name="bld4_2787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Animalic-style musk</a:t>
            </a:r>
            <a:endParaRPr lang="en-US" sz="1450" dirty="0"/>
          </a:p>
        </p:txBody>
      </p:sp>
      <p:sp>
        <p:nvSpPr>
          <p:cNvPr id="52" name="bld4_2788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Deeper, warmer, historically animal-derived character rebuilt synthetically.</a:t>
            </a:r>
            <a:endParaRPr lang="en-US" sz="1080" dirty="0"/>
          </a:p>
        </p:txBody>
      </p:sp>
      <p:sp>
        <p:nvSpPr>
          <p:cNvPr id="53" name="bld5_2789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57" name="bld5_2791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musk</a:t>
            </a:r>
            <a:endParaRPr lang="en-US" sz="1450" dirty="0"/>
          </a:p>
        </p:txBody>
      </p:sp>
      <p:sp>
        <p:nvSpPr>
          <p:cNvPr id="58" name="bld5_2792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musk with a pear or berry-adjacent nuance.</a:t>
            </a:r>
            <a:endParaRPr lang="en-US" sz="1080" dirty="0"/>
          </a:p>
        </p:txBody>
      </p:sp>
      <p:sp>
        <p:nvSpPr>
          <p:cNvPr id="60" name="trans_fade_1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5" grpId="0"/>
      <p:bldP spid="26" grpId="0"/>
      <p:bldP spid="27" grpId="0"/>
      <p:bldP spid="31" grpId="0"/>
      <p:bldP spid="32" grpId="0"/>
      <p:bldP spid="33" grpId="0"/>
      <p:bldP spid="41" grpId="0"/>
      <p:bldP spid="42" grpId="0"/>
      <p:bldP spid="43" grpId="0"/>
      <p:bldP spid="51" grpId="0"/>
      <p:bldP spid="52" grpId="0"/>
      <p:bldP spid="53" grpId="0"/>
      <p:bldP spid="57" grpId="0"/>
      <p:bldP spid="58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LEATHER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bases — texture, not realism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82915" y="4948679"/>
            <a:ext cx="1369879" cy="1369879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67854" y="5473799"/>
            <a:ext cx="359593" cy="15981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27448" y="5473799"/>
            <a:ext cx="35959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127448" y="5673573"/>
            <a:ext cx="359593" cy="31963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126" y="5993212"/>
            <a:ext cx="59932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126" y="5633618"/>
            <a:ext cx="239729" cy="35959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8351" y="5433844"/>
            <a:ext cx="43950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3927" y="5569691"/>
            <a:ext cx="127855" cy="127855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81500" y="5427851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41093" y="5627625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1500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82177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82403" y="5387896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793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9" name="bld1_2795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</a:t>
            </a:r>
            <a:endParaRPr lang="en-US" sz="1450" dirty="0"/>
          </a:p>
        </p:txBody>
      </p:sp>
      <p:sp>
        <p:nvSpPr>
          <p:cNvPr id="30" name="bld1_2796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powdery-dry, wearable leather texture.</a:t>
            </a:r>
            <a:endParaRPr lang="en-US" sz="1080" dirty="0"/>
          </a:p>
        </p:txBody>
      </p:sp>
      <p:sp>
        <p:nvSpPr>
          <p:cNvPr id="31" name="bld2_2797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2_2799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leather</a:t>
            </a:r>
            <a:endParaRPr lang="en-US" sz="1450" dirty="0"/>
          </a:p>
        </p:txBody>
      </p:sp>
      <p:sp>
        <p:nvSpPr>
          <p:cNvPr id="40" name="bld2_2800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Refined, modern, low animalic character.</a:t>
            </a:r>
            <a:endParaRPr lang="en-US" sz="1080" dirty="0"/>
          </a:p>
        </p:txBody>
      </p:sp>
      <p:sp>
        <p:nvSpPr>
          <p:cNvPr id="41" name="bld3_2801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3" name="Shape 41"/>
          <p:cNvSpPr/>
          <p:nvPr/>
        </p:nvSpPr>
        <p:spPr>
          <a:xfrm rot="5400000">
            <a:off x="7332066" y="2554468"/>
            <a:ext cx="125529" cy="37088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5400000">
            <a:off x="7451889" y="2597262"/>
            <a:ext cx="125529" cy="37088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5400000">
            <a:off x="7571712" y="2640056"/>
            <a:ext cx="125529" cy="37088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47" name="bld3_2803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Smoky leather</a:t>
            </a:r>
            <a:endParaRPr lang="en-US" sz="1450" dirty="0"/>
          </a:p>
        </p:txBody>
      </p:sp>
      <p:sp>
        <p:nvSpPr>
          <p:cNvPr id="48" name="bld3_2804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Campfire and tar-adjacent depth.</a:t>
            </a:r>
            <a:endParaRPr lang="en-US" sz="1080" dirty="0"/>
          </a:p>
        </p:txBody>
      </p:sp>
      <p:sp>
        <p:nvSpPr>
          <p:cNvPr id="49" name="bld4_2805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7" name="bld4_2807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leather</a:t>
            </a:r>
            <a:endParaRPr lang="en-US" sz="1450" dirty="0"/>
          </a:p>
        </p:txBody>
      </p:sp>
      <p:sp>
        <p:nvSpPr>
          <p:cNvPr id="58" name="bld4_2808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animalic, uncompromising intensity.</a:t>
            </a:r>
            <a:endParaRPr lang="en-US" sz="1080" dirty="0"/>
          </a:p>
        </p:txBody>
      </p:sp>
      <p:sp>
        <p:nvSpPr>
          <p:cNvPr id="60" name="trans_fade_1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9" grpId="0"/>
      <p:bldP spid="30" grpId="0"/>
      <p:bldP spid="31" grpId="0"/>
      <p:bldP spid="39" grpId="0"/>
      <p:bldP spid="40" grpId="0"/>
      <p:bldP spid="41" grpId="0"/>
      <p:bldP spid="47" grpId="0"/>
      <p:bldP spid="48" grpId="0"/>
      <p:bldP spid="49" grpId="0"/>
      <p:bldP spid="57" grpId="0"/>
      <p:bldP spid="58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GOURMAND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bases — comfort, built to order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809"/>
          <p:cNvSpPr/>
          <p:nvPr/>
        </p:nvSpPr>
        <p:spPr>
          <a:xfrm>
            <a:off x="548640" y="2260397"/>
            <a:ext cx="1635709" cy="22860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6639" y="2388413"/>
            <a:ext cx="719712" cy="71971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1299130" y="2481616"/>
            <a:ext cx="134730" cy="533307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40000">
            <a:off x="1361008" y="2546174"/>
            <a:ext cx="914" cy="404190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03340" y="2561612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1323549" y="2631222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1343759" y="2700833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1363968" y="2770443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4178" y="2840054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1404387" y="2909664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6639" y="2388413"/>
            <a:ext cx="719712" cy="71971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2" name="bld1_2811"/>
          <p:cNvSpPr txBox="1"/>
          <p:nvPr/>
        </p:nvSpPr>
        <p:spPr>
          <a:xfrm>
            <a:off x="731520" y="3199565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33" name="bld1_2812"/>
          <p:cNvSpPr txBox="1"/>
          <p:nvPr/>
        </p:nvSpPr>
        <p:spPr>
          <a:xfrm>
            <a:off x="731520" y="3510461"/>
            <a:ext cx="1269949" cy="9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versatile gourmand base.</a:t>
            </a:r>
            <a:endParaRPr lang="en-US" sz="1080" dirty="0"/>
          </a:p>
        </p:txBody>
      </p:sp>
      <p:sp>
        <p:nvSpPr>
          <p:cNvPr id="34" name="bld2_2813"/>
          <p:cNvSpPr/>
          <p:nvPr/>
        </p:nvSpPr>
        <p:spPr>
          <a:xfrm>
            <a:off x="2440381" y="2260397"/>
            <a:ext cx="1635709" cy="22860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898380" y="2388413"/>
            <a:ext cx="719712" cy="71971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6" name="Shape 34"/>
          <p:cNvSpPr/>
          <p:nvPr/>
        </p:nvSpPr>
        <p:spPr>
          <a:xfrm>
            <a:off x="2977548" y="2467581"/>
            <a:ext cx="561375" cy="561375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56141" y="2546174"/>
            <a:ext cx="404190" cy="40419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168416" y="2658449"/>
            <a:ext cx="179640" cy="179640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898380" y="2388413"/>
            <a:ext cx="719712" cy="71971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0" name="bld2_2815"/>
          <p:cNvSpPr txBox="1"/>
          <p:nvPr/>
        </p:nvSpPr>
        <p:spPr>
          <a:xfrm>
            <a:off x="2623261" y="3199565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Chocolate</a:t>
            </a:r>
            <a:endParaRPr lang="en-US" sz="1450" dirty="0"/>
          </a:p>
        </p:txBody>
      </p:sp>
      <p:sp>
        <p:nvSpPr>
          <p:cNvPr id="41" name="bld2_2816"/>
          <p:cNvSpPr txBox="1"/>
          <p:nvPr/>
        </p:nvSpPr>
        <p:spPr>
          <a:xfrm>
            <a:off x="2623261" y="3510461"/>
            <a:ext cx="1269949" cy="9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roasted, bitter-sweet.</a:t>
            </a:r>
            <a:endParaRPr lang="en-US" sz="1080" dirty="0"/>
          </a:p>
        </p:txBody>
      </p:sp>
      <p:sp>
        <p:nvSpPr>
          <p:cNvPr id="42" name="bld3_2817"/>
          <p:cNvSpPr/>
          <p:nvPr/>
        </p:nvSpPr>
        <p:spPr>
          <a:xfrm>
            <a:off x="4332122" y="2260397"/>
            <a:ext cx="1635709" cy="22860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790121" y="2388413"/>
            <a:ext cx="719712" cy="71971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4869289" y="2467581"/>
            <a:ext cx="561375" cy="561375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947882" y="2546174"/>
            <a:ext cx="404190" cy="40419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60157" y="2658449"/>
            <a:ext cx="179640" cy="179640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065898" y="2397409"/>
            <a:ext cx="914" cy="126309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44491" y="2397409"/>
            <a:ext cx="914" cy="126309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23083" y="2397409"/>
            <a:ext cx="914" cy="126309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90121" y="2388413"/>
            <a:ext cx="719712" cy="71971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51" name="bld3_2819"/>
          <p:cNvSpPr txBox="1"/>
          <p:nvPr/>
        </p:nvSpPr>
        <p:spPr>
          <a:xfrm>
            <a:off x="4515002" y="3199565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</a:t>
            </a:r>
            <a:endParaRPr lang="en-US" sz="1450" dirty="0"/>
          </a:p>
        </p:txBody>
      </p:sp>
      <p:sp>
        <p:nvSpPr>
          <p:cNvPr id="52" name="bld3_2820"/>
          <p:cNvSpPr txBox="1"/>
          <p:nvPr/>
        </p:nvSpPr>
        <p:spPr>
          <a:xfrm>
            <a:off x="4515002" y="3510461"/>
            <a:ext cx="1269949" cy="9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Roasted, bold, modern.</a:t>
            </a:r>
            <a:endParaRPr lang="en-US" sz="1080" dirty="0"/>
          </a:p>
        </p:txBody>
      </p:sp>
      <p:sp>
        <p:nvSpPr>
          <p:cNvPr id="53" name="bld4_2821"/>
          <p:cNvSpPr/>
          <p:nvPr/>
        </p:nvSpPr>
        <p:spPr>
          <a:xfrm>
            <a:off x="6223864" y="2260397"/>
            <a:ext cx="1635709" cy="22860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681862" y="2388413"/>
            <a:ext cx="719712" cy="71971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5" name="Shape 53"/>
          <p:cNvSpPr/>
          <p:nvPr/>
        </p:nvSpPr>
        <p:spPr>
          <a:xfrm>
            <a:off x="6761031" y="2467581"/>
            <a:ext cx="561375" cy="561375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839623" y="2546174"/>
            <a:ext cx="404190" cy="40419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951898" y="2658449"/>
            <a:ext cx="179640" cy="179640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681862" y="2388413"/>
            <a:ext cx="719712" cy="71971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9" name="bld4_2823"/>
          <p:cNvSpPr txBox="1"/>
          <p:nvPr/>
        </p:nvSpPr>
        <p:spPr>
          <a:xfrm>
            <a:off x="6406744" y="3199565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Caramel</a:t>
            </a:r>
            <a:endParaRPr lang="en-US" sz="1450" dirty="0"/>
          </a:p>
        </p:txBody>
      </p:sp>
      <p:sp>
        <p:nvSpPr>
          <p:cNvPr id="60" name="bld4_2824"/>
          <p:cNvSpPr txBox="1"/>
          <p:nvPr/>
        </p:nvSpPr>
        <p:spPr>
          <a:xfrm>
            <a:off x="6406744" y="3510461"/>
            <a:ext cx="1269949" cy="9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Buttery, toasted sugar.</a:t>
            </a:r>
            <a:endParaRPr lang="en-US" sz="1080" dirty="0"/>
          </a:p>
        </p:txBody>
      </p:sp>
      <p:sp>
        <p:nvSpPr>
          <p:cNvPr id="61" name="bld5_2825"/>
          <p:cNvSpPr/>
          <p:nvPr/>
        </p:nvSpPr>
        <p:spPr>
          <a:xfrm>
            <a:off x="8115605" y="2260397"/>
            <a:ext cx="1635709" cy="22860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573603" y="2388413"/>
            <a:ext cx="719712" cy="71971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3" name="Shape 61"/>
          <p:cNvSpPr/>
          <p:nvPr/>
        </p:nvSpPr>
        <p:spPr>
          <a:xfrm rot="8100000">
            <a:off x="8793116" y="2607925"/>
            <a:ext cx="280688" cy="280688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573603" y="2388413"/>
            <a:ext cx="719712" cy="71971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5" name="bld5_2827"/>
          <p:cNvSpPr txBox="1"/>
          <p:nvPr/>
        </p:nvSpPr>
        <p:spPr>
          <a:xfrm>
            <a:off x="8298485" y="3199565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Praline</a:t>
            </a:r>
            <a:endParaRPr lang="en-US" sz="1450" dirty="0"/>
          </a:p>
        </p:txBody>
      </p:sp>
      <p:sp>
        <p:nvSpPr>
          <p:cNvPr id="66" name="bld5_2828"/>
          <p:cNvSpPr txBox="1"/>
          <p:nvPr/>
        </p:nvSpPr>
        <p:spPr>
          <a:xfrm>
            <a:off x="8298485" y="3510461"/>
            <a:ext cx="1269949" cy="9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Nutty, toasted, sweet.</a:t>
            </a:r>
            <a:endParaRPr lang="en-US" sz="1080" dirty="0"/>
          </a:p>
        </p:txBody>
      </p:sp>
      <p:sp>
        <p:nvSpPr>
          <p:cNvPr id="67" name="bld6_2829"/>
          <p:cNvSpPr/>
          <p:nvPr/>
        </p:nvSpPr>
        <p:spPr>
          <a:xfrm>
            <a:off x="10007346" y="2260397"/>
            <a:ext cx="1635709" cy="22860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10465345" y="2388413"/>
            <a:ext cx="719712" cy="71971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9" name="Shape 67"/>
          <p:cNvSpPr/>
          <p:nvPr/>
        </p:nvSpPr>
        <p:spPr>
          <a:xfrm rot="840000">
            <a:off x="10757836" y="2481616"/>
            <a:ext cx="134730" cy="533307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840000">
            <a:off x="10819714" y="2546174"/>
            <a:ext cx="914" cy="404190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762046" y="2561612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2" name="Shape 70"/>
          <p:cNvSpPr/>
          <p:nvPr/>
        </p:nvSpPr>
        <p:spPr>
          <a:xfrm>
            <a:off x="10782255" y="2631222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802465" y="2700833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4" name="Shape 72"/>
          <p:cNvSpPr/>
          <p:nvPr/>
        </p:nvSpPr>
        <p:spPr>
          <a:xfrm>
            <a:off x="10822674" y="2770443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5" name="Shape 73"/>
          <p:cNvSpPr/>
          <p:nvPr/>
        </p:nvSpPr>
        <p:spPr>
          <a:xfrm>
            <a:off x="10842884" y="2840054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6" name="Shape 74"/>
          <p:cNvSpPr/>
          <p:nvPr/>
        </p:nvSpPr>
        <p:spPr>
          <a:xfrm>
            <a:off x="10863093" y="2909664"/>
            <a:ext cx="25262" cy="2526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7" name="Shape 75"/>
          <p:cNvSpPr/>
          <p:nvPr/>
        </p:nvSpPr>
        <p:spPr>
          <a:xfrm>
            <a:off x="10465345" y="2388413"/>
            <a:ext cx="719712" cy="71971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78" name="bld6_2831"/>
          <p:cNvSpPr txBox="1"/>
          <p:nvPr/>
        </p:nvSpPr>
        <p:spPr>
          <a:xfrm>
            <a:off x="10190226" y="3199565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Tonka</a:t>
            </a:r>
            <a:endParaRPr lang="en-US" sz="1450" dirty="0"/>
          </a:p>
        </p:txBody>
      </p:sp>
      <p:sp>
        <p:nvSpPr>
          <p:cNvPr id="79" name="bld6_2832"/>
          <p:cNvSpPr txBox="1"/>
          <p:nvPr/>
        </p:nvSpPr>
        <p:spPr>
          <a:xfrm>
            <a:off x="10190226" y="3510461"/>
            <a:ext cx="1269949" cy="9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Almond-hay, warm, coumarinic.</a:t>
            </a:r>
            <a:endParaRPr lang="en-US" sz="1080" dirty="0"/>
          </a:p>
        </p:txBody>
      </p:sp>
      <p:sp>
        <p:nvSpPr>
          <p:cNvPr id="81" name="trans_fade_1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2" name="Text 7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32" grpId="0"/>
      <p:bldP spid="33" grpId="0"/>
      <p:bldP spid="34" grpId="0"/>
      <p:bldP spid="40" grpId="0"/>
      <p:bldP spid="41" grpId="0"/>
      <p:bldP spid="42" grpId="0"/>
      <p:bldP spid="51" grpId="0"/>
      <p:bldP spid="52" grpId="0"/>
      <p:bldP spid="53" grpId="0"/>
      <p:bldP spid="59" grpId="0"/>
      <p:bldP spid="60" grpId="0"/>
      <p:bldP spid="61" grpId="0"/>
      <p:bldP spid="65" grpId="0"/>
      <p:bldP spid="66" grpId="0"/>
      <p:bldP spid="67" grpId="0"/>
      <p:bldP spid="78" grpId="0"/>
      <p:bldP spid="79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FAMILIES · FRESH &amp; MARINE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marine bases — space and air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82915" y="4948679"/>
            <a:ext cx="1369879" cy="1369879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67854" y="5473799"/>
            <a:ext cx="359593" cy="15981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27448" y="5473799"/>
            <a:ext cx="35959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127448" y="5673573"/>
            <a:ext cx="359593" cy="31963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126" y="5993212"/>
            <a:ext cx="59932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126" y="5633618"/>
            <a:ext cx="239729" cy="35959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8351" y="5433844"/>
            <a:ext cx="43950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3927" y="5569691"/>
            <a:ext cx="127855" cy="127855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81500" y="5427851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41093" y="5627625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1500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82177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82403" y="5387896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833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33140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33140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33140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8" name="bld1_2835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</a:t>
            </a:r>
            <a:endParaRPr lang="en-US" sz="1450" dirty="0"/>
          </a:p>
        </p:txBody>
      </p:sp>
      <p:sp>
        <p:nvSpPr>
          <p:cNvPr id="29" name="bld1_2836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Salty, oceanic, wide-open freshness.</a:t>
            </a:r>
            <a:endParaRPr lang="en-US" sz="1080" dirty="0"/>
          </a:p>
        </p:txBody>
      </p:sp>
      <p:sp>
        <p:nvSpPr>
          <p:cNvPr id="30" name="bld2_2837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354046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03230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03230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03230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7" name="bld2_2839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Ozonic</a:t>
            </a:r>
            <a:endParaRPr lang="en-US" sz="1450" dirty="0"/>
          </a:p>
        </p:txBody>
      </p:sp>
      <p:sp>
        <p:nvSpPr>
          <p:cNvPr id="38" name="bld2_2840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electric, storm-adjacent air.</a:t>
            </a:r>
            <a:endParaRPr lang="en-US" sz="1080" dirty="0"/>
          </a:p>
        </p:txBody>
      </p:sp>
      <p:sp>
        <p:nvSpPr>
          <p:cNvPr id="39" name="bld3_2841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5953201" y="2611526"/>
            <a:ext cx="285293" cy="285293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43" name="bld3_2843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Watery</a:t>
            </a:r>
            <a:endParaRPr lang="en-US" sz="1450" dirty="0"/>
          </a:p>
        </p:txBody>
      </p:sp>
      <p:sp>
        <p:nvSpPr>
          <p:cNvPr id="44" name="bld3_2844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clean, almost scentless transparency.</a:t>
            </a:r>
            <a:endParaRPr lang="en-US" sz="1080" dirty="0"/>
          </a:p>
        </p:txBody>
      </p:sp>
      <p:sp>
        <p:nvSpPr>
          <p:cNvPr id="45" name="bld4_2845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52" name="bld4_2847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</a:t>
            </a:r>
            <a:endParaRPr lang="en-US" sz="1450" dirty="0"/>
          </a:p>
        </p:txBody>
      </p:sp>
      <p:sp>
        <p:nvSpPr>
          <p:cNvPr id="53" name="bld4_2848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stony, slightly metallic.</a:t>
            </a:r>
            <a:endParaRPr lang="en-US" sz="1080" dirty="0"/>
          </a:p>
        </p:txBody>
      </p:sp>
      <p:sp>
        <p:nvSpPr>
          <p:cNvPr id="54" name="bld5_2849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0413498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0413498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413498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61" name="bld5_2851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Fresh-air</a:t>
            </a:r>
            <a:endParaRPr lang="en-US" sz="1450" dirty="0"/>
          </a:p>
        </p:txBody>
      </p:sp>
      <p:sp>
        <p:nvSpPr>
          <p:cNvPr id="62" name="bld5_2852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an open window, not a specific note.</a:t>
            </a:r>
            <a:endParaRPr lang="en-US" sz="1080" dirty="0"/>
          </a:p>
        </p:txBody>
      </p:sp>
      <p:sp>
        <p:nvSpPr>
          <p:cNvPr id="64" name="trans_fade_1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8" grpId="0"/>
      <p:bldP spid="29" grpId="0"/>
      <p:bldP spid="30" grpId="0"/>
      <p:bldP spid="37" grpId="0"/>
      <p:bldP spid="38" grpId="0"/>
      <p:bldP spid="39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·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rose accord is actually made of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3325444" y="314423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767745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598801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3052087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883143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335073" y="3883713"/>
            <a:ext cx="462174" cy="46217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79B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</a:t>
            </a:r>
            <a:endParaRPr lang="en-US" sz="1350" dirty="0"/>
          </a:p>
        </p:txBody>
      </p:sp>
      <p:sp>
        <p:nvSpPr>
          <p:cNvPr id="16" name="bld1_2853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8026466" y="188283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4320000">
            <a:off x="8147689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8640000">
            <a:off x="810138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2960000">
            <a:off x="795154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7280000">
            <a:off x="7905243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029105" y="2085505"/>
            <a:ext cx="126670" cy="12667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5" name="bld1_2855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Rosy body</a:t>
            </a:r>
            <a:endParaRPr lang="en-US" sz="1350" dirty="0"/>
          </a:p>
        </p:txBody>
      </p:sp>
      <p:sp>
        <p:nvSpPr>
          <p:cNvPr id="26" name="bld2_2856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052856" y="279699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700000">
            <a:off x="8109284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5400000">
            <a:off x="8132658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8109284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8052856" y="295660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3500000">
            <a:off x="7996427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6200000">
            <a:off x="7973054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8900000">
            <a:off x="7996427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50217" y="292957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8" name="bld2_2858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floral top</a:t>
            </a:r>
            <a:endParaRPr lang="en-US" sz="1350" dirty="0"/>
          </a:p>
        </p:txBody>
      </p:sp>
      <p:sp>
        <p:nvSpPr>
          <p:cNvPr id="39" name="bld3_2859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1" name="Shape 39"/>
          <p:cNvSpPr/>
          <p:nvPr/>
        </p:nvSpPr>
        <p:spPr>
          <a:xfrm>
            <a:off x="8052856" y="361995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2700000">
            <a:off x="8109284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5400000">
            <a:off x="8132658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8100000">
            <a:off x="8109284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0800000">
            <a:off x="8052856" y="377956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3500000">
            <a:off x="7996427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6200000">
            <a:off x="7973054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996427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50217" y="375253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0" name="Shape 4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1" name="bld3_2861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/ geranium facet</a:t>
            </a:r>
            <a:endParaRPr lang="en-US" sz="1350" dirty="0"/>
          </a:p>
        </p:txBody>
      </p:sp>
      <p:sp>
        <p:nvSpPr>
          <p:cNvPr id="52" name="bld4_2862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A6402A">
                <a:alpha val="75000"/>
              </a:srgbClr>
            </a:solidFill>
            <a:prstDash val="sysDot"/>
          </a:ln>
        </p:spPr>
      </p:sp>
      <p:sp>
        <p:nvSpPr>
          <p:cNvPr id="53" name="Shape 51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54" name="Shape 52"/>
          <p:cNvSpPr/>
          <p:nvPr/>
        </p:nvSpPr>
        <p:spPr>
          <a:xfrm rot="9000000">
            <a:off x="7960492" y="4496328"/>
            <a:ext cx="306119" cy="30611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6000000">
            <a:off x="7891879" y="4464660"/>
            <a:ext cx="190005" cy="190005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1400000">
            <a:off x="8108274" y="4432993"/>
            <a:ext cx="158338" cy="158338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58" name="bld4_2864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Honey / spice nuance</a:t>
            </a:r>
            <a:endParaRPr lang="en-US" sz="1350" dirty="0"/>
          </a:p>
        </p:txBody>
      </p:sp>
      <p:sp>
        <p:nvSpPr>
          <p:cNvPr id="59" name="bld5_2865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60" name="Shape 58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1" name="Shape 59"/>
          <p:cNvSpPr/>
          <p:nvPr/>
        </p:nvSpPr>
        <p:spPr>
          <a:xfrm rot="15300000">
            <a:off x="7913753" y="533799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3050000">
            <a:off x="7963237" y="541205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0800000">
            <a:off x="8047578" y="544068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550000">
            <a:off x="8131919" y="541205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6300000">
            <a:off x="8181402" y="533799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7" name="bld5_2867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stem</a:t>
            </a:r>
            <a:endParaRPr lang="en-US" sz="1350" dirty="0"/>
          </a:p>
        </p:txBody>
      </p:sp>
      <p:sp>
        <p:nvSpPr>
          <p:cNvPr id="68" name="bld6_2868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69" name="Shape 67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8055495" y="5999744"/>
            <a:ext cx="73891" cy="2638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4400000">
            <a:off x="8169765" y="6065718"/>
            <a:ext cx="73891" cy="2638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8000000">
            <a:off x="8169765" y="6197666"/>
            <a:ext cx="73891" cy="2638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055495" y="6263640"/>
            <a:ext cx="73891" cy="2638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3600000">
            <a:off x="7941224" y="6197666"/>
            <a:ext cx="73891" cy="2638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7200000">
            <a:off x="7941224" y="6065718"/>
            <a:ext cx="73891" cy="26389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029105" y="6200305"/>
            <a:ext cx="126670" cy="12667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77" name="Shape 75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8" name="bld6_2870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+ musk support</a:t>
            </a:r>
            <a:endParaRPr lang="en-US" sz="1350" dirty="0"/>
          </a:p>
        </p:txBody>
      </p:sp>
      <p:sp>
        <p:nvSpPr>
          <p:cNvPr id="80" name="trans_push_l_1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1" name="Text 7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5" grpId="0"/>
      <p:bldP spid="26" grpId="0"/>
      <p:bldP spid="38" grpId="0"/>
      <p:bldP spid="39" grpId="0"/>
      <p:bldP spid="51" grpId="0"/>
      <p:bldP spid="52" grpId="0"/>
      <p:bldP spid="58" grpId="0"/>
      <p:bldP spid="59" grpId="0"/>
      <p:bldP spid="67" grpId="0"/>
      <p:bldP spid="68" grpId="0"/>
      <p:bldP spid="78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· JASMINE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jasmine accord is actually made of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3431359" y="3151937"/>
            <a:ext cx="269602" cy="96286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3848291" y="3392653"/>
            <a:ext cx="269602" cy="96286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3848291" y="3874084"/>
            <a:ext cx="269602" cy="96286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431359" y="4114800"/>
            <a:ext cx="269602" cy="96286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3014427" y="3874084"/>
            <a:ext cx="269602" cy="96286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3014427" y="3392653"/>
            <a:ext cx="269602" cy="96286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335073" y="3883713"/>
            <a:ext cx="462174" cy="46217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79B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</a:t>
            </a:r>
            <a:endParaRPr lang="en-US" sz="1350" dirty="0"/>
          </a:p>
        </p:txBody>
      </p:sp>
      <p:sp>
        <p:nvSpPr>
          <p:cNvPr id="17" name="bld1_2871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8044261" y="18047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8193276" y="1890739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8193276" y="20628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044261" y="2148840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7895247" y="20628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7895247" y="1890739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009848" y="2066248"/>
            <a:ext cx="165185" cy="16518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1_2873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floral body</a:t>
            </a:r>
            <a:endParaRPr lang="en-US" sz="1350" dirty="0"/>
          </a:p>
        </p:txBody>
      </p:sp>
      <p:sp>
        <p:nvSpPr>
          <p:cNvPr id="28" name="bld2_2874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0" name="Shape 28"/>
          <p:cNvSpPr/>
          <p:nvPr/>
        </p:nvSpPr>
        <p:spPr>
          <a:xfrm rot="10800000">
            <a:off x="8044261" y="28334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4400000">
            <a:off x="8193276" y="2919439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8000000">
            <a:off x="8193276" y="30915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044261" y="3177540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3600000">
            <a:off x="7895247" y="30915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7200000">
            <a:off x="7895247" y="2919439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09848" y="3094948"/>
            <a:ext cx="165185" cy="16518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7" name="Shape 35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8" name="bld2_2876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facet</a:t>
            </a:r>
            <a:endParaRPr lang="en-US" sz="1350" dirty="0"/>
          </a:p>
        </p:txBody>
      </p:sp>
      <p:sp>
        <p:nvSpPr>
          <p:cNvPr id="39" name="bld3_2877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1" name="Shape 39"/>
          <p:cNvSpPr/>
          <p:nvPr/>
        </p:nvSpPr>
        <p:spPr>
          <a:xfrm>
            <a:off x="7748306" y="3862106"/>
            <a:ext cx="688269" cy="688269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36135" y="4034173"/>
            <a:ext cx="51261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7800624" y="4148884"/>
            <a:ext cx="5836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800624" y="4263596"/>
            <a:ext cx="5836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7836135" y="4378307"/>
            <a:ext cx="51261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7" name="bld3_2879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Indolic / animalic nuance</a:t>
            </a:r>
            <a:endParaRPr lang="en-US" sz="1350" dirty="0"/>
          </a:p>
        </p:txBody>
      </p:sp>
      <p:sp>
        <p:nvSpPr>
          <p:cNvPr id="48" name="bld4_2880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49" name="Shape 47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0" name="Shape 48"/>
          <p:cNvSpPr/>
          <p:nvPr/>
        </p:nvSpPr>
        <p:spPr>
          <a:xfrm rot="15300000">
            <a:off x="7859423" y="5101030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050000">
            <a:off x="7923952" y="5197605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033937" y="5234940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550000">
            <a:off x="8143922" y="5197605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6300000">
            <a:off x="8208452" y="5101030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4_2882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freshness</a:t>
            </a:r>
            <a:endParaRPr lang="en-US" sz="1350" dirty="0"/>
          </a:p>
        </p:txBody>
      </p:sp>
      <p:sp>
        <p:nvSpPr>
          <p:cNvPr id="57" name="bld5_2883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58" name="Shape 56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8044261" y="59195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4400000">
            <a:off x="8193276" y="6005539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8000000">
            <a:off x="8193276" y="61776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044261" y="6263640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3600000">
            <a:off x="7895247" y="6177606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7200000">
            <a:off x="7895247" y="6005539"/>
            <a:ext cx="96358" cy="344134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009848" y="6181048"/>
            <a:ext cx="165185" cy="165185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6" name="Shape 64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7" name="bld5_2885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+ softness</a:t>
            </a:r>
            <a:endParaRPr lang="en-US" sz="1350" dirty="0"/>
          </a:p>
        </p:txBody>
      </p:sp>
      <p:sp>
        <p:nvSpPr>
          <p:cNvPr id="69" name="trans_push_l_1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28" grpId="0"/>
      <p:bldP spid="38" grpId="0"/>
      <p:bldP spid="39" grpId="0"/>
      <p:bldP spid="47" grpId="0"/>
      <p:bldP spid="48" grpId="0"/>
      <p:bldP spid="56" grpId="0"/>
      <p:bldP spid="57" grpId="0"/>
      <p:bldP spid="67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·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apple accord is actually made of</a:t>
            </a:r>
            <a:endParaRPr lang="en-US" sz="3200" dirty="0"/>
          </a:p>
        </p:txBody>
      </p:sp>
      <p:sp>
        <p:nvSpPr>
          <p:cNvPr id="7" name="bld1_288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 rot="15300000">
            <a:off x="2148167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3050000">
            <a:off x="2193638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2271140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550000">
            <a:off x="2348643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300000">
            <a:off x="2394114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5" name="bld1_288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peel</a:t>
            </a:r>
            <a:endParaRPr lang="en-US" sz="1450" dirty="0"/>
          </a:p>
        </p:txBody>
      </p:sp>
      <p:sp>
        <p:nvSpPr>
          <p:cNvPr id="16" name="bld1_288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 bitterness at the very top. Example role-filler: a green leaf material.</a:t>
            </a:r>
            <a:endParaRPr lang="en-US" sz="1080" dirty="0"/>
          </a:p>
        </p:txBody>
      </p:sp>
      <p:sp>
        <p:nvSpPr>
          <p:cNvPr id="17" name="bld2_289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9" name="Shape 17"/>
          <p:cNvSpPr/>
          <p:nvPr/>
        </p:nvSpPr>
        <p:spPr>
          <a:xfrm>
            <a:off x="589699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090361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2000000">
            <a:off x="611413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3" name="bld2_289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Juicy fruit</a:t>
            </a:r>
            <a:endParaRPr lang="en-US" sz="1450" dirty="0"/>
          </a:p>
        </p:txBody>
      </p:sp>
      <p:sp>
        <p:nvSpPr>
          <p:cNvPr id="24" name="bld2_289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juicy body. Example role-filler: a fruity ester.</a:t>
            </a:r>
            <a:endParaRPr lang="en-US" sz="1080" dirty="0"/>
          </a:p>
        </p:txBody>
      </p:sp>
      <p:sp>
        <p:nvSpPr>
          <p:cNvPr id="25" name="bld3_289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7" name="Shape 25"/>
          <p:cNvSpPr/>
          <p:nvPr/>
        </p:nvSpPr>
        <p:spPr>
          <a:xfrm>
            <a:off x="9680481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8738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2000000">
            <a:off x="98976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31" name="bld3_289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450" dirty="0"/>
          </a:p>
        </p:txBody>
      </p:sp>
      <p:sp>
        <p:nvSpPr>
          <p:cNvPr id="32" name="bld3_289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Roundness without turning candy-like. Example role-filler: a trace of a soft gourmand material.</a:t>
            </a:r>
            <a:endParaRPr lang="en-US" sz="1080" dirty="0"/>
          </a:p>
        </p:txBody>
      </p:sp>
      <p:sp>
        <p:nvSpPr>
          <p:cNvPr id="33" name="bld4_289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5" name="Shape 33"/>
          <p:cNvSpPr/>
          <p:nvPr/>
        </p:nvSpPr>
        <p:spPr>
          <a:xfrm>
            <a:off x="2142616" y="4409932"/>
            <a:ext cx="339498" cy="339498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37" name="bld4_290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Crispness</a:t>
            </a:r>
            <a:endParaRPr lang="en-US" sz="1450" dirty="0"/>
          </a:p>
        </p:txBody>
      </p:sp>
      <p:sp>
        <p:nvSpPr>
          <p:cNvPr id="38" name="bld4_290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"bite" of a fresh apple. Example role-filler: a sharp aldehydic or green-fruity note.</a:t>
            </a:r>
            <a:endParaRPr lang="en-US" sz="1080" dirty="0"/>
          </a:p>
        </p:txBody>
      </p:sp>
      <p:sp>
        <p:nvSpPr>
          <p:cNvPr id="39" name="bld5_290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4090AF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5" name="bld5_290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Watery freshness</a:t>
            </a:r>
            <a:endParaRPr lang="en-US" sz="1450" dirty="0"/>
          </a:p>
        </p:txBody>
      </p:sp>
      <p:sp>
        <p:nvSpPr>
          <p:cNvPr id="46" name="bld5_290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it from feeling syrupy. Example role-filler: a light aquatic facet.</a:t>
            </a:r>
            <a:endParaRPr lang="en-US" sz="1080" dirty="0"/>
          </a:p>
        </p:txBody>
      </p:sp>
      <p:sp>
        <p:nvSpPr>
          <p:cNvPr id="47" name="bld6_290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9845380" y="4337182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4400000">
            <a:off x="9950385" y="4397807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8000000">
            <a:off x="9950385" y="4519056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845380" y="4579681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3600000">
            <a:off x="9740375" y="4519056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7200000">
            <a:off x="9740375" y="4397807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821130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6" name="Shape 5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7" name="bld6_290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58" name="bld6_290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accord outward. Example role-filler: a diffusive floral or musk.</a:t>
            </a:r>
            <a:endParaRPr lang="en-US" sz="1080" dirty="0"/>
          </a:p>
        </p:txBody>
      </p:sp>
      <p:sp>
        <p:nvSpPr>
          <p:cNvPr id="60" name="trans_fade_1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23" grpId="0"/>
      <p:bldP spid="24" grpId="0"/>
      <p:bldP spid="25" grpId="0"/>
      <p:bldP spid="31" grpId="0"/>
      <p:bldP spid="32" grpId="0"/>
      <p:bldP spid="33" grpId="0"/>
      <p:bldP spid="37" grpId="0"/>
      <p:bldP spid="38" grpId="0"/>
      <p:bldP spid="39" grpId="0"/>
      <p:bldP spid="45" grpId="0"/>
      <p:bldP spid="46" grpId="0"/>
      <p:bldP spid="47" grpId="0"/>
      <p:bldP spid="57" grpId="0"/>
      <p:bldP spid="58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· SANDALWOOD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sandalwood accord is actually made of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3084728" y="3633368"/>
            <a:ext cx="962863" cy="96286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450616" y="3999256"/>
            <a:ext cx="231087" cy="231087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8A63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3" name="bld1_2910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>
            <a:off x="7748306" y="1804706"/>
            <a:ext cx="688269" cy="68826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7920373" y="1976773"/>
            <a:ext cx="344134" cy="34413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51144" y="2107544"/>
            <a:ext cx="82592" cy="82592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8" name="Shape 16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9" name="bld1_2912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 body</a:t>
            </a:r>
            <a:endParaRPr lang="en-US" sz="1350" dirty="0"/>
          </a:p>
        </p:txBody>
      </p:sp>
      <p:sp>
        <p:nvSpPr>
          <p:cNvPr id="20" name="bld2_2913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2" name="Shape 20"/>
          <p:cNvSpPr/>
          <p:nvPr/>
        </p:nvSpPr>
        <p:spPr>
          <a:xfrm>
            <a:off x="7748306" y="2833406"/>
            <a:ext cx="688269" cy="68826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7920373" y="3005473"/>
            <a:ext cx="344134" cy="34413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051144" y="3136244"/>
            <a:ext cx="82592" cy="82592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6" name="bld2_2915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Milky softness</a:t>
            </a:r>
            <a:endParaRPr lang="en-US" sz="1350" dirty="0"/>
          </a:p>
        </p:txBody>
      </p:sp>
      <p:sp>
        <p:nvSpPr>
          <p:cNvPr id="27" name="bld3_2916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9" name="Shape 27"/>
          <p:cNvSpPr/>
          <p:nvPr/>
        </p:nvSpPr>
        <p:spPr>
          <a:xfrm>
            <a:off x="7748306" y="3862106"/>
            <a:ext cx="688269" cy="6882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863017" y="3976817"/>
            <a:ext cx="458846" cy="45884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977729" y="4091529"/>
            <a:ext cx="229423" cy="2294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51144" y="4164944"/>
            <a:ext cx="82592" cy="82592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3" name="Shape 31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4" name="bld3_2918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structure</a:t>
            </a:r>
            <a:endParaRPr lang="en-US" sz="1350" dirty="0"/>
          </a:p>
        </p:txBody>
      </p:sp>
      <p:sp>
        <p:nvSpPr>
          <p:cNvPr id="35" name="bld4_2919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36" name="Shape 34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7" name="Shape 35"/>
          <p:cNvSpPr/>
          <p:nvPr/>
        </p:nvSpPr>
        <p:spPr>
          <a:xfrm rot="9000000">
            <a:off x="7920373" y="50766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000000">
            <a:off x="7830898" y="50353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1400000">
            <a:off x="8113088" y="49940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4_2921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Warmth</a:t>
            </a:r>
            <a:endParaRPr lang="en-US" sz="1350" dirty="0"/>
          </a:p>
        </p:txBody>
      </p:sp>
      <p:sp>
        <p:nvSpPr>
          <p:cNvPr id="42" name="bld5_2922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43" name="Shape 41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4" name="Shape 42"/>
          <p:cNvSpPr/>
          <p:nvPr/>
        </p:nvSpPr>
        <p:spPr>
          <a:xfrm>
            <a:off x="7775836" y="6050277"/>
            <a:ext cx="633207" cy="426727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6" name="bld5_2924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Slight muskiness</a:t>
            </a:r>
            <a:endParaRPr lang="en-US" sz="1350" dirty="0"/>
          </a:p>
        </p:txBody>
      </p:sp>
      <p:sp>
        <p:nvSpPr>
          <p:cNvPr id="48" name="trans_push_l_1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6" grpId="0"/>
      <p:bldP spid="27" grpId="0"/>
      <p:bldP spid="34" grpId="0"/>
      <p:bldP spid="35" grpId="0"/>
      <p:bldP spid="41" grpId="0"/>
      <p:bldP spid="42" grpId="0"/>
      <p:bldP spid="4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· AMBER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 vs. modern amber</a:t>
            </a:r>
            <a:endParaRPr lang="en-US" sz="3200" dirty="0"/>
          </a:p>
        </p:txBody>
      </p:sp>
      <p:sp>
        <p:nvSpPr>
          <p:cNvPr id="7" name="bld1_2925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E7D3"/>
          </a:solidFill>
          <a:ln/>
        </p:spPr>
      </p:sp>
      <p:sp>
        <p:nvSpPr>
          <p:cNvPr id="8" name="bld1_2926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927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</a:t>
            </a:r>
            <a:endParaRPr lang="en-US" sz="1800" dirty="0"/>
          </a:p>
        </p:txBody>
      </p:sp>
      <p:sp>
        <p:nvSpPr>
          <p:cNvPr id="10" name="bld1_2928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— the resinous backbone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/ vanillin — sweetness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Balsamic materials — Peru or Tolu balsam-style depth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warm, traditional, enveloping</a:t>
            </a:r>
            <a:endParaRPr lang="en-US" sz="1300" dirty="0"/>
          </a:p>
        </p:txBody>
      </p:sp>
      <p:sp>
        <p:nvSpPr>
          <p:cNvPr id="11" name="bld1_2929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2" name="bld1_2930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bld2_2931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932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933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amber</a:t>
            </a:r>
            <a:endParaRPr lang="en-US" sz="1800" dirty="0"/>
          </a:p>
        </p:txBody>
      </p:sp>
      <p:sp>
        <p:nvSpPr>
          <p:cNvPr id="16" name="bld2_2934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Ambrox-family materials — radiance and dryness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musks — skin-like body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woods — Iso E Super-type volume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dry, radiant, contemporary</a:t>
            </a:r>
            <a:endParaRPr lang="en-US" sz="1300" dirty="0"/>
          </a:p>
        </p:txBody>
      </p:sp>
      <p:sp>
        <p:nvSpPr>
          <p:cNvPr id="17" name="bld2_2935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936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rans_wipe_l_1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· LEATHER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vs. dark leather vs. smoky leather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937"/>
          <p:cNvSpPr/>
          <p:nvPr/>
        </p:nvSpPr>
        <p:spPr>
          <a:xfrm>
            <a:off x="548640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2027072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998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704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704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0998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18" name="bld1_2939"/>
          <p:cNvSpPr txBox="1"/>
          <p:nvPr/>
        </p:nvSpPr>
        <p:spPr>
          <a:xfrm>
            <a:off x="731520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</a:t>
            </a:r>
            <a:endParaRPr lang="en-US" sz="1450" dirty="0"/>
          </a:p>
        </p:txBody>
      </p:sp>
      <p:sp>
        <p:nvSpPr>
          <p:cNvPr id="19" name="bld1_2940"/>
          <p:cNvSpPr txBox="1"/>
          <p:nvPr/>
        </p:nvSpPr>
        <p:spPr>
          <a:xfrm>
            <a:off x="731520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powdery-dry, low animalic content. Built from gentle leather facets and a soft musk.</a:t>
            </a:r>
            <a:endParaRPr lang="en-US" sz="1080" dirty="0"/>
          </a:p>
        </p:txBody>
      </p:sp>
      <p:sp>
        <p:nvSpPr>
          <p:cNvPr id="20" name="bld2_2941"/>
          <p:cNvSpPr/>
          <p:nvPr/>
        </p:nvSpPr>
        <p:spPr>
          <a:xfrm>
            <a:off x="4332122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2" name="Shape 20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28" name="bld2_2943"/>
          <p:cNvSpPr txBox="1"/>
          <p:nvPr/>
        </p:nvSpPr>
        <p:spPr>
          <a:xfrm>
            <a:off x="4515002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leather</a:t>
            </a:r>
            <a:endParaRPr lang="en-US" sz="1450" dirty="0"/>
          </a:p>
        </p:txBody>
      </p:sp>
      <p:sp>
        <p:nvSpPr>
          <p:cNvPr id="29" name="bld2_2944"/>
          <p:cNvSpPr txBox="1"/>
          <p:nvPr/>
        </p:nvSpPr>
        <p:spPr>
          <a:xfrm>
            <a:off x="4515002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and animalic, with a saffron-like sharpness. Built from stronger animalic and dry facets together.</a:t>
            </a:r>
            <a:endParaRPr lang="en-US" sz="1080" dirty="0"/>
          </a:p>
        </p:txBody>
      </p:sp>
      <p:sp>
        <p:nvSpPr>
          <p:cNvPr id="30" name="bld3_2945"/>
          <p:cNvSpPr/>
          <p:nvPr/>
        </p:nvSpPr>
        <p:spPr>
          <a:xfrm>
            <a:off x="8115605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9696743" y="2554468"/>
            <a:ext cx="125529" cy="37088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9816566" y="2597262"/>
            <a:ext cx="125529" cy="37088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9936389" y="2640056"/>
            <a:ext cx="125529" cy="37088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6" name="bld3_2947"/>
          <p:cNvSpPr txBox="1"/>
          <p:nvPr/>
        </p:nvSpPr>
        <p:spPr>
          <a:xfrm>
            <a:off x="8298485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Smoky leather</a:t>
            </a:r>
            <a:endParaRPr lang="en-US" sz="1450" dirty="0"/>
          </a:p>
        </p:txBody>
      </p:sp>
      <p:sp>
        <p:nvSpPr>
          <p:cNvPr id="37" name="bld3_2948"/>
          <p:cNvSpPr txBox="1"/>
          <p:nvPr/>
        </p:nvSpPr>
        <p:spPr>
          <a:xfrm>
            <a:off x="8298485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Campfire and tar-adjacent. Built around birch-tar-style smoky facets plus woody dryness.</a:t>
            </a:r>
            <a:endParaRPr lang="en-US" sz="1080" dirty="0"/>
          </a:p>
        </p:txBody>
      </p:sp>
      <p:sp>
        <p:nvSpPr>
          <p:cNvPr id="39" name="trans_fade_1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8" grpId="0"/>
      <p:bldP spid="29" grpId="0"/>
      <p:bldP spid="30" grpId="0"/>
      <p:bldP spid="36" grpId="0"/>
      <p:bldP spid="37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BASE — THEN CHANGE 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directions from one rose base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3325444" y="314423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767745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598801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3052087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883143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335073" y="3883713"/>
            <a:ext cx="462174" cy="46217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79B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BASE</a:t>
            </a:r>
            <a:endParaRPr lang="en-US" sz="1350" dirty="0"/>
          </a:p>
        </p:txBody>
      </p:sp>
      <p:sp>
        <p:nvSpPr>
          <p:cNvPr id="16" name="bld1_2949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8" name="Shape 16"/>
          <p:cNvSpPr/>
          <p:nvPr/>
        </p:nvSpPr>
        <p:spPr>
          <a:xfrm rot="15300000">
            <a:off x="7859423" y="2014930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3050000">
            <a:off x="7923952" y="2111505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8033937" y="2148840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550000">
            <a:off x="8143922" y="2111505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6300000">
            <a:off x="8208452" y="2014930"/>
            <a:ext cx="117006" cy="36134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1_2951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green material → leafy rose</a:t>
            </a:r>
            <a:endParaRPr lang="en-US" sz="1350" dirty="0"/>
          </a:p>
        </p:txBody>
      </p:sp>
      <p:sp>
        <p:nvSpPr>
          <p:cNvPr id="25" name="bld2_2952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26" name="Shape 24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7" name="Shape 25"/>
          <p:cNvSpPr/>
          <p:nvPr/>
        </p:nvSpPr>
        <p:spPr>
          <a:xfrm>
            <a:off x="7810250" y="2922881"/>
            <a:ext cx="564380" cy="564380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086954" y="2909115"/>
            <a:ext cx="914" cy="96358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2000000">
            <a:off x="8110728" y="2881584"/>
            <a:ext cx="130771" cy="89475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1" name="bld2_2954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fruity material → modern fruity rose</a:t>
            </a:r>
            <a:endParaRPr lang="en-US" sz="1350" dirty="0"/>
          </a:p>
        </p:txBody>
      </p:sp>
      <p:sp>
        <p:nvSpPr>
          <p:cNvPr id="32" name="bld3_2955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33" name="Shape 31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879077" y="3896519"/>
            <a:ext cx="426727" cy="619442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086954" y="3999759"/>
            <a:ext cx="914" cy="37854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3_2957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patchouli → darker rose</a:t>
            </a:r>
            <a:endParaRPr lang="en-US" sz="1350" dirty="0"/>
          </a:p>
        </p:txBody>
      </p:sp>
      <p:sp>
        <p:nvSpPr>
          <p:cNvPr id="38" name="bld4_2958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39" name="Shape 37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7775836" y="5021577"/>
            <a:ext cx="633207" cy="426727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2" name="bld4_2960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musks + Hedione → diffusive clean rose</a:t>
            </a:r>
            <a:endParaRPr lang="en-US" sz="1350" dirty="0"/>
          </a:p>
        </p:txBody>
      </p:sp>
      <p:sp>
        <p:nvSpPr>
          <p:cNvPr id="43" name="bld5_2961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5" name="Shape 43"/>
          <p:cNvSpPr/>
          <p:nvPr/>
        </p:nvSpPr>
        <p:spPr>
          <a:xfrm rot="9000000">
            <a:off x="7920373" y="61053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000000">
            <a:off x="7830898" y="60640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1400000">
            <a:off x="8113088" y="60227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9" name="bld5_2963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woods + amber → woody rose</a:t>
            </a:r>
            <a:endParaRPr lang="en-US" sz="1350" dirty="0"/>
          </a:p>
        </p:txBody>
      </p:sp>
      <p:sp>
        <p:nvSpPr>
          <p:cNvPr id="51" name="trans_push_l_1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4" grpId="0"/>
      <p:bldP spid="25" grpId="0"/>
      <p:bldP spid="31" grpId="0"/>
      <p:bldP spid="32" grpId="0"/>
      <p:bldP spid="37" grpId="0"/>
      <p:bldP spid="38" grpId="0"/>
      <p:bldP spid="42" grpId="0"/>
      <p:bldP spid="43" grpId="0"/>
      <p:bldP spid="49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IN FORMULA CONSTRUCTION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formula can be built from several bases at once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educational architecture example — not a formula to copy.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12802" y="2850551"/>
            <a:ext cx="1664162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12802" y="285055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850551"/>
            <a:ext cx="2218883" cy="566928"/>
          </a:xfrm>
          <a:prstGeom prst="rect">
            <a:avLst/>
          </a:prstGeom>
          <a:solidFill>
            <a:srgbClr val="EFB0C8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95848" y="2850551"/>
            <a:ext cx="2773604" cy="566928"/>
          </a:xfrm>
          <a:prstGeom prst="rect">
            <a:avLst/>
          </a:prstGeom>
          <a:solidFill>
            <a:srgbClr val="8A633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5848" y="285055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850551"/>
            <a:ext cx="1664162" cy="566928"/>
          </a:xfrm>
          <a:prstGeom prst="rect">
            <a:avLst/>
          </a:prstGeom>
          <a:solidFill>
            <a:srgbClr val="6B6255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85055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533614" y="2850551"/>
            <a:ext cx="110944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33614" y="285055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0" name="bld1_2964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1_2965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accord  —  15%</a:t>
            </a:r>
            <a:endParaRPr lang="en-US" sz="1250" dirty="0"/>
          </a:p>
        </p:txBody>
      </p:sp>
      <p:sp>
        <p:nvSpPr>
          <p:cNvPr id="22" name="bld1_2966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lift</a:t>
            </a:r>
            <a:endParaRPr lang="en-US" sz="1000" dirty="0"/>
          </a:p>
        </p:txBody>
      </p:sp>
      <p:sp>
        <p:nvSpPr>
          <p:cNvPr id="23" name="bld2_2967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2_2968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base  —  15%</a:t>
            </a:r>
            <a:endParaRPr lang="en-US" sz="1250" dirty="0"/>
          </a:p>
        </p:txBody>
      </p:sp>
      <p:sp>
        <p:nvSpPr>
          <p:cNvPr id="25" name="bld2_2969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floral heart</a:t>
            </a:r>
            <a:endParaRPr lang="en-US" sz="1000" dirty="0"/>
          </a:p>
        </p:txBody>
      </p:sp>
      <p:sp>
        <p:nvSpPr>
          <p:cNvPr id="26" name="bld3_2970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bld3_2971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floral structure  —  20%</a:t>
            </a:r>
            <a:endParaRPr lang="en-US" sz="1250" dirty="0"/>
          </a:p>
        </p:txBody>
      </p:sp>
      <p:sp>
        <p:nvSpPr>
          <p:cNvPr id="28" name="bld3_2972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and radiance</a:t>
            </a:r>
            <a:endParaRPr lang="en-US" sz="1000" dirty="0"/>
          </a:p>
        </p:txBody>
      </p:sp>
      <p:sp>
        <p:nvSpPr>
          <p:cNvPr id="29" name="bld4_2973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0" name="bld4_2974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base  —  25%</a:t>
            </a:r>
            <a:endParaRPr lang="en-US" sz="1250" dirty="0"/>
          </a:p>
        </p:txBody>
      </p:sp>
      <p:sp>
        <p:nvSpPr>
          <p:cNvPr id="31" name="bld4_2975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foundation</a:t>
            </a:r>
            <a:endParaRPr lang="en-US" sz="1000" dirty="0"/>
          </a:p>
        </p:txBody>
      </p:sp>
      <p:sp>
        <p:nvSpPr>
          <p:cNvPr id="32" name="bld5_2976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6B6255"/>
          </a:solidFill>
          <a:ln/>
        </p:spPr>
      </p:sp>
      <p:sp>
        <p:nvSpPr>
          <p:cNvPr id="33" name="bld5_2977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base  —  15%</a:t>
            </a:r>
            <a:endParaRPr lang="en-US" sz="1250" dirty="0"/>
          </a:p>
        </p:txBody>
      </p:sp>
      <p:sp>
        <p:nvSpPr>
          <p:cNvPr id="34" name="bld5_2978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35" name="bld6_2979"/>
          <p:cNvSpPr/>
          <p:nvPr/>
        </p:nvSpPr>
        <p:spPr>
          <a:xfrm>
            <a:off x="6297016" y="5026823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6" name="bld6_2980"/>
          <p:cNvSpPr txBox="1"/>
          <p:nvPr/>
        </p:nvSpPr>
        <p:spPr>
          <a:xfrm>
            <a:off x="6571336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Modifiers / effect materials  —  10%</a:t>
            </a:r>
            <a:endParaRPr lang="en-US" sz="1250" dirty="0"/>
          </a:p>
        </p:txBody>
      </p:sp>
      <p:sp>
        <p:nvSpPr>
          <p:cNvPr id="37" name="bld6_2981"/>
          <p:cNvSpPr txBox="1"/>
          <p:nvPr/>
        </p:nvSpPr>
        <p:spPr>
          <a:xfrm>
            <a:off x="6571336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the whole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0" name="trans_push_l_1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LESSON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build every smell from zero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0034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919103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9338173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9757242" y="2758608"/>
            <a:ext cx="419070" cy="419070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176312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different kinds of ingredient, one formula.</a:t>
            </a:r>
            <a:endParaRPr lang="en-US" sz="1050" dirty="0"/>
          </a:p>
        </p:txBody>
      </p:sp>
      <p:sp>
        <p:nvSpPr>
          <p:cNvPr id="16" name="bld1_298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1_298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formula construction is mixed</a:t>
            </a:r>
            <a:endParaRPr lang="en-US" sz="1650" dirty="0"/>
          </a:p>
        </p:txBody>
      </p:sp>
      <p:sp>
        <p:nvSpPr>
          <p:cNvPr id="18" name="bld1_298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raw materials, naturals, commercial bases, proprietary specialities and your own accords all work together in the same formula.</a:t>
            </a:r>
            <a:endParaRPr lang="en-US" sz="1250" dirty="0"/>
          </a:p>
        </p:txBody>
      </p:sp>
      <p:sp>
        <p:nvSpPr>
          <p:cNvPr id="19" name="bld2_298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298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starts from absolute zero every time</a:t>
            </a:r>
            <a:endParaRPr lang="en-US" sz="1650" dirty="0"/>
          </a:p>
        </p:txBody>
      </p:sp>
      <p:sp>
        <p:nvSpPr>
          <p:cNvPr id="21" name="bld2_298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most accomplished perfumers reuse trusted structures — that's expertise, not a shortcut.</a:t>
            </a:r>
            <a:endParaRPr lang="en-US" sz="1250" dirty="0"/>
          </a:p>
        </p:txBody>
      </p:sp>
      <p:sp>
        <p:nvSpPr>
          <p:cNvPr id="22" name="bld3_298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bld3_298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job is to choose wisely, then build</a:t>
            </a:r>
            <a:endParaRPr lang="en-US" sz="1650" dirty="0"/>
          </a:p>
        </p:txBody>
      </p:sp>
      <p:sp>
        <p:nvSpPr>
          <p:cNvPr id="24" name="bld3_299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to reach for a base and when to build from scratch is itself a real skill worth developing.</a:t>
            </a:r>
            <a:endParaRPr lang="en-US" sz="1250" dirty="0"/>
          </a:p>
        </p:txBody>
      </p:sp>
      <p:sp>
        <p:nvSpPr>
          <p:cNvPr id="26" name="trans_fade_1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 BASE LIBRARY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bases worth building for yourself</a:t>
            </a:r>
            <a:endParaRPr lang="en-US" sz="3200" dirty="0"/>
          </a:p>
        </p:txBody>
      </p:sp>
      <p:sp>
        <p:nvSpPr>
          <p:cNvPr id="7" name="bld1_2991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1434419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1371370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1570219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2993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base</a:t>
            </a:r>
            <a:endParaRPr lang="en-US" sz="1450" dirty="0"/>
          </a:p>
        </p:txBody>
      </p:sp>
      <p:sp>
        <p:nvSpPr>
          <p:cNvPr id="14" name="bld1_2994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warm, resinous foundation.</a:t>
            </a:r>
            <a:endParaRPr lang="en-US" sz="1080" dirty="0"/>
          </a:p>
        </p:txBody>
      </p:sp>
      <p:sp>
        <p:nvSpPr>
          <p:cNvPr id="15" name="bld2_2995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7" name="Shape 15"/>
          <p:cNvSpPr/>
          <p:nvPr/>
        </p:nvSpPr>
        <p:spPr>
          <a:xfrm>
            <a:off x="360265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9" name="bld2_2997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musk base</a:t>
            </a:r>
            <a:endParaRPr lang="en-US" sz="1450" dirty="0"/>
          </a:p>
        </p:txBody>
      </p:sp>
      <p:sp>
        <p:nvSpPr>
          <p:cNvPr id="20" name="bld2_2998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skin-like fixative.</a:t>
            </a:r>
            <a:endParaRPr lang="en-US" sz="1080" dirty="0"/>
          </a:p>
        </p:txBody>
      </p:sp>
      <p:sp>
        <p:nvSpPr>
          <p:cNvPr id="21" name="bld3_2999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9" name="Shape 27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0" name="bld3_3001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base</a:t>
            </a:r>
            <a:endParaRPr lang="en-US" sz="1450" dirty="0"/>
          </a:p>
        </p:txBody>
      </p:sp>
      <p:sp>
        <p:nvSpPr>
          <p:cNvPr id="31" name="bld3_3002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personal rosy starting point.</a:t>
            </a:r>
            <a:endParaRPr lang="en-US" sz="1080" dirty="0"/>
          </a:p>
        </p:txBody>
      </p:sp>
      <p:sp>
        <p:nvSpPr>
          <p:cNvPr id="32" name="bld4_3003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833198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4400000">
            <a:off x="843699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8000000">
            <a:off x="843699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3198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3600000">
            <a:off x="82269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7200000">
            <a:off x="82269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2" name="bld4_3005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base</a:t>
            </a:r>
            <a:endParaRPr lang="en-US" sz="1450" dirty="0"/>
          </a:p>
        </p:txBody>
      </p:sp>
      <p:sp>
        <p:nvSpPr>
          <p:cNvPr id="43" name="bld4_3006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heady floral heart.</a:t>
            </a:r>
            <a:endParaRPr lang="en-US" sz="1080" dirty="0"/>
          </a:p>
        </p:txBody>
      </p:sp>
      <p:sp>
        <p:nvSpPr>
          <p:cNvPr id="44" name="bld5_3007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93528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74361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555194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60692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5_3009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 base</a:t>
            </a:r>
            <a:endParaRPr lang="en-US" sz="1450" dirty="0"/>
          </a:p>
        </p:txBody>
      </p:sp>
      <p:sp>
        <p:nvSpPr>
          <p:cNvPr id="52" name="bld5_3010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dry, structural wood you know by heart.</a:t>
            </a:r>
            <a:endParaRPr lang="en-US" sz="1080" dirty="0"/>
          </a:p>
        </p:txBody>
      </p:sp>
      <p:sp>
        <p:nvSpPr>
          <p:cNvPr id="53" name="bld6_3011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1313170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1434419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526569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9" name="bld6_3013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 base</a:t>
            </a:r>
            <a:endParaRPr lang="en-US" sz="1450" dirty="0"/>
          </a:p>
        </p:txBody>
      </p:sp>
      <p:sp>
        <p:nvSpPr>
          <p:cNvPr id="60" name="bld6_3014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creamy, milky woody signature.</a:t>
            </a:r>
            <a:endParaRPr lang="en-US" sz="1080" dirty="0"/>
          </a:p>
        </p:txBody>
      </p:sp>
      <p:sp>
        <p:nvSpPr>
          <p:cNvPr id="61" name="bld7_3015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3" name="Shape 61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361720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216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432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48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64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512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728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1944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380150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77" name="bld7_3017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base</a:t>
            </a:r>
            <a:endParaRPr lang="en-US" sz="1450" dirty="0"/>
          </a:p>
        </p:txBody>
      </p:sp>
      <p:sp>
        <p:nvSpPr>
          <p:cNvPr id="78" name="bld7_3018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longer-lasting fresh opening.</a:t>
            </a:r>
            <a:endParaRPr lang="en-US" sz="1080" dirty="0"/>
          </a:p>
        </p:txBody>
      </p:sp>
      <p:sp>
        <p:nvSpPr>
          <p:cNvPr id="79" name="bld8_3019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81" name="Shape 79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6" name="bld8_3021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air base</a:t>
            </a:r>
            <a:endParaRPr lang="en-US" sz="1450" dirty="0"/>
          </a:p>
        </p:txBody>
      </p:sp>
      <p:sp>
        <p:nvSpPr>
          <p:cNvPr id="87" name="bld8_3022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ozonic, open-window effect.</a:t>
            </a:r>
            <a:endParaRPr lang="en-US" sz="1080" dirty="0"/>
          </a:p>
        </p:txBody>
      </p:sp>
      <p:sp>
        <p:nvSpPr>
          <p:cNvPr id="88" name="bld9_3023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0" name="Shape 88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185328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816030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816030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8185328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96" name="bld9_3025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base</a:t>
            </a:r>
            <a:endParaRPr lang="en-US" sz="1450" dirty="0"/>
          </a:p>
        </p:txBody>
      </p:sp>
      <p:sp>
        <p:nvSpPr>
          <p:cNvPr id="97" name="bld9_3026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texture you can reach for instantly.</a:t>
            </a:r>
            <a:endParaRPr lang="en-US" sz="1080" dirty="0"/>
          </a:p>
        </p:txBody>
      </p:sp>
      <p:sp>
        <p:nvSpPr>
          <p:cNvPr id="98" name="bld10_3027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0" name="Shape 98"/>
          <p:cNvSpPr/>
          <p:nvPr/>
        </p:nvSpPr>
        <p:spPr>
          <a:xfrm rot="840000">
            <a:off x="10577827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840000">
            <a:off x="10630540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581464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598924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616384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633844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651304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668764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9" name="bld10_3029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 base</a:t>
            </a:r>
            <a:endParaRPr lang="en-US" sz="1450" dirty="0"/>
          </a:p>
        </p:txBody>
      </p:sp>
      <p:sp>
        <p:nvSpPr>
          <p:cNvPr id="110" name="bld10_3030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reliable gourmand foundation.</a:t>
            </a:r>
            <a:endParaRPr lang="en-US" sz="1080" dirty="0"/>
          </a:p>
        </p:txBody>
      </p:sp>
      <p:sp>
        <p:nvSpPr>
          <p:cNvPr id="112" name="trans_fade_1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3" name="Text 11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19" grpId="0"/>
      <p:bldP spid="20" grpId="0"/>
      <p:bldP spid="21" grpId="0"/>
      <p:bldP spid="30" grpId="0"/>
      <p:bldP spid="31" grpId="0"/>
      <p:bldP spid="32" grpId="0"/>
      <p:bldP spid="42" grpId="0"/>
      <p:bldP spid="43" grpId="0"/>
      <p:bldP spid="44" grpId="0"/>
      <p:bldP spid="51" grpId="0"/>
      <p:bldP spid="52" grpId="0"/>
      <p:bldP spid="53" grpId="0"/>
      <p:bldP spid="59" grpId="0"/>
      <p:bldP spid="60" grpId="0"/>
      <p:bldP spid="61" grpId="0"/>
      <p:bldP spid="77" grpId="0"/>
      <p:bldP spid="78" grpId="0"/>
      <p:bldP spid="79" grpId="0"/>
      <p:bldP spid="86" grpId="0"/>
      <p:bldP spid="87" grpId="0"/>
      <p:bldP spid="88" grpId="0"/>
      <p:bldP spid="96" grpId="0"/>
      <p:bldP spid="97" grpId="0"/>
      <p:bldP spid="98" grpId="0"/>
      <p:bldP spid="109" grpId="0"/>
      <p:bldP spid="110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library → build → modify → develop</a:t>
            </a:r>
            <a:endParaRPr lang="en-US" sz="3200" dirty="0"/>
          </a:p>
        </p:txBody>
      </p:sp>
      <p:sp>
        <p:nvSpPr>
          <p:cNvPr id="7" name="bld1_3031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00869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71897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3033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library</a:t>
            </a:r>
            <a:endParaRPr lang="en-US" sz="1400" dirty="0"/>
          </a:p>
        </p:txBody>
      </p:sp>
      <p:sp>
        <p:nvSpPr>
          <p:cNvPr id="14" name="bld1_3034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reusable starting points</a:t>
            </a:r>
            <a:endParaRPr lang="en-US" sz="1050" dirty="0"/>
          </a:p>
        </p:txBody>
      </p:sp>
      <p:sp>
        <p:nvSpPr>
          <p:cNvPr id="15" name="bld2_3035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 flipV="1">
            <a:off x="4460138" y="3645695"/>
            <a:ext cx="335397" cy="14906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5536" y="3645695"/>
            <a:ext cx="335397" cy="186332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4795536" y="3832026"/>
            <a:ext cx="335397" cy="29813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36540" y="4130157"/>
            <a:ext cx="558996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236540" y="3794760"/>
            <a:ext cx="223598" cy="33539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0208" y="3608428"/>
            <a:ext cx="409930" cy="186332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00512" y="3735134"/>
            <a:ext cx="119252" cy="119252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2679" y="3602838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88077" y="3789170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2679" y="4087301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93684" y="4087301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7352" y="3565572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0" name="bld2_3037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400" dirty="0"/>
          </a:p>
        </p:txBody>
      </p:sp>
      <p:sp>
        <p:nvSpPr>
          <p:cNvPr id="31" name="bld2_3038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right one</a:t>
            </a:r>
            <a:endParaRPr lang="en-US" sz="1050" dirty="0"/>
          </a:p>
        </p:txBody>
      </p:sp>
      <p:sp>
        <p:nvSpPr>
          <p:cNvPr id="32" name="bld3_3039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4" name="Shape 32"/>
          <p:cNvSpPr/>
          <p:nvPr/>
        </p:nvSpPr>
        <p:spPr>
          <a:xfrm>
            <a:off x="7257258" y="3320461"/>
            <a:ext cx="948599" cy="948599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36" name="bld3_3041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00" dirty="0"/>
          </a:p>
        </p:txBody>
      </p:sp>
      <p:sp>
        <p:nvSpPr>
          <p:cNvPr id="37" name="bld3_3042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it toward your idea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 flipV="1">
            <a:off x="11002975" y="3645695"/>
            <a:ext cx="335397" cy="14906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338373" y="3645695"/>
            <a:ext cx="335397" cy="186332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1338373" y="3832026"/>
            <a:ext cx="335397" cy="29813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79377" y="4130157"/>
            <a:ext cx="558996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779377" y="3794760"/>
            <a:ext cx="223598" cy="33539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593045" y="3608428"/>
            <a:ext cx="409930" cy="186332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943349" y="3735134"/>
            <a:ext cx="119252" cy="119252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295516" y="3602838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630914" y="3789170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295516" y="4087301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736521" y="4087301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550189" y="3565572"/>
            <a:ext cx="85713" cy="8571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4_3044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1400" dirty="0"/>
          </a:p>
        </p:txBody>
      </p:sp>
      <p:sp>
        <p:nvSpPr>
          <p:cNvPr id="53" name="bld4_3045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and refine</a:t>
            </a:r>
            <a:endParaRPr lang="en-US" sz="1050" dirty="0"/>
          </a:p>
        </p:txBody>
      </p:sp>
      <p:sp>
        <p:nvSpPr>
          <p:cNvPr id="55" name="trans_push_l_1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30" grpId="0"/>
      <p:bldP spid="31" grpId="0"/>
      <p:bldP spid="32" grpId="0"/>
      <p:bldP spid="36" grpId="0"/>
      <p:bldP spid="37" grpId="0"/>
      <p:bldP spid="52" grpId="0"/>
      <p:bldP spid="53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LEGITIMATE APPROACHES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bases vs. your own bases</a:t>
            </a:r>
            <a:endParaRPr lang="en-US" sz="3200" dirty="0"/>
          </a:p>
        </p:txBody>
      </p:sp>
      <p:sp>
        <p:nvSpPr>
          <p:cNvPr id="7" name="bld1_3046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E7D3"/>
          </a:solidFill>
          <a:ln/>
        </p:spPr>
      </p:sp>
      <p:sp>
        <p:nvSpPr>
          <p:cNvPr id="8" name="bld1_3047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3048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base</a:t>
            </a:r>
            <a:endParaRPr lang="en-US" sz="1800" dirty="0"/>
          </a:p>
        </p:txBody>
      </p:sp>
      <p:sp>
        <p:nvSpPr>
          <p:cNvPr id="10" name="bld1_3049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Polished, complex, reliable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— instant access to years of R&amp;D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difficult to reproduce yourself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control over internal composition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dependency, cost and availability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documentation must be checked</a:t>
            </a:r>
            <a:endParaRPr lang="en-US" sz="1300" dirty="0"/>
          </a:p>
        </p:txBody>
      </p:sp>
      <p:sp>
        <p:nvSpPr>
          <p:cNvPr id="11" name="bld1_3050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2" name="bld1_3051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bld2_3052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3053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3054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base</a:t>
            </a:r>
            <a:endParaRPr lang="en-US" sz="1800" dirty="0"/>
          </a:p>
        </p:txBody>
      </p:sp>
      <p:sp>
        <p:nvSpPr>
          <p:cNvPr id="16" name="bld2_3055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creative control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adjustable to your exact intention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educational to build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to your own style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and needs real development time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start out less polished — that's expected</a:t>
            </a:r>
            <a:endParaRPr lang="en-US" sz="1300" dirty="0"/>
          </a:p>
        </p:txBody>
      </p:sp>
      <p:sp>
        <p:nvSpPr>
          <p:cNvPr id="17" name="bld2_3056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3057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1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MODULE LEAVES YOU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06.1 · ACCORDS &amp; BASES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→ relationships → accords → bases → structure → perfume</a:t>
            </a:r>
            <a:endParaRPr lang="en-US" sz="3200" dirty="0"/>
          </a:p>
        </p:txBody>
      </p:sp>
      <p:sp>
        <p:nvSpPr>
          <p:cNvPr id="7" name="bld1_3058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3060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</a:t>
            </a:r>
            <a:endParaRPr lang="en-US" sz="1400" dirty="0"/>
          </a:p>
        </p:txBody>
      </p:sp>
      <p:sp>
        <p:nvSpPr>
          <p:cNvPr id="23" name="bld1_3061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alphabet</a:t>
            </a:r>
            <a:endParaRPr lang="en-US" sz="1050" dirty="0"/>
          </a:p>
        </p:txBody>
      </p:sp>
      <p:sp>
        <p:nvSpPr>
          <p:cNvPr id="24" name="bld2_3062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6" name="Shape 24"/>
          <p:cNvSpPr/>
          <p:nvPr/>
        </p:nvSpPr>
        <p:spPr>
          <a:xfrm>
            <a:off x="2703084" y="3346273"/>
            <a:ext cx="896975" cy="896975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8" name="bld2_3064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Relationships</a:t>
            </a:r>
            <a:endParaRPr lang="en-US" sz="1400" dirty="0"/>
          </a:p>
        </p:txBody>
      </p:sp>
      <p:sp>
        <p:nvSpPr>
          <p:cNvPr id="29" name="bld2_3065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interact</a:t>
            </a:r>
            <a:endParaRPr lang="en-US" sz="1050" dirty="0"/>
          </a:p>
        </p:txBody>
      </p:sp>
      <p:sp>
        <p:nvSpPr>
          <p:cNvPr id="30" name="bld3_3066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8100000">
            <a:off x="4794074" y="3474412"/>
            <a:ext cx="640696" cy="640696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4" name="bld3_3068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</a:t>
            </a:r>
            <a:endParaRPr lang="en-US" sz="1400" dirty="0"/>
          </a:p>
        </p:txBody>
      </p:sp>
      <p:sp>
        <p:nvSpPr>
          <p:cNvPr id="35" name="bld3_3069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</a:t>
            </a:r>
            <a:endParaRPr lang="en-US" sz="1050" dirty="0"/>
          </a:p>
        </p:txBody>
      </p:sp>
      <p:sp>
        <p:nvSpPr>
          <p:cNvPr id="36" name="bld4_3070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8" name="Shape 36"/>
          <p:cNvSpPr/>
          <p:nvPr/>
        </p:nvSpPr>
        <p:spPr>
          <a:xfrm>
            <a:off x="6436577" y="3154064"/>
            <a:ext cx="1281393" cy="1281393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15972" y="3333459"/>
            <a:ext cx="922603" cy="922603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72250" y="3589737"/>
            <a:ext cx="410046" cy="410046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2" name="bld4_3072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</a:t>
            </a:r>
            <a:endParaRPr lang="en-US" sz="1400" dirty="0"/>
          </a:p>
        </p:txBody>
      </p:sp>
      <p:sp>
        <p:nvSpPr>
          <p:cNvPr id="43" name="bld4_3073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phrases</a:t>
            </a:r>
            <a:endParaRPr lang="en-US" sz="1050" dirty="0"/>
          </a:p>
        </p:txBody>
      </p:sp>
      <p:sp>
        <p:nvSpPr>
          <p:cNvPr id="44" name="bld5_3074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 flipV="1">
            <a:off x="9040124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357269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357269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828694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8828694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52503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83743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316745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33889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16745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788170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611979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5_3076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60" name="bld5_3077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2" name="Shape 60"/>
          <p:cNvSpPr/>
          <p:nvPr/>
        </p:nvSpPr>
        <p:spPr>
          <a:xfrm>
            <a:off x="10936958" y="3269389"/>
            <a:ext cx="132035" cy="105074"/>
          </a:xfrm>
          <a:prstGeom prst="roundRect">
            <a:avLst>
              <a:gd name="adj" fmla="val 34810"/>
            </a:avLst>
          </a:prstGeom>
          <a:solidFill>
            <a:srgbClr val="0E0D0B"/>
          </a:solidFill>
          <a:ln/>
        </p:spPr>
      </p:sp>
      <p:sp>
        <p:nvSpPr>
          <p:cNvPr id="63" name="Shape 61"/>
          <p:cNvSpPr/>
          <p:nvPr/>
        </p:nvSpPr>
        <p:spPr>
          <a:xfrm>
            <a:off x="10945569" y="3374463"/>
            <a:ext cx="114813" cy="168119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797952" y="3542582"/>
            <a:ext cx="410046" cy="777549"/>
          </a:xfrm>
          <a:prstGeom prst="roundRect">
            <a:avLst>
              <a:gd name="adj" fmla="val 2676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34528" y="3892479"/>
            <a:ext cx="336894" cy="391076"/>
          </a:xfrm>
          <a:prstGeom prst="roundRect">
            <a:avLst>
              <a:gd name="adj" fmla="val 27142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7" name="bld6_3079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</a:t>
            </a:r>
            <a:endParaRPr lang="en-US" sz="1400" dirty="0"/>
          </a:p>
        </p:txBody>
      </p:sp>
      <p:sp>
        <p:nvSpPr>
          <p:cNvPr id="68" name="bld6_3080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</a:t>
            </a:r>
            <a:endParaRPr lang="en-US" sz="1050" dirty="0"/>
          </a:p>
        </p:txBody>
      </p:sp>
      <p:sp>
        <p:nvSpPr>
          <p:cNvPr id="70" name="trans_push_l_1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28" grpId="0"/>
      <p:bldP spid="29" grpId="0"/>
      <p:bldP spid="30" grpId="0"/>
      <p:bldP spid="34" grpId="0"/>
      <p:bldP spid="35" grpId="0"/>
      <p:bldP spid="36" grpId="0"/>
      <p:bldP spid="42" grpId="0"/>
      <p:bldP spid="43" grpId="0"/>
      <p:bldP spid="44" grpId="0"/>
      <p:bldP spid="59" grpId="0"/>
      <p:bldP spid="60" grpId="0"/>
      <p:bldP spid="67" grpId="0"/>
      <p:bldP spid="68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perfumery is not memorising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chemicals. It is learning how materials,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and bases become a story.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06.1</a:t>
            </a:r>
            <a:endParaRPr lang="en-US" sz="1100" dirty="0"/>
          </a:p>
        </p:txBody>
      </p:sp>
      <p:sp>
        <p:nvSpPr>
          <p:cNvPr id="10" name="trans_fade_1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formula's anatomy, from idea to base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contrast, volume and diffusion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full example formulas, built and explained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4" name="trans_fade_1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308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08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308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308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308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308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308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308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308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9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09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309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309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09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09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309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309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09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09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310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310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310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310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310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rans_fade_1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2" name="bld1_310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bld1_310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4" name="bld1_310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5" name="bld2_310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6" name="bld2_310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7" name="bld2_311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8" name="bld3_311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3_311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30" name="bld3_311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2" name="trans_fade_1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3114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11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3116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3117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3118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3119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120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3121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3122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3123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3124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125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3126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3127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3128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3129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130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3131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3132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rans_push_l_1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5" name="bld1_313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313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7" name="bld1_313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8" name="bld2_313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313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20" name="bld2_313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21" name="bld3_313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314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3" name="bld3_314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5" name="trans_fade_1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3" name="bld1_314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1_314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5" name="bld1_314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6" name="bld2_314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314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8" name="bld2_314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9" name="bld3_314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3_314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21" name="bld3_315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3" name="trans_fade_1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Balancing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83848" y="2590980"/>
            <a:ext cx="754325" cy="75432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381445"/>
            <a:ext cx="1173395" cy="1173395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loud material balanced against a larger, quiet one — not equal size, equal impact.</a:t>
            </a:r>
            <a:endParaRPr lang="en-US" sz="1050" dirty="0"/>
          </a:p>
        </p:txBody>
      </p:sp>
      <p:sp>
        <p:nvSpPr>
          <p:cNvPr id="13" name="bld1_315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315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Contrast, not sameness</a:t>
            </a:r>
            <a:endParaRPr lang="en-US" sz="1650" dirty="0"/>
          </a:p>
        </p:txBody>
      </p:sp>
      <p:sp>
        <p:nvSpPr>
          <p:cNvPr id="15" name="bld1_315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opposing textures — a bright citrus against heavy woods, a sharp green against a soft musk. Contrast is what keeps a formula interesting.</a:t>
            </a:r>
            <a:endParaRPr lang="en-US" sz="1250" dirty="0"/>
          </a:p>
        </p:txBody>
      </p:sp>
      <p:sp>
        <p:nvSpPr>
          <p:cNvPr id="16" name="bld2_315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315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volume to intention</a:t>
            </a:r>
            <a:endParaRPr lang="en-US" sz="1650" dirty="0"/>
          </a:p>
        </p:txBody>
      </p:sp>
      <p:sp>
        <p:nvSpPr>
          <p:cNvPr id="18" name="bld2_315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diffusive material earns a small percentage; a quiet fixative can carry a much larger share without overwhelming anything.</a:t>
            </a:r>
            <a:endParaRPr lang="en-US" sz="1250" dirty="0"/>
          </a:p>
        </p:txBody>
      </p:sp>
      <p:sp>
        <p:nvSpPr>
          <p:cNvPr id="19" name="bld3_315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bld3_315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diffusive and fixative roles deliberately</a:t>
            </a:r>
            <a:endParaRPr lang="en-US" sz="1650" dirty="0"/>
          </a:p>
        </p:txBody>
      </p:sp>
      <p:sp>
        <p:nvSpPr>
          <p:cNvPr id="21" name="bld3_315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Diffusive materials (Hedione, citrus) carry the formula outward; fixatives (musks, resins, heavy woods) slow evaporation and anchor the base. Every formula needs both.</a:t>
            </a:r>
            <a:endParaRPr lang="en-US" sz="1250" dirty="0"/>
          </a:p>
        </p:txBody>
      </p:sp>
      <p:sp>
        <p:nvSpPr>
          <p:cNvPr id="22" name="bld4_316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4_316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around one central idea</a:t>
            </a:r>
            <a:endParaRPr lang="en-US" sz="1650" dirty="0"/>
          </a:p>
        </p:txBody>
      </p:sp>
      <p:sp>
        <p:nvSpPr>
          <p:cNvPr id="24" name="bld4_316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should serve the one-sentence idea from the previous slide — if it doesn't, it's a candidate for removal.</a:t>
            </a:r>
            <a:endParaRPr lang="en-US" sz="1250" dirty="0"/>
          </a:p>
        </p:txBody>
      </p:sp>
      <p:sp>
        <p:nvSpPr>
          <p:cNvPr id="26" name="trans_fade_1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127" y="2612441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1" name="bld1_3163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3164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3" name="bld1_3165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4" name="bld2_3166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3167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6" name="bld2_3168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7" name="bld3_3169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8" name="bld3_3170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9" name="bld3_3171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30" name="bld4_3172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4_3173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2" name="bld4_3174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3" name="bld5_3175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4" name="bld5_3176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5" name="bld5_3177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6" name="bld6_3178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7" name="bld6_3179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8" name="bld6_3180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9" name="bld7_3181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0" name="bld7_3182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41" name="bld7_3183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4" name="trans_push_l_1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2" name="bld1_3184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3185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4" name="bld1_3186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5" name="bld2_3187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3188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7" name="bld2_3189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8" name="bld3_3190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3_3191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30" name="bld3_3192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31" name="bld4_3193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3194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3" name="bld4_3195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4" name="bld5_3196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5_3197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6" name="bld5_3198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7" name="bld6_3199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8" name="bld6_3200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9" name="bld6_3201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40" name="bld7_3202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bld7_3203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2" name="bld7_3204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5" name="trans_push_l_1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3205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3206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3207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3208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3209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3210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3211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3212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3213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3214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3215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3216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3217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3218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3219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3220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3221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3222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3223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3224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3225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3226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3227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3228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3229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3230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3231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3232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3233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3234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3235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3236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3237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3238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3239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3240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3241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3242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3243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3244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3245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3246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3247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3248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3249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3250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3251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3252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rans_fade_2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formula across a real 48-hour timeline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questions that replace "do I like it?"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troubleshooting guide — symptom to fix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2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7" name="bld1_32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32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9" name="bld1_325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20" name="bld2_325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2_325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2" name="bld2_325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3" name="bld3_325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326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5" name="bld3_326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7" name="trans_fade_2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3262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3263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3264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3265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3266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3267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3268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3269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3270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3271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3272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3273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3274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275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3276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3277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3278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3279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3280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3281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328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328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3284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3285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rans_push_l_2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7" name="bld1_3286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28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3288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10" name="bld1_3289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11" name="bld2_3290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3291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3292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4" name="bld2_3293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5" name="bld3_3294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295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3296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8" name="bld3_3297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9" name="bld4_3298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299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3300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2" name="bld4_3301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3" name="bld5_3302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303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3304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6" name="bld5_3305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7" name="bld6_3306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3307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3308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30" name="bld6_3309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2" name="trans_fade_2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FIX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a rough formula</a:t>
            </a:r>
            <a:endParaRPr lang="en-US" sz="3200" dirty="0"/>
          </a:p>
        </p:txBody>
      </p:sp>
      <p:sp>
        <p:nvSpPr>
          <p:cNvPr id="7" name="bld1_331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31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331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flat or boring</a:t>
            </a:r>
            <a:endParaRPr lang="en-US" sz="1450" dirty="0"/>
          </a:p>
        </p:txBody>
      </p:sp>
      <p:sp>
        <p:nvSpPr>
          <p:cNvPr id="10" name="bld1_3313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diffusive material — Hedione or a fresh citrus top — to open the formula up and give it lift.</a:t>
            </a:r>
            <a:endParaRPr lang="en-US" sz="1080" dirty="0"/>
          </a:p>
        </p:txBody>
      </p:sp>
      <p:sp>
        <p:nvSpPr>
          <p:cNvPr id="11" name="bld2_331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331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331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sweet or cloying</a:t>
            </a:r>
            <a:endParaRPr lang="en-US" sz="1450" dirty="0"/>
          </a:p>
        </p:txBody>
      </p:sp>
      <p:sp>
        <p:nvSpPr>
          <p:cNvPr id="14" name="bld2_3317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gourmand materials, or add a dry, bitter contrast like vetiver or bergamot to cut through it.</a:t>
            </a:r>
            <a:endParaRPr lang="en-US" sz="1080" dirty="0"/>
          </a:p>
        </p:txBody>
      </p:sp>
      <p:sp>
        <p:nvSpPr>
          <p:cNvPr id="15" name="bld3_331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31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32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 last</a:t>
            </a:r>
            <a:endParaRPr lang="en-US" sz="1450" dirty="0"/>
          </a:p>
        </p:txBody>
      </p:sp>
      <p:sp>
        <p:nvSpPr>
          <p:cNvPr id="18" name="bld3_3321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fixative or base material — a musk, a resin, a heavier wood — to anchor the drydown.</a:t>
            </a:r>
            <a:endParaRPr lang="en-US" sz="1080" dirty="0"/>
          </a:p>
        </p:txBody>
      </p:sp>
      <p:sp>
        <p:nvSpPr>
          <p:cNvPr id="19" name="bld4_332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32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332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material dominates</a:t>
            </a:r>
            <a:endParaRPr lang="en-US" sz="1450" dirty="0"/>
          </a:p>
        </p:txBody>
      </p:sp>
      <p:sp>
        <p:nvSpPr>
          <p:cNvPr id="22" name="bld4_3325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that material's percentage in small increments, re-evaluating on a fresh strip after each change.</a:t>
            </a:r>
            <a:endParaRPr lang="en-US" sz="1080" dirty="0"/>
          </a:p>
        </p:txBody>
      </p:sp>
      <p:sp>
        <p:nvSpPr>
          <p:cNvPr id="23" name="bld5_332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32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332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harsh or rough</a:t>
            </a:r>
            <a:endParaRPr lang="en-US" sz="1450" dirty="0"/>
          </a:p>
        </p:txBody>
      </p:sp>
      <p:sp>
        <p:nvSpPr>
          <p:cNvPr id="26" name="bld5_3329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the edges with a diffusive floral or a soft musk — they round out sharp, isolated materials.</a:t>
            </a:r>
            <a:endParaRPr lang="en-US" sz="1080" dirty="0"/>
          </a:p>
        </p:txBody>
      </p:sp>
      <p:sp>
        <p:nvSpPr>
          <p:cNvPr id="27" name="bld6_333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333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333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is weak</a:t>
            </a:r>
            <a:endParaRPr lang="en-US" sz="1450" dirty="0"/>
          </a:p>
        </p:txBody>
      </p:sp>
      <p:sp>
        <p:nvSpPr>
          <p:cNvPr id="30" name="bld6_3333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top-note percentage, or add a lift material like an aldehyde or citrus booster.</a:t>
            </a:r>
            <a:endParaRPr lang="en-US" sz="1080" dirty="0"/>
          </a:p>
        </p:txBody>
      </p:sp>
      <p:sp>
        <p:nvSpPr>
          <p:cNvPr id="32" name="trans_fade_2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3334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33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3336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3337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3338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3339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340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3341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3342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3343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3344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345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3346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3347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3348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3349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350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3351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3352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3353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3354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355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3356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3357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3358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3359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360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3361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3362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rans_push_l_2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3363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3364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3365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rans_wipe_l_2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rans_fade_2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vs. everyday alcohol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 up from a small test batch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Compounding, bottling and labelling basics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2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3366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336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3368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3369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3370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3371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3372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3373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3374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3375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3376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3377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rans_fade_2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3378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3379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3380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3381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3382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3383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rans_push_l_2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4" name="bld1_338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338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6" name="bld1_338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7" name="bld2_338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338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9" name="bld2_338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20" name="bld3_339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339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2" name="bld3_339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23" name="bld4_339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339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5" name="bld4_339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7" name="trans_fade_2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4" name="bld1_339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339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6" name="bld1_339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7" name="bld2_339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2_340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9" name="bld2_340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30" name="bld3_340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3_340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2" name="bld3_340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3" name="bld4_340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4" name="bld4_340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5" name="bld4_340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7" name="trans_fade_2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3408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409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3410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3411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3412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3413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414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3415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3416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3417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3418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419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3420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3421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3422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3423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424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3425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3426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3427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3428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429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3430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3431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3432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3433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434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3435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3436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3437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3438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3439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3440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3441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rans_push_l_2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rans_fade_2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maceration changes a formula's character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to wait, and how to tell it's ready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conditions that protect — or ruin — a batch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2" name="trans_fade_2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3442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44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3444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3445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3446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3447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3448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3449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3450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451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452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3453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3454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55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456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2" name="bld4_3457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3458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459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460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3461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3462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3463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3464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3465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3466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3467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3468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3469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3470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3471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3472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3473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rans_fade_2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4" name="bld1_347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1_347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6" name="bld1_347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7" name="bld2_347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347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9" name="bld2_347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30" name="bld3_348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bld3_348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2" name="bld3_348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4" name="trans_fade_2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3483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3484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3485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3486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2" name="bld2_3487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3488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3489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3490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3491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3492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3493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3494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3495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3496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3497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3498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3499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3500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3501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3502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rans_push_l_2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3503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3504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3505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rans_wipe_l_2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3506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3507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3508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3509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3510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3511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3512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3513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3514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3515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3516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3517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3518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3519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3520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rans_fade_2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rans_fade_2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limits, worked through a real example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SDS and allergen declaration actually cover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 — and what to ignore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0" name="trans_fade_2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rans_fade_2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3521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3523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9" name="bld1_3524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20" name="bld2_3525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7337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3527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25" name="bld2_3528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26" name="bld3_3529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4949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30" name="bld3_3531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31" name="bld3_3532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32" name="bld4_3533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4_3535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41" name="bld4_3536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43" name="trans_fade_2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40" grpId="0"/>
      <p:bldP spid="41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3" name="bld1_353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353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5" name="bld1_353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6" name="bld2_354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2_354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8" name="bld2_354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9" name="bld3_354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354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21" name="bld3_354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2" name="bld4_354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4_354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4" name="bld4_354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6" name="trans_fade_2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3549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31756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106733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06733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131756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5" name="bld1_3551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16" name="bld1_3552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17" name="bld2_3553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2_3555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33" name="bld2_3556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34" name="bld3_3557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9854343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7" name="Shape 35"/>
          <p:cNvSpPr/>
          <p:nvPr/>
        </p:nvSpPr>
        <p:spPr>
          <a:xfrm>
            <a:off x="9857602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01730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8306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3_3559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42" name="bld3_3560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43" name="bld4_3561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2142616" y="4409932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7" name="bld4_3563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48" name="bld4_3564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49" name="bld5_3565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1" name="Shape 49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56" name="bld5_3567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57" name="bld5_3568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58" name="bld6_3569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66" name="bld6_3571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67" name="bld6_3572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69" name="trans_fade_2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32" grpId="0"/>
      <p:bldP spid="33" grpId="0"/>
      <p:bldP spid="34" grpId="0"/>
      <p:bldP spid="41" grpId="0"/>
      <p:bldP spid="42" grpId="0"/>
      <p:bldP spid="43" grpId="0"/>
      <p:bldP spid="47" grpId="0"/>
      <p:bldP spid="48" grpId="0"/>
      <p:bldP spid="49" grpId="0"/>
      <p:bldP spid="56" grpId="0"/>
      <p:bldP spid="57" grpId="0"/>
      <p:bldP spid="58" grpId="0"/>
      <p:bldP spid="66" grpId="0"/>
      <p:bldP spid="67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7" name="bld1_357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1_357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9" name="bld1_357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20" name="bld2_357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357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2" name="bld2_357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3" name="bld3_357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358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5" name="bld3_358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7" name="trans_fade_2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3582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5964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3584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15" name="bld1_3585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6" name="bld2_3586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0" name="bld2_3588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21" name="bld2_3589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22" name="bld3_3590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4" name="Shape 22"/>
          <p:cNvSpPr/>
          <p:nvPr/>
        </p:nvSpPr>
        <p:spPr>
          <a:xfrm>
            <a:off x="589614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26" name="bld3_3592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7" name="bld3_3593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8" name="bld4_3594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3596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37" name="bld4_3597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38" name="bld5_3598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2" name="bld5_3600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43" name="bld5_3601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45" name="trans_fade_2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6" grpId="0"/>
      <p:bldP spid="37" grpId="0"/>
      <p:bldP spid="38" grpId="0"/>
      <p:bldP spid="42" grpId="0"/>
      <p:bldP spid="43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3602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3603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3604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rans_wipe_l_2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3605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9" name="bld1_3607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30" name="bld1_3608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31" name="bld2_3609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354046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1327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583838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583838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61327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9" name="bld2_3611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40" name="bld2_3612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41" name="bld3_3613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9" name="bld3_3615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50" name="bld3_3616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51" name="bld4_3617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9" name="bld4_3619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60" name="bld4_3620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61" name="bld5_3621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5_3623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70" name="bld5_3624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72" name="trans_fade_2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69" grpId="0"/>
      <p:bldP spid="70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3625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3627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23" name="bld1_3628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</a:t>
            </a:r>
            <a:endParaRPr lang="en-US" sz="1050" dirty="0"/>
          </a:p>
        </p:txBody>
      </p:sp>
      <p:sp>
        <p:nvSpPr>
          <p:cNvPr id="24" name="bld2_3629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0875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74392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08279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08279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392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2" name="bld2_3631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00" dirty="0"/>
          </a:p>
        </p:txBody>
      </p:sp>
      <p:sp>
        <p:nvSpPr>
          <p:cNvPr id="33" name="bld2_3632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</a:t>
            </a:r>
            <a:endParaRPr lang="en-US" sz="1050" dirty="0"/>
          </a:p>
        </p:txBody>
      </p:sp>
      <p:sp>
        <p:nvSpPr>
          <p:cNvPr id="34" name="bld3_3633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4473726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37243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1130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1130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637243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3_3635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00" dirty="0"/>
          </a:p>
        </p:txBody>
      </p:sp>
      <p:sp>
        <p:nvSpPr>
          <p:cNvPr id="43" name="bld3_3636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</a:t>
            </a:r>
            <a:endParaRPr lang="en-US" sz="1050" dirty="0"/>
          </a:p>
        </p:txBody>
      </p:sp>
      <p:sp>
        <p:nvSpPr>
          <p:cNvPr id="44" name="bld4_3637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6981169" y="3370363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2700000">
            <a:off x="7118168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7174915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100000">
            <a:off x="7118168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6981169" y="3757856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500000">
            <a:off x="6844169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6200000">
            <a:off x="6787422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6844169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74762" y="3692249"/>
            <a:ext cx="205023" cy="20502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5" name="Shape 5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6" name="bld4_3639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00" dirty="0"/>
          </a:p>
        </p:txBody>
      </p:sp>
      <p:sp>
        <p:nvSpPr>
          <p:cNvPr id="57" name="bld4_3640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</a:t>
            </a:r>
            <a:endParaRPr lang="en-US" sz="1050" dirty="0"/>
          </a:p>
        </p:txBody>
      </p:sp>
      <p:sp>
        <p:nvSpPr>
          <p:cNvPr id="58" name="bld5_3641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399428" y="3154064"/>
            <a:ext cx="1281393" cy="128139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62945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496832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496832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562945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6" name="bld5_3643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00" dirty="0"/>
          </a:p>
        </p:txBody>
      </p:sp>
      <p:sp>
        <p:nvSpPr>
          <p:cNvPr id="67" name="bld5_3644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62279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525796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0459683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459683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525796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5" name="bld6_3646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76" name="bld6_3647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</a:t>
            </a:r>
            <a:endParaRPr lang="en-US" sz="1050" dirty="0"/>
          </a:p>
        </p:txBody>
      </p:sp>
      <p:sp>
        <p:nvSpPr>
          <p:cNvPr id="78" name="trans_push_l_2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9" name="Text 7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2" grpId="0"/>
      <p:bldP spid="33" grpId="0"/>
      <p:bldP spid="34" grpId="0"/>
      <p:bldP spid="42" grpId="0"/>
      <p:bldP spid="43" grpId="0"/>
      <p:bldP spid="44" grpId="0"/>
      <p:bldP spid="56" grpId="0"/>
      <p:bldP spid="57" grpId="0"/>
      <p:bldP spid="58" grpId="0"/>
      <p:bldP spid="66" grpId="0"/>
      <p:bldP spid="67" grpId="0"/>
      <p:bldP spid="75" grpId="0"/>
      <p:bldP spid="76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rans_fade_2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Bottles, labels and packaging that actually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your lane and telling a real 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fragrance brands actually sell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22" name="trans_fade_2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364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2142616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" name="bld1_365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2" name="bld1_365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3" name="bld2_365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2_365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29" name="bld2_365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30" name="bld3_365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>
            <a:off x="9862355" y="2055630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6071" y="2279893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5" name="bld3_365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36" name="bld3_365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37" name="bld4_366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123216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123216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123216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4" name="bld4_366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45" name="bld4_366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46" name="bld5_366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8" name="Shape 46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4" name="bld5_366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5" name="bld5_366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56" name="bld6_366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54343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57602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01730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838306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3" name="bld6_367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64" name="bld6_367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66" name="trans_fade_2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8" grpId="0"/>
      <p:bldP spid="29" grpId="0"/>
      <p:bldP spid="30" grpId="0"/>
      <p:bldP spid="35" grpId="0"/>
      <p:bldP spid="36" grpId="0"/>
      <p:bldP spid="37" grpId="0"/>
      <p:bldP spid="44" grpId="0"/>
      <p:bldP spid="45" grpId="0"/>
      <p:bldP spid="46" grpId="0"/>
      <p:bldP spid="54" grpId="0"/>
      <p:bldP spid="55" grpId="0"/>
      <p:bldP spid="56" grpId="0"/>
      <p:bldP spid="63" grpId="0"/>
      <p:bldP spid="64" grpId="0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6456" y="2233638"/>
            <a:ext cx="242504" cy="192987"/>
          </a:xfrm>
          <a:prstGeom prst="roundRect">
            <a:avLst>
              <a:gd name="adj" fmla="val 18953"/>
            </a:avLst>
          </a:prstGeom>
          <a:solidFill>
            <a:srgbClr val="0E0D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442271" y="2426625"/>
            <a:ext cx="210873" cy="308778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71148" y="2735403"/>
            <a:ext cx="753118" cy="1428100"/>
          </a:xfrm>
          <a:prstGeom prst="roundRect">
            <a:avLst>
              <a:gd name="adj" fmla="val 1457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7724" y="3378049"/>
            <a:ext cx="679966" cy="748879"/>
          </a:xfrm>
          <a:prstGeom prst="roundRect">
            <a:avLst>
              <a:gd name="adj" fmla="val 13448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7" name="bld1_367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367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9" name="bld1_367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20" name="bld2_367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367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22" name="bld2_367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3" name="bld3_367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367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5" name="bld3_368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7" name="trans_fade_2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681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3683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9" name="bld1_3684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20" name="bld2_3685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3687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25" name="bld2_3688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26" name="bld3_3689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>
            <a:off x="6066451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70285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4554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1130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3691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34" name="bld3_3692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35" name="bld4_3693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2" name="bld4_3695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43" name="bld4_3696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44" name="bld5_3697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2" name="bld5_3699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53" name="bld5_3700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55" name="trans_fade_2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3" grpId="0"/>
      <p:bldP spid="34" grpId="0"/>
      <p:bldP spid="35" grpId="0"/>
      <p:bldP spid="42" grpId="0"/>
      <p:bldP spid="43" grpId="0"/>
      <p:bldP spid="44" grpId="0"/>
      <p:bldP spid="52" grpId="0"/>
      <p:bldP spid="53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701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3703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8" name="bld1_3704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9" name="bld2_3705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7" name="bld2_3707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28" name="bld2_3708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29" name="bld3_3709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2" name="Shape 30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6" name="bld3_3711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37" name="bld3_3712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38" name="bld4_3713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4_3715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46" name="bld4_3716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48" name="trans_fade_2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7" grpId="0"/>
      <p:bldP spid="28" grpId="0"/>
      <p:bldP spid="29" grpId="0"/>
      <p:bldP spid="36" grpId="0"/>
      <p:bldP spid="37" grpId="0"/>
      <p:bldP spid="38" grpId="0"/>
      <p:bldP spid="45" grpId="0"/>
      <p:bldP spid="46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3" name="bld1_37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37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5" name="bld1_371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6" name="bld2_372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372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8" name="bld2_372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9" name="bld3_372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372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21" name="bld3_372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2" name="bld4_372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4_372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4" name="bld4_372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6" name="trans_fade_2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3729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1669681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bld1_3731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2" name="bld1_3732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3" name="bld2_3733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2" name="Shape 20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3" name="bld2_3735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24" name="bld2_3736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25" name="bld3_3737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8279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2700000">
            <a:off x="7530132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755161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100000">
            <a:off x="7530132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7478279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3500000">
            <a:off x="742642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6200000">
            <a:off x="7404947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42642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75854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7" name="bld3_3739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38" name="bld3_3740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39" name="bld4_3741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6" name="bld4_3743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47" name="bld4_3744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48" name="bld5_3745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1839430" y="4526331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9467" y="4526331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59467" y="4593018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59405" y="4699718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759405" y="4579681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2718" y="4512994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818090" y="4558341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44129" y="4510993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64166" y="45776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44129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44067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77380" y="4497656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3" name="bld5_3747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64" name="bld5_3748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65" name="bld6_3749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7" name="Shape 65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71" name="bld6_3751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72" name="bld6_3752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73" name="bld7_3753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5" name="Shape 7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7" name="bld7_3755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78" name="bld7_3756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79" name="bld8_3757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1" name="Shape 79"/>
          <p:cNvSpPr/>
          <p:nvPr/>
        </p:nvSpPr>
        <p:spPr>
          <a:xfrm rot="15300000">
            <a:off x="101880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3050000">
            <a:off x="102335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0800000">
            <a:off x="103110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550000">
            <a:off x="103885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6300000">
            <a:off x="104340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87" name="bld8_3759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88" name="bld8_3760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90" name="trans_fade_2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1" name="Text 8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3" grpId="0"/>
      <p:bldP spid="24" grpId="0"/>
      <p:bldP spid="25" grpId="0"/>
      <p:bldP spid="37" grpId="0"/>
      <p:bldP spid="38" grpId="0"/>
      <p:bldP spid="39" grpId="0"/>
      <p:bldP spid="46" grpId="0"/>
      <p:bldP spid="47" grpId="0"/>
      <p:bldP spid="48" grpId="0"/>
      <p:bldP spid="63" grpId="0"/>
      <p:bldP spid="64" grpId="0"/>
      <p:bldP spid="65" grpId="0"/>
      <p:bldP spid="71" grpId="0"/>
      <p:bldP spid="72" grpId="0"/>
      <p:bldP spid="73" grpId="0"/>
      <p:bldP spid="77" grpId="0"/>
      <p:bldP spid="78" grpId="0"/>
      <p:bldP spid="79" grpId="0"/>
      <p:bldP spid="87" grpId="0"/>
      <p:bldP spid="88" grpId="0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3761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50281" y="2218104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0281" y="2157479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0281" y="2089580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4" name="bld1_3763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5" name="bld1_3764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6" name="bld2_3765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507292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0" name="bld2_3767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21" name="bld2_3768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22" name="bld3_3769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4904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26" name="bld3_3771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27" name="bld3_3772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28" name="bld4_3773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4_3775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36" name="bld4_3776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37" name="bld5_3777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5_3779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44" name="bld5_3780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45" name="bld6_3781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2055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8" name="Shape 46"/>
          <p:cNvSpPr/>
          <p:nvPr/>
        </p:nvSpPr>
        <p:spPr>
          <a:xfrm>
            <a:off x="4655314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9442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18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2" name="bld6_3783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53" name="bld6_3784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54" name="bld7_3785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>
            <a:off x="7489666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492926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37054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73630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7_3787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62" name="bld7_3788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63" name="bld8_3789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82516" y="4409932"/>
            <a:ext cx="339498" cy="339498"/>
          </a:xfrm>
          <a:prstGeom prst="star5">
            <a:avLst/>
          </a:prstGeom>
          <a:solidFill>
            <a:srgbClr val="C9503E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7" name="bld8_3791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68" name="bld8_3792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70" name="trans_fade_2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5" grpId="0"/>
      <p:bldP spid="36" grpId="0"/>
      <p:bldP spid="37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  <p:bldP spid="67" grpId="0"/>
      <p:bldP spid="68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7" name="bld1_379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379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9" name="bld1_379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20" name="bld2_379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379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2" name="bld2_379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3" name="bld3_379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380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5" name="bld3_380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6" name="bld4_380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4_380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8" name="bld4_380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30" name="trans_fade_2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COURSE</a:t>
            </a:r>
            <a:endParaRPr lang="en-US" sz="1100" dirty="0"/>
          </a:p>
        </p:txBody>
      </p:sp>
      <p:sp>
        <p:nvSpPr>
          <p:cNvPr id="10" name="trans_fade_2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245</Slides>
  <Notes>245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245</vt:i4>
      </vt:variant>
    </vt:vector>
  </HeadingPairs>
  <TitlesOfParts>
    <vt:vector size="2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&amp; Science of Perfumery</dc:title>
  <dc:subject>Beginner-to-intermediate perfumery course companion deck</dc:subject>
  <dc:creator>YEVFUMES</dc:creator>
  <cp:lastModifiedBy>YEVFUMES</cp:lastModifiedBy>
  <cp:revision>1</cp:revision>
  <dcterms:created xsi:type="dcterms:W3CDTF">2026-09-02T00:03:46Z</dcterms:created>
  <dcterms:modified xsi:type="dcterms:W3CDTF">2026-09-02T00:03:46Z</dcterms:modified>
</cp:coreProperties>
</file>