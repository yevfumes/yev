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notesMasterIdLst>
    <p:notesMasterId r:id="rId1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notesMaster" Target="notesMasters/notesMaster1.xml"/><Relationship Id="rId140" Type="http://schemas.openxmlformats.org/officeDocument/2006/relationships/presProps" Target="presProps.xml"/><Relationship Id="rId141" Type="http://schemas.openxmlformats.org/officeDocument/2006/relationships/viewProps" Target="viewProps.xml"/><Relationship Id="rId142" Type="http://schemas.openxmlformats.org/officeDocument/2006/relationships/theme" Target="theme/theme1.xml"/><Relationship Id="rId1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cold open. Set the tone: this is not a corporate course, it's a creative lab. Introduce the energy of the whole program before naming a single ingredient.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philosophy: slides support the video, they never replace it. Encourage students to keep a physical notebook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teacher a genuine, personal introduction here — background, how you got into perfumery, why you're teaching this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outcomes, not topics — this is what changes for the student, not just what they'll hear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top to bottom. Give students a sense of pacing — this is a real curriculum, not a random collection of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Discord mechanics concretely: channel names, homework threads, how office hours are scheduled.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philosophical core of the whole course — spend real time here. This is what separates hobbyists who plateau from ones who keep improving.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 hard — the single biggest predictor of student success is whether they actually smell the materials, not whether they watch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specific software/spreadsheet system you use. Show a live example if possible during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on this note. Let it land — it's the thesis statement for the entire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module is foundational vocabulary and concepts. Nothing hands-on yet, but everything after this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slow here — these six words will recur in every future module. Use a quick real-world example for each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Diffusion, tenacity and impact get confused constantly — spend extra time distinguishing them, you'll reuse this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percentage ranges are industry conventions, not fixed law — brands vary widely. The next point is more important than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corrections in the whole basics module — students constantly conflate concentration % with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pyramid is a simplification. Almost every real material has some presence across multiple layers — don't let students take it too literally.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solvents matter: they let you work at safe, evaluable concentrations and match the final product format (spray vs oil vs roll-on).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round numbers, not a fixed rule — the point is proportion, not precision. This is a teaching example, not a formula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myth-busting that continues in module 03.2 — synthetic does not mean lesser. Both are professional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over-explain each one here — this is a map, not a lesson. Families get their real depth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fun with this slide — deliver it with energy, it's meant to be memorable and a little provocative.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module 01 by reinforcing that everything just taught is a simplified model. Real perfumery is messier and more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lean, practical kit, not an expensive lab buildout. Everything shown is realistic for a beginner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specific models if you have them, but keep the spec (0.001g / ~200g) as the takeaway regardless of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some solvents degrade certain plastics over time — glass is safer for long-term dedicated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glass isn't optional for long-term storage — UV light degrades many raw materials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sets up module 05 (training your nose) — evaluation habits start here with the physical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through this slide — it's a checklist, not a lecture. Each item gets one sentence at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protects the course from going stale as suppliers change — teach the search habit, not a single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permission to start small — the essential column is genuinely enough to begin every remaining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reassurance — equipment anxiety stops beginners before they start. Two tools are genuinely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about vocabulary and behaviour, applied specifically to natural materials. Synthetics get their own module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twelve families from module 01, now framed as a sorting tool you'll use to classify every material you smell.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Longevity is one of the first properties students should log for every material — connect directly to module 05's evaluation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terms get confused constantly — a material can have huge projection but low tenacity, or the reverse. Use concrete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honest — don't present molecular weight as a deterministic rule, the prompt is explicit about avoiding that oversimplification.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extraction methods of the same plant can smell meaningfully different — e.g. rose absolute vs. rose 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source and smell each of these four before the next lesson — they anchor the entire family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as previous slide — pair with a smelling assignment before moving to synthetics.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practically: always re-evaluate a new batch of a natural material before trusting an existing formula built on the old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module. Bridge to next: 'now let's look at the other half of the palette — synthetics.'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energy here — this is meant to be one of the most exciting modules. Set up the myth-busting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synthetics as an achievement, not a compromise. This sets the tone for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— this is a map for the two material-card slides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sentence of context per material live, if time allows. These eight are the highest-value to memorise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Calone is a great story to tell live — a single material that created an entire olfactory category in the 1990s.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playfully but firmly — these myths do real damage to beginners who avoid a huge, useful part of the palette out of misplaced guilt.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anticipation for the card grid that follows — this is where students realise how disproportionate a material's impact can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percentage and impact are not linear. A 0.3% dose of the right material can outweigh 5% of something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— students should leave excited to experiment with synthetics, not intimidated by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materials theory to a real purchase order — the most actionable module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 warning — it's the single most common beginner mistake and it kills momentum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representative starter set, not gospel — the point is coverage across every major family with ~30 materials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second wave dramatically expands what's possible — but only makes sense once the first 30 are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shopping categories — encourage students to buy at least one or two materials from every category before doubling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back to the mindset module — buying random "interesting" materials is the equivalent of copying formulas without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wrap-up before module 04 — a student who checks every box here is genuinely ready to begin diluting.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patience — this module often produces the most excitement and the most temptation to overbuy.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practical, hands-on modules — encourage students to have their scale out while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dilution as a superpower, not a hurdle — it's what turns raw, unusable materials into a working palette.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ladder will come up repeatedly — most working stocks in this course live at 10% or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camera if possible — watching the actual weighing is far more valuable than hearing the ratio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overheating — gentle warming only, many materials degrade or evaporate unwanted fractions under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this is a starting guideline — always confirm the right dilution by smelling, not just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habit prevents the single most common lab disaster: an unlabelled bottle of unknown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safety reminder as well as a philosophical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discipline, not a talent. Anyone who does this consistently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should feel familiar — it echoes module 02's scent strip introduction, now turned into a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 template — the same eight fields, every single evaluation, so patterns become visible over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directly back to module 04's dilution ladder — reinforce the link between the two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schema we'll show in the sample card next — recommend a spreadsheet or simple database, whichever software you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actual software on screen here if possible — this slide is a mock-up standing in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by reinforcing the daily habit — consistency over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hands-on, practical module. Encourage students to have a few materials on hand to build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live example if possible — build a two-material accord on camera and let it click for 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viewers to guess how many materials might build each of these before revealing the apple breakdown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to break down apple before you reveal it — this is a genuinely great teaching exercise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mental process students should repeat for any accord they want to build — not a formula to copy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 a common mistake: students treating a good accord as a complete, sellable fragrance.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Jean Carles' method is one of the most influential teaching frameworks in perfumery history — worth a short story about him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these five ratios are smelled and logged, introduce material C and repeat the process against the best A:B blend.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repeats throughout the entire course — module 08 revisits it at the full-formula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— this single discipline is what separates methodical perfumers from ones who guess and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 where everything so far converges — terminology, materials, dilution, accords. Frame it as the culmination.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mental checklist students should run through for every formula they build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write their own one-sentence idea before building — this becomes the north star for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these four pieces, each built with the Jean Carles method from module 06, come together into one 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bridge from module 06 — reassure students the method they just learned scales up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example formulas that follow will each demonstrate this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material earns its place — this is more valuable than the exact percentages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this with the fresh formula — notice how few volatile top notes it needs; woods live in the heart and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bergamot's job here is purely structural — preventing the gourmand from feeling flat and cloying.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small vanillin at the base — a common technique to add warmth without turning a floral into a gourmand.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 of restraint — the best formulas are edited, not just assembled.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version 1 is never the finished formula. This module is about the iteration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reinforces the habit from module 05, now applied specifically to full formulas rather than single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timeline discipline as module 05, scaled up to the whole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 I like it?" is an emotional question with no next action. These six questions each point directly to a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module 06's accord loop exactly — reinforce that it's the same discipline at every scale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connects to the Jean Carles "change one variable" principle from module 06 — repeat it here at the 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with patience as the core message — most formulas are abandoned too early, before their drydown is even understood.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formula work to an actual finished bottle — a satisfying, tangible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percentages never change with scale — only the total weight does. This is why percentage-based formula sheets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visual — students already saw a more detailed breakdown in module 01, this is the practical compounding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module 10's discussion of maceration and solubility — the two topics are closely 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easy default to overuse — stress the 'not blindly' point, it's explicitly called out for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seven-step flow is the professional standard — module 10 goes deep on the maceration step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respect for the process — beginners often rush the alcohol and maceration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often gets skipped by impatient beginners — make the case for why patience pays off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real, observable effects — ground the module in what's actually measurable, not folklore.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science accessible — the goal is confidence, not a chemistry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 for how long students should wait before final-judging a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myth causes real wasted time — some students let a broken formula sit for months hoping it will "come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concrete, repeatable routine students can follow for every formula going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module's core lesson — patience matters, but it isn't a substitute for good formula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module calmly and clearly — compliance overwhelms beginners fast. Keep the visual language simple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this disclaimer clearly on camera as well — it protects both students and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IFRA categories cover everything from fine fragrance to household products — explain that the limit depends on end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calculation trips up almost every beginner — walk through it slowly and repeat it for a second material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raw material supplier should provide an SDS — if they don't, that's a red flag about the supplier, not just the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this isn't a reason to fear naturals — it's simply a labelling requirement to plan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CLP determines what actually has to appear on your finished product's label, based on your formula's hazard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self-taught beginners lean on Good Scents for compliance decisions — this correction genuinely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answer to "where do I actually check?" — a clean reference list students can return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is the practical checklist to run through before any formula is offered for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firmly but not scarily — this is manageable with the right habits, not a reason to avoid launching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closing, exciting module — bring both presenters' energy together for the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above this line has been covered in modules 01–11 — this slide is a checkpoint before moving to brand-building.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start with stock bottles for their first run — custom tooling is a later-stage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beautiful label that dissolves the first time it touches spilled perfume is a real, common beginner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 is often the deciding factor in a first impression, before a customer has smelled anything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positioning and storytelling slides that follow — it's the conceptual heart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There's no wrong lane — the mistake is trying to occupy several at once. Encourage students to commit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successful independent brands start with 2–3 of these channels, not all nine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note list against a genuine brand story live — the difference is usually obvious once pointed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entire course on this slide — it's a map of everything taught across all thirteen modules,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slide of the entire course — let this close with warmth. Thank the community and point them back to Discord for their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INTRODUCTION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YEVFUMES DISCORD COURSE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&amp; Science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Perfumery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beginner-to-intermediate perfumery education — built to be watched, smelled, and practiced alongside every lesson.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 YEV &amp; KRISTAN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is not the lesson.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your lab notebook.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04815" y="1239926"/>
            <a:ext cx="485785" cy="437815"/>
          </a:xfrm>
          <a:prstGeom prst="roundRect">
            <a:avLst>
              <a:gd name="adj" fmla="val 8354"/>
            </a:avLst>
          </a:prstGeom>
          <a:solidFill>
            <a:srgbClr val="0E0D0B"/>
          </a:solidFill>
          <a:ln/>
        </p:spPr>
      </p:sp>
      <p:sp>
        <p:nvSpPr>
          <p:cNvPr id="9" name="Shape 7"/>
          <p:cNvSpPr/>
          <p:nvPr/>
        </p:nvSpPr>
        <p:spPr>
          <a:xfrm>
            <a:off x="9336497" y="1677741"/>
            <a:ext cx="422422" cy="70050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93382" y="2378245"/>
            <a:ext cx="1508650" cy="3239829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9958" y="3674176"/>
            <a:ext cx="1435498" cy="1907321"/>
          </a:xfrm>
          <a:prstGeom prst="roundRect">
            <a:avLst>
              <a:gd name="adj" fmla="val 6370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04594" y="3479787"/>
            <a:ext cx="1086228" cy="842356"/>
          </a:xfrm>
          <a:prstGeom prst="roundRect">
            <a:avLst>
              <a:gd name="adj" fmla="val 325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course companion — one bottle, one page, one idea at a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video, not for reading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is a visual anchor for what Yev or Kristan are explaining out loud — not a script. Watch, listen, and use the slide to stay oriented.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to intermediate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zero assumptions and build to full formula construction, evaluation, compliance and brand launch.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be practiced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real smelling, real dilution, and real formula work — not passive watching.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TEACHERS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Yev &amp; Kristan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18608" cy="4617720"/>
          </a:xfrm>
          <a:prstGeom prst="roundRect">
            <a:avLst>
              <a:gd name="adj" fmla="val 2772"/>
            </a:avLst>
          </a:prstGeom>
          <a:solidFill>
            <a:srgbClr val="EFE6D2"/>
          </a:solidFill>
          <a:ln/>
        </p:spPr>
      </p:sp>
      <p:sp>
        <p:nvSpPr>
          <p:cNvPr id="8" name="Shape 6"/>
          <p:cNvSpPr/>
          <p:nvPr/>
        </p:nvSpPr>
        <p:spPr>
          <a:xfrm>
            <a:off x="2586152" y="2121408"/>
            <a:ext cx="1243584" cy="1243584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6152" y="21214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118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Yev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59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Lab · Business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89120"/>
            <a:ext cx="4678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technical side — equipment, dilution, compounding, compliance and building a brand around a formula.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4448" y="1783080"/>
            <a:ext cx="5318608" cy="4617720"/>
          </a:xfrm>
          <a:prstGeom prst="roundRect">
            <a:avLst>
              <a:gd name="adj" fmla="val 2772"/>
            </a:avLst>
          </a:prstGeom>
          <a:solidFill>
            <a:srgbClr val="EFE6D2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1959" y="2121408"/>
            <a:ext cx="1243584" cy="1243584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1959" y="21214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6118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Kristan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3959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· Nose Training · Composition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4389120"/>
            <a:ext cx="4678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creative side — raw materials, olfactory training, accord building and formula evaluation.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actually be able to do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material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family, longevity and role from a single scent strip.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 with precision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accurate working dilutions for any raw material.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accord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recognisable smell from individual materials.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 a formula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idea into a structured, balanced composition.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rigorously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formula on scent strip over 48 hours, not by instinct alone.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responsibly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IFRA, SDS, compounding and the first steps of a brand.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COURSE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roadmap through 13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2650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9000" y="172650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69000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54216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Perfumery Basics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754216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3265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9000" y="232657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9000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54216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Naturals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54216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2926652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Synthetics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9000" y="292665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9000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54216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Order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54216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" y="3526726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69000" y="3526726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69000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54216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754216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" y="4126801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Accords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9000" y="4126801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69000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54216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Construction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754216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" y="47268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207008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&amp; Developing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1207008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69000" y="4726877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69000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54216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&amp; Compounding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6754216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" y="5326952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1792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207008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&amp; Maceration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1207008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69000" y="532695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69000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54216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6754216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" y="592702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910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207008" y="580815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Brand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1207008" y="61739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COURSE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Discord, one rhythm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06685" y="1627120"/>
            <a:ext cx="2682045" cy="2682045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5755" y="2046189"/>
            <a:ext cx="1843906" cy="184390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2716701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community built around one shared curriculum.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+ slide, every lesson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 with this deck open — the slide tells you where you are, the video does the teaching.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smelling homework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includes materials to physically smell and log before the next lesson.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threads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evaluations, accords and formulas in Discord for feedback from Yev, Kristan and the group.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sessions to troubleshoot formulas and answer anything the videos didn't cover.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PERFUMERY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that actually works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 yourself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description replaces putting a strip under your nose. Reading about rose is not smelling rose.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fearlessly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mistakes on a scent strip are how you learn. Perfect formulas don't come first — reps do.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records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un-logged smell is a lost lesson. Write it down every single time.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often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change on your skin, on a strip, over hours. Smell things more than once.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Think, don't copy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you copy teaches you nothing. A formula you build teaches you everything.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patient with your nose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memory is trained like any other skill — daily, gradually, over months.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learn to smell from a screen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315413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9129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6448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819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355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726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2621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76337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1690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5406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physical scent strips. Order your materials before you start.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ORGANISED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systems every perfumer keeps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17150F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CFC5A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the exact software setup used throughout this course.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library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logged with supplier, dilution, family and notes — your personal reference.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library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— a rose accord, a woody base — you can drop into future formulas.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sheets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every formula, with dates, percentages and change notes.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Scent-strip evaluation log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timestamped notes on how a material or formula evolves over 48 hours.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teaching you to copy formulas.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teaching you to think like a perfumer.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PERFUMERY BASICS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Perfumery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build a formula, you need the words perfumers actually use to describe one.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you'll hear constantly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undiluted blend of raw materials before alcohol or solvent is added.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finished, mixed formula — naturals and synthetics combined into one liquid.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or formula reduced in strength with a solvent, expressed as a %.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materials blended so they read as one new, unified smell.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pre-built accord used as a foundation — e.g. a musk base or an amber base.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added in small amounts to shift the character of an accord.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more, about how a scent behaves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 used to carry and dilute materials — ethanol, DPG, TEC and others.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Fixative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slows evaporation of lighter notes and extends overall wear.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and how easily a scent spreads into the surrounding air.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material or formula remains detectable over time.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 material registers, even at very low doses.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Drydown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hours in — the final character once top notes have faded.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CONCENTRATIONS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Extrait, EDP, EDT, EDC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734549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5154858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20–30% concentrate. The richest, most expensive tier — closest to skin, longest wear.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Parfum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15–20% concentrate. The modern default for most fine fragrance releases.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Toilette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5–15% concentrate. Lighter, fresher, common for everyday and citrus formulas.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Cologne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2–5% concentrate. Very light, classic citrus-led, applied liberally.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DISTINCTION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is not performance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higher concentration percentage always means a stronger, longer-lasting fragrance."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comes from which materials are used — their diffusion, tenacity and fixative structure — far more than from the raw % of concentrate. A well-built 10% EDT can outlast a poorly built 25% extrait. Concentration is a starting ratio, not a guarantee.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MODEL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pyramid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53933" y="1691640"/>
            <a:ext cx="474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06520" y="1771227"/>
            <a:ext cx="1422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859107" y="1850813"/>
            <a:ext cx="2370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11693" y="1930400"/>
            <a:ext cx="33189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764280" y="2009987"/>
            <a:ext cx="42672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716867" y="2089573"/>
            <a:ext cx="52154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69453" y="2169160"/>
            <a:ext cx="61637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22040" y="2248747"/>
            <a:ext cx="71120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574627" y="2328333"/>
            <a:ext cx="80602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527213" y="2407920"/>
            <a:ext cx="90085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79800" y="2487507"/>
            <a:ext cx="99568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32387" y="2567093"/>
            <a:ext cx="109050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384973" y="2646680"/>
            <a:ext cx="118533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2726267"/>
            <a:ext cx="128016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90147" y="2805853"/>
            <a:ext cx="137498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42733" y="2885440"/>
            <a:ext cx="14698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95320" y="2965027"/>
            <a:ext cx="15646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147907" y="3044613"/>
            <a:ext cx="16594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-502920" y="211531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1153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fruits, aldehydes, aromatic herbs — the first impression, 0–30 minutes.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0493" y="3124200"/>
            <a:ext cx="17542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53080" y="3203787"/>
            <a:ext cx="18491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5667" y="3283373"/>
            <a:ext cx="19439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58253" y="3362960"/>
            <a:ext cx="203877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910840" y="3442547"/>
            <a:ext cx="213360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63427" y="3522133"/>
            <a:ext cx="222842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6013" y="3601720"/>
            <a:ext cx="232325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68600" y="3681307"/>
            <a:ext cx="241808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721187" y="3760893"/>
            <a:ext cx="251290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73773" y="3840480"/>
            <a:ext cx="260773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26360" y="3920067"/>
            <a:ext cx="270256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78947" y="3999653"/>
            <a:ext cx="279738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531533" y="4079240"/>
            <a:ext cx="289221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484120" y="4158827"/>
            <a:ext cx="298704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436707" y="4238413"/>
            <a:ext cx="308186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389293" y="4318000"/>
            <a:ext cx="31766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341880" y="4397587"/>
            <a:ext cx="32715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94467" y="4477173"/>
            <a:ext cx="33663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-502920" y="35478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3547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Florals, spices, greens — the main character, emerging 30 minutes to a few hours in.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7053" y="4556760"/>
            <a:ext cx="34611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199640" y="4636347"/>
            <a:ext cx="35560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152227" y="4715933"/>
            <a:ext cx="36508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104813" y="4795520"/>
            <a:ext cx="374565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057400" y="4875107"/>
            <a:ext cx="384048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009987" y="4954693"/>
            <a:ext cx="393530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962573" y="5034280"/>
            <a:ext cx="403013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915160" y="5113867"/>
            <a:ext cx="412496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867747" y="5193453"/>
            <a:ext cx="421978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820333" y="5273040"/>
            <a:ext cx="431461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772920" y="5352627"/>
            <a:ext cx="440944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725507" y="5432213"/>
            <a:ext cx="450426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8093" y="5511800"/>
            <a:ext cx="459909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630680" y="5591387"/>
            <a:ext cx="469392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583267" y="5670973"/>
            <a:ext cx="478874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35853" y="5750560"/>
            <a:ext cx="48835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488440" y="5830147"/>
            <a:ext cx="49784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441027" y="5909733"/>
            <a:ext cx="50732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-502920" y="498043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675120" y="498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musks, ambers, resins — the lasting foundation, hours into the drydown.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teaching and marketing model — but real formulas overlap top, heart and base heavily. Few materials sit in only one layer.</a:t>
            </a:r>
            <a:endParaRPr lang="en-US" sz="1150" dirty="0"/>
          </a:p>
        </p:txBody>
      </p:sp>
      <p:sp>
        <p:nvSpPr>
          <p:cNvPr id="69" name="Text 6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a formula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778792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88099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43580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alcohol. The standard solvent for finished fine-fragrance sprays.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Dipropylene glycol. Odourless, non-flammable — common for oils and roll-ons.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Triethyl citrate. A gentler, skin-friendly solvent often used in oil-based formats.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Isopropyl myristate. A light, fast-absorbing carrier used where appropriate.</a:t>
            </a:r>
            <a:endParaRPr lang="en-US" sz="108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GOES INTO A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finished perfume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spray perfume is mostly solvent — not concentrate.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21167" y="2850551"/>
            <a:ext cx="110944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2111" y="2850551"/>
            <a:ext cx="5547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87583" y="2850551"/>
            <a:ext cx="55472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89296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itself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97016" y="3892967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71336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 —  78%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71336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45989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—  1%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softens alcohol bite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7016" y="4459895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71336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 / stabilisers  —  0.5%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71336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required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02682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494452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 —  0.5%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521884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appropriate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31375" y="246650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ONE PALETTE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vs.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oils — steam or expression distilled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Absolutes — solvent extracted, richer and truer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extracts — extracted under pressure, very clean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Resinoids — extracted from gums and resins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variable, often expensive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chemicals — single, isolated molecules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Captives / speciality materials — proprietary, exclusive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— pre-blended synthetic accords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consistent, batch after batch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effects naturals simply cannot achieve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FAMILIES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twelve families you'll learn to recognise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911096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Bergamot, lemon, mandarin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1911096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jasmine, muguet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1911096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Peach, apple, blackcurrant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1911096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grass, galbanum, leaves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3550920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Lavender, rosemary, herbs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3550920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Cedar, sandalwood, vetiver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3550920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Labdanum, resins, warmth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3550920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skin, soft, radiant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" y="5190744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Vanilla, caramel, sugar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559988" y="5190744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69132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3569132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Suede, birch tar, smoke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97600" y="5190744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6744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Aquatic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6406744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air, ozone, melon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235211" y="5190744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244355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9244355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Pepper, clove, cinnamon</a:t>
            </a:r>
            <a:endParaRPr lang="en-US" sz="108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perfumery myths, busted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is always better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bring soul; synthetics bring precision, safety and effects naturals can't. Great perfumery uses both.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oil means stronger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choice, not raw %, drives strength. A well-built low-concentrate formula can outperform a poorly built rich one.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fake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synthetics smell nothing like an approximation — they're original, beautiful materials with no natural equivalent.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material = better perfume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reflects rarity and extraction cost, not olfactory value. Cheap materials can be the hero of a formula.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heart / base must separate perfectly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materials span multiple layers at once — the pyramid is a teaching model, not a physical law.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115605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16773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16773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materials = more complexity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16773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316773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comes from how materials interact, not how many are in the beaker. Restraint is a skill.</a:t>
            </a:r>
            <a:endParaRPr lang="en-US" sz="108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pyramid, the percentages, the categories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maps — not the territory. Learn them,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learn when real formulas break them.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64447" y="3824387"/>
            <a:ext cx="1805026" cy="593080"/>
          </a:xfrm>
          <a:prstGeom prst="roundRect">
            <a:avLst>
              <a:gd name="adj" fmla="val 9251"/>
            </a:avLst>
          </a:prstGeom>
          <a:solidFill>
            <a:srgbClr val="B5652D">
              <a:alpha val="80000"/>
            </a:srgbClr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9854" y="2737074"/>
            <a:ext cx="794211" cy="1146621"/>
          </a:xfrm>
          <a:prstGeom prst="roundRect">
            <a:avLst>
              <a:gd name="adj" fmla="val 3454"/>
            </a:avLst>
          </a:prstGeom>
          <a:solidFill>
            <a:srgbClr val="FAF6EC"/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2388" y="2440534"/>
            <a:ext cx="914" cy="316309"/>
          </a:xfrm>
          <a:prstGeom prst="line">
            <a:avLst/>
          </a:prstGeom>
          <a:noFill/>
          <a:ln w="25400">
            <a:solidFill>
              <a:srgbClr val="B565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EQUIPMENT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Laboratory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professional lab to start — you need the right small set of tools, chosen for accuracy.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 · THE NON-NEGOTIABLE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scale is your accuracy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74313" y="4293108"/>
            <a:ext cx="2346789" cy="1209751"/>
          </a:xfrm>
          <a:prstGeom prst="roundRect">
            <a:avLst>
              <a:gd name="adj" fmla="val 4535"/>
            </a:avLst>
          </a:prstGeom>
          <a:solidFill>
            <a:srgbClr val="B5652D">
              <a:alpha val="80000"/>
            </a:srgbClr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31414" y="2075231"/>
            <a:ext cx="1032587" cy="2338852"/>
          </a:xfrm>
          <a:prstGeom prst="roundRect">
            <a:avLst>
              <a:gd name="adj" fmla="val 2657"/>
            </a:avLst>
          </a:prstGeom>
          <a:solidFill>
            <a:srgbClr val="FAF6EC"/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43136" y="1470355"/>
            <a:ext cx="914" cy="645201"/>
          </a:xfrm>
          <a:prstGeom prst="line">
            <a:avLst/>
          </a:prstGeom>
          <a:noFill/>
          <a:ln w="25400">
            <a:solidFill>
              <a:srgbClr val="B565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0.01g kitchen scale cannot see a 0.05g dose. Don't guess where you can measure.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0.001g readability, ~200g capacity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sweet spot for perfumery — precise enough for trace materials, large enough for real batches.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0.001g matters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materials are used at fractions of a percent. A 0.01g scale simply cannot see doses that small.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Repeatability over price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scale that gives a different reading each time is worse than useless — it teaches you the wrong lesson.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max capacity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regularly with a reference weight, and respect the scale's stated capacity — overloading degrades accuracy.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Pipettes — plastic vs. glass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62854" y="1239926"/>
            <a:ext cx="912498" cy="958123"/>
          </a:xfrm>
          <a:prstGeom prst="ellipse">
            <a:avLst/>
          </a:prstGeom>
          <a:solidFill>
            <a:srgbClr val="6E7A50">
              <a:alpha val="85000"/>
            </a:srgbClr>
          </a:solidFill>
          <a:ln w="12700">
            <a:solidFill>
              <a:srgbClr val="6E7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08131" y="2152424"/>
            <a:ext cx="914" cy="2571585"/>
          </a:xfrm>
          <a:prstGeom prst="line">
            <a:avLst/>
          </a:prstGeom>
          <a:noFill/>
          <a:ln w="28575">
            <a:solidFill>
              <a:srgbClr val="6E7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8794672" y="4724010"/>
            <a:ext cx="248863" cy="663635"/>
          </a:xfrm>
          <a:prstGeom prst="triangl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20063" y="1239926"/>
            <a:ext cx="912498" cy="958123"/>
          </a:xfrm>
          <a:prstGeom prst="ellipse">
            <a:avLst/>
          </a:prstGeom>
          <a:solidFill>
            <a:srgbClr val="C9A354">
              <a:alpha val="85000"/>
            </a:srgbClr>
          </a:solidFill>
          <a:ln w="12700">
            <a:solidFill>
              <a:srgbClr val="C9A3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5339" y="2152424"/>
            <a:ext cx="914" cy="2571585"/>
          </a:xfrm>
          <a:prstGeom prst="line">
            <a:avLst/>
          </a:prstGeom>
          <a:noFill/>
          <a:ln w="28575">
            <a:solidFill>
              <a:srgbClr val="C9A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0051880" y="4724010"/>
            <a:ext cx="248863" cy="663635"/>
          </a:xfrm>
          <a:prstGeom prst="triangle">
            <a:avLst/>
          </a:prstGeom>
          <a:solidFill>
            <a:srgbClr val="C9A354">
              <a:alpha val="8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 on hand — they solve different problems.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plastic pipettes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zero cleanup — ideal for quick transfers and one-time evaluation dips.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 Pasteur pipettes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and solvent-resistant — better for repeated, precise dosing of the same material.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for speed and disposability; glass when you're working with strong solvents or want a permanent tool for one material.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Bottles for every stage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75667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398195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glass bottles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UV-protective storage for raw materials and dilutions.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vials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volumes for evaluation batches and giving out samples.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bottles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bottles per dilution strength, clearly labelled.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storage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bottles for macerating and storing finished compounds.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 — your primary instrument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08203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1919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4634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60058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84481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98197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22620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36336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strip, one material, one label — every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blotters matter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varies too much between evaluations — a blotter is a consistent, repeatable surface for judging a material.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 labelling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material, dilution and date on the strip itself before you dip it — not after.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stamps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exact time you dipped it, so later evaluations are measured against a real clock.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Drydown evaluation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strip lets you return to the same sample hours or days later and track how it truly evolves.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KIT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tools that save real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911096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 — many materials irritate or stain skin.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737360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1911096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194560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523744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 funnels for clean bottle transfers.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737360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1911096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194560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Beakers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523744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mixing and staging larger batches.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377184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3550920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834384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 rods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163568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stirring without introducing air.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377184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3550920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3834384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&amp; markers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163568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Alcohol-resistant labels and permanent markers — standard ink smears.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377184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3550920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3834384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boats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163568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boats for solids and viscous materials.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48640" y="5017008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" y="5190744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4742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Spatulas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803392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solid and paste-like materials.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332122" y="5017008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05858" y="5190744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15002" y="54742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boxes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4515002" y="5803392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Organised, dark storage for your growing material library.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8115605" y="5017008"/>
            <a:ext cx="352745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89341" y="5190744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98485" y="54742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alcohol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8298485" y="5803392"/>
            <a:ext cx="316169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rinsing glassware between materials — never skip this step.</a:t>
            </a:r>
            <a:endParaRPr lang="en-US" sz="108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search for, not where to buy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74313" y="2255605"/>
            <a:ext cx="2346789" cy="2346789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4313" y="2255605"/>
            <a:ext cx="2346789" cy="2346789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10343940" y="4225232"/>
            <a:ext cx="502883" cy="914"/>
          </a:xfrm>
          <a:prstGeom prst="line">
            <a:avLst/>
          </a:prstGeom>
          <a:noFill/>
          <a:ln w="38100">
            <a:solidFill>
              <a:srgbClr val="C9A3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spec — let the market compete for your 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spec, not by brand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change — the specification doesn't. Search for what you need, not a specific store.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"0.001g precision scale ~200g"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exact scale class covered earlier, across many sellers.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"amber glass bottles wholesale"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bulk glassware suppliers for storage and dilution bottles.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"perfumer's alcohol" / "glass Pasteur pipettes"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most-searched consumables in any starter kit.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vs. nice-to-have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precision scale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+ glass pipettes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glass bottles + dilution bottles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 strips (blotters)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labels, markers, cleaning alcohol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to have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stirrer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Fume extraction / ventilation hood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cleaner for glassware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fridge for volatile materials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labelling printer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precise scale and a stack of scent strips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teach you more than any expensive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ever will.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3890" y="2086061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4320000">
            <a:off x="10245887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8640000">
            <a:off x="1001212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12960000">
            <a:off x="925565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7280000">
            <a:off x="9021893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20567" y="3082607"/>
            <a:ext cx="692786" cy="69278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03.1 · RAW MATERIALS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&amp; How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Behave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shop, you need a framework — how perfumers actually think about a raw material.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olfactory groups, revisited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911096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volatile top notes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1911096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most formulas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1911096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leafy, unripe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1911096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sweet, often synthetic-assisted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3550920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warm structural base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3550920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warm, enveloping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3550920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Skin-like, radiant, soft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3550920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Edible, sweet, comforting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" y="5190744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sharp, piquant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559988" y="5190744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69132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3569132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Herbal, medicinal, fresh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97600" y="5190744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6744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6406744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animalic, dry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235211" y="5190744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244355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/ fresh</a:t>
            </a:r>
            <a:endParaRPr lang="en-US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9244355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clean, airy</a:t>
            </a:r>
            <a:endParaRPr lang="en-US" sz="108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 — how long a material lasts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greens — gone in under 2 hours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18608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Medium-lived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18608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florals, spices — present for several hours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Long-lasting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resins, musks — detectable a day or more later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 spectrum, not three fixed boxes — most materials sit between these markers.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PRECISELY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is not the same as tenacity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7576" y="4800914"/>
            <a:ext cx="1415778" cy="1415778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5156" y="508849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885" y="5221223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0614" y="5353952"/>
            <a:ext cx="309701" cy="309701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7885" y="5221223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5156" y="508849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up close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only right at the skin or strip — low projection.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 material's smell carries into the surrounding space.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easily and quickly a smell spreads and fills a room.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material remains detectable at all, regardless of strength.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THE PUZZLE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weight and volatility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molecule diagram tells you a starting hypothesis — your nose confirms 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Lighter molecules tend to evaporate faster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light molecules generally move into the air more readily — this is part of why citrus notes read first.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it's not the only factor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Polarity, vapour pressure, and how a material binds to skin or fabric all matter just as much.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as a rough guide, not a rule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heavier molecules are surprisingly diffusive; some light ones are surprisingly tenacious. Always confirm by smelling.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EXTRACTION METHODS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naturals are made the same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oils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Steam-distilled or cold-expressed — direct, classic extraction.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Solvent-extracted — richer, truer to the living flower, more expensive.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 extracts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under pressure — very clean, often closest to the raw material.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Resinoids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gums and resins — deep, warm, amber-adjacent.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Tinctures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steeped directly in alcohol — simple, traditional, variable.</a:t>
            </a:r>
            <a:endParaRPr lang="en-US" sz="108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naturals every perfumer learns first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sparkling citrus — the classic opening note.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archetypal floral — honeyed, green, slightly spicy.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Earthy, smoky root — a foundational woody base.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sweet, gourmand — one of the most versatile bases in perfumery.</a:t>
            </a:r>
            <a:endParaRPr lang="en-US" sz="108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foundational naturals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earthy, slightly sweet — a modern woody-amber staple.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Indolic, heady, intensely floral — a heart-note powerhouse.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Amber-resinous, leathery, warm — the backbone of most amber accords.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pencil-shaving woodiness — soft and structural.</a:t>
            </a:r>
            <a:endParaRPr lang="en-US" sz="108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TRUTH ABOUT NATURALS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two harvests smell identical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656579" y="2540562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26813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03454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227861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04501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43266" y="3536397"/>
            <a:ext cx="692292" cy="6922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3015" y="2540562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4320000">
            <a:off x="637457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614098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538505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515145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49702" y="3536397"/>
            <a:ext cx="692292" cy="6922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451" y="2540562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4320000">
            <a:off x="948101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640000">
            <a:off x="924741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2960000">
            <a:off x="849148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7280000">
            <a:off x="825789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56138" y="3536397"/>
            <a:ext cx="692292" cy="6922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soil, harvest timing and extraction batch all shift the smell of a natural — plan for variation, don't fight it.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bring soul and complexity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they demand respect for their variability.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03.2 · RAW MATERIALS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—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perfumery is built on synthetic molecules. This module will change how you see them, for good.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perfumery runs on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8258" y="1199550"/>
            <a:ext cx="4458900" cy="44589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547708" y="2959642"/>
            <a:ext cx="1056055" cy="469358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3763" y="2959642"/>
            <a:ext cx="1056055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603763" y="3546339"/>
            <a:ext cx="1056055" cy="93871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43671" y="4485055"/>
            <a:ext cx="1760092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843671" y="3429000"/>
            <a:ext cx="704037" cy="105605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6973" y="2842303"/>
            <a:ext cx="1290734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9964" y="3241257"/>
            <a:ext cx="375486" cy="375486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68822" y="282470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4878" y="3411399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8822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8730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2033" y="270736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molecule, isolated and perfected — the synthetic advantage.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Consistency, batch after batch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molecule smells identical this year and next — naturals simply can't promise that.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that don't exist in nature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radiant, transparent-woody — entire categories of smell with no natural equivalent.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sustainability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pressure on endangered species and rare harvests — sandalwood and musk deer among them.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Affordability at scale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beautiful perfumery accessible far beyond luxury-only pricing.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major synthetic families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911096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 radiance and fixation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1911096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radiant, modern amber effect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1911096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voluminous woodiness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1911096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194560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523744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hyper-true floral facets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3550920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materials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longer-lasting citrus effects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3550920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 materials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vivid fruit facets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3550920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materials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leafy, sap-like freshness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3550920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3834384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163568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Sparkling, soapy, waxy lift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" y="5190744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Aquatic materials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marine, watery freshness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559988" y="5190744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69132" y="547420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 materials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3569132" y="5803392"/>
            <a:ext cx="22158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edible, comforting facets</a:t>
            </a:r>
            <a:endParaRPr lang="en-US" sz="1080" dirty="0"/>
          </a:p>
        </p:txBody>
      </p:sp>
      <p:sp>
        <p:nvSpPr>
          <p:cNvPr id="48" name="Text 4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MATERIALS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every perfumer knows by name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 woody volume — used almost everywhere, at almost any dose.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Airy, jasmine-adjacent radiance that opens up space in a formula.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 / Ambrofix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 — modern perfumery's signature warmth.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 — warm, sweet, endlessly versatile.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hay, tonka-like warmth — a gourmand and fougère cornerstone.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musky, spiced woodiness — cosy and enveloping.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laundry-like musk — the defining "fresh clean" smell of modern products.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Cotton-candy sweetness — the gourmand trend's key material.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MATERIALS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 worth knowing by heart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big, soft musk with real diffusion and volume.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Fruity-musky, natural-feeling animalic warmth.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Linalool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Floral-woody freshness — occurs in lavender, also made synthetically.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Linalyl Acetate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pear-like, lavender-adjacent freshness.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citrus-fresh lift — the backbone of the 90s "fresh" trend.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Calone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Watermelon-ozonic — the material that invented the aquatic family.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myths, busted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less safe than naturals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Synthetics are among the most rigorously tested materials in consumer goods — many naturals contain far more allergens and irritants.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cheap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captive synthetic molecules cost more per kilo than gold-standard naturals — exclusivity and R&amp;D drive price, not "natural vs. synthetic."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smell inherently 'chemical'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built formula smells chemical — with any material. Iso E Super and Hedione are beloved precisely because they don't.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are automatically more sophisticated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history's most acclaimed perfumes lean heavily synthetic. Sophistication is about composition, not ingredient origin.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perfumers avoid synthetics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fine fragrance house uses synthetics extensively — they are the industry standard, not a shortcut.</a:t>
            </a:r>
            <a:endParaRPr lang="en-US" sz="108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FOR THE FUN PART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Superpower materials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5076" y="1536869"/>
            <a:ext cx="4881543" cy="4881543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9401" y="1507579"/>
            <a:ext cx="292893" cy="29289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0" name="Shape 8"/>
          <p:cNvSpPr/>
          <p:nvPr/>
        </p:nvSpPr>
        <p:spPr>
          <a:xfrm>
            <a:off x="2545635" y="427427"/>
            <a:ext cx="7100426" cy="7100426"/>
          </a:xfrm>
          <a:prstGeom prst="ellipse">
            <a:avLst/>
          </a:prstGeom>
          <a:ln w="16459">
            <a:solidFill>
              <a:srgbClr val="B565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321" y="1448113"/>
            <a:ext cx="5059053" cy="5059053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095848" y="3445108"/>
            <a:ext cx="1198197" cy="5325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4044" y="3445108"/>
            <a:ext cx="1198197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294044" y="4110773"/>
            <a:ext cx="1198197" cy="106506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7050" y="5175837"/>
            <a:ext cx="1996995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297050" y="3977640"/>
            <a:ext cx="798798" cy="11981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1385" y="3311975"/>
            <a:ext cx="1464463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2835" y="3764627"/>
            <a:ext cx="426026" cy="4260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0942" y="3292005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138" y="3957670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0942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3947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8282" y="3158872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materials that can transform a formula at less than 1% of the concentrate.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doses, massive effect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space and diffusion — makes an entire formula feel airier.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volume and a transparent woody glow around everything else.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 materials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and persistence — extends how far and how long a formula reads.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texture and fixation — the skin-like glue that holds a formula together.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explosive, fresh lift — instantly brightens an opening.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 and gourmand impact — can flip a formula's whole character.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fraction of a percent can change everything.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precision instruments,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shortcuts.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8726" y="2010766"/>
            <a:ext cx="2836469" cy="2836469"/>
          </a:xfrm>
          <a:prstGeom prst="ellipse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47278" y="2209318"/>
            <a:ext cx="2439363" cy="243936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" name="Shape 5"/>
          <p:cNvSpPr/>
          <p:nvPr/>
        </p:nvSpPr>
        <p:spPr>
          <a:xfrm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1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4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72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94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25137" y="3287177"/>
            <a:ext cx="283647" cy="283647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WHAT TO ORDER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 + KRISTAN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actually order first? A practical, no-nonsense shopping module.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buy three hundred materials.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balanced palette, not a chemical hoard.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YOU SHOP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— your absolute fundamentals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1576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&amp; AMBERS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1089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5661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Cedarwood (natural)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0233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4805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Vetiver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02254" y="271576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 &amp; FLORALS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02254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94862" y="31089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02254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94862" y="35661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Habanolide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2254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94862" y="40233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02254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94862" y="44805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55868" y="271576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&amp; GREEN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5586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48476" y="31089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5586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48476" y="35661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Dihydromyrcenol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586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48476" y="40233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09481" y="271576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&amp; BASE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09481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2089" y="31089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9481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02089" y="35661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09481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02089" y="40233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09481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02089" y="448056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30 — expanding possibilities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&amp; AMBERS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2918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7490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 (natural)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2062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Norlimbanol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02254" y="289864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 &amp; FLORALS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02254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862" y="32918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Ambrettolide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02254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94862" y="37490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02254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94862" y="42062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55868" y="289864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&amp; GREEN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5586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48476" y="32918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Allyl amyl glycolate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8476" y="37490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Galbanum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5586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48476" y="42062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Prunolide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09481" y="289864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&amp; FRESH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09481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02089" y="32918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09481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02089" y="37490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Maltol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09481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2089" y="420624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BY FAMILY, NOT BY IMPULSE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every purchase around the palette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base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818729" y="1922435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2465" y="2096171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01609" y="2379635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001609" y="2708819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fixation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088819" y="1922435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2555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71699" y="2379635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271699" y="2708819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58908" y="1922435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32644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41788" y="2379635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541788" y="2708819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628998" y="1922435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02734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11878" y="2379635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811878" y="2708819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lift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8640" y="3961547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418747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47931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Juiciness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818729" y="3961547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92465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001609" y="4418747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3001609" y="4747931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88819" y="3961547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62555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271699" y="4418747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/ Aquatic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5271699" y="4747931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Airiness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358908" y="3961547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32644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41788" y="4418747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7541788" y="4747931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9628998" y="3961547"/>
            <a:ext cx="2014057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802734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811878" y="4418747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9811878" y="4747931"/>
            <a:ext cx="16482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soul</a:t>
            </a:r>
            <a:endParaRPr lang="en-US" sz="1080" dirty="0"/>
          </a:p>
        </p:txBody>
      </p:sp>
      <p:sp>
        <p:nvSpPr>
          <p:cNvPr id="48" name="Text 4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beats curiosity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74313" y="3177558"/>
            <a:ext cx="502883" cy="50288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Shape 7"/>
          <p:cNvSpPr/>
          <p:nvPr/>
        </p:nvSpPr>
        <p:spPr>
          <a:xfrm>
            <a:off x="8835289" y="3177558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266" y="3177558"/>
            <a:ext cx="502883" cy="502883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1" name="Shape 9"/>
          <p:cNvSpPr/>
          <p:nvPr/>
        </p:nvSpPr>
        <p:spPr>
          <a:xfrm>
            <a:off x="9757242" y="3177558"/>
            <a:ext cx="502883" cy="502883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219" y="3177558"/>
            <a:ext cx="502883" cy="502883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palette, not a random hoard.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every family first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from each of the ten categories teaches you more than ten materials from one category.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 the rare and expensive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exotic captive material is exciting — but useless without the fundamentals to build around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comes later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first 60 materials are familiar, specialise into what you actually love working with.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ORDER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starter-perfumer checklist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list complete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per family minimum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+ synthetics both represented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53458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345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46066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345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6066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Pipettes (plastic + glass)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5345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46066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bottles + scent strips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58277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58277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0885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log started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8277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0885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boxes labelled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8277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0885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bottles ready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beats width. Thirty materials you know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intimately beat three hundred you've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really smelled.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C9A354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DILUTION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Confidence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is the skill that makes every other skill in this course possible.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DILUTE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reasons every perfumer dilutes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0.05g of pure material is unreliable — weighing it diluted is precise.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evaluation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diluted material is safer and clearer to smell on a strip.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dosing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controlled doses become achievable at any strength.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potency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materials reveal their true character only once tamed.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solids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materials become usable liquids once dissolved.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development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stocks let you iterate a formula quickly and repeatably.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DILUTION LADDER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working strengths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71242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5322982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5322982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555258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92690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50880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527652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434474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5269558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50183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873476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873476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5223103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material — undiluted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00160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strength — strong materials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27169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working dilution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54178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potent materials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981187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most powerful trace materials</a:t>
            </a:r>
            <a:endParaRPr lang="en-US" sz="108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liquid material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81756" y="1355141"/>
            <a:ext cx="331903" cy="11613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3382" y="2184684"/>
            <a:ext cx="1508650" cy="3318175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34767" y="3511954"/>
            <a:ext cx="1025882" cy="1907950"/>
          </a:xfrm>
          <a:prstGeom prst="triangle">
            <a:avLst/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10% dilution.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weigh the material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bottle on the scale, tare, and weigh out exactly 1g of material.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add solvent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9g of your chosen solvent (often ethanol or DPG) to the same bottle.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you now have 10%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10g total, and the material is 10% of that total.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solid material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 solid material precisely on the scale.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solvent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calculated weight of solvent to the same container.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gently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needed, warm gently to help the solid dissolve fully.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with a glass rod until completely dissolved.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material, dilution %, solvent and date immediately.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STRENGTH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depends on potency and purpose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75667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398195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100%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low-impact materials — many light woods and musks.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10%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15002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most working materials in a formula.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1%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98485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trace materials — strong musks, some florals, superpower synthetics.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EVERY TIME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ideal dilution label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158712" y="2265883"/>
            <a:ext cx="1214617" cy="342351"/>
          </a:xfrm>
          <a:prstGeom prst="roundRect">
            <a:avLst>
              <a:gd name="adj" fmla="val 10684"/>
            </a:avLst>
          </a:prstGeom>
          <a:solidFill>
            <a:srgbClr val="0E0D0B"/>
          </a:solidFill>
          <a:ln/>
        </p:spPr>
      </p:sp>
      <p:sp>
        <p:nvSpPr>
          <p:cNvPr id="9" name="Shape 7"/>
          <p:cNvSpPr/>
          <p:nvPr/>
        </p:nvSpPr>
        <p:spPr>
          <a:xfrm>
            <a:off x="3237926" y="2608235"/>
            <a:ext cx="1056188" cy="547762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9970" y="3155997"/>
            <a:ext cx="3772101" cy="2533400"/>
          </a:xfrm>
          <a:prstGeom prst="roundRect">
            <a:avLst>
              <a:gd name="adj" fmla="val 433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6546" y="4296027"/>
            <a:ext cx="3698949" cy="1356794"/>
          </a:xfrm>
          <a:prstGeom prst="roundRect">
            <a:avLst>
              <a:gd name="adj" fmla="val 6739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08064" y="4017353"/>
            <a:ext cx="2715913" cy="658684"/>
          </a:xfrm>
          <a:prstGeom prst="roundRect">
            <a:avLst>
              <a:gd name="adj" fmla="val 4165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7736" y="2646274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 Hedione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7736" y="3264408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Dilution:  10% in DPG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17736" y="3882542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Solvent:  DPG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17736" y="4500677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Prepared today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dilution, solvent, date — every single bottle, no exceptions.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dilute. You can always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stronger — you can't un-smell overload.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04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NOSE TRAINING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Perfumer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is a muscle. This module is how professionals actually train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HABIT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on a strip, across real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settling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emerging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maturing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Shape 23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true character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you only smelled at 0 minutes is a material you don't actually know yet.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evaluation, every single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impression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gut reaction, unfiltered.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family, what mood, what texture.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intense at each time point.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it reaches from the strip.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shifts between checkpoints.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Drydown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once it settles.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reminds you of.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uses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might work in a formula.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Neat alone can mislead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1454" y="4206697"/>
            <a:ext cx="390796" cy="932231"/>
          </a:xfrm>
          <a:prstGeom prst="roundRect">
            <a:avLst>
              <a:gd name="adj" fmla="val 351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79128" y="3446282"/>
            <a:ext cx="390796" cy="1692646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26801" y="2685867"/>
            <a:ext cx="390796" cy="2453061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material, three strengths — three different lessons.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materials overwhelm at 100%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are so potent neat that your nose can't parse their real character.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rarely use materials neat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almost always work with the material diluted — so evaluate it the way you'll actually use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across the dilution ladder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material at 100%, 10% and 1% to understand how its character shifts with concentration.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DIGITAL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material log should track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 and CAS if known.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was sourced.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solvent used.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written evaluation.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lasted on strip.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olfactory group it belongs to.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usage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formulas it's appeared in.</a:t>
            </a:r>
            <a:endParaRPr lang="en-US" sz="108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material evaluation looks like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36193" y="2075688"/>
            <a:ext cx="9319309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937" y="2313432"/>
            <a:ext cx="256032" cy="25603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76273" y="2295144"/>
            <a:ext cx="8404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Absolute — Bulgarian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01953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01953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 DPG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801953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01953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Medium–long (8h+)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801953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801953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powdery, lightly sweet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a floral formula, rounds out fruity accords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shape of a good digital material card — recreate it for every material you own.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nose is a muscle. Train it daily,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writing — not just in passing sniffs.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62772" y="1924812"/>
            <a:ext cx="3008376" cy="3008376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8100000">
            <a:off x="9279331" y="2741371"/>
            <a:ext cx="1375258" cy="1375258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BUILDING ACCORDS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Materials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Accords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perfumery gets creative — combining individual materials into one recognisable smell.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accord?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96266" y="1839115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758275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9581803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9010728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8834257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86208" y="2591429"/>
            <a:ext cx="522999" cy="522999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four materials → one unmistakable rose.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materials, one smell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accord happens when separate materials blend so completely they read as a single, new impression.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exceeds the parts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 longer smell the individual materials — you smell "rose," not "three chemicals."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block of formulas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 perfume is really a composition of several accords working together.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TARGETS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you already know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green, slightly sweet.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floral.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resinous, enveloping.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dry, animalic.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warm, gourmand.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Fresh-cut grass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sappy.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APPLE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makes something smell like apple?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Sweetness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sugary, ripe quality.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character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unripe, stem-and-skin edge.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Juiciness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wet, fresh-cut sensation.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Fruitiness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broad, rounded fruit body.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bright, crisp lift.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/ peel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waxy, slightly bitter outer note.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APPLE, CONTINUED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materials to each facet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41941" y="2077590"/>
            <a:ext cx="2011534" cy="2011534"/>
          </a:xfrm>
          <a:prstGeom prst="ellipse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2748" y="2218397"/>
            <a:ext cx="1729919" cy="172991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3600000"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7200000"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4400000"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8000000">
            <a:off x="9497419" y="2278743"/>
            <a:ext cx="100577" cy="784498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47131" y="2982780"/>
            <a:ext cx="201153" cy="20115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idea into facets — then find one material per facet.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Sweetness → a trace of Ethyl Maltol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amount adds sugary roundness without tipping into candy.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character → cis-3-Hexenol (diluted)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"green leaf" molecule, used in a whisper.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Juiciness / fruitiness → fruity esters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Allyl amyl glycolate and similar esters carry the juicy fruit body.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/ peel → a natural or aldehyde touch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waxy or aldehydic note rounds out the peel character.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formulas are starting structures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upon — not finished perfumes.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METHOD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Jean Carles method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09569" y="2549073"/>
            <a:ext cx="838139" cy="838139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Shape 7"/>
          <p:cNvSpPr/>
          <p:nvPr/>
        </p:nvSpPr>
        <p:spPr>
          <a:xfrm>
            <a:off x="9547708" y="2549073"/>
            <a:ext cx="838139" cy="838139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repeatable way to explore a relationship between materials.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two materials, A and B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just two — nothing more — so you can see their interaction clearly.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ratios methodically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them at different proportions and evaluate each one on its own strip.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how they behave together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mapping the relationship between A and B before adding any complexity.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EXPERIMENTS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: B, explored step by step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75667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398195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: 10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A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: 20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00160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 lean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: 30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7169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: 40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4178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: 50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81187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midpoint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 ACCORD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accord development loop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pass at the accord.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fresh scent strip.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problem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missing, dominant, or off?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 single material or ratio.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again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accord reads true.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 at a time. Change three,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you'll never know which one mattered.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1702" y="2053742"/>
            <a:ext cx="2750515" cy="2750515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6122" y="3128162"/>
            <a:ext cx="601675" cy="60167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FORMULA CONSTRUCTION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Accords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Full Formula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materials and accords come together into a complete, structured perfume.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has the same basic anatomy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idea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concept the whole formula serves.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accord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that carries the main idea.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adjustments that shape character.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materials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formula project and spread.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structure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that anchors the drydown.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materials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doses with outsized influence.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starts as a sentence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2748" y="2103183"/>
            <a:ext cx="1729919" cy="172991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81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08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35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62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89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47131" y="2867566"/>
            <a:ext cx="201153" cy="20115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sentence, broken into buildable pieces.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"Cold mineral citrus with smoky woods"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starting idea — vivid, specific, and evocative rather than technical.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into olfactory components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mineral. Citrus. Smoky. Woods. Four distinct pieces to build separately.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piece becomes its own accord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construct a small accord for each component, then combine them.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combine into a fragrance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accord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cold, bright opening.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accord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cool, stony transparency.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base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dry, structural foundation.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 structure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skin-like glue holding it together.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BIGGER SCALE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Jean Carles at the formula level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2429" y="2758608"/>
            <a:ext cx="419070" cy="419070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Shape 7"/>
          <p:cNvSpPr/>
          <p:nvPr/>
        </p:nvSpPr>
        <p:spPr>
          <a:xfrm>
            <a:off x="9149592" y="2758608"/>
            <a:ext cx="419070" cy="41907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0" name="Shape 8"/>
          <p:cNvSpPr/>
          <p:nvPr/>
        </p:nvSpPr>
        <p:spPr>
          <a:xfrm>
            <a:off x="9526754" y="2758608"/>
            <a:ext cx="419070" cy="41907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1" name="Shape 9"/>
          <p:cNvSpPr/>
          <p:nvPr/>
        </p:nvSpPr>
        <p:spPr>
          <a:xfrm>
            <a:off x="9903917" y="2758608"/>
            <a:ext cx="419070" cy="419070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systematic ratio testing, scaled from materials to full accords.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accord-to-accord ratios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each accord exists individually, blend pairs of them systematically, just like material A:B testing.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right balance point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citrus and the woods disappear; too much wood and the opening feels dull.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up, don't dump in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accord at a time, evaluating after each addition — never combine everything at once.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must total 100%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percentages of every formula always sum to 100%.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gets a percentage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concentrate, before dilution — every material's share must be tracked.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percentages always sum to 100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optional — it's how you know your formula sheet is complete and correct.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makes this effortless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spreadsheet with a running total column catches errors instantly.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fresh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"Bright, clean citrus that lasts."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1996995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5635" y="2612441"/>
            <a:ext cx="1331330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5635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76965" y="2612441"/>
            <a:ext cx="166416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76965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1127" y="2612441"/>
            <a:ext cx="33283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3959" y="2612441"/>
            <a:ext cx="2440771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73959" y="2612441"/>
            <a:ext cx="24407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14731" y="2612441"/>
            <a:ext cx="2218883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4731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33614" y="2612441"/>
            <a:ext cx="110944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33614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18%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Dihydromyrcenol  —  12%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freshness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15%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 diffusion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 (10%)  —  3%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edge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22%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body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 —  20%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woody base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  —  10%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&amp; lasting power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woody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"Warm, dry sandalwood with a soft amber glow."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2218883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2612441"/>
            <a:ext cx="166416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1685" y="2612441"/>
            <a:ext cx="2773604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1685" y="2612441"/>
            <a:ext cx="2773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05289" y="2612441"/>
            <a:ext cx="166416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78893" y="2612441"/>
            <a:ext cx="887553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78893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66446" y="2612441"/>
            <a:ext cx="776609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66446" y="2612441"/>
            <a:ext cx="7766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Cedarwood  —  20%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structural wood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 (natural)  —  15%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woody heart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 —  25%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transparency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  —  15%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amber warmth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  —  10%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 depth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Vetiver  —  8%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 root note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blend  —  7%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 fixation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gourmand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 vanilla and caramel, softened with musk."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 —  6%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Sugary sweetness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15%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vanilla warmth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  —  12%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 depth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10%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the sweetness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  —  12%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Spiced, musky wood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20%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body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10%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sweetness at opening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  —  15%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earthy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floral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luminous rose and jasmine heart, on a soft musk base."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 (10%)  —  8%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rose truth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 (10%)  —  6%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 floral depth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20%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&amp; radiance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  —  10%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floral-woody lift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12%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opening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 —  18%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support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18%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fixation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8%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warmth in the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earns its place. If you can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it and nothing changes, remove it.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EVALUATING &amp; DEVELOPING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Version 1: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Develop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formula was the easy part. Now the real work of perfumery begins.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evaluate on scent strips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1454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79128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26801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1, version 2, version 3 — evaluated side by side, not in isolation.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smell ≠ finished evaluation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smell in the first five minutes is only the opening — never the whole story.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strip, dated and labelled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a formula gets its own dedicated, clearly marked strip.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strips side by side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previous versions to compare directly against the new one at each checkpoint.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TIMELINE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 formula across 48 hours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impression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Shape 11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notes settling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taking shape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becoming clear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Shape 23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judged only at 0 minutes has not really been evaluated at all.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this, not "do I like it?"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opening strong enough?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announce itself, or vanish immediately?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heart interesting?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attention once the top notes fade?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too sweet?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too dry, too green, too heavy — check for imbalance.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one material dominating?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name a single note that's drowning everything else?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collapse?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structure fall apart at any point in the timeline?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drydown match the idea?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ending still serve your original concept?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cycle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version.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310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51049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156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15641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615641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dilute it.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5345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1805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1805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across 48 hours.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5586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2046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issue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2046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problem.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58277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22869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322869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7406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60686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2252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225278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10225278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the next version.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NOT GUESSWORK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formulas the right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something feels off, just add a bit of everything and see if it improves."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simultaneous changes destroy your ability to learn anything — if three things change and the formula improves, you'll never know which one mattered. Identify the specific issue, change exactly one variable, and re-evaluate before touching anything else.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version is a data point, not a verdict.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across 48 hours before you judge.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08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B5652D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ALCOHOL &amp; COMPOUNDING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Alcohol, Scaling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Compounding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finished concentrate into a real, wearable perfume.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FORMULA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percentages, at any batch size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778792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88099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43580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10g batch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 testing size — ideal for early versions.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100g batch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15002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comfortable size for refined, near-final formulas.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1kg batch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298485" y="3117190"/>
            <a:ext cx="316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 — once the formula is truly locked.</a:t>
            </a:r>
            <a:endParaRPr lang="en-US" sz="108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ALCOHOL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+ perfumer's alcohol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Eau de Parfum ratio, expressed simply.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369186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formula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7016" y="4369186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1336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  —  80%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71336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31375" y="294272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in a perfume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81756" y="1355141"/>
            <a:ext cx="331903" cy="11613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3382" y="2184684"/>
            <a:ext cx="1508650" cy="3318175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34767" y="3511954"/>
            <a:ext cx="1025882" cy="1907950"/>
          </a:xfrm>
          <a:prstGeom prst="triangle">
            <a:avLst/>
          </a:prstGeom>
          <a:solidFill>
            <a:srgbClr val="CFC5AE">
              <a:alpha val="9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a signal — always check your finished compound in good light.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water is sometimes used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can soften alcohol's harshness and slightly adjust the final feel.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excess water is risky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materials are not water-soluble — too much water can push them out of solution.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Cloudiness is a warning sign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cloudy or hazy compound usually means something has fallen out of solution.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over time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that looks clear today can still separate weeks later if the balance is wrong.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FORMULA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Antioxidants — used thoughtfully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tool for specific oxidation-sensitive materials — not a blanket additive.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oxidation happens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air and time can degrade certain materials, shifting or dulling their smell.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materials are sensitive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oils and many naturals rich in terpenes oxidise fastest.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BHT and similar antioxidants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doses can meaningfully slow this degradation in vulnerable formulas.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add it blindly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formula needs an antioxidant — add it deliberately, for a specific material at risk, not as a default habit.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process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formula sheet.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5923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7927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34386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4386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34386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gently.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898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09913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9745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74505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974505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settle.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1205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054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051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0514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60514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alcohol.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511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7118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357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3577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Macerate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23577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over time.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817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701822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8664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66414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866414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01241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33245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049705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49705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1049705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date.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isn't filler — treat its ratio, its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rest, and its grade with the same care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concentrate.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09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5B3A52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MATURATION &amp; MACERATION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Perfume Needs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Rest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to a compound after it's bottled — and what doesn't.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real effects of maceration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blend and round together.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Softer alcohol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alcohol bite fades.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smoothing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edges settle down.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Top-note development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notes can shift slightly.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fully dissolve into solution.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changes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formulas darken with age.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Oxidation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chemical change, for better or worse.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insoluble can settle out.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SCIENCE, BRIEFLY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same liquid smells different later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slow, ordinary process — not an unpredictable transformation.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keep interacting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continue to associate and rearrange in solution long after mixing.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needs time to settle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alcohol reads sharp and hot — that fades measurably within days.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mysterious is happening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slow, ordinary physical chemistry — not magic, and it's predictable enough to plan around.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smell shifts, over weeks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hot, unintegrated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7108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4812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2164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82164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bite softening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18608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18608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smoother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49995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Shape 19"/>
          <p:cNvSpPr/>
          <p:nvPr/>
        </p:nvSpPr>
        <p:spPr>
          <a:xfrm>
            <a:off x="8567699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051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051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integrated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matured character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fresh compound gently — it hasn't finished becoming itself yet.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EXPECTATIONS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maceration cannot do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"Given enough time, maceration will fix a broken or unbalanced formula."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Maturation refines what's already structurally sound — it softens, integrates and rounds. It cannot rescue a formula with the wrong materials, wrong ratios, or a fundamentally broken idea. Fix the structure first; let time do the polishing, not the repairing.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PROTOCOL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maceration routine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STAGE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the raw concentrate 24–48 hours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clarity before diluting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53458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3458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6066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Macerate 1–4 weeks in a cool, dark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3458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46066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gently every few days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BOTTLING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8277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0885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on a fresh strip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0885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if any haze or sediment appears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refines what's already good.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rescue a broken structure.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COMPLIANCE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Compliance,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Simply Explained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keeping your formulas safe and legal to sell — not a substitute for professional guidance.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 is an introduction.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still responsible for the regulations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apply to your country and product.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READ THIS FIRST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STANDARD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— the industry's safety framework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734549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5154858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Standards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Science-based usage limits for fragrance materials.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materials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Allowed, but only up to a defined maximum %.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 materials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in fragrance at all.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limits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vary by how a product is used on the body.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a material against its limit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6E7A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% × dilution % = final product %. Always check against the finished product.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X, Category 4 (fine fragrance)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its IFRA limit in Category 4 is 0.5% of the finished product.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at 2% of the concentrate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formula sheet lists Material X at 2% of the perfume concentrate.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concentrate is diluted to 20%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finished spray, Material X becomes 2% × 20% = 0.4% of the total product.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 is under the 0.5% limit — compliant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calculate the material's share of the finished product, not just the concentrate.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MATERIALS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SDS actually tells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&amp; hazards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material is and its key risk classifications.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made of, including any listed impurities.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&amp; storage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and work with it safely.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aid &amp; fire measures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 an exposure or fire incident.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&amp; chemical properties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Flashpoint, solubility, appearance and more.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information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material is classified under law.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RIGHT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declarations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17219" y="2038814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740728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9578962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9055477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8893711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08000" y="2728435"/>
            <a:ext cx="479416" cy="47941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beautiful rose absolute may carry declarable allergens.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 materials must be declared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list of fragrance allergens must be listed on packaging above a set concentration threshold.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applies even to natural materials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essential oils contain declarable allergens naturally — linalool and limonene among the most common.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material's allergen content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supplier's documentation should state the relevant allergen composition of each raw material.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HAZARDS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CLP — how hazards get communicated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734549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5154858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classifications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category a product falls into.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Pictograms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00160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symbols shown on packaging.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words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7169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"Warning" or "Danger," indicating severity.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statements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4178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phrases describing the specific risk.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Precautionary statements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81187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should do to stay safe.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TOOL, NOT AN AUTHORITY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Good Scents Company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a material is listed on The Good Scents Company, it's approved and safe to use as I like."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Scents is a fantastic research and reference tool for material properties — but it is not a regulatory authority. Always confirm safety and legal usage limits through your supplier's documentation, IFRA, the SDS, and official regulatory databases.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ACTUALLY LOOK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sources for compliance information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778792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88099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924794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43580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documentation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stop for every material.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00160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safety standard.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27169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Material-specific safety data.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databases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54178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sources.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assessors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981187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required by your market.</a:t>
            </a:r>
            <a:endParaRPr lang="en-US" sz="108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PATH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 to sellable label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composition.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310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51049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156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15641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check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615641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limits met.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5345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1805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data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1805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SDS.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5586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2046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info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2046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as required.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58277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22869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assessment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322869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market's rules.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7406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60686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2252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225278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10225278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compliant &amp; ready.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isn't optional paperwork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difference between a hobby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business you can legally sell.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STARTING A BRAND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 + KRISTAN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Brand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learned, now aimed at building something the world can actually buy.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2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comes first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the fragrance is built around.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15002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itself, fully developed.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08819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wear testing, not just strips.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clarity and consistency over time.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15002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IFRA, SDS, allergens — all checked.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4747931"/>
            <a:ext cx="3161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compound and bottle at scale.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bottle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04815" y="1124712"/>
            <a:ext cx="485785" cy="460858"/>
          </a:xfrm>
          <a:prstGeom prst="roundRect">
            <a:avLst>
              <a:gd name="adj" fmla="val 7937"/>
            </a:avLst>
          </a:prstGeom>
          <a:solidFill>
            <a:srgbClr val="0E0D0B"/>
          </a:solidFill>
          <a:ln/>
        </p:spPr>
      </p:sp>
      <p:sp>
        <p:nvSpPr>
          <p:cNvPr id="9" name="Shape 7"/>
          <p:cNvSpPr/>
          <p:nvPr/>
        </p:nvSpPr>
        <p:spPr>
          <a:xfrm>
            <a:off x="9336497" y="1585570"/>
            <a:ext cx="422422" cy="737372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93382" y="2322942"/>
            <a:ext cx="1508650" cy="3410346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9958" y="3687080"/>
            <a:ext cx="1435498" cy="2009632"/>
          </a:xfrm>
          <a:prstGeom prst="roundRect">
            <a:avLst>
              <a:gd name="adj" fmla="val 6370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04594" y="3482459"/>
            <a:ext cx="1086228" cy="886690"/>
          </a:xfrm>
          <a:prstGeom prst="roundRect">
            <a:avLst>
              <a:gd name="adj" fmla="val 3094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 is the first thing a customer touches — it earns real design attention.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vs. custom bottles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bottles are fast and cheap to start; custom moulds are expensive but build real brand identity.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order quantities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glass often requires large MOQs — budget and plan inventory accordingly.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Pumps, collars &amp; caps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small components define the feel of a bottle as much as the glass itself.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ON THE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— more technical than they look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75667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398195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vinyl or foil — each behaves differently.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00160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vs. letterpress vs. foil stamping.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Adhesion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71699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bond securely to glass long-term.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/ alcohol resistance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4178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survive spills without smearing or lifting.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info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811878" y="3117190"/>
            <a:ext cx="16482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Ingredients, allergens, volume, batch code.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tells the story too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402726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75667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398195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and unboxing experience.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69132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brand identity.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 presentation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and feels in hand.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44355" y="3117190"/>
            <a:ext cx="22158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trial for new customers.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LOGO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is not just a logo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58127" y="1878562"/>
            <a:ext cx="2179162" cy="2179162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35289" y="2255724"/>
            <a:ext cx="1424836" cy="142483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 is one layer. A brand is every layer together.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fragrance, why now, why you.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point of view across everything you make.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person you're speaking to, not "everyone."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language, positioning &amp; tone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looks, where it sits in the market, and how it talks to people.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LANE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positioning — pick a lane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premium everything.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Distinctive, less mainstream, expressive.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niche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character, accessible pricing.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market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appeal, widest distribution.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Boundary-pushing, art-forward.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Eastern inspired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oud- and amber-forward.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Minimalist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restrained, understated.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Natural-focused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Naturals-led, ingredient transparency.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CUSTOMERS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perfume brands actually sell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website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margin.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storytelling at scale.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brand-building and community.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Pop-ups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44355" y="2708819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sampling and connection.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direct customer feedback.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shelf presence.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6744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through other retailers.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Influencers &amp; sampling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4747931"/>
            <a:ext cx="22158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voices driving discovery.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SELLS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the story, not the note list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96266" y="195432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758275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9581803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9010728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8834257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86208" y="2706643"/>
            <a:ext cx="522999" cy="522999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"Rose, amber, musk" is a list. A story is what makes someone actually buy.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make someone feel, not just what's inside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World-building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aesthetic universe around the fragrance.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this make the wearer feel like?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unboxing, the sampling, the ritual — not just the liquid.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to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0728655" cy="914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9450" y="3584448"/>
            <a:ext cx="146304" cy="14630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Shape 7"/>
          <p:cNvSpPr/>
          <p:nvPr/>
        </p:nvSpPr>
        <p:spPr>
          <a:xfrm>
            <a:off x="1926298" y="3511296"/>
            <a:ext cx="292608" cy="292608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78242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40532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7380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9324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614" y="3584448"/>
            <a:ext cx="146304" cy="14630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8462" y="3511296"/>
            <a:ext cx="292608" cy="292608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406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2696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9544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1488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3778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0626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257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04859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707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651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45941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72789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4733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87023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13871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65815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course lives somewhere on this line. Now go build.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820095" y="-320040"/>
            <a:ext cx="1645920" cy="1645920"/>
          </a:xfrm>
          <a:prstGeom prst="ellipse">
            <a:avLst/>
          </a:prstGeom>
          <a:ln w="16459">
            <a:solidFill>
              <a:srgbClr val="C9A35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perfume deserves a story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remembering. Build both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same care.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COURSE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137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&amp; Science of Perfumery</dc:title>
  <dc:subject>Beginner-to-intermediate perfumery course companion deck</dc:subject>
  <dc:creator>YEVFUMES</dc:creator>
  <cp:lastModifiedBy>YEVFUMES</cp:lastModifiedBy>
  <cp:revision>1</cp:revision>
  <dcterms:created xsi:type="dcterms:W3CDTF">2026-08-31T19:10:32Z</dcterms:created>
  <dcterms:modified xsi:type="dcterms:W3CDTF">2026-08-31T19:10:32Z</dcterms:modified>
</cp:coreProperties>
</file>