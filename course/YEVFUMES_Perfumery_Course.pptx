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</p:sldIdLst>
  <p:notesMasterIdLst>
    <p:notesMasterId r:id="rId14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notesMaster" Target="notesMasters/notesMaster1.xml"/><Relationship Id="rId146" Type="http://schemas.openxmlformats.org/officeDocument/2006/relationships/presProps" Target="presProps.xml"/><Relationship Id="rId147" Type="http://schemas.openxmlformats.org/officeDocument/2006/relationships/viewProps" Target="viewProps.xml"/><Relationship Id="rId148" Type="http://schemas.openxmlformats.org/officeDocument/2006/relationships/theme" Target="theme/theme1.xml"/><Relationship Id="rId1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cold open. Set the tone: this is not a corporate course, it's a creative lab. Introduce the energy of the whole program before naming a single ingredient.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philosophy: slides support the video, they never replace it. Encourage students to keep a physical notebook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each teacher a genuine, personal introduction here — background, how you got into perfumery, why you're teaching this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outcomes, not topics — this is what changes for the student, not just what they'll hear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roadmap top to bottom. Give students a sense of pacing — this is a real curriculum, not a random collection of videos.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Discord mechanics concretely: channel names, homework threads, how office hours are scheduled.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philosophical core of the whole course — spend real time here. This is what separates hobbyists who plateau from ones who keep improving.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this hard — the single biggest predictor of student success is whether they actually smell the materials, not whether they watch closely.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specific software/spreadsheet system you use. Show a live example if possible during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on this note. Let it land — it's the thesis statement for the entire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module is foundational vocabulary and concepts. Nothing hands-on yet, but everything after this depends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slow here — these six words will recur in every future module. Use a quick real-world example for each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Diffusion, tenacity and impact get confused constantly — spend extra time distinguishing them, you'll reuse this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percentage ranges are industry conventions, not fixed law — brands vary widely. The next point is more important than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important corrections in the whole basics module — students constantly conflate concentration % with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this pyramid is a simplification. Almost every real material has some presence across multiple layers — don't let students take it too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solvents matter: they let you work at safe, evaluable concentrations and match the final product format (spray vs oil vs roll-on).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round numbers, not a fixed rule — the point is proportion, not precision. This is a teaching example, not a formula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myth-busting that continues in module 03.2 — synthetic does not mean lesser. Both are professional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over-explain each one here — this is a map, not a lesson. Families get their real depth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fun with this slide — deliver it with energy, it's meant to be memorable and a little provocative.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module 01 by reinforcing that everything just taught is a simplified model. Real perfumery is messier and more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is a lean, practical kit, not an expensive lab buildout. Everything shown is realistic for a beginner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specific models if you have them, but keep the spec (0.001g / ~200g) as the takeaway regardless of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some solvents degrade certain plastics over time — glass is safer for long-term dedicated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glass isn't optional for long-term storage — UV light degrades many raw materials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sets up module 05 (training your nose) — evaluation habits start here with the physical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quickly through this slide — it's a checklist, not a lecture. Each item gets one sentence at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protects the course from going stale as suppliers change — teach the search habit, not a single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permission to start small — the essential column is genuinely enough to begin every remaining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reassurance — equipment anxiety stops beginners before they start. Two tools are genuinely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about vocabulary and behaviour, applied specifically to natural materials. Synthetics get their own module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twelve families from module 01, now framed as a sorting tool you'll use to classify every material you smell.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Bright, inviting, easy to remember — this moodboard format repeats for every family across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the flower icon shape itself changes — round for rose, star for jasmine, small for violet — a visual cue for character.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Wood-ring icons for the cross-section woods, a root icon for vetiver, a single leaf for patchouli.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Warm, edible, comforting — this is the module 03.2 gourmand palette previewed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Longevity is one of the first properties students should log for every material — connect directly to module 05's evaluation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terms get confused constantly — a material can have huge projection but low tenacity, or the reverse. Use concrete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honest — don't present molecular weight as a deterministic rule, the prompt is explicit about avoiding that oversimplification.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extraction methods of the same plant can smell meaningfully different — e.g. rose absolute vs. rose 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source and smell each of these four before the next lesson — they anchor the entire family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as previous slide — pair with a smelling assignment before moving to synthetics.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practically: always re-evaluate a new batch of a natural material before trusting an existing formula built on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module. Bridge to next: 'now let's look at the other half of the palette — synthetics.'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energy here — this is meant to be one of the most exciting modules. Set up the myth-busting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synthetics as an achievement, not a compromise. This sets the tone for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briskly — this is a map for the material-card slides that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one sentence of context per material live, if time allows. These are the highest-value to memorise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complete the essential eight — pair with a smelling assignment before the myths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Calone is a great story to tell live — a single material that created an entire olfactory category in the 1990s.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playfully but firmly — these myths do real damage to beginners who avoid a huge, useful part of the palette out of misplaced 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anticipation for the card grid that follows — this is where students realise how disproportionate a material's impact can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takeaway: percentage and impact are not linear. A 0.3% dose of the right material can outweigh 5% of something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confidence — students should leave excited to experiment with synthetics, not intimidated by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materials theory to a real purchase order — the most actionable module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this warning — it's the single most common beginner mistake and it kills momentum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representative starter set, not gospel — the point is coverage across every major family with ~30 materials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second wave dramatically expands what's possible — but only makes sense once the first 30 are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shopping categories — encourage students to buy at least one or two materials from every category before doubling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back to the mindset module — buying random "interesting" materials is the equivalent of copying formulas without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wrap-up before module 04 — a student who checks every box here is genuinely ready to begin diluting.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reinforcing patience — this module often produces the most excitement and the most temptation to overbuy.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practical, hands-on modules — encourage students to have their scale out while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dilution as a superpower, not a hurdle — it's what turns raw, unusable materials into a working palette.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ladder will come up repeatedly — most working stocks in this course live at 10% or 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process at a glance — every worked example on the next few slides fills in one of these four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on camera if possible — watching the actual weighing is far more valuable than hearing the ratio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overheating — gentle warming only, many materials degrade or evaporate unwanted fractions under heat.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this is a starting guideline — always confirm the right dilution by smelling, not just by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habit prevents the single most common lab disaster: an unlabelled bottle of unknown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practical safety reminder as well as a philosophical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this is a discipline, not a talent. Anyone who does this consistently improves.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timeline should feel familiar — it echoes module 02's scent strip introduction, now turned into a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a template — the same eight fields, every single evaluation, so patterns become visible over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directly back to module 04's dilution ladder — reinforce the link between the two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schema we'll show in the sample card next — recommend a spreadsheet or simple database, whichever software you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your actual software on screen here if possible — this slide is a mock-up standing in for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by reinforcing the daily habit — consistency over intensity.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hands-on, practical module. Encourage students to have a few materials on hand to build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live example if possible — build a two-material accord on camera and let it click for 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viewers to guess how many materials might build each of these before revealing the apple breakdown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class to break down apple before you reveal it — this is a genuinely great teaching exercise on camera.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mental process students should repeat for any accord they want to build — not a formula to copy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 a common mistake: students treating a good accord as a complete, sellable fragrance.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Jean Carles' method is one of the most influential teaching frameworks in perfumery history — worth a short story about him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these five ratios are smelled and logged, introduce material C and repeat the process against the best A:B 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repeats throughout the entire course — module 08 revisits it at the full-formula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— this single discipline is what separates methodical perfumers from ones who guess and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module where everything so far converges — terminology, materials, dilution, accords. Frame it as the culmination.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mental checklist students should run through for every formula they build from now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write their own one-sentence idea before building — this becomes the north star for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how these four pieces, each built with the Jean Carles method from module 06, come together into one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bridge from module 06 — reassure students the method they just learned scales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example formulas that follow will each demonstrate this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each material earns its place — this is more valuable than the exact percentages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this with the fresh formula — notice how few volatile top notes it needs; woods live in the heart and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bergamot's job here is purely structural — preventing the gourmand from feeling flat and cloying.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small vanillin at the base — a common technique to add warmth without turning a floral into a gourmand.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 of restraint — the best formulas are edited, not just assembled.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version 1 is never the finished formula. This module is about the iteration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reinforces the habit from module 05, now applied specifically to full formulas rather than single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timeline discipline as module 05, scaled up to the whole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"Do I like it?" is an emotional question with no next action. These six questions each point directly to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module 06's accord loop exactly — reinforce that it's the same discipline at every scale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connects to the Jean Carles "change one variable" principle from module 06 — repeat it here at the 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with patience as the core message — most formulas are abandoned too early, before their drydown is even understood.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formula work to an actual finished bottle — a satisfying, tangible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the percentages never change with scale — only the total weight does. This is why percentage-based formula sheets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visual — students already saw a more detailed breakdown in module 01, this is the practical compounding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module 10's discussion of maceration and solubility — the two topics are closely related.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easy default to overuse — stress the 'not blindly' point, it's explicitly called out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seven-step flow is the professional standard — module 10 goes deep on the maceration step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respect for the process — beginners often rush the alcohol and maceration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often gets skipped by impatient beginners — make the case for why patience pays off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real, observable effects — ground the module in what's actually measurable, not folklore.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science accessible — the goal is confidence, not a chemistry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 for how long students should wait before final-judging a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myth causes real wasted time — some students let a broken formula sit for months hoping it will "come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concrete, repeatable routine students can follow for every formula going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module's core lesson — patience matters, but it isn't a substitute for good formula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module calmly and clearly — compliance overwhelms beginners fast. Keep the visual language simple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this disclaimer clearly on camera as well — it protects both students and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IFRA categories cover everything from fine fragrance to household products — explain that the limit depends on end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calculation trips up almost every beginner — walk through it slowly and repeat it for a second material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raw material supplier should provide an SDS — if they don't, that's a red flag about the supplier, not just the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students this isn't a reason to fear naturals — it's simply a labelling requirement to plan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CLP determines what actually has to appear on your finished product's label, based on your formula's hazard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self-taught beginners lean on Good Scents for compliance decisions — this correction genuinely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answer to "where do I actually check?" — a clean reference list students can return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flow is the practical checklist to run through before any formula is offered for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firmly but not scarily — this is manageable with the right habits, not a reason to avoid launching a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closing, exciting module — bring both presenters' energy together for the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above this line has been covered in modules 01–11 — this slide is a checkpoint before moving to brand-building.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start with stock bottles for their first run — custom tooling is a later-stage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beautiful label that dissolves the first time it touches spilled perfume is a real, common beginner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often the deciding factor in a first impression, before a customer has smelled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positioning and storytelling slides that follow — it's the conceptual heart of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There's no wrong lane — the mistake is trying to occupy several at once. Encourage students to commit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successful independent brands start with 2–3 of these channels, not all nine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a note list against a genuine brand story live — the difference is usually obvious once pointed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entire course on this slide — it's a map of everything taught across all thirteen modules,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slide of the entire course — let this close with warmth. Thank the community and point them back to Discord for their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00 · INTRODUCTION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YEVFUMES DISCORD COURSE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Art &amp; Science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beginner-to-intermediate perfumery education — built to be watched, smelled, and practiced alongside every lesson.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BY YEV &amp; KRISTAN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deck is not the lesson.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your lab notebook.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29958" y="3674176"/>
            <a:ext cx="1435498" cy="1907321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course companion — one bottle, one page, one idea at a time.</a:t>
            </a:r>
            <a:endParaRPr lang="en-US" sz="1050" dirty="0"/>
          </a:p>
        </p:txBody>
      </p:sp>
      <p:sp>
        <p:nvSpPr>
          <p:cNvPr id="14" name="bld1_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video, not for reading</a:t>
            </a:r>
            <a:endParaRPr lang="en-US" sz="1650" dirty="0"/>
          </a:p>
        </p:txBody>
      </p:sp>
      <p:sp>
        <p:nvSpPr>
          <p:cNvPr id="16" name="bld1_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is a visual anchor for what Yev or Kristan are explaining out loud — not a script. Watch, listen, and use the slide to stay oriented.</a:t>
            </a:r>
            <a:endParaRPr lang="en-US" sz="1250" dirty="0"/>
          </a:p>
        </p:txBody>
      </p:sp>
      <p:sp>
        <p:nvSpPr>
          <p:cNvPr id="17" name="bld2_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 to intermediate</a:t>
            </a:r>
            <a:endParaRPr lang="en-US" sz="1650" dirty="0"/>
          </a:p>
        </p:txBody>
      </p:sp>
      <p:sp>
        <p:nvSpPr>
          <p:cNvPr id="19" name="bld2_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zero assumptions and build to full formula construction, evaluation, compliance and brand launch.</a:t>
            </a:r>
            <a:endParaRPr lang="en-US" sz="1250" dirty="0"/>
          </a:p>
        </p:txBody>
      </p:sp>
      <p:sp>
        <p:nvSpPr>
          <p:cNvPr id="20" name="bld3_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to be practiced</a:t>
            </a:r>
            <a:endParaRPr lang="en-US" sz="1650" dirty="0"/>
          </a:p>
        </p:txBody>
      </p:sp>
      <p:sp>
        <p:nvSpPr>
          <p:cNvPr id="22" name="bld3_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real smelling, real dilution, and real formula work — not passive watching.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 &amp; Kristan</a:t>
            </a:r>
            <a:endParaRPr lang="en-US" sz="3200" dirty="0"/>
          </a:p>
        </p:txBody>
      </p:sp>
      <p:sp>
        <p:nvSpPr>
          <p:cNvPr id="7" name="bld1_9"/>
          <p:cNvSpPr/>
          <p:nvPr/>
        </p:nvSpPr>
        <p:spPr>
          <a:xfrm>
            <a:off x="548640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8" name="bld1_10"/>
          <p:cNvSpPr/>
          <p:nvPr/>
        </p:nvSpPr>
        <p:spPr>
          <a:xfrm>
            <a:off x="2586152" y="2121408"/>
            <a:ext cx="1243584" cy="1243584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9" name="bld1_11"/>
          <p:cNvSpPr txBox="1"/>
          <p:nvPr/>
        </p:nvSpPr>
        <p:spPr>
          <a:xfrm>
            <a:off x="2586152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3000" dirty="0"/>
          </a:p>
        </p:txBody>
      </p:sp>
      <p:sp>
        <p:nvSpPr>
          <p:cNvPr id="10" name="bld1_12"/>
          <p:cNvSpPr txBox="1"/>
          <p:nvPr/>
        </p:nvSpPr>
        <p:spPr>
          <a:xfrm>
            <a:off x="777240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</a:t>
            </a:r>
            <a:endParaRPr lang="en-US" sz="1900" dirty="0"/>
          </a:p>
        </p:txBody>
      </p:sp>
      <p:sp>
        <p:nvSpPr>
          <p:cNvPr id="11" name="bld1_13"/>
          <p:cNvSpPr txBox="1"/>
          <p:nvPr/>
        </p:nvSpPr>
        <p:spPr>
          <a:xfrm>
            <a:off x="777240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· Lab · Business</a:t>
            </a:r>
            <a:endParaRPr lang="en-US" sz="1150" dirty="0"/>
          </a:p>
        </p:txBody>
      </p:sp>
      <p:sp>
        <p:nvSpPr>
          <p:cNvPr id="12" name="bld1_14"/>
          <p:cNvSpPr txBox="1"/>
          <p:nvPr/>
        </p:nvSpPr>
        <p:spPr>
          <a:xfrm>
            <a:off x="868680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technical side — equipment, dilution, compounding, compliance and building a brand around a formula.</a:t>
            </a:r>
            <a:endParaRPr lang="en-US" sz="1150" dirty="0"/>
          </a:p>
        </p:txBody>
      </p:sp>
      <p:sp>
        <p:nvSpPr>
          <p:cNvPr id="13" name="bld2_15"/>
          <p:cNvSpPr/>
          <p:nvPr/>
        </p:nvSpPr>
        <p:spPr>
          <a:xfrm>
            <a:off x="6324448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14" name="bld2_16"/>
          <p:cNvSpPr/>
          <p:nvPr/>
        </p:nvSpPr>
        <p:spPr>
          <a:xfrm>
            <a:off x="8361959" y="2121408"/>
            <a:ext cx="1243584" cy="1243584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5" name="bld2_17"/>
          <p:cNvSpPr txBox="1"/>
          <p:nvPr/>
        </p:nvSpPr>
        <p:spPr>
          <a:xfrm>
            <a:off x="8361959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000" dirty="0"/>
          </a:p>
        </p:txBody>
      </p:sp>
      <p:sp>
        <p:nvSpPr>
          <p:cNvPr id="16" name="bld2_18"/>
          <p:cNvSpPr txBox="1"/>
          <p:nvPr/>
        </p:nvSpPr>
        <p:spPr>
          <a:xfrm>
            <a:off x="6553048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Kristan</a:t>
            </a:r>
            <a:endParaRPr lang="en-US" sz="1900" dirty="0"/>
          </a:p>
        </p:txBody>
      </p:sp>
      <p:sp>
        <p:nvSpPr>
          <p:cNvPr id="17" name="bld2_19"/>
          <p:cNvSpPr txBox="1"/>
          <p:nvPr/>
        </p:nvSpPr>
        <p:spPr>
          <a:xfrm>
            <a:off x="6553048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· Nose Training · Composition</a:t>
            </a:r>
            <a:endParaRPr lang="en-US" sz="1150" dirty="0"/>
          </a:p>
        </p:txBody>
      </p:sp>
      <p:sp>
        <p:nvSpPr>
          <p:cNvPr id="18" name="bld2_20"/>
          <p:cNvSpPr txBox="1"/>
          <p:nvPr/>
        </p:nvSpPr>
        <p:spPr>
          <a:xfrm>
            <a:off x="6644488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creative side — raw materials, olfactory training, accord building and formula evaluation.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COURSE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actually be able to do</a:t>
            </a:r>
            <a:endParaRPr lang="en-US" sz="3200" dirty="0"/>
          </a:p>
        </p:txBody>
      </p:sp>
      <p:sp>
        <p:nvSpPr>
          <p:cNvPr id="7" name="bld1_2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 material</a:t>
            </a:r>
            <a:endParaRPr lang="en-US" sz="1450" dirty="0"/>
          </a:p>
        </p:txBody>
      </p:sp>
      <p:sp>
        <p:nvSpPr>
          <p:cNvPr id="10" name="bld1_24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family, longevity and role from a single scent strip.</a:t>
            </a:r>
            <a:endParaRPr lang="en-US" sz="1080" dirty="0"/>
          </a:p>
        </p:txBody>
      </p:sp>
      <p:sp>
        <p:nvSpPr>
          <p:cNvPr id="11" name="bld2_2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 with precision</a:t>
            </a:r>
            <a:endParaRPr lang="en-US" sz="1450" dirty="0"/>
          </a:p>
        </p:txBody>
      </p:sp>
      <p:sp>
        <p:nvSpPr>
          <p:cNvPr id="14" name="bld2_28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accurate working dilutions for any raw material.</a:t>
            </a:r>
            <a:endParaRPr lang="en-US" sz="1080" dirty="0"/>
          </a:p>
        </p:txBody>
      </p:sp>
      <p:sp>
        <p:nvSpPr>
          <p:cNvPr id="15" name="bld3_2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3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accord</a:t>
            </a:r>
            <a:endParaRPr lang="en-US" sz="1450" dirty="0"/>
          </a:p>
        </p:txBody>
      </p:sp>
      <p:sp>
        <p:nvSpPr>
          <p:cNvPr id="18" name="bld3_32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recognisable smell from individual materials.</a:t>
            </a:r>
            <a:endParaRPr lang="en-US" sz="1080" dirty="0"/>
          </a:p>
        </p:txBody>
      </p:sp>
      <p:sp>
        <p:nvSpPr>
          <p:cNvPr id="19" name="bld4_3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3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 a formula</a:t>
            </a:r>
            <a:endParaRPr lang="en-US" sz="1450" dirty="0"/>
          </a:p>
        </p:txBody>
      </p:sp>
      <p:sp>
        <p:nvSpPr>
          <p:cNvPr id="22" name="bld4_36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 idea into a structured, balanced composition.</a:t>
            </a:r>
            <a:endParaRPr lang="en-US" sz="1080" dirty="0"/>
          </a:p>
        </p:txBody>
      </p:sp>
      <p:sp>
        <p:nvSpPr>
          <p:cNvPr id="23" name="bld5_3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3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rigorously</a:t>
            </a:r>
            <a:endParaRPr lang="en-US" sz="1450" dirty="0"/>
          </a:p>
        </p:txBody>
      </p:sp>
      <p:sp>
        <p:nvSpPr>
          <p:cNvPr id="26" name="bld5_40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formula on scent strip over 48 hours, not by instinct alone.</a:t>
            </a:r>
            <a:endParaRPr lang="en-US" sz="1080" dirty="0"/>
          </a:p>
        </p:txBody>
      </p:sp>
      <p:sp>
        <p:nvSpPr>
          <p:cNvPr id="27" name="bld6_4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4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4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responsibly</a:t>
            </a:r>
            <a:endParaRPr lang="en-US" sz="1450" dirty="0"/>
          </a:p>
        </p:txBody>
      </p:sp>
      <p:sp>
        <p:nvSpPr>
          <p:cNvPr id="30" name="bld6_44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IFRA, SDS, compounding and the first steps of a brand.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COURSE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roadmap through 13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2650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69000" y="172650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9000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754216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Perfumery Basics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754216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3265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9000" y="232657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9000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54216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Naturals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754216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2926652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Synthetics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9000" y="292665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69000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754216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Order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754216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" y="3526726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69000" y="3526726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9000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754216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6754216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126801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07008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Accords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207008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69000" y="4126801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69000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754216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Construction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6754216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" y="47268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207008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&amp; Developing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1207008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69000" y="4726877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69000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754216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&amp; Compounding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6754216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1792" y="5326952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1792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207008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&amp; Maceration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1207008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69000" y="532695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69000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754216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6754216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21792" y="592702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1792" y="59910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207008" y="580815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A Brand</a:t>
            </a:r>
            <a:endParaRPr lang="en-US" sz="1450" dirty="0"/>
          </a:p>
        </p:txBody>
      </p:sp>
      <p:sp>
        <p:nvSpPr>
          <p:cNvPr id="63" name="Text 61"/>
          <p:cNvSpPr txBox="1"/>
          <p:nvPr/>
        </p:nvSpPr>
        <p:spPr>
          <a:xfrm>
            <a:off x="1207008" y="61739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COURSE WORKS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Discord, one rhythm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06685" y="1627120"/>
            <a:ext cx="2682045" cy="2682045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25755" y="2046189"/>
            <a:ext cx="1843906" cy="184390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2716701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community built around one shared curriculum.</a:t>
            </a:r>
            <a:endParaRPr lang="en-US" sz="1050" dirty="0"/>
          </a:p>
        </p:txBody>
      </p:sp>
      <p:sp>
        <p:nvSpPr>
          <p:cNvPr id="12" name="bld1_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+ slide, every lesson</a:t>
            </a:r>
            <a:endParaRPr lang="en-US" sz="1650" dirty="0"/>
          </a:p>
        </p:txBody>
      </p:sp>
      <p:sp>
        <p:nvSpPr>
          <p:cNvPr id="14" name="bld1_47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 with this deck open — the slide tells you where you are, the video does the teaching.</a:t>
            </a:r>
            <a:endParaRPr lang="en-US" sz="1250" dirty="0"/>
          </a:p>
        </p:txBody>
      </p:sp>
      <p:sp>
        <p:nvSpPr>
          <p:cNvPr id="15" name="bld2_48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bld2_49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smelling homework</a:t>
            </a:r>
            <a:endParaRPr lang="en-US" sz="1650" dirty="0"/>
          </a:p>
        </p:txBody>
      </p:sp>
      <p:sp>
        <p:nvSpPr>
          <p:cNvPr id="17" name="bld2_50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includes materials to physically smell and log before the next lesson.</a:t>
            </a:r>
            <a:endParaRPr lang="en-US" sz="1250" dirty="0"/>
          </a:p>
        </p:txBody>
      </p:sp>
      <p:sp>
        <p:nvSpPr>
          <p:cNvPr id="18" name="bld3_51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bld3_52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threads</a:t>
            </a:r>
            <a:endParaRPr lang="en-US" sz="1650" dirty="0"/>
          </a:p>
        </p:txBody>
      </p:sp>
      <p:sp>
        <p:nvSpPr>
          <p:cNvPr id="20" name="bld3_53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evaluations, accords and formulas in Discord for feedback from Yev, Kristan and the group.</a:t>
            </a:r>
            <a:endParaRPr lang="en-US" sz="1250" dirty="0"/>
          </a:p>
        </p:txBody>
      </p:sp>
      <p:sp>
        <p:nvSpPr>
          <p:cNvPr id="21" name="bld4_54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2" name="bld4_55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hours</a:t>
            </a:r>
            <a:endParaRPr lang="en-US" sz="1650" dirty="0"/>
          </a:p>
        </p:txBody>
      </p:sp>
      <p:sp>
        <p:nvSpPr>
          <p:cNvPr id="23" name="bld4_56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Q&amp;A sessions to troubleshoot formulas and answer anything the videos didn't cover.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LEARN PERFUMERY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mindset that actually works</a:t>
            </a:r>
            <a:endParaRPr lang="en-US" sz="3200" dirty="0"/>
          </a:p>
        </p:txBody>
      </p:sp>
      <p:sp>
        <p:nvSpPr>
          <p:cNvPr id="7" name="bld1_5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5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5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 yourself</a:t>
            </a:r>
            <a:endParaRPr lang="en-US" sz="1450" dirty="0"/>
          </a:p>
        </p:txBody>
      </p:sp>
      <p:sp>
        <p:nvSpPr>
          <p:cNvPr id="10" name="bld1_6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description replaces putting a strip under your nose. Reading about rose is not smelling rose.</a:t>
            </a:r>
            <a:endParaRPr lang="en-US" sz="1080" dirty="0"/>
          </a:p>
        </p:txBody>
      </p:sp>
      <p:sp>
        <p:nvSpPr>
          <p:cNvPr id="11" name="bld2_6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2_6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fearlessly</a:t>
            </a:r>
            <a:endParaRPr lang="en-US" sz="1450" dirty="0"/>
          </a:p>
        </p:txBody>
      </p:sp>
      <p:sp>
        <p:nvSpPr>
          <p:cNvPr id="14" name="bld2_6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mistakes on a scent strip are how you learn. Perfect formulas don't come first — reps do.</a:t>
            </a:r>
            <a:endParaRPr lang="en-US" sz="1080" dirty="0"/>
          </a:p>
        </p:txBody>
      </p:sp>
      <p:sp>
        <p:nvSpPr>
          <p:cNvPr id="15" name="bld3_6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6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6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records</a:t>
            </a:r>
            <a:endParaRPr lang="en-US" sz="1450" dirty="0"/>
          </a:p>
        </p:txBody>
      </p:sp>
      <p:sp>
        <p:nvSpPr>
          <p:cNvPr id="18" name="bld3_6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un-logged smell is a lost lesson. Write it down every single time.</a:t>
            </a:r>
            <a:endParaRPr lang="en-US" sz="1080" dirty="0"/>
          </a:p>
        </p:txBody>
      </p:sp>
      <p:sp>
        <p:nvSpPr>
          <p:cNvPr id="19" name="bld4_6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7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7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often</a:t>
            </a:r>
            <a:endParaRPr lang="en-US" sz="1450" dirty="0"/>
          </a:p>
        </p:txBody>
      </p:sp>
      <p:sp>
        <p:nvSpPr>
          <p:cNvPr id="22" name="bld4_7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change on your skin, on a strip, over hours. Smell things more than once.</a:t>
            </a:r>
            <a:endParaRPr lang="en-US" sz="1080" dirty="0"/>
          </a:p>
        </p:txBody>
      </p:sp>
      <p:sp>
        <p:nvSpPr>
          <p:cNvPr id="23" name="bld5_7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7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7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Think, don't copy</a:t>
            </a:r>
            <a:endParaRPr lang="en-US" sz="1450" dirty="0"/>
          </a:p>
        </p:txBody>
      </p:sp>
      <p:sp>
        <p:nvSpPr>
          <p:cNvPr id="26" name="bld5_7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you copy teaches you nothing. A formula you build teaches you everything.</a:t>
            </a:r>
            <a:endParaRPr lang="en-US" sz="1080" dirty="0"/>
          </a:p>
        </p:txBody>
      </p:sp>
      <p:sp>
        <p:nvSpPr>
          <p:cNvPr id="27" name="bld6_7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7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7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patient with your nose</a:t>
            </a:r>
            <a:endParaRPr lang="en-US" sz="1450" dirty="0"/>
          </a:p>
        </p:txBody>
      </p:sp>
      <p:sp>
        <p:nvSpPr>
          <p:cNvPr id="30" name="bld6_8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memory is trained like any other skill — daily, gradually, over months.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learn to smell from a screen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315413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9129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16448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7819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01355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2726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62621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76337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11690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25406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physical scent strips. Order your materials before you start.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ORGANISED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systems every perfumer keeps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17150F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CFC5AE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22" name="bld1_8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8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library</a:t>
            </a:r>
            <a:endParaRPr lang="en-US" sz="1650" dirty="0"/>
          </a:p>
        </p:txBody>
      </p:sp>
      <p:sp>
        <p:nvSpPr>
          <p:cNvPr id="24" name="bld1_8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logged with supplier, dilution, family and notes — your personal reference.</a:t>
            </a:r>
            <a:endParaRPr lang="en-US" sz="1250" dirty="0"/>
          </a:p>
        </p:txBody>
      </p:sp>
      <p:sp>
        <p:nvSpPr>
          <p:cNvPr id="25" name="bld2_8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6" name="bld2_8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library</a:t>
            </a:r>
            <a:endParaRPr lang="en-US" sz="1650" dirty="0"/>
          </a:p>
        </p:txBody>
      </p:sp>
      <p:sp>
        <p:nvSpPr>
          <p:cNvPr id="27" name="bld2_8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building blocks — a rose accord, a woody base — you can drop into future formulas.</a:t>
            </a:r>
            <a:endParaRPr lang="en-US" sz="1250" dirty="0"/>
          </a:p>
        </p:txBody>
      </p:sp>
      <p:sp>
        <p:nvSpPr>
          <p:cNvPr id="28" name="bld3_8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3_8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sheets</a:t>
            </a:r>
            <a:endParaRPr lang="en-US" sz="1650" dirty="0"/>
          </a:p>
        </p:txBody>
      </p:sp>
      <p:sp>
        <p:nvSpPr>
          <p:cNvPr id="30" name="bld3_8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every formula, with dates, percentages and change notes.</a:t>
            </a:r>
            <a:endParaRPr lang="en-US" sz="1250" dirty="0"/>
          </a:p>
        </p:txBody>
      </p:sp>
      <p:sp>
        <p:nvSpPr>
          <p:cNvPr id="31" name="bld4_9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2" name="bld4_9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Scent-strip evaluation log</a:t>
            </a:r>
            <a:endParaRPr lang="en-US" sz="1650" dirty="0"/>
          </a:p>
        </p:txBody>
      </p:sp>
      <p:sp>
        <p:nvSpPr>
          <p:cNvPr id="33" name="bld4_9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Dated, timestamped notes on how a material or formula evolves over 48 hours.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teaching you to copy formulas.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teaching you to think like a perfumer.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00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· PERFUMERY BASICS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build a formula, you need the words perfumers actually use to describe one.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words you'll hear constantly</a:t>
            </a:r>
            <a:endParaRPr lang="en-US" sz="3200" dirty="0"/>
          </a:p>
        </p:txBody>
      </p:sp>
      <p:sp>
        <p:nvSpPr>
          <p:cNvPr id="7" name="bld1_9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9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</a:t>
            </a:r>
            <a:endParaRPr lang="en-US" sz="1450" dirty="0"/>
          </a:p>
        </p:txBody>
      </p:sp>
      <p:sp>
        <p:nvSpPr>
          <p:cNvPr id="10" name="bld1_9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undiluted blend of raw materials before alcohol or solvent is added.</a:t>
            </a:r>
            <a:endParaRPr lang="en-US" sz="1080" dirty="0"/>
          </a:p>
        </p:txBody>
      </p:sp>
      <p:sp>
        <p:nvSpPr>
          <p:cNvPr id="11" name="bld2_9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9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9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4" name="bld2_10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finished, mixed formula — naturals and synthetics combined into one liquid.</a:t>
            </a:r>
            <a:endParaRPr lang="en-US" sz="1080" dirty="0"/>
          </a:p>
        </p:txBody>
      </p:sp>
      <p:sp>
        <p:nvSpPr>
          <p:cNvPr id="15" name="bld3_10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0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0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0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or formula reduced in strength with a solvent, expressed as a %.</a:t>
            </a:r>
            <a:endParaRPr lang="en-US" sz="1080" dirty="0"/>
          </a:p>
        </p:txBody>
      </p:sp>
      <p:sp>
        <p:nvSpPr>
          <p:cNvPr id="19" name="bld4_10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0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0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</a:t>
            </a:r>
            <a:endParaRPr lang="en-US" sz="1450" dirty="0"/>
          </a:p>
        </p:txBody>
      </p:sp>
      <p:sp>
        <p:nvSpPr>
          <p:cNvPr id="22" name="bld4_10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materials blended so they read as one new, unified smell.</a:t>
            </a:r>
            <a:endParaRPr lang="en-US" sz="1080" dirty="0"/>
          </a:p>
        </p:txBody>
      </p:sp>
      <p:sp>
        <p:nvSpPr>
          <p:cNvPr id="23" name="bld5_10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1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50" dirty="0"/>
          </a:p>
        </p:txBody>
      </p:sp>
      <p:sp>
        <p:nvSpPr>
          <p:cNvPr id="26" name="bld5_11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pre-built accord used as a foundation — e.g. a musk base or an amber base.</a:t>
            </a:r>
            <a:endParaRPr lang="en-US" sz="1080" dirty="0"/>
          </a:p>
        </p:txBody>
      </p:sp>
      <p:sp>
        <p:nvSpPr>
          <p:cNvPr id="27" name="bld6_11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1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1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</a:t>
            </a:r>
            <a:endParaRPr lang="en-US" sz="1450" dirty="0"/>
          </a:p>
        </p:txBody>
      </p:sp>
      <p:sp>
        <p:nvSpPr>
          <p:cNvPr id="30" name="bld6_11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added in small amounts to shift the character of an accord.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more, about how a scent behaves</a:t>
            </a:r>
            <a:endParaRPr lang="en-US" sz="3200" dirty="0"/>
          </a:p>
        </p:txBody>
      </p:sp>
      <p:sp>
        <p:nvSpPr>
          <p:cNvPr id="7" name="bld1_11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1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50" dirty="0"/>
          </a:p>
        </p:txBody>
      </p:sp>
      <p:sp>
        <p:nvSpPr>
          <p:cNvPr id="10" name="bld1_12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used to carry and dilute materials — ethanol, DPG, TEC and others.</a:t>
            </a:r>
            <a:endParaRPr lang="en-US" sz="1080" dirty="0"/>
          </a:p>
        </p:txBody>
      </p:sp>
      <p:sp>
        <p:nvSpPr>
          <p:cNvPr id="11" name="bld2_12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2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2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Fixative</a:t>
            </a:r>
            <a:endParaRPr lang="en-US" sz="1450" dirty="0"/>
          </a:p>
        </p:txBody>
      </p:sp>
      <p:sp>
        <p:nvSpPr>
          <p:cNvPr id="14" name="bld2_12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slows evaporation of lighter notes and extends overall wear.</a:t>
            </a:r>
            <a:endParaRPr lang="en-US" sz="1080" dirty="0"/>
          </a:p>
        </p:txBody>
      </p:sp>
      <p:sp>
        <p:nvSpPr>
          <p:cNvPr id="15" name="bld3_12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2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2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18" name="bld3_12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and how easily a scent spreads into the surrounding air.</a:t>
            </a:r>
            <a:endParaRPr lang="en-US" sz="1080" dirty="0"/>
          </a:p>
        </p:txBody>
      </p:sp>
      <p:sp>
        <p:nvSpPr>
          <p:cNvPr id="19" name="bld4_12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3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3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2" name="bld4_13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material or formula remains detectable over time.</a:t>
            </a:r>
            <a:endParaRPr lang="en-US" sz="1080" dirty="0"/>
          </a:p>
        </p:txBody>
      </p:sp>
      <p:sp>
        <p:nvSpPr>
          <p:cNvPr id="23" name="bld5_13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3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3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1450" dirty="0"/>
          </a:p>
        </p:txBody>
      </p:sp>
      <p:sp>
        <p:nvSpPr>
          <p:cNvPr id="26" name="bld5_13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a material registers, even at very low doses.</a:t>
            </a:r>
            <a:endParaRPr lang="en-US" sz="1080" dirty="0"/>
          </a:p>
        </p:txBody>
      </p:sp>
      <p:sp>
        <p:nvSpPr>
          <p:cNvPr id="27" name="bld6_13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3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3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4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hours in — the final character once top notes have faded.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FRAGRANCE CONCENTRATIONS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Extrait, EDP, EDT, EDC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41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42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bld1_143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</a:t>
            </a:r>
            <a:endParaRPr lang="en-US" sz="1450" dirty="0"/>
          </a:p>
        </p:txBody>
      </p:sp>
      <p:sp>
        <p:nvSpPr>
          <p:cNvPr id="13" name="bld1_144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20–30% concentrate. The richest, most expensive tier — closest to skin, longest wear.</a:t>
            </a:r>
            <a:endParaRPr lang="en-US" sz="1080" dirty="0"/>
          </a:p>
        </p:txBody>
      </p:sp>
      <p:sp>
        <p:nvSpPr>
          <p:cNvPr id="14" name="bld2_145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46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147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Parfum</a:t>
            </a:r>
            <a:endParaRPr lang="en-US" sz="1450" dirty="0"/>
          </a:p>
        </p:txBody>
      </p:sp>
      <p:sp>
        <p:nvSpPr>
          <p:cNvPr id="17" name="bld2_148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15–20% concentrate. The modern default for most fine fragrance releases.</a:t>
            </a:r>
            <a:endParaRPr lang="en-US" sz="1080" dirty="0"/>
          </a:p>
        </p:txBody>
      </p:sp>
      <p:sp>
        <p:nvSpPr>
          <p:cNvPr id="18" name="bld3_149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50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51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Toilette</a:t>
            </a:r>
            <a:endParaRPr lang="en-US" sz="1450" dirty="0"/>
          </a:p>
        </p:txBody>
      </p:sp>
      <p:sp>
        <p:nvSpPr>
          <p:cNvPr id="21" name="bld3_152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5–15% concentrate. Lighter, fresher, common for everyday and citrus formulas.</a:t>
            </a:r>
            <a:endParaRPr lang="en-US" sz="1080" dirty="0"/>
          </a:p>
        </p:txBody>
      </p:sp>
      <p:sp>
        <p:nvSpPr>
          <p:cNvPr id="22" name="bld4_153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54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155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Cologne</a:t>
            </a:r>
            <a:endParaRPr lang="en-US" sz="1450" dirty="0"/>
          </a:p>
        </p:txBody>
      </p:sp>
      <p:sp>
        <p:nvSpPr>
          <p:cNvPr id="25" name="bld4_156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2–5% concentrate. Very light, classic citrus-led, applied liberally.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DISTINCTION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is not performance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higher concentration percentage always means a stronger, longer-lasting fragrance."</a:t>
            </a:r>
            <a:endParaRPr lang="en-US" sz="2100" dirty="0"/>
          </a:p>
        </p:txBody>
      </p:sp>
      <p:sp>
        <p:nvSpPr>
          <p:cNvPr id="10" name="bld1_157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58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59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comes from which materials are used — their diffusion, tenacity and fixative structure — far more than from the raw % of concentrate. A well-built 10% EDT can outlast a poorly built 25% extrait. Concentration is a starting ratio, not a guarantee.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MODEL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pyramid</a:t>
            </a:r>
            <a:endParaRPr lang="en-US" sz="3200" dirty="0"/>
          </a:p>
        </p:txBody>
      </p:sp>
      <p:sp>
        <p:nvSpPr>
          <p:cNvPr id="7" name="bld1_160"/>
          <p:cNvSpPr/>
          <p:nvPr/>
        </p:nvSpPr>
        <p:spPr>
          <a:xfrm>
            <a:off x="3953933" y="1691640"/>
            <a:ext cx="474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8" name="bld1_161"/>
          <p:cNvSpPr/>
          <p:nvPr/>
        </p:nvSpPr>
        <p:spPr>
          <a:xfrm>
            <a:off x="3906520" y="1771227"/>
            <a:ext cx="1422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9" name="bld1_162"/>
          <p:cNvSpPr/>
          <p:nvPr/>
        </p:nvSpPr>
        <p:spPr>
          <a:xfrm>
            <a:off x="3859107" y="1850813"/>
            <a:ext cx="2370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0" name="bld1_163"/>
          <p:cNvSpPr/>
          <p:nvPr/>
        </p:nvSpPr>
        <p:spPr>
          <a:xfrm>
            <a:off x="3811693" y="1930400"/>
            <a:ext cx="33189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1" name="bld1_164"/>
          <p:cNvSpPr/>
          <p:nvPr/>
        </p:nvSpPr>
        <p:spPr>
          <a:xfrm>
            <a:off x="3764280" y="2009987"/>
            <a:ext cx="42672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2" name="bld1_165"/>
          <p:cNvSpPr/>
          <p:nvPr/>
        </p:nvSpPr>
        <p:spPr>
          <a:xfrm>
            <a:off x="3716867" y="2089573"/>
            <a:ext cx="52154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3" name="bld1_166"/>
          <p:cNvSpPr/>
          <p:nvPr/>
        </p:nvSpPr>
        <p:spPr>
          <a:xfrm>
            <a:off x="3669453" y="2169160"/>
            <a:ext cx="61637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4" name="bld1_167"/>
          <p:cNvSpPr/>
          <p:nvPr/>
        </p:nvSpPr>
        <p:spPr>
          <a:xfrm>
            <a:off x="3622040" y="2248747"/>
            <a:ext cx="71120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5" name="bld1_168"/>
          <p:cNvSpPr/>
          <p:nvPr/>
        </p:nvSpPr>
        <p:spPr>
          <a:xfrm>
            <a:off x="3574627" y="2328333"/>
            <a:ext cx="80602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6" name="bld1_169"/>
          <p:cNvSpPr/>
          <p:nvPr/>
        </p:nvSpPr>
        <p:spPr>
          <a:xfrm>
            <a:off x="3527213" y="2407920"/>
            <a:ext cx="90085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7" name="bld1_170"/>
          <p:cNvSpPr/>
          <p:nvPr/>
        </p:nvSpPr>
        <p:spPr>
          <a:xfrm>
            <a:off x="3479800" y="2487507"/>
            <a:ext cx="99568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8" name="bld1_171"/>
          <p:cNvSpPr/>
          <p:nvPr/>
        </p:nvSpPr>
        <p:spPr>
          <a:xfrm>
            <a:off x="3432387" y="2567093"/>
            <a:ext cx="109050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9" name="bld1_172"/>
          <p:cNvSpPr/>
          <p:nvPr/>
        </p:nvSpPr>
        <p:spPr>
          <a:xfrm>
            <a:off x="3384973" y="2646680"/>
            <a:ext cx="118533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0" name="bld1_173"/>
          <p:cNvSpPr/>
          <p:nvPr/>
        </p:nvSpPr>
        <p:spPr>
          <a:xfrm>
            <a:off x="3337560" y="2726267"/>
            <a:ext cx="128016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1" name="bld1_174"/>
          <p:cNvSpPr/>
          <p:nvPr/>
        </p:nvSpPr>
        <p:spPr>
          <a:xfrm>
            <a:off x="3290147" y="2805853"/>
            <a:ext cx="137498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2" name="bld1_175"/>
          <p:cNvSpPr/>
          <p:nvPr/>
        </p:nvSpPr>
        <p:spPr>
          <a:xfrm>
            <a:off x="3242733" y="2885440"/>
            <a:ext cx="14698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3" name="bld1_176"/>
          <p:cNvSpPr/>
          <p:nvPr/>
        </p:nvSpPr>
        <p:spPr>
          <a:xfrm>
            <a:off x="3195320" y="2965027"/>
            <a:ext cx="15646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4" name="bld1_177"/>
          <p:cNvSpPr/>
          <p:nvPr/>
        </p:nvSpPr>
        <p:spPr>
          <a:xfrm>
            <a:off x="3147907" y="3044613"/>
            <a:ext cx="16594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5" name="bld1_178"/>
          <p:cNvSpPr txBox="1"/>
          <p:nvPr/>
        </p:nvSpPr>
        <p:spPr>
          <a:xfrm>
            <a:off x="-502920" y="211531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300" dirty="0"/>
          </a:p>
        </p:txBody>
      </p:sp>
      <p:sp>
        <p:nvSpPr>
          <p:cNvPr id="26" name="bld1_179"/>
          <p:cNvSpPr txBox="1"/>
          <p:nvPr/>
        </p:nvSpPr>
        <p:spPr>
          <a:xfrm>
            <a:off x="6675120" y="21153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fruits, aldehydes, aromatic herbs — the first impression, 0–30 minutes.</a:t>
            </a:r>
            <a:endParaRPr lang="en-US" sz="1100" dirty="0"/>
          </a:p>
        </p:txBody>
      </p:sp>
      <p:sp>
        <p:nvSpPr>
          <p:cNvPr id="27" name="bld2_180"/>
          <p:cNvSpPr/>
          <p:nvPr/>
        </p:nvSpPr>
        <p:spPr>
          <a:xfrm>
            <a:off x="3100493" y="3124200"/>
            <a:ext cx="17542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8" name="bld2_181"/>
          <p:cNvSpPr/>
          <p:nvPr/>
        </p:nvSpPr>
        <p:spPr>
          <a:xfrm>
            <a:off x="3053080" y="3203787"/>
            <a:ext cx="18491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9" name="bld2_182"/>
          <p:cNvSpPr/>
          <p:nvPr/>
        </p:nvSpPr>
        <p:spPr>
          <a:xfrm>
            <a:off x="3005667" y="3283373"/>
            <a:ext cx="19439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0" name="bld2_183"/>
          <p:cNvSpPr/>
          <p:nvPr/>
        </p:nvSpPr>
        <p:spPr>
          <a:xfrm>
            <a:off x="2958253" y="3362960"/>
            <a:ext cx="203877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1" name="bld2_184"/>
          <p:cNvSpPr/>
          <p:nvPr/>
        </p:nvSpPr>
        <p:spPr>
          <a:xfrm>
            <a:off x="2910840" y="3442547"/>
            <a:ext cx="213360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2" name="bld2_185"/>
          <p:cNvSpPr/>
          <p:nvPr/>
        </p:nvSpPr>
        <p:spPr>
          <a:xfrm>
            <a:off x="2863427" y="3522133"/>
            <a:ext cx="222842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3" name="bld2_186"/>
          <p:cNvSpPr/>
          <p:nvPr/>
        </p:nvSpPr>
        <p:spPr>
          <a:xfrm>
            <a:off x="2816013" y="3601720"/>
            <a:ext cx="232325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4" name="bld2_187"/>
          <p:cNvSpPr/>
          <p:nvPr/>
        </p:nvSpPr>
        <p:spPr>
          <a:xfrm>
            <a:off x="2768600" y="3681307"/>
            <a:ext cx="241808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5" name="bld2_188"/>
          <p:cNvSpPr/>
          <p:nvPr/>
        </p:nvSpPr>
        <p:spPr>
          <a:xfrm>
            <a:off x="2721187" y="3760893"/>
            <a:ext cx="251290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6" name="bld2_189"/>
          <p:cNvSpPr/>
          <p:nvPr/>
        </p:nvSpPr>
        <p:spPr>
          <a:xfrm>
            <a:off x="2673773" y="3840480"/>
            <a:ext cx="260773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7" name="bld2_190"/>
          <p:cNvSpPr/>
          <p:nvPr/>
        </p:nvSpPr>
        <p:spPr>
          <a:xfrm>
            <a:off x="2626360" y="3920067"/>
            <a:ext cx="270256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8" name="bld2_191"/>
          <p:cNvSpPr/>
          <p:nvPr/>
        </p:nvSpPr>
        <p:spPr>
          <a:xfrm>
            <a:off x="2578947" y="3999653"/>
            <a:ext cx="279738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9" name="bld2_192"/>
          <p:cNvSpPr/>
          <p:nvPr/>
        </p:nvSpPr>
        <p:spPr>
          <a:xfrm>
            <a:off x="2531533" y="4079240"/>
            <a:ext cx="289221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0" name="bld2_193"/>
          <p:cNvSpPr/>
          <p:nvPr/>
        </p:nvSpPr>
        <p:spPr>
          <a:xfrm>
            <a:off x="2484120" y="4158827"/>
            <a:ext cx="298704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1" name="bld2_194"/>
          <p:cNvSpPr/>
          <p:nvPr/>
        </p:nvSpPr>
        <p:spPr>
          <a:xfrm>
            <a:off x="2436707" y="4238413"/>
            <a:ext cx="308186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2" name="bld2_195"/>
          <p:cNvSpPr/>
          <p:nvPr/>
        </p:nvSpPr>
        <p:spPr>
          <a:xfrm>
            <a:off x="2389293" y="4318000"/>
            <a:ext cx="31766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3" name="bld2_196"/>
          <p:cNvSpPr/>
          <p:nvPr/>
        </p:nvSpPr>
        <p:spPr>
          <a:xfrm>
            <a:off x="2341880" y="4397587"/>
            <a:ext cx="32715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4" name="bld2_197"/>
          <p:cNvSpPr/>
          <p:nvPr/>
        </p:nvSpPr>
        <p:spPr>
          <a:xfrm>
            <a:off x="2294467" y="4477173"/>
            <a:ext cx="33663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5" name="bld2_198"/>
          <p:cNvSpPr txBox="1"/>
          <p:nvPr/>
        </p:nvSpPr>
        <p:spPr>
          <a:xfrm>
            <a:off x="-502920" y="35478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300" dirty="0"/>
          </a:p>
        </p:txBody>
      </p:sp>
      <p:sp>
        <p:nvSpPr>
          <p:cNvPr id="46" name="bld2_199"/>
          <p:cNvSpPr txBox="1"/>
          <p:nvPr/>
        </p:nvSpPr>
        <p:spPr>
          <a:xfrm>
            <a:off x="6675120" y="35478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Florals, spices, greens — the main character, emerging 30 minutes to a few hours in.</a:t>
            </a:r>
            <a:endParaRPr lang="en-US" sz="1100" dirty="0"/>
          </a:p>
        </p:txBody>
      </p:sp>
      <p:sp>
        <p:nvSpPr>
          <p:cNvPr id="47" name="bld3_200"/>
          <p:cNvSpPr/>
          <p:nvPr/>
        </p:nvSpPr>
        <p:spPr>
          <a:xfrm>
            <a:off x="2247053" y="4556760"/>
            <a:ext cx="34611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8" name="bld3_201"/>
          <p:cNvSpPr/>
          <p:nvPr/>
        </p:nvSpPr>
        <p:spPr>
          <a:xfrm>
            <a:off x="2199640" y="4636347"/>
            <a:ext cx="35560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9" name="bld3_202"/>
          <p:cNvSpPr/>
          <p:nvPr/>
        </p:nvSpPr>
        <p:spPr>
          <a:xfrm>
            <a:off x="2152227" y="4715933"/>
            <a:ext cx="36508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0" name="bld3_203"/>
          <p:cNvSpPr/>
          <p:nvPr/>
        </p:nvSpPr>
        <p:spPr>
          <a:xfrm>
            <a:off x="2104813" y="4795520"/>
            <a:ext cx="374565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1" name="bld3_204"/>
          <p:cNvSpPr/>
          <p:nvPr/>
        </p:nvSpPr>
        <p:spPr>
          <a:xfrm>
            <a:off x="2057400" y="4875107"/>
            <a:ext cx="384048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2" name="bld3_205"/>
          <p:cNvSpPr/>
          <p:nvPr/>
        </p:nvSpPr>
        <p:spPr>
          <a:xfrm>
            <a:off x="2009987" y="4954693"/>
            <a:ext cx="393530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3" name="bld3_206"/>
          <p:cNvSpPr/>
          <p:nvPr/>
        </p:nvSpPr>
        <p:spPr>
          <a:xfrm>
            <a:off x="1962573" y="5034280"/>
            <a:ext cx="403013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4" name="bld3_207"/>
          <p:cNvSpPr/>
          <p:nvPr/>
        </p:nvSpPr>
        <p:spPr>
          <a:xfrm>
            <a:off x="1915160" y="5113867"/>
            <a:ext cx="412496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5" name="bld3_208"/>
          <p:cNvSpPr/>
          <p:nvPr/>
        </p:nvSpPr>
        <p:spPr>
          <a:xfrm>
            <a:off x="1867747" y="5193453"/>
            <a:ext cx="421978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6" name="bld3_209"/>
          <p:cNvSpPr/>
          <p:nvPr/>
        </p:nvSpPr>
        <p:spPr>
          <a:xfrm>
            <a:off x="1820333" y="5273040"/>
            <a:ext cx="431461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7" name="bld3_210"/>
          <p:cNvSpPr/>
          <p:nvPr/>
        </p:nvSpPr>
        <p:spPr>
          <a:xfrm>
            <a:off x="1772920" y="5352627"/>
            <a:ext cx="440944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8" name="bld3_211"/>
          <p:cNvSpPr/>
          <p:nvPr/>
        </p:nvSpPr>
        <p:spPr>
          <a:xfrm>
            <a:off x="1725507" y="5432213"/>
            <a:ext cx="450426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9" name="bld3_212"/>
          <p:cNvSpPr/>
          <p:nvPr/>
        </p:nvSpPr>
        <p:spPr>
          <a:xfrm>
            <a:off x="1678093" y="5511800"/>
            <a:ext cx="459909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0" name="bld3_213"/>
          <p:cNvSpPr/>
          <p:nvPr/>
        </p:nvSpPr>
        <p:spPr>
          <a:xfrm>
            <a:off x="1630680" y="5591387"/>
            <a:ext cx="469392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1" name="bld3_214"/>
          <p:cNvSpPr/>
          <p:nvPr/>
        </p:nvSpPr>
        <p:spPr>
          <a:xfrm>
            <a:off x="1583267" y="5670973"/>
            <a:ext cx="478874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2" name="bld3_215"/>
          <p:cNvSpPr/>
          <p:nvPr/>
        </p:nvSpPr>
        <p:spPr>
          <a:xfrm>
            <a:off x="1535853" y="5750560"/>
            <a:ext cx="48835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3" name="bld3_216"/>
          <p:cNvSpPr/>
          <p:nvPr/>
        </p:nvSpPr>
        <p:spPr>
          <a:xfrm>
            <a:off x="1488440" y="5830147"/>
            <a:ext cx="49784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4" name="bld3_217"/>
          <p:cNvSpPr/>
          <p:nvPr/>
        </p:nvSpPr>
        <p:spPr>
          <a:xfrm>
            <a:off x="1441027" y="5909733"/>
            <a:ext cx="50732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5" name="bld3_218"/>
          <p:cNvSpPr txBox="1"/>
          <p:nvPr/>
        </p:nvSpPr>
        <p:spPr>
          <a:xfrm>
            <a:off x="-502920" y="498043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66" name="bld3_219"/>
          <p:cNvSpPr txBox="1"/>
          <p:nvPr/>
        </p:nvSpPr>
        <p:spPr>
          <a:xfrm>
            <a:off x="6675120" y="49804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musks, ambers, resins — the lasting foundation, hours into the drydown.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as a teaching and marketing model — but real formulas overlap top, heart and base heavily. Few materials sit in only one layer.</a:t>
            </a:r>
            <a:endParaRPr lang="en-US" sz="115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29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carries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20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2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22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24" name="bld1_223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alcohol. The standard solvent for finished fine-fragrance sprays.</a:t>
            </a:r>
            <a:endParaRPr lang="en-US" sz="1080" dirty="0"/>
          </a:p>
        </p:txBody>
      </p:sp>
      <p:sp>
        <p:nvSpPr>
          <p:cNvPr id="25" name="bld2_224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25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26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28" name="bld2_227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Dipropylene glycol. Odourless, non-flammable — common for oils and roll-ons.</a:t>
            </a:r>
            <a:endParaRPr lang="en-US" sz="1080" dirty="0"/>
          </a:p>
        </p:txBody>
      </p:sp>
      <p:sp>
        <p:nvSpPr>
          <p:cNvPr id="29" name="bld3_228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29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30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32" name="bld3_231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Triethyl citrate. A gentler, skin-friendly solvent often used in oil-based formats.</a:t>
            </a:r>
            <a:endParaRPr lang="en-US" sz="1080" dirty="0"/>
          </a:p>
        </p:txBody>
      </p:sp>
      <p:sp>
        <p:nvSpPr>
          <p:cNvPr id="33" name="bld4_232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33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34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IPM</a:t>
            </a:r>
            <a:endParaRPr lang="en-US" sz="1450" dirty="0"/>
          </a:p>
        </p:txBody>
      </p:sp>
      <p:sp>
        <p:nvSpPr>
          <p:cNvPr id="36" name="bld4_235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Isopropyl myristate. A light, fast-absorbing carrier used where appropriate.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GOES INTO A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finished perfume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spray perfume is mostly solvent — not concentrate.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21167" y="2850551"/>
            <a:ext cx="110944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32111" y="2850551"/>
            <a:ext cx="5547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87583" y="2850551"/>
            <a:ext cx="5547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bld1_236"/>
          <p:cNvSpPr/>
          <p:nvPr/>
        </p:nvSpPr>
        <p:spPr>
          <a:xfrm>
            <a:off x="566928" y="389296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237"/>
          <p:cNvSpPr txBox="1"/>
          <p:nvPr/>
        </p:nvSpPr>
        <p:spPr>
          <a:xfrm>
            <a:off x="841248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7" name="bld1_238"/>
          <p:cNvSpPr txBox="1"/>
          <p:nvPr/>
        </p:nvSpPr>
        <p:spPr>
          <a:xfrm>
            <a:off x="841248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itself</a:t>
            </a:r>
            <a:endParaRPr lang="en-US" sz="1000" dirty="0"/>
          </a:p>
        </p:txBody>
      </p:sp>
      <p:sp>
        <p:nvSpPr>
          <p:cNvPr id="18" name="bld2_239"/>
          <p:cNvSpPr/>
          <p:nvPr/>
        </p:nvSpPr>
        <p:spPr>
          <a:xfrm>
            <a:off x="6297016" y="3892967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9" name="bld2_240"/>
          <p:cNvSpPr txBox="1"/>
          <p:nvPr/>
        </p:nvSpPr>
        <p:spPr>
          <a:xfrm>
            <a:off x="6571336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 —  78%</a:t>
            </a:r>
            <a:endParaRPr lang="en-US" sz="1250" dirty="0"/>
          </a:p>
        </p:txBody>
      </p:sp>
      <p:sp>
        <p:nvSpPr>
          <p:cNvPr id="20" name="bld2_241"/>
          <p:cNvSpPr txBox="1"/>
          <p:nvPr/>
        </p:nvSpPr>
        <p:spPr>
          <a:xfrm>
            <a:off x="6571336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21" name="bld3_242"/>
          <p:cNvSpPr/>
          <p:nvPr/>
        </p:nvSpPr>
        <p:spPr>
          <a:xfrm>
            <a:off x="566928" y="445989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43"/>
          <p:cNvSpPr txBox="1"/>
          <p:nvPr/>
        </p:nvSpPr>
        <p:spPr>
          <a:xfrm>
            <a:off x="841248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 —  1%</a:t>
            </a:r>
            <a:endParaRPr lang="en-US" sz="1250" dirty="0"/>
          </a:p>
        </p:txBody>
      </p:sp>
      <p:sp>
        <p:nvSpPr>
          <p:cNvPr id="23" name="bld3_244"/>
          <p:cNvSpPr txBox="1"/>
          <p:nvPr/>
        </p:nvSpPr>
        <p:spPr>
          <a:xfrm>
            <a:off x="841248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softens alcohol bite</a:t>
            </a:r>
            <a:endParaRPr lang="en-US" sz="1000" dirty="0"/>
          </a:p>
        </p:txBody>
      </p:sp>
      <p:sp>
        <p:nvSpPr>
          <p:cNvPr id="24" name="bld4_245"/>
          <p:cNvSpPr/>
          <p:nvPr/>
        </p:nvSpPr>
        <p:spPr>
          <a:xfrm>
            <a:off x="6297016" y="4459895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4_246"/>
          <p:cNvSpPr txBox="1"/>
          <p:nvPr/>
        </p:nvSpPr>
        <p:spPr>
          <a:xfrm>
            <a:off x="6571336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Antioxidants / stabilisers  —  0.5%</a:t>
            </a:r>
            <a:endParaRPr lang="en-US" sz="1250" dirty="0"/>
          </a:p>
        </p:txBody>
      </p:sp>
      <p:sp>
        <p:nvSpPr>
          <p:cNvPr id="26" name="bld4_247"/>
          <p:cNvSpPr txBox="1"/>
          <p:nvPr/>
        </p:nvSpPr>
        <p:spPr>
          <a:xfrm>
            <a:off x="6571336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</a:t>
            </a:r>
            <a:endParaRPr lang="en-US" sz="1000" dirty="0"/>
          </a:p>
        </p:txBody>
      </p:sp>
      <p:sp>
        <p:nvSpPr>
          <p:cNvPr id="27" name="bld5_248"/>
          <p:cNvSpPr/>
          <p:nvPr/>
        </p:nvSpPr>
        <p:spPr>
          <a:xfrm>
            <a:off x="566928" y="502682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5_249"/>
          <p:cNvSpPr txBox="1"/>
          <p:nvPr/>
        </p:nvSpPr>
        <p:spPr>
          <a:xfrm>
            <a:off x="841248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 —  0.5%</a:t>
            </a:r>
            <a:endParaRPr lang="en-US" sz="1250" dirty="0"/>
          </a:p>
        </p:txBody>
      </p:sp>
      <p:sp>
        <p:nvSpPr>
          <p:cNvPr id="29" name="bld5_250"/>
          <p:cNvSpPr txBox="1"/>
          <p:nvPr/>
        </p:nvSpPr>
        <p:spPr>
          <a:xfrm>
            <a:off x="841248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appropriate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631375" y="246650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SOURCES, ONE PALETTE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vs. synthetics</a:t>
            </a:r>
            <a:endParaRPr lang="en-US" sz="3200" dirty="0"/>
          </a:p>
        </p:txBody>
      </p:sp>
      <p:sp>
        <p:nvSpPr>
          <p:cNvPr id="7" name="bld1_251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8" name="bld1_252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253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800" dirty="0"/>
          </a:p>
        </p:txBody>
      </p:sp>
      <p:sp>
        <p:nvSpPr>
          <p:cNvPr id="10" name="bld1_254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oils — steam or expression distilled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Absolutes — solvent extracted, richer and truer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extracts — extracted under pressure, very clean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Resinoids — extracted from gums and resins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variable, often expensive</a:t>
            </a:r>
            <a:endParaRPr lang="en-US" sz="1300" dirty="0"/>
          </a:p>
        </p:txBody>
      </p:sp>
      <p:sp>
        <p:nvSpPr>
          <p:cNvPr id="11" name="bld1_255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2" name="bld1_256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3" name="bld2_257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14" name="bld2_258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2_259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</a:t>
            </a:r>
            <a:endParaRPr lang="en-US" sz="1800" dirty="0"/>
          </a:p>
        </p:txBody>
      </p:sp>
      <p:sp>
        <p:nvSpPr>
          <p:cNvPr id="16" name="bld2_260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 chemicals — single, isolated molecules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Captives / speciality materials — proprietary, exclusive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— pre-blended synthetic accords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consistent, batch after batch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effects naturals simply cannot achieve</a:t>
            </a:r>
            <a:endParaRPr lang="en-US" sz="1300" dirty="0"/>
          </a:p>
        </p:txBody>
      </p:sp>
      <p:sp>
        <p:nvSpPr>
          <p:cNvPr id="17" name="bld2_261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2_262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FAMILIES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twelve families you'll learn to recognise</a:t>
            </a:r>
            <a:endParaRPr lang="en-US" sz="3200" dirty="0"/>
          </a:p>
        </p:txBody>
      </p:sp>
      <p:sp>
        <p:nvSpPr>
          <p:cNvPr id="7" name="bld1_263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79644" y="1865376"/>
            <a:ext cx="719572" cy="71957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58797" y="1944529"/>
            <a:ext cx="561266" cy="561266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98086" y="1983818"/>
            <a:ext cx="482689" cy="48268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1367" y="2197099"/>
            <a:ext cx="56127" cy="56127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479644" y="1865376"/>
            <a:ext cx="719572" cy="71957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265"/>
          <p:cNvSpPr txBox="1"/>
          <p:nvPr/>
        </p:nvSpPr>
        <p:spPr>
          <a:xfrm>
            <a:off x="731520" y="269467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266"/>
          <p:cNvSpPr txBox="1"/>
          <p:nvPr/>
        </p:nvSpPr>
        <p:spPr>
          <a:xfrm>
            <a:off x="731520" y="3005572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Bergamot, lemon, mandarin</a:t>
            </a:r>
            <a:endParaRPr lang="en-US" sz="1080" dirty="0"/>
          </a:p>
        </p:txBody>
      </p:sp>
      <p:sp>
        <p:nvSpPr>
          <p:cNvPr id="25" name="bld2_267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17256" y="1865376"/>
            <a:ext cx="719572" cy="71957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06883" y="1942284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35795" y="2035944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6555" y="2187488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27212" y="2187488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477972" y="2035944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9690" y="2157810"/>
            <a:ext cx="134704" cy="13470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17256" y="1865376"/>
            <a:ext cx="719572" cy="71957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269"/>
          <p:cNvSpPr txBox="1"/>
          <p:nvPr/>
        </p:nvSpPr>
        <p:spPr>
          <a:xfrm>
            <a:off x="3569132" y="269467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270"/>
          <p:cNvSpPr txBox="1"/>
          <p:nvPr/>
        </p:nvSpPr>
        <p:spPr>
          <a:xfrm>
            <a:off x="3569132" y="3005572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jasmine, muguet</a:t>
            </a:r>
            <a:endParaRPr lang="en-US" sz="1080" dirty="0"/>
          </a:p>
        </p:txBody>
      </p:sp>
      <p:sp>
        <p:nvSpPr>
          <p:cNvPr id="36" name="bld3_271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54868" y="1865376"/>
            <a:ext cx="719572" cy="71957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4534" y="2017493"/>
            <a:ext cx="460238" cy="46023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509167" y="2006268"/>
            <a:ext cx="914" cy="7857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7532942" y="1983818"/>
            <a:ext cx="106641" cy="72965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54868" y="1865376"/>
            <a:ext cx="719572" cy="71957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3_273"/>
          <p:cNvSpPr txBox="1"/>
          <p:nvPr/>
        </p:nvSpPr>
        <p:spPr>
          <a:xfrm>
            <a:off x="6406744" y="269467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43" name="bld3_274"/>
          <p:cNvSpPr txBox="1"/>
          <p:nvPr/>
        </p:nvSpPr>
        <p:spPr>
          <a:xfrm>
            <a:off x="6406744" y="3005572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Peach, apple, blackcurrant</a:t>
            </a:r>
            <a:endParaRPr lang="en-US" sz="1080" dirty="0"/>
          </a:p>
        </p:txBody>
      </p:sp>
      <p:sp>
        <p:nvSpPr>
          <p:cNvPr id="44" name="bld4_275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992479" y="1865376"/>
            <a:ext cx="719572" cy="71957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 rot="15300000">
            <a:off x="10162246" y="2115962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050000">
            <a:off x="10214867" y="2194716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0800000">
            <a:off x="10304558" y="2225162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550000">
            <a:off x="10394248" y="2194716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300000">
            <a:off x="10446870" y="2115962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992479" y="1865376"/>
            <a:ext cx="719572" cy="71957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2" name="bld4_277"/>
          <p:cNvSpPr txBox="1"/>
          <p:nvPr/>
        </p:nvSpPr>
        <p:spPr>
          <a:xfrm>
            <a:off x="9244355" y="269467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53" name="bld4_278"/>
          <p:cNvSpPr txBox="1"/>
          <p:nvPr/>
        </p:nvSpPr>
        <p:spPr>
          <a:xfrm>
            <a:off x="9244355" y="3005572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grass, galbanum, leaves</a:t>
            </a:r>
            <a:endParaRPr lang="en-US" sz="1080" dirty="0"/>
          </a:p>
        </p:txBody>
      </p:sp>
      <p:sp>
        <p:nvSpPr>
          <p:cNvPr id="54" name="bld5_279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479644" y="3505200"/>
            <a:ext cx="719572" cy="71957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6" name="Shape 54"/>
          <p:cNvSpPr/>
          <p:nvPr/>
        </p:nvSpPr>
        <p:spPr>
          <a:xfrm>
            <a:off x="1797335" y="3679095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2700000">
            <a:off x="1857342" y="3703951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5400000">
            <a:off x="1882198" y="3763958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100000">
            <a:off x="1857342" y="3823966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0800000">
            <a:off x="1797335" y="3848821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3500000">
            <a:off x="1737327" y="3823966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6200000">
            <a:off x="1712472" y="3763958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8900000">
            <a:off x="1737327" y="3703951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794529" y="3820085"/>
            <a:ext cx="89803" cy="89803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65" name="Shape 63"/>
          <p:cNvSpPr/>
          <p:nvPr/>
        </p:nvSpPr>
        <p:spPr>
          <a:xfrm>
            <a:off x="1479644" y="3505200"/>
            <a:ext cx="719572" cy="71957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66" name="bld5_281"/>
          <p:cNvSpPr txBox="1"/>
          <p:nvPr/>
        </p:nvSpPr>
        <p:spPr>
          <a:xfrm>
            <a:off x="731520" y="433450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67" name="bld5_282"/>
          <p:cNvSpPr txBox="1"/>
          <p:nvPr/>
        </p:nvSpPr>
        <p:spPr>
          <a:xfrm>
            <a:off x="731520" y="4645396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Lavender, rosemary, herbs</a:t>
            </a:r>
            <a:endParaRPr lang="en-US" sz="1080" dirty="0"/>
          </a:p>
        </p:txBody>
      </p:sp>
      <p:sp>
        <p:nvSpPr>
          <p:cNvPr id="68" name="bld6_283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317256" y="3505200"/>
            <a:ext cx="719572" cy="71957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0" name="Shape 68"/>
          <p:cNvSpPr/>
          <p:nvPr/>
        </p:nvSpPr>
        <p:spPr>
          <a:xfrm>
            <a:off x="4396409" y="3584353"/>
            <a:ext cx="561266" cy="5612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489953" y="3677897"/>
            <a:ext cx="374177" cy="37417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2" name="Shape 70"/>
          <p:cNvSpPr/>
          <p:nvPr/>
        </p:nvSpPr>
        <p:spPr>
          <a:xfrm>
            <a:off x="4583497" y="3771442"/>
            <a:ext cx="187089" cy="18708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43366" y="3831310"/>
            <a:ext cx="67352" cy="67352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4" name="Shape 72"/>
          <p:cNvSpPr/>
          <p:nvPr/>
        </p:nvSpPr>
        <p:spPr>
          <a:xfrm>
            <a:off x="4317256" y="3505200"/>
            <a:ext cx="719572" cy="71957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75" name="bld6_285"/>
          <p:cNvSpPr txBox="1"/>
          <p:nvPr/>
        </p:nvSpPr>
        <p:spPr>
          <a:xfrm>
            <a:off x="3569132" y="433450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76" name="bld6_286"/>
          <p:cNvSpPr txBox="1"/>
          <p:nvPr/>
        </p:nvSpPr>
        <p:spPr>
          <a:xfrm>
            <a:off x="3569132" y="4645396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Cedar, sandalwood, vetiver</a:t>
            </a:r>
            <a:endParaRPr lang="en-US" sz="1080" dirty="0"/>
          </a:p>
        </p:txBody>
      </p:sp>
      <p:sp>
        <p:nvSpPr>
          <p:cNvPr id="77" name="bld7_287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7154868" y="3505200"/>
            <a:ext cx="719572" cy="71957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79" name="Shape 77"/>
          <p:cNvSpPr/>
          <p:nvPr/>
        </p:nvSpPr>
        <p:spPr>
          <a:xfrm rot="9000000">
            <a:off x="7374337" y="3735895"/>
            <a:ext cx="325534" cy="325534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6000000">
            <a:off x="7301372" y="3702219"/>
            <a:ext cx="202056" cy="2020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1400000">
            <a:off x="7531491" y="3668543"/>
            <a:ext cx="168380" cy="16838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7154868" y="3505200"/>
            <a:ext cx="719572" cy="71957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83" name="bld7_289"/>
          <p:cNvSpPr txBox="1"/>
          <p:nvPr/>
        </p:nvSpPr>
        <p:spPr>
          <a:xfrm>
            <a:off x="6406744" y="433450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84" name="bld7_290"/>
          <p:cNvSpPr txBox="1"/>
          <p:nvPr/>
        </p:nvSpPr>
        <p:spPr>
          <a:xfrm>
            <a:off x="6406744" y="4645396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Labdanum, resins, warmth</a:t>
            </a:r>
            <a:endParaRPr lang="en-US" sz="1080" dirty="0"/>
          </a:p>
        </p:txBody>
      </p:sp>
      <p:sp>
        <p:nvSpPr>
          <p:cNvPr id="85" name="bld8_291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9992479" y="3505200"/>
            <a:ext cx="719572" cy="71957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7" name="Shape 85"/>
          <p:cNvSpPr/>
          <p:nvPr/>
        </p:nvSpPr>
        <p:spPr>
          <a:xfrm>
            <a:off x="10094083" y="3690993"/>
            <a:ext cx="516365" cy="347985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992479" y="3505200"/>
            <a:ext cx="719572" cy="71957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89" name="bld8_293"/>
          <p:cNvSpPr txBox="1"/>
          <p:nvPr/>
        </p:nvSpPr>
        <p:spPr>
          <a:xfrm>
            <a:off x="9244355" y="433450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90" name="bld8_294"/>
          <p:cNvSpPr txBox="1"/>
          <p:nvPr/>
        </p:nvSpPr>
        <p:spPr>
          <a:xfrm>
            <a:off x="9244355" y="4645396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skin, soft, radiant</a:t>
            </a:r>
            <a:endParaRPr lang="en-US" sz="1080" dirty="0"/>
          </a:p>
        </p:txBody>
      </p:sp>
      <p:sp>
        <p:nvSpPr>
          <p:cNvPr id="91" name="bld9_295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1479644" y="5145024"/>
            <a:ext cx="719572" cy="71957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3" name="Shape 91"/>
          <p:cNvSpPr/>
          <p:nvPr/>
        </p:nvSpPr>
        <p:spPr>
          <a:xfrm rot="840000">
            <a:off x="1772078" y="5238209"/>
            <a:ext cx="134704" cy="533203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840000">
            <a:off x="1833944" y="5302754"/>
            <a:ext cx="914" cy="40411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776287" y="5318189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1796493" y="5387786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7" name="Shape 95"/>
          <p:cNvSpPr/>
          <p:nvPr/>
        </p:nvSpPr>
        <p:spPr>
          <a:xfrm>
            <a:off x="1816699" y="5457383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8" name="Shape 96"/>
          <p:cNvSpPr/>
          <p:nvPr/>
        </p:nvSpPr>
        <p:spPr>
          <a:xfrm>
            <a:off x="1836904" y="5526980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9" name="Shape 97"/>
          <p:cNvSpPr/>
          <p:nvPr/>
        </p:nvSpPr>
        <p:spPr>
          <a:xfrm>
            <a:off x="1857110" y="5596577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0" name="Shape 98"/>
          <p:cNvSpPr/>
          <p:nvPr/>
        </p:nvSpPr>
        <p:spPr>
          <a:xfrm>
            <a:off x="1877315" y="5666174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479644" y="5145024"/>
            <a:ext cx="719572" cy="71957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02" name="bld9_297"/>
          <p:cNvSpPr txBox="1"/>
          <p:nvPr/>
        </p:nvSpPr>
        <p:spPr>
          <a:xfrm>
            <a:off x="731520" y="59743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103" name="bld9_298"/>
          <p:cNvSpPr txBox="1"/>
          <p:nvPr/>
        </p:nvSpPr>
        <p:spPr>
          <a:xfrm>
            <a:off x="731520" y="6285220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Vanilla, caramel, sugar</a:t>
            </a:r>
            <a:endParaRPr lang="en-US" sz="1080" dirty="0"/>
          </a:p>
        </p:txBody>
      </p:sp>
      <p:sp>
        <p:nvSpPr>
          <p:cNvPr id="104" name="bld10_299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5" name="Shape 103"/>
          <p:cNvSpPr/>
          <p:nvPr/>
        </p:nvSpPr>
        <p:spPr>
          <a:xfrm>
            <a:off x="4317256" y="5145024"/>
            <a:ext cx="719572" cy="71957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396409" y="5224177"/>
            <a:ext cx="561266" cy="56126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4468031" y="5364493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4439073" y="5458038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4439073" y="5551582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4468031" y="5645126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4317256" y="5145024"/>
            <a:ext cx="719572" cy="71957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12" name="bld10_301"/>
          <p:cNvSpPr txBox="1"/>
          <p:nvPr/>
        </p:nvSpPr>
        <p:spPr>
          <a:xfrm>
            <a:off x="3569132" y="59743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13" name="bld10_302"/>
          <p:cNvSpPr txBox="1"/>
          <p:nvPr/>
        </p:nvSpPr>
        <p:spPr>
          <a:xfrm>
            <a:off x="3569132" y="6285220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birch tar, smoke</a:t>
            </a:r>
            <a:endParaRPr lang="en-US" sz="1080" dirty="0"/>
          </a:p>
        </p:txBody>
      </p:sp>
      <p:sp>
        <p:nvSpPr>
          <p:cNvPr id="114" name="bld11_303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5" name="Shape 113"/>
          <p:cNvSpPr/>
          <p:nvPr/>
        </p:nvSpPr>
        <p:spPr>
          <a:xfrm>
            <a:off x="7154868" y="5145024"/>
            <a:ext cx="719572" cy="71957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234020" y="5224177"/>
            <a:ext cx="561266" cy="56126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7295760" y="5502004"/>
            <a:ext cx="437788" cy="8419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295760" y="5431845"/>
            <a:ext cx="437788" cy="8419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295760" y="5353268"/>
            <a:ext cx="437788" cy="8419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154868" y="5145024"/>
            <a:ext cx="719572" cy="71957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1" name="bld11_305"/>
          <p:cNvSpPr txBox="1"/>
          <p:nvPr/>
        </p:nvSpPr>
        <p:spPr>
          <a:xfrm>
            <a:off x="6406744" y="59743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</a:t>
            </a:r>
            <a:endParaRPr lang="en-US" sz="1450" dirty="0"/>
          </a:p>
        </p:txBody>
      </p:sp>
      <p:sp>
        <p:nvSpPr>
          <p:cNvPr id="122" name="bld11_306"/>
          <p:cNvSpPr txBox="1"/>
          <p:nvPr/>
        </p:nvSpPr>
        <p:spPr>
          <a:xfrm>
            <a:off x="6406744" y="6285220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air, ozone, melon</a:t>
            </a:r>
            <a:endParaRPr lang="en-US" sz="1080" dirty="0"/>
          </a:p>
        </p:txBody>
      </p:sp>
      <p:sp>
        <p:nvSpPr>
          <p:cNvPr id="123" name="bld12_307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9992479" y="5145024"/>
            <a:ext cx="719572" cy="71957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5" name="Shape 123"/>
          <p:cNvSpPr/>
          <p:nvPr/>
        </p:nvSpPr>
        <p:spPr>
          <a:xfrm rot="9000000">
            <a:off x="10211949" y="5375719"/>
            <a:ext cx="325534" cy="325534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6000000">
            <a:off x="10138984" y="5342043"/>
            <a:ext cx="202056" cy="202056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1400000">
            <a:off x="10369103" y="5308367"/>
            <a:ext cx="168380" cy="168380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9992479" y="5145024"/>
            <a:ext cx="719572" cy="71957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29" name="bld12_309"/>
          <p:cNvSpPr txBox="1"/>
          <p:nvPr/>
        </p:nvSpPr>
        <p:spPr>
          <a:xfrm>
            <a:off x="9244355" y="59743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130" name="bld12_310"/>
          <p:cNvSpPr txBox="1"/>
          <p:nvPr/>
        </p:nvSpPr>
        <p:spPr>
          <a:xfrm>
            <a:off x="9244355" y="6285220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Pepper, clove, cinnamon</a:t>
            </a:r>
            <a:endParaRPr lang="en-US" sz="1080" dirty="0"/>
          </a:p>
        </p:txBody>
      </p:sp>
      <p:sp>
        <p:nvSpPr>
          <p:cNvPr id="132" name="Text 1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2" grpId="0"/>
      <p:bldP spid="43" grpId="0"/>
      <p:bldP spid="44" grpId="0"/>
      <p:bldP spid="52" grpId="0"/>
      <p:bldP spid="53" grpId="0"/>
      <p:bldP spid="54" grpId="0"/>
      <p:bldP spid="66" grpId="0"/>
      <p:bldP spid="67" grpId="0"/>
      <p:bldP spid="68" grpId="0"/>
      <p:bldP spid="75" grpId="0"/>
      <p:bldP spid="76" grpId="0"/>
      <p:bldP spid="77" grpId="0"/>
      <p:bldP spid="83" grpId="0"/>
      <p:bldP spid="84" grpId="0"/>
      <p:bldP spid="85" grpId="0"/>
      <p:bldP spid="89" grpId="0"/>
      <p:bldP spid="90" grpId="0"/>
      <p:bldP spid="91" grpId="0"/>
      <p:bldP spid="102" grpId="0"/>
      <p:bldP spid="103" grpId="0"/>
      <p:bldP spid="104" grpId="0"/>
      <p:bldP spid="112" grpId="0"/>
      <p:bldP spid="113" grpId="0"/>
      <p:bldP spid="114" grpId="0"/>
      <p:bldP spid="121" grpId="0"/>
      <p:bldP spid="122" grpId="0"/>
      <p:bldP spid="123" grpId="0"/>
      <p:bldP spid="129" grpId="0"/>
      <p:bldP spid="13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perfumery myths, busted</a:t>
            </a:r>
            <a:endParaRPr lang="en-US" sz="3200" dirty="0"/>
          </a:p>
        </p:txBody>
      </p:sp>
      <p:sp>
        <p:nvSpPr>
          <p:cNvPr id="7" name="bld1_311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12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313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is always better</a:t>
            </a:r>
            <a:endParaRPr lang="en-US" sz="1350" dirty="0"/>
          </a:p>
        </p:txBody>
      </p:sp>
      <p:sp>
        <p:nvSpPr>
          <p:cNvPr id="10" name="bld1_314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315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bring soul; synthetics bring precision, safety and effects naturals can't. Great perfumery uses both.</a:t>
            </a:r>
            <a:endParaRPr lang="en-US" sz="1080" dirty="0"/>
          </a:p>
        </p:txBody>
      </p:sp>
      <p:sp>
        <p:nvSpPr>
          <p:cNvPr id="12" name="bld2_316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17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318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oil means stronger</a:t>
            </a:r>
            <a:endParaRPr lang="en-US" sz="1350" dirty="0"/>
          </a:p>
        </p:txBody>
      </p:sp>
      <p:sp>
        <p:nvSpPr>
          <p:cNvPr id="15" name="bld2_319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320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choice, not raw %, drives strength. A well-built low-concentrate formula can outperform a poorly built rich one.</a:t>
            </a:r>
            <a:endParaRPr lang="en-US" sz="1080" dirty="0"/>
          </a:p>
        </p:txBody>
      </p:sp>
      <p:sp>
        <p:nvSpPr>
          <p:cNvPr id="17" name="bld3_321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22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323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fake</a:t>
            </a:r>
            <a:endParaRPr lang="en-US" sz="1350" dirty="0"/>
          </a:p>
        </p:txBody>
      </p:sp>
      <p:sp>
        <p:nvSpPr>
          <p:cNvPr id="20" name="bld3_324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325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synthetics smell nothing like an approximation — they're original, beautiful materials with no natural equivalent.</a:t>
            </a:r>
            <a:endParaRPr lang="en-US" sz="1080" dirty="0"/>
          </a:p>
        </p:txBody>
      </p:sp>
      <p:sp>
        <p:nvSpPr>
          <p:cNvPr id="22" name="bld4_326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27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328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Expensive material = better perfume</a:t>
            </a:r>
            <a:endParaRPr lang="en-US" sz="1350" dirty="0"/>
          </a:p>
        </p:txBody>
      </p:sp>
      <p:sp>
        <p:nvSpPr>
          <p:cNvPr id="25" name="bld4_329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330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reflects rarity and extraction cost, not olfactory value. Cheap materials can be the hero of a formula.</a:t>
            </a:r>
            <a:endParaRPr lang="en-US" sz="1080" dirty="0"/>
          </a:p>
        </p:txBody>
      </p:sp>
      <p:sp>
        <p:nvSpPr>
          <p:cNvPr id="27" name="bld5_331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332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333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/ heart / base must separate perfectly</a:t>
            </a:r>
            <a:endParaRPr lang="en-US" sz="1350" dirty="0"/>
          </a:p>
        </p:txBody>
      </p:sp>
      <p:sp>
        <p:nvSpPr>
          <p:cNvPr id="30" name="bld5_334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335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materials span multiple layers at once — the pyramid is a teaching model, not a physical law.</a:t>
            </a:r>
            <a:endParaRPr lang="en-US" sz="1080" dirty="0"/>
          </a:p>
        </p:txBody>
      </p:sp>
      <p:sp>
        <p:nvSpPr>
          <p:cNvPr id="32" name="bld6_336"/>
          <p:cNvSpPr/>
          <p:nvPr/>
        </p:nvSpPr>
        <p:spPr>
          <a:xfrm>
            <a:off x="8115605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337"/>
          <p:cNvSpPr txBox="1"/>
          <p:nvPr/>
        </p:nvSpPr>
        <p:spPr>
          <a:xfrm>
            <a:off x="8316773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34" name="bld6_338"/>
          <p:cNvSpPr txBox="1"/>
          <p:nvPr/>
        </p:nvSpPr>
        <p:spPr>
          <a:xfrm>
            <a:off x="8316773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materials = more complexity</a:t>
            </a:r>
            <a:endParaRPr lang="en-US" sz="1350" dirty="0"/>
          </a:p>
        </p:txBody>
      </p:sp>
      <p:sp>
        <p:nvSpPr>
          <p:cNvPr id="35" name="bld6_339"/>
          <p:cNvSpPr txBox="1"/>
          <p:nvPr/>
        </p:nvSpPr>
        <p:spPr>
          <a:xfrm>
            <a:off x="8316773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6" name="bld6_340"/>
          <p:cNvSpPr txBox="1"/>
          <p:nvPr/>
        </p:nvSpPr>
        <p:spPr>
          <a:xfrm>
            <a:off x="8316773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comes from how materials interact, not how many are in the beaker. Restraint is a skill.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pyramid, the percentages, the categories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maps — not the territory. Learn them,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learn when real formulas break them.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64447" y="3824387"/>
            <a:ext cx="1805026" cy="593080"/>
          </a:xfrm>
          <a:prstGeom prst="roundRect">
            <a:avLst>
              <a:gd name="adj" fmla="val 9251"/>
            </a:avLst>
          </a:prstGeom>
          <a:solidFill>
            <a:srgbClr val="B5652D">
              <a:alpha val="80000"/>
            </a:srgbClr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69854" y="2737074"/>
            <a:ext cx="794211" cy="1146621"/>
          </a:xfrm>
          <a:prstGeom prst="roundRect">
            <a:avLst>
              <a:gd name="adj" fmla="val 3454"/>
            </a:avLst>
          </a:prstGeom>
          <a:solidFill>
            <a:srgbClr val="FAF6EC"/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2388" y="2440534"/>
            <a:ext cx="914" cy="316309"/>
          </a:xfrm>
          <a:prstGeom prst="line">
            <a:avLst/>
          </a:prstGeom>
          <a:noFill/>
          <a:ln w="25400">
            <a:solidFill>
              <a:srgbClr val="B565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· EQUIPMENT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Laboratory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professional lab to start — you need the right small set of tools, chosen for accuracy.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 · THE NON-NEGOTIABLE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scale is your accuracy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2939687"/>
            <a:ext cx="582490" cy="25888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0197" y="2939687"/>
            <a:ext cx="582490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130197" y="3263292"/>
            <a:ext cx="582490" cy="51776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59381" y="3781061"/>
            <a:ext cx="97081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159381" y="3198571"/>
            <a:ext cx="388327" cy="58249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35776" y="2874966"/>
            <a:ext cx="711932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44154" y="3095017"/>
            <a:ext cx="207108" cy="207108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5768" y="2865258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38258" y="3188863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5768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84952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61346" y="2800536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B565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0.01g kitchen scale cannot see a 0.05g dose. Don't guess where you can measure.</a:t>
            </a:r>
            <a:endParaRPr lang="en-US" sz="1050" dirty="0"/>
          </a:p>
        </p:txBody>
      </p:sp>
      <p:sp>
        <p:nvSpPr>
          <p:cNvPr id="23" name="bld1_34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1_34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0.001g readability, ~200g capacity</a:t>
            </a:r>
            <a:endParaRPr lang="en-US" sz="1650" dirty="0"/>
          </a:p>
        </p:txBody>
      </p:sp>
      <p:sp>
        <p:nvSpPr>
          <p:cNvPr id="25" name="bld1_34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sweet spot for perfumery — precise enough for trace materials, large enough for real batches.</a:t>
            </a:r>
            <a:endParaRPr lang="en-US" sz="1250" dirty="0"/>
          </a:p>
        </p:txBody>
      </p:sp>
      <p:sp>
        <p:nvSpPr>
          <p:cNvPr id="26" name="bld2_34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34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0.001g matters</a:t>
            </a:r>
            <a:endParaRPr lang="en-US" sz="1650" dirty="0"/>
          </a:p>
        </p:txBody>
      </p:sp>
      <p:sp>
        <p:nvSpPr>
          <p:cNvPr id="28" name="bld2_34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used at fractions of a percent. A 0.01g scale simply cannot see doses that small.</a:t>
            </a:r>
            <a:endParaRPr lang="en-US" sz="1250" dirty="0"/>
          </a:p>
        </p:txBody>
      </p:sp>
      <p:sp>
        <p:nvSpPr>
          <p:cNvPr id="29" name="bld3_34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0" name="bld3_34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Repeatability over price</a:t>
            </a:r>
            <a:endParaRPr lang="en-US" sz="1650" dirty="0"/>
          </a:p>
        </p:txBody>
      </p:sp>
      <p:sp>
        <p:nvSpPr>
          <p:cNvPr id="31" name="bld3_34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scale that gives a different reading each time is worse than useless — it teaches you the wrong lesson.</a:t>
            </a:r>
            <a:endParaRPr lang="en-US" sz="1250" dirty="0"/>
          </a:p>
        </p:txBody>
      </p:sp>
      <p:sp>
        <p:nvSpPr>
          <p:cNvPr id="32" name="bld4_35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3" name="bld4_35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&amp; max capacity</a:t>
            </a:r>
            <a:endParaRPr lang="en-US" sz="1650" dirty="0"/>
          </a:p>
        </p:txBody>
      </p:sp>
      <p:sp>
        <p:nvSpPr>
          <p:cNvPr id="34" name="bld4_35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regularly with a reference weight, and respect the scale's stated capacity — overloading degrades accuracy.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Pipettes — plastic vs. glass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13336" y="2192804"/>
            <a:ext cx="2011534" cy="2011534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9" name="Shape 7"/>
          <p:cNvSpPr/>
          <p:nvPr/>
        </p:nvSpPr>
        <p:spPr>
          <a:xfrm>
            <a:off x="8789661" y="2586663"/>
            <a:ext cx="258884" cy="271829"/>
          </a:xfrm>
          <a:prstGeom prst="ellipse">
            <a:avLst/>
          </a:prstGeom>
          <a:solidFill>
            <a:srgbClr val="6E7A50">
              <a:alpha val="85000"/>
            </a:srgbClr>
          </a:solidFill>
          <a:ln w="12700">
            <a:solidFill>
              <a:srgbClr val="6E7A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08131" y="2845547"/>
            <a:ext cx="914" cy="729583"/>
          </a:xfrm>
          <a:prstGeom prst="line">
            <a:avLst/>
          </a:prstGeom>
          <a:noFill/>
          <a:ln w="28575">
            <a:solidFill>
              <a:srgbClr val="6E7A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0800000">
            <a:off x="8883801" y="3575130"/>
            <a:ext cx="70605" cy="188280"/>
          </a:xfrm>
          <a:prstGeom prst="triangl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913336" y="2192804"/>
            <a:ext cx="2011534" cy="2011534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96266" y="2192804"/>
            <a:ext cx="2011534" cy="2011534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172591" y="2586663"/>
            <a:ext cx="258884" cy="271829"/>
          </a:xfrm>
          <a:prstGeom prst="ellipse">
            <a:avLst/>
          </a:prstGeom>
          <a:solidFill>
            <a:srgbClr val="C9A354">
              <a:alpha val="85000"/>
            </a:srgbClr>
          </a:solidFill>
          <a:ln w="12700">
            <a:solidFill>
              <a:srgbClr val="C9A3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91060" y="2845547"/>
            <a:ext cx="914" cy="729583"/>
          </a:xfrm>
          <a:prstGeom prst="line">
            <a:avLst/>
          </a:prstGeom>
          <a:noFill/>
          <a:ln w="28575">
            <a:solidFill>
              <a:srgbClr val="C9A35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0800000">
            <a:off x="10266730" y="3575130"/>
            <a:ext cx="70605" cy="188280"/>
          </a:xfrm>
          <a:prstGeom prst="triangle">
            <a:avLst/>
          </a:prstGeom>
          <a:solidFill>
            <a:srgbClr val="C9A354">
              <a:alpha val="8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296266" y="2192804"/>
            <a:ext cx="2011534" cy="2011534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both on hand — they solve different problems.</a:t>
            </a:r>
            <a:endParaRPr lang="en-US" sz="1050" dirty="0"/>
          </a:p>
        </p:txBody>
      </p:sp>
      <p:sp>
        <p:nvSpPr>
          <p:cNvPr id="19" name="bld1_35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1_35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plastic pipettes</a:t>
            </a:r>
            <a:endParaRPr lang="en-US" sz="1650" dirty="0"/>
          </a:p>
        </p:txBody>
      </p:sp>
      <p:sp>
        <p:nvSpPr>
          <p:cNvPr id="21" name="bld1_355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fast, zero cleanup — ideal for quick transfers and one-time evaluation dips.</a:t>
            </a:r>
            <a:endParaRPr lang="en-US" sz="1250" dirty="0"/>
          </a:p>
        </p:txBody>
      </p:sp>
      <p:sp>
        <p:nvSpPr>
          <p:cNvPr id="22" name="bld2_356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bld2_357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Pasteur pipettes</a:t>
            </a:r>
            <a:endParaRPr lang="en-US" sz="1650" dirty="0"/>
          </a:p>
        </p:txBody>
      </p:sp>
      <p:sp>
        <p:nvSpPr>
          <p:cNvPr id="24" name="bld2_358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solvent-resistant — better for repeated, precise dosing of the same material.</a:t>
            </a:r>
            <a:endParaRPr lang="en-US" sz="1250" dirty="0"/>
          </a:p>
        </p:txBody>
      </p:sp>
      <p:sp>
        <p:nvSpPr>
          <p:cNvPr id="25" name="bld3_359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3_360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each</a:t>
            </a:r>
            <a:endParaRPr lang="en-US" sz="1650" dirty="0"/>
          </a:p>
        </p:txBody>
      </p:sp>
      <p:sp>
        <p:nvSpPr>
          <p:cNvPr id="27" name="bld3_361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for speed and disposability; glass when you're working with strong solvents or want a permanent tool for one material.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Bottles for every stage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362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7" name="bld1_364"/>
          <p:cNvSpPr txBox="1"/>
          <p:nvPr/>
        </p:nvSpPr>
        <p:spPr>
          <a:xfrm>
            <a:off x="731520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glass bottles</a:t>
            </a:r>
            <a:endParaRPr lang="en-US" sz="1450" dirty="0"/>
          </a:p>
        </p:txBody>
      </p:sp>
      <p:sp>
        <p:nvSpPr>
          <p:cNvPr id="18" name="bld1_365"/>
          <p:cNvSpPr txBox="1"/>
          <p:nvPr/>
        </p:nvSpPr>
        <p:spPr>
          <a:xfrm>
            <a:off x="731520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UV-protective storage for raw materials and dilutions.</a:t>
            </a:r>
            <a:endParaRPr lang="en-US" sz="1080" dirty="0"/>
          </a:p>
        </p:txBody>
      </p:sp>
      <p:sp>
        <p:nvSpPr>
          <p:cNvPr id="19" name="bld2_366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1" name="Shape 19"/>
          <p:cNvSpPr/>
          <p:nvPr/>
        </p:nvSpPr>
        <p:spPr>
          <a:xfrm>
            <a:off x="4647645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651479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85748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2324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26" name="bld2_368"/>
          <p:cNvSpPr txBox="1"/>
          <p:nvPr/>
        </p:nvSpPr>
        <p:spPr>
          <a:xfrm>
            <a:off x="3569132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vials</a:t>
            </a:r>
            <a:endParaRPr lang="en-US" sz="1450" dirty="0"/>
          </a:p>
        </p:txBody>
      </p:sp>
      <p:sp>
        <p:nvSpPr>
          <p:cNvPr id="27" name="bld2_369"/>
          <p:cNvSpPr txBox="1"/>
          <p:nvPr/>
        </p:nvSpPr>
        <p:spPr>
          <a:xfrm>
            <a:off x="3569132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volumes for evaluation batches and giving out samples.</a:t>
            </a:r>
            <a:endParaRPr lang="en-US" sz="1080" dirty="0"/>
          </a:p>
        </p:txBody>
      </p:sp>
      <p:sp>
        <p:nvSpPr>
          <p:cNvPr id="28" name="bld3_370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5" name="bld3_372"/>
          <p:cNvSpPr txBox="1"/>
          <p:nvPr/>
        </p:nvSpPr>
        <p:spPr>
          <a:xfrm>
            <a:off x="6406744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bottles</a:t>
            </a:r>
            <a:endParaRPr lang="en-US" sz="1450" dirty="0"/>
          </a:p>
        </p:txBody>
      </p:sp>
      <p:sp>
        <p:nvSpPr>
          <p:cNvPr id="36" name="bld3_373"/>
          <p:cNvSpPr txBox="1"/>
          <p:nvPr/>
        </p:nvSpPr>
        <p:spPr>
          <a:xfrm>
            <a:off x="6406744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bottles per dilution strength, clearly labelled.</a:t>
            </a:r>
            <a:endParaRPr lang="en-US" sz="1080" dirty="0"/>
          </a:p>
        </p:txBody>
      </p:sp>
      <p:sp>
        <p:nvSpPr>
          <p:cNvPr id="37" name="bld4_374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4_376"/>
          <p:cNvSpPr txBox="1"/>
          <p:nvPr/>
        </p:nvSpPr>
        <p:spPr>
          <a:xfrm>
            <a:off x="9244355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storage</a:t>
            </a:r>
            <a:endParaRPr lang="en-US" sz="1450" dirty="0"/>
          </a:p>
        </p:txBody>
      </p:sp>
      <p:sp>
        <p:nvSpPr>
          <p:cNvPr id="45" name="bld4_377"/>
          <p:cNvSpPr txBox="1"/>
          <p:nvPr/>
        </p:nvSpPr>
        <p:spPr>
          <a:xfrm>
            <a:off x="9244355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bottles for macerating and storing finished compounds.</a:t>
            </a:r>
            <a:endParaRPr lang="en-US" sz="108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6" grpId="0"/>
      <p:bldP spid="27" grpId="0"/>
      <p:bldP spid="28" grpId="0"/>
      <p:bldP spid="35" grpId="0"/>
      <p:bldP spid="36" grpId="0"/>
      <p:bldP spid="37" grpId="0"/>
      <p:bldP spid="44" grpId="0"/>
      <p:bldP spid="4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 — your primary instrument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>
            <a:off x="8247025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60741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5164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8880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7" name="Shape 15"/>
          <p:cNvSpPr/>
          <p:nvPr/>
        </p:nvSpPr>
        <p:spPr>
          <a:xfrm>
            <a:off x="9923303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37019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1" name="Shape 19"/>
          <p:cNvSpPr/>
          <p:nvPr/>
        </p:nvSpPr>
        <p:spPr>
          <a:xfrm>
            <a:off x="10761442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775158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strip, one material, one label — every time.</a:t>
            </a:r>
            <a:endParaRPr lang="en-US" sz="1050" dirty="0"/>
          </a:p>
        </p:txBody>
      </p:sp>
      <p:sp>
        <p:nvSpPr>
          <p:cNvPr id="25" name="bld1_37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6" name="bld1_37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blotters matter</a:t>
            </a:r>
            <a:endParaRPr lang="en-US" sz="1650" dirty="0"/>
          </a:p>
        </p:txBody>
      </p:sp>
      <p:sp>
        <p:nvSpPr>
          <p:cNvPr id="27" name="bld1_38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varies too much between evaluations — a blotter is a consistent, repeatable surface for judging a material.</a:t>
            </a:r>
            <a:endParaRPr lang="en-US" sz="1250" dirty="0"/>
          </a:p>
        </p:txBody>
      </p:sp>
      <p:sp>
        <p:nvSpPr>
          <p:cNvPr id="28" name="bld2_38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2_38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 labelling</a:t>
            </a:r>
            <a:endParaRPr lang="en-US" sz="1650" dirty="0"/>
          </a:p>
        </p:txBody>
      </p:sp>
      <p:sp>
        <p:nvSpPr>
          <p:cNvPr id="30" name="bld2_38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material, dilution and date on the strip itself before you dip it — not after.</a:t>
            </a:r>
            <a:endParaRPr lang="en-US" sz="1250" dirty="0"/>
          </a:p>
        </p:txBody>
      </p:sp>
      <p:sp>
        <p:nvSpPr>
          <p:cNvPr id="31" name="bld3_38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2" name="bld3_38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stamps</a:t>
            </a:r>
            <a:endParaRPr lang="en-US" sz="1650" dirty="0"/>
          </a:p>
        </p:txBody>
      </p:sp>
      <p:sp>
        <p:nvSpPr>
          <p:cNvPr id="33" name="bld3_38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exact time you dipped it, so later evaluations are measured against a real clock.</a:t>
            </a:r>
            <a:endParaRPr lang="en-US" sz="1250" dirty="0"/>
          </a:p>
        </p:txBody>
      </p:sp>
      <p:sp>
        <p:nvSpPr>
          <p:cNvPr id="34" name="bld4_38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38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 evaluation</a:t>
            </a:r>
            <a:endParaRPr lang="en-US" sz="1650" dirty="0"/>
          </a:p>
        </p:txBody>
      </p:sp>
      <p:sp>
        <p:nvSpPr>
          <p:cNvPr id="36" name="bld4_38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strip lets you return to the same sample hours or days later and track how it truly evolves.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KIT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tools that save real time</a:t>
            </a:r>
            <a:endParaRPr lang="en-US" sz="3200" dirty="0"/>
          </a:p>
        </p:txBody>
      </p:sp>
      <p:sp>
        <p:nvSpPr>
          <p:cNvPr id="7" name="bld1_390"/>
          <p:cNvSpPr/>
          <p:nvPr/>
        </p:nvSpPr>
        <p:spPr>
          <a:xfrm>
            <a:off x="548640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52579" y="1865376"/>
            <a:ext cx="719572" cy="71957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2054183" y="2051169"/>
            <a:ext cx="516365" cy="347985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52579" y="1865376"/>
            <a:ext cx="719572" cy="71957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392"/>
          <p:cNvSpPr txBox="1"/>
          <p:nvPr/>
        </p:nvSpPr>
        <p:spPr>
          <a:xfrm>
            <a:off x="731520" y="269467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12" name="bld1_393"/>
          <p:cNvSpPr txBox="1"/>
          <p:nvPr/>
        </p:nvSpPr>
        <p:spPr>
          <a:xfrm>
            <a:off x="731520" y="3005572"/>
            <a:ext cx="316169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 — many materials irritate or stain skin.</a:t>
            </a:r>
            <a:endParaRPr lang="en-US" sz="1080" dirty="0"/>
          </a:p>
        </p:txBody>
      </p:sp>
      <p:sp>
        <p:nvSpPr>
          <p:cNvPr id="13" name="bld2_394"/>
          <p:cNvSpPr/>
          <p:nvPr/>
        </p:nvSpPr>
        <p:spPr>
          <a:xfrm>
            <a:off x="4332122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36062" y="1865376"/>
            <a:ext cx="719572" cy="71957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071152" y="2028719"/>
            <a:ext cx="49391" cy="110008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83594" y="2107296"/>
            <a:ext cx="224506" cy="31430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19515" y="2233020"/>
            <a:ext cx="152664" cy="180728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736062" y="1865376"/>
            <a:ext cx="719572" cy="71957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9" name="bld2_396"/>
          <p:cNvSpPr txBox="1"/>
          <p:nvPr/>
        </p:nvSpPr>
        <p:spPr>
          <a:xfrm>
            <a:off x="4515002" y="269467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</a:t>
            </a:r>
            <a:endParaRPr lang="en-US" sz="1450" dirty="0"/>
          </a:p>
        </p:txBody>
      </p:sp>
      <p:sp>
        <p:nvSpPr>
          <p:cNvPr id="20" name="bld2_397"/>
          <p:cNvSpPr txBox="1"/>
          <p:nvPr/>
        </p:nvSpPr>
        <p:spPr>
          <a:xfrm>
            <a:off x="4515002" y="3005572"/>
            <a:ext cx="316169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lab funnels for clean bottle transfers.</a:t>
            </a:r>
            <a:endParaRPr lang="en-US" sz="1080" dirty="0"/>
          </a:p>
        </p:txBody>
      </p:sp>
      <p:sp>
        <p:nvSpPr>
          <p:cNvPr id="21" name="bld3_398"/>
          <p:cNvSpPr/>
          <p:nvPr/>
        </p:nvSpPr>
        <p:spPr>
          <a:xfrm>
            <a:off x="8115605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19544" y="1865376"/>
            <a:ext cx="719572" cy="71957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3" name="Shape 21"/>
          <p:cNvSpPr/>
          <p:nvPr/>
        </p:nvSpPr>
        <p:spPr>
          <a:xfrm>
            <a:off x="9854634" y="2028719"/>
            <a:ext cx="49391" cy="110008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67077" y="2107296"/>
            <a:ext cx="224506" cy="31430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02998" y="2233020"/>
            <a:ext cx="152664" cy="180728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519544" y="1865376"/>
            <a:ext cx="719572" cy="71957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7" name="bld3_400"/>
          <p:cNvSpPr txBox="1"/>
          <p:nvPr/>
        </p:nvSpPr>
        <p:spPr>
          <a:xfrm>
            <a:off x="8298485" y="269467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Beakers</a:t>
            </a:r>
            <a:endParaRPr lang="en-US" sz="1450" dirty="0"/>
          </a:p>
        </p:txBody>
      </p:sp>
      <p:sp>
        <p:nvSpPr>
          <p:cNvPr id="28" name="bld3_401"/>
          <p:cNvSpPr txBox="1"/>
          <p:nvPr/>
        </p:nvSpPr>
        <p:spPr>
          <a:xfrm>
            <a:off x="8298485" y="3005572"/>
            <a:ext cx="316169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mixing and staging larger batches.</a:t>
            </a:r>
            <a:endParaRPr lang="en-US" sz="1080" dirty="0"/>
          </a:p>
        </p:txBody>
      </p:sp>
      <p:sp>
        <p:nvSpPr>
          <p:cNvPr id="29" name="bld4_402"/>
          <p:cNvSpPr/>
          <p:nvPr/>
        </p:nvSpPr>
        <p:spPr>
          <a:xfrm>
            <a:off x="548640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952579" y="3505200"/>
            <a:ext cx="719572" cy="71957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1" name="Shape 29"/>
          <p:cNvSpPr/>
          <p:nvPr/>
        </p:nvSpPr>
        <p:spPr>
          <a:xfrm rot="8100000">
            <a:off x="2172049" y="3724669"/>
            <a:ext cx="280633" cy="280633"/>
          </a:xfrm>
          <a:prstGeom prst="teardrop">
            <a:avLst/>
          </a:prstGeom>
          <a:solidFill>
            <a:srgbClr val="4090AF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952579" y="3505200"/>
            <a:ext cx="719572" cy="719572"/>
          </a:xfrm>
          <a:prstGeom prst="ellipse">
            <a:avLst/>
          </a:prstGeom>
          <a:ln w="25603">
            <a:solidFill>
              <a:srgbClr val="2A5266"/>
            </a:solidFill>
            <a:prstDash val="solid"/>
          </a:ln>
        </p:spPr>
      </p:sp>
      <p:sp>
        <p:nvSpPr>
          <p:cNvPr id="33" name="bld4_404"/>
          <p:cNvSpPr txBox="1"/>
          <p:nvPr/>
        </p:nvSpPr>
        <p:spPr>
          <a:xfrm>
            <a:off x="731520" y="433450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rods</a:t>
            </a:r>
            <a:endParaRPr lang="en-US" sz="1450" dirty="0"/>
          </a:p>
        </p:txBody>
      </p:sp>
      <p:sp>
        <p:nvSpPr>
          <p:cNvPr id="34" name="bld4_405"/>
          <p:cNvSpPr txBox="1"/>
          <p:nvPr/>
        </p:nvSpPr>
        <p:spPr>
          <a:xfrm>
            <a:off x="731520" y="4645396"/>
            <a:ext cx="316169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stirring without introducing air.</a:t>
            </a:r>
            <a:endParaRPr lang="en-US" sz="1080" dirty="0"/>
          </a:p>
        </p:txBody>
      </p:sp>
      <p:sp>
        <p:nvSpPr>
          <p:cNvPr id="35" name="bld5_406"/>
          <p:cNvSpPr/>
          <p:nvPr/>
        </p:nvSpPr>
        <p:spPr>
          <a:xfrm>
            <a:off x="4332122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736062" y="3505200"/>
            <a:ext cx="719572" cy="71957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7" name="Shape 35"/>
          <p:cNvSpPr/>
          <p:nvPr/>
        </p:nvSpPr>
        <p:spPr>
          <a:xfrm>
            <a:off x="5815215" y="3584353"/>
            <a:ext cx="561266" cy="56126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886837" y="3724669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857879" y="3818214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5857879" y="3911758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5886837" y="4005302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5736062" y="3505200"/>
            <a:ext cx="719572" cy="71957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3" name="bld5_408"/>
          <p:cNvSpPr txBox="1"/>
          <p:nvPr/>
        </p:nvSpPr>
        <p:spPr>
          <a:xfrm>
            <a:off x="4515002" y="433450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&amp; markers</a:t>
            </a:r>
            <a:endParaRPr lang="en-US" sz="1450" dirty="0"/>
          </a:p>
        </p:txBody>
      </p:sp>
      <p:sp>
        <p:nvSpPr>
          <p:cNvPr id="44" name="bld5_409"/>
          <p:cNvSpPr txBox="1"/>
          <p:nvPr/>
        </p:nvSpPr>
        <p:spPr>
          <a:xfrm>
            <a:off x="4515002" y="4645396"/>
            <a:ext cx="316169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Alcohol-resistant labels and permanent markers — standard ink smears.</a:t>
            </a:r>
            <a:endParaRPr lang="en-US" sz="1080" dirty="0"/>
          </a:p>
        </p:txBody>
      </p:sp>
      <p:sp>
        <p:nvSpPr>
          <p:cNvPr id="45" name="bld6_410"/>
          <p:cNvSpPr/>
          <p:nvPr/>
        </p:nvSpPr>
        <p:spPr>
          <a:xfrm>
            <a:off x="8115605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519544" y="3505200"/>
            <a:ext cx="719572" cy="71957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7" name="Shape 45"/>
          <p:cNvSpPr/>
          <p:nvPr/>
        </p:nvSpPr>
        <p:spPr>
          <a:xfrm>
            <a:off x="9598697" y="3584353"/>
            <a:ext cx="561266" cy="56126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670320" y="3724669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9641361" y="3818214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9641361" y="3911758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9670320" y="4005302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9519544" y="3505200"/>
            <a:ext cx="719572" cy="71957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3" name="bld6_412"/>
          <p:cNvSpPr txBox="1"/>
          <p:nvPr/>
        </p:nvSpPr>
        <p:spPr>
          <a:xfrm>
            <a:off x="8298485" y="433450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boats</a:t>
            </a:r>
            <a:endParaRPr lang="en-US" sz="1450" dirty="0"/>
          </a:p>
        </p:txBody>
      </p:sp>
      <p:sp>
        <p:nvSpPr>
          <p:cNvPr id="54" name="bld6_413"/>
          <p:cNvSpPr txBox="1"/>
          <p:nvPr/>
        </p:nvSpPr>
        <p:spPr>
          <a:xfrm>
            <a:off x="8298485" y="4645396"/>
            <a:ext cx="316169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boats for solids and viscous materials.</a:t>
            </a:r>
            <a:endParaRPr lang="en-US" sz="1080" dirty="0"/>
          </a:p>
        </p:txBody>
      </p:sp>
      <p:sp>
        <p:nvSpPr>
          <p:cNvPr id="55" name="bld7_414"/>
          <p:cNvSpPr/>
          <p:nvPr/>
        </p:nvSpPr>
        <p:spPr>
          <a:xfrm>
            <a:off x="548640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952579" y="5145024"/>
            <a:ext cx="719572" cy="71957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7" name="Shape 55"/>
          <p:cNvSpPr/>
          <p:nvPr/>
        </p:nvSpPr>
        <p:spPr>
          <a:xfrm rot="8100000">
            <a:off x="2172049" y="5364493"/>
            <a:ext cx="280633" cy="280633"/>
          </a:xfrm>
          <a:prstGeom prst="teardrop">
            <a:avLst/>
          </a:prstGeom>
          <a:solidFill>
            <a:srgbClr val="8A6339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952579" y="5145024"/>
            <a:ext cx="719572" cy="71957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9" name="bld7_416"/>
          <p:cNvSpPr txBox="1"/>
          <p:nvPr/>
        </p:nvSpPr>
        <p:spPr>
          <a:xfrm>
            <a:off x="731520" y="59743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</a:t>
            </a:r>
            <a:endParaRPr lang="en-US" sz="1450" dirty="0"/>
          </a:p>
        </p:txBody>
      </p:sp>
      <p:sp>
        <p:nvSpPr>
          <p:cNvPr id="60" name="bld7_417"/>
          <p:cNvSpPr txBox="1"/>
          <p:nvPr/>
        </p:nvSpPr>
        <p:spPr>
          <a:xfrm>
            <a:off x="731520" y="6285220"/>
            <a:ext cx="316169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solid and paste-like materials.</a:t>
            </a:r>
            <a:endParaRPr lang="en-US" sz="1080" dirty="0"/>
          </a:p>
        </p:txBody>
      </p:sp>
      <p:sp>
        <p:nvSpPr>
          <p:cNvPr id="61" name="bld8_418"/>
          <p:cNvSpPr/>
          <p:nvPr/>
        </p:nvSpPr>
        <p:spPr>
          <a:xfrm>
            <a:off x="4332122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736062" y="5145024"/>
            <a:ext cx="719572" cy="71957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5215" y="5224177"/>
            <a:ext cx="561266" cy="56126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886837" y="5364493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5857879" y="5458038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5857879" y="5551582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5886837" y="5645126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5736062" y="5145024"/>
            <a:ext cx="719572" cy="71957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69" name="bld8_420"/>
          <p:cNvSpPr txBox="1"/>
          <p:nvPr/>
        </p:nvSpPr>
        <p:spPr>
          <a:xfrm>
            <a:off x="4515002" y="59743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boxes</a:t>
            </a:r>
            <a:endParaRPr lang="en-US" sz="1450" dirty="0"/>
          </a:p>
        </p:txBody>
      </p:sp>
      <p:sp>
        <p:nvSpPr>
          <p:cNvPr id="70" name="bld8_421"/>
          <p:cNvSpPr txBox="1"/>
          <p:nvPr/>
        </p:nvSpPr>
        <p:spPr>
          <a:xfrm>
            <a:off x="4515002" y="6285220"/>
            <a:ext cx="316169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Organised, dark storage for your growing material library.</a:t>
            </a:r>
            <a:endParaRPr lang="en-US" sz="1080" dirty="0"/>
          </a:p>
        </p:txBody>
      </p:sp>
      <p:sp>
        <p:nvSpPr>
          <p:cNvPr id="71" name="bld9_422"/>
          <p:cNvSpPr/>
          <p:nvPr/>
        </p:nvSpPr>
        <p:spPr>
          <a:xfrm>
            <a:off x="8115605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9519544" y="5145024"/>
            <a:ext cx="719572" cy="71957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3" name="Shape 71"/>
          <p:cNvSpPr/>
          <p:nvPr/>
        </p:nvSpPr>
        <p:spPr>
          <a:xfrm>
            <a:off x="9598697" y="5224177"/>
            <a:ext cx="561266" cy="56126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660436" y="5502004"/>
            <a:ext cx="437788" cy="8419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660436" y="5431845"/>
            <a:ext cx="437788" cy="8419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660436" y="5353268"/>
            <a:ext cx="437788" cy="8419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519544" y="5145024"/>
            <a:ext cx="719572" cy="71957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78" name="bld9_424"/>
          <p:cNvSpPr txBox="1"/>
          <p:nvPr/>
        </p:nvSpPr>
        <p:spPr>
          <a:xfrm>
            <a:off x="8298485" y="59743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alcohol</a:t>
            </a:r>
            <a:endParaRPr lang="en-US" sz="1450" dirty="0"/>
          </a:p>
        </p:txBody>
      </p:sp>
      <p:sp>
        <p:nvSpPr>
          <p:cNvPr id="79" name="bld9_425"/>
          <p:cNvSpPr txBox="1"/>
          <p:nvPr/>
        </p:nvSpPr>
        <p:spPr>
          <a:xfrm>
            <a:off x="8298485" y="6285220"/>
            <a:ext cx="316169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rinsing glassware between materials — never skip this step.</a:t>
            </a:r>
            <a:endParaRPr lang="en-US" sz="1080" dirty="0"/>
          </a:p>
        </p:txBody>
      </p:sp>
      <p:sp>
        <p:nvSpPr>
          <p:cNvPr id="81" name="Text 7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7" grpId="0"/>
      <p:bldP spid="28" grpId="0"/>
      <p:bldP spid="29" grpId="0"/>
      <p:bldP spid="33" grpId="0"/>
      <p:bldP spid="34" grpId="0"/>
      <p:bldP spid="35" grpId="0"/>
      <p:bldP spid="43" grpId="0"/>
      <p:bldP spid="44" grpId="0"/>
      <p:bldP spid="45" grpId="0"/>
      <p:bldP spid="53" grpId="0"/>
      <p:bldP spid="54" grpId="0"/>
      <p:bldP spid="55" grpId="0"/>
      <p:bldP spid="59" grpId="0"/>
      <p:bldP spid="60" grpId="0"/>
      <p:bldP spid="61" grpId="0"/>
      <p:bldP spid="69" grpId="0"/>
      <p:bldP spid="70" grpId="0"/>
      <p:bldP spid="71" grpId="0"/>
      <p:bldP spid="78" grpId="0"/>
      <p:bldP spid="7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search for, not where to buy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10343940" y="4225232"/>
            <a:ext cx="502883" cy="914"/>
          </a:xfrm>
          <a:prstGeom prst="line">
            <a:avLst/>
          </a:prstGeom>
          <a:noFill/>
          <a:ln w="38100">
            <a:solidFill>
              <a:srgbClr val="C9A3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spec — let the market compete for your order.</a:t>
            </a:r>
            <a:endParaRPr lang="en-US" sz="1050" dirty="0"/>
          </a:p>
        </p:txBody>
      </p:sp>
      <p:sp>
        <p:nvSpPr>
          <p:cNvPr id="12" name="bld1_42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1_42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by spec, not by brand</a:t>
            </a:r>
            <a:endParaRPr lang="en-US" sz="1650" dirty="0"/>
          </a:p>
        </p:txBody>
      </p:sp>
      <p:sp>
        <p:nvSpPr>
          <p:cNvPr id="14" name="bld1_42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change — the specification doesn't. Search for what you need, not a specific store.</a:t>
            </a:r>
            <a:endParaRPr lang="en-US" sz="1250" dirty="0"/>
          </a:p>
        </p:txBody>
      </p:sp>
      <p:sp>
        <p:nvSpPr>
          <p:cNvPr id="15" name="bld2_42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6" name="bld2_43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"0.001g precision scale ~200g"</a:t>
            </a:r>
            <a:endParaRPr lang="en-US" sz="1650" dirty="0"/>
          </a:p>
        </p:txBody>
      </p:sp>
      <p:sp>
        <p:nvSpPr>
          <p:cNvPr id="17" name="bld2_43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exact scale class covered earlier, across many sellers.</a:t>
            </a:r>
            <a:endParaRPr lang="en-US" sz="1250" dirty="0"/>
          </a:p>
        </p:txBody>
      </p:sp>
      <p:sp>
        <p:nvSpPr>
          <p:cNvPr id="18" name="bld3_43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bld3_43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"amber glass bottles wholesale"</a:t>
            </a:r>
            <a:endParaRPr lang="en-US" sz="1650" dirty="0"/>
          </a:p>
        </p:txBody>
      </p:sp>
      <p:sp>
        <p:nvSpPr>
          <p:cNvPr id="20" name="bld3_43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bulk glassware suppliers for storage and dilution bottles.</a:t>
            </a:r>
            <a:endParaRPr lang="en-US" sz="1250" dirty="0"/>
          </a:p>
        </p:txBody>
      </p:sp>
      <p:sp>
        <p:nvSpPr>
          <p:cNvPr id="21" name="bld4_43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2" name="bld4_43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"perfumer's alcohol" / "glass Pasteur pipettes"</a:t>
            </a:r>
            <a:endParaRPr lang="en-US" sz="1650" dirty="0"/>
          </a:p>
        </p:txBody>
      </p:sp>
      <p:sp>
        <p:nvSpPr>
          <p:cNvPr id="23" name="bld4_43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most-searched consumables in any starter kit.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vs. nice-to-have</a:t>
            </a:r>
            <a:endParaRPr lang="en-US" sz="3200" dirty="0"/>
          </a:p>
        </p:txBody>
      </p:sp>
      <p:sp>
        <p:nvSpPr>
          <p:cNvPr id="7" name="bld1_438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439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440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bld1_441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precision scale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+ glass pipettes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glass bottles + dilution bottles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 strips (blotters)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Gloves, labels, markers, cleaning alcohol</a:t>
            </a:r>
            <a:endParaRPr lang="en-US" sz="1300" dirty="0"/>
          </a:p>
        </p:txBody>
      </p:sp>
      <p:sp>
        <p:nvSpPr>
          <p:cNvPr id="11" name="bld1_442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2" name="bld1_443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13" name="bld2_444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445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446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Nice to have</a:t>
            </a:r>
            <a:endParaRPr lang="en-US" sz="1800" dirty="0"/>
          </a:p>
        </p:txBody>
      </p:sp>
      <p:sp>
        <p:nvSpPr>
          <p:cNvPr id="16" name="bld2_447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stirrer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Fume extraction / ventilation hood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cleaner for glassware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fridge for volatile materials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labelling printer</a:t>
            </a:r>
            <a:endParaRPr lang="en-US" sz="1300" dirty="0"/>
          </a:p>
        </p:txBody>
      </p:sp>
      <p:sp>
        <p:nvSpPr>
          <p:cNvPr id="17" name="bld2_448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449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precise scale and a stack of scent strips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teach you more than any expensive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ever will.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02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33890" y="2086061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4320000">
            <a:off x="10245887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8640000">
            <a:off x="1001212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12960000">
            <a:off x="925565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7280000">
            <a:off x="9021893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647213" y="3109253"/>
            <a:ext cx="639495" cy="63949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03.1 · RAW MATERIALS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&amp; How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Behave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shop, you need a framework — how perfumers actually think about a raw material.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olfactory groups, revisited</a:t>
            </a:r>
            <a:endParaRPr lang="en-US" sz="3200" dirty="0"/>
          </a:p>
        </p:txBody>
      </p:sp>
      <p:sp>
        <p:nvSpPr>
          <p:cNvPr id="7" name="bld1_450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79644" y="1865376"/>
            <a:ext cx="719572" cy="71957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58797" y="1944529"/>
            <a:ext cx="561266" cy="561266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98086" y="1983818"/>
            <a:ext cx="482689" cy="48268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5398" y="2000656"/>
            <a:ext cx="28063" cy="218894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1367" y="2197099"/>
            <a:ext cx="56127" cy="56127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479644" y="1865376"/>
            <a:ext cx="719572" cy="71957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452"/>
          <p:cNvSpPr txBox="1"/>
          <p:nvPr/>
        </p:nvSpPr>
        <p:spPr>
          <a:xfrm>
            <a:off x="731520" y="269467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453"/>
          <p:cNvSpPr txBox="1"/>
          <p:nvPr/>
        </p:nvSpPr>
        <p:spPr>
          <a:xfrm>
            <a:off x="731520" y="3005572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volatile top notes</a:t>
            </a:r>
            <a:endParaRPr lang="en-US" sz="1080" dirty="0"/>
          </a:p>
        </p:txBody>
      </p:sp>
      <p:sp>
        <p:nvSpPr>
          <p:cNvPr id="25" name="bld2_454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17256" y="1865376"/>
            <a:ext cx="719572" cy="71957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06883" y="1942284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35795" y="2035944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6555" y="2187488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27212" y="2187488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477972" y="2035944"/>
            <a:ext cx="140317" cy="2946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9690" y="2157810"/>
            <a:ext cx="134704" cy="13470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17256" y="1865376"/>
            <a:ext cx="719572" cy="71957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456"/>
          <p:cNvSpPr txBox="1"/>
          <p:nvPr/>
        </p:nvSpPr>
        <p:spPr>
          <a:xfrm>
            <a:off x="3569132" y="269467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457"/>
          <p:cNvSpPr txBox="1"/>
          <p:nvPr/>
        </p:nvSpPr>
        <p:spPr>
          <a:xfrm>
            <a:off x="3569132" y="3005572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most formulas</a:t>
            </a:r>
            <a:endParaRPr lang="en-US" sz="1080" dirty="0"/>
          </a:p>
        </p:txBody>
      </p:sp>
      <p:sp>
        <p:nvSpPr>
          <p:cNvPr id="36" name="bld3_458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54868" y="1865376"/>
            <a:ext cx="719572" cy="71957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8" name="Shape 36"/>
          <p:cNvSpPr/>
          <p:nvPr/>
        </p:nvSpPr>
        <p:spPr>
          <a:xfrm rot="15300000">
            <a:off x="7324634" y="2115962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3050000">
            <a:off x="7377256" y="2194716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0800000">
            <a:off x="7466946" y="2225162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550000">
            <a:off x="7556636" y="2194716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300000">
            <a:off x="7609258" y="2115962"/>
            <a:ext cx="95415" cy="29466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54868" y="1865376"/>
            <a:ext cx="719572" cy="71957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4" name="bld3_460"/>
          <p:cNvSpPr txBox="1"/>
          <p:nvPr/>
        </p:nvSpPr>
        <p:spPr>
          <a:xfrm>
            <a:off x="6406744" y="269467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45" name="bld3_461"/>
          <p:cNvSpPr txBox="1"/>
          <p:nvPr/>
        </p:nvSpPr>
        <p:spPr>
          <a:xfrm>
            <a:off x="6406744" y="3005572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leafy, unripe</a:t>
            </a:r>
            <a:endParaRPr lang="en-US" sz="1080" dirty="0"/>
          </a:p>
        </p:txBody>
      </p:sp>
      <p:sp>
        <p:nvSpPr>
          <p:cNvPr id="46" name="bld4_462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992479" y="1865376"/>
            <a:ext cx="719572" cy="71957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8" name="Shape 46"/>
          <p:cNvSpPr/>
          <p:nvPr/>
        </p:nvSpPr>
        <p:spPr>
          <a:xfrm>
            <a:off x="10122146" y="2017493"/>
            <a:ext cx="460238" cy="46023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46779" y="2006268"/>
            <a:ext cx="914" cy="7857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2000000">
            <a:off x="10370553" y="1983818"/>
            <a:ext cx="106641" cy="72965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992479" y="1865376"/>
            <a:ext cx="719572" cy="71957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52" name="bld4_464"/>
          <p:cNvSpPr txBox="1"/>
          <p:nvPr/>
        </p:nvSpPr>
        <p:spPr>
          <a:xfrm>
            <a:off x="9244355" y="269467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53" name="bld4_465"/>
          <p:cNvSpPr txBox="1"/>
          <p:nvPr/>
        </p:nvSpPr>
        <p:spPr>
          <a:xfrm>
            <a:off x="9244355" y="3005572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sweet, often synthetic-assisted</a:t>
            </a:r>
            <a:endParaRPr lang="en-US" sz="1080" dirty="0"/>
          </a:p>
        </p:txBody>
      </p:sp>
      <p:sp>
        <p:nvSpPr>
          <p:cNvPr id="54" name="bld5_466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479644" y="3505200"/>
            <a:ext cx="719572" cy="71957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6" name="Shape 54"/>
          <p:cNvSpPr/>
          <p:nvPr/>
        </p:nvSpPr>
        <p:spPr>
          <a:xfrm>
            <a:off x="1558797" y="3584353"/>
            <a:ext cx="561266" cy="5612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652341" y="3677897"/>
            <a:ext cx="374177" cy="37417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8" name="Shape 56"/>
          <p:cNvSpPr/>
          <p:nvPr/>
        </p:nvSpPr>
        <p:spPr>
          <a:xfrm>
            <a:off x="1745886" y="3771442"/>
            <a:ext cx="187089" cy="18708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805754" y="3831310"/>
            <a:ext cx="67352" cy="67352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0" name="Shape 58"/>
          <p:cNvSpPr/>
          <p:nvPr/>
        </p:nvSpPr>
        <p:spPr>
          <a:xfrm>
            <a:off x="1479644" y="3505200"/>
            <a:ext cx="719572" cy="71957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5_468"/>
          <p:cNvSpPr txBox="1"/>
          <p:nvPr/>
        </p:nvSpPr>
        <p:spPr>
          <a:xfrm>
            <a:off x="731520" y="433450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62" name="bld5_469"/>
          <p:cNvSpPr txBox="1"/>
          <p:nvPr/>
        </p:nvSpPr>
        <p:spPr>
          <a:xfrm>
            <a:off x="731520" y="4645396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warm structural base</a:t>
            </a:r>
            <a:endParaRPr lang="en-US" sz="1080" dirty="0"/>
          </a:p>
        </p:txBody>
      </p:sp>
      <p:sp>
        <p:nvSpPr>
          <p:cNvPr id="63" name="bld6_470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317256" y="3505200"/>
            <a:ext cx="719572" cy="71957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5" name="Shape 63"/>
          <p:cNvSpPr/>
          <p:nvPr/>
        </p:nvSpPr>
        <p:spPr>
          <a:xfrm rot="9000000">
            <a:off x="4536725" y="3735895"/>
            <a:ext cx="325534" cy="325534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6000000">
            <a:off x="4463761" y="3702219"/>
            <a:ext cx="202056" cy="2020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1400000">
            <a:off x="4693880" y="3668543"/>
            <a:ext cx="168380" cy="16838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317256" y="3505200"/>
            <a:ext cx="719572" cy="71957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6_472"/>
          <p:cNvSpPr txBox="1"/>
          <p:nvPr/>
        </p:nvSpPr>
        <p:spPr>
          <a:xfrm>
            <a:off x="3569132" y="433450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70" name="bld6_473"/>
          <p:cNvSpPr txBox="1"/>
          <p:nvPr/>
        </p:nvSpPr>
        <p:spPr>
          <a:xfrm>
            <a:off x="3569132" y="4645396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warm, enveloping</a:t>
            </a:r>
            <a:endParaRPr lang="en-US" sz="1080" dirty="0"/>
          </a:p>
        </p:txBody>
      </p:sp>
      <p:sp>
        <p:nvSpPr>
          <p:cNvPr id="71" name="bld7_474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7154868" y="3505200"/>
            <a:ext cx="719572" cy="71957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3" name="Shape 71"/>
          <p:cNvSpPr/>
          <p:nvPr/>
        </p:nvSpPr>
        <p:spPr>
          <a:xfrm>
            <a:off x="7256471" y="3690993"/>
            <a:ext cx="516365" cy="347985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154868" y="3505200"/>
            <a:ext cx="719572" cy="71957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5" name="bld7_476"/>
          <p:cNvSpPr txBox="1"/>
          <p:nvPr/>
        </p:nvSpPr>
        <p:spPr>
          <a:xfrm>
            <a:off x="6406744" y="433450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76" name="bld7_477"/>
          <p:cNvSpPr txBox="1"/>
          <p:nvPr/>
        </p:nvSpPr>
        <p:spPr>
          <a:xfrm>
            <a:off x="6406744" y="4645396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Skin-like, radiant, soft</a:t>
            </a:r>
            <a:endParaRPr lang="en-US" sz="1080" dirty="0"/>
          </a:p>
        </p:txBody>
      </p:sp>
      <p:sp>
        <p:nvSpPr>
          <p:cNvPr id="77" name="bld8_478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9992479" y="3505200"/>
            <a:ext cx="719572" cy="71957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9" name="Shape 77"/>
          <p:cNvSpPr/>
          <p:nvPr/>
        </p:nvSpPr>
        <p:spPr>
          <a:xfrm rot="840000">
            <a:off x="10284913" y="3598385"/>
            <a:ext cx="134704" cy="533203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40000">
            <a:off x="10346779" y="3662930"/>
            <a:ext cx="914" cy="40411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89123" y="3678365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309328" y="3747962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3" name="Shape 81"/>
          <p:cNvSpPr/>
          <p:nvPr/>
        </p:nvSpPr>
        <p:spPr>
          <a:xfrm>
            <a:off x="10329534" y="3817559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4" name="Shape 82"/>
          <p:cNvSpPr/>
          <p:nvPr/>
        </p:nvSpPr>
        <p:spPr>
          <a:xfrm>
            <a:off x="10349740" y="3887156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5" name="Shape 83"/>
          <p:cNvSpPr/>
          <p:nvPr/>
        </p:nvSpPr>
        <p:spPr>
          <a:xfrm>
            <a:off x="10369945" y="3956753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6" name="Shape 84"/>
          <p:cNvSpPr/>
          <p:nvPr/>
        </p:nvSpPr>
        <p:spPr>
          <a:xfrm>
            <a:off x="10390151" y="4026350"/>
            <a:ext cx="25257" cy="25257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7" name="Shape 85"/>
          <p:cNvSpPr/>
          <p:nvPr/>
        </p:nvSpPr>
        <p:spPr>
          <a:xfrm>
            <a:off x="9992479" y="3505200"/>
            <a:ext cx="719572" cy="71957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88" name="bld8_480"/>
          <p:cNvSpPr txBox="1"/>
          <p:nvPr/>
        </p:nvSpPr>
        <p:spPr>
          <a:xfrm>
            <a:off x="9244355" y="433450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89" name="bld8_481"/>
          <p:cNvSpPr txBox="1"/>
          <p:nvPr/>
        </p:nvSpPr>
        <p:spPr>
          <a:xfrm>
            <a:off x="9244355" y="4645396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Edible, sweet, comforting</a:t>
            </a:r>
            <a:endParaRPr lang="en-US" sz="1080" dirty="0"/>
          </a:p>
        </p:txBody>
      </p:sp>
      <p:sp>
        <p:nvSpPr>
          <p:cNvPr id="90" name="bld9_482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1479644" y="5145024"/>
            <a:ext cx="719572" cy="71957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2" name="Shape 90"/>
          <p:cNvSpPr/>
          <p:nvPr/>
        </p:nvSpPr>
        <p:spPr>
          <a:xfrm rot="9000000">
            <a:off x="1699113" y="5375719"/>
            <a:ext cx="325534" cy="325534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6000000">
            <a:off x="1626149" y="5342043"/>
            <a:ext cx="202056" cy="202056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11400000">
            <a:off x="1856268" y="5308367"/>
            <a:ext cx="168380" cy="168380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1479644" y="5145024"/>
            <a:ext cx="719572" cy="71957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96" name="bld9_484"/>
          <p:cNvSpPr txBox="1"/>
          <p:nvPr/>
        </p:nvSpPr>
        <p:spPr>
          <a:xfrm>
            <a:off x="731520" y="59743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97" name="bld9_485"/>
          <p:cNvSpPr txBox="1"/>
          <p:nvPr/>
        </p:nvSpPr>
        <p:spPr>
          <a:xfrm>
            <a:off x="731520" y="6285220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sharp, piquant</a:t>
            </a:r>
            <a:endParaRPr lang="en-US" sz="1080" dirty="0"/>
          </a:p>
        </p:txBody>
      </p:sp>
      <p:sp>
        <p:nvSpPr>
          <p:cNvPr id="98" name="bld10_486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4317256" y="5145024"/>
            <a:ext cx="719572" cy="71957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00" name="Shape 98"/>
          <p:cNvSpPr/>
          <p:nvPr/>
        </p:nvSpPr>
        <p:spPr>
          <a:xfrm>
            <a:off x="4634947" y="5318919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4694954" y="5343775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4719810" y="5403782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4694954" y="5463790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4634947" y="5488645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4574939" y="5463790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4550083" y="5403782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4574939" y="5343775"/>
            <a:ext cx="84190" cy="202056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4632140" y="5459909"/>
            <a:ext cx="89803" cy="89803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317256" y="5145024"/>
            <a:ext cx="719572" cy="71957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10" name="bld10_488"/>
          <p:cNvSpPr txBox="1"/>
          <p:nvPr/>
        </p:nvSpPr>
        <p:spPr>
          <a:xfrm>
            <a:off x="3569132" y="59743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111" name="bld10_489"/>
          <p:cNvSpPr txBox="1"/>
          <p:nvPr/>
        </p:nvSpPr>
        <p:spPr>
          <a:xfrm>
            <a:off x="3569132" y="6285220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medicinal, fresh</a:t>
            </a:r>
            <a:endParaRPr lang="en-US" sz="1080" dirty="0"/>
          </a:p>
        </p:txBody>
      </p:sp>
      <p:sp>
        <p:nvSpPr>
          <p:cNvPr id="112" name="bld11_490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7154868" y="5145024"/>
            <a:ext cx="719572" cy="71957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234020" y="5224177"/>
            <a:ext cx="561266" cy="56126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7305643" y="5364493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7276685" y="5458038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7276685" y="5551582"/>
            <a:ext cx="47593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>
            <a:off x="7305643" y="5645126"/>
            <a:ext cx="4180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>
            <a:off x="7154868" y="5145024"/>
            <a:ext cx="719572" cy="71957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20" name="bld11_492"/>
          <p:cNvSpPr txBox="1"/>
          <p:nvPr/>
        </p:nvSpPr>
        <p:spPr>
          <a:xfrm>
            <a:off x="6406744" y="59743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21" name="bld11_493"/>
          <p:cNvSpPr txBox="1"/>
          <p:nvPr/>
        </p:nvSpPr>
        <p:spPr>
          <a:xfrm>
            <a:off x="6406744" y="6285220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animalic, dry</a:t>
            </a:r>
            <a:endParaRPr lang="en-US" sz="1080" dirty="0"/>
          </a:p>
        </p:txBody>
      </p:sp>
      <p:sp>
        <p:nvSpPr>
          <p:cNvPr id="122" name="bld12_494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3" name="Shape 121"/>
          <p:cNvSpPr/>
          <p:nvPr/>
        </p:nvSpPr>
        <p:spPr>
          <a:xfrm>
            <a:off x="9992479" y="5145024"/>
            <a:ext cx="719572" cy="71957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071632" y="5224177"/>
            <a:ext cx="561266" cy="56126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10133372" y="5502004"/>
            <a:ext cx="437788" cy="8419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33372" y="5431845"/>
            <a:ext cx="437788" cy="8419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10133372" y="5353268"/>
            <a:ext cx="437788" cy="8419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9992479" y="5145024"/>
            <a:ext cx="719572" cy="71957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9" name="bld12_496"/>
          <p:cNvSpPr txBox="1"/>
          <p:nvPr/>
        </p:nvSpPr>
        <p:spPr>
          <a:xfrm>
            <a:off x="9244355" y="59743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/ fresh</a:t>
            </a:r>
            <a:endParaRPr lang="en-US" sz="1450" dirty="0"/>
          </a:p>
        </p:txBody>
      </p:sp>
      <p:sp>
        <p:nvSpPr>
          <p:cNvPr id="130" name="bld12_497"/>
          <p:cNvSpPr txBox="1"/>
          <p:nvPr/>
        </p:nvSpPr>
        <p:spPr>
          <a:xfrm>
            <a:off x="9244355" y="6285220"/>
            <a:ext cx="2215820" cy="5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clean, airy</a:t>
            </a:r>
            <a:endParaRPr lang="en-US" sz="1080" dirty="0"/>
          </a:p>
        </p:txBody>
      </p:sp>
      <p:sp>
        <p:nvSpPr>
          <p:cNvPr id="132" name="Text 1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4" grpId="0"/>
      <p:bldP spid="45" grpId="0"/>
      <p:bldP spid="46" grpId="0"/>
      <p:bldP spid="52" grpId="0"/>
      <p:bldP spid="53" grpId="0"/>
      <p:bldP spid="54" grpId="0"/>
      <p:bldP spid="61" grpId="0"/>
      <p:bldP spid="62" grpId="0"/>
      <p:bldP spid="63" grpId="0"/>
      <p:bldP spid="69" grpId="0"/>
      <p:bldP spid="70" grpId="0"/>
      <p:bldP spid="71" grpId="0"/>
      <p:bldP spid="75" grpId="0"/>
      <p:bldP spid="76" grpId="0"/>
      <p:bldP spid="77" grpId="0"/>
      <p:bldP spid="88" grpId="0"/>
      <p:bldP spid="89" grpId="0"/>
      <p:bldP spid="90" grpId="0"/>
      <p:bldP spid="96" grpId="0"/>
      <p:bldP spid="97" grpId="0"/>
      <p:bldP spid="98" grpId="0"/>
      <p:bldP spid="110" grpId="0"/>
      <p:bldP spid="111" grpId="0"/>
      <p:bldP spid="112" grpId="0"/>
      <p:bldP spid="120" grpId="0"/>
      <p:bldP spid="121" grpId="0"/>
      <p:bldP spid="122" grpId="0"/>
      <p:bldP spid="129" grpId="0"/>
      <p:bldP spid="13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SNAPSHOT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F0C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0" name="Shape 8"/>
          <p:cNvSpPr/>
          <p:nvPr/>
        </p:nvSpPr>
        <p:spPr>
          <a:xfrm>
            <a:off x="1538556" y="3379165"/>
            <a:ext cx="1273832" cy="127383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27724" y="3468333"/>
            <a:ext cx="1095496" cy="109549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2143626" y="3506548"/>
            <a:ext cx="63692" cy="49679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111780" y="3952390"/>
            <a:ext cx="127383" cy="12738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4" name="bld1_499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6" name="Shape 24"/>
          <p:cNvSpPr/>
          <p:nvPr/>
        </p:nvSpPr>
        <p:spPr>
          <a:xfrm>
            <a:off x="4057280" y="3553669"/>
            <a:ext cx="1463552" cy="146355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59728" y="3656118"/>
            <a:ext cx="1258655" cy="1258655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4752467" y="3700025"/>
            <a:ext cx="73178" cy="57078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715878" y="4212268"/>
            <a:ext cx="146355" cy="146355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0" name="bld2_501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>
            <a:off x="6765723" y="3379165"/>
            <a:ext cx="1273832" cy="127383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54892" y="3468333"/>
            <a:ext cx="1095496" cy="109549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4" name="Shape 42"/>
          <p:cNvSpPr/>
          <p:nvPr/>
        </p:nvSpPr>
        <p:spPr>
          <a:xfrm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216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432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648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864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296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512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728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9440000">
            <a:off x="7370794" y="3506548"/>
            <a:ext cx="63692" cy="49679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338948" y="3952390"/>
            <a:ext cx="127383" cy="12738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5" name="Shape 5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3_503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58" name="Shape 56"/>
          <p:cNvSpPr/>
          <p:nvPr/>
        </p:nvSpPr>
        <p:spPr>
          <a:xfrm>
            <a:off x="9379307" y="3648529"/>
            <a:ext cx="1273832" cy="1273832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468475" y="3737697"/>
            <a:ext cx="1095496" cy="109549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0" name="Shape 58"/>
          <p:cNvSpPr/>
          <p:nvPr/>
        </p:nvSpPr>
        <p:spPr>
          <a:xfrm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160000"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4320000"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480000"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8640000"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0800000"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2960000"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5120000"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17280000"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9440000">
            <a:off x="9984377" y="3775912"/>
            <a:ext cx="63692" cy="49679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952532" y="4221754"/>
            <a:ext cx="127383" cy="12738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1" name="Shape 69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72" name="bld4_505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350" dirty="0"/>
          </a:p>
        </p:txBody>
      </p:sp>
      <p:sp>
        <p:nvSpPr>
          <p:cNvPr id="74" name="Text 7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40" grpId="0"/>
      <p:bldP spid="56" grpId="0"/>
      <p:bldP spid="7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SNAPSHOT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>
            <a:off x="2016243" y="3374070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2308817" y="3586637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2197064" y="3930579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1835422" y="3930579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1723669" y="3586637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022612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507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9" name="Shape 17"/>
          <p:cNvSpPr/>
          <p:nvPr/>
        </p:nvSpPr>
        <p:spPr>
          <a:xfrm rot="10800000">
            <a:off x="4686607" y="3553669"/>
            <a:ext cx="204897" cy="73177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4400000">
            <a:off x="5003475" y="3736613"/>
            <a:ext cx="204897" cy="73177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8000000">
            <a:off x="5003475" y="4102501"/>
            <a:ext cx="204897" cy="73177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86607" y="4285445"/>
            <a:ext cx="204897" cy="73177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4369739" y="4102501"/>
            <a:ext cx="204897" cy="73177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7200000">
            <a:off x="4369739" y="3736613"/>
            <a:ext cx="204897" cy="73177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613429" y="4109819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509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7307102" y="3594188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2700000">
            <a:off x="7443293" y="3650600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5400000">
            <a:off x="7499706" y="378679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100000">
            <a:off x="7443293" y="3922983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7307102" y="3979395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3500000">
            <a:off x="7170911" y="3922983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6200000">
            <a:off x="7114499" y="378679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8900000">
            <a:off x="7170911" y="3650600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300733" y="3914175"/>
            <a:ext cx="203813" cy="20381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3_511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1" name="Shape 39"/>
          <p:cNvSpPr/>
          <p:nvPr/>
        </p:nvSpPr>
        <p:spPr>
          <a:xfrm>
            <a:off x="9856994" y="3643434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4320000">
            <a:off x="10149568" y="3856001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640000">
            <a:off x="10037815" y="4199943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2960000">
            <a:off x="9676174" y="4199943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7280000">
            <a:off x="9564420" y="3856001"/>
            <a:ext cx="318458" cy="66876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863363" y="4132585"/>
            <a:ext cx="305720" cy="30572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8" name="bld4_513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Orange Blossom</a:t>
            </a:r>
            <a:endParaRPr lang="en-US" sz="1350" dirty="0"/>
          </a:p>
        </p:txBody>
      </p:sp>
      <p:sp>
        <p:nvSpPr>
          <p:cNvPr id="50" name="Text 4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7" grpId="0"/>
      <p:bldP spid="39" grpId="0"/>
      <p:bldP spid="4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SNAPSHOT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538556" y="3379165"/>
            <a:ext cx="1273832" cy="127383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750861" y="3591471"/>
            <a:ext cx="849222" cy="84922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963167" y="3803776"/>
            <a:ext cx="424611" cy="42461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99042" y="3939651"/>
            <a:ext cx="152860" cy="15286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515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57280" y="3553669"/>
            <a:ext cx="1463552" cy="146355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8" name="Shape 16"/>
          <p:cNvSpPr/>
          <p:nvPr/>
        </p:nvSpPr>
        <p:spPr>
          <a:xfrm>
            <a:off x="4423168" y="3919557"/>
            <a:ext cx="731776" cy="73177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701243" y="4197632"/>
            <a:ext cx="175626" cy="175626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2_517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7262518" y="3417380"/>
            <a:ext cx="280243" cy="280243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6921825" y="3557502"/>
            <a:ext cx="480815" cy="712837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041831" y="3557502"/>
            <a:ext cx="360808" cy="86395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7233667" y="3557502"/>
            <a:ext cx="168972" cy="84307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02640" y="3557502"/>
            <a:ext cx="9144" cy="936267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02640" y="3557502"/>
            <a:ext cx="168972" cy="84307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02640" y="3557502"/>
            <a:ext cx="360808" cy="86395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02640" y="3557502"/>
            <a:ext cx="480815" cy="712837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3_519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9621335" y="3712221"/>
            <a:ext cx="789776" cy="1146449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010737" y="3903296"/>
            <a:ext cx="914" cy="70060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521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21" grpId="0"/>
      <p:bldP spid="32" grpId="0"/>
      <p:bldP spid="3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SNAPSHOT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3E4C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2022612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40000">
            <a:off x="2169986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32166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2078024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23882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2169740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2215598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61456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523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1" name="Shape 19"/>
          <p:cNvSpPr/>
          <p:nvPr/>
        </p:nvSpPr>
        <p:spPr>
          <a:xfrm>
            <a:off x="4057280" y="3553669"/>
            <a:ext cx="1463552" cy="146355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262177" y="3758567"/>
            <a:ext cx="1053757" cy="105375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54887" y="4051277"/>
            <a:ext cx="468337" cy="46833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5" name="bld2_525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Caramel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7" name="Shape 25"/>
          <p:cNvSpPr/>
          <p:nvPr/>
        </p:nvSpPr>
        <p:spPr>
          <a:xfrm>
            <a:off x="6765723" y="3379165"/>
            <a:ext cx="1273832" cy="1273832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944060" y="3557502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198826" y="3812268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1" name="bld3_527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Chocolate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3" name="Shape 31"/>
          <p:cNvSpPr/>
          <p:nvPr/>
        </p:nvSpPr>
        <p:spPr>
          <a:xfrm>
            <a:off x="9379307" y="3648529"/>
            <a:ext cx="1273832" cy="1273832"/>
          </a:xfrm>
          <a:prstGeom prst="ellipse">
            <a:avLst/>
          </a:prstGeom>
          <a:solidFill>
            <a:srgbClr val="5C3A1E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57644" y="3826866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812410" y="4081632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9832400" y="3489300"/>
            <a:ext cx="914" cy="28661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10737" y="3489300"/>
            <a:ext cx="914" cy="28661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189073" y="3489300"/>
            <a:ext cx="914" cy="286612"/>
          </a:xfrm>
          <a:prstGeom prst="line">
            <a:avLst/>
          </a:prstGeom>
          <a:noFill/>
          <a:ln w="15875">
            <a:solidFill>
              <a:srgbClr val="CFC5AE">
                <a:alpha val="7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0" name="bld4_529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Coffee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25" grpId="0"/>
      <p:bldP spid="31" grpId="0"/>
      <p:bldP spid="4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 — how long a material lasts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530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9" name="bld1_531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0" name="bld1_532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</a:t>
            </a:r>
            <a:endParaRPr lang="en-US" sz="1200" dirty="0"/>
          </a:p>
        </p:txBody>
      </p:sp>
      <p:sp>
        <p:nvSpPr>
          <p:cNvPr id="11" name="bld1_533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greens — gone in under 2 hours</a:t>
            </a:r>
            <a:endParaRPr lang="en-US" sz="1050" dirty="0"/>
          </a:p>
        </p:txBody>
      </p:sp>
      <p:sp>
        <p:nvSpPr>
          <p:cNvPr id="12" name="bld2_534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3" name="bld2_535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4" name="bld2_536"/>
          <p:cNvSpPr txBox="1"/>
          <p:nvPr/>
        </p:nvSpPr>
        <p:spPr>
          <a:xfrm>
            <a:off x="5318608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Medium-lived</a:t>
            </a:r>
            <a:endParaRPr lang="en-US" sz="1200" dirty="0"/>
          </a:p>
        </p:txBody>
      </p:sp>
      <p:sp>
        <p:nvSpPr>
          <p:cNvPr id="15" name="bld2_537"/>
          <p:cNvSpPr txBox="1"/>
          <p:nvPr/>
        </p:nvSpPr>
        <p:spPr>
          <a:xfrm>
            <a:off x="5318608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florals, spices — present for several hours</a:t>
            </a:r>
            <a:endParaRPr lang="en-US" sz="1050" dirty="0"/>
          </a:p>
        </p:txBody>
      </p:sp>
      <p:sp>
        <p:nvSpPr>
          <p:cNvPr id="16" name="bld3_538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539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540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Long-lasting</a:t>
            </a:r>
            <a:endParaRPr lang="en-US" sz="1200" dirty="0"/>
          </a:p>
        </p:txBody>
      </p:sp>
      <p:sp>
        <p:nvSpPr>
          <p:cNvPr id="19" name="bld3_541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resins, musks — detectable a day or more later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is a spectrum, not three fixed boxes — most materials sit between these markers.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BEHAVIOUR, PRECISELY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is not the same as tenacity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17576" y="4800914"/>
            <a:ext cx="1415778" cy="1415778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0614" y="5353952"/>
            <a:ext cx="309701" cy="309701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542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54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544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up close</a:t>
            </a:r>
            <a:endParaRPr lang="en-US" sz="1450" dirty="0"/>
          </a:p>
        </p:txBody>
      </p:sp>
      <p:sp>
        <p:nvSpPr>
          <p:cNvPr id="17" name="bld1_545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only right at the skin or strip — low projection.</a:t>
            </a:r>
            <a:endParaRPr lang="en-US" sz="1080" dirty="0"/>
          </a:p>
        </p:txBody>
      </p:sp>
      <p:sp>
        <p:nvSpPr>
          <p:cNvPr id="18" name="bld2_546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547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548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</a:t>
            </a:r>
            <a:endParaRPr lang="en-US" sz="1450" dirty="0"/>
          </a:p>
        </p:txBody>
      </p:sp>
      <p:sp>
        <p:nvSpPr>
          <p:cNvPr id="21" name="bld2_549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 material's smell carries into the surrounding space.</a:t>
            </a:r>
            <a:endParaRPr lang="en-US" sz="1080" dirty="0"/>
          </a:p>
        </p:txBody>
      </p:sp>
      <p:sp>
        <p:nvSpPr>
          <p:cNvPr id="22" name="bld3_550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551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552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5" name="bld3_553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and quickly a smell spreads and fills a room.</a:t>
            </a:r>
            <a:endParaRPr lang="en-US" sz="1080" dirty="0"/>
          </a:p>
        </p:txBody>
      </p:sp>
      <p:sp>
        <p:nvSpPr>
          <p:cNvPr id="26" name="bld4_554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4_555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4_556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9" name="bld4_557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material remains detectable at all, regardless of strength.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THE PUZZLE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weight and volatility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diagram tells you a starting hypothesis — your nose confirms it.</a:t>
            </a:r>
            <a:endParaRPr lang="en-US" sz="1050" dirty="0"/>
          </a:p>
        </p:txBody>
      </p:sp>
      <p:sp>
        <p:nvSpPr>
          <p:cNvPr id="22" name="bld1_55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55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Lighter molecules tend to evaporate faster</a:t>
            </a:r>
            <a:endParaRPr lang="en-US" sz="1650" dirty="0"/>
          </a:p>
        </p:txBody>
      </p:sp>
      <p:sp>
        <p:nvSpPr>
          <p:cNvPr id="24" name="bld1_56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light molecules generally move into the air more readily — this is part of why citrus notes read first.</a:t>
            </a:r>
            <a:endParaRPr lang="en-US" sz="1250" dirty="0"/>
          </a:p>
        </p:txBody>
      </p:sp>
      <p:sp>
        <p:nvSpPr>
          <p:cNvPr id="25" name="bld2_56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6" name="bld2_56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it's not the only factor</a:t>
            </a:r>
            <a:endParaRPr lang="en-US" sz="1650" dirty="0"/>
          </a:p>
        </p:txBody>
      </p:sp>
      <p:sp>
        <p:nvSpPr>
          <p:cNvPr id="27" name="bld2_56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Polarity, vapour pressure, and how a material binds to skin or fabric all matter just as much.</a:t>
            </a:r>
            <a:endParaRPr lang="en-US" sz="1250" dirty="0"/>
          </a:p>
        </p:txBody>
      </p:sp>
      <p:sp>
        <p:nvSpPr>
          <p:cNvPr id="28" name="bld3_56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bld3_56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as a rough guide, not a rule</a:t>
            </a:r>
            <a:endParaRPr lang="en-US" sz="1650" dirty="0"/>
          </a:p>
        </p:txBody>
      </p:sp>
      <p:sp>
        <p:nvSpPr>
          <p:cNvPr id="30" name="bld3_56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heavier molecules are surprisingly diffusive; some light ones are surprisingly tenacious. Always confirm by smelling.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EXTRACTION METHODS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 naturals are made the same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5039091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492064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567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6" name="Shape 14"/>
          <p:cNvSpPr/>
          <p:nvPr/>
        </p:nvSpPr>
        <p:spPr>
          <a:xfrm rot="8100000">
            <a:off x="1413022" y="2611526"/>
            <a:ext cx="285293" cy="2852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8" name="bld1_569"/>
          <p:cNvSpPr txBox="1"/>
          <p:nvPr/>
        </p:nvSpPr>
        <p:spPr>
          <a:xfrm>
            <a:off x="731520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oils</a:t>
            </a:r>
            <a:endParaRPr lang="en-US" sz="1450" dirty="0"/>
          </a:p>
        </p:txBody>
      </p:sp>
      <p:sp>
        <p:nvSpPr>
          <p:cNvPr id="19" name="bld1_570"/>
          <p:cNvSpPr txBox="1"/>
          <p:nvPr/>
        </p:nvSpPr>
        <p:spPr>
          <a:xfrm>
            <a:off x="731520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Steam-distilled or cold-expressed — direct, classic extraction.</a:t>
            </a:r>
            <a:endParaRPr lang="en-US" sz="1080" dirty="0"/>
          </a:p>
        </p:txBody>
      </p:sp>
      <p:sp>
        <p:nvSpPr>
          <p:cNvPr id="20" name="bld2_571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754435" y="246659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4320000">
            <a:off x="3885487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640000">
            <a:off x="383543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2960000">
            <a:off x="367344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7280000">
            <a:off x="3623383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57288" y="268570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9" name="bld2_573"/>
          <p:cNvSpPr txBox="1"/>
          <p:nvPr/>
        </p:nvSpPr>
        <p:spPr>
          <a:xfrm>
            <a:off x="3001609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Absolutes</a:t>
            </a:r>
            <a:endParaRPr lang="en-US" sz="1450" dirty="0"/>
          </a:p>
        </p:txBody>
      </p:sp>
      <p:sp>
        <p:nvSpPr>
          <p:cNvPr id="30" name="bld2_574"/>
          <p:cNvSpPr txBox="1"/>
          <p:nvPr/>
        </p:nvSpPr>
        <p:spPr>
          <a:xfrm>
            <a:off x="3001609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Solvent-extracted — richer, truer to the living flower, more expensive.</a:t>
            </a:r>
            <a:endParaRPr lang="en-US" sz="1080" dirty="0"/>
          </a:p>
        </p:txBody>
      </p:sp>
      <p:sp>
        <p:nvSpPr>
          <p:cNvPr id="31" name="bld3_575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7331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87331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7331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8" name="bld3_577"/>
          <p:cNvSpPr txBox="1"/>
          <p:nvPr/>
        </p:nvSpPr>
        <p:spPr>
          <a:xfrm>
            <a:off x="5271699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CO2 extracts</a:t>
            </a:r>
            <a:endParaRPr lang="en-US" sz="1450" dirty="0"/>
          </a:p>
        </p:txBody>
      </p:sp>
      <p:sp>
        <p:nvSpPr>
          <p:cNvPr id="39" name="bld3_578"/>
          <p:cNvSpPr txBox="1"/>
          <p:nvPr/>
        </p:nvSpPr>
        <p:spPr>
          <a:xfrm>
            <a:off x="5271699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under pressure — very clean, often closest to the raw material.</a:t>
            </a:r>
            <a:endParaRPr lang="en-US" sz="1080" dirty="0"/>
          </a:p>
        </p:txBody>
      </p:sp>
      <p:sp>
        <p:nvSpPr>
          <p:cNvPr id="40" name="bld4_579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2" name="Shape 40"/>
          <p:cNvSpPr/>
          <p:nvPr/>
        </p:nvSpPr>
        <p:spPr>
          <a:xfrm rot="9000000">
            <a:off x="8223291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6000000">
            <a:off x="8149115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1400000">
            <a:off x="8383055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6" name="bld4_581"/>
          <p:cNvSpPr txBox="1"/>
          <p:nvPr/>
        </p:nvSpPr>
        <p:spPr>
          <a:xfrm>
            <a:off x="7541788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Resinoids</a:t>
            </a:r>
            <a:endParaRPr lang="en-US" sz="1450" dirty="0"/>
          </a:p>
        </p:txBody>
      </p:sp>
      <p:sp>
        <p:nvSpPr>
          <p:cNvPr id="47" name="bld4_582"/>
          <p:cNvSpPr txBox="1"/>
          <p:nvPr/>
        </p:nvSpPr>
        <p:spPr>
          <a:xfrm>
            <a:off x="7541788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gums and resins — deep, warm, amber-adjacent.</a:t>
            </a:r>
            <a:endParaRPr lang="en-US" sz="1080" dirty="0"/>
          </a:p>
        </p:txBody>
      </p:sp>
      <p:sp>
        <p:nvSpPr>
          <p:cNvPr id="48" name="bld5_583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0" name="Shape 48"/>
          <p:cNvSpPr/>
          <p:nvPr/>
        </p:nvSpPr>
        <p:spPr>
          <a:xfrm>
            <a:off x="10606630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51" name="Shape 49"/>
          <p:cNvSpPr/>
          <p:nvPr/>
        </p:nvSpPr>
        <p:spPr>
          <a:xfrm>
            <a:off x="10610464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544733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81309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5" name="bld5_585"/>
          <p:cNvSpPr txBox="1"/>
          <p:nvPr/>
        </p:nvSpPr>
        <p:spPr>
          <a:xfrm>
            <a:off x="9811878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Tinctures</a:t>
            </a:r>
            <a:endParaRPr lang="en-US" sz="1450" dirty="0"/>
          </a:p>
        </p:txBody>
      </p:sp>
      <p:sp>
        <p:nvSpPr>
          <p:cNvPr id="56" name="bld5_586"/>
          <p:cNvSpPr txBox="1"/>
          <p:nvPr/>
        </p:nvSpPr>
        <p:spPr>
          <a:xfrm>
            <a:off x="9811878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steeped directly in alcohol — simple, traditional, variable.</a:t>
            </a:r>
            <a:endParaRPr lang="en-US" sz="1080" dirty="0"/>
          </a:p>
        </p:txBody>
      </p:sp>
      <p:sp>
        <p:nvSpPr>
          <p:cNvPr id="58" name="Text 5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8" grpId="0"/>
      <p:bldP spid="19" grpId="0"/>
      <p:bldP spid="20" grpId="0"/>
      <p:bldP spid="29" grpId="0"/>
      <p:bldP spid="30" grpId="0"/>
      <p:bldP spid="31" grpId="0"/>
      <p:bldP spid="38" grpId="0"/>
      <p:bldP spid="39" grpId="0"/>
      <p:bldP spid="40" grpId="0"/>
      <p:bldP spid="46" grpId="0"/>
      <p:bldP spid="47" grpId="0"/>
      <p:bldP spid="48" grpId="0"/>
      <p:bldP spid="55" grpId="0"/>
      <p:bldP spid="5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naturals every perfumer learns first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11785" y="1862394"/>
            <a:ext cx="1304413" cy="130441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726073" y="1907896"/>
            <a:ext cx="75838" cy="591536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88154" y="2438762"/>
            <a:ext cx="151676" cy="151676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588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800" dirty="0"/>
          </a:p>
        </p:txBody>
      </p:sp>
      <p:sp>
        <p:nvSpPr>
          <p:cNvPr id="23" name="bld1_589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590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sparkling citrus</a:t>
            </a:r>
            <a:endParaRPr lang="en-US" sz="1100" dirty="0"/>
          </a:p>
        </p:txBody>
      </p:sp>
      <p:sp>
        <p:nvSpPr>
          <p:cNvPr id="25" name="bld1_591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592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opening lift</a:t>
            </a:r>
            <a:endParaRPr lang="en-US" sz="1100" dirty="0"/>
          </a:p>
        </p:txBody>
      </p:sp>
      <p:sp>
        <p:nvSpPr>
          <p:cNvPr id="27" name="bld1_593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594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top note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4005101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4320000">
            <a:off x="4353470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4220405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2960000">
            <a:off x="3789797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7280000">
            <a:off x="3656731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7" name="bld2_596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800" dirty="0"/>
          </a:p>
        </p:txBody>
      </p:sp>
      <p:sp>
        <p:nvSpPr>
          <p:cNvPr id="38" name="bld2_597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9" name="bld2_598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</a:t>
            </a:r>
            <a:endParaRPr lang="en-US" sz="1100" dirty="0"/>
          </a:p>
        </p:txBody>
      </p:sp>
      <p:sp>
        <p:nvSpPr>
          <p:cNvPr id="40" name="bld2_599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1" name="bld2_600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and romance</a:t>
            </a:r>
            <a:endParaRPr lang="en-US" sz="1100" dirty="0"/>
          </a:p>
        </p:txBody>
      </p:sp>
      <p:sp>
        <p:nvSpPr>
          <p:cNvPr id="42" name="bld2_601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3" name="bld2_602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Archetypal floral heart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5" name="Shape 43"/>
          <p:cNvSpPr/>
          <p:nvPr/>
        </p:nvSpPr>
        <p:spPr>
          <a:xfrm>
            <a:off x="6458556" y="1801723"/>
            <a:ext cx="333687" cy="333687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flipV="1">
            <a:off x="6052891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195783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424203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25400" y="1968567"/>
            <a:ext cx="9144" cy="1114818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625400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25400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625400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4" name="bld3_604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800" dirty="0"/>
          </a:p>
        </p:txBody>
      </p:sp>
      <p:sp>
        <p:nvSpPr>
          <p:cNvPr id="55" name="bld3_605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6" name="bld3_606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smoky root</a:t>
            </a:r>
            <a:endParaRPr lang="en-US" sz="1100" dirty="0"/>
          </a:p>
        </p:txBody>
      </p:sp>
      <p:sp>
        <p:nvSpPr>
          <p:cNvPr id="57" name="bld3_607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8" name="bld3_608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Grounding, texture</a:t>
            </a:r>
            <a:endParaRPr lang="en-US" sz="1100" dirty="0"/>
          </a:p>
        </p:txBody>
      </p:sp>
      <p:sp>
        <p:nvSpPr>
          <p:cNvPr id="59" name="bld3_609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0" name="bld3_610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woody base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2" name="Shape 60"/>
          <p:cNvSpPr/>
          <p:nvPr/>
        </p:nvSpPr>
        <p:spPr>
          <a:xfrm rot="840000">
            <a:off x="8874092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840000">
            <a:off x="9050617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885468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5" name="Shape 63"/>
          <p:cNvSpPr/>
          <p:nvPr/>
        </p:nvSpPr>
        <p:spPr>
          <a:xfrm>
            <a:off x="8940071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6" name="Shape 64"/>
          <p:cNvSpPr/>
          <p:nvPr/>
        </p:nvSpPr>
        <p:spPr>
          <a:xfrm>
            <a:off x="8994675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7" name="Shape 65"/>
          <p:cNvSpPr/>
          <p:nvPr/>
        </p:nvSpPr>
        <p:spPr>
          <a:xfrm>
            <a:off x="9049278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8" name="Shape 66"/>
          <p:cNvSpPr/>
          <p:nvPr/>
        </p:nvSpPr>
        <p:spPr>
          <a:xfrm>
            <a:off x="9103881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9" name="Shape 67"/>
          <p:cNvSpPr/>
          <p:nvPr/>
        </p:nvSpPr>
        <p:spPr>
          <a:xfrm>
            <a:off x="9158485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0" name="Shape 68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71" name="bld4_612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800" dirty="0"/>
          </a:p>
        </p:txBody>
      </p:sp>
      <p:sp>
        <p:nvSpPr>
          <p:cNvPr id="72" name="bld4_613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73" name="bld4_614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gourmand</a:t>
            </a:r>
            <a:endParaRPr lang="en-US" sz="1100" dirty="0"/>
          </a:p>
        </p:txBody>
      </p:sp>
      <p:sp>
        <p:nvSpPr>
          <p:cNvPr id="74" name="bld4_615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75" name="bld4_616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 and roundness</a:t>
            </a:r>
            <a:endParaRPr lang="en-US" sz="1100" dirty="0"/>
          </a:p>
        </p:txBody>
      </p:sp>
      <p:sp>
        <p:nvSpPr>
          <p:cNvPr id="76" name="bld4_617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7" name="bld4_618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versatile base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71" grpId="0"/>
      <p:bldP spid="72" grpId="0"/>
      <p:bldP spid="73" grpId="0"/>
      <p:bldP spid="74" grpId="0"/>
      <p:bldP spid="75" grpId="0"/>
      <p:bldP spid="76" grpId="0"/>
      <p:bldP spid="7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foundational naturals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 rot="18900000">
            <a:off x="1293797" y="1832058"/>
            <a:ext cx="940391" cy="1365083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758506" y="2059572"/>
            <a:ext cx="914" cy="83421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11" name="bld1_620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800" dirty="0"/>
          </a:p>
        </p:txBody>
      </p:sp>
      <p:sp>
        <p:nvSpPr>
          <p:cNvPr id="12" name="bld1_621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3" name="bld1_622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earthy, slightly sweet</a:t>
            </a:r>
            <a:endParaRPr lang="en-US" sz="1100" dirty="0"/>
          </a:p>
        </p:txBody>
      </p:sp>
      <p:sp>
        <p:nvSpPr>
          <p:cNvPr id="14" name="bld1_623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5" name="bld1_624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and grip</a:t>
            </a:r>
            <a:endParaRPr lang="en-US" sz="1100" dirty="0"/>
          </a:p>
        </p:txBody>
      </p:sp>
      <p:sp>
        <p:nvSpPr>
          <p:cNvPr id="16" name="bld1_625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7" name="bld1_626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woody-amber staple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9" name="Shape 17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628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800" dirty="0"/>
          </a:p>
        </p:txBody>
      </p:sp>
      <p:sp>
        <p:nvSpPr>
          <p:cNvPr id="28" name="bld2_629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9" name="bld2_630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intensely floral</a:t>
            </a:r>
            <a:endParaRPr lang="en-US" sz="1100" dirty="0"/>
          </a:p>
        </p:txBody>
      </p:sp>
      <p:sp>
        <p:nvSpPr>
          <p:cNvPr id="30" name="bld2_631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1" name="bld2_632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Radiance, sensuality</a:t>
            </a:r>
            <a:endParaRPr lang="en-US" sz="1100" dirty="0"/>
          </a:p>
        </p:txBody>
      </p:sp>
      <p:sp>
        <p:nvSpPr>
          <p:cNvPr id="32" name="bld2_633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3" name="bld2_634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Heart-note powerhouse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5" name="Shape 33"/>
          <p:cNvSpPr/>
          <p:nvPr/>
        </p:nvSpPr>
        <p:spPr>
          <a:xfrm rot="9000000">
            <a:off x="6246210" y="2165745"/>
            <a:ext cx="879720" cy="87972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6000000">
            <a:off x="6049031" y="2074740"/>
            <a:ext cx="546033" cy="546033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1400000">
            <a:off x="6670902" y="1983734"/>
            <a:ext cx="455028" cy="45502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9" name="bld3_636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800" dirty="0"/>
          </a:p>
        </p:txBody>
      </p:sp>
      <p:sp>
        <p:nvSpPr>
          <p:cNvPr id="40" name="bld3_637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1" name="bld3_638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warm</a:t>
            </a:r>
            <a:endParaRPr lang="en-US" sz="1100" dirty="0"/>
          </a:p>
        </p:txBody>
      </p:sp>
      <p:sp>
        <p:nvSpPr>
          <p:cNvPr id="42" name="bld3_639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3" name="bld3_640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fixation</a:t>
            </a:r>
            <a:endParaRPr lang="en-US" sz="1100" dirty="0"/>
          </a:p>
        </p:txBody>
      </p:sp>
      <p:sp>
        <p:nvSpPr>
          <p:cNvPr id="44" name="bld3_641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5" name="bld3_642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of amber accords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7" name="Shape 45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550517" y="2009014"/>
            <a:ext cx="1011173" cy="101117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9" name="Shape 47"/>
          <p:cNvSpPr/>
          <p:nvPr/>
        </p:nvSpPr>
        <p:spPr>
          <a:xfrm>
            <a:off x="8803310" y="2261807"/>
            <a:ext cx="505586" cy="505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1" name="Shape 4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2" name="bld4_644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800" dirty="0"/>
          </a:p>
        </p:txBody>
      </p:sp>
      <p:sp>
        <p:nvSpPr>
          <p:cNvPr id="53" name="bld4_645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4" name="bld4_646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pencil-shaving woodiness</a:t>
            </a:r>
            <a:endParaRPr lang="en-US" sz="1100" dirty="0"/>
          </a:p>
        </p:txBody>
      </p:sp>
      <p:sp>
        <p:nvSpPr>
          <p:cNvPr id="55" name="bld4_647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6" name="bld4_648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Softness, structure</a:t>
            </a:r>
            <a:endParaRPr lang="en-US" sz="1100" dirty="0"/>
          </a:p>
        </p:txBody>
      </p:sp>
      <p:sp>
        <p:nvSpPr>
          <p:cNvPr id="57" name="bld4_649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8" name="bld4_650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 structural wood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52" grpId="0"/>
      <p:bldP spid="53" grpId="0"/>
      <p:bldP spid="54" grpId="0"/>
      <p:bldP spid="55" grpId="0"/>
      <p:bldP spid="56" grpId="0"/>
      <p:bldP spid="57" grpId="0"/>
      <p:bldP spid="5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TRUTH ABOUT NATURALS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two harvests smell identical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656579" y="2540562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26813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03454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27861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04501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669892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3015" y="2540562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4320000">
            <a:off x="637457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614098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538505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515145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776328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Shape 18"/>
          <p:cNvSpPr/>
          <p:nvPr/>
        </p:nvSpPr>
        <p:spPr>
          <a:xfrm>
            <a:off x="8869451" y="2540562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948101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924741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849148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825789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882765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Climate, soil, harvest timing and extraction batch all shift the smell of a natural — plan for variation, don't fight it.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bring soul and complexity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they demand respect for their variability.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03.2 · RAW MATERIALS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—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Modern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 is built on synthetic molecules. This module will change how you see them, for good.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 runs on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8258" y="1199550"/>
            <a:ext cx="4458900" cy="44589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2959642"/>
            <a:ext cx="1056055" cy="469358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3763" y="2959642"/>
            <a:ext cx="1056055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603763" y="3546339"/>
            <a:ext cx="1056055" cy="93871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43671" y="4485055"/>
            <a:ext cx="176009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843671" y="3429000"/>
            <a:ext cx="704037" cy="105605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6973" y="2842303"/>
            <a:ext cx="1290734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59964" y="3241257"/>
            <a:ext cx="375486" cy="375486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68822" y="282470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24878" y="3411399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68822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08730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2033" y="270736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molecule, isolated and perfected — the synthetic advantage.</a:t>
            </a:r>
            <a:endParaRPr lang="en-US" sz="1050" dirty="0"/>
          </a:p>
        </p:txBody>
      </p:sp>
      <p:sp>
        <p:nvSpPr>
          <p:cNvPr id="22" name="bld1_65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bld1_65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Consistency, batch after batch</a:t>
            </a:r>
            <a:endParaRPr lang="en-US" sz="1650" dirty="0"/>
          </a:p>
        </p:txBody>
      </p:sp>
      <p:sp>
        <p:nvSpPr>
          <p:cNvPr id="24" name="bld1_65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molecule smells identical this year and next — naturals simply can't promise that.</a:t>
            </a:r>
            <a:endParaRPr lang="en-US" sz="1250" dirty="0"/>
          </a:p>
        </p:txBody>
      </p:sp>
      <p:sp>
        <p:nvSpPr>
          <p:cNvPr id="25" name="bld2_65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6" name="bld2_65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that don't exist in nature</a:t>
            </a:r>
            <a:endParaRPr lang="en-US" sz="1650" dirty="0"/>
          </a:p>
        </p:txBody>
      </p:sp>
      <p:sp>
        <p:nvSpPr>
          <p:cNvPr id="27" name="bld2_65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radiant, transparent-woody — entire categories of smell with no natural equivalent.</a:t>
            </a:r>
            <a:endParaRPr lang="en-US" sz="1250" dirty="0"/>
          </a:p>
        </p:txBody>
      </p:sp>
      <p:sp>
        <p:nvSpPr>
          <p:cNvPr id="28" name="bld3_65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9" name="bld3_65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sustainability</a:t>
            </a:r>
            <a:endParaRPr lang="en-US" sz="1650" dirty="0"/>
          </a:p>
        </p:txBody>
      </p:sp>
      <p:sp>
        <p:nvSpPr>
          <p:cNvPr id="30" name="bld3_65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pressure on endangered species and rare harvests — sandalwood and musk deer among them.</a:t>
            </a:r>
            <a:endParaRPr lang="en-US" sz="1250" dirty="0"/>
          </a:p>
        </p:txBody>
      </p:sp>
      <p:sp>
        <p:nvSpPr>
          <p:cNvPr id="31" name="bld4_66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2" name="bld4_66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Affordability at scale</a:t>
            </a:r>
            <a:endParaRPr lang="en-US" sz="1650" dirty="0"/>
          </a:p>
        </p:txBody>
      </p:sp>
      <p:sp>
        <p:nvSpPr>
          <p:cNvPr id="33" name="bld4_66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beautiful perfumery accessible far beyond luxury-only pricing.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major synthetic families</a:t>
            </a:r>
            <a:endParaRPr lang="en-US" sz="3200" dirty="0"/>
          </a:p>
        </p:txBody>
      </p:sp>
      <p:sp>
        <p:nvSpPr>
          <p:cNvPr id="7" name="bld1_663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89909" y="190963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1293199" y="209851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9909" y="190963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665"/>
          <p:cNvSpPr txBox="1"/>
          <p:nvPr/>
        </p:nvSpPr>
        <p:spPr>
          <a:xfrm>
            <a:off x="731520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12" name="bld1_666"/>
          <p:cNvSpPr txBox="1"/>
          <p:nvPr/>
        </p:nvSpPr>
        <p:spPr>
          <a:xfrm>
            <a:off x="731520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radiance and fixation</a:t>
            </a:r>
            <a:endParaRPr lang="en-US" sz="1080" dirty="0"/>
          </a:p>
        </p:txBody>
      </p:sp>
      <p:sp>
        <p:nvSpPr>
          <p:cNvPr id="13" name="bld2_667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59998" y="190963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3683112" y="214415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3608936" y="210992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3842876" y="207568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459998" y="190963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2_669"/>
          <p:cNvSpPr txBox="1"/>
          <p:nvPr/>
        </p:nvSpPr>
        <p:spPr>
          <a:xfrm>
            <a:off x="3001609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20" name="bld2_670"/>
          <p:cNvSpPr txBox="1"/>
          <p:nvPr/>
        </p:nvSpPr>
        <p:spPr>
          <a:xfrm>
            <a:off x="3001609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radiant, modern amber effect</a:t>
            </a:r>
            <a:endParaRPr lang="en-US" sz="1080" dirty="0"/>
          </a:p>
        </p:txBody>
      </p:sp>
      <p:sp>
        <p:nvSpPr>
          <p:cNvPr id="21" name="bld3_671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810555" y="1990100"/>
            <a:ext cx="570586" cy="570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905652" y="2085198"/>
            <a:ext cx="380390" cy="38039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00750" y="2180295"/>
            <a:ext cx="190195" cy="190195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61612" y="224115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3_673"/>
          <p:cNvSpPr txBox="1"/>
          <p:nvPr/>
        </p:nvSpPr>
        <p:spPr>
          <a:xfrm>
            <a:off x="5271699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29" name="bld3_674"/>
          <p:cNvSpPr txBox="1"/>
          <p:nvPr/>
        </p:nvSpPr>
        <p:spPr>
          <a:xfrm>
            <a:off x="5271699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voluminous woodiness</a:t>
            </a:r>
            <a:endParaRPr lang="en-US" sz="1080" dirty="0"/>
          </a:p>
        </p:txBody>
      </p:sp>
      <p:sp>
        <p:nvSpPr>
          <p:cNvPr id="30" name="bld4_675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00177" y="190963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294614" y="198781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8425666" y="208303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8375609" y="223709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8213619" y="223709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8163562" y="208303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297467" y="220692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8000177" y="190963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677"/>
          <p:cNvSpPr txBox="1"/>
          <p:nvPr/>
        </p:nvSpPr>
        <p:spPr>
          <a:xfrm>
            <a:off x="7541788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40" name="bld4_678"/>
          <p:cNvSpPr txBox="1"/>
          <p:nvPr/>
        </p:nvSpPr>
        <p:spPr>
          <a:xfrm>
            <a:off x="7541788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Isolated, hyper-true floral facets</a:t>
            </a:r>
            <a:endParaRPr lang="en-US" sz="1080" dirty="0"/>
          </a:p>
        </p:txBody>
      </p:sp>
      <p:sp>
        <p:nvSpPr>
          <p:cNvPr id="41" name="bld5_679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270266" y="1909633"/>
            <a:ext cx="731520" cy="7315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50734" y="1990100"/>
            <a:ext cx="570586" cy="570586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390675" y="2030041"/>
            <a:ext cx="490704" cy="49070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07497" y="2246864"/>
            <a:ext cx="57059" cy="5705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270266" y="1909633"/>
            <a:ext cx="731520" cy="7315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681"/>
          <p:cNvSpPr txBox="1"/>
          <p:nvPr/>
        </p:nvSpPr>
        <p:spPr>
          <a:xfrm>
            <a:off x="9811878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materials</a:t>
            </a:r>
            <a:endParaRPr lang="en-US" sz="1450" dirty="0"/>
          </a:p>
        </p:txBody>
      </p:sp>
      <p:sp>
        <p:nvSpPr>
          <p:cNvPr id="58" name="bld5_682"/>
          <p:cNvSpPr txBox="1"/>
          <p:nvPr/>
        </p:nvSpPr>
        <p:spPr>
          <a:xfrm>
            <a:off x="9811878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longer-lasting citrus effects</a:t>
            </a:r>
            <a:endParaRPr lang="en-US" sz="1080" dirty="0"/>
          </a:p>
        </p:txBody>
      </p:sp>
      <p:sp>
        <p:nvSpPr>
          <p:cNvPr id="59" name="bld6_683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189909" y="4268785"/>
            <a:ext cx="731520" cy="7315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1321729" y="4423428"/>
            <a:ext cx="467880" cy="467880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550182" y="4412017"/>
            <a:ext cx="914" cy="7988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1573957" y="4389193"/>
            <a:ext cx="108411" cy="7417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189909" y="4268785"/>
            <a:ext cx="731520" cy="7315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685"/>
          <p:cNvSpPr txBox="1"/>
          <p:nvPr/>
        </p:nvSpPr>
        <p:spPr>
          <a:xfrm>
            <a:off x="731520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materials</a:t>
            </a:r>
            <a:endParaRPr lang="en-US" sz="1450" dirty="0"/>
          </a:p>
        </p:txBody>
      </p:sp>
      <p:sp>
        <p:nvSpPr>
          <p:cNvPr id="66" name="bld6_686"/>
          <p:cNvSpPr txBox="1"/>
          <p:nvPr/>
        </p:nvSpPr>
        <p:spPr>
          <a:xfrm>
            <a:off x="731520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vivid fruit facets</a:t>
            </a:r>
            <a:endParaRPr lang="en-US" sz="1080" dirty="0"/>
          </a:p>
        </p:txBody>
      </p:sp>
      <p:sp>
        <p:nvSpPr>
          <p:cNvPr id="67" name="bld7_687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459998" y="4268785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9" name="Shape 67"/>
          <p:cNvSpPr/>
          <p:nvPr/>
        </p:nvSpPr>
        <p:spPr>
          <a:xfrm rot="15300000">
            <a:off x="3632583" y="452353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3050000">
            <a:off x="3686079" y="4603594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0800000">
            <a:off x="3777258" y="4634545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8550000">
            <a:off x="3868438" y="4603594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6300000">
            <a:off x="3921934" y="452353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3459998" y="4268785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5" name="bld7_689"/>
          <p:cNvSpPr txBox="1"/>
          <p:nvPr/>
        </p:nvSpPr>
        <p:spPr>
          <a:xfrm>
            <a:off x="3001609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materials</a:t>
            </a:r>
            <a:endParaRPr lang="en-US" sz="1450" dirty="0"/>
          </a:p>
        </p:txBody>
      </p:sp>
      <p:sp>
        <p:nvSpPr>
          <p:cNvPr id="76" name="bld7_690"/>
          <p:cNvSpPr txBox="1"/>
          <p:nvPr/>
        </p:nvSpPr>
        <p:spPr>
          <a:xfrm>
            <a:off x="3001609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Crisp, leafy, sap-like freshness</a:t>
            </a:r>
            <a:endParaRPr lang="en-US" sz="1080" dirty="0"/>
          </a:p>
        </p:txBody>
      </p:sp>
      <p:sp>
        <p:nvSpPr>
          <p:cNvPr id="77" name="bld8_691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3378" y="4457663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81" name="bld8_693"/>
          <p:cNvSpPr txBox="1"/>
          <p:nvPr/>
        </p:nvSpPr>
        <p:spPr>
          <a:xfrm>
            <a:off x="5271699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450" dirty="0"/>
          </a:p>
        </p:txBody>
      </p:sp>
      <p:sp>
        <p:nvSpPr>
          <p:cNvPr id="82" name="bld8_694"/>
          <p:cNvSpPr txBox="1"/>
          <p:nvPr/>
        </p:nvSpPr>
        <p:spPr>
          <a:xfrm>
            <a:off x="5271699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 lift</a:t>
            </a:r>
            <a:endParaRPr lang="en-US" sz="1080" dirty="0"/>
          </a:p>
        </p:txBody>
      </p:sp>
      <p:sp>
        <p:nvSpPr>
          <p:cNvPr id="83" name="bld9_695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4" name="Shape 82"/>
          <p:cNvSpPr/>
          <p:nvPr/>
        </p:nvSpPr>
        <p:spPr>
          <a:xfrm>
            <a:off x="8000177" y="4268785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85" name="Shape 83"/>
          <p:cNvSpPr/>
          <p:nvPr/>
        </p:nvSpPr>
        <p:spPr>
          <a:xfrm>
            <a:off x="8080644" y="4349252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8143409" y="4631692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8143409" y="4560369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8143409" y="4480487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8000177" y="4268785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90" name="bld9_697"/>
          <p:cNvSpPr txBox="1"/>
          <p:nvPr/>
        </p:nvSpPr>
        <p:spPr>
          <a:xfrm>
            <a:off x="7541788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 materials</a:t>
            </a:r>
            <a:endParaRPr lang="en-US" sz="1450" dirty="0"/>
          </a:p>
        </p:txBody>
      </p:sp>
      <p:sp>
        <p:nvSpPr>
          <p:cNvPr id="91" name="bld9_698"/>
          <p:cNvSpPr txBox="1"/>
          <p:nvPr/>
        </p:nvSpPr>
        <p:spPr>
          <a:xfrm>
            <a:off x="7541788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marine, watery freshness</a:t>
            </a:r>
            <a:endParaRPr lang="en-US" sz="1080" dirty="0"/>
          </a:p>
        </p:txBody>
      </p:sp>
      <p:sp>
        <p:nvSpPr>
          <p:cNvPr id="92" name="bld10_699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10270266" y="4268785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4" name="Shape 92"/>
          <p:cNvSpPr/>
          <p:nvPr/>
        </p:nvSpPr>
        <p:spPr>
          <a:xfrm>
            <a:off x="10350734" y="4349252"/>
            <a:ext cx="570586" cy="570586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10430616" y="4429134"/>
            <a:ext cx="410822" cy="410822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10544733" y="4543251"/>
            <a:ext cx="182587" cy="18258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10270266" y="4268785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98" name="bld10_701"/>
          <p:cNvSpPr txBox="1"/>
          <p:nvPr/>
        </p:nvSpPr>
        <p:spPr>
          <a:xfrm>
            <a:off x="9811878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 materials</a:t>
            </a:r>
            <a:endParaRPr lang="en-US" sz="1450" dirty="0"/>
          </a:p>
        </p:txBody>
      </p:sp>
      <p:sp>
        <p:nvSpPr>
          <p:cNvPr id="99" name="bld10_702"/>
          <p:cNvSpPr txBox="1"/>
          <p:nvPr/>
        </p:nvSpPr>
        <p:spPr>
          <a:xfrm>
            <a:off x="9811878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edible, comforting facets</a:t>
            </a:r>
            <a:endParaRPr lang="en-US" sz="1080" dirty="0"/>
          </a:p>
        </p:txBody>
      </p:sp>
      <p:sp>
        <p:nvSpPr>
          <p:cNvPr id="101" name="Text 9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5" grpId="0"/>
      <p:bldP spid="76" grpId="0"/>
      <p:bldP spid="77" grpId="0"/>
      <p:bldP spid="81" grpId="0"/>
      <p:bldP spid="82" grpId="0"/>
      <p:bldP spid="83" grpId="0"/>
      <p:bldP spid="90" grpId="0"/>
      <p:bldP spid="91" grpId="0"/>
      <p:bldP spid="92" grpId="0"/>
      <p:bldP spid="98" grpId="0"/>
      <p:bldP spid="9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every perfumer knows by name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704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705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706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 woody volume</a:t>
            </a:r>
            <a:endParaRPr lang="en-US" sz="1100" dirty="0"/>
          </a:p>
        </p:txBody>
      </p:sp>
      <p:sp>
        <p:nvSpPr>
          <p:cNvPr id="18" name="bld1_707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708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709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710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almost everywhere,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39173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32" name="bld2_712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33" name="bld2_713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714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35" name="bld2_715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716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up space in a formula</a:t>
            </a:r>
            <a:endParaRPr lang="en-US" sz="1100" dirty="0"/>
          </a:p>
        </p:txBody>
      </p:sp>
      <p:sp>
        <p:nvSpPr>
          <p:cNvPr id="37" name="bld2_717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718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diffusion superpower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6246210" y="2165745"/>
            <a:ext cx="879720" cy="87972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6049031" y="2074740"/>
            <a:ext cx="546033" cy="546033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6670902" y="1983734"/>
            <a:ext cx="455028" cy="45502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3_720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45" name="bld3_721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3_722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47" name="bld3_723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3_724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49" name="bld3_725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3_726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perfumery's signature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2" name="Shape 50"/>
          <p:cNvSpPr/>
          <p:nvPr/>
        </p:nvSpPr>
        <p:spPr>
          <a:xfrm rot="840000">
            <a:off x="8874092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40000">
            <a:off x="9050617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85468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5" name="Shape 53"/>
          <p:cNvSpPr/>
          <p:nvPr/>
        </p:nvSpPr>
        <p:spPr>
          <a:xfrm>
            <a:off x="8940071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6" name="Shape 54"/>
          <p:cNvSpPr/>
          <p:nvPr/>
        </p:nvSpPr>
        <p:spPr>
          <a:xfrm>
            <a:off x="8994675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7" name="Shape 55"/>
          <p:cNvSpPr/>
          <p:nvPr/>
        </p:nvSpPr>
        <p:spPr>
          <a:xfrm>
            <a:off x="9049278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8" name="Shape 56"/>
          <p:cNvSpPr/>
          <p:nvPr/>
        </p:nvSpPr>
        <p:spPr>
          <a:xfrm>
            <a:off x="9103881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9" name="Shape 57"/>
          <p:cNvSpPr/>
          <p:nvPr/>
        </p:nvSpPr>
        <p:spPr>
          <a:xfrm>
            <a:off x="9158485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0" name="Shape 58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61" name="bld4_728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62" name="bld4_729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3" name="bld4_730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64" name="bld4_731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5" name="bld4_732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66" name="bld4_733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7" name="bld4_734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and base workhorse</a:t>
            </a:r>
            <a:endParaRPr lang="en-US" sz="110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1" grpId="0"/>
      <p:bldP spid="62" grpId="0"/>
      <p:bldP spid="63" grpId="0"/>
      <p:bldP spid="64" grpId="0"/>
      <p:bldP spid="65" grpId="0"/>
      <p:bldP spid="66" grpId="0"/>
      <p:bldP spid="6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worth knowing by heart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217959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21310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2" name="bld1_736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800" dirty="0"/>
          </a:p>
        </p:txBody>
      </p:sp>
      <p:sp>
        <p:nvSpPr>
          <p:cNvPr id="13" name="bld1_737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738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</a:t>
            </a:r>
            <a:endParaRPr lang="en-US" sz="1100" dirty="0"/>
          </a:p>
        </p:txBody>
      </p:sp>
      <p:sp>
        <p:nvSpPr>
          <p:cNvPr id="15" name="bld1_739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740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and sweetens</a:t>
            </a:r>
            <a:endParaRPr lang="en-US" sz="1100" dirty="0"/>
          </a:p>
        </p:txBody>
      </p:sp>
      <p:sp>
        <p:nvSpPr>
          <p:cNvPr id="17" name="bld1_741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742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fougère cornerstone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436316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1" name="Shape 19"/>
          <p:cNvSpPr/>
          <p:nvPr/>
        </p:nvSpPr>
        <p:spPr>
          <a:xfrm>
            <a:off x="3625911" y="1945815"/>
            <a:ext cx="1137569" cy="113756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815506" y="2135410"/>
            <a:ext cx="758380" cy="75838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05101" y="2325005"/>
            <a:ext cx="379190" cy="37919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103690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5" name="Shape 23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6" name="bld2_744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800" dirty="0"/>
          </a:p>
        </p:txBody>
      </p:sp>
      <p:sp>
        <p:nvSpPr>
          <p:cNvPr id="27" name="bld2_745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8" name="bld2_746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</a:t>
            </a:r>
            <a:endParaRPr lang="en-US" sz="1100" dirty="0"/>
          </a:p>
        </p:txBody>
      </p:sp>
      <p:sp>
        <p:nvSpPr>
          <p:cNvPr id="29" name="bld2_747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0" name="bld2_748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Cosy, enveloping warmth</a:t>
            </a:r>
            <a:endParaRPr lang="en-US" sz="1100" dirty="0"/>
          </a:p>
        </p:txBody>
      </p:sp>
      <p:sp>
        <p:nvSpPr>
          <p:cNvPr id="31" name="bld2_749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2" name="bld2_750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Comfort-wood texture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927690" y="2044405"/>
            <a:ext cx="1395418" cy="940391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6" name="bld3_752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800" dirty="0"/>
          </a:p>
        </p:txBody>
      </p:sp>
      <p:sp>
        <p:nvSpPr>
          <p:cNvPr id="37" name="bld3_753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754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 musk</a:t>
            </a:r>
            <a:endParaRPr lang="en-US" sz="1100" dirty="0"/>
          </a:p>
        </p:txBody>
      </p:sp>
      <p:sp>
        <p:nvSpPr>
          <p:cNvPr id="39" name="bld3_755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756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"fresh clean" signature</a:t>
            </a:r>
            <a:endParaRPr lang="en-US" sz="1100" dirty="0"/>
          </a:p>
        </p:txBody>
      </p:sp>
      <p:sp>
        <p:nvSpPr>
          <p:cNvPr id="41" name="bld3_757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758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musk backbone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97724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510070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813422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8" name="bld4_760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800" dirty="0"/>
          </a:p>
        </p:txBody>
      </p:sp>
      <p:sp>
        <p:nvSpPr>
          <p:cNvPr id="49" name="bld4_761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0" name="bld4_762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</a:t>
            </a:r>
            <a:endParaRPr lang="en-US" sz="1100" dirty="0"/>
          </a:p>
        </p:txBody>
      </p:sp>
      <p:sp>
        <p:nvSpPr>
          <p:cNvPr id="51" name="bld4_763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2" name="bld4_764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gourmand lift</a:t>
            </a:r>
            <a:endParaRPr lang="en-US" sz="1100" dirty="0"/>
          </a:p>
        </p:txBody>
      </p:sp>
      <p:sp>
        <p:nvSpPr>
          <p:cNvPr id="53" name="bld4_765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4" name="bld4_766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sugar-trend key material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8" grpId="0"/>
      <p:bldP spid="49" grpId="0"/>
      <p:bldP spid="50" grpId="0"/>
      <p:bldP spid="51" grpId="0"/>
      <p:bldP spid="52" grpId="0"/>
      <p:bldP spid="53" grpId="0"/>
      <p:bldP spid="5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 worth knowing by heart</a:t>
            </a:r>
            <a:endParaRPr lang="en-US" sz="3200" dirty="0"/>
          </a:p>
        </p:txBody>
      </p:sp>
      <p:sp>
        <p:nvSpPr>
          <p:cNvPr id="7" name="bld1_767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2049896" y="209851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769"/>
          <p:cNvSpPr txBox="1"/>
          <p:nvPr/>
        </p:nvSpPr>
        <p:spPr>
          <a:xfrm>
            <a:off x="731520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450" dirty="0"/>
          </a:p>
        </p:txBody>
      </p:sp>
      <p:sp>
        <p:nvSpPr>
          <p:cNvPr id="12" name="bld1_770"/>
          <p:cNvSpPr txBox="1"/>
          <p:nvPr/>
        </p:nvSpPr>
        <p:spPr>
          <a:xfrm>
            <a:off x="731520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big, soft musk with real diffusion and volume.</a:t>
            </a:r>
            <a:endParaRPr lang="en-US" sz="1080" dirty="0"/>
          </a:p>
        </p:txBody>
      </p:sp>
      <p:sp>
        <p:nvSpPr>
          <p:cNvPr id="13" name="bld2_771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5" name="Shape 13"/>
          <p:cNvSpPr/>
          <p:nvPr/>
        </p:nvSpPr>
        <p:spPr>
          <a:xfrm>
            <a:off x="5833378" y="209851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7" name="bld2_773"/>
          <p:cNvSpPr txBox="1"/>
          <p:nvPr/>
        </p:nvSpPr>
        <p:spPr>
          <a:xfrm>
            <a:off x="4515002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450" dirty="0"/>
          </a:p>
        </p:txBody>
      </p:sp>
      <p:sp>
        <p:nvSpPr>
          <p:cNvPr id="18" name="bld2_774"/>
          <p:cNvSpPr txBox="1"/>
          <p:nvPr/>
        </p:nvSpPr>
        <p:spPr>
          <a:xfrm>
            <a:off x="4515002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Fruity-musky, natural-feeling animalic warmth.</a:t>
            </a:r>
            <a:endParaRPr lang="en-US" sz="1080" dirty="0"/>
          </a:p>
        </p:txBody>
      </p:sp>
      <p:sp>
        <p:nvSpPr>
          <p:cNvPr id="19" name="bld3_775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9836536" y="2086415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9897540" y="2111684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9922809" y="2172688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9897540" y="2233691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9836536" y="2258960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9775532" y="2233691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9750264" y="2172688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9775532" y="2111684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9833683" y="2229746"/>
            <a:ext cx="91294" cy="9129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3_777"/>
          <p:cNvSpPr txBox="1"/>
          <p:nvPr/>
        </p:nvSpPr>
        <p:spPr>
          <a:xfrm>
            <a:off x="8298485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Linalool</a:t>
            </a:r>
            <a:endParaRPr lang="en-US" sz="1450" dirty="0"/>
          </a:p>
        </p:txBody>
      </p:sp>
      <p:sp>
        <p:nvSpPr>
          <p:cNvPr id="32" name="bld3_778"/>
          <p:cNvSpPr txBox="1"/>
          <p:nvPr/>
        </p:nvSpPr>
        <p:spPr>
          <a:xfrm>
            <a:off x="8298485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Floral-woody freshness — occurs in lavender, also made synthetically.</a:t>
            </a:r>
            <a:endParaRPr lang="en-US" sz="1080" dirty="0"/>
          </a:p>
        </p:txBody>
      </p:sp>
      <p:sp>
        <p:nvSpPr>
          <p:cNvPr id="33" name="bld4_779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2269571" y="4445567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2700000">
            <a:off x="2330575" y="4470836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5400000">
            <a:off x="2355844" y="4531840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8100000">
            <a:off x="2330575" y="4592843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0800000">
            <a:off x="2269571" y="4618112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3500000">
            <a:off x="2208567" y="4592843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6200000">
            <a:off x="2183299" y="4531840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8900000">
            <a:off x="2208567" y="4470836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266718" y="4588898"/>
            <a:ext cx="91294" cy="9129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4" name="Shape 42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5" name="bld4_781"/>
          <p:cNvSpPr txBox="1"/>
          <p:nvPr/>
        </p:nvSpPr>
        <p:spPr>
          <a:xfrm>
            <a:off x="731520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Linalyl Acetate</a:t>
            </a:r>
            <a:endParaRPr lang="en-US" sz="1450" dirty="0"/>
          </a:p>
        </p:txBody>
      </p:sp>
      <p:sp>
        <p:nvSpPr>
          <p:cNvPr id="46" name="bld4_782"/>
          <p:cNvSpPr txBox="1"/>
          <p:nvPr/>
        </p:nvSpPr>
        <p:spPr>
          <a:xfrm>
            <a:off x="731520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pear-like, lavender-adjacent freshness.</a:t>
            </a:r>
            <a:endParaRPr lang="en-US" sz="1080" dirty="0"/>
          </a:p>
        </p:txBody>
      </p:sp>
      <p:sp>
        <p:nvSpPr>
          <p:cNvPr id="47" name="bld5_783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0555" y="4349252"/>
            <a:ext cx="570586" cy="570586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50496" y="4389193"/>
            <a:ext cx="490704" cy="49070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1" name="Shape 49"/>
          <p:cNvSpPr/>
          <p:nvPr/>
        </p:nvSpPr>
        <p:spPr>
          <a:xfrm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216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432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648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864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080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296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512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728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944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067318" y="4606016"/>
            <a:ext cx="57059" cy="5705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2" name="Shape 60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63" name="bld5_785"/>
          <p:cNvSpPr txBox="1"/>
          <p:nvPr/>
        </p:nvSpPr>
        <p:spPr>
          <a:xfrm>
            <a:off x="4515002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64" name="bld5_786"/>
          <p:cNvSpPr txBox="1"/>
          <p:nvPr/>
        </p:nvSpPr>
        <p:spPr>
          <a:xfrm>
            <a:off x="4515002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 — the backbone of the 90s "fresh" trend.</a:t>
            </a:r>
            <a:endParaRPr lang="en-US" sz="1080" dirty="0"/>
          </a:p>
        </p:txBody>
      </p:sp>
      <p:sp>
        <p:nvSpPr>
          <p:cNvPr id="65" name="bld6_787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67" name="Shape 65"/>
          <p:cNvSpPr/>
          <p:nvPr/>
        </p:nvSpPr>
        <p:spPr>
          <a:xfrm>
            <a:off x="9594037" y="4349252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656802" y="4631692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656802" y="4560369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656802" y="4480487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72" name="bld6_789"/>
          <p:cNvSpPr txBox="1"/>
          <p:nvPr/>
        </p:nvSpPr>
        <p:spPr>
          <a:xfrm>
            <a:off x="8298485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Calone</a:t>
            </a:r>
            <a:endParaRPr lang="en-US" sz="1450" dirty="0"/>
          </a:p>
        </p:txBody>
      </p:sp>
      <p:sp>
        <p:nvSpPr>
          <p:cNvPr id="73" name="bld6_790"/>
          <p:cNvSpPr txBox="1"/>
          <p:nvPr/>
        </p:nvSpPr>
        <p:spPr>
          <a:xfrm>
            <a:off x="8298485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Watermelon-ozonic — the material that invented the aquatic family.</a:t>
            </a:r>
            <a:endParaRPr lang="en-US" sz="108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7" grpId="0"/>
      <p:bldP spid="18" grpId="0"/>
      <p:bldP spid="19" grpId="0"/>
      <p:bldP spid="31" grpId="0"/>
      <p:bldP spid="32" grpId="0"/>
      <p:bldP spid="33" grpId="0"/>
      <p:bldP spid="45" grpId="0"/>
      <p:bldP spid="46" grpId="0"/>
      <p:bldP spid="47" grpId="0"/>
      <p:bldP spid="63" grpId="0"/>
      <p:bldP spid="64" grpId="0"/>
      <p:bldP spid="65" grpId="0"/>
      <p:bldP spid="72" grpId="0"/>
      <p:bldP spid="7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myths, busted</a:t>
            </a:r>
            <a:endParaRPr lang="en-US" sz="3200" dirty="0"/>
          </a:p>
        </p:txBody>
      </p:sp>
      <p:sp>
        <p:nvSpPr>
          <p:cNvPr id="7" name="bld1_791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792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793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less safe than naturals</a:t>
            </a:r>
            <a:endParaRPr lang="en-US" sz="1350" dirty="0"/>
          </a:p>
        </p:txBody>
      </p:sp>
      <p:sp>
        <p:nvSpPr>
          <p:cNvPr id="10" name="bld1_794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795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Synthetics are among the most rigorously tested materials in consumer goods — many naturals contain far more allergens and irritants.</a:t>
            </a:r>
            <a:endParaRPr lang="en-US" sz="1080" dirty="0"/>
          </a:p>
        </p:txBody>
      </p:sp>
      <p:sp>
        <p:nvSpPr>
          <p:cNvPr id="12" name="bld2_796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797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798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cheap</a:t>
            </a:r>
            <a:endParaRPr lang="en-US" sz="1350" dirty="0"/>
          </a:p>
        </p:txBody>
      </p:sp>
      <p:sp>
        <p:nvSpPr>
          <p:cNvPr id="15" name="bld2_799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800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captive synthetic molecules cost more per kilo than gold-standard naturals — exclusivity and R&amp;D drive price, not "natural vs. synthetic."</a:t>
            </a:r>
            <a:endParaRPr lang="en-US" sz="1080" dirty="0"/>
          </a:p>
        </p:txBody>
      </p:sp>
      <p:sp>
        <p:nvSpPr>
          <p:cNvPr id="17" name="bld3_801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802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803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smell inherently 'chemical'</a:t>
            </a:r>
            <a:endParaRPr lang="en-US" sz="1350" dirty="0"/>
          </a:p>
        </p:txBody>
      </p:sp>
      <p:sp>
        <p:nvSpPr>
          <p:cNvPr id="20" name="bld3_804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805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poorly built formula smells chemical — with any material. Iso E Super and Hedione are beloved precisely because they don't.</a:t>
            </a:r>
            <a:endParaRPr lang="en-US" sz="1080" dirty="0"/>
          </a:p>
        </p:txBody>
      </p:sp>
      <p:sp>
        <p:nvSpPr>
          <p:cNvPr id="22" name="bld4_806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807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808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are automatically more sophisticated</a:t>
            </a:r>
            <a:endParaRPr lang="en-US" sz="1350" dirty="0"/>
          </a:p>
        </p:txBody>
      </p:sp>
      <p:sp>
        <p:nvSpPr>
          <p:cNvPr id="25" name="bld4_809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810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history's most acclaimed perfumes lean heavily synthetic. Sophistication is about composition, not ingredient origin.</a:t>
            </a:r>
            <a:endParaRPr lang="en-US" sz="1080" dirty="0"/>
          </a:p>
        </p:txBody>
      </p:sp>
      <p:sp>
        <p:nvSpPr>
          <p:cNvPr id="27" name="bld5_811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812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813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perfumers avoid synthetics</a:t>
            </a:r>
            <a:endParaRPr lang="en-US" sz="1350" dirty="0"/>
          </a:p>
        </p:txBody>
      </p:sp>
      <p:sp>
        <p:nvSpPr>
          <p:cNvPr id="30" name="bld5_814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815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fine fragrance house uses synthetics extensively — they are the industry standard, not a shortcut.</a:t>
            </a:r>
            <a:endParaRPr lang="en-US" sz="108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FOR THE FUN PART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Superpower materials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655076" y="1536869"/>
            <a:ext cx="4881543" cy="4881543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9401" y="1507579"/>
            <a:ext cx="292893" cy="29289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0" name="Shape 8"/>
          <p:cNvSpPr/>
          <p:nvPr/>
        </p:nvSpPr>
        <p:spPr>
          <a:xfrm>
            <a:off x="2545635" y="427427"/>
            <a:ext cx="7100426" cy="7100426"/>
          </a:xfrm>
          <a:prstGeom prst="ellipse">
            <a:avLst/>
          </a:prstGeom>
          <a:ln w="16459">
            <a:solidFill>
              <a:srgbClr val="B565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321" y="1448113"/>
            <a:ext cx="5059053" cy="5059053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095848" y="3445108"/>
            <a:ext cx="1198197" cy="5325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4044" y="3445108"/>
            <a:ext cx="1198197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294044" y="4110773"/>
            <a:ext cx="1198197" cy="106506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97050" y="5175837"/>
            <a:ext cx="1996995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5297050" y="3977640"/>
            <a:ext cx="798798" cy="11981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385" y="3311975"/>
            <a:ext cx="1464463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2835" y="3764627"/>
            <a:ext cx="426026" cy="4260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40942" y="3292005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9138" y="3957670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40942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43947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8282" y="3158872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materials that can transform a formula at less than 1% of the concentrate.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massive effect</a:t>
            </a:r>
            <a:endParaRPr lang="en-US" sz="3200" dirty="0"/>
          </a:p>
        </p:txBody>
      </p:sp>
      <p:sp>
        <p:nvSpPr>
          <p:cNvPr id="7" name="bld1_816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2272424" y="1990100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2395960" y="2061423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2395960" y="2204070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72424" y="2275393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2148889" y="2204070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2148889" y="2061423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43895" y="220692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7" name="bld1_818"/>
          <p:cNvSpPr txBox="1"/>
          <p:nvPr/>
        </p:nvSpPr>
        <p:spPr>
          <a:xfrm>
            <a:off x="731520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819"/>
          <p:cNvSpPr txBox="1"/>
          <p:nvPr/>
        </p:nvSpPr>
        <p:spPr>
          <a:xfrm>
            <a:off x="731520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and diffusion — makes an entire formula feel airier.</a:t>
            </a:r>
            <a:endParaRPr lang="en-US" sz="1080" dirty="0"/>
          </a:p>
        </p:txBody>
      </p:sp>
      <p:sp>
        <p:nvSpPr>
          <p:cNvPr id="19" name="bld2_820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0555" y="1990100"/>
            <a:ext cx="570586" cy="570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867613" y="2047159"/>
            <a:ext cx="456468" cy="45646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5924672" y="2104217"/>
            <a:ext cx="342351" cy="34235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981730" y="2161276"/>
            <a:ext cx="228234" cy="22823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8789" y="2218334"/>
            <a:ext cx="114117" cy="114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61612" y="224115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28" name="bld2_822"/>
          <p:cNvSpPr txBox="1"/>
          <p:nvPr/>
        </p:nvSpPr>
        <p:spPr>
          <a:xfrm>
            <a:off x="4515002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29" name="bld2_823"/>
          <p:cNvSpPr txBox="1"/>
          <p:nvPr/>
        </p:nvSpPr>
        <p:spPr>
          <a:xfrm>
            <a:off x="4515002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volume and a transparent woody glow around everything else.</a:t>
            </a:r>
            <a:endParaRPr lang="en-US" sz="1080" dirty="0"/>
          </a:p>
        </p:txBody>
      </p:sp>
      <p:sp>
        <p:nvSpPr>
          <p:cNvPr id="30" name="bld3_824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9736684" y="214415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9662507" y="210992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896448" y="207568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36" name="bld3_826"/>
          <p:cNvSpPr txBox="1"/>
          <p:nvPr/>
        </p:nvSpPr>
        <p:spPr>
          <a:xfrm>
            <a:off x="8298485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 materials</a:t>
            </a:r>
            <a:endParaRPr lang="en-US" sz="1450" dirty="0"/>
          </a:p>
        </p:txBody>
      </p:sp>
      <p:sp>
        <p:nvSpPr>
          <p:cNvPr id="37" name="bld3_827"/>
          <p:cNvSpPr txBox="1"/>
          <p:nvPr/>
        </p:nvSpPr>
        <p:spPr>
          <a:xfrm>
            <a:off x="8298485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and persistence — extends how far and how long a formula reads.</a:t>
            </a:r>
            <a:endParaRPr lang="en-US" sz="1080" dirty="0"/>
          </a:p>
        </p:txBody>
      </p:sp>
      <p:sp>
        <p:nvSpPr>
          <p:cNvPr id="38" name="bld4_828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049896" y="4457663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ln w="25603">
            <a:solidFill>
              <a:srgbClr val="E8E2DC"/>
            </a:solidFill>
            <a:prstDash val="solid"/>
          </a:ln>
        </p:spPr>
      </p:sp>
      <p:sp>
        <p:nvSpPr>
          <p:cNvPr id="42" name="bld4_830"/>
          <p:cNvSpPr txBox="1"/>
          <p:nvPr/>
        </p:nvSpPr>
        <p:spPr>
          <a:xfrm>
            <a:off x="731520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43" name="bld4_831"/>
          <p:cNvSpPr txBox="1"/>
          <p:nvPr/>
        </p:nvSpPr>
        <p:spPr>
          <a:xfrm>
            <a:off x="731520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Body, texture and fixation — the skin-like glue that holds a formula together.</a:t>
            </a:r>
            <a:endParaRPr lang="en-US" sz="1080" dirty="0"/>
          </a:p>
        </p:txBody>
      </p:sp>
      <p:sp>
        <p:nvSpPr>
          <p:cNvPr id="44" name="bld5_832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>
            <a:off x="5810555" y="4349252"/>
            <a:ext cx="570586" cy="570586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850496" y="4389193"/>
            <a:ext cx="490704" cy="49070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8" name="Shape 46"/>
          <p:cNvSpPr/>
          <p:nvPr/>
        </p:nvSpPr>
        <p:spPr>
          <a:xfrm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16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432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648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864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080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512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728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9440000">
            <a:off x="6081583" y="4406311"/>
            <a:ext cx="28529" cy="222528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067318" y="4606016"/>
            <a:ext cx="57059" cy="5705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60" name="bld5_834"/>
          <p:cNvSpPr txBox="1"/>
          <p:nvPr/>
        </p:nvSpPr>
        <p:spPr>
          <a:xfrm>
            <a:off x="4515002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61" name="bld5_835"/>
          <p:cNvSpPr txBox="1"/>
          <p:nvPr/>
        </p:nvSpPr>
        <p:spPr>
          <a:xfrm>
            <a:off x="4515002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explosive, fresh lift — instantly brightens an opening.</a:t>
            </a:r>
            <a:endParaRPr lang="en-US" sz="1080" dirty="0"/>
          </a:p>
        </p:txBody>
      </p:sp>
      <p:sp>
        <p:nvSpPr>
          <p:cNvPr id="62" name="bld6_836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4" name="Shape 62"/>
          <p:cNvSpPr/>
          <p:nvPr/>
        </p:nvSpPr>
        <p:spPr>
          <a:xfrm>
            <a:off x="9594037" y="4349252"/>
            <a:ext cx="570586" cy="570586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673919" y="4429134"/>
            <a:ext cx="410822" cy="410822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788036" y="4543251"/>
            <a:ext cx="182587" cy="18258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8" name="bld6_838"/>
          <p:cNvSpPr txBox="1"/>
          <p:nvPr/>
        </p:nvSpPr>
        <p:spPr>
          <a:xfrm>
            <a:off x="8298485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69" name="bld6_839"/>
          <p:cNvSpPr txBox="1"/>
          <p:nvPr/>
        </p:nvSpPr>
        <p:spPr>
          <a:xfrm>
            <a:off x="8298485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 and gourmand impact — can flip a formula's whole character.</a:t>
            </a:r>
            <a:endParaRPr lang="en-US" sz="108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28" grpId="0"/>
      <p:bldP spid="29" grpId="0"/>
      <p:bldP spid="30" grpId="0"/>
      <p:bldP spid="36" grpId="0"/>
      <p:bldP spid="37" grpId="0"/>
      <p:bldP spid="38" grpId="0"/>
      <p:bldP spid="42" grpId="0"/>
      <p:bldP spid="43" grpId="0"/>
      <p:bldP spid="44" grpId="0"/>
      <p:bldP spid="60" grpId="0"/>
      <p:bldP spid="61" grpId="0"/>
      <p:bldP spid="62" grpId="0"/>
      <p:bldP spid="68" grpId="0"/>
      <p:bldP spid="6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fraction of a percent can change everything.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precision instruments,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shortcuts.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03.2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8726" y="2010766"/>
            <a:ext cx="2836469" cy="2836469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47278" y="2209318"/>
            <a:ext cx="2439363" cy="243936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" name="Shape 5"/>
          <p:cNvSpPr/>
          <p:nvPr/>
        </p:nvSpPr>
        <p:spPr>
          <a:xfrm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1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4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51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72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94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825137" y="3287177"/>
            <a:ext cx="283647" cy="283647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WHAT TO ORDER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actually order first? A practical, no-nonsense shopping module.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buy three hundred materials.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balanced palette, not a chemical hoard.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YOU SHOP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 — your absolute fundamentals</a:t>
            </a:r>
            <a:endParaRPr lang="en-US" sz="3200" dirty="0"/>
          </a:p>
        </p:txBody>
      </p:sp>
      <p:sp>
        <p:nvSpPr>
          <p:cNvPr id="7" name="bld1_840"/>
          <p:cNvSpPr txBox="1"/>
          <p:nvPr/>
        </p:nvSpPr>
        <p:spPr>
          <a:xfrm>
            <a:off x="548640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841"/>
          <p:cNvSpPr/>
          <p:nvPr/>
        </p:nvSpPr>
        <p:spPr>
          <a:xfrm>
            <a:off x="548640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842"/>
          <p:cNvSpPr txBox="1"/>
          <p:nvPr/>
        </p:nvSpPr>
        <p:spPr>
          <a:xfrm>
            <a:off x="841248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</a:t>
            </a:r>
            <a:endParaRPr lang="en-US" sz="1200" dirty="0"/>
          </a:p>
        </p:txBody>
      </p:sp>
      <p:sp>
        <p:nvSpPr>
          <p:cNvPr id="10" name="bld1_843"/>
          <p:cNvSpPr/>
          <p:nvPr/>
        </p:nvSpPr>
        <p:spPr>
          <a:xfrm>
            <a:off x="548640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844"/>
          <p:cNvSpPr txBox="1"/>
          <p:nvPr/>
        </p:nvSpPr>
        <p:spPr>
          <a:xfrm>
            <a:off x="841248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(natural)</a:t>
            </a:r>
            <a:endParaRPr lang="en-US" sz="1200" dirty="0"/>
          </a:p>
        </p:txBody>
      </p:sp>
      <p:sp>
        <p:nvSpPr>
          <p:cNvPr id="12" name="bld1_845"/>
          <p:cNvSpPr/>
          <p:nvPr/>
        </p:nvSpPr>
        <p:spPr>
          <a:xfrm>
            <a:off x="548640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846"/>
          <p:cNvSpPr txBox="1"/>
          <p:nvPr/>
        </p:nvSpPr>
        <p:spPr>
          <a:xfrm>
            <a:off x="841248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</a:t>
            </a:r>
            <a:endParaRPr lang="en-US" sz="1200" dirty="0"/>
          </a:p>
        </p:txBody>
      </p:sp>
      <p:sp>
        <p:nvSpPr>
          <p:cNvPr id="14" name="bld1_847"/>
          <p:cNvSpPr/>
          <p:nvPr/>
        </p:nvSpPr>
        <p:spPr>
          <a:xfrm>
            <a:off x="548640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5" name="bld1_848"/>
          <p:cNvSpPr txBox="1"/>
          <p:nvPr/>
        </p:nvSpPr>
        <p:spPr>
          <a:xfrm>
            <a:off x="841248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</a:t>
            </a:r>
            <a:endParaRPr lang="en-US" sz="1200" dirty="0"/>
          </a:p>
        </p:txBody>
      </p:sp>
      <p:sp>
        <p:nvSpPr>
          <p:cNvPr id="16" name="bld2_849"/>
          <p:cNvSpPr txBox="1"/>
          <p:nvPr/>
        </p:nvSpPr>
        <p:spPr>
          <a:xfrm>
            <a:off x="3402254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7" name="bld2_850"/>
          <p:cNvSpPr/>
          <p:nvPr/>
        </p:nvSpPr>
        <p:spPr>
          <a:xfrm>
            <a:off x="3402254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851"/>
          <p:cNvSpPr txBox="1"/>
          <p:nvPr/>
        </p:nvSpPr>
        <p:spPr>
          <a:xfrm>
            <a:off x="3694862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</a:t>
            </a:r>
            <a:endParaRPr lang="en-US" sz="1200" dirty="0"/>
          </a:p>
        </p:txBody>
      </p:sp>
      <p:sp>
        <p:nvSpPr>
          <p:cNvPr id="19" name="bld2_852"/>
          <p:cNvSpPr/>
          <p:nvPr/>
        </p:nvSpPr>
        <p:spPr>
          <a:xfrm>
            <a:off x="3402254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853"/>
          <p:cNvSpPr txBox="1"/>
          <p:nvPr/>
        </p:nvSpPr>
        <p:spPr>
          <a:xfrm>
            <a:off x="3694862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Habanolide</a:t>
            </a:r>
            <a:endParaRPr lang="en-US" sz="1200" dirty="0"/>
          </a:p>
        </p:txBody>
      </p:sp>
      <p:sp>
        <p:nvSpPr>
          <p:cNvPr id="21" name="bld2_854"/>
          <p:cNvSpPr/>
          <p:nvPr/>
        </p:nvSpPr>
        <p:spPr>
          <a:xfrm>
            <a:off x="3402254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2" name="bld2_855"/>
          <p:cNvSpPr txBox="1"/>
          <p:nvPr/>
        </p:nvSpPr>
        <p:spPr>
          <a:xfrm>
            <a:off x="3694862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</a:t>
            </a:r>
            <a:endParaRPr lang="en-US" sz="1200" dirty="0"/>
          </a:p>
        </p:txBody>
      </p:sp>
      <p:sp>
        <p:nvSpPr>
          <p:cNvPr id="23" name="bld2_856"/>
          <p:cNvSpPr/>
          <p:nvPr/>
        </p:nvSpPr>
        <p:spPr>
          <a:xfrm>
            <a:off x="3402254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4" name="bld2_857"/>
          <p:cNvSpPr txBox="1"/>
          <p:nvPr/>
        </p:nvSpPr>
        <p:spPr>
          <a:xfrm>
            <a:off x="3694862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</a:t>
            </a:r>
            <a:endParaRPr lang="en-US" sz="1200" dirty="0"/>
          </a:p>
        </p:txBody>
      </p:sp>
      <p:sp>
        <p:nvSpPr>
          <p:cNvPr id="25" name="bld3_858"/>
          <p:cNvSpPr txBox="1"/>
          <p:nvPr/>
        </p:nvSpPr>
        <p:spPr>
          <a:xfrm>
            <a:off x="6255868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&amp; GREEN</a:t>
            </a:r>
            <a:endParaRPr lang="en-US" sz="1250" dirty="0"/>
          </a:p>
        </p:txBody>
      </p:sp>
      <p:sp>
        <p:nvSpPr>
          <p:cNvPr id="26" name="bld3_859"/>
          <p:cNvSpPr/>
          <p:nvPr/>
        </p:nvSpPr>
        <p:spPr>
          <a:xfrm>
            <a:off x="6255868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7" name="bld3_860"/>
          <p:cNvSpPr txBox="1"/>
          <p:nvPr/>
        </p:nvSpPr>
        <p:spPr>
          <a:xfrm>
            <a:off x="6548476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</a:t>
            </a:r>
            <a:endParaRPr lang="en-US" sz="1200" dirty="0"/>
          </a:p>
        </p:txBody>
      </p:sp>
      <p:sp>
        <p:nvSpPr>
          <p:cNvPr id="28" name="bld3_861"/>
          <p:cNvSpPr/>
          <p:nvPr/>
        </p:nvSpPr>
        <p:spPr>
          <a:xfrm>
            <a:off x="6255868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9" name="bld3_862"/>
          <p:cNvSpPr txBox="1"/>
          <p:nvPr/>
        </p:nvSpPr>
        <p:spPr>
          <a:xfrm>
            <a:off x="6548476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</a:t>
            </a:r>
            <a:endParaRPr lang="en-US" sz="1200" dirty="0"/>
          </a:p>
        </p:txBody>
      </p:sp>
      <p:sp>
        <p:nvSpPr>
          <p:cNvPr id="30" name="bld3_863"/>
          <p:cNvSpPr/>
          <p:nvPr/>
        </p:nvSpPr>
        <p:spPr>
          <a:xfrm>
            <a:off x="6255868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31" name="bld3_864"/>
          <p:cNvSpPr txBox="1"/>
          <p:nvPr/>
        </p:nvSpPr>
        <p:spPr>
          <a:xfrm>
            <a:off x="6548476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</a:t>
            </a:r>
            <a:endParaRPr lang="en-US" sz="1200" dirty="0"/>
          </a:p>
        </p:txBody>
      </p:sp>
      <p:sp>
        <p:nvSpPr>
          <p:cNvPr id="32" name="bld4_865"/>
          <p:cNvSpPr txBox="1"/>
          <p:nvPr/>
        </p:nvSpPr>
        <p:spPr>
          <a:xfrm>
            <a:off x="9109481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BASE</a:t>
            </a:r>
            <a:endParaRPr lang="en-US" sz="1250" dirty="0"/>
          </a:p>
        </p:txBody>
      </p:sp>
      <p:sp>
        <p:nvSpPr>
          <p:cNvPr id="33" name="bld4_866"/>
          <p:cNvSpPr/>
          <p:nvPr/>
        </p:nvSpPr>
        <p:spPr>
          <a:xfrm>
            <a:off x="9109481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867"/>
          <p:cNvSpPr txBox="1"/>
          <p:nvPr/>
        </p:nvSpPr>
        <p:spPr>
          <a:xfrm>
            <a:off x="9402089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</a:t>
            </a:r>
            <a:endParaRPr lang="en-US" sz="1200" dirty="0"/>
          </a:p>
        </p:txBody>
      </p:sp>
      <p:sp>
        <p:nvSpPr>
          <p:cNvPr id="35" name="bld4_868"/>
          <p:cNvSpPr/>
          <p:nvPr/>
        </p:nvSpPr>
        <p:spPr>
          <a:xfrm>
            <a:off x="9109481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6" name="bld4_869"/>
          <p:cNvSpPr txBox="1"/>
          <p:nvPr/>
        </p:nvSpPr>
        <p:spPr>
          <a:xfrm>
            <a:off x="9402089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</a:t>
            </a:r>
            <a:endParaRPr lang="en-US" sz="1200" dirty="0"/>
          </a:p>
        </p:txBody>
      </p:sp>
      <p:sp>
        <p:nvSpPr>
          <p:cNvPr id="37" name="bld4_870"/>
          <p:cNvSpPr/>
          <p:nvPr/>
        </p:nvSpPr>
        <p:spPr>
          <a:xfrm>
            <a:off x="9109481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8" name="bld4_871"/>
          <p:cNvSpPr txBox="1"/>
          <p:nvPr/>
        </p:nvSpPr>
        <p:spPr>
          <a:xfrm>
            <a:off x="9402089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</a:t>
            </a:r>
            <a:endParaRPr lang="en-US" sz="1200" dirty="0"/>
          </a:p>
        </p:txBody>
      </p:sp>
      <p:sp>
        <p:nvSpPr>
          <p:cNvPr id="39" name="bld4_872"/>
          <p:cNvSpPr/>
          <p:nvPr/>
        </p:nvSpPr>
        <p:spPr>
          <a:xfrm>
            <a:off x="9109481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40" name="bld4_873"/>
          <p:cNvSpPr txBox="1"/>
          <p:nvPr/>
        </p:nvSpPr>
        <p:spPr>
          <a:xfrm>
            <a:off x="9402089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9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30 — expanding possibilities</a:t>
            </a:r>
            <a:endParaRPr lang="en-US" sz="3200" dirty="0"/>
          </a:p>
        </p:txBody>
      </p:sp>
      <p:sp>
        <p:nvSpPr>
          <p:cNvPr id="7" name="bld1_874"/>
          <p:cNvSpPr txBox="1"/>
          <p:nvPr/>
        </p:nvSpPr>
        <p:spPr>
          <a:xfrm>
            <a:off x="548640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875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876"/>
          <p:cNvSpPr txBox="1"/>
          <p:nvPr/>
        </p:nvSpPr>
        <p:spPr>
          <a:xfrm>
            <a:off x="841248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</a:t>
            </a:r>
            <a:endParaRPr lang="en-US" sz="1200" dirty="0"/>
          </a:p>
        </p:txBody>
      </p:sp>
      <p:sp>
        <p:nvSpPr>
          <p:cNvPr id="10" name="bld1_877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878"/>
          <p:cNvSpPr txBox="1"/>
          <p:nvPr/>
        </p:nvSpPr>
        <p:spPr>
          <a:xfrm>
            <a:off x="841248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</a:t>
            </a:r>
            <a:endParaRPr lang="en-US" sz="1200" dirty="0"/>
          </a:p>
        </p:txBody>
      </p:sp>
      <p:sp>
        <p:nvSpPr>
          <p:cNvPr id="12" name="bld1_879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880"/>
          <p:cNvSpPr txBox="1"/>
          <p:nvPr/>
        </p:nvSpPr>
        <p:spPr>
          <a:xfrm>
            <a:off x="841248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Norlimbanol</a:t>
            </a:r>
            <a:endParaRPr lang="en-US" sz="1200" dirty="0"/>
          </a:p>
        </p:txBody>
      </p:sp>
      <p:sp>
        <p:nvSpPr>
          <p:cNvPr id="14" name="bld2_881"/>
          <p:cNvSpPr txBox="1"/>
          <p:nvPr/>
        </p:nvSpPr>
        <p:spPr>
          <a:xfrm>
            <a:off x="3402254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5" name="bld2_882"/>
          <p:cNvSpPr/>
          <p:nvPr/>
        </p:nvSpPr>
        <p:spPr>
          <a:xfrm>
            <a:off x="3402254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6" name="bld2_883"/>
          <p:cNvSpPr txBox="1"/>
          <p:nvPr/>
        </p:nvSpPr>
        <p:spPr>
          <a:xfrm>
            <a:off x="3694862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Ambrettolide</a:t>
            </a:r>
            <a:endParaRPr lang="en-US" sz="1200" dirty="0"/>
          </a:p>
        </p:txBody>
      </p:sp>
      <p:sp>
        <p:nvSpPr>
          <p:cNvPr id="17" name="bld2_884"/>
          <p:cNvSpPr/>
          <p:nvPr/>
        </p:nvSpPr>
        <p:spPr>
          <a:xfrm>
            <a:off x="3402254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885"/>
          <p:cNvSpPr txBox="1"/>
          <p:nvPr/>
        </p:nvSpPr>
        <p:spPr>
          <a:xfrm>
            <a:off x="3694862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</a:t>
            </a:r>
            <a:endParaRPr lang="en-US" sz="1200" dirty="0"/>
          </a:p>
        </p:txBody>
      </p:sp>
      <p:sp>
        <p:nvSpPr>
          <p:cNvPr id="19" name="bld2_886"/>
          <p:cNvSpPr/>
          <p:nvPr/>
        </p:nvSpPr>
        <p:spPr>
          <a:xfrm>
            <a:off x="3402254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887"/>
          <p:cNvSpPr txBox="1"/>
          <p:nvPr/>
        </p:nvSpPr>
        <p:spPr>
          <a:xfrm>
            <a:off x="3694862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</a:t>
            </a:r>
            <a:endParaRPr lang="en-US" sz="1200" dirty="0"/>
          </a:p>
        </p:txBody>
      </p:sp>
      <p:sp>
        <p:nvSpPr>
          <p:cNvPr id="21" name="bld3_888"/>
          <p:cNvSpPr txBox="1"/>
          <p:nvPr/>
        </p:nvSpPr>
        <p:spPr>
          <a:xfrm>
            <a:off x="6255868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&amp; GREEN</a:t>
            </a:r>
            <a:endParaRPr lang="en-US" sz="1250" dirty="0"/>
          </a:p>
        </p:txBody>
      </p:sp>
      <p:sp>
        <p:nvSpPr>
          <p:cNvPr id="22" name="bld3_889"/>
          <p:cNvSpPr/>
          <p:nvPr/>
        </p:nvSpPr>
        <p:spPr>
          <a:xfrm>
            <a:off x="625586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890"/>
          <p:cNvSpPr txBox="1"/>
          <p:nvPr/>
        </p:nvSpPr>
        <p:spPr>
          <a:xfrm>
            <a:off x="6548476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</a:t>
            </a:r>
            <a:endParaRPr lang="en-US" sz="1200" dirty="0"/>
          </a:p>
        </p:txBody>
      </p:sp>
      <p:sp>
        <p:nvSpPr>
          <p:cNvPr id="24" name="bld3_891"/>
          <p:cNvSpPr/>
          <p:nvPr/>
        </p:nvSpPr>
        <p:spPr>
          <a:xfrm>
            <a:off x="625586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892"/>
          <p:cNvSpPr txBox="1"/>
          <p:nvPr/>
        </p:nvSpPr>
        <p:spPr>
          <a:xfrm>
            <a:off x="6548476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Galbanum</a:t>
            </a:r>
            <a:endParaRPr lang="en-US" sz="1200" dirty="0"/>
          </a:p>
        </p:txBody>
      </p:sp>
      <p:sp>
        <p:nvSpPr>
          <p:cNvPr id="26" name="bld3_893"/>
          <p:cNvSpPr/>
          <p:nvPr/>
        </p:nvSpPr>
        <p:spPr>
          <a:xfrm>
            <a:off x="625586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894"/>
          <p:cNvSpPr txBox="1"/>
          <p:nvPr/>
        </p:nvSpPr>
        <p:spPr>
          <a:xfrm>
            <a:off x="6548476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Prunolide</a:t>
            </a:r>
            <a:endParaRPr lang="en-US" sz="1200" dirty="0"/>
          </a:p>
        </p:txBody>
      </p:sp>
      <p:sp>
        <p:nvSpPr>
          <p:cNvPr id="28" name="bld4_895"/>
          <p:cNvSpPr txBox="1"/>
          <p:nvPr/>
        </p:nvSpPr>
        <p:spPr>
          <a:xfrm>
            <a:off x="9109481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FRESH</a:t>
            </a:r>
            <a:endParaRPr lang="en-US" sz="1250" dirty="0"/>
          </a:p>
        </p:txBody>
      </p:sp>
      <p:sp>
        <p:nvSpPr>
          <p:cNvPr id="29" name="bld4_896"/>
          <p:cNvSpPr/>
          <p:nvPr/>
        </p:nvSpPr>
        <p:spPr>
          <a:xfrm>
            <a:off x="9109481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0" name="bld4_897"/>
          <p:cNvSpPr txBox="1"/>
          <p:nvPr/>
        </p:nvSpPr>
        <p:spPr>
          <a:xfrm>
            <a:off x="9402089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Calone</a:t>
            </a:r>
            <a:endParaRPr lang="en-US" sz="1200" dirty="0"/>
          </a:p>
        </p:txBody>
      </p:sp>
      <p:sp>
        <p:nvSpPr>
          <p:cNvPr id="31" name="bld4_898"/>
          <p:cNvSpPr/>
          <p:nvPr/>
        </p:nvSpPr>
        <p:spPr>
          <a:xfrm>
            <a:off x="9109481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2" name="bld4_899"/>
          <p:cNvSpPr txBox="1"/>
          <p:nvPr/>
        </p:nvSpPr>
        <p:spPr>
          <a:xfrm>
            <a:off x="9402089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Maltol</a:t>
            </a:r>
            <a:endParaRPr lang="en-US" sz="1200" dirty="0"/>
          </a:p>
        </p:txBody>
      </p:sp>
      <p:sp>
        <p:nvSpPr>
          <p:cNvPr id="33" name="bld4_900"/>
          <p:cNvSpPr/>
          <p:nvPr/>
        </p:nvSpPr>
        <p:spPr>
          <a:xfrm>
            <a:off x="9109481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901"/>
          <p:cNvSpPr txBox="1"/>
          <p:nvPr/>
        </p:nvSpPr>
        <p:spPr>
          <a:xfrm>
            <a:off x="9402089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BY FAMILY, NOT BY IMPULSE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every purchase around the palette</a:t>
            </a:r>
            <a:endParaRPr lang="en-US" sz="3200" dirty="0"/>
          </a:p>
        </p:txBody>
      </p:sp>
      <p:sp>
        <p:nvSpPr>
          <p:cNvPr id="7" name="bld1_902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89909" y="190963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270376" y="1990100"/>
            <a:ext cx="570586" cy="570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65474" y="2085198"/>
            <a:ext cx="380390" cy="38039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60571" y="2180295"/>
            <a:ext cx="190195" cy="190195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1434" y="224115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89909" y="190963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904"/>
          <p:cNvSpPr txBox="1"/>
          <p:nvPr/>
        </p:nvSpPr>
        <p:spPr>
          <a:xfrm>
            <a:off x="731520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15" name="bld1_905"/>
          <p:cNvSpPr txBox="1"/>
          <p:nvPr/>
        </p:nvSpPr>
        <p:spPr>
          <a:xfrm>
            <a:off x="731520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base</a:t>
            </a:r>
            <a:endParaRPr lang="en-US" sz="1080" dirty="0"/>
          </a:p>
        </p:txBody>
      </p:sp>
      <p:sp>
        <p:nvSpPr>
          <p:cNvPr id="16" name="bld2_906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9998" y="190963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3289" y="209851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59998" y="190963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908"/>
          <p:cNvSpPr txBox="1"/>
          <p:nvPr/>
        </p:nvSpPr>
        <p:spPr>
          <a:xfrm>
            <a:off x="3001609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21" name="bld2_909"/>
          <p:cNvSpPr txBox="1"/>
          <p:nvPr/>
        </p:nvSpPr>
        <p:spPr>
          <a:xfrm>
            <a:off x="3001609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fixation</a:t>
            </a:r>
            <a:endParaRPr lang="en-US" sz="1080" dirty="0"/>
          </a:p>
        </p:txBody>
      </p:sp>
      <p:sp>
        <p:nvSpPr>
          <p:cNvPr id="22" name="bld3_910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 rot="9000000">
            <a:off x="5953201" y="214415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6000000">
            <a:off x="5879025" y="210992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1400000">
            <a:off x="6112965" y="207568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8" name="bld3_912"/>
          <p:cNvSpPr txBox="1"/>
          <p:nvPr/>
        </p:nvSpPr>
        <p:spPr>
          <a:xfrm>
            <a:off x="5271699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29" name="bld3_913"/>
          <p:cNvSpPr txBox="1"/>
          <p:nvPr/>
        </p:nvSpPr>
        <p:spPr>
          <a:xfrm>
            <a:off x="5271699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endParaRPr lang="en-US" sz="1080" dirty="0"/>
          </a:p>
        </p:txBody>
      </p:sp>
      <p:sp>
        <p:nvSpPr>
          <p:cNvPr id="30" name="bld4_914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00177" y="190963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294614" y="198781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8425666" y="208303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8375609" y="223709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8213619" y="223709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8163562" y="208303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297467" y="220692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8000177" y="190963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916"/>
          <p:cNvSpPr txBox="1"/>
          <p:nvPr/>
        </p:nvSpPr>
        <p:spPr>
          <a:xfrm>
            <a:off x="7541788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40" name="bld4_917"/>
          <p:cNvSpPr txBox="1"/>
          <p:nvPr/>
        </p:nvSpPr>
        <p:spPr>
          <a:xfrm>
            <a:off x="7541788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080" dirty="0"/>
          </a:p>
        </p:txBody>
      </p:sp>
      <p:sp>
        <p:nvSpPr>
          <p:cNvPr id="41" name="bld5_918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270266" y="1909633"/>
            <a:ext cx="731520" cy="7315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50734" y="1990100"/>
            <a:ext cx="570586" cy="570586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390675" y="2030041"/>
            <a:ext cx="490704" cy="49070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0621762" y="2047159"/>
            <a:ext cx="28529" cy="22252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07497" y="2246864"/>
            <a:ext cx="57059" cy="5705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270266" y="1909633"/>
            <a:ext cx="731520" cy="7315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920"/>
          <p:cNvSpPr txBox="1"/>
          <p:nvPr/>
        </p:nvSpPr>
        <p:spPr>
          <a:xfrm>
            <a:off x="9811878" y="275088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58" name="bld5_921"/>
          <p:cNvSpPr txBox="1"/>
          <p:nvPr/>
        </p:nvSpPr>
        <p:spPr>
          <a:xfrm>
            <a:off x="9811878" y="3061777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80" dirty="0"/>
          </a:p>
        </p:txBody>
      </p:sp>
      <p:sp>
        <p:nvSpPr>
          <p:cNvPr id="59" name="bld6_922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189909" y="4268785"/>
            <a:ext cx="731520" cy="7315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1321729" y="4423428"/>
            <a:ext cx="467880" cy="467880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550182" y="4412017"/>
            <a:ext cx="914" cy="7988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1573957" y="4389193"/>
            <a:ext cx="108411" cy="7417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189909" y="4268785"/>
            <a:ext cx="731520" cy="7315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924"/>
          <p:cNvSpPr txBox="1"/>
          <p:nvPr/>
        </p:nvSpPr>
        <p:spPr>
          <a:xfrm>
            <a:off x="731520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925"/>
          <p:cNvSpPr txBox="1"/>
          <p:nvPr/>
        </p:nvSpPr>
        <p:spPr>
          <a:xfrm>
            <a:off x="731520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Juiciness</a:t>
            </a:r>
            <a:endParaRPr lang="en-US" sz="1080" dirty="0"/>
          </a:p>
        </p:txBody>
      </p:sp>
      <p:sp>
        <p:nvSpPr>
          <p:cNvPr id="67" name="bld7_926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459998" y="4268785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9" name="Shape 67"/>
          <p:cNvSpPr/>
          <p:nvPr/>
        </p:nvSpPr>
        <p:spPr>
          <a:xfrm rot="15300000">
            <a:off x="3632583" y="452353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3050000">
            <a:off x="3686079" y="4603594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0800000">
            <a:off x="3777258" y="4634545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8550000">
            <a:off x="3868438" y="4603594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6300000">
            <a:off x="3921934" y="452353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3459998" y="4268785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5" name="bld7_928"/>
          <p:cNvSpPr txBox="1"/>
          <p:nvPr/>
        </p:nvSpPr>
        <p:spPr>
          <a:xfrm>
            <a:off x="3001609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76" name="bld7_929"/>
          <p:cNvSpPr txBox="1"/>
          <p:nvPr/>
        </p:nvSpPr>
        <p:spPr>
          <a:xfrm>
            <a:off x="3001609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080" dirty="0"/>
          </a:p>
        </p:txBody>
      </p:sp>
      <p:sp>
        <p:nvSpPr>
          <p:cNvPr id="77" name="bld8_930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9" name="Shape 77"/>
          <p:cNvSpPr/>
          <p:nvPr/>
        </p:nvSpPr>
        <p:spPr>
          <a:xfrm>
            <a:off x="5810555" y="4349252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5873319" y="4631692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5873319" y="4560369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5873319" y="4480487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84" name="bld8_932"/>
          <p:cNvSpPr txBox="1"/>
          <p:nvPr/>
        </p:nvSpPr>
        <p:spPr>
          <a:xfrm>
            <a:off x="5271699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Aquatic</a:t>
            </a:r>
            <a:endParaRPr lang="en-US" sz="1450" dirty="0"/>
          </a:p>
        </p:txBody>
      </p:sp>
      <p:sp>
        <p:nvSpPr>
          <p:cNvPr id="85" name="bld8_933"/>
          <p:cNvSpPr txBox="1"/>
          <p:nvPr/>
        </p:nvSpPr>
        <p:spPr>
          <a:xfrm>
            <a:off x="5271699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Airiness</a:t>
            </a:r>
            <a:endParaRPr lang="en-US" sz="1080" dirty="0"/>
          </a:p>
        </p:txBody>
      </p:sp>
      <p:sp>
        <p:nvSpPr>
          <p:cNvPr id="86" name="bld9_934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8000177" y="4268785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8" name="Shape 86"/>
          <p:cNvSpPr/>
          <p:nvPr/>
        </p:nvSpPr>
        <p:spPr>
          <a:xfrm rot="840000">
            <a:off x="8297467" y="4363517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40000">
            <a:off x="8360451" y="4429134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01746" y="4444825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1" name="Shape 89"/>
          <p:cNvSpPr/>
          <p:nvPr/>
        </p:nvSpPr>
        <p:spPr>
          <a:xfrm>
            <a:off x="8322287" y="451557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2" name="Shape 90"/>
          <p:cNvSpPr/>
          <p:nvPr/>
        </p:nvSpPr>
        <p:spPr>
          <a:xfrm>
            <a:off x="8342828" y="4586330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3" name="Shape 91"/>
          <p:cNvSpPr/>
          <p:nvPr/>
        </p:nvSpPr>
        <p:spPr>
          <a:xfrm>
            <a:off x="8363369" y="465708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4" name="Shape 92"/>
          <p:cNvSpPr/>
          <p:nvPr/>
        </p:nvSpPr>
        <p:spPr>
          <a:xfrm>
            <a:off x="8383910" y="472783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5" name="Shape 93"/>
          <p:cNvSpPr/>
          <p:nvPr/>
        </p:nvSpPr>
        <p:spPr>
          <a:xfrm>
            <a:off x="8404452" y="479858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8000177" y="4268785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97" name="bld9_936"/>
          <p:cNvSpPr txBox="1"/>
          <p:nvPr/>
        </p:nvSpPr>
        <p:spPr>
          <a:xfrm>
            <a:off x="7541788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98" name="bld9_937"/>
          <p:cNvSpPr txBox="1"/>
          <p:nvPr/>
        </p:nvSpPr>
        <p:spPr>
          <a:xfrm>
            <a:off x="7541788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endParaRPr lang="en-US" sz="1080" dirty="0"/>
          </a:p>
        </p:txBody>
      </p:sp>
      <p:sp>
        <p:nvSpPr>
          <p:cNvPr id="99" name="bld10_938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10270266" y="4268785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1" name="Shape 99"/>
          <p:cNvSpPr/>
          <p:nvPr/>
        </p:nvSpPr>
        <p:spPr>
          <a:xfrm rot="9000000">
            <a:off x="10493380" y="4503310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6000000">
            <a:off x="10419204" y="4469075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11400000">
            <a:off x="10653144" y="4434840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10270266" y="4268785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105" name="bld10_940"/>
          <p:cNvSpPr txBox="1"/>
          <p:nvPr/>
        </p:nvSpPr>
        <p:spPr>
          <a:xfrm>
            <a:off x="9811878" y="511003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450" dirty="0"/>
          </a:p>
        </p:txBody>
      </p:sp>
      <p:sp>
        <p:nvSpPr>
          <p:cNvPr id="106" name="bld10_941"/>
          <p:cNvSpPr txBox="1"/>
          <p:nvPr/>
        </p:nvSpPr>
        <p:spPr>
          <a:xfrm>
            <a:off x="9811878" y="5420929"/>
            <a:ext cx="16482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&amp; soul</a:t>
            </a:r>
            <a:endParaRPr lang="en-US" sz="1080" dirty="0"/>
          </a:p>
        </p:txBody>
      </p:sp>
      <p:sp>
        <p:nvSpPr>
          <p:cNvPr id="108" name="Text 10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5" grpId="0"/>
      <p:bldP spid="76" grpId="0"/>
      <p:bldP spid="77" grpId="0"/>
      <p:bldP spid="84" grpId="0"/>
      <p:bldP spid="85" grpId="0"/>
      <p:bldP spid="86" grpId="0"/>
      <p:bldP spid="97" grpId="0"/>
      <p:bldP spid="98" grpId="0"/>
      <p:bldP spid="99" grpId="0"/>
      <p:bldP spid="105" grpId="0"/>
      <p:bldP spid="10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beats curiosity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74313" y="3177558"/>
            <a:ext cx="502883" cy="5028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Shape 7"/>
          <p:cNvSpPr/>
          <p:nvPr/>
        </p:nvSpPr>
        <p:spPr>
          <a:xfrm>
            <a:off x="8835289" y="3177558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266" y="3177558"/>
            <a:ext cx="502883" cy="502883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Shape 9"/>
          <p:cNvSpPr/>
          <p:nvPr/>
        </p:nvSpPr>
        <p:spPr>
          <a:xfrm>
            <a:off x="9757242" y="3177558"/>
            <a:ext cx="502883" cy="502883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18219" y="3177558"/>
            <a:ext cx="502883" cy="502883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palette, not a random hoard.</a:t>
            </a:r>
            <a:endParaRPr lang="en-US" sz="1050" dirty="0"/>
          </a:p>
        </p:txBody>
      </p:sp>
      <p:sp>
        <p:nvSpPr>
          <p:cNvPr id="14" name="bld1_94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1_94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every family first</a:t>
            </a:r>
            <a:endParaRPr lang="en-US" sz="1650" dirty="0"/>
          </a:p>
        </p:txBody>
      </p:sp>
      <p:sp>
        <p:nvSpPr>
          <p:cNvPr id="16" name="bld1_94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from each of the ten categories teaches you more than ten materials from one category.</a:t>
            </a:r>
            <a:endParaRPr lang="en-US" sz="1250" dirty="0"/>
          </a:p>
        </p:txBody>
      </p:sp>
      <p:sp>
        <p:nvSpPr>
          <p:cNvPr id="17" name="bld2_94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2_94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Resist the rare and expensive</a:t>
            </a:r>
            <a:endParaRPr lang="en-US" sz="1650" dirty="0"/>
          </a:p>
        </p:txBody>
      </p:sp>
      <p:sp>
        <p:nvSpPr>
          <p:cNvPr id="19" name="bld2_94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exotic captive material is exciting — but useless without the fundamentals to build around it.</a:t>
            </a:r>
            <a:endParaRPr lang="en-US" sz="1250" dirty="0"/>
          </a:p>
        </p:txBody>
      </p:sp>
      <p:sp>
        <p:nvSpPr>
          <p:cNvPr id="20" name="bld3_94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94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comes later</a:t>
            </a:r>
            <a:endParaRPr lang="en-US" sz="1650" dirty="0"/>
          </a:p>
        </p:txBody>
      </p:sp>
      <p:sp>
        <p:nvSpPr>
          <p:cNvPr id="22" name="bld3_95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first 60 materials are familiar, specialise into what you actually love working with.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starter-perfumer checklist</a:t>
            </a:r>
            <a:endParaRPr lang="en-US" sz="3200" dirty="0"/>
          </a:p>
        </p:txBody>
      </p:sp>
      <p:sp>
        <p:nvSpPr>
          <p:cNvPr id="7" name="bld1_951"/>
          <p:cNvSpPr txBox="1"/>
          <p:nvPr/>
        </p:nvSpPr>
        <p:spPr>
          <a:xfrm>
            <a:off x="548640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50" dirty="0"/>
          </a:p>
        </p:txBody>
      </p:sp>
      <p:sp>
        <p:nvSpPr>
          <p:cNvPr id="8" name="bld1_952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953"/>
          <p:cNvSpPr txBox="1"/>
          <p:nvPr/>
        </p:nvSpPr>
        <p:spPr>
          <a:xfrm>
            <a:off x="841248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list complete</a:t>
            </a:r>
            <a:endParaRPr lang="en-US" sz="1200" dirty="0"/>
          </a:p>
        </p:txBody>
      </p:sp>
      <p:sp>
        <p:nvSpPr>
          <p:cNvPr id="10" name="bld1_954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955"/>
          <p:cNvSpPr txBox="1"/>
          <p:nvPr/>
        </p:nvSpPr>
        <p:spPr>
          <a:xfrm>
            <a:off x="841248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per family minimum</a:t>
            </a:r>
            <a:endParaRPr lang="en-US" sz="1200" dirty="0"/>
          </a:p>
        </p:txBody>
      </p:sp>
      <p:sp>
        <p:nvSpPr>
          <p:cNvPr id="12" name="bld1_956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957"/>
          <p:cNvSpPr txBox="1"/>
          <p:nvPr/>
        </p:nvSpPr>
        <p:spPr>
          <a:xfrm>
            <a:off x="841248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+ synthetics both represented</a:t>
            </a:r>
            <a:endParaRPr lang="en-US" sz="1200" dirty="0"/>
          </a:p>
        </p:txBody>
      </p:sp>
      <p:sp>
        <p:nvSpPr>
          <p:cNvPr id="14" name="bld2_958"/>
          <p:cNvSpPr txBox="1"/>
          <p:nvPr/>
        </p:nvSpPr>
        <p:spPr>
          <a:xfrm>
            <a:off x="4353458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250" dirty="0"/>
          </a:p>
        </p:txBody>
      </p:sp>
      <p:sp>
        <p:nvSpPr>
          <p:cNvPr id="15" name="bld2_959"/>
          <p:cNvSpPr/>
          <p:nvPr/>
        </p:nvSpPr>
        <p:spPr>
          <a:xfrm>
            <a:off x="435345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960"/>
          <p:cNvSpPr txBox="1"/>
          <p:nvPr/>
        </p:nvSpPr>
        <p:spPr>
          <a:xfrm>
            <a:off x="4646066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7" name="bld2_961"/>
          <p:cNvSpPr/>
          <p:nvPr/>
        </p:nvSpPr>
        <p:spPr>
          <a:xfrm>
            <a:off x="435345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8" name="bld2_962"/>
          <p:cNvSpPr txBox="1"/>
          <p:nvPr/>
        </p:nvSpPr>
        <p:spPr>
          <a:xfrm>
            <a:off x="4646066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Pipettes (plastic + glass)</a:t>
            </a:r>
            <a:endParaRPr lang="en-US" sz="1200" dirty="0"/>
          </a:p>
        </p:txBody>
      </p:sp>
      <p:sp>
        <p:nvSpPr>
          <p:cNvPr id="19" name="bld2_963"/>
          <p:cNvSpPr/>
          <p:nvPr/>
        </p:nvSpPr>
        <p:spPr>
          <a:xfrm>
            <a:off x="435345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0" name="bld2_964"/>
          <p:cNvSpPr txBox="1"/>
          <p:nvPr/>
        </p:nvSpPr>
        <p:spPr>
          <a:xfrm>
            <a:off x="4646066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 + scent strips</a:t>
            </a:r>
            <a:endParaRPr lang="en-US" sz="1200" dirty="0"/>
          </a:p>
        </p:txBody>
      </p:sp>
      <p:sp>
        <p:nvSpPr>
          <p:cNvPr id="21" name="bld3_965"/>
          <p:cNvSpPr txBox="1"/>
          <p:nvPr/>
        </p:nvSpPr>
        <p:spPr>
          <a:xfrm>
            <a:off x="8158277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50" dirty="0"/>
          </a:p>
        </p:txBody>
      </p:sp>
      <p:sp>
        <p:nvSpPr>
          <p:cNvPr id="22" name="bld3_966"/>
          <p:cNvSpPr/>
          <p:nvPr/>
        </p:nvSpPr>
        <p:spPr>
          <a:xfrm>
            <a:off x="8158277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967"/>
          <p:cNvSpPr txBox="1"/>
          <p:nvPr/>
        </p:nvSpPr>
        <p:spPr>
          <a:xfrm>
            <a:off x="8450885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log started</a:t>
            </a:r>
            <a:endParaRPr lang="en-US" sz="1200" dirty="0"/>
          </a:p>
        </p:txBody>
      </p:sp>
      <p:sp>
        <p:nvSpPr>
          <p:cNvPr id="24" name="bld3_968"/>
          <p:cNvSpPr/>
          <p:nvPr/>
        </p:nvSpPr>
        <p:spPr>
          <a:xfrm>
            <a:off x="8158277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969"/>
          <p:cNvSpPr txBox="1"/>
          <p:nvPr/>
        </p:nvSpPr>
        <p:spPr>
          <a:xfrm>
            <a:off x="8450885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boxes labelled</a:t>
            </a:r>
            <a:endParaRPr lang="en-US" sz="1200" dirty="0"/>
          </a:p>
        </p:txBody>
      </p:sp>
      <p:sp>
        <p:nvSpPr>
          <p:cNvPr id="26" name="bld3_970"/>
          <p:cNvSpPr/>
          <p:nvPr/>
        </p:nvSpPr>
        <p:spPr>
          <a:xfrm>
            <a:off x="8158277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971"/>
          <p:cNvSpPr txBox="1"/>
          <p:nvPr/>
        </p:nvSpPr>
        <p:spPr>
          <a:xfrm>
            <a:off x="8450885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bottles ready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beats width. Thirty materials you know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intimately beat three hundred you've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really smelled.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C9A354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· DILUTION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Confidence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is the skill that makes every other skill in this course possible.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DILUTE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reasons every perfumer dilutes</a:t>
            </a:r>
            <a:endParaRPr lang="en-US" sz="3200" dirty="0"/>
          </a:p>
        </p:txBody>
      </p:sp>
      <p:sp>
        <p:nvSpPr>
          <p:cNvPr id="7" name="bld1_972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73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974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0" name="bld1_975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0.05g of pure material is unreliable — weighing it diluted is precise.</a:t>
            </a:r>
            <a:endParaRPr lang="en-US" sz="1080" dirty="0"/>
          </a:p>
        </p:txBody>
      </p:sp>
      <p:sp>
        <p:nvSpPr>
          <p:cNvPr id="11" name="bld2_976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977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978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evaluation</a:t>
            </a:r>
            <a:endParaRPr lang="en-US" sz="1450" dirty="0"/>
          </a:p>
        </p:txBody>
      </p:sp>
      <p:sp>
        <p:nvSpPr>
          <p:cNvPr id="14" name="bld2_979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diluted material is safer and clearer to smell on a strip.</a:t>
            </a:r>
            <a:endParaRPr lang="en-US" sz="1080" dirty="0"/>
          </a:p>
        </p:txBody>
      </p:sp>
      <p:sp>
        <p:nvSpPr>
          <p:cNvPr id="15" name="bld3_980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981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982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dosing</a:t>
            </a:r>
            <a:endParaRPr lang="en-US" sz="1450" dirty="0"/>
          </a:p>
        </p:txBody>
      </p:sp>
      <p:sp>
        <p:nvSpPr>
          <p:cNvPr id="18" name="bld3_983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controlled doses become achievable at any strength.</a:t>
            </a:r>
            <a:endParaRPr lang="en-US" sz="1080" dirty="0"/>
          </a:p>
        </p:txBody>
      </p:sp>
      <p:sp>
        <p:nvSpPr>
          <p:cNvPr id="19" name="bld4_984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985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986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potency</a:t>
            </a:r>
            <a:endParaRPr lang="en-US" sz="1450" dirty="0"/>
          </a:p>
        </p:txBody>
      </p:sp>
      <p:sp>
        <p:nvSpPr>
          <p:cNvPr id="22" name="bld4_987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materials reveal their true character only once tamed.</a:t>
            </a:r>
            <a:endParaRPr lang="en-US" sz="1080" dirty="0"/>
          </a:p>
        </p:txBody>
      </p:sp>
      <p:sp>
        <p:nvSpPr>
          <p:cNvPr id="23" name="bld5_988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989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990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solids</a:t>
            </a:r>
            <a:endParaRPr lang="en-US" sz="1450" dirty="0"/>
          </a:p>
        </p:txBody>
      </p:sp>
      <p:sp>
        <p:nvSpPr>
          <p:cNvPr id="26" name="bld5_991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materials become usable liquids once dissolved.</a:t>
            </a:r>
            <a:endParaRPr lang="en-US" sz="1080" dirty="0"/>
          </a:p>
        </p:txBody>
      </p:sp>
      <p:sp>
        <p:nvSpPr>
          <p:cNvPr id="27" name="bld6_992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993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6_994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development</a:t>
            </a:r>
            <a:endParaRPr lang="en-US" sz="1450" dirty="0"/>
          </a:p>
        </p:txBody>
      </p:sp>
      <p:sp>
        <p:nvSpPr>
          <p:cNvPr id="30" name="bld6_995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stocks let you iterate a formula quickly and repeatably.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DILUTION LADDER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working strengths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996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99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998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450" dirty="0"/>
          </a:p>
        </p:txBody>
      </p:sp>
      <p:sp>
        <p:nvSpPr>
          <p:cNvPr id="24" name="bld1_999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Neat material — undiluted</a:t>
            </a:r>
            <a:endParaRPr lang="en-US" sz="1080" dirty="0"/>
          </a:p>
        </p:txBody>
      </p:sp>
      <p:sp>
        <p:nvSpPr>
          <p:cNvPr id="25" name="bld2_1000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001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1002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1450" dirty="0"/>
          </a:p>
        </p:txBody>
      </p:sp>
      <p:sp>
        <p:nvSpPr>
          <p:cNvPr id="28" name="bld2_1003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strength — strong materials</a:t>
            </a:r>
            <a:endParaRPr lang="en-US" sz="1080" dirty="0"/>
          </a:p>
        </p:txBody>
      </p:sp>
      <p:sp>
        <p:nvSpPr>
          <p:cNvPr id="29" name="bld3_1004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005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006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1450" dirty="0"/>
          </a:p>
        </p:txBody>
      </p:sp>
      <p:sp>
        <p:nvSpPr>
          <p:cNvPr id="32" name="bld3_1007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working dilution</a:t>
            </a:r>
            <a:endParaRPr lang="en-US" sz="1080" dirty="0"/>
          </a:p>
        </p:txBody>
      </p:sp>
      <p:sp>
        <p:nvSpPr>
          <p:cNvPr id="33" name="bld4_1008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1009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1010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1450" dirty="0"/>
          </a:p>
        </p:txBody>
      </p:sp>
      <p:sp>
        <p:nvSpPr>
          <p:cNvPr id="36" name="bld4_1011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potent materials</a:t>
            </a:r>
            <a:endParaRPr lang="en-US" sz="1080" dirty="0"/>
          </a:p>
        </p:txBody>
      </p:sp>
      <p:sp>
        <p:nvSpPr>
          <p:cNvPr id="37" name="bld5_1012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1013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9" name="bld5_1014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</a:t>
            </a:r>
            <a:endParaRPr lang="en-US" sz="1450" dirty="0"/>
          </a:p>
        </p:txBody>
      </p:sp>
      <p:sp>
        <p:nvSpPr>
          <p:cNvPr id="40" name="bld5_1015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most powerful trace materials</a:t>
            </a:r>
            <a:endParaRPr lang="en-US" sz="108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material to labelled bottle</a:t>
            </a:r>
            <a:endParaRPr lang="en-US" sz="3200" dirty="0"/>
          </a:p>
        </p:txBody>
      </p:sp>
      <p:sp>
        <p:nvSpPr>
          <p:cNvPr id="7" name="bld1_1016"/>
          <p:cNvSpPr txBox="1"/>
          <p:nvPr/>
        </p:nvSpPr>
        <p:spPr>
          <a:xfrm>
            <a:off x="2112264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511150" y="3117190"/>
            <a:ext cx="1355141" cy="1355141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06009" y="3212049"/>
            <a:ext cx="1165421" cy="116542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0963" y="3727003"/>
            <a:ext cx="135514" cy="13551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018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</a:t>
            </a:r>
            <a:endParaRPr lang="en-US" sz="1400" dirty="0"/>
          </a:p>
        </p:txBody>
      </p:sp>
      <p:sp>
        <p:nvSpPr>
          <p:cNvPr id="24" name="bld1_1019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 you're diluting</a:t>
            </a:r>
            <a:endParaRPr lang="en-US" sz="1050" dirty="0"/>
          </a:p>
        </p:txBody>
      </p:sp>
      <p:sp>
        <p:nvSpPr>
          <p:cNvPr id="25" name="bld2_1020"/>
          <p:cNvSpPr txBox="1"/>
          <p:nvPr/>
        </p:nvSpPr>
        <p:spPr>
          <a:xfrm>
            <a:off x="5383682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3782568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31633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31633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1633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2" name="bld2_1022"/>
          <p:cNvSpPr txBox="1"/>
          <p:nvPr/>
        </p:nvSpPr>
        <p:spPr>
          <a:xfrm>
            <a:off x="350001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00" dirty="0"/>
          </a:p>
        </p:txBody>
      </p:sp>
      <p:sp>
        <p:nvSpPr>
          <p:cNvPr id="33" name="bld2_1023"/>
          <p:cNvSpPr txBox="1"/>
          <p:nvPr/>
        </p:nvSpPr>
        <p:spPr>
          <a:xfrm>
            <a:off x="350001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Ethanol, DPG or similar</a:t>
            </a:r>
            <a:endParaRPr lang="en-US" sz="1050" dirty="0"/>
          </a:p>
        </p:txBody>
      </p:sp>
      <p:sp>
        <p:nvSpPr>
          <p:cNvPr id="34" name="bld3_1024"/>
          <p:cNvSpPr txBox="1"/>
          <p:nvPr/>
        </p:nvSpPr>
        <p:spPr>
          <a:xfrm>
            <a:off x="8655101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7053986" y="3117190"/>
            <a:ext cx="1355141" cy="1355141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243706" y="3306909"/>
            <a:ext cx="975701" cy="975701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514734" y="3577937"/>
            <a:ext cx="433645" cy="433645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0" name="bld3_1026"/>
          <p:cNvSpPr txBox="1"/>
          <p:nvPr/>
        </p:nvSpPr>
        <p:spPr>
          <a:xfrm>
            <a:off x="6771437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dilution</a:t>
            </a:r>
            <a:endParaRPr lang="en-US" sz="1400" dirty="0"/>
          </a:p>
        </p:txBody>
      </p:sp>
      <p:sp>
        <p:nvSpPr>
          <p:cNvPr id="41" name="bld3_1027"/>
          <p:cNvSpPr txBox="1"/>
          <p:nvPr/>
        </p:nvSpPr>
        <p:spPr>
          <a:xfrm>
            <a:off x="6771437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Weighed, combined, stirred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3" name="Shape 41"/>
          <p:cNvSpPr/>
          <p:nvPr/>
        </p:nvSpPr>
        <p:spPr>
          <a:xfrm>
            <a:off x="10933158" y="3239152"/>
            <a:ext cx="139634" cy="111122"/>
          </a:xfrm>
          <a:prstGeom prst="roundRect">
            <a:avLst>
              <a:gd name="adj" fmla="val 32915"/>
            </a:avLst>
          </a:prstGeom>
          <a:solidFill>
            <a:srgbClr val="0E0D0B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42265" y="3350274"/>
            <a:ext cx="121421" cy="177794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786153" y="3528068"/>
            <a:ext cx="433645" cy="822299"/>
          </a:xfrm>
          <a:prstGeom prst="roundRect">
            <a:avLst>
              <a:gd name="adj" fmla="val 25304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22729" y="3898103"/>
            <a:ext cx="360493" cy="415689"/>
          </a:xfrm>
          <a:prstGeom prst="roundRect">
            <a:avLst>
              <a:gd name="adj" fmla="val 25365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8" name="bld4_1029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Labelled bottle</a:t>
            </a:r>
            <a:endParaRPr lang="en-US" sz="1400" dirty="0"/>
          </a:p>
        </p:txBody>
      </p:sp>
      <p:sp>
        <p:nvSpPr>
          <p:cNvPr id="49" name="bld4_1030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2" grpId="0"/>
      <p:bldP spid="33" grpId="0"/>
      <p:bldP spid="34" grpId="0"/>
      <p:bldP spid="40" grpId="0"/>
      <p:bldP spid="41" grpId="0"/>
      <p:bldP spid="48" grpId="0"/>
      <p:bldP spid="49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liquid material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 rot="8100000">
            <a:off x="8992021" y="2642885"/>
            <a:ext cx="1111372" cy="1111372"/>
          </a:xfrm>
          <a:prstGeom prst="teardrop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10% dilution.</a:t>
            </a:r>
            <a:endParaRPr lang="en-US" sz="1050" dirty="0"/>
          </a:p>
        </p:txBody>
      </p:sp>
      <p:sp>
        <p:nvSpPr>
          <p:cNvPr id="12" name="bld1_103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103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weigh the material</a:t>
            </a:r>
            <a:endParaRPr lang="en-US" sz="1650" dirty="0"/>
          </a:p>
        </p:txBody>
      </p:sp>
      <p:sp>
        <p:nvSpPr>
          <p:cNvPr id="14" name="bld1_103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your bottle on the scale, tare, and weigh out exactly 1g of material.</a:t>
            </a:r>
            <a:endParaRPr lang="en-US" sz="1250" dirty="0"/>
          </a:p>
        </p:txBody>
      </p:sp>
      <p:sp>
        <p:nvSpPr>
          <p:cNvPr id="15" name="bld2_103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103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add solvent</a:t>
            </a:r>
            <a:endParaRPr lang="en-US" sz="1650" dirty="0"/>
          </a:p>
        </p:txBody>
      </p:sp>
      <p:sp>
        <p:nvSpPr>
          <p:cNvPr id="17" name="bld2_103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9g of your chosen solvent (often ethanol or DPG) to the same bottle.</a:t>
            </a:r>
            <a:endParaRPr lang="en-US" sz="1250" dirty="0"/>
          </a:p>
        </p:txBody>
      </p:sp>
      <p:sp>
        <p:nvSpPr>
          <p:cNvPr id="18" name="bld3_103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bld3_103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you now have 10%</a:t>
            </a:r>
            <a:endParaRPr lang="en-US" sz="1650" dirty="0"/>
          </a:p>
        </p:txBody>
      </p:sp>
      <p:sp>
        <p:nvSpPr>
          <p:cNvPr id="20" name="bld3_103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10g total, and the material is 10% of that total.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solid material</a:t>
            </a:r>
            <a:endParaRPr lang="en-US" sz="3200" dirty="0"/>
          </a:p>
        </p:txBody>
      </p:sp>
      <p:sp>
        <p:nvSpPr>
          <p:cNvPr id="7" name="bld1_1040"/>
          <p:cNvSpPr txBox="1"/>
          <p:nvPr/>
        </p:nvSpPr>
        <p:spPr>
          <a:xfrm>
            <a:off x="2112264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45695"/>
            <a:ext cx="335397" cy="14906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4117" y="3645695"/>
            <a:ext cx="335397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4117" y="3832026"/>
            <a:ext cx="335397" cy="29813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5122" y="4130157"/>
            <a:ext cx="55899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65122" y="3794760"/>
            <a:ext cx="223598" cy="33539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8790" y="3608428"/>
            <a:ext cx="409930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094" y="3735134"/>
            <a:ext cx="119252" cy="11925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1261" y="3602838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6658" y="3789170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1261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265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5934" y="3565572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1_1042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00" dirty="0"/>
          </a:p>
        </p:txBody>
      </p:sp>
      <p:sp>
        <p:nvSpPr>
          <p:cNvPr id="23" name="bld1_1043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Precisely, on the scale</a:t>
            </a:r>
            <a:endParaRPr lang="en-US" sz="1050" dirty="0"/>
          </a:p>
        </p:txBody>
      </p:sp>
      <p:sp>
        <p:nvSpPr>
          <p:cNvPr id="24" name="bld2_1044"/>
          <p:cNvSpPr txBox="1"/>
          <p:nvPr/>
        </p:nvSpPr>
        <p:spPr>
          <a:xfrm>
            <a:off x="4565828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6" name="Shape 24"/>
          <p:cNvSpPr/>
          <p:nvPr/>
        </p:nvSpPr>
        <p:spPr>
          <a:xfrm>
            <a:off x="2964713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13779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13779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13779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1" name="bld2_1046"/>
          <p:cNvSpPr txBox="1"/>
          <p:nvPr/>
        </p:nvSpPr>
        <p:spPr>
          <a:xfrm>
            <a:off x="2682164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solvent</a:t>
            </a:r>
            <a:endParaRPr lang="en-US" sz="1400" dirty="0"/>
          </a:p>
        </p:txBody>
      </p:sp>
      <p:sp>
        <p:nvSpPr>
          <p:cNvPr id="32" name="bld2_1047"/>
          <p:cNvSpPr txBox="1"/>
          <p:nvPr/>
        </p:nvSpPr>
        <p:spPr>
          <a:xfrm>
            <a:off x="2682164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calculated weight</a:t>
            </a:r>
            <a:endParaRPr lang="en-US" sz="1050" dirty="0"/>
          </a:p>
        </p:txBody>
      </p:sp>
      <p:sp>
        <p:nvSpPr>
          <p:cNvPr id="33" name="bld3_1048"/>
          <p:cNvSpPr txBox="1"/>
          <p:nvPr/>
        </p:nvSpPr>
        <p:spPr>
          <a:xfrm>
            <a:off x="7019392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 rot="8100000">
            <a:off x="5757062" y="3455975"/>
            <a:ext cx="677570" cy="677570"/>
          </a:xfrm>
          <a:prstGeom prst="teardrop">
            <a:avLst/>
          </a:prstGeom>
          <a:solidFill>
            <a:srgbClr val="8A5A2E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7" name="bld3_1050"/>
          <p:cNvSpPr txBox="1"/>
          <p:nvPr/>
        </p:nvSpPr>
        <p:spPr>
          <a:xfrm>
            <a:off x="513572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gently</a:t>
            </a:r>
            <a:endParaRPr lang="en-US" sz="1400" dirty="0"/>
          </a:p>
        </p:txBody>
      </p:sp>
      <p:sp>
        <p:nvSpPr>
          <p:cNvPr id="38" name="bld3_1051"/>
          <p:cNvSpPr txBox="1"/>
          <p:nvPr/>
        </p:nvSpPr>
        <p:spPr>
          <a:xfrm>
            <a:off x="513572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needed</a:t>
            </a:r>
            <a:endParaRPr lang="en-US" sz="1050" dirty="0"/>
          </a:p>
        </p:txBody>
      </p:sp>
      <p:sp>
        <p:nvSpPr>
          <p:cNvPr id="39" name="bld4_1052"/>
          <p:cNvSpPr txBox="1"/>
          <p:nvPr/>
        </p:nvSpPr>
        <p:spPr>
          <a:xfrm>
            <a:off x="9472955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8210626" y="3455975"/>
            <a:ext cx="677570" cy="677570"/>
          </a:xfrm>
          <a:prstGeom prst="teardrop">
            <a:avLst/>
          </a:prstGeom>
          <a:solidFill>
            <a:srgbClr val="4090A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3" name="bld4_1054"/>
          <p:cNvSpPr txBox="1"/>
          <p:nvPr/>
        </p:nvSpPr>
        <p:spPr>
          <a:xfrm>
            <a:off x="7589291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00" dirty="0"/>
          </a:p>
        </p:txBody>
      </p:sp>
      <p:sp>
        <p:nvSpPr>
          <p:cNvPr id="44" name="bld4_1055"/>
          <p:cNvSpPr txBox="1"/>
          <p:nvPr/>
        </p:nvSpPr>
        <p:spPr>
          <a:xfrm>
            <a:off x="7589291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fully dissolved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25405" y="3117190"/>
            <a:ext cx="1355141" cy="1355141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98333" y="345597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428415" y="3681832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428415" y="3907688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98333" y="413354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2" name="bld5_1057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53" name="bld5_1058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1" grpId="0"/>
      <p:bldP spid="32" grpId="0"/>
      <p:bldP spid="33" grpId="0"/>
      <p:bldP spid="37" grpId="0"/>
      <p:bldP spid="38" grpId="0"/>
      <p:bldP spid="39" grpId="0"/>
      <p:bldP spid="43" grpId="0"/>
      <p:bldP spid="44" grpId="0"/>
      <p:bldP spid="52" grpId="0"/>
      <p:bldP spid="53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STRENGTH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depends on potency and purpose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059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06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2" name="bld1_1061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100%</a:t>
            </a:r>
            <a:endParaRPr lang="en-US" sz="1450" dirty="0"/>
          </a:p>
        </p:txBody>
      </p:sp>
      <p:sp>
        <p:nvSpPr>
          <p:cNvPr id="13" name="bld1_1062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low-impact materials — many light woods and musks.</a:t>
            </a:r>
            <a:endParaRPr lang="en-US" sz="1080" dirty="0"/>
          </a:p>
        </p:txBody>
      </p:sp>
      <p:sp>
        <p:nvSpPr>
          <p:cNvPr id="14" name="bld2_1063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064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1065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10%</a:t>
            </a:r>
            <a:endParaRPr lang="en-US" sz="1450" dirty="0"/>
          </a:p>
        </p:txBody>
      </p:sp>
      <p:sp>
        <p:nvSpPr>
          <p:cNvPr id="17" name="bld2_1066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for most working materials in a formula.</a:t>
            </a:r>
            <a:endParaRPr lang="en-US" sz="1080" dirty="0"/>
          </a:p>
        </p:txBody>
      </p:sp>
      <p:sp>
        <p:nvSpPr>
          <p:cNvPr id="18" name="bld3_1067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068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1069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1%</a:t>
            </a:r>
            <a:endParaRPr lang="en-US" sz="1450" dirty="0"/>
          </a:p>
        </p:txBody>
      </p:sp>
      <p:sp>
        <p:nvSpPr>
          <p:cNvPr id="21" name="bld3_1070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trace materials — strong musks, some florals, superpower synthetics.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TIME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ideal dilution label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158712" y="2265883"/>
            <a:ext cx="1214617" cy="342351"/>
          </a:xfrm>
          <a:prstGeom prst="roundRect">
            <a:avLst>
              <a:gd name="adj" fmla="val 10684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3237926" y="2608235"/>
            <a:ext cx="1056188" cy="54776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9970" y="3155997"/>
            <a:ext cx="3772101" cy="2533400"/>
          </a:xfrm>
          <a:prstGeom prst="roundRect">
            <a:avLst>
              <a:gd name="adj" fmla="val 433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16546" y="4296027"/>
            <a:ext cx="3698949" cy="1356794"/>
          </a:xfrm>
          <a:prstGeom prst="roundRect">
            <a:avLst>
              <a:gd name="adj" fmla="val 6739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408064" y="4017353"/>
            <a:ext cx="2715913" cy="658684"/>
          </a:xfrm>
          <a:prstGeom prst="roundRect">
            <a:avLst>
              <a:gd name="adj" fmla="val 4165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17736" y="2646274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 Hedione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17736" y="3264408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Dilution:  10% in DPG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17736" y="3882542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Solvent:  DPG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17736" y="4500677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Prepared today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dilution, solvent, date — every single bottle, no exceptions.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in doubt, dilute. You can always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stronger — you can't un-smell overload.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04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· NOSE TRAINING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A Perfumer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nose is a muscle. This module is how professionals actually train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HABIT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on a strip, across real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1071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107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1073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1074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2" name="bld2_1075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bld2_1076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4" name="bld2_1077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bld2_1078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settling</a:t>
            </a:r>
            <a:endParaRPr lang="en-US" sz="1050" dirty="0"/>
          </a:p>
        </p:txBody>
      </p:sp>
      <p:sp>
        <p:nvSpPr>
          <p:cNvPr id="16" name="bld3_1079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3_1080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3_1081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</a:t>
            </a:r>
            <a:endParaRPr lang="en-US" sz="1200" dirty="0"/>
          </a:p>
        </p:txBody>
      </p:sp>
      <p:sp>
        <p:nvSpPr>
          <p:cNvPr id="19" name="bld3_1082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emerging</a:t>
            </a:r>
            <a:endParaRPr lang="en-US" sz="1050" dirty="0"/>
          </a:p>
        </p:txBody>
      </p:sp>
      <p:sp>
        <p:nvSpPr>
          <p:cNvPr id="20" name="bld4_1083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4_1084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2" name="bld4_1085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hours</a:t>
            </a:r>
            <a:endParaRPr lang="en-US" sz="1200" dirty="0"/>
          </a:p>
        </p:txBody>
      </p:sp>
      <p:sp>
        <p:nvSpPr>
          <p:cNvPr id="23" name="bld4_1086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maturing</a:t>
            </a:r>
            <a:endParaRPr lang="en-US" sz="1050" dirty="0"/>
          </a:p>
        </p:txBody>
      </p:sp>
      <p:sp>
        <p:nvSpPr>
          <p:cNvPr id="24" name="bld5_1087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088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1089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1090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1091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1092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1093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1094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Final, true character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you only smelled at 0 minutes is a material you don't actually know yet.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evaluation, every single time</a:t>
            </a:r>
            <a:endParaRPr lang="en-US" sz="3200" dirty="0"/>
          </a:p>
        </p:txBody>
      </p:sp>
      <p:sp>
        <p:nvSpPr>
          <p:cNvPr id="7" name="bld1_1095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096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097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impression</a:t>
            </a:r>
            <a:endParaRPr lang="en-US" sz="1450" dirty="0"/>
          </a:p>
        </p:txBody>
      </p:sp>
      <p:sp>
        <p:nvSpPr>
          <p:cNvPr id="10" name="bld1_1098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gut reaction, unfiltered.</a:t>
            </a:r>
            <a:endParaRPr lang="en-US" sz="1080" dirty="0"/>
          </a:p>
        </p:txBody>
      </p:sp>
      <p:sp>
        <p:nvSpPr>
          <p:cNvPr id="11" name="bld2_1099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100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101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</a:t>
            </a:r>
            <a:endParaRPr lang="en-US" sz="1450" dirty="0"/>
          </a:p>
        </p:txBody>
      </p:sp>
      <p:sp>
        <p:nvSpPr>
          <p:cNvPr id="14" name="bld2_1102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family, what mood, what texture.</a:t>
            </a:r>
            <a:endParaRPr lang="en-US" sz="1080" dirty="0"/>
          </a:p>
        </p:txBody>
      </p:sp>
      <p:sp>
        <p:nvSpPr>
          <p:cNvPr id="15" name="bld3_1103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104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105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</a:t>
            </a:r>
            <a:endParaRPr lang="en-US" sz="1450" dirty="0"/>
          </a:p>
        </p:txBody>
      </p:sp>
      <p:sp>
        <p:nvSpPr>
          <p:cNvPr id="18" name="bld3_1106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intense at each time point.</a:t>
            </a:r>
            <a:endParaRPr lang="en-US" sz="1080" dirty="0"/>
          </a:p>
        </p:txBody>
      </p:sp>
      <p:sp>
        <p:nvSpPr>
          <p:cNvPr id="19" name="bld4_1107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108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109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2" name="bld4_1110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it reaches from the strip.</a:t>
            </a:r>
            <a:endParaRPr lang="en-US" sz="1080" dirty="0"/>
          </a:p>
        </p:txBody>
      </p:sp>
      <p:sp>
        <p:nvSpPr>
          <p:cNvPr id="23" name="bld5_1111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1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113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450" dirty="0"/>
          </a:p>
        </p:txBody>
      </p:sp>
      <p:sp>
        <p:nvSpPr>
          <p:cNvPr id="26" name="bld5_1114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shifts between checkpoints.</a:t>
            </a:r>
            <a:endParaRPr lang="en-US" sz="1080" dirty="0"/>
          </a:p>
        </p:txBody>
      </p:sp>
      <p:sp>
        <p:nvSpPr>
          <p:cNvPr id="27" name="bld6_1115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116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117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118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once it settles.</a:t>
            </a:r>
            <a:endParaRPr lang="en-US" sz="1080" dirty="0"/>
          </a:p>
        </p:txBody>
      </p:sp>
      <p:sp>
        <p:nvSpPr>
          <p:cNvPr id="31" name="bld7_1119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120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1121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Associations</a:t>
            </a:r>
            <a:endParaRPr lang="en-US" sz="1450" dirty="0"/>
          </a:p>
        </p:txBody>
      </p:sp>
      <p:sp>
        <p:nvSpPr>
          <p:cNvPr id="34" name="bld7_1122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reminds you of.</a:t>
            </a:r>
            <a:endParaRPr lang="en-US" sz="1080" dirty="0"/>
          </a:p>
        </p:txBody>
      </p:sp>
      <p:sp>
        <p:nvSpPr>
          <p:cNvPr id="35" name="bld8_1123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1124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7" name="bld8_1125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uses</a:t>
            </a:r>
            <a:endParaRPr lang="en-US" sz="1450" dirty="0"/>
          </a:p>
        </p:txBody>
      </p:sp>
      <p:sp>
        <p:nvSpPr>
          <p:cNvPr id="38" name="bld8_1126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might work in a formula.</a:t>
            </a:r>
            <a:endParaRPr lang="en-US" sz="108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Neat alone can mislead you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31454" y="4206697"/>
            <a:ext cx="390796" cy="932231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79128" y="3446282"/>
            <a:ext cx="390796" cy="1692646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26801" y="2685867"/>
            <a:ext cx="390796" cy="2453061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material, three strengths — three different lessons.</a:t>
            </a:r>
            <a:endParaRPr lang="en-US" sz="1050" dirty="0"/>
          </a:p>
        </p:txBody>
      </p:sp>
      <p:sp>
        <p:nvSpPr>
          <p:cNvPr id="15" name="bld1_112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bld1_112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materials overwhelm at 100%</a:t>
            </a:r>
            <a:endParaRPr lang="en-US" sz="1650" dirty="0"/>
          </a:p>
        </p:txBody>
      </p:sp>
      <p:sp>
        <p:nvSpPr>
          <p:cNvPr id="17" name="bld1_112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potent neat that your nose can't parse their real character.</a:t>
            </a:r>
            <a:endParaRPr lang="en-US" sz="1250" dirty="0"/>
          </a:p>
        </p:txBody>
      </p:sp>
      <p:sp>
        <p:nvSpPr>
          <p:cNvPr id="18" name="bld2_113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9" name="bld2_113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rarely use materials neat</a:t>
            </a:r>
            <a:endParaRPr lang="en-US" sz="1650" dirty="0"/>
          </a:p>
        </p:txBody>
      </p:sp>
      <p:sp>
        <p:nvSpPr>
          <p:cNvPr id="20" name="bld2_113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almost always work with the material diluted — so evaluate it the way you'll actually use it.</a:t>
            </a:r>
            <a:endParaRPr lang="en-US" sz="1250" dirty="0"/>
          </a:p>
        </p:txBody>
      </p:sp>
      <p:sp>
        <p:nvSpPr>
          <p:cNvPr id="21" name="bld3_113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2" name="bld3_113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across the dilution ladder</a:t>
            </a:r>
            <a:endParaRPr lang="en-US" sz="1650" dirty="0"/>
          </a:p>
        </p:txBody>
      </p:sp>
      <p:sp>
        <p:nvSpPr>
          <p:cNvPr id="23" name="bld3_113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material at 100%, 10% and 1% to understand how its character shifts with concentration.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DIGITAL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material log should track</a:t>
            </a:r>
            <a:endParaRPr lang="en-US" sz="3200" dirty="0"/>
          </a:p>
        </p:txBody>
      </p:sp>
      <p:sp>
        <p:nvSpPr>
          <p:cNvPr id="7" name="bld1_1136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37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138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0" name="bld1_1139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name and CAS if known.</a:t>
            </a:r>
            <a:endParaRPr lang="en-US" sz="1080" dirty="0"/>
          </a:p>
        </p:txBody>
      </p:sp>
      <p:sp>
        <p:nvSpPr>
          <p:cNvPr id="11" name="bld2_1140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141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142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</a:t>
            </a:r>
            <a:endParaRPr lang="en-US" sz="1450" dirty="0"/>
          </a:p>
        </p:txBody>
      </p:sp>
      <p:sp>
        <p:nvSpPr>
          <p:cNvPr id="14" name="bld2_1143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was sourced.</a:t>
            </a:r>
            <a:endParaRPr lang="en-US" sz="1080" dirty="0"/>
          </a:p>
        </p:txBody>
      </p:sp>
      <p:sp>
        <p:nvSpPr>
          <p:cNvPr id="15" name="bld3_1144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145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146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147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and solvent used.</a:t>
            </a:r>
            <a:endParaRPr lang="en-US" sz="1080" dirty="0"/>
          </a:p>
        </p:txBody>
      </p:sp>
      <p:sp>
        <p:nvSpPr>
          <p:cNvPr id="19" name="bld4_1148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149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150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1450" dirty="0"/>
          </a:p>
        </p:txBody>
      </p:sp>
      <p:sp>
        <p:nvSpPr>
          <p:cNvPr id="22" name="bld4_1151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written evaluation.</a:t>
            </a:r>
            <a:endParaRPr lang="en-US" sz="1080" dirty="0"/>
          </a:p>
        </p:txBody>
      </p:sp>
      <p:sp>
        <p:nvSpPr>
          <p:cNvPr id="23" name="bld5_1152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5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154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</a:t>
            </a:r>
            <a:endParaRPr lang="en-US" sz="1450" dirty="0"/>
          </a:p>
        </p:txBody>
      </p:sp>
      <p:sp>
        <p:nvSpPr>
          <p:cNvPr id="26" name="bld5_1155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it lasted on strip.</a:t>
            </a:r>
            <a:endParaRPr lang="en-US" sz="1080" dirty="0"/>
          </a:p>
        </p:txBody>
      </p:sp>
      <p:sp>
        <p:nvSpPr>
          <p:cNvPr id="27" name="bld6_1156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157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158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1450" dirty="0"/>
          </a:p>
        </p:txBody>
      </p:sp>
      <p:sp>
        <p:nvSpPr>
          <p:cNvPr id="30" name="bld6_1159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olfactory group it belongs to.</a:t>
            </a:r>
            <a:endParaRPr lang="en-US" sz="1080" dirty="0"/>
          </a:p>
        </p:txBody>
      </p:sp>
      <p:sp>
        <p:nvSpPr>
          <p:cNvPr id="31" name="bld7_1160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161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1162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usage</a:t>
            </a:r>
            <a:endParaRPr lang="en-US" sz="1450" dirty="0"/>
          </a:p>
        </p:txBody>
      </p:sp>
      <p:sp>
        <p:nvSpPr>
          <p:cNvPr id="34" name="bld7_1163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formulas it's appeared in.</a:t>
            </a:r>
            <a:endParaRPr lang="en-US" sz="1080" dirty="0"/>
          </a:p>
        </p:txBody>
      </p:sp>
      <p:sp>
        <p:nvSpPr>
          <p:cNvPr id="36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RECORD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material evaluation looks like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436193" y="2075688"/>
            <a:ext cx="9319309" cy="3803904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3937" y="2313432"/>
            <a:ext cx="256032" cy="25603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76273" y="2295144"/>
            <a:ext cx="840490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Absolute — Bulgarian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801953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801953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95848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095848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in DPG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801953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801953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Medium–long (8h+)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801953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01953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lightly sweet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095848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USE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095848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of a floral formula, rounds out fruity accords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shape of a good digital material card — recreate it for every material you own.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nose is a muscle. Train it daily,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writing — not just in passing sniffs.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62772" y="1924812"/>
            <a:ext cx="3008376" cy="3008376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8100000">
            <a:off x="9279331" y="2741371"/>
            <a:ext cx="1375258" cy="1375258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 · BUILDING ACCORDS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Materials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Accords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perfumery gets creative — combining individual materials into one recognisable smell.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accord?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296266" y="1839115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758275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9581803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9010728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8834257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306324" y="2611544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four materials → one unmistakable rose.</a:t>
            </a:r>
            <a:endParaRPr lang="en-US" sz="1050" dirty="0"/>
          </a:p>
        </p:txBody>
      </p:sp>
      <p:sp>
        <p:nvSpPr>
          <p:cNvPr id="15" name="bld1_116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1_116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materials, one smell</a:t>
            </a:r>
            <a:endParaRPr lang="en-US" sz="1650" dirty="0"/>
          </a:p>
        </p:txBody>
      </p:sp>
      <p:sp>
        <p:nvSpPr>
          <p:cNvPr id="17" name="bld1_116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accord happens when separate materials blend so completely they read as a single, new impression.</a:t>
            </a:r>
            <a:endParaRPr lang="en-US" sz="1250" dirty="0"/>
          </a:p>
        </p:txBody>
      </p:sp>
      <p:sp>
        <p:nvSpPr>
          <p:cNvPr id="18" name="bld2_116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bld2_116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exceeds the parts</a:t>
            </a:r>
            <a:endParaRPr lang="en-US" sz="1650" dirty="0"/>
          </a:p>
        </p:txBody>
      </p:sp>
      <p:sp>
        <p:nvSpPr>
          <p:cNvPr id="20" name="bld2_116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 longer smell the individual materials — you smell "rose," not "three chemicals."</a:t>
            </a:r>
            <a:endParaRPr lang="en-US" sz="1250" dirty="0"/>
          </a:p>
        </p:txBody>
      </p:sp>
      <p:sp>
        <p:nvSpPr>
          <p:cNvPr id="21" name="bld3_117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bld3_117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building block of formulas</a:t>
            </a:r>
            <a:endParaRPr lang="en-US" sz="1650" dirty="0"/>
          </a:p>
        </p:txBody>
      </p:sp>
      <p:sp>
        <p:nvSpPr>
          <p:cNvPr id="23" name="bld3_117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complete perfume is really a composition of several accords working together.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TARGETS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you already know</a:t>
            </a:r>
            <a:endParaRPr lang="en-US" sz="3200" dirty="0"/>
          </a:p>
        </p:txBody>
      </p:sp>
      <p:sp>
        <p:nvSpPr>
          <p:cNvPr id="7" name="bld1_1173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078425" y="2064276"/>
            <a:ext cx="467880" cy="467880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52865"/>
            <a:ext cx="914" cy="7988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30041"/>
            <a:ext cx="108411" cy="7417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1175"/>
          <p:cNvSpPr txBox="1"/>
          <p:nvPr/>
        </p:nvSpPr>
        <p:spPr>
          <a:xfrm>
            <a:off x="731520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450" dirty="0"/>
          </a:p>
        </p:txBody>
      </p:sp>
      <p:sp>
        <p:nvSpPr>
          <p:cNvPr id="14" name="bld1_1176"/>
          <p:cNvSpPr txBox="1"/>
          <p:nvPr/>
        </p:nvSpPr>
        <p:spPr>
          <a:xfrm>
            <a:off x="731520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green, slightly sweet.</a:t>
            </a:r>
            <a:endParaRPr lang="en-US" sz="1080" dirty="0"/>
          </a:p>
        </p:txBody>
      </p:sp>
      <p:sp>
        <p:nvSpPr>
          <p:cNvPr id="15" name="bld2_1177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024524" y="198781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4320000">
            <a:off x="6155577" y="208303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8640000">
            <a:off x="6105519" y="223709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2960000">
            <a:off x="5943530" y="223709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7280000">
            <a:off x="5893472" y="208303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027377" y="220692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3" name="Shape 21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4" name="bld2_1179"/>
          <p:cNvSpPr txBox="1"/>
          <p:nvPr/>
        </p:nvSpPr>
        <p:spPr>
          <a:xfrm>
            <a:off x="4515002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25" name="bld2_1180"/>
          <p:cNvSpPr txBox="1"/>
          <p:nvPr/>
        </p:nvSpPr>
        <p:spPr>
          <a:xfrm>
            <a:off x="4515002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floral.</a:t>
            </a:r>
            <a:endParaRPr lang="en-US" sz="1080" dirty="0"/>
          </a:p>
        </p:txBody>
      </p:sp>
      <p:sp>
        <p:nvSpPr>
          <p:cNvPr id="26" name="bld3_1181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9736684" y="214415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9662507" y="210992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9896448" y="207568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3_1183"/>
          <p:cNvSpPr txBox="1"/>
          <p:nvPr/>
        </p:nvSpPr>
        <p:spPr>
          <a:xfrm>
            <a:off x="8298485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33" name="bld3_1184"/>
          <p:cNvSpPr txBox="1"/>
          <p:nvPr/>
        </p:nvSpPr>
        <p:spPr>
          <a:xfrm>
            <a:off x="8298485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resinous, enveloping.</a:t>
            </a:r>
            <a:endParaRPr lang="en-US" sz="1080" dirty="0"/>
          </a:p>
        </p:txBody>
      </p:sp>
      <p:sp>
        <p:nvSpPr>
          <p:cNvPr id="34" name="bld4_1185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2027072" y="4349252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099884" y="449189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2070445" y="4586996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2070445" y="468209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2099884" y="4777191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4_1187"/>
          <p:cNvSpPr txBox="1"/>
          <p:nvPr/>
        </p:nvSpPr>
        <p:spPr>
          <a:xfrm>
            <a:off x="731520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43" name="bld4_1188"/>
          <p:cNvSpPr txBox="1"/>
          <p:nvPr/>
        </p:nvSpPr>
        <p:spPr>
          <a:xfrm>
            <a:off x="731520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dry, animalic.</a:t>
            </a:r>
            <a:endParaRPr lang="en-US" sz="1080" dirty="0"/>
          </a:p>
        </p:txBody>
      </p:sp>
      <p:sp>
        <p:nvSpPr>
          <p:cNvPr id="44" name="bld5_1189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6" name="Shape 44"/>
          <p:cNvSpPr/>
          <p:nvPr/>
        </p:nvSpPr>
        <p:spPr>
          <a:xfrm rot="840000">
            <a:off x="6027377" y="4363517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840000">
            <a:off x="6090361" y="4429134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31657" y="4444825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9" name="Shape 47"/>
          <p:cNvSpPr/>
          <p:nvPr/>
        </p:nvSpPr>
        <p:spPr>
          <a:xfrm>
            <a:off x="6052198" y="451557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0" name="Shape 48"/>
          <p:cNvSpPr/>
          <p:nvPr/>
        </p:nvSpPr>
        <p:spPr>
          <a:xfrm>
            <a:off x="6072739" y="4586330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1" name="Shape 49"/>
          <p:cNvSpPr/>
          <p:nvPr/>
        </p:nvSpPr>
        <p:spPr>
          <a:xfrm>
            <a:off x="6093280" y="465708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2" name="Shape 50"/>
          <p:cNvSpPr/>
          <p:nvPr/>
        </p:nvSpPr>
        <p:spPr>
          <a:xfrm>
            <a:off x="6113821" y="472783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3" name="Shape 51"/>
          <p:cNvSpPr/>
          <p:nvPr/>
        </p:nvSpPr>
        <p:spPr>
          <a:xfrm>
            <a:off x="6134362" y="479858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4" name="Shape 52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55" name="bld5_1191"/>
          <p:cNvSpPr txBox="1"/>
          <p:nvPr/>
        </p:nvSpPr>
        <p:spPr>
          <a:xfrm>
            <a:off x="4515002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56" name="bld5_1192"/>
          <p:cNvSpPr txBox="1"/>
          <p:nvPr/>
        </p:nvSpPr>
        <p:spPr>
          <a:xfrm>
            <a:off x="4515002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warm, gourmand.</a:t>
            </a:r>
            <a:endParaRPr lang="en-US" sz="1080" dirty="0"/>
          </a:p>
        </p:txBody>
      </p:sp>
      <p:sp>
        <p:nvSpPr>
          <p:cNvPr id="57" name="bld6_1193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9" name="Shape 57"/>
          <p:cNvSpPr/>
          <p:nvPr/>
        </p:nvSpPr>
        <p:spPr>
          <a:xfrm rot="15300000">
            <a:off x="9686155" y="452353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3050000">
            <a:off x="9739651" y="4603594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0800000">
            <a:off x="9830830" y="4634545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8550000">
            <a:off x="9922010" y="4603594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300000">
            <a:off x="9975505" y="452353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5" name="bld6_1195"/>
          <p:cNvSpPr txBox="1"/>
          <p:nvPr/>
        </p:nvSpPr>
        <p:spPr>
          <a:xfrm>
            <a:off x="8298485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66" name="bld6_1196"/>
          <p:cNvSpPr txBox="1"/>
          <p:nvPr/>
        </p:nvSpPr>
        <p:spPr>
          <a:xfrm>
            <a:off x="8298485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sappy.</a:t>
            </a:r>
            <a:endParaRPr lang="en-US" sz="1080" dirty="0"/>
          </a:p>
        </p:txBody>
      </p:sp>
      <p:sp>
        <p:nvSpPr>
          <p:cNvPr id="68" name="Text 6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4" grpId="0"/>
      <p:bldP spid="25" grpId="0"/>
      <p:bldP spid="26" grpId="0"/>
      <p:bldP spid="32" grpId="0"/>
      <p:bldP spid="33" grpId="0"/>
      <p:bldP spid="34" grpId="0"/>
      <p:bldP spid="42" grpId="0"/>
      <p:bldP spid="43" grpId="0"/>
      <p:bldP spid="44" grpId="0"/>
      <p:bldP spid="55" grpId="0"/>
      <p:bldP spid="56" grpId="0"/>
      <p:bldP spid="57" grpId="0"/>
      <p:bldP spid="65" grpId="0"/>
      <p:bldP spid="6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makes something smell like apple?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2776612" y="3402281"/>
            <a:ext cx="1579096" cy="157909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560674" y="3363767"/>
            <a:ext cx="914" cy="26960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3584448" y="3286738"/>
            <a:ext cx="365888" cy="250344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950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350" dirty="0"/>
          </a:p>
        </p:txBody>
      </p:sp>
      <p:sp>
        <p:nvSpPr>
          <p:cNvPr id="13" name="bld1_1197"/>
          <p:cNvSpPr/>
          <p:nvPr/>
        </p:nvSpPr>
        <p:spPr>
          <a:xfrm flipV="1">
            <a:off x="4627778" y="2148840"/>
            <a:ext cx="3173700" cy="196596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5" name="Shape 13"/>
          <p:cNvSpPr/>
          <p:nvPr/>
        </p:nvSpPr>
        <p:spPr>
          <a:xfrm>
            <a:off x="7828544" y="1884944"/>
            <a:ext cx="527792" cy="52779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902435" y="1958835"/>
            <a:ext cx="380010" cy="380010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07993" y="2064393"/>
            <a:ext cx="168893" cy="16889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1199"/>
          <p:cNvSpPr txBox="1"/>
          <p:nvPr/>
        </p:nvSpPr>
        <p:spPr>
          <a:xfrm>
            <a:off x="8567928" y="19751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350" dirty="0"/>
          </a:p>
        </p:txBody>
      </p:sp>
      <p:sp>
        <p:nvSpPr>
          <p:cNvPr id="20" name="bld2_1200"/>
          <p:cNvSpPr/>
          <p:nvPr/>
        </p:nvSpPr>
        <p:spPr>
          <a:xfrm flipV="1">
            <a:off x="4627778" y="2971800"/>
            <a:ext cx="3173700" cy="114300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7913753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7963237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8047578" y="297180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8131919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8181402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8" name="bld2_1202"/>
          <p:cNvSpPr txBox="1"/>
          <p:nvPr/>
        </p:nvSpPr>
        <p:spPr>
          <a:xfrm>
            <a:off x="8567928" y="279806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</a:t>
            </a:r>
            <a:endParaRPr lang="en-US" sz="1350" dirty="0"/>
          </a:p>
        </p:txBody>
      </p:sp>
      <p:sp>
        <p:nvSpPr>
          <p:cNvPr id="29" name="bld3_1203"/>
          <p:cNvSpPr/>
          <p:nvPr/>
        </p:nvSpPr>
        <p:spPr>
          <a:xfrm flipV="1">
            <a:off x="4627778" y="3794760"/>
            <a:ext cx="3173700" cy="32004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1" name="Shape 29"/>
          <p:cNvSpPr/>
          <p:nvPr/>
        </p:nvSpPr>
        <p:spPr>
          <a:xfrm>
            <a:off x="7876045" y="3599477"/>
            <a:ext cx="432789" cy="432789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086954" y="358892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2000000">
            <a:off x="8110728" y="356781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5" name="bld3_1205"/>
          <p:cNvSpPr txBox="1"/>
          <p:nvPr/>
        </p:nvSpPr>
        <p:spPr>
          <a:xfrm>
            <a:off x="8567928" y="362102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</a:t>
            </a:r>
            <a:endParaRPr lang="en-US" sz="1350" dirty="0"/>
          </a:p>
        </p:txBody>
      </p:sp>
      <p:sp>
        <p:nvSpPr>
          <p:cNvPr id="36" name="bld4_1206"/>
          <p:cNvSpPr/>
          <p:nvPr/>
        </p:nvSpPr>
        <p:spPr>
          <a:xfrm>
            <a:off x="4627778" y="4114800"/>
            <a:ext cx="3173700" cy="50292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7" name="Shape 35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876045" y="4422437"/>
            <a:ext cx="432789" cy="432789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086954" y="441188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8110728" y="439077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4_1208"/>
          <p:cNvSpPr txBox="1"/>
          <p:nvPr/>
        </p:nvSpPr>
        <p:spPr>
          <a:xfrm>
            <a:off x="8567928" y="444398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Fruitiness</a:t>
            </a:r>
            <a:endParaRPr lang="en-US" sz="1350" dirty="0"/>
          </a:p>
        </p:txBody>
      </p:sp>
      <p:sp>
        <p:nvSpPr>
          <p:cNvPr id="43" name="bld5_1209"/>
          <p:cNvSpPr/>
          <p:nvPr/>
        </p:nvSpPr>
        <p:spPr>
          <a:xfrm>
            <a:off x="4627778" y="4114800"/>
            <a:ext cx="3173700" cy="1325880"/>
          </a:xfrm>
          <a:prstGeom prst="line">
            <a:avLst/>
          </a:prstGeom>
          <a:noFill/>
          <a:ln w="19050">
            <a:solidFill>
              <a:srgbClr val="9EC24C">
                <a:alpha val="75000"/>
              </a:srgbClr>
            </a:solidFill>
            <a:prstDash val="sysDot"/>
          </a:ln>
        </p:spPr>
      </p:sp>
      <p:sp>
        <p:nvSpPr>
          <p:cNvPr id="44" name="Shape 42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5" name="Shape 43"/>
          <p:cNvSpPr/>
          <p:nvPr/>
        </p:nvSpPr>
        <p:spPr>
          <a:xfrm>
            <a:off x="7828544" y="5176784"/>
            <a:ext cx="527792" cy="52779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65490" y="5213730"/>
            <a:ext cx="453901" cy="45390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66050" y="5414290"/>
            <a:ext cx="52779" cy="5277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9" name="bld5_1211"/>
          <p:cNvSpPr txBox="1"/>
          <p:nvPr/>
        </p:nvSpPr>
        <p:spPr>
          <a:xfrm>
            <a:off x="8567928" y="526694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Freshness</a:t>
            </a:r>
            <a:endParaRPr lang="en-US" sz="1350" dirty="0"/>
          </a:p>
        </p:txBody>
      </p:sp>
      <p:sp>
        <p:nvSpPr>
          <p:cNvPr id="60" name="bld6_1212"/>
          <p:cNvSpPr/>
          <p:nvPr/>
        </p:nvSpPr>
        <p:spPr>
          <a:xfrm>
            <a:off x="4627778" y="4114800"/>
            <a:ext cx="3173700" cy="21488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61" name="Shape 59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2" name="Shape 60"/>
          <p:cNvSpPr/>
          <p:nvPr/>
        </p:nvSpPr>
        <p:spPr>
          <a:xfrm>
            <a:off x="7828544" y="5999744"/>
            <a:ext cx="527792" cy="52779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895895" y="6131692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7868664" y="6219657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7868664" y="6307623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895895" y="6395588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68" name="bld6_1214"/>
          <p:cNvSpPr txBox="1"/>
          <p:nvPr/>
        </p:nvSpPr>
        <p:spPr>
          <a:xfrm>
            <a:off x="8567928" y="60899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</a:t>
            </a:r>
            <a:endParaRPr lang="en-US" sz="135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8" grpId="0"/>
      <p:bldP spid="29" grpId="0"/>
      <p:bldP spid="35" grpId="0"/>
      <p:bldP spid="36" grpId="0"/>
      <p:bldP spid="42" grpId="0"/>
      <p:bldP spid="43" grpId="0"/>
      <p:bldP spid="59" grpId="0"/>
      <p:bldP spid="60" grpId="0"/>
      <p:bldP spid="68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APPLE, CONTINUED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materials to each facet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41941" y="2077590"/>
            <a:ext cx="2011534" cy="2011534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682748" y="2218397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36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72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08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44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80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447131" y="2982780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idea into facets — then find one material per facet.</a:t>
            </a:r>
            <a:endParaRPr lang="en-US" sz="1050" dirty="0"/>
          </a:p>
        </p:txBody>
      </p:sp>
      <p:sp>
        <p:nvSpPr>
          <p:cNvPr id="18" name="bld1_121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bld1_121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 → a trace of Ethyl Maltol</a:t>
            </a:r>
            <a:endParaRPr lang="en-US" sz="1650" dirty="0"/>
          </a:p>
        </p:txBody>
      </p:sp>
      <p:sp>
        <p:nvSpPr>
          <p:cNvPr id="20" name="bld1_1217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amount adds sugary roundness without tipping into candy.</a:t>
            </a:r>
            <a:endParaRPr lang="en-US" sz="1250" dirty="0"/>
          </a:p>
        </p:txBody>
      </p:sp>
      <p:sp>
        <p:nvSpPr>
          <p:cNvPr id="21" name="bld2_1218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2" name="bld2_1219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 → cis-3-Hexenol (diluted)</a:t>
            </a:r>
            <a:endParaRPr lang="en-US" sz="1650" dirty="0"/>
          </a:p>
        </p:txBody>
      </p:sp>
      <p:sp>
        <p:nvSpPr>
          <p:cNvPr id="23" name="bld2_1220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"green leaf" molecule, used in a whisper.</a:t>
            </a:r>
            <a:endParaRPr lang="en-US" sz="1250" dirty="0"/>
          </a:p>
        </p:txBody>
      </p:sp>
      <p:sp>
        <p:nvSpPr>
          <p:cNvPr id="24" name="bld3_1221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3_1222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 / fruitiness → fruity esters</a:t>
            </a:r>
            <a:endParaRPr lang="en-US" sz="1650" dirty="0"/>
          </a:p>
        </p:txBody>
      </p:sp>
      <p:sp>
        <p:nvSpPr>
          <p:cNvPr id="26" name="bld3_1223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 and similar esters carry the juicy fruit body.</a:t>
            </a:r>
            <a:endParaRPr lang="en-US" sz="1250" dirty="0"/>
          </a:p>
        </p:txBody>
      </p:sp>
      <p:sp>
        <p:nvSpPr>
          <p:cNvPr id="27" name="bld4_1224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4_1225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 → a natural or aldehyde touch</a:t>
            </a:r>
            <a:endParaRPr lang="en-US" sz="1650" dirty="0"/>
          </a:p>
        </p:txBody>
      </p:sp>
      <p:sp>
        <p:nvSpPr>
          <p:cNvPr id="29" name="bld4_1226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waxy or aldehydic note rounds out the peel character.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formulas are starting structures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build upon — not finished perfumes.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METHOD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Jean Carles method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09569" y="2549073"/>
            <a:ext cx="838139" cy="83813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Shape 7"/>
          <p:cNvSpPr/>
          <p:nvPr/>
        </p:nvSpPr>
        <p:spPr>
          <a:xfrm>
            <a:off x="9547708" y="2549073"/>
            <a:ext cx="838139" cy="838139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systematic, repeatable way to explore a relationship between materials.</a:t>
            </a:r>
            <a:endParaRPr lang="en-US" sz="1050" dirty="0"/>
          </a:p>
        </p:txBody>
      </p:sp>
      <p:sp>
        <p:nvSpPr>
          <p:cNvPr id="11" name="bld1_122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bld1_122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two materials, A and B</a:t>
            </a:r>
            <a:endParaRPr lang="en-US" sz="1650" dirty="0"/>
          </a:p>
        </p:txBody>
      </p:sp>
      <p:sp>
        <p:nvSpPr>
          <p:cNvPr id="13" name="bld1_122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just two — nothing more — so you can see their interaction clearly.</a:t>
            </a:r>
            <a:endParaRPr lang="en-US" sz="1250" dirty="0"/>
          </a:p>
        </p:txBody>
      </p:sp>
      <p:sp>
        <p:nvSpPr>
          <p:cNvPr id="14" name="bld2_123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5" name="bld2_123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ratios methodically</a:t>
            </a:r>
            <a:endParaRPr lang="en-US" sz="1650" dirty="0"/>
          </a:p>
        </p:txBody>
      </p:sp>
      <p:sp>
        <p:nvSpPr>
          <p:cNvPr id="16" name="bld2_123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them at different proportions and evaluate each one on its own strip.</a:t>
            </a:r>
            <a:endParaRPr lang="en-US" sz="1250" dirty="0"/>
          </a:p>
        </p:txBody>
      </p:sp>
      <p:sp>
        <p:nvSpPr>
          <p:cNvPr id="17" name="bld3_123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3_123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how they behave together</a:t>
            </a:r>
            <a:endParaRPr lang="en-US" sz="1650" dirty="0"/>
          </a:p>
        </p:txBody>
      </p:sp>
      <p:sp>
        <p:nvSpPr>
          <p:cNvPr id="19" name="bld3_123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mapping the relationship between A and B before adding any complexity.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EXPERIMENTS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: B, explored step by step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236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237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1238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: 10</a:t>
            </a:r>
            <a:endParaRPr lang="en-US" sz="1450" dirty="0"/>
          </a:p>
        </p:txBody>
      </p:sp>
      <p:sp>
        <p:nvSpPr>
          <p:cNvPr id="13" name="bld1_1239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A</a:t>
            </a:r>
            <a:endParaRPr lang="en-US" sz="1080" dirty="0"/>
          </a:p>
        </p:txBody>
      </p:sp>
      <p:sp>
        <p:nvSpPr>
          <p:cNvPr id="14" name="bld2_1240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241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1242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: 20</a:t>
            </a:r>
            <a:endParaRPr lang="en-US" sz="1450" dirty="0"/>
          </a:p>
        </p:txBody>
      </p:sp>
      <p:sp>
        <p:nvSpPr>
          <p:cNvPr id="17" name="bld2_1243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 lean</a:t>
            </a:r>
            <a:endParaRPr lang="en-US" sz="1080" dirty="0"/>
          </a:p>
        </p:txBody>
      </p:sp>
      <p:sp>
        <p:nvSpPr>
          <p:cNvPr id="18" name="bld3_1244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245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246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: 30</a:t>
            </a:r>
            <a:endParaRPr lang="en-US" sz="1450" dirty="0"/>
          </a:p>
        </p:txBody>
      </p:sp>
      <p:sp>
        <p:nvSpPr>
          <p:cNvPr id="21" name="bld3_1247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</a:t>
            </a:r>
            <a:endParaRPr lang="en-US" sz="1080" dirty="0"/>
          </a:p>
        </p:txBody>
      </p:sp>
      <p:sp>
        <p:nvSpPr>
          <p:cNvPr id="22" name="bld4_1248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249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4_1250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: 40</a:t>
            </a:r>
            <a:endParaRPr lang="en-US" sz="1450" dirty="0"/>
          </a:p>
        </p:txBody>
      </p:sp>
      <p:sp>
        <p:nvSpPr>
          <p:cNvPr id="25" name="bld4_1251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</a:t>
            </a:r>
            <a:endParaRPr lang="en-US" sz="1080" dirty="0"/>
          </a:p>
        </p:txBody>
      </p:sp>
      <p:sp>
        <p:nvSpPr>
          <p:cNvPr id="26" name="bld5_1252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1253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5_1254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: 50</a:t>
            </a:r>
            <a:endParaRPr lang="en-US" sz="1450" dirty="0"/>
          </a:p>
        </p:txBody>
      </p:sp>
      <p:sp>
        <p:nvSpPr>
          <p:cNvPr id="29" name="bld5_1255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midpoint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accord development loop</a:t>
            </a:r>
            <a:endParaRPr lang="en-US" sz="3200" dirty="0"/>
          </a:p>
        </p:txBody>
      </p:sp>
      <p:sp>
        <p:nvSpPr>
          <p:cNvPr id="7" name="bld1_1256"/>
          <p:cNvSpPr/>
          <p:nvPr/>
        </p:nvSpPr>
        <p:spPr>
          <a:xfrm>
            <a:off x="548640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257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1258"/>
          <p:cNvSpPr txBox="1"/>
          <p:nvPr/>
        </p:nvSpPr>
        <p:spPr>
          <a:xfrm>
            <a:off x="713232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1</a:t>
            </a:r>
            <a:endParaRPr lang="en-US" sz="1450" dirty="0"/>
          </a:p>
        </p:txBody>
      </p:sp>
      <p:sp>
        <p:nvSpPr>
          <p:cNvPr id="10" name="bld1_1259"/>
          <p:cNvSpPr txBox="1"/>
          <p:nvPr/>
        </p:nvSpPr>
        <p:spPr>
          <a:xfrm>
            <a:off x="713232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pass at the accord.</a:t>
            </a:r>
            <a:endParaRPr lang="en-US" sz="1000" dirty="0"/>
          </a:p>
        </p:txBody>
      </p:sp>
      <p:sp>
        <p:nvSpPr>
          <p:cNvPr id="11" name="bld1_1260"/>
          <p:cNvSpPr txBox="1"/>
          <p:nvPr/>
        </p:nvSpPr>
        <p:spPr>
          <a:xfrm>
            <a:off x="251149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1261"/>
          <p:cNvSpPr/>
          <p:nvPr/>
        </p:nvSpPr>
        <p:spPr>
          <a:xfrm>
            <a:off x="2831531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262"/>
          <p:cNvSpPr txBox="1"/>
          <p:nvPr/>
        </p:nvSpPr>
        <p:spPr>
          <a:xfrm>
            <a:off x="299612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1263"/>
          <p:cNvSpPr txBox="1"/>
          <p:nvPr/>
        </p:nvSpPr>
        <p:spPr>
          <a:xfrm>
            <a:off x="2996123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</a:t>
            </a:r>
            <a:endParaRPr lang="en-US" sz="1450" dirty="0"/>
          </a:p>
        </p:txBody>
      </p:sp>
      <p:sp>
        <p:nvSpPr>
          <p:cNvPr id="15" name="bld2_1264"/>
          <p:cNvSpPr txBox="1"/>
          <p:nvPr/>
        </p:nvSpPr>
        <p:spPr>
          <a:xfrm>
            <a:off x="2996123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fresh scent strip.</a:t>
            </a:r>
            <a:endParaRPr lang="en-US" sz="1000" dirty="0"/>
          </a:p>
        </p:txBody>
      </p:sp>
      <p:sp>
        <p:nvSpPr>
          <p:cNvPr id="16" name="bld2_1265"/>
          <p:cNvSpPr txBox="1"/>
          <p:nvPr/>
        </p:nvSpPr>
        <p:spPr>
          <a:xfrm>
            <a:off x="47943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1266"/>
          <p:cNvSpPr/>
          <p:nvPr/>
        </p:nvSpPr>
        <p:spPr>
          <a:xfrm>
            <a:off x="5114422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267"/>
          <p:cNvSpPr txBox="1"/>
          <p:nvPr/>
        </p:nvSpPr>
        <p:spPr>
          <a:xfrm>
            <a:off x="52790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1268"/>
          <p:cNvSpPr txBox="1"/>
          <p:nvPr/>
        </p:nvSpPr>
        <p:spPr>
          <a:xfrm>
            <a:off x="5279014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problem</a:t>
            </a:r>
            <a:endParaRPr lang="en-US" sz="1450" dirty="0"/>
          </a:p>
        </p:txBody>
      </p:sp>
      <p:sp>
        <p:nvSpPr>
          <p:cNvPr id="20" name="bld3_1269"/>
          <p:cNvSpPr txBox="1"/>
          <p:nvPr/>
        </p:nvSpPr>
        <p:spPr>
          <a:xfrm>
            <a:off x="5279014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missing, dominant, or off?</a:t>
            </a:r>
            <a:endParaRPr lang="en-US" sz="1000" dirty="0"/>
          </a:p>
        </p:txBody>
      </p:sp>
      <p:sp>
        <p:nvSpPr>
          <p:cNvPr id="21" name="bld3_1270"/>
          <p:cNvSpPr txBox="1"/>
          <p:nvPr/>
        </p:nvSpPr>
        <p:spPr>
          <a:xfrm>
            <a:off x="70772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1271"/>
          <p:cNvSpPr/>
          <p:nvPr/>
        </p:nvSpPr>
        <p:spPr>
          <a:xfrm>
            <a:off x="7397313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272"/>
          <p:cNvSpPr txBox="1"/>
          <p:nvPr/>
        </p:nvSpPr>
        <p:spPr>
          <a:xfrm>
            <a:off x="75619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1273"/>
          <p:cNvSpPr txBox="1"/>
          <p:nvPr/>
        </p:nvSpPr>
        <p:spPr>
          <a:xfrm>
            <a:off x="7561905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</a:t>
            </a:r>
            <a:endParaRPr lang="en-US" sz="1450" dirty="0"/>
          </a:p>
        </p:txBody>
      </p:sp>
      <p:sp>
        <p:nvSpPr>
          <p:cNvPr id="25" name="bld4_1274"/>
          <p:cNvSpPr txBox="1"/>
          <p:nvPr/>
        </p:nvSpPr>
        <p:spPr>
          <a:xfrm>
            <a:off x="7561905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 single material or ratio.</a:t>
            </a:r>
            <a:endParaRPr lang="en-US" sz="1000" dirty="0"/>
          </a:p>
        </p:txBody>
      </p:sp>
      <p:sp>
        <p:nvSpPr>
          <p:cNvPr id="26" name="bld4_1275"/>
          <p:cNvSpPr txBox="1"/>
          <p:nvPr/>
        </p:nvSpPr>
        <p:spPr>
          <a:xfrm>
            <a:off x="936016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1276"/>
          <p:cNvSpPr/>
          <p:nvPr/>
        </p:nvSpPr>
        <p:spPr>
          <a:xfrm>
            <a:off x="9680204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277"/>
          <p:cNvSpPr txBox="1"/>
          <p:nvPr/>
        </p:nvSpPr>
        <p:spPr>
          <a:xfrm>
            <a:off x="984479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1278"/>
          <p:cNvSpPr txBox="1"/>
          <p:nvPr/>
        </p:nvSpPr>
        <p:spPr>
          <a:xfrm>
            <a:off x="9844796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again</a:t>
            </a:r>
            <a:endParaRPr lang="en-US" sz="1450" dirty="0"/>
          </a:p>
        </p:txBody>
      </p:sp>
      <p:sp>
        <p:nvSpPr>
          <p:cNvPr id="30" name="bld5_1279"/>
          <p:cNvSpPr txBox="1"/>
          <p:nvPr/>
        </p:nvSpPr>
        <p:spPr>
          <a:xfrm>
            <a:off x="9844796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accord reads true.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1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 at a time. Change three,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you'll never know which one mattered.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06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1702" y="2053742"/>
            <a:ext cx="2750515" cy="2750515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66122" y="3128162"/>
            <a:ext cx="601675" cy="60167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07 · FORMULA CONSTRUCTION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Accords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 Full Formula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individual materials and accords come together into a complete, structured perfume.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ARCHITECTURE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has the same basic anatomy</a:t>
            </a:r>
            <a:endParaRPr lang="en-US" sz="3200" dirty="0"/>
          </a:p>
        </p:txBody>
      </p:sp>
      <p:sp>
        <p:nvSpPr>
          <p:cNvPr id="7" name="bld1_1280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281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282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idea</a:t>
            </a:r>
            <a:endParaRPr lang="en-US" sz="1450" dirty="0"/>
          </a:p>
        </p:txBody>
      </p:sp>
      <p:sp>
        <p:nvSpPr>
          <p:cNvPr id="10" name="bld1_1283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concept the whole formula serves.</a:t>
            </a:r>
            <a:endParaRPr lang="en-US" sz="1080" dirty="0"/>
          </a:p>
        </p:txBody>
      </p:sp>
      <p:sp>
        <p:nvSpPr>
          <p:cNvPr id="11" name="bld2_1284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285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286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accord</a:t>
            </a:r>
            <a:endParaRPr lang="en-US" sz="1450" dirty="0"/>
          </a:p>
        </p:txBody>
      </p:sp>
      <p:sp>
        <p:nvSpPr>
          <p:cNvPr id="14" name="bld2_1287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that carries the main idea.</a:t>
            </a:r>
            <a:endParaRPr lang="en-US" sz="1080" dirty="0"/>
          </a:p>
        </p:txBody>
      </p:sp>
      <p:sp>
        <p:nvSpPr>
          <p:cNvPr id="15" name="bld3_1288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289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290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450" dirty="0"/>
          </a:p>
        </p:txBody>
      </p:sp>
      <p:sp>
        <p:nvSpPr>
          <p:cNvPr id="18" name="bld3_1291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adjustments that shape character.</a:t>
            </a:r>
            <a:endParaRPr lang="en-US" sz="1080" dirty="0"/>
          </a:p>
        </p:txBody>
      </p:sp>
      <p:sp>
        <p:nvSpPr>
          <p:cNvPr id="19" name="bld4_1292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29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294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materials</a:t>
            </a:r>
            <a:endParaRPr lang="en-US" sz="1450" dirty="0"/>
          </a:p>
        </p:txBody>
      </p:sp>
      <p:sp>
        <p:nvSpPr>
          <p:cNvPr id="22" name="bld4_1295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formula project and spread.</a:t>
            </a:r>
            <a:endParaRPr lang="en-US" sz="1080" dirty="0"/>
          </a:p>
        </p:txBody>
      </p:sp>
      <p:sp>
        <p:nvSpPr>
          <p:cNvPr id="23" name="bld5_1296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297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298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structure</a:t>
            </a:r>
            <a:endParaRPr lang="en-US" sz="1450" dirty="0"/>
          </a:p>
        </p:txBody>
      </p:sp>
      <p:sp>
        <p:nvSpPr>
          <p:cNvPr id="26" name="bld5_1299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that anchors the drydown.</a:t>
            </a:r>
            <a:endParaRPr lang="en-US" sz="1080" dirty="0"/>
          </a:p>
        </p:txBody>
      </p:sp>
      <p:sp>
        <p:nvSpPr>
          <p:cNvPr id="27" name="bld6_1300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301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302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materials</a:t>
            </a:r>
            <a:endParaRPr lang="en-US" sz="1450" dirty="0"/>
          </a:p>
        </p:txBody>
      </p:sp>
      <p:sp>
        <p:nvSpPr>
          <p:cNvPr id="30" name="bld6_1303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doses with outsized influence.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starts as a sentence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682748" y="2103183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7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54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81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08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35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62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9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47131" y="2867566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sentence, broken into buildable pieces.</a:t>
            </a:r>
            <a:endParaRPr lang="en-US" sz="1050" dirty="0"/>
          </a:p>
        </p:txBody>
      </p:sp>
      <p:sp>
        <p:nvSpPr>
          <p:cNvPr id="20" name="bld1_130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1_130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"Cold mineral citrus with smoky woods"</a:t>
            </a:r>
            <a:endParaRPr lang="en-US" sz="1650" dirty="0"/>
          </a:p>
        </p:txBody>
      </p:sp>
      <p:sp>
        <p:nvSpPr>
          <p:cNvPr id="22" name="bld1_1306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starting idea — vivid, specific, and evocative rather than technical.</a:t>
            </a:r>
            <a:endParaRPr lang="en-US" sz="1250" dirty="0"/>
          </a:p>
        </p:txBody>
      </p:sp>
      <p:sp>
        <p:nvSpPr>
          <p:cNvPr id="23" name="bld2_1307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2_1308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into olfactory components</a:t>
            </a:r>
            <a:endParaRPr lang="en-US" sz="1650" dirty="0"/>
          </a:p>
        </p:txBody>
      </p:sp>
      <p:sp>
        <p:nvSpPr>
          <p:cNvPr id="25" name="bld2_1309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/ mineral. Citrus. Smoky. Woods. Four distinct pieces to build separately.</a:t>
            </a:r>
            <a:endParaRPr lang="en-US" sz="1250" dirty="0"/>
          </a:p>
        </p:txBody>
      </p:sp>
      <p:sp>
        <p:nvSpPr>
          <p:cNvPr id="26" name="bld3_1310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7" name="bld3_1311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piece becomes its own accord</a:t>
            </a:r>
            <a:endParaRPr lang="en-US" sz="1650" dirty="0"/>
          </a:p>
        </p:txBody>
      </p:sp>
      <p:sp>
        <p:nvSpPr>
          <p:cNvPr id="28" name="bld3_1312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construct a small accord for each component, then combine them.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THE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combine into a fragrance</a:t>
            </a:r>
            <a:endParaRPr lang="en-US" sz="3200" dirty="0"/>
          </a:p>
        </p:txBody>
      </p:sp>
      <p:sp>
        <p:nvSpPr>
          <p:cNvPr id="7" name="bld1_1313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314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1315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accord</a:t>
            </a:r>
            <a:endParaRPr lang="en-US" sz="1450" dirty="0"/>
          </a:p>
        </p:txBody>
      </p:sp>
      <p:sp>
        <p:nvSpPr>
          <p:cNvPr id="10" name="bld1_1316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cold, bright opening.</a:t>
            </a:r>
            <a:endParaRPr lang="en-US" sz="1000" dirty="0"/>
          </a:p>
        </p:txBody>
      </p:sp>
      <p:sp>
        <p:nvSpPr>
          <p:cNvPr id="11" name="bld1_1317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1318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319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1320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 accord</a:t>
            </a:r>
            <a:endParaRPr lang="en-US" sz="1450" dirty="0"/>
          </a:p>
        </p:txBody>
      </p:sp>
      <p:sp>
        <p:nvSpPr>
          <p:cNvPr id="15" name="bld2_1321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cool, stony transparency.</a:t>
            </a:r>
            <a:endParaRPr lang="en-US" sz="1000" dirty="0"/>
          </a:p>
        </p:txBody>
      </p:sp>
      <p:sp>
        <p:nvSpPr>
          <p:cNvPr id="16" name="bld2_1322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1323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324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1325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base</a:t>
            </a:r>
            <a:endParaRPr lang="en-US" sz="1450" dirty="0"/>
          </a:p>
        </p:txBody>
      </p:sp>
      <p:sp>
        <p:nvSpPr>
          <p:cNvPr id="20" name="bld3_1326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dry, structural foundation.</a:t>
            </a:r>
            <a:endParaRPr lang="en-US" sz="1000" dirty="0"/>
          </a:p>
        </p:txBody>
      </p:sp>
      <p:sp>
        <p:nvSpPr>
          <p:cNvPr id="21" name="bld3_1327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1328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329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1330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structure</a:t>
            </a:r>
            <a:endParaRPr lang="en-US" sz="1450" dirty="0"/>
          </a:p>
        </p:txBody>
      </p:sp>
      <p:sp>
        <p:nvSpPr>
          <p:cNvPr id="25" name="bld4_1331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skin-like glue holding it together.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METHOD, BIGGER SCALE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 Carles at the formula level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2429" y="2758608"/>
            <a:ext cx="419070" cy="41907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Shape 7"/>
          <p:cNvSpPr/>
          <p:nvPr/>
        </p:nvSpPr>
        <p:spPr>
          <a:xfrm>
            <a:off x="9149592" y="2758608"/>
            <a:ext cx="419070" cy="41907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754" y="2758608"/>
            <a:ext cx="419070" cy="41907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Shape 9"/>
          <p:cNvSpPr/>
          <p:nvPr/>
        </p:nvSpPr>
        <p:spPr>
          <a:xfrm>
            <a:off x="9903917" y="2758608"/>
            <a:ext cx="419070" cy="41907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systematic ratio testing, scaled from materials to full accords.</a:t>
            </a:r>
            <a:endParaRPr lang="en-US" sz="1050" dirty="0"/>
          </a:p>
        </p:txBody>
      </p:sp>
      <p:sp>
        <p:nvSpPr>
          <p:cNvPr id="13" name="bld1_133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4" name="bld1_133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accord-to-accord ratios</a:t>
            </a:r>
            <a:endParaRPr lang="en-US" sz="1650" dirty="0"/>
          </a:p>
        </p:txBody>
      </p:sp>
      <p:sp>
        <p:nvSpPr>
          <p:cNvPr id="15" name="bld1_133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each accord exists individually, blend pairs of them systematically, just like material A:B testing.</a:t>
            </a:r>
            <a:endParaRPr lang="en-US" sz="1250" dirty="0"/>
          </a:p>
        </p:txBody>
      </p:sp>
      <p:sp>
        <p:nvSpPr>
          <p:cNvPr id="16" name="bld2_133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2_133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 balance point</a:t>
            </a:r>
            <a:endParaRPr lang="en-US" sz="1650" dirty="0"/>
          </a:p>
        </p:txBody>
      </p:sp>
      <p:sp>
        <p:nvSpPr>
          <p:cNvPr id="18" name="bld2_133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citrus and the woods disappear; too much wood and the opening feels dull.</a:t>
            </a:r>
            <a:endParaRPr lang="en-US" sz="1250" dirty="0"/>
          </a:p>
        </p:txBody>
      </p:sp>
      <p:sp>
        <p:nvSpPr>
          <p:cNvPr id="19" name="bld3_133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33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up, don't dump in</a:t>
            </a:r>
            <a:endParaRPr lang="en-US" sz="1650" dirty="0"/>
          </a:p>
        </p:txBody>
      </p:sp>
      <p:sp>
        <p:nvSpPr>
          <p:cNvPr id="21" name="bld3_134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accord at a time, evaluating after each addition — never combine everything at once.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must total 100%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of every formula always sum to 100%.</a:t>
            </a:r>
            <a:endParaRPr lang="en-US" sz="1050" dirty="0"/>
          </a:p>
        </p:txBody>
      </p:sp>
      <p:sp>
        <p:nvSpPr>
          <p:cNvPr id="11" name="bld1_134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bld1_134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gets a percentage</a:t>
            </a:r>
            <a:endParaRPr lang="en-US" sz="1650" dirty="0"/>
          </a:p>
        </p:txBody>
      </p:sp>
      <p:sp>
        <p:nvSpPr>
          <p:cNvPr id="13" name="bld1_134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concentrate, before dilution — every material's share must be tracked.</a:t>
            </a:r>
            <a:endParaRPr lang="en-US" sz="1250" dirty="0"/>
          </a:p>
        </p:txBody>
      </p:sp>
      <p:sp>
        <p:nvSpPr>
          <p:cNvPr id="14" name="bld2_134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2_134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percentages always sum to 100</a:t>
            </a:r>
            <a:endParaRPr lang="en-US" sz="1650" dirty="0"/>
          </a:p>
        </p:txBody>
      </p:sp>
      <p:sp>
        <p:nvSpPr>
          <p:cNvPr id="16" name="bld2_134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optional — it's how you know your formula sheet is complete and correct.</a:t>
            </a:r>
            <a:endParaRPr lang="en-US" sz="1250" dirty="0"/>
          </a:p>
        </p:txBody>
      </p:sp>
      <p:sp>
        <p:nvSpPr>
          <p:cNvPr id="17" name="bld3_134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3_134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makes this effortless</a:t>
            </a:r>
            <a:endParaRPr lang="en-US" sz="1650" dirty="0"/>
          </a:p>
        </p:txBody>
      </p:sp>
      <p:sp>
        <p:nvSpPr>
          <p:cNvPr id="19" name="bld3_134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spreadsheet with a running total column catches errors instantly.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fresh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"Bright, clean citrus that lasts."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41127" y="2612441"/>
            <a:ext cx="33283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1" name="bld1_1350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1351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18%</a:t>
            </a:r>
            <a:endParaRPr lang="en-US" sz="1250" dirty="0"/>
          </a:p>
        </p:txBody>
      </p:sp>
      <p:sp>
        <p:nvSpPr>
          <p:cNvPr id="23" name="bld1_1352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00" dirty="0"/>
          </a:p>
        </p:txBody>
      </p:sp>
      <p:sp>
        <p:nvSpPr>
          <p:cNvPr id="24" name="bld2_1353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1354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  —  12%</a:t>
            </a:r>
            <a:endParaRPr lang="en-US" sz="1250" dirty="0"/>
          </a:p>
        </p:txBody>
      </p:sp>
      <p:sp>
        <p:nvSpPr>
          <p:cNvPr id="26" name="bld2_1355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freshness</a:t>
            </a:r>
            <a:endParaRPr lang="en-US" sz="1000" dirty="0"/>
          </a:p>
        </p:txBody>
      </p:sp>
      <p:sp>
        <p:nvSpPr>
          <p:cNvPr id="27" name="bld3_1356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8" name="bld3_1357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15%</a:t>
            </a:r>
            <a:endParaRPr lang="en-US" sz="1250" dirty="0"/>
          </a:p>
        </p:txBody>
      </p:sp>
      <p:sp>
        <p:nvSpPr>
          <p:cNvPr id="29" name="bld3_1358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 diffusion</a:t>
            </a:r>
            <a:endParaRPr lang="en-US" sz="1000" dirty="0"/>
          </a:p>
        </p:txBody>
      </p:sp>
      <p:sp>
        <p:nvSpPr>
          <p:cNvPr id="30" name="bld4_1359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4_1360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(10%)  —  3%</a:t>
            </a:r>
            <a:endParaRPr lang="en-US" sz="1250" dirty="0"/>
          </a:p>
        </p:txBody>
      </p:sp>
      <p:sp>
        <p:nvSpPr>
          <p:cNvPr id="32" name="bld4_1361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edge</a:t>
            </a:r>
            <a:endParaRPr lang="en-US" sz="1000" dirty="0"/>
          </a:p>
        </p:txBody>
      </p:sp>
      <p:sp>
        <p:nvSpPr>
          <p:cNvPr id="33" name="bld5_1362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4" name="bld5_1363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22%</a:t>
            </a:r>
            <a:endParaRPr lang="en-US" sz="1250" dirty="0"/>
          </a:p>
        </p:txBody>
      </p:sp>
      <p:sp>
        <p:nvSpPr>
          <p:cNvPr id="35" name="bld5_1364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36" name="bld6_1365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7" name="bld6_1366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20%</a:t>
            </a:r>
            <a:endParaRPr lang="en-US" sz="1250" dirty="0"/>
          </a:p>
        </p:txBody>
      </p:sp>
      <p:sp>
        <p:nvSpPr>
          <p:cNvPr id="38" name="bld6_1367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woody base</a:t>
            </a:r>
            <a:endParaRPr lang="en-US" sz="1000" dirty="0"/>
          </a:p>
        </p:txBody>
      </p:sp>
      <p:sp>
        <p:nvSpPr>
          <p:cNvPr id="39" name="bld7_1368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0" name="bld7_1369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10%</a:t>
            </a:r>
            <a:endParaRPr lang="en-US" sz="1250" dirty="0"/>
          </a:p>
        </p:txBody>
      </p:sp>
      <p:sp>
        <p:nvSpPr>
          <p:cNvPr id="41" name="bld7_1370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&amp; lasting power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woody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"Warm, dry sandalwood with a soft amber glow."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22" name="bld1_1371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bld1_1372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 —  20%</a:t>
            </a:r>
            <a:endParaRPr lang="en-US" sz="1250" dirty="0"/>
          </a:p>
        </p:txBody>
      </p:sp>
      <p:sp>
        <p:nvSpPr>
          <p:cNvPr id="24" name="bld1_1373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structural wood</a:t>
            </a:r>
            <a:endParaRPr lang="en-US" sz="1000" dirty="0"/>
          </a:p>
        </p:txBody>
      </p:sp>
      <p:sp>
        <p:nvSpPr>
          <p:cNvPr id="25" name="bld2_1374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2_1375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  —  15%</a:t>
            </a:r>
            <a:endParaRPr lang="en-US" sz="1250" dirty="0"/>
          </a:p>
        </p:txBody>
      </p:sp>
      <p:sp>
        <p:nvSpPr>
          <p:cNvPr id="27" name="bld2_1376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woody heart</a:t>
            </a:r>
            <a:endParaRPr lang="en-US" sz="1000" dirty="0"/>
          </a:p>
        </p:txBody>
      </p:sp>
      <p:sp>
        <p:nvSpPr>
          <p:cNvPr id="28" name="bld3_1377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3_1378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25%</a:t>
            </a:r>
            <a:endParaRPr lang="en-US" sz="1250" dirty="0"/>
          </a:p>
        </p:txBody>
      </p:sp>
      <p:sp>
        <p:nvSpPr>
          <p:cNvPr id="30" name="bld3_1379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transparency</a:t>
            </a:r>
            <a:endParaRPr lang="en-US" sz="1000" dirty="0"/>
          </a:p>
        </p:txBody>
      </p:sp>
      <p:sp>
        <p:nvSpPr>
          <p:cNvPr id="31" name="bld4_1380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2" name="bld4_1381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15%</a:t>
            </a:r>
            <a:endParaRPr lang="en-US" sz="1250" dirty="0"/>
          </a:p>
        </p:txBody>
      </p:sp>
      <p:sp>
        <p:nvSpPr>
          <p:cNvPr id="33" name="bld4_1382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Radiant amber warmth</a:t>
            </a:r>
            <a:endParaRPr lang="en-US" sz="1000" dirty="0"/>
          </a:p>
        </p:txBody>
      </p:sp>
      <p:sp>
        <p:nvSpPr>
          <p:cNvPr id="34" name="bld5_1383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5_1384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  —  10%</a:t>
            </a:r>
            <a:endParaRPr lang="en-US" sz="1250" dirty="0"/>
          </a:p>
        </p:txBody>
      </p:sp>
      <p:sp>
        <p:nvSpPr>
          <p:cNvPr id="36" name="bld5_1385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 depth</a:t>
            </a:r>
            <a:endParaRPr lang="en-US" sz="1000" dirty="0"/>
          </a:p>
        </p:txBody>
      </p:sp>
      <p:sp>
        <p:nvSpPr>
          <p:cNvPr id="37" name="bld6_1386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8" name="bld6_1387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  —  8%</a:t>
            </a:r>
            <a:endParaRPr lang="en-US" sz="1250" dirty="0"/>
          </a:p>
        </p:txBody>
      </p:sp>
      <p:sp>
        <p:nvSpPr>
          <p:cNvPr id="39" name="bld6_1388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 root note</a:t>
            </a:r>
            <a:endParaRPr lang="en-US" sz="1000" dirty="0"/>
          </a:p>
        </p:txBody>
      </p:sp>
      <p:sp>
        <p:nvSpPr>
          <p:cNvPr id="40" name="bld7_1389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1" name="bld7_1390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blend  —  7%</a:t>
            </a:r>
            <a:endParaRPr lang="en-US" sz="1250" dirty="0"/>
          </a:p>
        </p:txBody>
      </p:sp>
      <p:sp>
        <p:nvSpPr>
          <p:cNvPr id="42" name="bld7_1391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fixation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gourmand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 vanilla and caramel, softened with musk."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4" name="bld1_1392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1_1393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 —  6%</a:t>
            </a:r>
            <a:endParaRPr lang="en-US" sz="1250" dirty="0"/>
          </a:p>
        </p:txBody>
      </p:sp>
      <p:sp>
        <p:nvSpPr>
          <p:cNvPr id="26" name="bld1_1394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Sugary sweetness</a:t>
            </a:r>
            <a:endParaRPr lang="en-US" sz="1000" dirty="0"/>
          </a:p>
        </p:txBody>
      </p:sp>
      <p:sp>
        <p:nvSpPr>
          <p:cNvPr id="27" name="bld2_1395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2_1396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15%</a:t>
            </a:r>
            <a:endParaRPr lang="en-US" sz="1250" dirty="0"/>
          </a:p>
        </p:txBody>
      </p:sp>
      <p:sp>
        <p:nvSpPr>
          <p:cNvPr id="29" name="bld2_1397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vanilla warmth</a:t>
            </a:r>
            <a:endParaRPr lang="en-US" sz="1000" dirty="0"/>
          </a:p>
        </p:txBody>
      </p:sp>
      <p:sp>
        <p:nvSpPr>
          <p:cNvPr id="30" name="bld3_1398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1" name="bld3_1399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  —  12%</a:t>
            </a:r>
            <a:endParaRPr lang="en-US" sz="1250" dirty="0"/>
          </a:p>
        </p:txBody>
      </p:sp>
      <p:sp>
        <p:nvSpPr>
          <p:cNvPr id="32" name="bld3_1400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 depth</a:t>
            </a:r>
            <a:endParaRPr lang="en-US" sz="1000" dirty="0"/>
          </a:p>
        </p:txBody>
      </p:sp>
      <p:sp>
        <p:nvSpPr>
          <p:cNvPr id="33" name="bld4_1401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1402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10%</a:t>
            </a:r>
            <a:endParaRPr lang="en-US" sz="1250" dirty="0"/>
          </a:p>
        </p:txBody>
      </p:sp>
      <p:sp>
        <p:nvSpPr>
          <p:cNvPr id="35" name="bld4_1403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the sweetness</a:t>
            </a:r>
            <a:endParaRPr lang="en-US" sz="1000" dirty="0"/>
          </a:p>
        </p:txBody>
      </p:sp>
      <p:sp>
        <p:nvSpPr>
          <p:cNvPr id="36" name="bld5_1404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5_1405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  —  12%</a:t>
            </a:r>
            <a:endParaRPr lang="en-US" sz="1250" dirty="0"/>
          </a:p>
        </p:txBody>
      </p:sp>
      <p:sp>
        <p:nvSpPr>
          <p:cNvPr id="38" name="bld5_1406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Spiced, musky wood</a:t>
            </a:r>
            <a:endParaRPr lang="en-US" sz="1000" dirty="0"/>
          </a:p>
        </p:txBody>
      </p:sp>
      <p:sp>
        <p:nvSpPr>
          <p:cNvPr id="39" name="bld6_1407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0" name="bld6_1408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20%</a:t>
            </a:r>
            <a:endParaRPr lang="en-US" sz="1250" dirty="0"/>
          </a:p>
        </p:txBody>
      </p:sp>
      <p:sp>
        <p:nvSpPr>
          <p:cNvPr id="41" name="bld6_1409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42" name="bld7_1410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3" name="bld7_1411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10%</a:t>
            </a:r>
            <a:endParaRPr lang="en-US" sz="1250" dirty="0"/>
          </a:p>
        </p:txBody>
      </p:sp>
      <p:sp>
        <p:nvSpPr>
          <p:cNvPr id="44" name="bld7_1412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the sweetness at opening</a:t>
            </a:r>
            <a:endParaRPr lang="en-US" sz="1000" dirty="0"/>
          </a:p>
        </p:txBody>
      </p:sp>
      <p:sp>
        <p:nvSpPr>
          <p:cNvPr id="45" name="bld8_1413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6" name="bld8_1414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  —  15%</a:t>
            </a:r>
            <a:endParaRPr lang="en-US" sz="1250" dirty="0"/>
          </a:p>
        </p:txBody>
      </p:sp>
      <p:sp>
        <p:nvSpPr>
          <p:cNvPr id="47" name="bld8_1415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earthy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floral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luminous rose and jasmine heart, on a soft musk base."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4" name="bld1_1416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1_1417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(10%)  —  8%</a:t>
            </a:r>
            <a:endParaRPr lang="en-US" sz="1250" dirty="0"/>
          </a:p>
        </p:txBody>
      </p:sp>
      <p:sp>
        <p:nvSpPr>
          <p:cNvPr id="26" name="bld1_1418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rose truth</a:t>
            </a:r>
            <a:endParaRPr lang="en-US" sz="1000" dirty="0"/>
          </a:p>
        </p:txBody>
      </p:sp>
      <p:sp>
        <p:nvSpPr>
          <p:cNvPr id="27" name="bld2_1419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8" name="bld2_1420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 (10%)  —  6%</a:t>
            </a:r>
            <a:endParaRPr lang="en-US" sz="1250" dirty="0"/>
          </a:p>
        </p:txBody>
      </p:sp>
      <p:sp>
        <p:nvSpPr>
          <p:cNvPr id="29" name="bld2_1421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Heady floral depth</a:t>
            </a:r>
            <a:endParaRPr lang="en-US" sz="1000" dirty="0"/>
          </a:p>
        </p:txBody>
      </p:sp>
      <p:sp>
        <p:nvSpPr>
          <p:cNvPr id="30" name="bld3_1422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423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20%</a:t>
            </a:r>
            <a:endParaRPr lang="en-US" sz="1250" dirty="0"/>
          </a:p>
        </p:txBody>
      </p:sp>
      <p:sp>
        <p:nvSpPr>
          <p:cNvPr id="32" name="bld3_1424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&amp; radiance</a:t>
            </a:r>
            <a:endParaRPr lang="en-US" sz="1000" dirty="0"/>
          </a:p>
        </p:txBody>
      </p:sp>
      <p:sp>
        <p:nvSpPr>
          <p:cNvPr id="33" name="bld4_1425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1426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  —  10%</a:t>
            </a:r>
            <a:endParaRPr lang="en-US" sz="1250" dirty="0"/>
          </a:p>
        </p:txBody>
      </p:sp>
      <p:sp>
        <p:nvSpPr>
          <p:cNvPr id="35" name="bld4_1427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floral-woody lift</a:t>
            </a:r>
            <a:endParaRPr lang="en-US" sz="1000" dirty="0"/>
          </a:p>
        </p:txBody>
      </p:sp>
      <p:sp>
        <p:nvSpPr>
          <p:cNvPr id="36" name="bld5_1428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7" name="bld5_1429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12%</a:t>
            </a:r>
            <a:endParaRPr lang="en-US" sz="1250" dirty="0"/>
          </a:p>
        </p:txBody>
      </p:sp>
      <p:sp>
        <p:nvSpPr>
          <p:cNvPr id="38" name="bld5_1430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opening</a:t>
            </a:r>
            <a:endParaRPr lang="en-US" sz="1000" dirty="0"/>
          </a:p>
        </p:txBody>
      </p:sp>
      <p:sp>
        <p:nvSpPr>
          <p:cNvPr id="39" name="bld6_1431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40" name="bld6_1432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18%</a:t>
            </a:r>
            <a:endParaRPr lang="en-US" sz="1250" dirty="0"/>
          </a:p>
        </p:txBody>
      </p:sp>
      <p:sp>
        <p:nvSpPr>
          <p:cNvPr id="41" name="bld6_1433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support</a:t>
            </a:r>
            <a:endParaRPr lang="en-US" sz="1000" dirty="0"/>
          </a:p>
        </p:txBody>
      </p:sp>
      <p:sp>
        <p:nvSpPr>
          <p:cNvPr id="42" name="bld7_1434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3" name="bld7_1435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18%</a:t>
            </a:r>
            <a:endParaRPr lang="en-US" sz="1250" dirty="0"/>
          </a:p>
        </p:txBody>
      </p:sp>
      <p:sp>
        <p:nvSpPr>
          <p:cNvPr id="44" name="bld7_1436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fixation</a:t>
            </a:r>
            <a:endParaRPr lang="en-US" sz="1000" dirty="0"/>
          </a:p>
        </p:txBody>
      </p:sp>
      <p:sp>
        <p:nvSpPr>
          <p:cNvPr id="45" name="bld8_1437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6" name="bld8_1438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8%</a:t>
            </a:r>
            <a:endParaRPr lang="en-US" sz="1250" dirty="0"/>
          </a:p>
        </p:txBody>
      </p:sp>
      <p:sp>
        <p:nvSpPr>
          <p:cNvPr id="47" name="bld8_1439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warmth in the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earns its place. If you can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it and nothing changes, remove it.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07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 · EVALUATING &amp; DEVELOPING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Version 1: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Develop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formula was the easy part. Now the real work of perfumery begins.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RULE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evaluate on scent strips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31454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7912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26801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1, version 2, version 3 — evaluated side by side, not in isolation.</a:t>
            </a:r>
            <a:endParaRPr lang="en-US" sz="1050" dirty="0"/>
          </a:p>
        </p:txBody>
      </p:sp>
      <p:sp>
        <p:nvSpPr>
          <p:cNvPr id="15" name="bld1_144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144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smell ≠ finished evaluation</a:t>
            </a:r>
            <a:endParaRPr lang="en-US" sz="1650" dirty="0"/>
          </a:p>
        </p:txBody>
      </p:sp>
      <p:sp>
        <p:nvSpPr>
          <p:cNvPr id="17" name="bld1_144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smell in the first five minutes is only the opening — never the whole story.</a:t>
            </a:r>
            <a:endParaRPr lang="en-US" sz="1250" dirty="0"/>
          </a:p>
        </p:txBody>
      </p:sp>
      <p:sp>
        <p:nvSpPr>
          <p:cNvPr id="18" name="bld2_144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bld2_144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strip, dated and labelled</a:t>
            </a:r>
            <a:endParaRPr lang="en-US" sz="1650" dirty="0"/>
          </a:p>
        </p:txBody>
      </p:sp>
      <p:sp>
        <p:nvSpPr>
          <p:cNvPr id="20" name="bld2_144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a formula gets its own dedicated, clearly marked strip.</a:t>
            </a:r>
            <a:endParaRPr lang="en-US" sz="1250" dirty="0"/>
          </a:p>
        </p:txBody>
      </p:sp>
      <p:sp>
        <p:nvSpPr>
          <p:cNvPr id="21" name="bld3_144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2" name="bld3_144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strips side by side</a:t>
            </a:r>
            <a:endParaRPr lang="en-US" sz="1650" dirty="0"/>
          </a:p>
        </p:txBody>
      </p:sp>
      <p:sp>
        <p:nvSpPr>
          <p:cNvPr id="23" name="bld3_144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previous versions to compare directly against the new one at each checkpoint.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TIMELINE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formula across 48 hours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1449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1450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bld1_1451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1452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impression</a:t>
            </a:r>
            <a:endParaRPr lang="en-US" sz="1050" dirty="0"/>
          </a:p>
        </p:txBody>
      </p:sp>
      <p:sp>
        <p:nvSpPr>
          <p:cNvPr id="12" name="bld2_1453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1454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4" name="bld2_1455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5" name="bld2_1456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settling</a:t>
            </a:r>
            <a:endParaRPr lang="en-US" sz="1050" dirty="0"/>
          </a:p>
        </p:txBody>
      </p:sp>
      <p:sp>
        <p:nvSpPr>
          <p:cNvPr id="16" name="bld3_1457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1458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3_1459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9" name="bld3_1460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taking shape</a:t>
            </a:r>
            <a:endParaRPr lang="en-US" sz="1050" dirty="0"/>
          </a:p>
        </p:txBody>
      </p:sp>
      <p:sp>
        <p:nvSpPr>
          <p:cNvPr id="20" name="bld4_1461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462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2" name="bld4_1463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</a:t>
            </a:r>
            <a:endParaRPr lang="en-US" sz="1200" dirty="0"/>
          </a:p>
        </p:txBody>
      </p:sp>
      <p:sp>
        <p:nvSpPr>
          <p:cNvPr id="23" name="bld4_1464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becoming clear</a:t>
            </a:r>
            <a:endParaRPr lang="en-US" sz="1050" dirty="0"/>
          </a:p>
        </p:txBody>
      </p:sp>
      <p:sp>
        <p:nvSpPr>
          <p:cNvPr id="24" name="bld5_1465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466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1467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1468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1469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1470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1471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1472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verdict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judged only at 0 minutes has not really been evaluated at all.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this, not "do I like it?"</a:t>
            </a:r>
            <a:endParaRPr lang="en-US" sz="3200" dirty="0"/>
          </a:p>
        </p:txBody>
      </p:sp>
      <p:sp>
        <p:nvSpPr>
          <p:cNvPr id="7" name="bld1_147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47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47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opening strong enough?</a:t>
            </a:r>
            <a:endParaRPr lang="en-US" sz="1450" dirty="0"/>
          </a:p>
        </p:txBody>
      </p:sp>
      <p:sp>
        <p:nvSpPr>
          <p:cNvPr id="10" name="bld1_147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announce itself, or vanish immediately?</a:t>
            </a:r>
            <a:endParaRPr lang="en-US" sz="1080" dirty="0"/>
          </a:p>
        </p:txBody>
      </p:sp>
      <p:sp>
        <p:nvSpPr>
          <p:cNvPr id="11" name="bld2_147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47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147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heart interesting?</a:t>
            </a:r>
            <a:endParaRPr lang="en-US" sz="1450" dirty="0"/>
          </a:p>
        </p:txBody>
      </p:sp>
      <p:sp>
        <p:nvSpPr>
          <p:cNvPr id="14" name="bld2_148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hold attention once the top notes fade?</a:t>
            </a:r>
            <a:endParaRPr lang="en-US" sz="1080" dirty="0"/>
          </a:p>
        </p:txBody>
      </p:sp>
      <p:sp>
        <p:nvSpPr>
          <p:cNvPr id="15" name="bld3_148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48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148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too sweet?</a:t>
            </a:r>
            <a:endParaRPr lang="en-US" sz="1450" dirty="0"/>
          </a:p>
        </p:txBody>
      </p:sp>
      <p:sp>
        <p:nvSpPr>
          <p:cNvPr id="18" name="bld3_148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too dry, too green, too heavy — check for imbalance.</a:t>
            </a:r>
            <a:endParaRPr lang="en-US" sz="1080" dirty="0"/>
          </a:p>
        </p:txBody>
      </p:sp>
      <p:sp>
        <p:nvSpPr>
          <p:cNvPr id="19" name="bld4_148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48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48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one material dominating?</a:t>
            </a:r>
            <a:endParaRPr lang="en-US" sz="1450" dirty="0"/>
          </a:p>
        </p:txBody>
      </p:sp>
      <p:sp>
        <p:nvSpPr>
          <p:cNvPr id="22" name="bld4_148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name a single note that's drowning everything else?</a:t>
            </a:r>
            <a:endParaRPr lang="en-US" sz="1080" dirty="0"/>
          </a:p>
        </p:txBody>
      </p:sp>
      <p:sp>
        <p:nvSpPr>
          <p:cNvPr id="23" name="bld5_148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49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5_149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collapse?</a:t>
            </a:r>
            <a:endParaRPr lang="en-US" sz="1450" dirty="0"/>
          </a:p>
        </p:txBody>
      </p:sp>
      <p:sp>
        <p:nvSpPr>
          <p:cNvPr id="26" name="bld5_149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structure fall apart at any point in the timeline?</a:t>
            </a:r>
            <a:endParaRPr lang="en-US" sz="1080" dirty="0"/>
          </a:p>
        </p:txBody>
      </p:sp>
      <p:sp>
        <p:nvSpPr>
          <p:cNvPr id="27" name="bld6_149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49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49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drydown match the idea?</a:t>
            </a:r>
            <a:endParaRPr lang="en-US" sz="1450" dirty="0"/>
          </a:p>
        </p:txBody>
      </p:sp>
      <p:sp>
        <p:nvSpPr>
          <p:cNvPr id="30" name="bld6_149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ending still serve your original concept?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cycle</a:t>
            </a:r>
            <a:endParaRPr lang="en-US" sz="3200" dirty="0"/>
          </a:p>
        </p:txBody>
      </p:sp>
      <p:sp>
        <p:nvSpPr>
          <p:cNvPr id="7" name="bld1_1497"/>
          <p:cNvSpPr/>
          <p:nvPr/>
        </p:nvSpPr>
        <p:spPr>
          <a:xfrm>
            <a:off x="548640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498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1499"/>
          <p:cNvSpPr txBox="1"/>
          <p:nvPr/>
        </p:nvSpPr>
        <p:spPr>
          <a:xfrm>
            <a:off x="713232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0" name="bld1_1500"/>
          <p:cNvSpPr txBox="1"/>
          <p:nvPr/>
        </p:nvSpPr>
        <p:spPr>
          <a:xfrm>
            <a:off x="713232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version.</a:t>
            </a:r>
            <a:endParaRPr lang="en-US" sz="1000" dirty="0"/>
          </a:p>
        </p:txBody>
      </p:sp>
      <p:sp>
        <p:nvSpPr>
          <p:cNvPr id="11" name="bld1_1501"/>
          <p:cNvSpPr txBox="1"/>
          <p:nvPr/>
        </p:nvSpPr>
        <p:spPr>
          <a:xfrm>
            <a:off x="21310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1502"/>
          <p:cNvSpPr/>
          <p:nvPr/>
        </p:nvSpPr>
        <p:spPr>
          <a:xfrm>
            <a:off x="2451049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503"/>
          <p:cNvSpPr txBox="1"/>
          <p:nvPr/>
        </p:nvSpPr>
        <p:spPr>
          <a:xfrm>
            <a:off x="26156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1504"/>
          <p:cNvSpPr txBox="1"/>
          <p:nvPr/>
        </p:nvSpPr>
        <p:spPr>
          <a:xfrm>
            <a:off x="2615641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5" name="bld2_1505"/>
          <p:cNvSpPr txBox="1"/>
          <p:nvPr/>
        </p:nvSpPr>
        <p:spPr>
          <a:xfrm>
            <a:off x="2615641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dilute it.</a:t>
            </a:r>
            <a:endParaRPr lang="en-US" sz="1000" dirty="0"/>
          </a:p>
        </p:txBody>
      </p:sp>
      <p:sp>
        <p:nvSpPr>
          <p:cNvPr id="16" name="bld2_1506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1507"/>
          <p:cNvSpPr/>
          <p:nvPr/>
        </p:nvSpPr>
        <p:spPr>
          <a:xfrm>
            <a:off x="435345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508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1509"/>
          <p:cNvSpPr txBox="1"/>
          <p:nvPr/>
        </p:nvSpPr>
        <p:spPr>
          <a:xfrm>
            <a:off x="451805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50" dirty="0"/>
          </a:p>
        </p:txBody>
      </p:sp>
      <p:sp>
        <p:nvSpPr>
          <p:cNvPr id="20" name="bld3_1510"/>
          <p:cNvSpPr txBox="1"/>
          <p:nvPr/>
        </p:nvSpPr>
        <p:spPr>
          <a:xfrm>
            <a:off x="451805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 across 48 hours.</a:t>
            </a:r>
            <a:endParaRPr lang="en-US" sz="1000" dirty="0"/>
          </a:p>
        </p:txBody>
      </p:sp>
      <p:sp>
        <p:nvSpPr>
          <p:cNvPr id="21" name="bld3_1511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1512"/>
          <p:cNvSpPr/>
          <p:nvPr/>
        </p:nvSpPr>
        <p:spPr>
          <a:xfrm>
            <a:off x="625586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513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1514"/>
          <p:cNvSpPr txBox="1"/>
          <p:nvPr/>
        </p:nvSpPr>
        <p:spPr>
          <a:xfrm>
            <a:off x="642046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issue</a:t>
            </a:r>
            <a:endParaRPr lang="en-US" sz="1450" dirty="0"/>
          </a:p>
        </p:txBody>
      </p:sp>
      <p:sp>
        <p:nvSpPr>
          <p:cNvPr id="25" name="bld4_1515"/>
          <p:cNvSpPr txBox="1"/>
          <p:nvPr/>
        </p:nvSpPr>
        <p:spPr>
          <a:xfrm>
            <a:off x="642046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specific problem.</a:t>
            </a:r>
            <a:endParaRPr lang="en-US" sz="1000" dirty="0"/>
          </a:p>
        </p:txBody>
      </p:sp>
      <p:sp>
        <p:nvSpPr>
          <p:cNvPr id="26" name="bld4_1516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1517"/>
          <p:cNvSpPr/>
          <p:nvPr/>
        </p:nvSpPr>
        <p:spPr>
          <a:xfrm>
            <a:off x="8158277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518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1519"/>
          <p:cNvSpPr txBox="1"/>
          <p:nvPr/>
        </p:nvSpPr>
        <p:spPr>
          <a:xfrm>
            <a:off x="8322869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1450" dirty="0"/>
          </a:p>
        </p:txBody>
      </p:sp>
      <p:sp>
        <p:nvSpPr>
          <p:cNvPr id="30" name="bld5_1520"/>
          <p:cNvSpPr txBox="1"/>
          <p:nvPr/>
        </p:nvSpPr>
        <p:spPr>
          <a:xfrm>
            <a:off x="8322869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thing.</a:t>
            </a:r>
            <a:endParaRPr lang="en-US" sz="1000" dirty="0"/>
          </a:p>
        </p:txBody>
      </p:sp>
      <p:sp>
        <p:nvSpPr>
          <p:cNvPr id="31" name="bld5_1521"/>
          <p:cNvSpPr txBox="1"/>
          <p:nvPr/>
        </p:nvSpPr>
        <p:spPr>
          <a:xfrm>
            <a:off x="97406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1522"/>
          <p:cNvSpPr/>
          <p:nvPr/>
        </p:nvSpPr>
        <p:spPr>
          <a:xfrm>
            <a:off x="10060686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1523"/>
          <p:cNvSpPr txBox="1"/>
          <p:nvPr/>
        </p:nvSpPr>
        <p:spPr>
          <a:xfrm>
            <a:off x="102252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1524"/>
          <p:cNvSpPr txBox="1"/>
          <p:nvPr/>
        </p:nvSpPr>
        <p:spPr>
          <a:xfrm>
            <a:off x="10225278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450" dirty="0"/>
          </a:p>
        </p:txBody>
      </p:sp>
      <p:sp>
        <p:nvSpPr>
          <p:cNvPr id="35" name="bld6_1525"/>
          <p:cNvSpPr txBox="1"/>
          <p:nvPr/>
        </p:nvSpPr>
        <p:spPr>
          <a:xfrm>
            <a:off x="10225278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the next version.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NOT GUESSWORK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Changing formulas the right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something feels off, just add a bit of everything and see if it improves."</a:t>
            </a:r>
            <a:endParaRPr lang="en-US" sz="2100" dirty="0"/>
          </a:p>
        </p:txBody>
      </p:sp>
      <p:sp>
        <p:nvSpPr>
          <p:cNvPr id="10" name="bld1_152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52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52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simultaneous changes destroy your ability to learn anything — if three things change and the formula improves, you'll never know which one mattered. Identify the specific issue, change exactly one variable, and re-evaluate before touching anything else.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is a data point, not a verdict.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across 48 hours before you judge.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08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B5652D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 · ALCOHOL &amp; COMPOUNDING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Alcohol, Scaling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Compounding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finished concentrate into a real, wearable perfume.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percentages, at any batch size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1529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530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1531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10g batch</a:t>
            </a:r>
            <a:endParaRPr lang="en-US" sz="1450" dirty="0"/>
          </a:p>
        </p:txBody>
      </p:sp>
      <p:sp>
        <p:nvSpPr>
          <p:cNvPr id="24" name="bld1_1532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cheap testing size — ideal for early versions.</a:t>
            </a:r>
            <a:endParaRPr lang="en-US" sz="1080" dirty="0"/>
          </a:p>
        </p:txBody>
      </p:sp>
      <p:sp>
        <p:nvSpPr>
          <p:cNvPr id="25" name="bld2_1533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534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1535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100g batch</a:t>
            </a:r>
            <a:endParaRPr lang="en-US" sz="1450" dirty="0"/>
          </a:p>
        </p:txBody>
      </p:sp>
      <p:sp>
        <p:nvSpPr>
          <p:cNvPr id="28" name="bld2_1536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comfortable size for refined, near-final formulas.</a:t>
            </a:r>
            <a:endParaRPr lang="en-US" sz="1080" dirty="0"/>
          </a:p>
        </p:txBody>
      </p:sp>
      <p:sp>
        <p:nvSpPr>
          <p:cNvPr id="29" name="bld3_1537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538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539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1kg batch</a:t>
            </a:r>
            <a:endParaRPr lang="en-US" sz="1450" dirty="0"/>
          </a:p>
        </p:txBody>
      </p:sp>
      <p:sp>
        <p:nvSpPr>
          <p:cNvPr id="32" name="bld3_1540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scale — once the formula is truly locked.</a:t>
            </a:r>
            <a:endParaRPr lang="en-US" sz="108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ALCOHOL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+ perfumer's alcohol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Eau de Parfum ratio, expressed simply.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12" name="bld1_1541"/>
          <p:cNvSpPr/>
          <p:nvPr/>
        </p:nvSpPr>
        <p:spPr>
          <a:xfrm>
            <a:off x="566928" y="436918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1542"/>
          <p:cNvSpPr txBox="1"/>
          <p:nvPr/>
        </p:nvSpPr>
        <p:spPr>
          <a:xfrm>
            <a:off x="841248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4" name="bld1_1543"/>
          <p:cNvSpPr txBox="1"/>
          <p:nvPr/>
        </p:nvSpPr>
        <p:spPr>
          <a:xfrm>
            <a:off x="841248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finished formula</a:t>
            </a:r>
            <a:endParaRPr lang="en-US" sz="1000" dirty="0"/>
          </a:p>
        </p:txBody>
      </p:sp>
      <p:sp>
        <p:nvSpPr>
          <p:cNvPr id="15" name="bld2_1544"/>
          <p:cNvSpPr/>
          <p:nvPr/>
        </p:nvSpPr>
        <p:spPr>
          <a:xfrm>
            <a:off x="6297016" y="4369186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6" name="bld2_1545"/>
          <p:cNvSpPr txBox="1"/>
          <p:nvPr/>
        </p:nvSpPr>
        <p:spPr>
          <a:xfrm>
            <a:off x="6571336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 —  80%</a:t>
            </a:r>
            <a:endParaRPr lang="en-US" sz="1250" dirty="0"/>
          </a:p>
        </p:txBody>
      </p:sp>
      <p:sp>
        <p:nvSpPr>
          <p:cNvPr id="17" name="bld2_1546"/>
          <p:cNvSpPr txBox="1"/>
          <p:nvPr/>
        </p:nvSpPr>
        <p:spPr>
          <a:xfrm>
            <a:off x="6571336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631375" y="294272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WITH CARE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in a perfume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FC5AE">
              <a:alpha val="90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is a signal — always check your finished compound in good light.</a:t>
            </a:r>
            <a:endParaRPr lang="en-US" sz="1050" dirty="0"/>
          </a:p>
        </p:txBody>
      </p:sp>
      <p:sp>
        <p:nvSpPr>
          <p:cNvPr id="12" name="bld1_154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154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water is sometimes used</a:t>
            </a:r>
            <a:endParaRPr lang="en-US" sz="1650" dirty="0"/>
          </a:p>
        </p:txBody>
      </p:sp>
      <p:sp>
        <p:nvSpPr>
          <p:cNvPr id="14" name="bld1_154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amount can soften alcohol's harshness and slightly adjust the final feel.</a:t>
            </a:r>
            <a:endParaRPr lang="en-US" sz="1250" dirty="0"/>
          </a:p>
        </p:txBody>
      </p:sp>
      <p:sp>
        <p:nvSpPr>
          <p:cNvPr id="15" name="bld2_155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155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excess water is risky</a:t>
            </a:r>
            <a:endParaRPr lang="en-US" sz="1650" dirty="0"/>
          </a:p>
        </p:txBody>
      </p:sp>
      <p:sp>
        <p:nvSpPr>
          <p:cNvPr id="17" name="bld2_155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not water-soluble — too much water can push them out of solution.</a:t>
            </a:r>
            <a:endParaRPr lang="en-US" sz="1250" dirty="0"/>
          </a:p>
        </p:txBody>
      </p:sp>
      <p:sp>
        <p:nvSpPr>
          <p:cNvPr id="18" name="bld3_155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bld3_155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Cloudiness is a warning sign</a:t>
            </a:r>
            <a:endParaRPr lang="en-US" sz="1650" dirty="0"/>
          </a:p>
        </p:txBody>
      </p:sp>
      <p:sp>
        <p:nvSpPr>
          <p:cNvPr id="20" name="bld3_155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cloudy or hazy compound usually means something has fallen out of solution.</a:t>
            </a:r>
            <a:endParaRPr lang="en-US" sz="1250" dirty="0"/>
          </a:p>
        </p:txBody>
      </p:sp>
      <p:sp>
        <p:nvSpPr>
          <p:cNvPr id="21" name="bld4_155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bld4_155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 over time</a:t>
            </a:r>
            <a:endParaRPr lang="en-US" sz="1650" dirty="0"/>
          </a:p>
        </p:txBody>
      </p:sp>
      <p:sp>
        <p:nvSpPr>
          <p:cNvPr id="23" name="bld4_155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that looks clear today can still separate weeks later if the balance is wrong.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THE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Antioxidants — used thoughtfully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tool for specific oxidation-sensitive materials — not a blanket additive.</a:t>
            </a:r>
            <a:endParaRPr lang="en-US" sz="1050" dirty="0"/>
          </a:p>
        </p:txBody>
      </p:sp>
      <p:sp>
        <p:nvSpPr>
          <p:cNvPr id="22" name="bld1_155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156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oxidation happens</a:t>
            </a:r>
            <a:endParaRPr lang="en-US" sz="1650" dirty="0"/>
          </a:p>
        </p:txBody>
      </p:sp>
      <p:sp>
        <p:nvSpPr>
          <p:cNvPr id="24" name="bld1_1561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air and time can degrade certain materials, shifting or dulling their smell.</a:t>
            </a:r>
            <a:endParaRPr lang="en-US" sz="1250" dirty="0"/>
          </a:p>
        </p:txBody>
      </p:sp>
      <p:sp>
        <p:nvSpPr>
          <p:cNvPr id="25" name="bld2_1562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2_1563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materials are sensitive</a:t>
            </a:r>
            <a:endParaRPr lang="en-US" sz="1650" dirty="0"/>
          </a:p>
        </p:txBody>
      </p:sp>
      <p:sp>
        <p:nvSpPr>
          <p:cNvPr id="27" name="bld2_1564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oils and many naturals rich in terpenes oxidise fastest.</a:t>
            </a:r>
            <a:endParaRPr lang="en-US" sz="1250" dirty="0"/>
          </a:p>
        </p:txBody>
      </p:sp>
      <p:sp>
        <p:nvSpPr>
          <p:cNvPr id="28" name="bld3_1565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3_1566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BHT and similar antioxidants</a:t>
            </a:r>
            <a:endParaRPr lang="en-US" sz="1650" dirty="0"/>
          </a:p>
        </p:txBody>
      </p:sp>
      <p:sp>
        <p:nvSpPr>
          <p:cNvPr id="30" name="bld3_1567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doses can meaningfully slow this degradation in vulnerable formulas.</a:t>
            </a:r>
            <a:endParaRPr lang="en-US" sz="1250" dirty="0"/>
          </a:p>
        </p:txBody>
      </p:sp>
      <p:sp>
        <p:nvSpPr>
          <p:cNvPr id="31" name="bld4_1568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2" name="bld4_1569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add it blindly</a:t>
            </a:r>
            <a:endParaRPr lang="en-US" sz="1650" dirty="0"/>
          </a:p>
        </p:txBody>
      </p:sp>
      <p:sp>
        <p:nvSpPr>
          <p:cNvPr id="33" name="bld4_1570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formula needs an antioxidant — add it deliberately, for a specific material at risk, not as a default habit.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WORKFLOW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compounding process</a:t>
            </a:r>
            <a:endParaRPr lang="en-US" sz="3200" dirty="0"/>
          </a:p>
        </p:txBody>
      </p:sp>
      <p:sp>
        <p:nvSpPr>
          <p:cNvPr id="7" name="bld1_1571"/>
          <p:cNvSpPr/>
          <p:nvPr/>
        </p:nvSpPr>
        <p:spPr>
          <a:xfrm>
            <a:off x="548640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572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1573"/>
          <p:cNvSpPr txBox="1"/>
          <p:nvPr/>
        </p:nvSpPr>
        <p:spPr>
          <a:xfrm>
            <a:off x="713232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10" name="bld1_1574"/>
          <p:cNvSpPr txBox="1"/>
          <p:nvPr/>
        </p:nvSpPr>
        <p:spPr>
          <a:xfrm>
            <a:off x="713232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formula sheet.</a:t>
            </a:r>
            <a:endParaRPr lang="en-US" sz="1000" dirty="0"/>
          </a:p>
        </p:txBody>
      </p:sp>
      <p:sp>
        <p:nvSpPr>
          <p:cNvPr id="11" name="bld1_1575"/>
          <p:cNvSpPr txBox="1"/>
          <p:nvPr/>
        </p:nvSpPr>
        <p:spPr>
          <a:xfrm>
            <a:off x="185923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1576"/>
          <p:cNvSpPr/>
          <p:nvPr/>
        </p:nvSpPr>
        <p:spPr>
          <a:xfrm>
            <a:off x="217927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1577"/>
          <p:cNvSpPr txBox="1"/>
          <p:nvPr/>
        </p:nvSpPr>
        <p:spPr>
          <a:xfrm>
            <a:off x="234386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1578"/>
          <p:cNvSpPr txBox="1"/>
          <p:nvPr/>
        </p:nvSpPr>
        <p:spPr>
          <a:xfrm>
            <a:off x="234386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15" name="bld2_1579"/>
          <p:cNvSpPr txBox="1"/>
          <p:nvPr/>
        </p:nvSpPr>
        <p:spPr>
          <a:xfrm>
            <a:off x="234386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gently.</a:t>
            </a:r>
            <a:endParaRPr lang="en-US" sz="1000" dirty="0"/>
          </a:p>
        </p:txBody>
      </p:sp>
      <p:sp>
        <p:nvSpPr>
          <p:cNvPr id="16" name="bld2_1580"/>
          <p:cNvSpPr txBox="1"/>
          <p:nvPr/>
        </p:nvSpPr>
        <p:spPr>
          <a:xfrm>
            <a:off x="34898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1581"/>
          <p:cNvSpPr/>
          <p:nvPr/>
        </p:nvSpPr>
        <p:spPr>
          <a:xfrm>
            <a:off x="3809913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1582"/>
          <p:cNvSpPr txBox="1"/>
          <p:nvPr/>
        </p:nvSpPr>
        <p:spPr>
          <a:xfrm>
            <a:off x="39745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1583"/>
          <p:cNvSpPr txBox="1"/>
          <p:nvPr/>
        </p:nvSpPr>
        <p:spPr>
          <a:xfrm>
            <a:off x="3974505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</a:t>
            </a:r>
            <a:endParaRPr lang="en-US" sz="1450" dirty="0"/>
          </a:p>
        </p:txBody>
      </p:sp>
      <p:sp>
        <p:nvSpPr>
          <p:cNvPr id="20" name="bld3_1584"/>
          <p:cNvSpPr txBox="1"/>
          <p:nvPr/>
        </p:nvSpPr>
        <p:spPr>
          <a:xfrm>
            <a:off x="3974505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settle.</a:t>
            </a:r>
            <a:endParaRPr lang="en-US" sz="1000" dirty="0"/>
          </a:p>
        </p:txBody>
      </p:sp>
      <p:sp>
        <p:nvSpPr>
          <p:cNvPr id="21" name="bld3_1585"/>
          <p:cNvSpPr txBox="1"/>
          <p:nvPr/>
        </p:nvSpPr>
        <p:spPr>
          <a:xfrm>
            <a:off x="51205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1586"/>
          <p:cNvSpPr/>
          <p:nvPr/>
        </p:nvSpPr>
        <p:spPr>
          <a:xfrm>
            <a:off x="544054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587"/>
          <p:cNvSpPr txBox="1"/>
          <p:nvPr/>
        </p:nvSpPr>
        <p:spPr>
          <a:xfrm>
            <a:off x="56051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1588"/>
          <p:cNvSpPr txBox="1"/>
          <p:nvPr/>
        </p:nvSpPr>
        <p:spPr>
          <a:xfrm>
            <a:off x="560514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1450" dirty="0"/>
          </a:p>
        </p:txBody>
      </p:sp>
      <p:sp>
        <p:nvSpPr>
          <p:cNvPr id="25" name="bld4_1589"/>
          <p:cNvSpPr txBox="1"/>
          <p:nvPr/>
        </p:nvSpPr>
        <p:spPr>
          <a:xfrm>
            <a:off x="560514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alcohol.</a:t>
            </a:r>
            <a:endParaRPr lang="en-US" sz="1000" dirty="0"/>
          </a:p>
        </p:txBody>
      </p:sp>
      <p:sp>
        <p:nvSpPr>
          <p:cNvPr id="26" name="bld4_1590"/>
          <p:cNvSpPr txBox="1"/>
          <p:nvPr/>
        </p:nvSpPr>
        <p:spPr>
          <a:xfrm>
            <a:off x="67511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1591"/>
          <p:cNvSpPr/>
          <p:nvPr/>
        </p:nvSpPr>
        <p:spPr>
          <a:xfrm>
            <a:off x="707118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1592"/>
          <p:cNvSpPr txBox="1"/>
          <p:nvPr/>
        </p:nvSpPr>
        <p:spPr>
          <a:xfrm>
            <a:off x="72357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1593"/>
          <p:cNvSpPr txBox="1"/>
          <p:nvPr/>
        </p:nvSpPr>
        <p:spPr>
          <a:xfrm>
            <a:off x="723577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Macerate</a:t>
            </a:r>
            <a:endParaRPr lang="en-US" sz="1450" dirty="0"/>
          </a:p>
        </p:txBody>
      </p:sp>
      <p:sp>
        <p:nvSpPr>
          <p:cNvPr id="30" name="bld5_1594"/>
          <p:cNvSpPr txBox="1"/>
          <p:nvPr/>
        </p:nvSpPr>
        <p:spPr>
          <a:xfrm>
            <a:off x="723577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over time.</a:t>
            </a:r>
            <a:endParaRPr lang="en-US" sz="1000" dirty="0"/>
          </a:p>
        </p:txBody>
      </p:sp>
      <p:sp>
        <p:nvSpPr>
          <p:cNvPr id="31" name="bld5_1595"/>
          <p:cNvSpPr txBox="1"/>
          <p:nvPr/>
        </p:nvSpPr>
        <p:spPr>
          <a:xfrm>
            <a:off x="83817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1596"/>
          <p:cNvSpPr/>
          <p:nvPr/>
        </p:nvSpPr>
        <p:spPr>
          <a:xfrm>
            <a:off x="8701822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1597"/>
          <p:cNvSpPr txBox="1"/>
          <p:nvPr/>
        </p:nvSpPr>
        <p:spPr>
          <a:xfrm>
            <a:off x="88664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1598"/>
          <p:cNvSpPr txBox="1"/>
          <p:nvPr/>
        </p:nvSpPr>
        <p:spPr>
          <a:xfrm>
            <a:off x="8866414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450" dirty="0"/>
          </a:p>
        </p:txBody>
      </p:sp>
      <p:sp>
        <p:nvSpPr>
          <p:cNvPr id="35" name="bld6_1599"/>
          <p:cNvSpPr txBox="1"/>
          <p:nvPr/>
        </p:nvSpPr>
        <p:spPr>
          <a:xfrm>
            <a:off x="8866414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needed.</a:t>
            </a:r>
            <a:endParaRPr lang="en-US" sz="1000" dirty="0"/>
          </a:p>
        </p:txBody>
      </p:sp>
      <p:sp>
        <p:nvSpPr>
          <p:cNvPr id="36" name="bld6_1600"/>
          <p:cNvSpPr txBox="1"/>
          <p:nvPr/>
        </p:nvSpPr>
        <p:spPr>
          <a:xfrm>
            <a:off x="1001241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bld7_1601"/>
          <p:cNvSpPr/>
          <p:nvPr/>
        </p:nvSpPr>
        <p:spPr>
          <a:xfrm>
            <a:off x="1033245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7_1602"/>
          <p:cNvSpPr txBox="1"/>
          <p:nvPr/>
        </p:nvSpPr>
        <p:spPr>
          <a:xfrm>
            <a:off x="1049705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bld7_1603"/>
          <p:cNvSpPr txBox="1"/>
          <p:nvPr/>
        </p:nvSpPr>
        <p:spPr>
          <a:xfrm>
            <a:off x="1049705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</a:t>
            </a:r>
            <a:endParaRPr lang="en-US" sz="1450" dirty="0"/>
          </a:p>
        </p:txBody>
      </p:sp>
      <p:sp>
        <p:nvSpPr>
          <p:cNvPr id="40" name="bld7_1604"/>
          <p:cNvSpPr txBox="1"/>
          <p:nvPr/>
        </p:nvSpPr>
        <p:spPr>
          <a:xfrm>
            <a:off x="1049705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&amp; date.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isn't filler — treat its ratio, its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rest, and its grade with the same care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the concentrate.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09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5B3A52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MATURATION &amp; MACERATION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 Needs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Rest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 to a compound after it's bottled — and what doesn't.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real effects of maceration</a:t>
            </a:r>
            <a:endParaRPr lang="en-US" sz="3200" dirty="0"/>
          </a:p>
        </p:txBody>
      </p:sp>
      <p:sp>
        <p:nvSpPr>
          <p:cNvPr id="7" name="bld1_1605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606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607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450" dirty="0"/>
          </a:p>
        </p:txBody>
      </p:sp>
      <p:sp>
        <p:nvSpPr>
          <p:cNvPr id="10" name="bld1_1608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blend and round together.</a:t>
            </a:r>
            <a:endParaRPr lang="en-US" sz="1080" dirty="0"/>
          </a:p>
        </p:txBody>
      </p:sp>
      <p:sp>
        <p:nvSpPr>
          <p:cNvPr id="11" name="bld2_1609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610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611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Softer alcohol</a:t>
            </a:r>
            <a:endParaRPr lang="en-US" sz="1450" dirty="0"/>
          </a:p>
        </p:txBody>
      </p:sp>
      <p:sp>
        <p:nvSpPr>
          <p:cNvPr id="14" name="bld2_1612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 alcohol bite fades.</a:t>
            </a:r>
            <a:endParaRPr lang="en-US" sz="1080" dirty="0"/>
          </a:p>
        </p:txBody>
      </p:sp>
      <p:sp>
        <p:nvSpPr>
          <p:cNvPr id="15" name="bld3_1613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614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615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Perceived smoothing</a:t>
            </a:r>
            <a:endParaRPr lang="en-US" sz="1450" dirty="0"/>
          </a:p>
        </p:txBody>
      </p:sp>
      <p:sp>
        <p:nvSpPr>
          <p:cNvPr id="18" name="bld3_1616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edges settle down.</a:t>
            </a:r>
            <a:endParaRPr lang="en-US" sz="1080" dirty="0"/>
          </a:p>
        </p:txBody>
      </p:sp>
      <p:sp>
        <p:nvSpPr>
          <p:cNvPr id="19" name="bld4_1617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618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619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Top-note development</a:t>
            </a:r>
            <a:endParaRPr lang="en-US" sz="1450" dirty="0"/>
          </a:p>
        </p:txBody>
      </p:sp>
      <p:sp>
        <p:nvSpPr>
          <p:cNvPr id="22" name="bld4_1620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notes can shift slightly.</a:t>
            </a:r>
            <a:endParaRPr lang="en-US" sz="1080" dirty="0"/>
          </a:p>
        </p:txBody>
      </p:sp>
      <p:sp>
        <p:nvSpPr>
          <p:cNvPr id="23" name="bld5_1621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62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623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Solubility</a:t>
            </a:r>
            <a:endParaRPr lang="en-US" sz="1450" dirty="0"/>
          </a:p>
        </p:txBody>
      </p:sp>
      <p:sp>
        <p:nvSpPr>
          <p:cNvPr id="26" name="bld5_1624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fully dissolve into solution.</a:t>
            </a:r>
            <a:endParaRPr lang="en-US" sz="1080" dirty="0"/>
          </a:p>
        </p:txBody>
      </p:sp>
      <p:sp>
        <p:nvSpPr>
          <p:cNvPr id="27" name="bld6_1625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626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627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changes</a:t>
            </a:r>
            <a:endParaRPr lang="en-US" sz="1450" dirty="0"/>
          </a:p>
        </p:txBody>
      </p:sp>
      <p:sp>
        <p:nvSpPr>
          <p:cNvPr id="30" name="bld6_1628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formulas darken with age.</a:t>
            </a:r>
            <a:endParaRPr lang="en-US" sz="1080" dirty="0"/>
          </a:p>
        </p:txBody>
      </p:sp>
      <p:sp>
        <p:nvSpPr>
          <p:cNvPr id="31" name="bld7_1629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630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33" name="bld7_1631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Oxidation</a:t>
            </a:r>
            <a:endParaRPr lang="en-US" sz="1450" dirty="0"/>
          </a:p>
        </p:txBody>
      </p:sp>
      <p:sp>
        <p:nvSpPr>
          <p:cNvPr id="34" name="bld7_1632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chemical change, for better or worse.</a:t>
            </a:r>
            <a:endParaRPr lang="en-US" sz="1080" dirty="0"/>
          </a:p>
        </p:txBody>
      </p:sp>
      <p:sp>
        <p:nvSpPr>
          <p:cNvPr id="35" name="bld8_1633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1634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7" name="bld8_1635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Precipitation</a:t>
            </a:r>
            <a:endParaRPr lang="en-US" sz="1450" dirty="0"/>
          </a:p>
        </p:txBody>
      </p:sp>
      <p:sp>
        <p:nvSpPr>
          <p:cNvPr id="38" name="bld8_1636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insoluble can settle out.</a:t>
            </a:r>
            <a:endParaRPr lang="en-US" sz="108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SCIENCE, BRIEFLY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same liquid smells different later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slow, ordinary process — not an unpredictable transformation.</a:t>
            </a:r>
            <a:endParaRPr lang="en-US" sz="1050" dirty="0"/>
          </a:p>
        </p:txBody>
      </p:sp>
      <p:sp>
        <p:nvSpPr>
          <p:cNvPr id="22" name="bld1_163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bld1_163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keep interacting</a:t>
            </a:r>
            <a:endParaRPr lang="en-US" sz="1650" dirty="0"/>
          </a:p>
        </p:txBody>
      </p:sp>
      <p:sp>
        <p:nvSpPr>
          <p:cNvPr id="24" name="bld1_163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continue to associate and rearrange in solution long after mixing.</a:t>
            </a:r>
            <a:endParaRPr lang="en-US" sz="1250" dirty="0"/>
          </a:p>
        </p:txBody>
      </p:sp>
      <p:sp>
        <p:nvSpPr>
          <p:cNvPr id="25" name="bld2_164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6" name="bld2_164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needs time to settle</a:t>
            </a:r>
            <a:endParaRPr lang="en-US" sz="1650" dirty="0"/>
          </a:p>
        </p:txBody>
      </p:sp>
      <p:sp>
        <p:nvSpPr>
          <p:cNvPr id="27" name="bld2_164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alcohol reads sharp and hot — that fades measurably within days.</a:t>
            </a:r>
            <a:endParaRPr lang="en-US" sz="1250" dirty="0"/>
          </a:p>
        </p:txBody>
      </p:sp>
      <p:sp>
        <p:nvSpPr>
          <p:cNvPr id="28" name="bld3_164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9" name="bld3_164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mysterious is happening</a:t>
            </a:r>
            <a:endParaRPr lang="en-US" sz="1650" dirty="0"/>
          </a:p>
        </p:txBody>
      </p:sp>
      <p:sp>
        <p:nvSpPr>
          <p:cNvPr id="30" name="bld3_164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slow, ordinary physical chemistry — not magic, and it's predictable enough to plan around.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smell shifts, over weeks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1646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1647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1648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200" dirty="0"/>
          </a:p>
        </p:txBody>
      </p:sp>
      <p:sp>
        <p:nvSpPr>
          <p:cNvPr id="11" name="bld1_1649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hot, unintegrated</a:t>
            </a:r>
            <a:endParaRPr lang="en-US" sz="1050" dirty="0"/>
          </a:p>
        </p:txBody>
      </p:sp>
      <p:sp>
        <p:nvSpPr>
          <p:cNvPr id="12" name="bld2_1650"/>
          <p:cNvSpPr/>
          <p:nvPr/>
        </p:nvSpPr>
        <p:spPr>
          <a:xfrm>
            <a:off x="3377108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bld2_1651"/>
          <p:cNvSpPr/>
          <p:nvPr/>
        </p:nvSpPr>
        <p:spPr>
          <a:xfrm>
            <a:off x="3294812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4" name="bld2_1652"/>
          <p:cNvSpPr txBox="1"/>
          <p:nvPr/>
        </p:nvSpPr>
        <p:spPr>
          <a:xfrm>
            <a:off x="2682164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15" name="bld2_1653"/>
          <p:cNvSpPr txBox="1"/>
          <p:nvPr/>
        </p:nvSpPr>
        <p:spPr>
          <a:xfrm>
            <a:off x="2682164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bite softening</a:t>
            </a:r>
            <a:endParaRPr lang="en-US" sz="1050" dirty="0"/>
          </a:p>
        </p:txBody>
      </p:sp>
      <p:sp>
        <p:nvSpPr>
          <p:cNvPr id="16" name="bld3_1654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1655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1656"/>
          <p:cNvSpPr txBox="1"/>
          <p:nvPr/>
        </p:nvSpPr>
        <p:spPr>
          <a:xfrm>
            <a:off x="5318608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200" dirty="0"/>
          </a:p>
        </p:txBody>
      </p:sp>
      <p:sp>
        <p:nvSpPr>
          <p:cNvPr id="19" name="bld3_1657"/>
          <p:cNvSpPr txBox="1"/>
          <p:nvPr/>
        </p:nvSpPr>
        <p:spPr>
          <a:xfrm>
            <a:off x="5318608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Noticeably smoother</a:t>
            </a:r>
            <a:endParaRPr lang="en-US" sz="1050" dirty="0"/>
          </a:p>
        </p:txBody>
      </p:sp>
      <p:sp>
        <p:nvSpPr>
          <p:cNvPr id="20" name="bld4_1658"/>
          <p:cNvSpPr/>
          <p:nvPr/>
        </p:nvSpPr>
        <p:spPr>
          <a:xfrm>
            <a:off x="8649995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1659"/>
          <p:cNvSpPr/>
          <p:nvPr/>
        </p:nvSpPr>
        <p:spPr>
          <a:xfrm>
            <a:off x="8567699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22" name="bld4_1660"/>
          <p:cNvSpPr txBox="1"/>
          <p:nvPr/>
        </p:nvSpPr>
        <p:spPr>
          <a:xfrm>
            <a:off x="7955051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200" dirty="0"/>
          </a:p>
        </p:txBody>
      </p:sp>
      <p:sp>
        <p:nvSpPr>
          <p:cNvPr id="23" name="bld4_1661"/>
          <p:cNvSpPr txBox="1"/>
          <p:nvPr/>
        </p:nvSpPr>
        <p:spPr>
          <a:xfrm>
            <a:off x="7955051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integrated</a:t>
            </a:r>
            <a:endParaRPr lang="en-US" sz="1050" dirty="0"/>
          </a:p>
        </p:txBody>
      </p:sp>
      <p:sp>
        <p:nvSpPr>
          <p:cNvPr id="24" name="bld5_1662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5" name="bld5_1663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6" name="bld5_1664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200" dirty="0"/>
          </a:p>
        </p:txBody>
      </p:sp>
      <p:sp>
        <p:nvSpPr>
          <p:cNvPr id="27" name="bld5_1665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matured character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fresh compound gently — it hasn't finished becoming itself yet.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EXPECTATIONS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maceration cannot do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"Given enough time, maceration will fix a broken or unbalanced formula."</a:t>
            </a:r>
            <a:endParaRPr lang="en-US" sz="2100" dirty="0"/>
          </a:p>
        </p:txBody>
      </p:sp>
      <p:sp>
        <p:nvSpPr>
          <p:cNvPr id="10" name="bld1_166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66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66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refines what's already structurally sound — it softens, integrates and rounds. It cannot rescue a formula with the wrong materials, wrong ratios, or a fundamentally broken idea. Fix the structure first; let time do the polishing, not the repairing.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PROTOCOL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maceration routine</a:t>
            </a:r>
            <a:endParaRPr lang="en-US" sz="3200" dirty="0"/>
          </a:p>
        </p:txBody>
      </p:sp>
      <p:sp>
        <p:nvSpPr>
          <p:cNvPr id="7" name="bld1_1669"/>
          <p:cNvSpPr txBox="1"/>
          <p:nvPr/>
        </p:nvSpPr>
        <p:spPr>
          <a:xfrm>
            <a:off x="548640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STAGE</a:t>
            </a:r>
            <a:endParaRPr lang="en-US" sz="1250" dirty="0"/>
          </a:p>
        </p:txBody>
      </p:sp>
      <p:sp>
        <p:nvSpPr>
          <p:cNvPr id="8" name="bld1_1670"/>
          <p:cNvSpPr/>
          <p:nvPr/>
        </p:nvSpPr>
        <p:spPr>
          <a:xfrm>
            <a:off x="548640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1671"/>
          <p:cNvSpPr txBox="1"/>
          <p:nvPr/>
        </p:nvSpPr>
        <p:spPr>
          <a:xfrm>
            <a:off x="841248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the raw concentrate 24–48 hours</a:t>
            </a:r>
            <a:endParaRPr lang="en-US" sz="1200" dirty="0"/>
          </a:p>
        </p:txBody>
      </p:sp>
      <p:sp>
        <p:nvSpPr>
          <p:cNvPr id="10" name="bld1_1672"/>
          <p:cNvSpPr/>
          <p:nvPr/>
        </p:nvSpPr>
        <p:spPr>
          <a:xfrm>
            <a:off x="548640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1673"/>
          <p:cNvSpPr txBox="1"/>
          <p:nvPr/>
        </p:nvSpPr>
        <p:spPr>
          <a:xfrm>
            <a:off x="841248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clarity before diluting</a:t>
            </a:r>
            <a:endParaRPr lang="en-US" sz="1200" dirty="0"/>
          </a:p>
        </p:txBody>
      </p:sp>
      <p:sp>
        <p:nvSpPr>
          <p:cNvPr id="12" name="bld2_1674"/>
          <p:cNvSpPr txBox="1"/>
          <p:nvPr/>
        </p:nvSpPr>
        <p:spPr>
          <a:xfrm>
            <a:off x="4353458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STAGE</a:t>
            </a:r>
            <a:endParaRPr lang="en-US" sz="1250" dirty="0"/>
          </a:p>
        </p:txBody>
      </p:sp>
      <p:sp>
        <p:nvSpPr>
          <p:cNvPr id="13" name="bld2_1675"/>
          <p:cNvSpPr/>
          <p:nvPr/>
        </p:nvSpPr>
        <p:spPr>
          <a:xfrm>
            <a:off x="4353458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4" name="bld2_1676"/>
          <p:cNvSpPr txBox="1"/>
          <p:nvPr/>
        </p:nvSpPr>
        <p:spPr>
          <a:xfrm>
            <a:off x="4646066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Macerate 1–4 weeks in a cool, dark place</a:t>
            </a:r>
            <a:endParaRPr lang="en-US" sz="1200" dirty="0"/>
          </a:p>
        </p:txBody>
      </p:sp>
      <p:sp>
        <p:nvSpPr>
          <p:cNvPr id="15" name="bld2_1677"/>
          <p:cNvSpPr/>
          <p:nvPr/>
        </p:nvSpPr>
        <p:spPr>
          <a:xfrm>
            <a:off x="4353458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1678"/>
          <p:cNvSpPr txBox="1"/>
          <p:nvPr/>
        </p:nvSpPr>
        <p:spPr>
          <a:xfrm>
            <a:off x="4646066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gently every few days</a:t>
            </a:r>
            <a:endParaRPr lang="en-US" sz="1200" dirty="0"/>
          </a:p>
        </p:txBody>
      </p:sp>
      <p:sp>
        <p:nvSpPr>
          <p:cNvPr id="17" name="bld3_1679"/>
          <p:cNvSpPr txBox="1"/>
          <p:nvPr/>
        </p:nvSpPr>
        <p:spPr>
          <a:xfrm>
            <a:off x="8158277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BOTTLING</a:t>
            </a:r>
            <a:endParaRPr lang="en-US" sz="1250" dirty="0"/>
          </a:p>
        </p:txBody>
      </p:sp>
      <p:sp>
        <p:nvSpPr>
          <p:cNvPr id="18" name="bld3_1680"/>
          <p:cNvSpPr/>
          <p:nvPr/>
        </p:nvSpPr>
        <p:spPr>
          <a:xfrm>
            <a:off x="8158277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9" name="bld3_1681"/>
          <p:cNvSpPr txBox="1"/>
          <p:nvPr/>
        </p:nvSpPr>
        <p:spPr>
          <a:xfrm>
            <a:off x="8450885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Re-evaluate on a fresh strip</a:t>
            </a:r>
            <a:endParaRPr lang="en-US" sz="1200" dirty="0"/>
          </a:p>
        </p:txBody>
      </p:sp>
      <p:sp>
        <p:nvSpPr>
          <p:cNvPr id="20" name="bld3_1682"/>
          <p:cNvSpPr/>
          <p:nvPr/>
        </p:nvSpPr>
        <p:spPr>
          <a:xfrm>
            <a:off x="8158277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1" name="bld3_1683"/>
          <p:cNvSpPr txBox="1"/>
          <p:nvPr/>
        </p:nvSpPr>
        <p:spPr>
          <a:xfrm>
            <a:off x="8450885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if any haze or sediment appears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refines what's already good.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rescue a broken structure.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10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0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COMPLIANCE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Compliance,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Simply Explained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keeping your formulas safe and legal to sell — not a substitute for professional guidance.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module is an introduction.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still responsible for the regulations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apply to your country and product.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READ THIS FIRST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0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STANDARD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— the industry's safety framework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967705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329201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684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137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26949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597510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597510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626949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1686"/>
          <p:cNvSpPr txBox="1"/>
          <p:nvPr/>
        </p:nvSpPr>
        <p:spPr>
          <a:xfrm>
            <a:off x="731520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Standards</a:t>
            </a:r>
            <a:endParaRPr lang="en-US" sz="1450" dirty="0"/>
          </a:p>
        </p:txBody>
      </p:sp>
      <p:sp>
        <p:nvSpPr>
          <p:cNvPr id="19" name="bld1_1687"/>
          <p:cNvSpPr txBox="1"/>
          <p:nvPr/>
        </p:nvSpPr>
        <p:spPr>
          <a:xfrm>
            <a:off x="731520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Science-based usage limits for fragrance materials.</a:t>
            </a:r>
            <a:endParaRPr lang="en-US" sz="1080" dirty="0"/>
          </a:p>
        </p:txBody>
      </p:sp>
      <p:sp>
        <p:nvSpPr>
          <p:cNvPr id="20" name="bld2_1688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4477337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1690"/>
          <p:cNvSpPr txBox="1"/>
          <p:nvPr/>
        </p:nvSpPr>
        <p:spPr>
          <a:xfrm>
            <a:off x="3569132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Restricted materials</a:t>
            </a:r>
            <a:endParaRPr lang="en-US" sz="1450" dirty="0"/>
          </a:p>
        </p:txBody>
      </p:sp>
      <p:sp>
        <p:nvSpPr>
          <p:cNvPr id="25" name="bld2_1691"/>
          <p:cNvSpPr txBox="1"/>
          <p:nvPr/>
        </p:nvSpPr>
        <p:spPr>
          <a:xfrm>
            <a:off x="3569132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Allowed, but only up to a defined maximum %.</a:t>
            </a:r>
            <a:endParaRPr lang="en-US" sz="1080" dirty="0"/>
          </a:p>
        </p:txBody>
      </p:sp>
      <p:sp>
        <p:nvSpPr>
          <p:cNvPr id="26" name="bld3_1692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4949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30" name="bld3_1694"/>
          <p:cNvSpPr txBox="1"/>
          <p:nvPr/>
        </p:nvSpPr>
        <p:spPr>
          <a:xfrm>
            <a:off x="6406744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Prohibited materials</a:t>
            </a:r>
            <a:endParaRPr lang="en-US" sz="1450" dirty="0"/>
          </a:p>
        </p:txBody>
      </p:sp>
      <p:sp>
        <p:nvSpPr>
          <p:cNvPr id="31" name="bld3_1695"/>
          <p:cNvSpPr txBox="1"/>
          <p:nvPr/>
        </p:nvSpPr>
        <p:spPr>
          <a:xfrm>
            <a:off x="6406744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 in fragrance at all.</a:t>
            </a:r>
            <a:endParaRPr lang="en-US" sz="1080" dirty="0"/>
          </a:p>
        </p:txBody>
      </p:sp>
      <p:sp>
        <p:nvSpPr>
          <p:cNvPr id="32" name="bld4_1696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1397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01103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01103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01397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0" name="bld4_1698"/>
          <p:cNvSpPr txBox="1"/>
          <p:nvPr/>
        </p:nvSpPr>
        <p:spPr>
          <a:xfrm>
            <a:off x="9244355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limits</a:t>
            </a:r>
            <a:endParaRPr lang="en-US" sz="1450" dirty="0"/>
          </a:p>
        </p:txBody>
      </p:sp>
      <p:sp>
        <p:nvSpPr>
          <p:cNvPr id="41" name="bld4_1699"/>
          <p:cNvSpPr txBox="1"/>
          <p:nvPr/>
        </p:nvSpPr>
        <p:spPr>
          <a:xfrm>
            <a:off x="9244355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vary by how a product is used on the body.</a:t>
            </a:r>
            <a:endParaRPr lang="en-US" sz="108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40" grpId="0"/>
      <p:bldP spid="41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a material against its limit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6E7A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% × dilution % = final product %. Always check against the finished product.</a:t>
            </a:r>
            <a:endParaRPr lang="en-US" sz="1050" dirty="0"/>
          </a:p>
        </p:txBody>
      </p:sp>
      <p:sp>
        <p:nvSpPr>
          <p:cNvPr id="11" name="bld1_170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bld1_170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X, Category 4 (fine fragrance)</a:t>
            </a:r>
            <a:endParaRPr lang="en-US" sz="1650" dirty="0"/>
          </a:p>
        </p:txBody>
      </p:sp>
      <p:sp>
        <p:nvSpPr>
          <p:cNvPr id="13" name="bld1_170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its IFRA limit in Category 4 is 0.5% of the finished product.</a:t>
            </a:r>
            <a:endParaRPr lang="en-US" sz="1250" dirty="0"/>
          </a:p>
        </p:txBody>
      </p:sp>
      <p:sp>
        <p:nvSpPr>
          <p:cNvPr id="14" name="bld2_170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5" name="bld2_170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at 2% of the concentrate</a:t>
            </a:r>
            <a:endParaRPr lang="en-US" sz="1650" dirty="0"/>
          </a:p>
        </p:txBody>
      </p:sp>
      <p:sp>
        <p:nvSpPr>
          <p:cNvPr id="16" name="bld2_170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formula sheet lists Material X at 2% of the perfume concentrate.</a:t>
            </a:r>
            <a:endParaRPr lang="en-US" sz="1250" dirty="0"/>
          </a:p>
        </p:txBody>
      </p:sp>
      <p:sp>
        <p:nvSpPr>
          <p:cNvPr id="17" name="bld3_170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3_170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concentrate is diluted to 20%</a:t>
            </a:r>
            <a:endParaRPr lang="en-US" sz="1650" dirty="0"/>
          </a:p>
        </p:txBody>
      </p:sp>
      <p:sp>
        <p:nvSpPr>
          <p:cNvPr id="19" name="bld3_170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finished spray, Material X becomes 2% × 20% = 0.4% of the total product.</a:t>
            </a:r>
            <a:endParaRPr lang="en-US" sz="1250" dirty="0"/>
          </a:p>
        </p:txBody>
      </p:sp>
      <p:sp>
        <p:nvSpPr>
          <p:cNvPr id="20" name="bld4_170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171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 is under the 0.5% limit — compliant</a:t>
            </a:r>
            <a:endParaRPr lang="en-US" sz="1650" dirty="0"/>
          </a:p>
        </p:txBody>
      </p:sp>
      <p:sp>
        <p:nvSpPr>
          <p:cNvPr id="22" name="bld4_171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calculate the material's share of the finished product, not just the concentrate.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SDS actually tells you</a:t>
            </a:r>
            <a:endParaRPr lang="en-US" sz="3200" dirty="0"/>
          </a:p>
        </p:txBody>
      </p:sp>
      <p:sp>
        <p:nvSpPr>
          <p:cNvPr id="7" name="bld1_1712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>
            <a:off x="2027072" y="199010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99884" y="2132747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070445" y="222784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070445" y="232294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099884" y="241803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5" name="bld1_1714"/>
          <p:cNvSpPr txBox="1"/>
          <p:nvPr/>
        </p:nvSpPr>
        <p:spPr>
          <a:xfrm>
            <a:off x="731520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&amp; hazards</a:t>
            </a:r>
            <a:endParaRPr lang="en-US" sz="1450" dirty="0"/>
          </a:p>
        </p:txBody>
      </p:sp>
      <p:sp>
        <p:nvSpPr>
          <p:cNvPr id="16" name="bld1_1715"/>
          <p:cNvSpPr txBox="1"/>
          <p:nvPr/>
        </p:nvSpPr>
        <p:spPr>
          <a:xfrm>
            <a:off x="731520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material is and its key risk classifications.</a:t>
            </a:r>
            <a:endParaRPr lang="en-US" sz="1080" dirty="0"/>
          </a:p>
        </p:txBody>
      </p:sp>
      <p:sp>
        <p:nvSpPr>
          <p:cNvPr id="17" name="bld2_1716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 flipV="1">
            <a:off x="6095848" y="2212629"/>
            <a:ext cx="141220" cy="6276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37068" y="2212629"/>
            <a:ext cx="141220" cy="7845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237068" y="2291084"/>
            <a:ext cx="141220" cy="125529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01701" y="2416613"/>
            <a:ext cx="235367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6001701" y="2275393"/>
            <a:ext cx="94147" cy="14122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23245" y="2196937"/>
            <a:ext cx="172602" cy="7845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0742" y="2250287"/>
            <a:ext cx="50212" cy="50212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9023" y="2194584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60243" y="2273039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9023" y="2398568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83656" y="2398568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05201" y="2178893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2_1718"/>
          <p:cNvSpPr txBox="1"/>
          <p:nvPr/>
        </p:nvSpPr>
        <p:spPr>
          <a:xfrm>
            <a:off x="4515002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</a:t>
            </a:r>
            <a:endParaRPr lang="en-US" sz="1450" dirty="0"/>
          </a:p>
        </p:txBody>
      </p:sp>
      <p:sp>
        <p:nvSpPr>
          <p:cNvPr id="33" name="bld2_1719"/>
          <p:cNvSpPr txBox="1"/>
          <p:nvPr/>
        </p:nvSpPr>
        <p:spPr>
          <a:xfrm>
            <a:off x="4515002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made of, including any listed impurities.</a:t>
            </a:r>
            <a:endParaRPr lang="en-US" sz="1080" dirty="0"/>
          </a:p>
        </p:txBody>
      </p:sp>
      <p:sp>
        <p:nvSpPr>
          <p:cNvPr id="34" name="bld3_1720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9849933" y="204145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7" name="Shape 35"/>
          <p:cNvSpPr/>
          <p:nvPr/>
        </p:nvSpPr>
        <p:spPr>
          <a:xfrm>
            <a:off x="9853768" y="208824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788036" y="216310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24612" y="231890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1" name="bld3_1722"/>
          <p:cNvSpPr txBox="1"/>
          <p:nvPr/>
        </p:nvSpPr>
        <p:spPr>
          <a:xfrm>
            <a:off x="8298485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&amp; storage</a:t>
            </a:r>
            <a:endParaRPr lang="en-US" sz="1450" dirty="0"/>
          </a:p>
        </p:txBody>
      </p:sp>
      <p:sp>
        <p:nvSpPr>
          <p:cNvPr id="42" name="bld3_1723"/>
          <p:cNvSpPr txBox="1"/>
          <p:nvPr/>
        </p:nvSpPr>
        <p:spPr>
          <a:xfrm>
            <a:off x="8298485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store and work with it safely.</a:t>
            </a:r>
            <a:endParaRPr lang="en-US" sz="1080" dirty="0"/>
          </a:p>
        </p:txBody>
      </p:sp>
      <p:sp>
        <p:nvSpPr>
          <p:cNvPr id="43" name="bld4_1724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2112660" y="4434840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47" name="bld4_1726"/>
          <p:cNvSpPr txBox="1"/>
          <p:nvPr/>
        </p:nvSpPr>
        <p:spPr>
          <a:xfrm>
            <a:off x="731520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aid &amp; fire measures</a:t>
            </a:r>
            <a:endParaRPr lang="en-US" sz="1450" dirty="0"/>
          </a:p>
        </p:txBody>
      </p:sp>
      <p:sp>
        <p:nvSpPr>
          <p:cNvPr id="48" name="bld4_1727"/>
          <p:cNvSpPr txBox="1"/>
          <p:nvPr/>
        </p:nvSpPr>
        <p:spPr>
          <a:xfrm>
            <a:off x="731520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an exposure or fire incident.</a:t>
            </a:r>
            <a:endParaRPr lang="en-US" sz="1080" dirty="0"/>
          </a:p>
        </p:txBody>
      </p:sp>
      <p:sp>
        <p:nvSpPr>
          <p:cNvPr id="49" name="bld5_1728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0555" y="4349252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873319" y="4631692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873319" y="4560369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873319" y="4480487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56" name="bld5_1730"/>
          <p:cNvSpPr txBox="1"/>
          <p:nvPr/>
        </p:nvSpPr>
        <p:spPr>
          <a:xfrm>
            <a:off x="4515002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&amp; chemical properties</a:t>
            </a:r>
            <a:endParaRPr lang="en-US" sz="1450" dirty="0"/>
          </a:p>
        </p:txBody>
      </p:sp>
      <p:sp>
        <p:nvSpPr>
          <p:cNvPr id="57" name="bld5_1731"/>
          <p:cNvSpPr txBox="1"/>
          <p:nvPr/>
        </p:nvSpPr>
        <p:spPr>
          <a:xfrm>
            <a:off x="4515002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Flashpoint, solubility, appearance and more.</a:t>
            </a:r>
            <a:endParaRPr lang="en-US" sz="1080" dirty="0"/>
          </a:p>
        </p:txBody>
      </p:sp>
      <p:sp>
        <p:nvSpPr>
          <p:cNvPr id="58" name="bld6_1732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9594037" y="4349252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66849" y="449189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9637410" y="4586996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9637410" y="468209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9666849" y="4777191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66" name="bld6_1734"/>
          <p:cNvSpPr txBox="1"/>
          <p:nvPr/>
        </p:nvSpPr>
        <p:spPr>
          <a:xfrm>
            <a:off x="8298485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information</a:t>
            </a:r>
            <a:endParaRPr lang="en-US" sz="1450" dirty="0"/>
          </a:p>
        </p:txBody>
      </p:sp>
      <p:sp>
        <p:nvSpPr>
          <p:cNvPr id="67" name="bld6_1735"/>
          <p:cNvSpPr txBox="1"/>
          <p:nvPr/>
        </p:nvSpPr>
        <p:spPr>
          <a:xfrm>
            <a:off x="8298485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material is classified under law.</a:t>
            </a:r>
            <a:endParaRPr lang="en-US" sz="108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5" grpId="0"/>
      <p:bldP spid="16" grpId="0"/>
      <p:bldP spid="17" grpId="0"/>
      <p:bldP spid="32" grpId="0"/>
      <p:bldP spid="33" grpId="0"/>
      <p:bldP spid="34" grpId="0"/>
      <p:bldP spid="41" grpId="0"/>
      <p:bldP spid="42" grpId="0"/>
      <p:bldP spid="43" grpId="0"/>
      <p:bldP spid="47" grpId="0"/>
      <p:bldP spid="48" grpId="0"/>
      <p:bldP spid="49" grpId="0"/>
      <p:bldP spid="56" grpId="0"/>
      <p:bldP spid="57" grpId="0"/>
      <p:bldP spid="58" grpId="0"/>
      <p:bldP spid="66" grpId="0"/>
      <p:bldP spid="67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RIGHT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declarations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317219" y="2038814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740728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9578962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9055477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8893711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326439" y="2746874"/>
            <a:ext cx="442537" cy="442537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beautiful rose absolute may carry declarable allergens.</a:t>
            </a:r>
            <a:endParaRPr lang="en-US" sz="1050" dirty="0"/>
          </a:p>
        </p:txBody>
      </p:sp>
      <p:sp>
        <p:nvSpPr>
          <p:cNvPr id="15" name="bld1_173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1_173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 materials must be declared</a:t>
            </a:r>
            <a:endParaRPr lang="en-US" sz="1650" dirty="0"/>
          </a:p>
        </p:txBody>
      </p:sp>
      <p:sp>
        <p:nvSpPr>
          <p:cNvPr id="17" name="bld1_173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list of fragrance allergens must be listed on packaging above a set concentration threshold.</a:t>
            </a:r>
            <a:endParaRPr lang="en-US" sz="1250" dirty="0"/>
          </a:p>
        </p:txBody>
      </p:sp>
      <p:sp>
        <p:nvSpPr>
          <p:cNvPr id="18" name="bld2_173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bld2_174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applies even to natural materials</a:t>
            </a:r>
            <a:endParaRPr lang="en-US" sz="1650" dirty="0"/>
          </a:p>
        </p:txBody>
      </p:sp>
      <p:sp>
        <p:nvSpPr>
          <p:cNvPr id="20" name="bld2_174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essential oils contain declarable allergens naturally — linalool and limonene among the most common.</a:t>
            </a:r>
            <a:endParaRPr lang="en-US" sz="1250" dirty="0"/>
          </a:p>
        </p:txBody>
      </p:sp>
      <p:sp>
        <p:nvSpPr>
          <p:cNvPr id="21" name="bld3_174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2" name="bld3_174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every material's allergen content</a:t>
            </a:r>
            <a:endParaRPr lang="en-US" sz="1650" dirty="0"/>
          </a:p>
        </p:txBody>
      </p:sp>
      <p:sp>
        <p:nvSpPr>
          <p:cNvPr id="23" name="bld3_174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supplier's documentation should state the relevant allergen composition of each raw material.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HAZARDS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CLP — how hazards get communicated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967705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329201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745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355964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4" name="bld1_1747"/>
          <p:cNvSpPr txBox="1"/>
          <p:nvPr/>
        </p:nvSpPr>
        <p:spPr>
          <a:xfrm>
            <a:off x="731520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classifications</a:t>
            </a:r>
            <a:endParaRPr lang="en-US" sz="1450" dirty="0"/>
          </a:p>
        </p:txBody>
      </p:sp>
      <p:sp>
        <p:nvSpPr>
          <p:cNvPr id="15" name="bld1_1748"/>
          <p:cNvSpPr txBox="1"/>
          <p:nvPr/>
        </p:nvSpPr>
        <p:spPr>
          <a:xfrm>
            <a:off x="731520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category a product falls into.</a:t>
            </a:r>
            <a:endParaRPr lang="en-US" sz="1080" dirty="0"/>
          </a:p>
        </p:txBody>
      </p:sp>
      <p:sp>
        <p:nvSpPr>
          <p:cNvPr id="16" name="bld2_1749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20" name="bld2_1751"/>
          <p:cNvSpPr txBox="1"/>
          <p:nvPr/>
        </p:nvSpPr>
        <p:spPr>
          <a:xfrm>
            <a:off x="3001609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Pictograms</a:t>
            </a:r>
            <a:endParaRPr lang="en-US" sz="1450" dirty="0"/>
          </a:p>
        </p:txBody>
      </p:sp>
      <p:sp>
        <p:nvSpPr>
          <p:cNvPr id="21" name="bld2_1752"/>
          <p:cNvSpPr txBox="1"/>
          <p:nvPr/>
        </p:nvSpPr>
        <p:spPr>
          <a:xfrm>
            <a:off x="3001609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symbols shown on packaging.</a:t>
            </a:r>
            <a:endParaRPr lang="en-US" sz="1080" dirty="0"/>
          </a:p>
        </p:txBody>
      </p:sp>
      <p:sp>
        <p:nvSpPr>
          <p:cNvPr id="22" name="bld3_1753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4" name="Shape 22"/>
          <p:cNvSpPr/>
          <p:nvPr/>
        </p:nvSpPr>
        <p:spPr>
          <a:xfrm>
            <a:off x="589614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26" name="bld3_1755"/>
          <p:cNvSpPr txBox="1"/>
          <p:nvPr/>
        </p:nvSpPr>
        <p:spPr>
          <a:xfrm>
            <a:off x="5271699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words</a:t>
            </a:r>
            <a:endParaRPr lang="en-US" sz="1450" dirty="0"/>
          </a:p>
        </p:txBody>
      </p:sp>
      <p:sp>
        <p:nvSpPr>
          <p:cNvPr id="27" name="bld3_1756"/>
          <p:cNvSpPr txBox="1"/>
          <p:nvPr/>
        </p:nvSpPr>
        <p:spPr>
          <a:xfrm>
            <a:off x="5271699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"Warning" or "Danger," indicating severity.</a:t>
            </a:r>
            <a:endParaRPr lang="en-US" sz="1080" dirty="0"/>
          </a:p>
        </p:txBody>
      </p:sp>
      <p:sp>
        <p:nvSpPr>
          <p:cNvPr id="28" name="bld4_1757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6" name="bld4_1759"/>
          <p:cNvSpPr txBox="1"/>
          <p:nvPr/>
        </p:nvSpPr>
        <p:spPr>
          <a:xfrm>
            <a:off x="7541788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statements</a:t>
            </a:r>
            <a:endParaRPr lang="en-US" sz="1450" dirty="0"/>
          </a:p>
        </p:txBody>
      </p:sp>
      <p:sp>
        <p:nvSpPr>
          <p:cNvPr id="37" name="bld4_1760"/>
          <p:cNvSpPr txBox="1"/>
          <p:nvPr/>
        </p:nvSpPr>
        <p:spPr>
          <a:xfrm>
            <a:off x="7541788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phrases describing the specific risk.</a:t>
            </a:r>
            <a:endParaRPr lang="en-US" sz="1080" dirty="0"/>
          </a:p>
        </p:txBody>
      </p:sp>
      <p:sp>
        <p:nvSpPr>
          <p:cNvPr id="38" name="bld5_1761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73557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2" name="bld5_1763"/>
          <p:cNvSpPr txBox="1"/>
          <p:nvPr/>
        </p:nvSpPr>
        <p:spPr>
          <a:xfrm>
            <a:off x="9811878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Precautionary statements</a:t>
            </a:r>
            <a:endParaRPr lang="en-US" sz="1450" dirty="0"/>
          </a:p>
        </p:txBody>
      </p:sp>
      <p:sp>
        <p:nvSpPr>
          <p:cNvPr id="43" name="bld5_1764"/>
          <p:cNvSpPr txBox="1"/>
          <p:nvPr/>
        </p:nvSpPr>
        <p:spPr>
          <a:xfrm>
            <a:off x="9811878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should do to stay safe.</a:t>
            </a:r>
            <a:endParaRPr lang="en-US" sz="108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6" grpId="0"/>
      <p:bldP spid="37" grpId="0"/>
      <p:bldP spid="38" grpId="0"/>
      <p:bldP spid="42" grpId="0"/>
      <p:bldP spid="43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TOOL, NOT AN AUTHORITY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 Scents Company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a material is listed on The Good Scents Company, it's approved and safe to use as I like."</a:t>
            </a:r>
            <a:endParaRPr lang="en-US" sz="2100" dirty="0"/>
          </a:p>
        </p:txBody>
      </p:sp>
      <p:sp>
        <p:nvSpPr>
          <p:cNvPr id="10" name="bld1_1765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766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767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Scents is a fantastic research and reference tool for material properties — but it is not a regulatory authority. Always confirm safety and legal usage limits through your supplier's documentation, IFRA, the SDS, and official regulatory databases.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ACTUALLY LOOK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sources for compliance information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5005757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5093658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570832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1768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9" name="bld1_1770"/>
          <p:cNvSpPr txBox="1"/>
          <p:nvPr/>
        </p:nvSpPr>
        <p:spPr>
          <a:xfrm>
            <a:off x="731520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 documentation</a:t>
            </a:r>
            <a:endParaRPr lang="en-US" sz="1450" dirty="0"/>
          </a:p>
        </p:txBody>
      </p:sp>
      <p:sp>
        <p:nvSpPr>
          <p:cNvPr id="30" name="bld1_1771"/>
          <p:cNvSpPr txBox="1"/>
          <p:nvPr/>
        </p:nvSpPr>
        <p:spPr>
          <a:xfrm>
            <a:off x="731520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stop for every material.</a:t>
            </a:r>
            <a:endParaRPr lang="en-US" sz="1080" dirty="0"/>
          </a:p>
        </p:txBody>
      </p:sp>
      <p:sp>
        <p:nvSpPr>
          <p:cNvPr id="31" name="bld2_1772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354046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1327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583838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583838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61327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9" name="bld2_1774"/>
          <p:cNvSpPr txBox="1"/>
          <p:nvPr/>
        </p:nvSpPr>
        <p:spPr>
          <a:xfrm>
            <a:off x="3001609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</a:t>
            </a:r>
            <a:endParaRPr lang="en-US" sz="1450" dirty="0"/>
          </a:p>
        </p:txBody>
      </p:sp>
      <p:sp>
        <p:nvSpPr>
          <p:cNvPr id="40" name="bld2_1775"/>
          <p:cNvSpPr txBox="1"/>
          <p:nvPr/>
        </p:nvSpPr>
        <p:spPr>
          <a:xfrm>
            <a:off x="3001609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safety standard.</a:t>
            </a:r>
            <a:endParaRPr lang="en-US" sz="1080" dirty="0"/>
          </a:p>
        </p:txBody>
      </p:sp>
      <p:sp>
        <p:nvSpPr>
          <p:cNvPr id="41" name="bld3_1776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3" name="Shape 4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8336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585392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85392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88336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9" name="bld3_1778"/>
          <p:cNvSpPr txBox="1"/>
          <p:nvPr/>
        </p:nvSpPr>
        <p:spPr>
          <a:xfrm>
            <a:off x="5271699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SDS</a:t>
            </a:r>
            <a:endParaRPr lang="en-US" sz="1450" dirty="0"/>
          </a:p>
        </p:txBody>
      </p:sp>
      <p:sp>
        <p:nvSpPr>
          <p:cNvPr id="50" name="bld3_1779"/>
          <p:cNvSpPr txBox="1"/>
          <p:nvPr/>
        </p:nvSpPr>
        <p:spPr>
          <a:xfrm>
            <a:off x="5271699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Material-specific safety data.</a:t>
            </a:r>
            <a:endParaRPr lang="en-US" sz="1080" dirty="0"/>
          </a:p>
        </p:txBody>
      </p:sp>
      <p:sp>
        <p:nvSpPr>
          <p:cNvPr id="51" name="bld4_1780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9" name="bld4_1782"/>
          <p:cNvSpPr txBox="1"/>
          <p:nvPr/>
        </p:nvSpPr>
        <p:spPr>
          <a:xfrm>
            <a:off x="7541788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databases</a:t>
            </a:r>
            <a:endParaRPr lang="en-US" sz="1450" dirty="0"/>
          </a:p>
        </p:txBody>
      </p:sp>
      <p:sp>
        <p:nvSpPr>
          <p:cNvPr id="60" name="bld4_1783"/>
          <p:cNvSpPr txBox="1"/>
          <p:nvPr/>
        </p:nvSpPr>
        <p:spPr>
          <a:xfrm>
            <a:off x="7541788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government sources.</a:t>
            </a:r>
            <a:endParaRPr lang="en-US" sz="1080" dirty="0"/>
          </a:p>
        </p:txBody>
      </p:sp>
      <p:sp>
        <p:nvSpPr>
          <p:cNvPr id="61" name="bld5_1784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5_1786"/>
          <p:cNvSpPr txBox="1"/>
          <p:nvPr/>
        </p:nvSpPr>
        <p:spPr>
          <a:xfrm>
            <a:off x="9811878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assessors</a:t>
            </a:r>
            <a:endParaRPr lang="en-US" sz="1450" dirty="0"/>
          </a:p>
        </p:txBody>
      </p:sp>
      <p:sp>
        <p:nvSpPr>
          <p:cNvPr id="70" name="bld5_1787"/>
          <p:cNvSpPr txBox="1"/>
          <p:nvPr/>
        </p:nvSpPr>
        <p:spPr>
          <a:xfrm>
            <a:off x="9811878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 by your market.</a:t>
            </a:r>
            <a:endParaRPr lang="en-US" sz="1080" dirty="0"/>
          </a:p>
        </p:txBody>
      </p:sp>
      <p:sp>
        <p:nvSpPr>
          <p:cNvPr id="72" name="Text 6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9" grpId="0"/>
      <p:bldP spid="30" grpId="0"/>
      <p:bldP spid="31" grpId="0"/>
      <p:bldP spid="39" grpId="0"/>
      <p:bldP spid="40" grpId="0"/>
      <p:bldP spid="41" grpId="0"/>
      <p:bldP spid="49" grpId="0"/>
      <p:bldP spid="50" grpId="0"/>
      <p:bldP spid="51" grpId="0"/>
      <p:bldP spid="59" grpId="0"/>
      <p:bldP spid="60" grpId="0"/>
      <p:bldP spid="61" grpId="0"/>
      <p:bldP spid="69" grpId="0"/>
      <p:bldP spid="7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PATH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 to sellable label</a:t>
            </a:r>
            <a:endParaRPr lang="en-US" sz="3200" dirty="0"/>
          </a:p>
        </p:txBody>
      </p:sp>
      <p:sp>
        <p:nvSpPr>
          <p:cNvPr id="7" name="bld1_1788"/>
          <p:cNvSpPr txBox="1"/>
          <p:nvPr/>
        </p:nvSpPr>
        <p:spPr>
          <a:xfrm>
            <a:off x="2064990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53807"/>
            <a:ext cx="317145" cy="140953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5865" y="3653807"/>
            <a:ext cx="317145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05865" y="3829998"/>
            <a:ext cx="317145" cy="28190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290" y="4111905"/>
            <a:ext cx="528574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77290" y="3794760"/>
            <a:ext cx="211430" cy="31714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1099" y="3618569"/>
            <a:ext cx="387621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2339" y="3738379"/>
            <a:ext cx="112763" cy="11276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65341" y="3613283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82485" y="378947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5341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766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0575" y="357804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1_1790"/>
          <p:cNvSpPr txBox="1"/>
          <p:nvPr/>
        </p:nvSpPr>
        <p:spPr>
          <a:xfrm>
            <a:off x="253014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00" dirty="0"/>
          </a:p>
        </p:txBody>
      </p:sp>
      <p:sp>
        <p:nvSpPr>
          <p:cNvPr id="23" name="bld1_1791"/>
          <p:cNvSpPr txBox="1"/>
          <p:nvPr/>
        </p:nvSpPr>
        <p:spPr>
          <a:xfrm>
            <a:off x="253014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composition</a:t>
            </a:r>
            <a:endParaRPr lang="en-US" sz="1050" dirty="0"/>
          </a:p>
        </p:txBody>
      </p:sp>
      <p:sp>
        <p:nvSpPr>
          <p:cNvPr id="24" name="bld2_1792"/>
          <p:cNvSpPr txBox="1"/>
          <p:nvPr/>
        </p:nvSpPr>
        <p:spPr>
          <a:xfrm>
            <a:off x="4027841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>
            <a:off x="2510875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74392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608279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608279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674392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2" name="bld2_1794"/>
          <p:cNvSpPr txBox="1"/>
          <p:nvPr/>
        </p:nvSpPr>
        <p:spPr>
          <a:xfrm>
            <a:off x="2215866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check</a:t>
            </a:r>
            <a:endParaRPr lang="en-US" sz="1400" dirty="0"/>
          </a:p>
        </p:txBody>
      </p:sp>
      <p:sp>
        <p:nvSpPr>
          <p:cNvPr id="33" name="bld2_1795"/>
          <p:cNvSpPr txBox="1"/>
          <p:nvPr/>
        </p:nvSpPr>
        <p:spPr>
          <a:xfrm>
            <a:off x="2215866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limits met</a:t>
            </a:r>
            <a:endParaRPr lang="en-US" sz="1050" dirty="0"/>
          </a:p>
        </p:txBody>
      </p:sp>
      <p:sp>
        <p:nvSpPr>
          <p:cNvPr id="34" name="bld3_1796"/>
          <p:cNvSpPr txBox="1"/>
          <p:nvPr/>
        </p:nvSpPr>
        <p:spPr>
          <a:xfrm>
            <a:off x="5990692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4473726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37243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71130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571130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637243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3_1798"/>
          <p:cNvSpPr txBox="1"/>
          <p:nvPr/>
        </p:nvSpPr>
        <p:spPr>
          <a:xfrm>
            <a:off x="4178717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data</a:t>
            </a:r>
            <a:endParaRPr lang="en-US" sz="1400" dirty="0"/>
          </a:p>
        </p:txBody>
      </p:sp>
      <p:sp>
        <p:nvSpPr>
          <p:cNvPr id="43" name="bld3_1799"/>
          <p:cNvSpPr txBox="1"/>
          <p:nvPr/>
        </p:nvSpPr>
        <p:spPr>
          <a:xfrm>
            <a:off x="4178717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each SDS</a:t>
            </a:r>
            <a:endParaRPr lang="en-US" sz="1050" dirty="0"/>
          </a:p>
        </p:txBody>
      </p:sp>
      <p:sp>
        <p:nvSpPr>
          <p:cNvPr id="44" name="bld4_1800"/>
          <p:cNvSpPr txBox="1"/>
          <p:nvPr/>
        </p:nvSpPr>
        <p:spPr>
          <a:xfrm>
            <a:off x="7953543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>
            <a:off x="6981169" y="3370363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2700000">
            <a:off x="7118168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5400000">
            <a:off x="7174915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100000">
            <a:off x="7118168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6981169" y="3757856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500000">
            <a:off x="6844169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6200000">
            <a:off x="6787422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8900000">
            <a:off x="6844169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974762" y="3692249"/>
            <a:ext cx="205023" cy="20502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5" name="Shape 5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6" name="bld4_1802"/>
          <p:cNvSpPr txBox="1"/>
          <p:nvPr/>
        </p:nvSpPr>
        <p:spPr>
          <a:xfrm>
            <a:off x="6141568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info</a:t>
            </a:r>
            <a:endParaRPr lang="en-US" sz="1400" dirty="0"/>
          </a:p>
        </p:txBody>
      </p:sp>
      <p:sp>
        <p:nvSpPr>
          <p:cNvPr id="57" name="bld4_1803"/>
          <p:cNvSpPr txBox="1"/>
          <p:nvPr/>
        </p:nvSpPr>
        <p:spPr>
          <a:xfrm>
            <a:off x="6141568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as required</a:t>
            </a:r>
            <a:endParaRPr lang="en-US" sz="1050" dirty="0"/>
          </a:p>
        </p:txBody>
      </p:sp>
      <p:sp>
        <p:nvSpPr>
          <p:cNvPr id="58" name="bld5_1804"/>
          <p:cNvSpPr txBox="1"/>
          <p:nvPr/>
        </p:nvSpPr>
        <p:spPr>
          <a:xfrm>
            <a:off x="9916394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9" name="Shape 57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399428" y="3154064"/>
            <a:ext cx="1281393" cy="1281393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562945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496832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496832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562945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6" name="bld5_1806"/>
          <p:cNvSpPr txBox="1"/>
          <p:nvPr/>
        </p:nvSpPr>
        <p:spPr>
          <a:xfrm>
            <a:off x="8104419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assessment</a:t>
            </a:r>
            <a:endParaRPr lang="en-US" sz="1400" dirty="0"/>
          </a:p>
        </p:txBody>
      </p:sp>
      <p:sp>
        <p:nvSpPr>
          <p:cNvPr id="67" name="bld5_1807"/>
          <p:cNvSpPr txBox="1"/>
          <p:nvPr/>
        </p:nvSpPr>
        <p:spPr>
          <a:xfrm>
            <a:off x="8104419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market's rules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9" name="Shape 67"/>
          <p:cNvSpPr/>
          <p:nvPr/>
        </p:nvSpPr>
        <p:spPr>
          <a:xfrm>
            <a:off x="10362279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0525796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10459683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459683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525796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5" name="bld6_1809"/>
          <p:cNvSpPr txBox="1"/>
          <p:nvPr/>
        </p:nvSpPr>
        <p:spPr>
          <a:xfrm>
            <a:off x="10067270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76" name="bld6_1810"/>
          <p:cNvSpPr txBox="1"/>
          <p:nvPr/>
        </p:nvSpPr>
        <p:spPr>
          <a:xfrm>
            <a:off x="10067270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compliant &amp; ready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2" grpId="0"/>
      <p:bldP spid="33" grpId="0"/>
      <p:bldP spid="34" grpId="0"/>
      <p:bldP spid="42" grpId="0"/>
      <p:bldP spid="43" grpId="0"/>
      <p:bldP spid="44" grpId="0"/>
      <p:bldP spid="56" grpId="0"/>
      <p:bldP spid="57" grpId="0"/>
      <p:bldP spid="58" grpId="0"/>
      <p:bldP spid="66" grpId="0"/>
      <p:bldP spid="67" grpId="0"/>
      <p:bldP spid="75" grpId="0"/>
      <p:bldP spid="76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isn't optional paperwork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difference between a hobby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business you can legally sell.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STARTING A BRAND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Brand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you've learned, now aimed at building something the world can actually buy.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comes first</a:t>
            </a:r>
            <a:endParaRPr lang="en-US" sz="3200" dirty="0"/>
          </a:p>
        </p:txBody>
      </p:sp>
      <p:sp>
        <p:nvSpPr>
          <p:cNvPr id="7" name="bld1_1811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2112660" y="207568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946605" y="190963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1" name="bld1_1813"/>
          <p:cNvSpPr txBox="1"/>
          <p:nvPr/>
        </p:nvSpPr>
        <p:spPr>
          <a:xfrm>
            <a:off x="731520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1450" dirty="0"/>
          </a:p>
        </p:txBody>
      </p:sp>
      <p:sp>
        <p:nvSpPr>
          <p:cNvPr id="12" name="bld1_1814"/>
          <p:cNvSpPr txBox="1"/>
          <p:nvPr/>
        </p:nvSpPr>
        <p:spPr>
          <a:xfrm>
            <a:off x="731520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the fragrance is built around.</a:t>
            </a:r>
            <a:endParaRPr lang="en-US" sz="1080" dirty="0"/>
          </a:p>
        </p:txBody>
      </p:sp>
      <p:sp>
        <p:nvSpPr>
          <p:cNvPr id="13" name="bld2_1815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 flipV="1">
            <a:off x="6095848" y="2212629"/>
            <a:ext cx="141220" cy="6276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37068" y="2212629"/>
            <a:ext cx="141220" cy="7845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237068" y="2291084"/>
            <a:ext cx="141220" cy="125529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01701" y="2416613"/>
            <a:ext cx="235367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001701" y="2275393"/>
            <a:ext cx="94147" cy="14122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3245" y="2196937"/>
            <a:ext cx="172602" cy="7845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0742" y="2250287"/>
            <a:ext cx="50212" cy="50212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9023" y="2194584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60243" y="2273039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9023" y="2398568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83656" y="2398568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05201" y="2178893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0088" y="190963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2_1817"/>
          <p:cNvSpPr txBox="1"/>
          <p:nvPr/>
        </p:nvSpPr>
        <p:spPr>
          <a:xfrm>
            <a:off x="4515002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29" name="bld2_1818"/>
          <p:cNvSpPr txBox="1"/>
          <p:nvPr/>
        </p:nvSpPr>
        <p:spPr>
          <a:xfrm>
            <a:off x="4515002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itself, fully developed.</a:t>
            </a:r>
            <a:endParaRPr lang="en-US" sz="1080" dirty="0"/>
          </a:p>
        </p:txBody>
      </p:sp>
      <p:sp>
        <p:nvSpPr>
          <p:cNvPr id="30" name="bld3_1819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>
            <a:off x="9859360" y="2081394"/>
            <a:ext cx="42680" cy="387998"/>
          </a:xfrm>
          <a:prstGeom prst="roundRect">
            <a:avLst>
              <a:gd name="adj" fmla="val 42849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3076" y="2345233"/>
            <a:ext cx="15248" cy="105871"/>
          </a:xfrm>
          <a:prstGeom prst="roundRect">
            <a:avLst>
              <a:gd name="adj" fmla="val 89953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13570" y="190963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5" name="bld3_1821"/>
          <p:cNvSpPr txBox="1"/>
          <p:nvPr/>
        </p:nvSpPr>
        <p:spPr>
          <a:xfrm>
            <a:off x="8298485" y="2750881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450" dirty="0"/>
          </a:p>
        </p:txBody>
      </p:sp>
      <p:sp>
        <p:nvSpPr>
          <p:cNvPr id="36" name="bld3_1822"/>
          <p:cNvSpPr txBox="1"/>
          <p:nvPr/>
        </p:nvSpPr>
        <p:spPr>
          <a:xfrm>
            <a:off x="8298485" y="3061777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wear testing, not just strips.</a:t>
            </a:r>
            <a:endParaRPr lang="en-US" sz="1080" dirty="0"/>
          </a:p>
        </p:txBody>
      </p:sp>
      <p:sp>
        <p:nvSpPr>
          <p:cNvPr id="37" name="bld4_1823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9" name="Shape 37"/>
          <p:cNvSpPr/>
          <p:nvPr/>
        </p:nvSpPr>
        <p:spPr>
          <a:xfrm>
            <a:off x="2027072" y="4349252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089837" y="4631692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089837" y="4560369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2089837" y="4480487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946605" y="4268785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4" name="bld4_1825"/>
          <p:cNvSpPr txBox="1"/>
          <p:nvPr/>
        </p:nvSpPr>
        <p:spPr>
          <a:xfrm>
            <a:off x="731520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</a:t>
            </a:r>
            <a:endParaRPr lang="en-US" sz="1450" dirty="0"/>
          </a:p>
        </p:txBody>
      </p:sp>
      <p:sp>
        <p:nvSpPr>
          <p:cNvPr id="45" name="bld4_1826"/>
          <p:cNvSpPr txBox="1"/>
          <p:nvPr/>
        </p:nvSpPr>
        <p:spPr>
          <a:xfrm>
            <a:off x="731520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clarity and consistency over time.</a:t>
            </a:r>
            <a:endParaRPr lang="en-US" sz="1080" dirty="0"/>
          </a:p>
        </p:txBody>
      </p:sp>
      <p:sp>
        <p:nvSpPr>
          <p:cNvPr id="46" name="bld5_1827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0555" y="4349252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83367" y="449189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5853927" y="4586996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53927" y="468209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883367" y="4777191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5730088" y="4268785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4" name="bld5_1829"/>
          <p:cNvSpPr txBox="1"/>
          <p:nvPr/>
        </p:nvSpPr>
        <p:spPr>
          <a:xfrm>
            <a:off x="4515002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5" name="bld5_1830"/>
          <p:cNvSpPr txBox="1"/>
          <p:nvPr/>
        </p:nvSpPr>
        <p:spPr>
          <a:xfrm>
            <a:off x="4515002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IFRA, SDS, allergens — all checked.</a:t>
            </a:r>
            <a:endParaRPr lang="en-US" sz="1080" dirty="0"/>
          </a:p>
        </p:txBody>
      </p:sp>
      <p:sp>
        <p:nvSpPr>
          <p:cNvPr id="56" name="bld6_1831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8" name="Shape 56"/>
          <p:cNvSpPr/>
          <p:nvPr/>
        </p:nvSpPr>
        <p:spPr>
          <a:xfrm>
            <a:off x="9849933" y="4400605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59" name="Shape 57"/>
          <p:cNvSpPr/>
          <p:nvPr/>
        </p:nvSpPr>
        <p:spPr>
          <a:xfrm>
            <a:off x="9853768" y="4447393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88036" y="4522254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824612" y="4678058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13570" y="4268785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3" name="bld6_1833"/>
          <p:cNvSpPr txBox="1"/>
          <p:nvPr/>
        </p:nvSpPr>
        <p:spPr>
          <a:xfrm>
            <a:off x="8298485" y="511003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64" name="bld6_1834"/>
          <p:cNvSpPr txBox="1"/>
          <p:nvPr/>
        </p:nvSpPr>
        <p:spPr>
          <a:xfrm>
            <a:off x="8298485" y="5420929"/>
            <a:ext cx="31616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compound and bottle at scale.</a:t>
            </a:r>
            <a:endParaRPr lang="en-US" sz="1080" dirty="0"/>
          </a:p>
        </p:txBody>
      </p:sp>
      <p:sp>
        <p:nvSpPr>
          <p:cNvPr id="66" name="Text 6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8" grpId="0"/>
      <p:bldP spid="29" grpId="0"/>
      <p:bldP spid="30" grpId="0"/>
      <p:bldP spid="35" grpId="0"/>
      <p:bldP spid="36" grpId="0"/>
      <p:bldP spid="37" grpId="0"/>
      <p:bldP spid="44" grpId="0"/>
      <p:bldP spid="45" grpId="0"/>
      <p:bldP spid="46" grpId="0"/>
      <p:bldP spid="54" grpId="0"/>
      <p:bldP spid="55" grpId="0"/>
      <p:bldP spid="56" grpId="0"/>
      <p:bldP spid="63" grpId="0"/>
      <p:bldP spid="64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your bottle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>
            <a:off x="9426456" y="2233638"/>
            <a:ext cx="242504" cy="192987"/>
          </a:xfrm>
          <a:prstGeom prst="roundRect">
            <a:avLst>
              <a:gd name="adj" fmla="val 18953"/>
            </a:avLst>
          </a:prstGeom>
          <a:solidFill>
            <a:srgbClr val="0E0D0B"/>
          </a:solidFill>
          <a:ln/>
        </p:spPr>
      </p:sp>
      <p:sp>
        <p:nvSpPr>
          <p:cNvPr id="10" name="Shape 8"/>
          <p:cNvSpPr/>
          <p:nvPr/>
        </p:nvSpPr>
        <p:spPr>
          <a:xfrm>
            <a:off x="9442271" y="2426625"/>
            <a:ext cx="210873" cy="308778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71148" y="2735403"/>
            <a:ext cx="753118" cy="1428100"/>
          </a:xfrm>
          <a:prstGeom prst="roundRect">
            <a:avLst>
              <a:gd name="adj" fmla="val 14570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07724" y="3378049"/>
            <a:ext cx="679966" cy="748879"/>
          </a:xfrm>
          <a:prstGeom prst="roundRect">
            <a:avLst>
              <a:gd name="adj" fmla="val 13448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 is the first thing a customer touches — it earns real design attention.</a:t>
            </a:r>
            <a:endParaRPr lang="en-US" sz="1050" dirty="0"/>
          </a:p>
        </p:txBody>
      </p:sp>
      <p:sp>
        <p:nvSpPr>
          <p:cNvPr id="15" name="bld1_183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1_183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custom bottles</a:t>
            </a:r>
            <a:endParaRPr lang="en-US" sz="1650" dirty="0"/>
          </a:p>
        </p:txBody>
      </p:sp>
      <p:sp>
        <p:nvSpPr>
          <p:cNvPr id="17" name="bld1_183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bottles are fast and cheap to start; custom moulds are expensive but build real brand identity.</a:t>
            </a:r>
            <a:endParaRPr lang="en-US" sz="1250" dirty="0"/>
          </a:p>
        </p:txBody>
      </p:sp>
      <p:sp>
        <p:nvSpPr>
          <p:cNvPr id="18" name="bld2_183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9" name="bld2_183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order quantities</a:t>
            </a:r>
            <a:endParaRPr lang="en-US" sz="1650" dirty="0"/>
          </a:p>
        </p:txBody>
      </p:sp>
      <p:sp>
        <p:nvSpPr>
          <p:cNvPr id="20" name="bld2_184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glass often requires large MOQs — budget and plan inventory accordingly.</a:t>
            </a:r>
            <a:endParaRPr lang="en-US" sz="1250" dirty="0"/>
          </a:p>
        </p:txBody>
      </p:sp>
      <p:sp>
        <p:nvSpPr>
          <p:cNvPr id="21" name="bld3_184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184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Pumps, collars &amp; caps</a:t>
            </a:r>
            <a:endParaRPr lang="en-US" sz="1650" dirty="0"/>
          </a:p>
        </p:txBody>
      </p:sp>
      <p:sp>
        <p:nvSpPr>
          <p:cNvPr id="23" name="bld3_184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small components define the feel of a bottle as much as the glass itself.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ON THE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— more technical than they look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844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1846"/>
          <p:cNvSpPr txBox="1"/>
          <p:nvPr/>
        </p:nvSpPr>
        <p:spPr>
          <a:xfrm>
            <a:off x="731520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9" name="bld1_1847"/>
          <p:cNvSpPr txBox="1"/>
          <p:nvPr/>
        </p:nvSpPr>
        <p:spPr>
          <a:xfrm>
            <a:off x="731520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 vinyl or foil — each behaves differently.</a:t>
            </a:r>
            <a:endParaRPr lang="en-US" sz="1080" dirty="0"/>
          </a:p>
        </p:txBody>
      </p:sp>
      <p:sp>
        <p:nvSpPr>
          <p:cNvPr id="20" name="bld2_1848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1850"/>
          <p:cNvSpPr txBox="1"/>
          <p:nvPr/>
        </p:nvSpPr>
        <p:spPr>
          <a:xfrm>
            <a:off x="3001609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Printing</a:t>
            </a:r>
            <a:endParaRPr lang="en-US" sz="1450" dirty="0"/>
          </a:p>
        </p:txBody>
      </p:sp>
      <p:sp>
        <p:nvSpPr>
          <p:cNvPr id="25" name="bld2_1851"/>
          <p:cNvSpPr txBox="1"/>
          <p:nvPr/>
        </p:nvSpPr>
        <p:spPr>
          <a:xfrm>
            <a:off x="3001609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vs. letterpress vs. foil stamping.</a:t>
            </a:r>
            <a:endParaRPr lang="en-US" sz="1080" dirty="0"/>
          </a:p>
        </p:txBody>
      </p:sp>
      <p:sp>
        <p:nvSpPr>
          <p:cNvPr id="26" name="bld3_1852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>
            <a:off x="6066451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070285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04554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41130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1854"/>
          <p:cNvSpPr txBox="1"/>
          <p:nvPr/>
        </p:nvSpPr>
        <p:spPr>
          <a:xfrm>
            <a:off x="5271699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Adhesion</a:t>
            </a:r>
            <a:endParaRPr lang="en-US" sz="1450" dirty="0"/>
          </a:p>
        </p:txBody>
      </p:sp>
      <p:sp>
        <p:nvSpPr>
          <p:cNvPr id="34" name="bld3_1855"/>
          <p:cNvSpPr txBox="1"/>
          <p:nvPr/>
        </p:nvSpPr>
        <p:spPr>
          <a:xfrm>
            <a:off x="5271699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bond securely to glass long-term.</a:t>
            </a:r>
            <a:endParaRPr lang="en-US" sz="1080" dirty="0"/>
          </a:p>
        </p:txBody>
      </p:sp>
      <p:sp>
        <p:nvSpPr>
          <p:cNvPr id="35" name="bld4_1856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14340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14340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4340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2" name="bld4_1858"/>
          <p:cNvSpPr txBox="1"/>
          <p:nvPr/>
        </p:nvSpPr>
        <p:spPr>
          <a:xfrm>
            <a:off x="7541788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/ alcohol resistance</a:t>
            </a:r>
            <a:endParaRPr lang="en-US" sz="1450" dirty="0"/>
          </a:p>
        </p:txBody>
      </p:sp>
      <p:sp>
        <p:nvSpPr>
          <p:cNvPr id="43" name="bld4_1859"/>
          <p:cNvSpPr txBox="1"/>
          <p:nvPr/>
        </p:nvSpPr>
        <p:spPr>
          <a:xfrm>
            <a:off x="7541788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survive spills without smearing or lifting.</a:t>
            </a:r>
            <a:endParaRPr lang="en-US" sz="1080" dirty="0"/>
          </a:p>
        </p:txBody>
      </p:sp>
      <p:sp>
        <p:nvSpPr>
          <p:cNvPr id="44" name="bld5_1860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2" name="bld5_1862"/>
          <p:cNvSpPr txBox="1"/>
          <p:nvPr/>
        </p:nvSpPr>
        <p:spPr>
          <a:xfrm>
            <a:off x="9811878" y="3229661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</a:t>
            </a:r>
            <a:endParaRPr lang="en-US" sz="1450" dirty="0"/>
          </a:p>
        </p:txBody>
      </p:sp>
      <p:sp>
        <p:nvSpPr>
          <p:cNvPr id="53" name="bld5_1863"/>
          <p:cNvSpPr txBox="1"/>
          <p:nvPr/>
        </p:nvSpPr>
        <p:spPr>
          <a:xfrm>
            <a:off x="9811878" y="3540557"/>
            <a:ext cx="164829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Ingredients, allergens, volume, batch code.</a:t>
            </a:r>
            <a:endParaRPr lang="en-US" sz="108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3" grpId="0"/>
      <p:bldP spid="34" grpId="0"/>
      <p:bldP spid="35" grpId="0"/>
      <p:bldP spid="42" grpId="0"/>
      <p:bldP spid="43" grpId="0"/>
      <p:bldP spid="44" grpId="0"/>
      <p:bldP spid="52" grpId="0"/>
      <p:bldP spid="5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PRESENTATION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 tells the story too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864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1866"/>
          <p:cNvSpPr txBox="1"/>
          <p:nvPr/>
        </p:nvSpPr>
        <p:spPr>
          <a:xfrm>
            <a:off x="731520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</a:t>
            </a:r>
            <a:endParaRPr lang="en-US" sz="1450" dirty="0"/>
          </a:p>
        </p:txBody>
      </p:sp>
      <p:sp>
        <p:nvSpPr>
          <p:cNvPr id="18" name="bld1_1867"/>
          <p:cNvSpPr txBox="1"/>
          <p:nvPr/>
        </p:nvSpPr>
        <p:spPr>
          <a:xfrm>
            <a:off x="731520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unboxing experience.</a:t>
            </a:r>
            <a:endParaRPr lang="en-US" sz="1080" dirty="0"/>
          </a:p>
        </p:txBody>
      </p:sp>
      <p:sp>
        <p:nvSpPr>
          <p:cNvPr id="19" name="bld2_1868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91749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464561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435122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435122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464561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7" name="bld2_1870"/>
          <p:cNvSpPr txBox="1"/>
          <p:nvPr/>
        </p:nvSpPr>
        <p:spPr>
          <a:xfrm>
            <a:off x="3569132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</a:t>
            </a:r>
            <a:endParaRPr lang="en-US" sz="1450" dirty="0"/>
          </a:p>
        </p:txBody>
      </p:sp>
      <p:sp>
        <p:nvSpPr>
          <p:cNvPr id="28" name="bld2_1871"/>
          <p:cNvSpPr txBox="1"/>
          <p:nvPr/>
        </p:nvSpPr>
        <p:spPr>
          <a:xfrm>
            <a:off x="3569132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brand identity.</a:t>
            </a:r>
            <a:endParaRPr lang="en-US" sz="1080" dirty="0"/>
          </a:p>
        </p:txBody>
      </p:sp>
      <p:sp>
        <p:nvSpPr>
          <p:cNvPr id="29" name="bld3_1872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2" name="Shape 30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6" name="bld3_1874"/>
          <p:cNvSpPr txBox="1"/>
          <p:nvPr/>
        </p:nvSpPr>
        <p:spPr>
          <a:xfrm>
            <a:off x="6406744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 presentation</a:t>
            </a:r>
            <a:endParaRPr lang="en-US" sz="1450" dirty="0"/>
          </a:p>
        </p:txBody>
      </p:sp>
      <p:sp>
        <p:nvSpPr>
          <p:cNvPr id="37" name="bld3_1875"/>
          <p:cNvSpPr txBox="1"/>
          <p:nvPr/>
        </p:nvSpPr>
        <p:spPr>
          <a:xfrm>
            <a:off x="6406744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 and feels in hand.</a:t>
            </a:r>
            <a:endParaRPr lang="en-US" sz="1080" dirty="0"/>
          </a:p>
        </p:txBody>
      </p:sp>
      <p:sp>
        <p:nvSpPr>
          <p:cNvPr id="38" name="bld4_1876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45" name="bld4_1878"/>
          <p:cNvSpPr txBox="1"/>
          <p:nvPr/>
        </p:nvSpPr>
        <p:spPr>
          <a:xfrm>
            <a:off x="9244355" y="322966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Samples</a:t>
            </a:r>
            <a:endParaRPr lang="en-US" sz="1450" dirty="0"/>
          </a:p>
        </p:txBody>
      </p:sp>
      <p:sp>
        <p:nvSpPr>
          <p:cNvPr id="46" name="bld4_1879"/>
          <p:cNvSpPr txBox="1"/>
          <p:nvPr/>
        </p:nvSpPr>
        <p:spPr>
          <a:xfrm>
            <a:off x="9244355" y="3540557"/>
            <a:ext cx="22158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trial for new customers.</a:t>
            </a:r>
            <a:endParaRPr lang="en-US" sz="108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7" grpId="0"/>
      <p:bldP spid="28" grpId="0"/>
      <p:bldP spid="29" grpId="0"/>
      <p:bldP spid="36" grpId="0"/>
      <p:bldP spid="37" grpId="0"/>
      <p:bldP spid="38" grpId="0"/>
      <p:bldP spid="45" grpId="0"/>
      <p:bldP spid="46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LOGO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brand is not just a logo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58127" y="1878562"/>
            <a:ext cx="2179162" cy="2179162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5289" y="2255724"/>
            <a:ext cx="1424836" cy="142483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logo is one layer. A brand is every layer together.</a:t>
            </a:r>
            <a:endParaRPr lang="en-US" sz="1050" dirty="0"/>
          </a:p>
        </p:txBody>
      </p:sp>
      <p:sp>
        <p:nvSpPr>
          <p:cNvPr id="11" name="bld1_188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bld1_188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</a:t>
            </a:r>
            <a:endParaRPr lang="en-US" sz="1650" dirty="0"/>
          </a:p>
        </p:txBody>
      </p:sp>
      <p:sp>
        <p:nvSpPr>
          <p:cNvPr id="13" name="bld1_188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fragrance, why now, why you.</a:t>
            </a:r>
            <a:endParaRPr lang="en-US" sz="1250" dirty="0"/>
          </a:p>
        </p:txBody>
      </p:sp>
      <p:sp>
        <p:nvSpPr>
          <p:cNvPr id="14" name="bld2_188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bld2_188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16" name="bld2_188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point of view across everything you make.</a:t>
            </a:r>
            <a:endParaRPr lang="en-US" sz="1250" dirty="0"/>
          </a:p>
        </p:txBody>
      </p:sp>
      <p:sp>
        <p:nvSpPr>
          <p:cNvPr id="17" name="bld3_188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3_188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650" dirty="0"/>
          </a:p>
        </p:txBody>
      </p:sp>
      <p:sp>
        <p:nvSpPr>
          <p:cNvPr id="19" name="bld3_188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person you're speaking to, not "everyone."</a:t>
            </a:r>
            <a:endParaRPr lang="en-US" sz="1250" dirty="0"/>
          </a:p>
        </p:txBody>
      </p:sp>
      <p:sp>
        <p:nvSpPr>
          <p:cNvPr id="20" name="bld4_188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89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language, positioning &amp; tone</a:t>
            </a:r>
            <a:endParaRPr lang="en-US" sz="1650" dirty="0"/>
          </a:p>
        </p:txBody>
      </p:sp>
      <p:sp>
        <p:nvSpPr>
          <p:cNvPr id="22" name="bld4_189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looks, where it sits in the market, and how it talks to people.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positioning — pick a lane</a:t>
            </a:r>
            <a:endParaRPr lang="en-US" sz="3200" dirty="0"/>
          </a:p>
        </p:txBody>
      </p:sp>
      <p:sp>
        <p:nvSpPr>
          <p:cNvPr id="7" name="bld1_1892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73670" y="190963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1639725" y="207568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473670" y="190963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1" name="bld1_1894"/>
          <p:cNvSpPr txBox="1"/>
          <p:nvPr/>
        </p:nvSpPr>
        <p:spPr>
          <a:xfrm>
            <a:off x="731520" y="275088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Luxury</a:t>
            </a:r>
            <a:endParaRPr lang="en-US" sz="1450" dirty="0"/>
          </a:p>
        </p:txBody>
      </p:sp>
      <p:sp>
        <p:nvSpPr>
          <p:cNvPr id="12" name="bld1_1895"/>
          <p:cNvSpPr txBox="1"/>
          <p:nvPr/>
        </p:nvSpPr>
        <p:spPr>
          <a:xfrm>
            <a:off x="731520" y="3061777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pricing, premium everything.</a:t>
            </a:r>
            <a:endParaRPr lang="en-US" sz="1080" dirty="0"/>
          </a:p>
        </p:txBody>
      </p:sp>
      <p:sp>
        <p:nvSpPr>
          <p:cNvPr id="13" name="bld2_1896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11282" y="190963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4637101" y="1990100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4760636" y="2061423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4760636" y="2204070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637101" y="2275393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3600000">
            <a:off x="4513565" y="2204070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7200000">
            <a:off x="4513565" y="2061423"/>
            <a:ext cx="79882" cy="285293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08571" y="220692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2" name="Shape 20"/>
          <p:cNvSpPr/>
          <p:nvPr/>
        </p:nvSpPr>
        <p:spPr>
          <a:xfrm>
            <a:off x="4311282" y="190963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3" name="bld2_1898"/>
          <p:cNvSpPr txBox="1"/>
          <p:nvPr/>
        </p:nvSpPr>
        <p:spPr>
          <a:xfrm>
            <a:off x="3569132" y="275088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1450" dirty="0"/>
          </a:p>
        </p:txBody>
      </p:sp>
      <p:sp>
        <p:nvSpPr>
          <p:cNvPr id="24" name="bld2_1899"/>
          <p:cNvSpPr txBox="1"/>
          <p:nvPr/>
        </p:nvSpPr>
        <p:spPr>
          <a:xfrm>
            <a:off x="3569132" y="3061777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Distinctive, less mainstream, expressive.</a:t>
            </a:r>
            <a:endParaRPr lang="en-US" sz="1080" dirty="0"/>
          </a:p>
        </p:txBody>
      </p:sp>
      <p:sp>
        <p:nvSpPr>
          <p:cNvPr id="25" name="bld3_1900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148894" y="190963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7471860" y="2086415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2700000">
            <a:off x="7532863" y="2111684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5400000">
            <a:off x="7558132" y="2172688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100000">
            <a:off x="7532863" y="2233691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0800000">
            <a:off x="7471860" y="2258960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3500000">
            <a:off x="7410856" y="2233691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6200000">
            <a:off x="7385587" y="2172688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7410856" y="2111684"/>
            <a:ext cx="85588" cy="20541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469007" y="2229746"/>
            <a:ext cx="91294" cy="9129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7148894" y="1909633"/>
            <a:ext cx="731520" cy="731520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7" name="bld3_1902"/>
          <p:cNvSpPr txBox="1"/>
          <p:nvPr/>
        </p:nvSpPr>
        <p:spPr>
          <a:xfrm>
            <a:off x="6406744" y="275088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niche</a:t>
            </a:r>
            <a:endParaRPr lang="en-US" sz="1450" dirty="0"/>
          </a:p>
        </p:txBody>
      </p:sp>
      <p:sp>
        <p:nvSpPr>
          <p:cNvPr id="38" name="bld3_1903"/>
          <p:cNvSpPr txBox="1"/>
          <p:nvPr/>
        </p:nvSpPr>
        <p:spPr>
          <a:xfrm>
            <a:off x="6406744" y="3061777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character, accessible pricing.</a:t>
            </a:r>
            <a:endParaRPr lang="en-US" sz="1080" dirty="0"/>
          </a:p>
        </p:txBody>
      </p:sp>
      <p:sp>
        <p:nvSpPr>
          <p:cNvPr id="39" name="bld4_1904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986505" y="190963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2869" y="204145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326703" y="208824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60972" y="216310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297548" y="231890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986505" y="190963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6" name="bld4_1906"/>
          <p:cNvSpPr txBox="1"/>
          <p:nvPr/>
        </p:nvSpPr>
        <p:spPr>
          <a:xfrm>
            <a:off x="9244355" y="275088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market</a:t>
            </a:r>
            <a:endParaRPr lang="en-US" sz="1450" dirty="0"/>
          </a:p>
        </p:txBody>
      </p:sp>
      <p:sp>
        <p:nvSpPr>
          <p:cNvPr id="47" name="bld4_1907"/>
          <p:cNvSpPr txBox="1"/>
          <p:nvPr/>
        </p:nvSpPr>
        <p:spPr>
          <a:xfrm>
            <a:off x="9244355" y="3061777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appeal, widest distribution.</a:t>
            </a:r>
            <a:endParaRPr lang="en-US" sz="1080" dirty="0"/>
          </a:p>
        </p:txBody>
      </p:sp>
      <p:sp>
        <p:nvSpPr>
          <p:cNvPr id="48" name="bld5_1908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473670" y="4268785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0" name="Shape 48"/>
          <p:cNvSpPr/>
          <p:nvPr/>
        </p:nvSpPr>
        <p:spPr>
          <a:xfrm flipV="1">
            <a:off x="1839430" y="4571781"/>
            <a:ext cx="141220" cy="6276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80650" y="4571781"/>
            <a:ext cx="141220" cy="7845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980650" y="4650236"/>
            <a:ext cx="141220" cy="125529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45283" y="4775765"/>
            <a:ext cx="235367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745283" y="4634545"/>
            <a:ext cx="94147" cy="14122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66828" y="4556089"/>
            <a:ext cx="172602" cy="7845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814324" y="4609439"/>
            <a:ext cx="50212" cy="50212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962605" y="4553736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103825" y="4632191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962605" y="4757720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27239" y="4757720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48783" y="4538045"/>
            <a:ext cx="36090" cy="3609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473670" y="4268785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3" name="bld5_1910"/>
          <p:cNvSpPr txBox="1"/>
          <p:nvPr/>
        </p:nvSpPr>
        <p:spPr>
          <a:xfrm>
            <a:off x="731520" y="511003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1450" dirty="0"/>
          </a:p>
        </p:txBody>
      </p:sp>
      <p:sp>
        <p:nvSpPr>
          <p:cNvPr id="64" name="bld5_1911"/>
          <p:cNvSpPr txBox="1"/>
          <p:nvPr/>
        </p:nvSpPr>
        <p:spPr>
          <a:xfrm>
            <a:off x="731520" y="5420929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Boundary-pushing, art-forward.</a:t>
            </a:r>
            <a:endParaRPr lang="en-US" sz="1080" dirty="0"/>
          </a:p>
        </p:txBody>
      </p:sp>
      <p:sp>
        <p:nvSpPr>
          <p:cNvPr id="65" name="bld6_1912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311282" y="4268785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7" name="Shape 65"/>
          <p:cNvSpPr/>
          <p:nvPr/>
        </p:nvSpPr>
        <p:spPr>
          <a:xfrm rot="9000000">
            <a:off x="4534395" y="4503310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000000">
            <a:off x="4460219" y="4469075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1400000">
            <a:off x="4694159" y="4434840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4311282" y="4268785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71" name="bld6_1914"/>
          <p:cNvSpPr txBox="1"/>
          <p:nvPr/>
        </p:nvSpPr>
        <p:spPr>
          <a:xfrm>
            <a:off x="3569132" y="511003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Eastern inspired</a:t>
            </a:r>
            <a:endParaRPr lang="en-US" sz="1450" dirty="0"/>
          </a:p>
        </p:txBody>
      </p:sp>
      <p:sp>
        <p:nvSpPr>
          <p:cNvPr id="72" name="bld6_1915"/>
          <p:cNvSpPr txBox="1"/>
          <p:nvPr/>
        </p:nvSpPr>
        <p:spPr>
          <a:xfrm>
            <a:off x="3569132" y="5420929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oud- and amber-forward.</a:t>
            </a:r>
            <a:endParaRPr lang="en-US" sz="1080" dirty="0"/>
          </a:p>
        </p:txBody>
      </p:sp>
      <p:sp>
        <p:nvSpPr>
          <p:cNvPr id="73" name="bld7_1916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7148894" y="4268785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5" name="Shape 73"/>
          <p:cNvSpPr/>
          <p:nvPr/>
        </p:nvSpPr>
        <p:spPr>
          <a:xfrm>
            <a:off x="7252184" y="4457663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48894" y="4268785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7" name="bld7_1918"/>
          <p:cNvSpPr txBox="1"/>
          <p:nvPr/>
        </p:nvSpPr>
        <p:spPr>
          <a:xfrm>
            <a:off x="6406744" y="511003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Minimalist</a:t>
            </a:r>
            <a:endParaRPr lang="en-US" sz="1450" dirty="0"/>
          </a:p>
        </p:txBody>
      </p:sp>
      <p:sp>
        <p:nvSpPr>
          <p:cNvPr id="78" name="bld7_1919"/>
          <p:cNvSpPr txBox="1"/>
          <p:nvPr/>
        </p:nvSpPr>
        <p:spPr>
          <a:xfrm>
            <a:off x="6406744" y="5420929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restrained, understated.</a:t>
            </a:r>
            <a:endParaRPr lang="en-US" sz="1080" dirty="0"/>
          </a:p>
        </p:txBody>
      </p:sp>
      <p:sp>
        <p:nvSpPr>
          <p:cNvPr id="79" name="bld8_1920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9986505" y="4268785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1" name="Shape 79"/>
          <p:cNvSpPr/>
          <p:nvPr/>
        </p:nvSpPr>
        <p:spPr>
          <a:xfrm rot="15300000">
            <a:off x="10159090" y="452353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3050000">
            <a:off x="10212586" y="4603594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0800000">
            <a:off x="10303766" y="4634545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8550000">
            <a:off x="10394945" y="4603594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6300000">
            <a:off x="10448441" y="452353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9986505" y="4268785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87" name="bld8_1922"/>
          <p:cNvSpPr txBox="1"/>
          <p:nvPr/>
        </p:nvSpPr>
        <p:spPr>
          <a:xfrm>
            <a:off x="9244355" y="511003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Natural-focused</a:t>
            </a:r>
            <a:endParaRPr lang="en-US" sz="1450" dirty="0"/>
          </a:p>
        </p:txBody>
      </p:sp>
      <p:sp>
        <p:nvSpPr>
          <p:cNvPr id="88" name="bld8_1923"/>
          <p:cNvSpPr txBox="1"/>
          <p:nvPr/>
        </p:nvSpPr>
        <p:spPr>
          <a:xfrm>
            <a:off x="9244355" y="5420929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Naturals-led, ingredient transparency.</a:t>
            </a:r>
            <a:endParaRPr lang="en-US" sz="1080" dirty="0"/>
          </a:p>
        </p:txBody>
      </p:sp>
      <p:sp>
        <p:nvSpPr>
          <p:cNvPr id="90" name="Text 8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3" grpId="0"/>
      <p:bldP spid="24" grpId="0"/>
      <p:bldP spid="25" grpId="0"/>
      <p:bldP spid="37" grpId="0"/>
      <p:bldP spid="38" grpId="0"/>
      <p:bldP spid="39" grpId="0"/>
      <p:bldP spid="46" grpId="0"/>
      <p:bldP spid="47" grpId="0"/>
      <p:bldP spid="48" grpId="0"/>
      <p:bldP spid="63" grpId="0"/>
      <p:bldP spid="64" grpId="0"/>
      <p:bldP spid="65" grpId="0"/>
      <p:bldP spid="71" grpId="0"/>
      <p:bldP spid="72" grpId="0"/>
      <p:bldP spid="73" grpId="0"/>
      <p:bldP spid="77" grpId="0"/>
      <p:bldP spid="78" grpId="0"/>
      <p:bldP spid="79" grpId="0"/>
      <p:bldP spid="87" grpId="0"/>
      <p:bldP spid="88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CUSTOMERS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perfume brands actually sell</a:t>
            </a:r>
            <a:endParaRPr lang="en-US" sz="3200" dirty="0"/>
          </a:p>
        </p:txBody>
      </p:sp>
      <p:sp>
        <p:nvSpPr>
          <p:cNvPr id="7" name="bld1_1924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73670" y="190963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137" y="199010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16902" y="227254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16902" y="220121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16902" y="212133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473670" y="190963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4" name="bld1_1926"/>
          <p:cNvSpPr txBox="1"/>
          <p:nvPr/>
        </p:nvSpPr>
        <p:spPr>
          <a:xfrm>
            <a:off x="731520" y="275088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website</a:t>
            </a:r>
            <a:endParaRPr lang="en-US" sz="1450" dirty="0"/>
          </a:p>
        </p:txBody>
      </p:sp>
      <p:sp>
        <p:nvSpPr>
          <p:cNvPr id="15" name="bld1_1927"/>
          <p:cNvSpPr txBox="1"/>
          <p:nvPr/>
        </p:nvSpPr>
        <p:spPr>
          <a:xfrm>
            <a:off x="731520" y="3061777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full margin.</a:t>
            </a:r>
            <a:endParaRPr lang="en-US" sz="1080" dirty="0"/>
          </a:p>
        </p:txBody>
      </p:sp>
      <p:sp>
        <p:nvSpPr>
          <p:cNvPr id="16" name="bld2_1928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11282" y="190963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4477337" y="2075688"/>
            <a:ext cx="399410" cy="399410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311282" y="190963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0" name="bld2_1930"/>
          <p:cNvSpPr txBox="1"/>
          <p:nvPr/>
        </p:nvSpPr>
        <p:spPr>
          <a:xfrm>
            <a:off x="3569132" y="275088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1450" dirty="0"/>
          </a:p>
        </p:txBody>
      </p:sp>
      <p:sp>
        <p:nvSpPr>
          <p:cNvPr id="21" name="bld2_1931"/>
          <p:cNvSpPr txBox="1"/>
          <p:nvPr/>
        </p:nvSpPr>
        <p:spPr>
          <a:xfrm>
            <a:off x="3569132" y="3061777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storytelling at scale.</a:t>
            </a:r>
            <a:endParaRPr lang="en-US" sz="1080" dirty="0"/>
          </a:p>
        </p:txBody>
      </p:sp>
      <p:sp>
        <p:nvSpPr>
          <p:cNvPr id="22" name="bld3_1932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48894" y="190963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4949" y="2075688"/>
            <a:ext cx="399410" cy="399410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148894" y="1909633"/>
            <a:ext cx="731520" cy="731520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26" name="bld3_1934"/>
          <p:cNvSpPr txBox="1"/>
          <p:nvPr/>
        </p:nvSpPr>
        <p:spPr>
          <a:xfrm>
            <a:off x="6406744" y="275088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450" dirty="0"/>
          </a:p>
        </p:txBody>
      </p:sp>
      <p:sp>
        <p:nvSpPr>
          <p:cNvPr id="27" name="bld3_1935"/>
          <p:cNvSpPr txBox="1"/>
          <p:nvPr/>
        </p:nvSpPr>
        <p:spPr>
          <a:xfrm>
            <a:off x="6406744" y="3061777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brand-building and community.</a:t>
            </a:r>
            <a:endParaRPr lang="en-US" sz="1080" dirty="0"/>
          </a:p>
        </p:txBody>
      </p:sp>
      <p:sp>
        <p:nvSpPr>
          <p:cNvPr id="28" name="bld4_1936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986505" y="190963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2869" y="204145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26703" y="208824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260972" y="216310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297548" y="231890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986505" y="190963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5" name="bld4_1938"/>
          <p:cNvSpPr txBox="1"/>
          <p:nvPr/>
        </p:nvSpPr>
        <p:spPr>
          <a:xfrm>
            <a:off x="9244355" y="2750881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Pop-ups</a:t>
            </a:r>
            <a:endParaRPr lang="en-US" sz="1450" dirty="0"/>
          </a:p>
        </p:txBody>
      </p:sp>
      <p:sp>
        <p:nvSpPr>
          <p:cNvPr id="36" name="bld4_1939"/>
          <p:cNvSpPr txBox="1"/>
          <p:nvPr/>
        </p:nvSpPr>
        <p:spPr>
          <a:xfrm>
            <a:off x="9244355" y="3061777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sampling and connection.</a:t>
            </a:r>
            <a:endParaRPr lang="en-US" sz="1080" dirty="0"/>
          </a:p>
        </p:txBody>
      </p:sp>
      <p:sp>
        <p:nvSpPr>
          <p:cNvPr id="37" name="bld5_1940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473670" y="4268785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54137" y="4349252"/>
            <a:ext cx="570586" cy="570586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634019" y="4429134"/>
            <a:ext cx="410822" cy="410822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748136" y="4543251"/>
            <a:ext cx="182587" cy="18258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73670" y="4268785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3" name="bld5_1942"/>
          <p:cNvSpPr txBox="1"/>
          <p:nvPr/>
        </p:nvSpPr>
        <p:spPr>
          <a:xfrm>
            <a:off x="731520" y="511003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</a:t>
            </a:r>
            <a:endParaRPr lang="en-US" sz="1450" dirty="0"/>
          </a:p>
        </p:txBody>
      </p:sp>
      <p:sp>
        <p:nvSpPr>
          <p:cNvPr id="44" name="bld5_1943"/>
          <p:cNvSpPr txBox="1"/>
          <p:nvPr/>
        </p:nvSpPr>
        <p:spPr>
          <a:xfrm>
            <a:off x="731520" y="5420929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direct customer feedback.</a:t>
            </a:r>
            <a:endParaRPr lang="en-US" sz="1080" dirty="0"/>
          </a:p>
        </p:txBody>
      </p:sp>
      <p:sp>
        <p:nvSpPr>
          <p:cNvPr id="45" name="bld6_1944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11282" y="4268785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>
            <a:off x="4647645" y="4400605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8" name="Shape 46"/>
          <p:cNvSpPr/>
          <p:nvPr/>
        </p:nvSpPr>
        <p:spPr>
          <a:xfrm>
            <a:off x="4651479" y="4447393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85748" y="4522254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22324" y="4678058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311282" y="4268785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2" name="bld6_1946"/>
          <p:cNvSpPr txBox="1"/>
          <p:nvPr/>
        </p:nvSpPr>
        <p:spPr>
          <a:xfrm>
            <a:off x="3569132" y="511003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450" dirty="0"/>
          </a:p>
        </p:txBody>
      </p:sp>
      <p:sp>
        <p:nvSpPr>
          <p:cNvPr id="53" name="bld6_1947"/>
          <p:cNvSpPr txBox="1"/>
          <p:nvPr/>
        </p:nvSpPr>
        <p:spPr>
          <a:xfrm>
            <a:off x="3569132" y="5420929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shelf presence.</a:t>
            </a:r>
            <a:endParaRPr lang="en-US" sz="1080" dirty="0"/>
          </a:p>
        </p:txBody>
      </p:sp>
      <p:sp>
        <p:nvSpPr>
          <p:cNvPr id="54" name="bld7_1948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148894" y="4268785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6" name="Shape 54"/>
          <p:cNvSpPr/>
          <p:nvPr/>
        </p:nvSpPr>
        <p:spPr>
          <a:xfrm>
            <a:off x="7485257" y="4400605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57" name="Shape 55"/>
          <p:cNvSpPr/>
          <p:nvPr/>
        </p:nvSpPr>
        <p:spPr>
          <a:xfrm>
            <a:off x="7489091" y="4447393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23360" y="4522254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59936" y="4678058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148894" y="4268785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7_1950"/>
          <p:cNvSpPr txBox="1"/>
          <p:nvPr/>
        </p:nvSpPr>
        <p:spPr>
          <a:xfrm>
            <a:off x="6406744" y="511003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Wholesale</a:t>
            </a:r>
            <a:endParaRPr lang="en-US" sz="1450" dirty="0"/>
          </a:p>
        </p:txBody>
      </p:sp>
      <p:sp>
        <p:nvSpPr>
          <p:cNvPr id="62" name="bld7_1951"/>
          <p:cNvSpPr txBox="1"/>
          <p:nvPr/>
        </p:nvSpPr>
        <p:spPr>
          <a:xfrm>
            <a:off x="6406744" y="5420929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through other retailers.</a:t>
            </a:r>
            <a:endParaRPr lang="en-US" sz="1080" dirty="0"/>
          </a:p>
        </p:txBody>
      </p:sp>
      <p:sp>
        <p:nvSpPr>
          <p:cNvPr id="63" name="bld8_1952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9986505" y="4268785"/>
            <a:ext cx="731520" cy="7315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5" name="Shape 63"/>
          <p:cNvSpPr/>
          <p:nvPr/>
        </p:nvSpPr>
        <p:spPr>
          <a:xfrm>
            <a:off x="10152560" y="4434840"/>
            <a:ext cx="399410" cy="399410"/>
          </a:xfrm>
          <a:prstGeom prst="star5">
            <a:avLst/>
          </a:prstGeom>
          <a:solidFill>
            <a:srgbClr val="C9503E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86505" y="4268785"/>
            <a:ext cx="731520" cy="7315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7" name="bld8_1954"/>
          <p:cNvSpPr txBox="1"/>
          <p:nvPr/>
        </p:nvSpPr>
        <p:spPr>
          <a:xfrm>
            <a:off x="9244355" y="511003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 &amp; sampling</a:t>
            </a:r>
            <a:endParaRPr lang="en-US" sz="1450" dirty="0"/>
          </a:p>
        </p:txBody>
      </p:sp>
      <p:sp>
        <p:nvSpPr>
          <p:cNvPr id="68" name="bld8_1955"/>
          <p:cNvSpPr txBox="1"/>
          <p:nvPr/>
        </p:nvSpPr>
        <p:spPr>
          <a:xfrm>
            <a:off x="9244355" y="5420929"/>
            <a:ext cx="22158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voices driving discovery.</a:t>
            </a:r>
            <a:endParaRPr lang="en-US" sz="108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5" grpId="0"/>
      <p:bldP spid="36" grpId="0"/>
      <p:bldP spid="37" grpId="0"/>
      <p:bldP spid="43" grpId="0"/>
      <p:bldP spid="44" grpId="0"/>
      <p:bldP spid="45" grpId="0"/>
      <p:bldP spid="52" grpId="0"/>
      <p:bldP spid="53" grpId="0"/>
      <p:bldP spid="54" grpId="0"/>
      <p:bldP spid="61" grpId="0"/>
      <p:bldP spid="62" grpId="0"/>
      <p:bldP spid="63" grpId="0"/>
      <p:bldP spid="67" grpId="0"/>
      <p:bldP spid="68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SELLS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the story, not the note list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296266" y="195432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758275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9581803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9010728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8834257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306324" y="2726758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"Rose, amber, musk" is a list. A story is what makes someone actually buy.</a:t>
            </a:r>
            <a:endParaRPr lang="en-US" sz="1050" dirty="0"/>
          </a:p>
        </p:txBody>
      </p:sp>
      <p:sp>
        <p:nvSpPr>
          <p:cNvPr id="15" name="bld1_195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bld1_195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</a:t>
            </a:r>
            <a:endParaRPr lang="en-US" sz="1650" dirty="0"/>
          </a:p>
        </p:txBody>
      </p:sp>
      <p:sp>
        <p:nvSpPr>
          <p:cNvPr id="17" name="bld1_1958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make someone feel, not just what's inside it.</a:t>
            </a:r>
            <a:endParaRPr lang="en-US" sz="1250" dirty="0"/>
          </a:p>
        </p:txBody>
      </p:sp>
      <p:sp>
        <p:nvSpPr>
          <p:cNvPr id="18" name="bld2_1959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9" name="bld2_1960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World-building</a:t>
            </a:r>
            <a:endParaRPr lang="en-US" sz="1650" dirty="0"/>
          </a:p>
        </p:txBody>
      </p:sp>
      <p:sp>
        <p:nvSpPr>
          <p:cNvPr id="20" name="bld2_1961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aesthetic universe around the fragrance.</a:t>
            </a:r>
            <a:endParaRPr lang="en-US" sz="1250" dirty="0"/>
          </a:p>
        </p:txBody>
      </p:sp>
      <p:sp>
        <p:nvSpPr>
          <p:cNvPr id="21" name="bld3_1962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bld3_1963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23" name="bld3_1964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this make the wearer feel like?</a:t>
            </a:r>
            <a:endParaRPr lang="en-US" sz="1250" dirty="0"/>
          </a:p>
        </p:txBody>
      </p:sp>
      <p:sp>
        <p:nvSpPr>
          <p:cNvPr id="24" name="bld4_1965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4_1966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650" dirty="0"/>
          </a:p>
        </p:txBody>
      </p:sp>
      <p:sp>
        <p:nvSpPr>
          <p:cNvPr id="26" name="bld4_1967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unboxing, the sampling, the ritual — not just the liquid.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to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3657600"/>
            <a:ext cx="10728655" cy="914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99450" y="3584448"/>
            <a:ext cx="146304" cy="14630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Shape 7"/>
          <p:cNvSpPr/>
          <p:nvPr/>
        </p:nvSpPr>
        <p:spPr>
          <a:xfrm>
            <a:off x="1926298" y="3511296"/>
            <a:ext cx="292608" cy="292608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78242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0532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7380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9324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81614" y="3584448"/>
            <a:ext cx="146304" cy="14630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8462" y="3511296"/>
            <a:ext cx="292608" cy="292608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406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9544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01488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63778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0626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42570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04859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1707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651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045941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7" name="Shape 25"/>
          <p:cNvSpPr/>
          <p:nvPr/>
        </p:nvSpPr>
        <p:spPr>
          <a:xfrm>
            <a:off x="9972789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24733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87023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13871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865815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 this course lives somewhere on this line. Now go build.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0820095" y="-320040"/>
            <a:ext cx="1645920" cy="1645920"/>
          </a:xfrm>
          <a:prstGeom prst="ellipse">
            <a:avLst/>
          </a:prstGeom>
          <a:ln w="16459">
            <a:solidFill>
              <a:srgbClr val="C9A35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0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perfume deserves a story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remembering. Build both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same care.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COURSE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143</Slides>
  <Notes>143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143</vt:i4>
      </vt:variant>
    </vt:vector>
  </HeadingPairs>
  <TitlesOfParts>
    <vt:vector size="1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Art &amp; Science of Perfumery</dc:title>
  <dc:subject>Beginner-to-intermediate perfumery course companion deck</dc:subject>
  <dc:creator>YEVFUMES</dc:creator>
  <cp:lastModifiedBy>YEVFUMES</cp:lastModifiedBy>
  <cp:revision>1</cp:revision>
  <dcterms:created xsi:type="dcterms:W3CDTF">2026-09-01T14:30:07Z</dcterms:created>
  <dcterms:modified xsi:type="dcterms:W3CDTF">2026-09-01T14:30:07Z</dcterms:modified>
</cp:coreProperties>
</file>