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</p:sldIdLst>
  <p:notesMasterIdLst>
    <p:notesMasterId r:id="rId19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notesMaster" Target="notesMasters/notesMaster1.xml"/><Relationship Id="rId196" Type="http://schemas.openxmlformats.org/officeDocument/2006/relationships/presProps" Target="presProps.xml"/><Relationship Id="rId197" Type="http://schemas.openxmlformats.org/officeDocument/2006/relationships/viewProps" Target="viewProps.xml"/><Relationship Id="rId198" Type="http://schemas.openxmlformats.org/officeDocument/2006/relationships/theme" Target="theme/theme1.xml"/><Relationship Id="rId19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Warm cold open. Set the tone: this is not a corporate course, it's a creative lab. Introduce the energy of the whole program before naming a single ingredient.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philosophy: slides support the video, they never replace it. Encourage students to keep a physical notebook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each teacher a genuine, personal introduction here — background, how you got into perfumery, why you're teaching this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these as outcomes, not topics — this is what changes for the student, not just what they'll hear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roadmap top to bottom. Give students a sense of pacing — this is a real curriculum, not a random collection of videos.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Discord mechanics concretely: channel names, homework threads, how office hours are scheduled.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philosophical core of the whole course — spend real time here. This is what separates hobbyists who plateau from ones who keep improving.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this hard — the single biggest predictor of student success is whether they actually smell the materials, not whether they watch closely.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specific software/spreadsheet system you use. Show a live example if possible during the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 on this note. Let it land — it's the thesis statement for the entire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this module is foundational vocabulary and concepts. Nothing hands-on yet, but everything after this depends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slow here — these six words will recur in every future module. Use a quick real-world example for each if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Diffusion, tenacity and impact get confused constantly — spend extra time distinguishing them, you'll reuse this in module 03.1.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Concrete examples make these words stick far better than definitions alone — pair each with a live smell if possible.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percentage ranges are industry conventions, not fixed law — brands vary widely. The next point is more important than these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one of the most important corrections in the whole basics module — students constantly conflate concentration % with strength.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Emphasise: this pyramid is a simplification. Almost every real material has some presence across multiple layers — don't let students take it too literally.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why solvents matter: they let you work at safe, evaluable concentrations and match the final product format (spray vs oil vs roll-on).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round numbers, not a fixed rule — the point is proportion, not precision. This is a teaching example, not a formula to copy.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the myth-busting that continues in module 03.2 — synthetic does not mean lesser. Both are professional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over-explain each one here — this is a map, not a lesson. Families get their real depth in module 03.1.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fun with this slide — deliver it with energy, it's meant to be memorable and a little provocative.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module 01 by reinforcing that everything just taught is a simplified model. Real perfumery is messier and more interesting.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this is a lean, practical kit, not an expensive lab buildout. Everything shown is realistic for a beginner budget.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 specific models if you have them, but keep the spec (0.001g / ~200g) as the takeaway regardless of brand.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simple — disposables are genuinely all a beginner needs, no need to complicate the message with alternatives.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glass isn't optional for long-term storage — UV light degrades many raw materials over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directly sets up module 05 (training your nose) — evaluation habits start here with the physical object.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 quickly through this slide — it's a checklist, not a lecture. Each item gets one sentence at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protects the course from going stale as suppliers change — teach the search habit, not a single vendor.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permission to start small — the essential column is genuinely enough to begin every remaining module. Don't let the nice-to-have list grow into a lab shopping spree.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one of these mistakes is cheap to avoid and expensive to recover from — worth emphasising strongly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reassurance — equipment anxiety stops beginners before they start. Two tools are genuinely enough.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is about vocabulary and behaviour, applied specifically to natural materials. Synthetics get their own module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twelve families from module 01, now framed as a sorting tool you'll use to classify every material you smell. Today we go deep on four of them, natural-side.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Longevity is one of the first properties students should log for every material — connect directly to module 05's evaluation habit.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terms get confused constantly — a material can have huge projection but low tenacity, or the reverse. Use concrete examples: bergamot projects instantly but fades fast; sandalwood projects little but lasts for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simple and honest — don't present molecular weight as a deterministic rule, the prompt is explicit about avoiding that oversimplification.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 extraction methods of the same plant can smell meaningfully different — e.g. rose absolute vs. rose otto.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Bright, inviting, easy to remember — this moodboard format repeats for every family across the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side-by-side smelling — citrus oils are the easiest family to tell apart when compared directly, and the hardest to tell apart from memory alone.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show the range within one family — bergamot for lift, grapefruit for sparkle, petitgrain for structure.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Wood-ring icons for the cross-section woods, a root icon for vetiver, a single leaf for patchouli.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Woods are the load-bearing walls of a formula — almost every finished perfume rests on one or two of these at the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naturals are the backbone naturals used across almost every genre, from fresh to oriental.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how the flower icon shape itself changes — round for rose, star for jasmine, small for softer florals — a visual cue for character.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Florals are where naturals matter most — synthetics can approximate a rose, but rarely replace it entirely. This is the most expensive category to shop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smell all four side by side — the differences between rose, jasmine, neroli and ylang-ylang are the clearest floral lesson in the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Resins are the warm, sticky, ancient heart of perfumery — most predate synthetic chemistry by thousands of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resin is a natural fixative — this is exactly why they anchor base notes and slow the evaporation of everything above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Labdanum, benzoin and frankincense together roughly define the natural "amber" space long before Ambroxan existed.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practically: always re-evaluate a new batch of a natural material before trusting an existing formula built on the old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module. Bridge to next: 'now let's look at the other half of the palette — synthetics.'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Bring energy here — this is meant to be one of the most exciting modules. Set up the myth-busting early.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synthetics as an achievement, not a compromise. This sets the tone for the whole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 briskly — this is a map for the deep-dive sections that follow.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one sentence of context per material live, if time allows. These are the highest-value to memorise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 playfully but firmly — these myths do real damage to beginners who avoid a huge, useful part of the palette out of misplaced guilt.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Musks are the skin of a formula — they don't announce themselves, but everything else leans on them. Not one smell — teach the differences deliberately.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compare Galaxolide against Ambrettolide directly — "clean laundry" versus "warm skin" is the clearest musk lesson there is. Musk selection changes the texture of the entire perfume.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define the modern musk palette — clean, voluminous, and natural-feeling, respectively.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family single-handedly defines the last twenty-five years of mainstream perfumery.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teach these as interchangeable — they differ in dryness, warmth, radiance, smoothness and projection. Supplier-specific grades can also behave slightly differently, so always confirm on a fresh strip.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students to dose Ambroxan at 0.1% and then 3% in two strips — the difference is a genuinely eye-opening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largest and most-used synthetic family — almost every modern base note leans on one of these.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Iso E Super, Javanol and Cashmeran alone can define three completely different "woody" moods — transparent, creamy, and cosy. Each earns its place by what it contributes to a formula's structure, not just its note.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Comparing Javanol against Sandalore against natural sandalwood on three strips is one of the best exercises in the whole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Isolated floral facets — each one is a single true note pulled out of a whole flower's complexity.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biggest synthetic family in raw material count — most "natural-smelling" florals are actually built from several of these stacked together. Visual association + proper explanation, every time: Hedione shown with jasmine, but explained through space and diffusion, not just a note match.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 isn't precise technical specification — it's teaching students not to treat named variants as interchangeable without smelling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build a five-second "rose" from phenylethyl alcohol, citronellol, geraniol and a trace of rose oxide — it's a genuinely convincing exercise.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Freshness is not one effect — citrus, green, metallic, aldehydic and watery freshness all feel completely different.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this slide by naming the exact type of freshness each material delivers — citrus, green, metallic, aldehydic, watery — so students stop treating "fresh" as one idea.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Dose cis-3-hexenol extremely lightly first — at full strength it reads as more "lawnmower" than most students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line between "juicy and realistic" and "candy" is entirely a question of dose — this family teaches restraint fast.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realism-versus-candy line is entirely about dose — the same material that reads as "ripe peach" at 0.5% reads as "bubblegum" at 3%.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Smell gamma undecalactone at three different dilutions side by side — realism versus candy is the whole lesson in one strip 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family that built an entire modern genre — without it, the last decade of gourmand perfumery doesn't exist.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Heliotropin and Piperonal are the same material under two names — flag that explicitly, it trips up a lot of self-taught beginners.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family rewards restraint more than almost any other — a little goes further here than beginners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this firmly before introducing Rose Givco — it reframes everything that follows as professional practice, not a shortcut.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honest: we teach how to recognise and use a base, not exact proprietary recipes.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 Rose Givco as one well-known example of a category — the modification slide that follows is the more universally useful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clearly on camera: these are educational examples of direction, not fixed formulas — the same four moves work on almost any floral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an exact commercial product name isn't certain, describe the category honestly rather than guessing at a name — that's a deliberate choice.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anticipation for the card grid that follows — this is where students realise how disproportionate a material's impact can 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takeaway: percentage and impact are not linear. A 0.3% dose of the right material can outweigh 5% of something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confidence — students should leave excited to experiment with synthetics, not intimidated by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bridges materials theory to a real purchase order — the most actionable module so far.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this warning — it's the single most common beginner mistake and it kills momentum fast.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representative starter set, not gospel — the point is coverage across every major family with ~30 materials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second wave dramatically expands what's possible — but only makes sense once the first 30 are familiar.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 shopping categories — encourage students to buy at least one or two materials from every category before doubling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connects back to the mindset module — buying random "interesting" materials is the equivalent of copying formulas without understanding.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practical wrap-up before module 04 — a student who checks every box here is genuinely ready to begin diluting.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reinforcing patience — this module often produces the most excitement and the most temptation to overbuy.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one of the most practical, hands-on modules — encourage students to have their scale out while watching.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dilution as a superpower, not a hurdle — it's what turns raw, unusable materials into a working palette.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ladder will come up repeatedly — most working stocks in this course live at 10% or 1%.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process at a glance — every worked example on the next few slides fills in one of these four circles.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this live on camera if possible — watching the actual weighing is far more valuable than hearing the ratio described.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"stock of a stock" technique is the single most useful trick in this module — it turns an impossible 0.1g weighing into two easy 1g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connects directly to module 11's IFRA discussion — a well-chosen low dilution is a compliance tool as much as a workflow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Warn against overheating — gentle warming only, many materials degrade or evaporate unwanted fractions under heat.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this is a starting guideline — always confirm the right dilution by smelling, not just by category.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habit prevents the single most common lab disaster: an unlabelled bottle of unknown strength.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a practical safety reminder as well as a philosophical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tone: this is a discipline, not a talent. Anyone who does this consistently improves.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timeline should feel familiar — it echoes module 02's scent strip introduction, now turned into a discipline.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a template — the same eight fields, every single evaluation, so patterns become visible over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Connects directly back to module 04's dilution ladder — reinforce the link between the two modules.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exact schema we'll show in the sample card next — recommend a spreadsheet or simple database, whichever software you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difference between a hobbyist who plateaus and a nose that keeps improving for years — treat it as a daily habit, not a one-time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your actual software on screen here if possible — this slide is a mock-up standing in for a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 by reinforcing the daily habit — consistency over intensity.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hands-on, practical module. Encourage students to have a few materials on hand to build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 live example if possible — build a two-material accord on camera and let it click for viewers.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viewers to guess how many materials might build each of these before revealing the apple breakdown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class to break down apple before you reveal it — this is a genuinely great teaching exercise on camera.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exact mental process students should repeat for any accord they want to build — not a formula to copy verbatim.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Rose is the clearest teaching example for facet-mapping — every viewer already knows what real rose smells like.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are legitimate approaches. Module 03.2 introduces commercial bases; module 07 shows how to extend one into a finished accord.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is a natural pairing exercise after apple — it shows the same facet-mapping method applied to a base-note accord instead of a top-note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distinction matters — students should be able to say which tradition an amber accord is leaning on, not just call everything "amber."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 sandalwood naturals (soft, milky, genuinely creamy) against sandalwood aroma chemicals like Javanol or Sandalore (sharper, more radiant, more linear) — both belong in this accord, in different proportions.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Leather is a great contrast to amber — almost entirely one family, showing that an accord doesn't always need materials from many families.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starting palette, three different balances — a good exercise for showing how proportion changes character more than ingredient choice.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Assign one of these four as homework — building even a rough version from the facet list teaches the method faster than watching another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Prevent a common mistake: students treating a good accord as a complete, sellable fragrance.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Jean Carles' method is one of the most influential teaching frameworks in perfumery history — worth a short story about him if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Once these five ratios are smelled and logged, introduce material C and repeat the process against the best A:B blend.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loop repeats throughout the entire course — module 08 revisits it at the full-formula level.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 — this single discipline is what separates methodical perfumers from ones who guess and hope.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module where everything so far converges — terminology, materials, dilution, accords. Frame it as the culmination.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mental checklist students should run through for every formula they build from now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students to write their own one-sentence idea before building — this becomes the north star for the whole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how these four pieces, each built with the Jean Carles method from module 06, come together into one composition.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direct bridge from module 06 — reassure students the method they just learned scales up cleanly.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example formulas that follow will each demonstrate this explicitly.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conceptual bridge between the architecture checklist and the four worked examples that follow — point back to it while walking through each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formula can mix all four freely — individual synthetics, naturals, your own accords, and commercial bases like Rose Givco, all in one formula 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most important idea about bases — students who skip this step end up with unfinished, generic-smelling formulas.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starting base, three completely different final characters — the base only decided the starting point, not the destination.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brief — it's a working habit to mention, not a new module. The four worked examples that follow are the real payoff.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why each material earns its place — this is more valuable than the exact percentages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 this with the fresh formula — notice how few volatile top notes it needs; woods live in the heart and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how bergamot's job here is purely structural — preventing the gourmand from feeling flat and cloying.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small vanillin at the base — a common technique to add warmth without turning a floral into a gourmand.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principle of restraint — the best formulas are edited, not just assembled.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version 1 is never the finished formula. This module is about the iteration that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reinforces the habit from module 05, now applied specifically to full formulas rather than single materials.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timeline discipline as module 05, scaled up to the whole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"Do I like it?" is an emotional question with no next action. These six questions each point directly to a fix.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practical companion to the six questions on the previous slide — every "yes, this is a problem" answer points here for the actual fix.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mirrors module 06's accord loop exactly — reinforce that it's the same discipline at every scale of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directly connects to the Jean Carles "change one variable" principle from module 06 — repeat it here at the formula level.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 with patience as the core message — most formulas are abandoned too early, before their drydown is even understood.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bridges formula work to an actual finished bottle — a satisfying, tangible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Emphasise: the percentages never change with scale — only the total weight does. This is why percentage-based formula sheets matter.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simple and visual — students already saw a more detailed breakdown in module 01, this is the practical compounding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sets up module 10's discussion of maceration and solubility — the two topics are closely related.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an easy default to overuse — stress the 'not blindly' point, it's explicitly called out for a reason.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seven-step flow is the professional standard — module 10 goes deep on the maceration step specifically.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respect for the process — beginners often rush the alcohol and maceration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often gets skipped by impatient beginners — make the case for why patience pays off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real, observable effects — ground the module in what's actually measurable, not folklore.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science accessible — the goal is confidence, not a chemistry lecture.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realistic expectations for how long students should wait before final-judging a compound.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myth causes real wasted time — some students let a broken formula sit for months hoping it will "come together."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concrete, repeatable routine students can follow for every formula going forward.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module's core lesson — patience matters, but it isn't a substitute for good formula construction.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 this module calmly and clearly — compliance overwhelms beginners fast. Keep the visual language simple throughout.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this disclaimer clearly on camera as well — it protects both students and the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IFRA categories cover everything from fine fragrance to household products — explain that the limit depends on end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calculation trips up almost every beginner — walk through it slowly and repeat it for a second material if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raw material supplier should provide an SDS — if they don't, that's a red flag about the supplier, not just the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Reassure students this isn't a reason to fear naturals — it's simply a labelling requirement to plan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CLP determines what actually has to appear on your finished product's label, based on your formula's hazard profile.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Many self-taught beginners lean on Good Scents for compliance decisions — this correction genuinely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practical answer to "where do I actually check?" — a clean reference list students can return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flow is the practical checklist to run through before any formula is offered for sale.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firmly but not scarily — this is manageable with the right habits, not a reason to avoid launching a brand.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closing, exciting module — bring both presenters' energy together for the finale.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above this line has been covered in modules 01–11 — this slide is a checkpoint before moving to brand-building.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students to start with stock bottles for their first run — custom tooling is a later-stage investment.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beautiful label that dissolves the first time it touches spilled perfume is a real, common beginner mistake.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Packaging is often the deciding factor in a first impression, before a customer has smelled anything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sets up the positioning and storytelling slides that follow — it's the conceptual heart of the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There's no wrong lane — the mistake is trying to occupy several at once. Encourage students to commit to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successful independent brands start with 2–3 of these channels, not all nine at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 a note list against a genuine brand story live — the difference is usually obvious once pointed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entire course on this slide — it's a map of everything taught across all thirteen modules, end to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final slide of the entire course — let this close with warmth. Thank the community and point them back to Discord for their next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5749" y="1967789"/>
            <a:ext cx="2922422" cy="2922422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52076" y="3214116"/>
            <a:ext cx="429768" cy="42976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00 · INTRODUCTION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YEVFUMES DISCORD COURSE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17320"/>
            <a:ext cx="8503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Art &amp; Science</a:t>
            </a:r>
            <a:endParaRPr lang="en-US" sz="6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Perfumery</a:t>
            </a:r>
            <a:endParaRPr lang="en-US" sz="6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hands-on, beginner-to-intermediate perfumery education — built to be watched, smelled, and practiced alongside every lesson.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deck, the videos and Discord fit together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your teachers, Yev and Kristan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roadmap through all 13 modules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TAUGHT BY YEV &amp; KRISTAN</a:t>
            </a:r>
            <a:endParaRPr lang="en-US" sz="1250" dirty="0"/>
          </a:p>
        </p:txBody>
      </p:sp>
      <p:sp>
        <p:nvSpPr>
          <p:cNvPr id="20" name="trans_fade_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deck is not the lesson.</a:t>
            </a:r>
            <a:endParaRPr lang="en-US" sz="32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your lab notebook.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B5652D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B5652D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04815" y="1239926"/>
            <a:ext cx="485785" cy="437815"/>
          </a:xfrm>
          <a:prstGeom prst="roundRect">
            <a:avLst>
              <a:gd name="adj" fmla="val 8354"/>
            </a:avLst>
          </a:prstGeom>
          <a:solidFill>
            <a:srgbClr val="0E0D0B"/>
          </a:solidFill>
          <a:ln/>
        </p:spPr>
      </p:sp>
      <p:sp>
        <p:nvSpPr>
          <p:cNvPr id="11" name="Shape 9"/>
          <p:cNvSpPr/>
          <p:nvPr/>
        </p:nvSpPr>
        <p:spPr>
          <a:xfrm>
            <a:off x="9336497" y="1677741"/>
            <a:ext cx="422422" cy="700504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93382" y="2378245"/>
            <a:ext cx="1508650" cy="3239829"/>
          </a:xfrm>
          <a:prstGeom prst="roundRect">
            <a:avLst>
              <a:gd name="adj" fmla="val 7273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829958" y="3674176"/>
            <a:ext cx="1435498" cy="1907321"/>
          </a:xfrm>
          <a:prstGeom prst="roundRect">
            <a:avLst>
              <a:gd name="adj" fmla="val 6370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9004594" y="3479787"/>
            <a:ext cx="1086228" cy="842356"/>
          </a:xfrm>
          <a:prstGeom prst="roundRect">
            <a:avLst>
              <a:gd name="adj" fmla="val 3257"/>
            </a:avLst>
          </a:prstGeom>
          <a:solidFill>
            <a:srgbClr val="FAF6EC">
              <a:alpha val="92000"/>
            </a:srgbClr>
          </a:solidFill>
          <a:ln w="9525">
            <a:solidFill>
              <a:srgbClr val="CFC5A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course companion — one bottle, one page, one idea at a time.</a:t>
            </a:r>
            <a:endParaRPr lang="en-US" sz="1050" dirty="0"/>
          </a:p>
        </p:txBody>
      </p:sp>
      <p:sp>
        <p:nvSpPr>
          <p:cNvPr id="16" name="bld1_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bld1_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video, not for reading</a:t>
            </a:r>
            <a:endParaRPr lang="en-US" sz="1650" dirty="0"/>
          </a:p>
        </p:txBody>
      </p:sp>
      <p:sp>
        <p:nvSpPr>
          <p:cNvPr id="18" name="bld1_2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slide is a visual anchor for what Yev or Kristan are explaining out loud — not a script. Watch, listen, and use the slide to stay oriented.</a:t>
            </a:r>
            <a:endParaRPr lang="en-US" sz="1250" dirty="0"/>
          </a:p>
        </p:txBody>
      </p:sp>
      <p:sp>
        <p:nvSpPr>
          <p:cNvPr id="19" name="bld2_3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2_4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Beginner to intermediate</a:t>
            </a:r>
            <a:endParaRPr lang="en-US" sz="1650" dirty="0"/>
          </a:p>
        </p:txBody>
      </p:sp>
      <p:sp>
        <p:nvSpPr>
          <p:cNvPr id="21" name="bld2_5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start with zero assumptions and build to full formula construction, evaluation, compliance and brand launch.</a:t>
            </a:r>
            <a:endParaRPr lang="en-US" sz="1250" dirty="0"/>
          </a:p>
        </p:txBody>
      </p:sp>
      <p:sp>
        <p:nvSpPr>
          <p:cNvPr id="22" name="bld3_6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3_7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Made to be practiced</a:t>
            </a:r>
            <a:endParaRPr lang="en-US" sz="1650" dirty="0"/>
          </a:p>
        </p:txBody>
      </p:sp>
      <p:sp>
        <p:nvSpPr>
          <p:cNvPr id="24" name="bld3_8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pairs with real smelling, real dilution, and real formula work — not passive watching.</a:t>
            </a:r>
            <a:endParaRPr lang="en-US" sz="1250" dirty="0"/>
          </a:p>
        </p:txBody>
      </p:sp>
      <p:sp>
        <p:nvSpPr>
          <p:cNvPr id="26" name="trans_fade_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YOUR TEACHERS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Yev &amp; Kristan</a:t>
            </a:r>
            <a:endParaRPr lang="en-US" sz="3200" dirty="0"/>
          </a:p>
        </p:txBody>
      </p:sp>
      <p:sp>
        <p:nvSpPr>
          <p:cNvPr id="7" name="bld1_9"/>
          <p:cNvSpPr/>
          <p:nvPr/>
        </p:nvSpPr>
        <p:spPr>
          <a:xfrm>
            <a:off x="548640" y="1783080"/>
            <a:ext cx="5318608" cy="4617720"/>
          </a:xfrm>
          <a:prstGeom prst="roundRect">
            <a:avLst>
              <a:gd name="adj" fmla="val 2772"/>
            </a:avLst>
          </a:prstGeom>
          <a:solidFill>
            <a:srgbClr val="EFE6D2"/>
          </a:solidFill>
          <a:ln/>
        </p:spPr>
      </p:sp>
      <p:sp>
        <p:nvSpPr>
          <p:cNvPr id="8" name="bld1_10"/>
          <p:cNvSpPr/>
          <p:nvPr/>
        </p:nvSpPr>
        <p:spPr>
          <a:xfrm>
            <a:off x="2586152" y="2121408"/>
            <a:ext cx="1243584" cy="1243584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9" name="bld1_11"/>
          <p:cNvSpPr txBox="1"/>
          <p:nvPr/>
        </p:nvSpPr>
        <p:spPr>
          <a:xfrm>
            <a:off x="2586152" y="2121408"/>
            <a:ext cx="12435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565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3000" dirty="0"/>
          </a:p>
        </p:txBody>
      </p:sp>
      <p:sp>
        <p:nvSpPr>
          <p:cNvPr id="10" name="bld1_12"/>
          <p:cNvSpPr txBox="1"/>
          <p:nvPr/>
        </p:nvSpPr>
        <p:spPr>
          <a:xfrm>
            <a:off x="777240" y="3611880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Yev</a:t>
            </a:r>
            <a:endParaRPr lang="en-US" sz="1900" dirty="0"/>
          </a:p>
        </p:txBody>
      </p:sp>
      <p:sp>
        <p:nvSpPr>
          <p:cNvPr id="11" name="bld1_13"/>
          <p:cNvSpPr txBox="1"/>
          <p:nvPr/>
        </p:nvSpPr>
        <p:spPr>
          <a:xfrm>
            <a:off x="777240" y="3959352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 · Lab · Business</a:t>
            </a:r>
            <a:endParaRPr lang="en-US" sz="1150" dirty="0"/>
          </a:p>
        </p:txBody>
      </p:sp>
      <p:sp>
        <p:nvSpPr>
          <p:cNvPr id="12" name="bld1_14"/>
          <p:cNvSpPr txBox="1"/>
          <p:nvPr/>
        </p:nvSpPr>
        <p:spPr>
          <a:xfrm>
            <a:off x="868680" y="4389120"/>
            <a:ext cx="467852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technical side — equipment, dilution, compounding, compliance and building a brand around a formula.</a:t>
            </a:r>
            <a:endParaRPr lang="en-US" sz="1150" dirty="0"/>
          </a:p>
        </p:txBody>
      </p:sp>
      <p:sp>
        <p:nvSpPr>
          <p:cNvPr id="13" name="bld2_15"/>
          <p:cNvSpPr/>
          <p:nvPr/>
        </p:nvSpPr>
        <p:spPr>
          <a:xfrm>
            <a:off x="6324448" y="1783080"/>
            <a:ext cx="5318608" cy="4617720"/>
          </a:xfrm>
          <a:prstGeom prst="roundRect">
            <a:avLst>
              <a:gd name="adj" fmla="val 2772"/>
            </a:avLst>
          </a:prstGeom>
          <a:solidFill>
            <a:srgbClr val="EFE6D2"/>
          </a:solidFill>
          <a:ln/>
        </p:spPr>
      </p:sp>
      <p:sp>
        <p:nvSpPr>
          <p:cNvPr id="14" name="bld2_16"/>
          <p:cNvSpPr/>
          <p:nvPr/>
        </p:nvSpPr>
        <p:spPr>
          <a:xfrm>
            <a:off x="8361959" y="2121408"/>
            <a:ext cx="1243584" cy="1243584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15" name="bld2_17"/>
          <p:cNvSpPr txBox="1"/>
          <p:nvPr/>
        </p:nvSpPr>
        <p:spPr>
          <a:xfrm>
            <a:off x="8361959" y="2121408"/>
            <a:ext cx="12435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endParaRPr lang="en-US" sz="3000" dirty="0"/>
          </a:p>
        </p:txBody>
      </p:sp>
      <p:sp>
        <p:nvSpPr>
          <p:cNvPr id="16" name="bld2_18"/>
          <p:cNvSpPr txBox="1"/>
          <p:nvPr/>
        </p:nvSpPr>
        <p:spPr>
          <a:xfrm>
            <a:off x="6553048" y="3611880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Kristan</a:t>
            </a:r>
            <a:endParaRPr lang="en-US" sz="1900" dirty="0"/>
          </a:p>
        </p:txBody>
      </p:sp>
      <p:sp>
        <p:nvSpPr>
          <p:cNvPr id="17" name="bld2_19"/>
          <p:cNvSpPr txBox="1"/>
          <p:nvPr/>
        </p:nvSpPr>
        <p:spPr>
          <a:xfrm>
            <a:off x="6553048" y="3959352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· Nose Training · Composition</a:t>
            </a:r>
            <a:endParaRPr lang="en-US" sz="1150" dirty="0"/>
          </a:p>
        </p:txBody>
      </p:sp>
      <p:sp>
        <p:nvSpPr>
          <p:cNvPr id="18" name="bld2_20"/>
          <p:cNvSpPr txBox="1"/>
          <p:nvPr/>
        </p:nvSpPr>
        <p:spPr>
          <a:xfrm>
            <a:off x="6644488" y="4389120"/>
            <a:ext cx="467852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creative side — raw materials, olfactory training, accord building and formula evaluation.</a:t>
            </a:r>
            <a:endParaRPr lang="en-US" sz="1150" dirty="0"/>
          </a:p>
        </p:txBody>
      </p:sp>
      <p:sp>
        <p:nvSpPr>
          <p:cNvPr id="20" name="trans_fade_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1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COURSE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will actually be able to do</a:t>
            </a:r>
            <a:endParaRPr lang="en-US" sz="3200" dirty="0"/>
          </a:p>
        </p:txBody>
      </p:sp>
      <p:sp>
        <p:nvSpPr>
          <p:cNvPr id="7" name="bld1_21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2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23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a material</a:t>
            </a:r>
            <a:endParaRPr lang="en-US" sz="1450" dirty="0"/>
          </a:p>
        </p:txBody>
      </p:sp>
      <p:sp>
        <p:nvSpPr>
          <p:cNvPr id="10" name="bld1_24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family, longevity and role from a single scent strip.</a:t>
            </a:r>
            <a:endParaRPr lang="en-US" sz="1080" dirty="0"/>
          </a:p>
        </p:txBody>
      </p:sp>
      <p:sp>
        <p:nvSpPr>
          <p:cNvPr id="11" name="bld2_25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26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27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Dilute with precision</a:t>
            </a:r>
            <a:endParaRPr lang="en-US" sz="1450" dirty="0"/>
          </a:p>
        </p:txBody>
      </p:sp>
      <p:sp>
        <p:nvSpPr>
          <p:cNvPr id="14" name="bld2_28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accurate working dilutions for any raw material.</a:t>
            </a:r>
            <a:endParaRPr lang="en-US" sz="1080" dirty="0"/>
          </a:p>
        </p:txBody>
      </p:sp>
      <p:sp>
        <p:nvSpPr>
          <p:cNvPr id="15" name="bld3_29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30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31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 accord</a:t>
            </a:r>
            <a:endParaRPr lang="en-US" sz="1450" dirty="0"/>
          </a:p>
        </p:txBody>
      </p:sp>
      <p:sp>
        <p:nvSpPr>
          <p:cNvPr id="18" name="bld3_32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 a recognisable smell from individual materials.</a:t>
            </a:r>
            <a:endParaRPr lang="en-US" sz="1080" dirty="0"/>
          </a:p>
        </p:txBody>
      </p:sp>
      <p:sp>
        <p:nvSpPr>
          <p:cNvPr id="19" name="bld4_33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34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35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Construct a formula</a:t>
            </a:r>
            <a:endParaRPr lang="en-US" sz="1450" dirty="0"/>
          </a:p>
        </p:txBody>
      </p:sp>
      <p:sp>
        <p:nvSpPr>
          <p:cNvPr id="22" name="bld4_36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an idea into a structured, balanced composition.</a:t>
            </a:r>
            <a:endParaRPr lang="en-US" sz="1080" dirty="0"/>
          </a:p>
        </p:txBody>
      </p:sp>
      <p:sp>
        <p:nvSpPr>
          <p:cNvPr id="23" name="bld5_37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38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39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rigorously</a:t>
            </a:r>
            <a:endParaRPr lang="en-US" sz="1450" dirty="0"/>
          </a:p>
        </p:txBody>
      </p:sp>
      <p:sp>
        <p:nvSpPr>
          <p:cNvPr id="26" name="bld5_40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 formula on scent strip over 48 hours, not by instinct alone.</a:t>
            </a:r>
            <a:endParaRPr lang="en-US" sz="1080" dirty="0"/>
          </a:p>
        </p:txBody>
      </p:sp>
      <p:sp>
        <p:nvSpPr>
          <p:cNvPr id="27" name="bld6_41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42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43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 responsibly</a:t>
            </a:r>
            <a:endParaRPr lang="en-US" sz="1450" dirty="0"/>
          </a:p>
        </p:txBody>
      </p:sp>
      <p:sp>
        <p:nvSpPr>
          <p:cNvPr id="30" name="bld6_44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IFRA, SDS, compounding and the first steps of a brand.</a:t>
            </a:r>
            <a:endParaRPr lang="en-US" sz="1080" dirty="0"/>
          </a:p>
        </p:txBody>
      </p:sp>
      <p:sp>
        <p:nvSpPr>
          <p:cNvPr id="32" name="trans_fade_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COURSE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roadmap through 13 modules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21792" y="1726502"/>
            <a:ext cx="438912" cy="438912"/>
          </a:xfrm>
          <a:prstGeom prst="ellipse">
            <a:avLst/>
          </a:prstGeom>
          <a:ln w="14630">
            <a:solidFill>
              <a:srgbClr val="C9A35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79051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60763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97339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 + Kristan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69000" y="1726502"/>
            <a:ext cx="438912" cy="438912"/>
          </a:xfrm>
          <a:prstGeom prst="ellipse">
            <a:avLst/>
          </a:prstGeom>
          <a:ln w="14630">
            <a:solidFill>
              <a:srgbClr val="5C564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69000" y="179051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754216" y="160763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Perfumery Basics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754216" y="197339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" y="2326577"/>
            <a:ext cx="438912" cy="438912"/>
          </a:xfrm>
          <a:prstGeom prst="ellipse">
            <a:avLst/>
          </a:prstGeom>
          <a:ln w="14630">
            <a:solidFill>
              <a:srgbClr val="C9A35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239058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220770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Equipment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257346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69000" y="2326577"/>
            <a:ext cx="438912" cy="438912"/>
          </a:xfrm>
          <a:prstGeom prst="ellipse">
            <a:avLst/>
          </a:prstGeom>
          <a:ln w="14630">
            <a:solidFill>
              <a:srgbClr val="B5652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69000" y="239058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754216" y="220770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Materials — Naturals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6754216" y="257346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" y="2926652"/>
            <a:ext cx="438912" cy="438912"/>
          </a:xfrm>
          <a:prstGeom prst="ellipse">
            <a:avLst/>
          </a:prstGeom>
          <a:ln w="14630">
            <a:solidFill>
              <a:srgbClr val="5B3A5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29906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28077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Materials — Synthetics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1207008" y="317354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69000" y="2926652"/>
            <a:ext cx="438912" cy="438912"/>
          </a:xfrm>
          <a:prstGeom prst="ellipse">
            <a:avLst/>
          </a:prstGeom>
          <a:ln w="14630">
            <a:solidFill>
              <a:srgbClr val="C9A35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69000" y="29906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754216" y="28077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Order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6754216" y="317354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 + Kristan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1792" y="3526726"/>
            <a:ext cx="438912" cy="438912"/>
          </a:xfrm>
          <a:prstGeom prst="ellipse">
            <a:avLst/>
          </a:prstGeom>
          <a:ln w="14630">
            <a:solidFill>
              <a:srgbClr val="5B3A5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1792" y="359073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207008" y="3407854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Dilute</a:t>
            </a:r>
            <a:endParaRPr lang="en-US" sz="1450" dirty="0"/>
          </a:p>
        </p:txBody>
      </p:sp>
      <p:sp>
        <p:nvSpPr>
          <p:cNvPr id="31" name="Text 29"/>
          <p:cNvSpPr txBox="1"/>
          <p:nvPr/>
        </p:nvSpPr>
        <p:spPr>
          <a:xfrm>
            <a:off x="1207008" y="377361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169000" y="3526726"/>
            <a:ext cx="438912" cy="438912"/>
          </a:xfrm>
          <a:prstGeom prst="ellipse">
            <a:avLst/>
          </a:prstGeom>
          <a:ln w="14630">
            <a:solidFill>
              <a:srgbClr val="5C564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169000" y="359073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754216" y="3407854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Your Nose</a:t>
            </a:r>
            <a:endParaRPr lang="en-US" sz="1450" dirty="0"/>
          </a:p>
        </p:txBody>
      </p:sp>
      <p:sp>
        <p:nvSpPr>
          <p:cNvPr id="35" name="Text 33"/>
          <p:cNvSpPr txBox="1"/>
          <p:nvPr/>
        </p:nvSpPr>
        <p:spPr>
          <a:xfrm>
            <a:off x="6754216" y="377361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1792" y="4126801"/>
            <a:ext cx="438912" cy="438912"/>
          </a:xfrm>
          <a:prstGeom prst="ellipse">
            <a:avLst/>
          </a:prstGeom>
          <a:ln w="14630">
            <a:solidFill>
              <a:srgbClr val="B5652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21792" y="419081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207008" y="4007929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Accords</a:t>
            </a:r>
            <a:endParaRPr lang="en-US" sz="1450" dirty="0"/>
          </a:p>
        </p:txBody>
      </p:sp>
      <p:sp>
        <p:nvSpPr>
          <p:cNvPr id="39" name="Text 37"/>
          <p:cNvSpPr txBox="1"/>
          <p:nvPr/>
        </p:nvSpPr>
        <p:spPr>
          <a:xfrm>
            <a:off x="1207008" y="437369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169000" y="4126801"/>
            <a:ext cx="438912" cy="438912"/>
          </a:xfrm>
          <a:prstGeom prst="ellipse">
            <a:avLst/>
          </a:prstGeom>
          <a:ln w="14630">
            <a:solidFill>
              <a:srgbClr val="6E7A5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169000" y="419081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6754216" y="4007929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Construction</a:t>
            </a:r>
            <a:endParaRPr lang="en-US" sz="1450" dirty="0"/>
          </a:p>
        </p:txBody>
      </p:sp>
      <p:sp>
        <p:nvSpPr>
          <p:cNvPr id="43" name="Text 41"/>
          <p:cNvSpPr txBox="1"/>
          <p:nvPr/>
        </p:nvSpPr>
        <p:spPr>
          <a:xfrm>
            <a:off x="6754216" y="437369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21792" y="4726877"/>
            <a:ext cx="438912" cy="438912"/>
          </a:xfrm>
          <a:prstGeom prst="ellipse">
            <a:avLst/>
          </a:prstGeom>
          <a:ln w="14630">
            <a:solidFill>
              <a:srgbClr val="C9A35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1792" y="479088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1207008" y="460800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Evaluating &amp; Developing</a:t>
            </a:r>
            <a:endParaRPr lang="en-US" sz="1450" dirty="0"/>
          </a:p>
        </p:txBody>
      </p:sp>
      <p:sp>
        <p:nvSpPr>
          <p:cNvPr id="47" name="Text 45"/>
          <p:cNvSpPr txBox="1"/>
          <p:nvPr/>
        </p:nvSpPr>
        <p:spPr>
          <a:xfrm>
            <a:off x="1207008" y="497376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169000" y="4726877"/>
            <a:ext cx="438912" cy="438912"/>
          </a:xfrm>
          <a:prstGeom prst="ellipse">
            <a:avLst/>
          </a:prstGeom>
          <a:ln w="14630">
            <a:solidFill>
              <a:srgbClr val="5C564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169000" y="479088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754216" y="460800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Alcohol &amp; Compounding</a:t>
            </a:r>
            <a:endParaRPr lang="en-US" sz="1450" dirty="0"/>
          </a:p>
        </p:txBody>
      </p:sp>
      <p:sp>
        <p:nvSpPr>
          <p:cNvPr id="51" name="Text 49"/>
          <p:cNvSpPr txBox="1"/>
          <p:nvPr/>
        </p:nvSpPr>
        <p:spPr>
          <a:xfrm>
            <a:off x="6754216" y="497376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21792" y="5326952"/>
            <a:ext cx="438912" cy="438912"/>
          </a:xfrm>
          <a:prstGeom prst="ellipse">
            <a:avLst/>
          </a:prstGeom>
          <a:ln w="14630">
            <a:solidFill>
              <a:srgbClr val="6E7A5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21792" y="53909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1207008" y="52080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Maturation &amp; Maceration</a:t>
            </a:r>
            <a:endParaRPr lang="en-US" sz="1450" dirty="0"/>
          </a:p>
        </p:txBody>
      </p:sp>
      <p:sp>
        <p:nvSpPr>
          <p:cNvPr id="55" name="Text 53"/>
          <p:cNvSpPr txBox="1"/>
          <p:nvPr/>
        </p:nvSpPr>
        <p:spPr>
          <a:xfrm>
            <a:off x="1207008" y="557384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6169000" y="5326952"/>
            <a:ext cx="438912" cy="438912"/>
          </a:xfrm>
          <a:prstGeom prst="ellipse">
            <a:avLst/>
          </a:prstGeom>
          <a:ln w="14630">
            <a:solidFill>
              <a:srgbClr val="5C5646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169000" y="53909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6754216" y="52080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450" dirty="0"/>
          </a:p>
        </p:txBody>
      </p:sp>
      <p:sp>
        <p:nvSpPr>
          <p:cNvPr id="59" name="Text 57"/>
          <p:cNvSpPr txBox="1"/>
          <p:nvPr/>
        </p:nvSpPr>
        <p:spPr>
          <a:xfrm>
            <a:off x="6754216" y="557384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621792" y="5927027"/>
            <a:ext cx="438912" cy="438912"/>
          </a:xfrm>
          <a:prstGeom prst="ellipse">
            <a:avLst/>
          </a:prstGeom>
          <a:ln w="14630">
            <a:solidFill>
              <a:srgbClr val="B5652D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21792" y="599103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1207008" y="580815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Starting A Brand</a:t>
            </a:r>
            <a:endParaRPr lang="en-US" sz="1450" dirty="0"/>
          </a:p>
        </p:txBody>
      </p:sp>
      <p:sp>
        <p:nvSpPr>
          <p:cNvPr id="63" name="Text 61"/>
          <p:cNvSpPr txBox="1"/>
          <p:nvPr/>
        </p:nvSpPr>
        <p:spPr>
          <a:xfrm>
            <a:off x="1207008" y="617391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 + Kristan</a:t>
            </a:r>
            <a:endParaRPr lang="en-US" sz="1050" dirty="0"/>
          </a:p>
        </p:txBody>
      </p:sp>
      <p:sp>
        <p:nvSpPr>
          <p:cNvPr id="65" name="trans_push_l_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6" name="Text 6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COURSE WORKS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Discord, one rhythm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B3A52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B3A52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06685" y="1627120"/>
            <a:ext cx="2682045" cy="2682045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25755" y="2046189"/>
            <a:ext cx="1843906" cy="1843906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296266" y="2716701"/>
            <a:ext cx="502883" cy="502883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closed community built around one shared curriculum.</a:t>
            </a:r>
            <a:endParaRPr lang="en-US" sz="1050" dirty="0"/>
          </a:p>
        </p:txBody>
      </p:sp>
      <p:sp>
        <p:nvSpPr>
          <p:cNvPr id="14" name="bld1_45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bld1_46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 + slide, every lesson</a:t>
            </a:r>
            <a:endParaRPr lang="en-US" sz="1650" dirty="0"/>
          </a:p>
        </p:txBody>
      </p:sp>
      <p:sp>
        <p:nvSpPr>
          <p:cNvPr id="16" name="bld1_47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video with this deck open — the slide tells you where you are, the video does the teaching.</a:t>
            </a:r>
            <a:endParaRPr lang="en-US" sz="1250" dirty="0"/>
          </a:p>
        </p:txBody>
      </p:sp>
      <p:sp>
        <p:nvSpPr>
          <p:cNvPr id="17" name="bld2_48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8" name="bld2_49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Weekly smelling homework</a:t>
            </a:r>
            <a:endParaRPr lang="en-US" sz="1650" dirty="0"/>
          </a:p>
        </p:txBody>
      </p:sp>
      <p:sp>
        <p:nvSpPr>
          <p:cNvPr id="19" name="bld2_50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includes materials to physically smell and log before the next lesson.</a:t>
            </a:r>
            <a:endParaRPr lang="en-US" sz="1250" dirty="0"/>
          </a:p>
        </p:txBody>
      </p:sp>
      <p:sp>
        <p:nvSpPr>
          <p:cNvPr id="20" name="bld3_51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bld3_52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Community threads</a:t>
            </a:r>
            <a:endParaRPr lang="en-US" sz="1650" dirty="0"/>
          </a:p>
        </p:txBody>
      </p:sp>
      <p:sp>
        <p:nvSpPr>
          <p:cNvPr id="22" name="bld3_53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your evaluations, accords and formulas in Discord for feedback from Yev, Kristan and the group.</a:t>
            </a:r>
            <a:endParaRPr lang="en-US" sz="1250" dirty="0"/>
          </a:p>
        </p:txBody>
      </p:sp>
      <p:sp>
        <p:nvSpPr>
          <p:cNvPr id="23" name="bld4_54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4" name="bld4_55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Office hours</a:t>
            </a:r>
            <a:endParaRPr lang="en-US" sz="1650" dirty="0"/>
          </a:p>
        </p:txBody>
      </p:sp>
      <p:sp>
        <p:nvSpPr>
          <p:cNvPr id="25" name="bld4_56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Q&amp;A sessions to troubleshoot formulas and answer anything the videos didn't cover.</a:t>
            </a:r>
            <a:endParaRPr lang="en-US" sz="1250" dirty="0"/>
          </a:p>
        </p:txBody>
      </p:sp>
      <p:sp>
        <p:nvSpPr>
          <p:cNvPr id="27" name="trans_fade_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LEARN PERFUMERY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mindset that actually works</a:t>
            </a:r>
            <a:endParaRPr lang="en-US" sz="3200" dirty="0"/>
          </a:p>
        </p:txBody>
      </p:sp>
      <p:sp>
        <p:nvSpPr>
          <p:cNvPr id="7" name="bld1_57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58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9" name="bld1_59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it yourself</a:t>
            </a:r>
            <a:endParaRPr lang="en-US" sz="1450" dirty="0"/>
          </a:p>
        </p:txBody>
      </p:sp>
      <p:sp>
        <p:nvSpPr>
          <p:cNvPr id="10" name="bld1_60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description replaces putting a strip under your nose. Reading about rose is not smelling rose.</a:t>
            </a:r>
            <a:endParaRPr lang="en-US" sz="1080" dirty="0"/>
          </a:p>
        </p:txBody>
      </p:sp>
      <p:sp>
        <p:nvSpPr>
          <p:cNvPr id="11" name="bld2_61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62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bld2_63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fearlessly</a:t>
            </a:r>
            <a:endParaRPr lang="en-US" sz="1450" dirty="0"/>
          </a:p>
        </p:txBody>
      </p:sp>
      <p:sp>
        <p:nvSpPr>
          <p:cNvPr id="14" name="bld2_64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mistakes on a scent strip are how you learn. Perfect formulas don't come first — reps do.</a:t>
            </a:r>
            <a:endParaRPr lang="en-US" sz="1080" dirty="0"/>
          </a:p>
        </p:txBody>
      </p:sp>
      <p:sp>
        <p:nvSpPr>
          <p:cNvPr id="15" name="bld3_65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66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67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records</a:t>
            </a:r>
            <a:endParaRPr lang="en-US" sz="1450" dirty="0"/>
          </a:p>
        </p:txBody>
      </p:sp>
      <p:sp>
        <p:nvSpPr>
          <p:cNvPr id="18" name="bld3_68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un-logged smell is a lost lesson. Write it down every single time.</a:t>
            </a:r>
            <a:endParaRPr lang="en-US" sz="1080" dirty="0"/>
          </a:p>
        </p:txBody>
      </p:sp>
      <p:sp>
        <p:nvSpPr>
          <p:cNvPr id="19" name="bld4_69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70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1" name="bld4_71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Revisit often</a:t>
            </a:r>
            <a:endParaRPr lang="en-US" sz="1450" dirty="0"/>
          </a:p>
        </p:txBody>
      </p:sp>
      <p:sp>
        <p:nvSpPr>
          <p:cNvPr id="22" name="bld4_72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change on your skin, on a strip, over hours. Smell things more than once.</a:t>
            </a:r>
            <a:endParaRPr lang="en-US" sz="1080" dirty="0"/>
          </a:p>
        </p:txBody>
      </p:sp>
      <p:sp>
        <p:nvSpPr>
          <p:cNvPr id="23" name="bld5_73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74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75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Think, don't copy</a:t>
            </a:r>
            <a:endParaRPr lang="en-US" sz="1450" dirty="0"/>
          </a:p>
        </p:txBody>
      </p:sp>
      <p:sp>
        <p:nvSpPr>
          <p:cNvPr id="26" name="bld5_76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formula you copy teaches you nothing. A formula you build teaches you everything.</a:t>
            </a:r>
            <a:endParaRPr lang="en-US" sz="1080" dirty="0"/>
          </a:p>
        </p:txBody>
      </p:sp>
      <p:sp>
        <p:nvSpPr>
          <p:cNvPr id="27" name="bld6_77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78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79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 patient with your nose</a:t>
            </a:r>
            <a:endParaRPr lang="en-US" sz="1450" dirty="0"/>
          </a:p>
        </p:txBody>
      </p:sp>
      <p:sp>
        <p:nvSpPr>
          <p:cNvPr id="30" name="bld6_80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Olfactory memory is trained like any other skill — daily, gradually, over months.</a:t>
            </a:r>
            <a:endParaRPr lang="en-US" sz="1080" dirty="0"/>
          </a:p>
        </p:txBody>
      </p:sp>
      <p:sp>
        <p:nvSpPr>
          <p:cNvPr id="32" name="trans_fade_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17150F"/>
          </a:solidFill>
          <a:ln/>
        </p:spPr>
      </p:sp>
      <p:sp>
        <p:nvSpPr>
          <p:cNvPr id="3" name="Shape 1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4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NON-NEGOTIABLE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cannot learn to smell from a screen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2315413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29129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C9A354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164482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78198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5C5646">
              <a:alpha val="7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6013552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27268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5B3A52">
              <a:alpha val="7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7862621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76337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8C3B49">
              <a:alpha val="7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711690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25406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6E7A50">
              <a:alpha val="75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pairs with physical scent strips. Order your materials before you start.</a:t>
            </a:r>
            <a:endParaRPr lang="en-US" sz="1200" dirty="0"/>
          </a:p>
        </p:txBody>
      </p:sp>
      <p:sp>
        <p:nvSpPr>
          <p:cNvPr id="20" name="trans_fade_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17150F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ORGANISED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systems every perfumer keeps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C9A354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C9A354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36751" y="1518043"/>
            <a:ext cx="3821914" cy="3821914"/>
          </a:xfrm>
          <a:prstGeom prst="ellipse">
            <a:avLst/>
          </a:prstGeom>
          <a:solidFill>
            <a:srgbClr val="CFC5AE">
              <a:alpha val="1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flipV="1">
            <a:off x="9547708" y="3026693"/>
            <a:ext cx="905190" cy="40230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452898" y="3026693"/>
            <a:ext cx="905190" cy="50288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452898" y="3529577"/>
            <a:ext cx="905190" cy="80461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44247" y="4334190"/>
            <a:ext cx="1508650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8944247" y="3429000"/>
            <a:ext cx="603460" cy="9051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41364" y="2926117"/>
            <a:ext cx="1106344" cy="50288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86785" y="3268077"/>
            <a:ext cx="321845" cy="321845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337235" y="2911030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242425" y="3413913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337235" y="4218527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828584" y="4218527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325701" y="2810453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show the exact software setup used throughout this course.</a:t>
            </a:r>
            <a:endParaRPr lang="en-US" sz="1050" dirty="0"/>
          </a:p>
        </p:txBody>
      </p:sp>
      <p:sp>
        <p:nvSpPr>
          <p:cNvPr id="24" name="bld1_81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5" name="bld1_82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 library</a:t>
            </a:r>
            <a:endParaRPr lang="en-US" sz="1650" dirty="0"/>
          </a:p>
        </p:txBody>
      </p:sp>
      <p:sp>
        <p:nvSpPr>
          <p:cNvPr id="26" name="bld1_83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material logged with supplier, dilution, family and notes — your personal reference.</a:t>
            </a:r>
            <a:endParaRPr lang="en-US" sz="1250" dirty="0"/>
          </a:p>
        </p:txBody>
      </p:sp>
      <p:sp>
        <p:nvSpPr>
          <p:cNvPr id="27" name="bld2_84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8" name="bld2_85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 library</a:t>
            </a:r>
            <a:endParaRPr lang="en-US" sz="1650" dirty="0"/>
          </a:p>
        </p:txBody>
      </p:sp>
      <p:sp>
        <p:nvSpPr>
          <p:cNvPr id="29" name="bld2_86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building blocks — a rose accord, a woody base — you can drop into future formulas.</a:t>
            </a:r>
            <a:endParaRPr lang="en-US" sz="1250" dirty="0"/>
          </a:p>
        </p:txBody>
      </p:sp>
      <p:sp>
        <p:nvSpPr>
          <p:cNvPr id="30" name="bld3_87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1" name="bld3_88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sheets</a:t>
            </a:r>
            <a:endParaRPr lang="en-US" sz="1650" dirty="0"/>
          </a:p>
        </p:txBody>
      </p:sp>
      <p:sp>
        <p:nvSpPr>
          <p:cNvPr id="32" name="bld3_89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version of every formula, with dates, percentages and change notes.</a:t>
            </a:r>
            <a:endParaRPr lang="en-US" sz="1250" dirty="0"/>
          </a:p>
        </p:txBody>
      </p:sp>
      <p:sp>
        <p:nvSpPr>
          <p:cNvPr id="33" name="bld4_90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4" name="bld4_91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Scent-strip evaluation log</a:t>
            </a:r>
            <a:endParaRPr lang="en-US" sz="1650" dirty="0"/>
          </a:p>
        </p:txBody>
      </p:sp>
      <p:sp>
        <p:nvSpPr>
          <p:cNvPr id="35" name="bld4_92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Dated, timestamped notes on how a material or formula evolves over 48 hours.</a:t>
            </a:r>
            <a:endParaRPr lang="en-US" sz="1250" dirty="0"/>
          </a:p>
        </p:txBody>
      </p:sp>
      <p:sp>
        <p:nvSpPr>
          <p:cNvPr id="37" name="trans_fade_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8" name="Text 3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C5646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C5646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C56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not teaching you to copy formulas.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teaching you to think like a perfumer.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00</a:t>
            </a:r>
            <a:endParaRPr lang="en-US" sz="1100" dirty="0"/>
          </a:p>
        </p:txBody>
      </p:sp>
      <p:sp>
        <p:nvSpPr>
          <p:cNvPr id="10" name="trans_fade_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9795" y="1881835"/>
            <a:ext cx="3094330" cy="309433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3067995"/>
            <a:ext cx="812262" cy="36100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79222" y="3067995"/>
            <a:ext cx="812262" cy="45125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779222" y="3519251"/>
            <a:ext cx="812262" cy="72201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25452" y="4241262"/>
            <a:ext cx="1353769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425452" y="3429000"/>
            <a:ext cx="541508" cy="81226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74196" y="2977744"/>
            <a:ext cx="992764" cy="45125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22558" y="3284598"/>
            <a:ext cx="288804" cy="2888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75433" y="2964206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487694" y="3415462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675433" y="4137473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21663" y="4137473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70407" y="2873955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01 · PERFUMERY BASICS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Vocabulary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Perfumery</a:t>
            </a:r>
            <a:endParaRPr lang="en-US" sz="46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can build a formula, you need the words perfumers actually use to describe one.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key terms, with real-world examples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fragrance pyramid and concentration tiers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Naturals vs. synthetics, and the myths around both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  <p:sp>
        <p:nvSpPr>
          <p:cNvPr id="31" name="trans_fade_1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TERMINOLOGY · PART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words you'll hear constantly</a:t>
            </a:r>
            <a:endParaRPr lang="en-US" sz="3200" dirty="0"/>
          </a:p>
        </p:txBody>
      </p:sp>
      <p:sp>
        <p:nvSpPr>
          <p:cNvPr id="7" name="bld1_93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94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95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Concentrate</a:t>
            </a:r>
            <a:endParaRPr lang="en-US" sz="1450" dirty="0"/>
          </a:p>
        </p:txBody>
      </p:sp>
      <p:sp>
        <p:nvSpPr>
          <p:cNvPr id="10" name="bld1_96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undiluted blend of raw materials before alcohol or solvent is added.</a:t>
            </a:r>
            <a:endParaRPr lang="en-US" sz="1080" dirty="0"/>
          </a:p>
        </p:txBody>
      </p:sp>
      <p:sp>
        <p:nvSpPr>
          <p:cNvPr id="11" name="bld2_97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98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99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Compound</a:t>
            </a:r>
            <a:endParaRPr lang="en-US" sz="1450" dirty="0"/>
          </a:p>
        </p:txBody>
      </p:sp>
      <p:sp>
        <p:nvSpPr>
          <p:cNvPr id="14" name="bld2_100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finished, mixed formula — naturals and synthetics combined into one liquid.</a:t>
            </a:r>
            <a:endParaRPr lang="en-US" sz="1080" dirty="0"/>
          </a:p>
        </p:txBody>
      </p:sp>
      <p:sp>
        <p:nvSpPr>
          <p:cNvPr id="15" name="bld3_101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102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103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Dilution</a:t>
            </a:r>
            <a:endParaRPr lang="en-US" sz="1450" dirty="0"/>
          </a:p>
        </p:txBody>
      </p:sp>
      <p:sp>
        <p:nvSpPr>
          <p:cNvPr id="18" name="bld3_104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or formula reduced in strength with a solvent, expressed as a %.</a:t>
            </a:r>
            <a:endParaRPr lang="en-US" sz="1080" dirty="0"/>
          </a:p>
        </p:txBody>
      </p:sp>
      <p:sp>
        <p:nvSpPr>
          <p:cNvPr id="19" name="bld4_105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106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107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</a:t>
            </a:r>
            <a:endParaRPr lang="en-US" sz="1450" dirty="0"/>
          </a:p>
        </p:txBody>
      </p:sp>
      <p:sp>
        <p:nvSpPr>
          <p:cNvPr id="22" name="bld4_108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more materials blended so they read as one new, unified smell.</a:t>
            </a:r>
            <a:endParaRPr lang="en-US" sz="1080" dirty="0"/>
          </a:p>
        </p:txBody>
      </p:sp>
      <p:sp>
        <p:nvSpPr>
          <p:cNvPr id="23" name="bld5_109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110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111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450" dirty="0"/>
          </a:p>
        </p:txBody>
      </p:sp>
      <p:sp>
        <p:nvSpPr>
          <p:cNvPr id="26" name="bld5_112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pre-built accord used as a foundation — e.g. a musk base or an amber base.</a:t>
            </a:r>
            <a:endParaRPr lang="en-US" sz="1080" dirty="0"/>
          </a:p>
        </p:txBody>
      </p:sp>
      <p:sp>
        <p:nvSpPr>
          <p:cNvPr id="27" name="bld6_113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114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115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Modifier</a:t>
            </a:r>
            <a:endParaRPr lang="en-US" sz="1450" dirty="0"/>
          </a:p>
        </p:txBody>
      </p:sp>
      <p:sp>
        <p:nvSpPr>
          <p:cNvPr id="30" name="bld6_116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added in small amounts to shift the character of an accord.</a:t>
            </a:r>
            <a:endParaRPr lang="en-US" sz="1080" dirty="0"/>
          </a:p>
        </p:txBody>
      </p:sp>
      <p:sp>
        <p:nvSpPr>
          <p:cNvPr id="32" name="trans_fade_1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TERMINOLOGY · PART 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more, about how a scent behaves</a:t>
            </a:r>
            <a:endParaRPr lang="en-US" sz="3200" dirty="0"/>
          </a:p>
        </p:txBody>
      </p:sp>
      <p:sp>
        <p:nvSpPr>
          <p:cNvPr id="7" name="bld1_117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18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119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Solvent</a:t>
            </a:r>
            <a:endParaRPr lang="en-US" sz="1450" dirty="0"/>
          </a:p>
        </p:txBody>
      </p:sp>
      <p:sp>
        <p:nvSpPr>
          <p:cNvPr id="10" name="bld1_120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liquid used to carry and dilute materials — ethanol, DPG, TEC and others.</a:t>
            </a:r>
            <a:endParaRPr lang="en-US" sz="1080" dirty="0"/>
          </a:p>
        </p:txBody>
      </p:sp>
      <p:sp>
        <p:nvSpPr>
          <p:cNvPr id="11" name="bld2_121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122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123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Fixative</a:t>
            </a:r>
            <a:endParaRPr lang="en-US" sz="1450" dirty="0"/>
          </a:p>
        </p:txBody>
      </p:sp>
      <p:sp>
        <p:nvSpPr>
          <p:cNvPr id="14" name="bld2_124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that slows evaporation of lighter notes and extends overall wear.</a:t>
            </a:r>
            <a:endParaRPr lang="en-US" sz="1080" dirty="0"/>
          </a:p>
        </p:txBody>
      </p:sp>
      <p:sp>
        <p:nvSpPr>
          <p:cNvPr id="15" name="bld3_125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126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127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</a:t>
            </a:r>
            <a:endParaRPr lang="en-US" sz="1450" dirty="0"/>
          </a:p>
        </p:txBody>
      </p:sp>
      <p:sp>
        <p:nvSpPr>
          <p:cNvPr id="18" name="bld3_128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and how easily a scent spreads into the surrounding air.</a:t>
            </a:r>
            <a:endParaRPr lang="en-US" sz="1080" dirty="0"/>
          </a:p>
        </p:txBody>
      </p:sp>
      <p:sp>
        <p:nvSpPr>
          <p:cNvPr id="19" name="bld4_129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130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131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Tenacity</a:t>
            </a:r>
            <a:endParaRPr lang="en-US" sz="1450" dirty="0"/>
          </a:p>
        </p:txBody>
      </p:sp>
      <p:sp>
        <p:nvSpPr>
          <p:cNvPr id="22" name="bld4_132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a material or formula remains detectable over time.</a:t>
            </a:r>
            <a:endParaRPr lang="en-US" sz="1080" dirty="0"/>
          </a:p>
        </p:txBody>
      </p:sp>
      <p:sp>
        <p:nvSpPr>
          <p:cNvPr id="23" name="bld5_133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134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135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</a:t>
            </a:r>
            <a:endParaRPr lang="en-US" sz="1450" dirty="0"/>
          </a:p>
        </p:txBody>
      </p:sp>
      <p:sp>
        <p:nvSpPr>
          <p:cNvPr id="26" name="bld5_136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strongly a material registers, even at very low doses.</a:t>
            </a:r>
            <a:endParaRPr lang="en-US" sz="1080" dirty="0"/>
          </a:p>
        </p:txBody>
      </p:sp>
      <p:sp>
        <p:nvSpPr>
          <p:cNvPr id="27" name="bld6_137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138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139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Drydown</a:t>
            </a:r>
            <a:endParaRPr lang="en-US" sz="1450" dirty="0"/>
          </a:p>
        </p:txBody>
      </p:sp>
      <p:sp>
        <p:nvSpPr>
          <p:cNvPr id="30" name="bld6_140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remains hours in — the final character once top notes have faded.</a:t>
            </a:r>
            <a:endParaRPr lang="en-US" sz="1080" dirty="0"/>
          </a:p>
        </p:txBody>
      </p:sp>
      <p:sp>
        <p:nvSpPr>
          <p:cNvPr id="32" name="trans_fade_1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SIX WORDS, WITH REAL EXAMPLES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an accord, base and modifier actually look like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51211" y="4734549"/>
            <a:ext cx="1548507" cy="1548507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8100000">
            <a:off x="10271520" y="5154858"/>
            <a:ext cx="707889" cy="707889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10" name="bld1_141"/>
          <p:cNvSpPr/>
          <p:nvPr/>
        </p:nvSpPr>
        <p:spPr>
          <a:xfrm>
            <a:off x="548640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bld1_142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2" name="bld1_143"/>
          <p:cNvSpPr txBox="1"/>
          <p:nvPr/>
        </p:nvSpPr>
        <p:spPr>
          <a:xfrm>
            <a:off x="731520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accord, in practice</a:t>
            </a:r>
            <a:endParaRPr lang="en-US" sz="1450" dirty="0"/>
          </a:p>
        </p:txBody>
      </p:sp>
      <p:sp>
        <p:nvSpPr>
          <p:cNvPr id="13" name="bld1_144"/>
          <p:cNvSpPr txBox="1"/>
          <p:nvPr/>
        </p:nvSpPr>
        <p:spPr>
          <a:xfrm>
            <a:off x="731520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 absolute + geranium + a trace of clove — three materials that read as one unmistakable flower, not three chemicals.</a:t>
            </a:r>
            <a:endParaRPr lang="en-US" sz="1080" dirty="0"/>
          </a:p>
        </p:txBody>
      </p:sp>
      <p:sp>
        <p:nvSpPr>
          <p:cNvPr id="14" name="bld2_145"/>
          <p:cNvSpPr/>
          <p:nvPr/>
        </p:nvSpPr>
        <p:spPr>
          <a:xfrm>
            <a:off x="4332122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2_146"/>
          <p:cNvSpPr/>
          <p:nvPr/>
        </p:nvSpPr>
        <p:spPr>
          <a:xfrm>
            <a:off x="4505858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6" name="bld2_147"/>
          <p:cNvSpPr txBox="1"/>
          <p:nvPr/>
        </p:nvSpPr>
        <p:spPr>
          <a:xfrm>
            <a:off x="4515002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base, in practice</a:t>
            </a:r>
            <a:endParaRPr lang="en-US" sz="1450" dirty="0"/>
          </a:p>
        </p:txBody>
      </p:sp>
      <p:sp>
        <p:nvSpPr>
          <p:cNvPr id="17" name="bld2_148"/>
          <p:cNvSpPr txBox="1"/>
          <p:nvPr/>
        </p:nvSpPr>
        <p:spPr>
          <a:xfrm>
            <a:off x="4515002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pre-blended "musk base" bought ready-made and dropped straight into a formula for instant skin-like depth.</a:t>
            </a:r>
            <a:endParaRPr lang="en-US" sz="1080" dirty="0"/>
          </a:p>
        </p:txBody>
      </p:sp>
      <p:sp>
        <p:nvSpPr>
          <p:cNvPr id="18" name="bld3_149"/>
          <p:cNvSpPr/>
          <p:nvPr/>
        </p:nvSpPr>
        <p:spPr>
          <a:xfrm>
            <a:off x="8115605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3_150"/>
          <p:cNvSpPr/>
          <p:nvPr/>
        </p:nvSpPr>
        <p:spPr>
          <a:xfrm>
            <a:off x="8289341" y="2504542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0" name="bld3_151"/>
          <p:cNvSpPr txBox="1"/>
          <p:nvPr/>
        </p:nvSpPr>
        <p:spPr>
          <a:xfrm>
            <a:off x="8298485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modifier, in practice</a:t>
            </a:r>
            <a:endParaRPr lang="en-US" sz="1450" dirty="0"/>
          </a:p>
        </p:txBody>
      </p:sp>
      <p:sp>
        <p:nvSpPr>
          <p:cNvPr id="21" name="bld3_152"/>
          <p:cNvSpPr txBox="1"/>
          <p:nvPr/>
        </p:nvSpPr>
        <p:spPr>
          <a:xfrm>
            <a:off x="8298485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whisper of black pepper added to a vanilla accord — the vanilla is still the star, but it now reads spiced, not flat.</a:t>
            </a:r>
            <a:endParaRPr lang="en-US" sz="1080" dirty="0"/>
          </a:p>
        </p:txBody>
      </p:sp>
      <p:sp>
        <p:nvSpPr>
          <p:cNvPr id="23" name="trans_fade_1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FRAGRANCE CONCENTRATIONS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Extrait, EDP, EDT, EDC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51211" y="4734549"/>
            <a:ext cx="1548507" cy="1548507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8100000">
            <a:off x="10271520" y="5154858"/>
            <a:ext cx="707889" cy="707889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10" name="bld1_153"/>
          <p:cNvSpPr/>
          <p:nvPr/>
        </p:nvSpPr>
        <p:spPr>
          <a:xfrm>
            <a:off x="548640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bld1_154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2" name="bld1_155"/>
          <p:cNvSpPr txBox="1"/>
          <p:nvPr/>
        </p:nvSpPr>
        <p:spPr>
          <a:xfrm>
            <a:off x="731520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Extrait</a:t>
            </a:r>
            <a:endParaRPr lang="en-US" sz="1450" dirty="0"/>
          </a:p>
        </p:txBody>
      </p:sp>
      <p:sp>
        <p:nvSpPr>
          <p:cNvPr id="13" name="bld1_156"/>
          <p:cNvSpPr txBox="1"/>
          <p:nvPr/>
        </p:nvSpPr>
        <p:spPr>
          <a:xfrm>
            <a:off x="731520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20–30% concentrate. The richest, most expensive tier — closest to skin, longest wear.</a:t>
            </a:r>
            <a:endParaRPr lang="en-US" sz="1080" dirty="0"/>
          </a:p>
        </p:txBody>
      </p:sp>
      <p:sp>
        <p:nvSpPr>
          <p:cNvPr id="14" name="bld2_157"/>
          <p:cNvSpPr/>
          <p:nvPr/>
        </p:nvSpPr>
        <p:spPr>
          <a:xfrm>
            <a:off x="3386252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2_158"/>
          <p:cNvSpPr/>
          <p:nvPr/>
        </p:nvSpPr>
        <p:spPr>
          <a:xfrm>
            <a:off x="3559988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bld2_159"/>
          <p:cNvSpPr txBox="1"/>
          <p:nvPr/>
        </p:nvSpPr>
        <p:spPr>
          <a:xfrm>
            <a:off x="3569132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Eau de Parfum</a:t>
            </a:r>
            <a:endParaRPr lang="en-US" sz="1450" dirty="0"/>
          </a:p>
        </p:txBody>
      </p:sp>
      <p:sp>
        <p:nvSpPr>
          <p:cNvPr id="17" name="bld2_160"/>
          <p:cNvSpPr txBox="1"/>
          <p:nvPr/>
        </p:nvSpPr>
        <p:spPr>
          <a:xfrm>
            <a:off x="3569132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15–20% concentrate. The modern default for most fine fragrance releases.</a:t>
            </a:r>
            <a:endParaRPr lang="en-US" sz="1080" dirty="0"/>
          </a:p>
        </p:txBody>
      </p:sp>
      <p:sp>
        <p:nvSpPr>
          <p:cNvPr id="18" name="bld3_161"/>
          <p:cNvSpPr/>
          <p:nvPr/>
        </p:nvSpPr>
        <p:spPr>
          <a:xfrm>
            <a:off x="6223864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3_162"/>
          <p:cNvSpPr/>
          <p:nvPr/>
        </p:nvSpPr>
        <p:spPr>
          <a:xfrm>
            <a:off x="6397600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3_163"/>
          <p:cNvSpPr txBox="1"/>
          <p:nvPr/>
        </p:nvSpPr>
        <p:spPr>
          <a:xfrm>
            <a:off x="6406744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Eau de Toilette</a:t>
            </a:r>
            <a:endParaRPr lang="en-US" sz="1450" dirty="0"/>
          </a:p>
        </p:txBody>
      </p:sp>
      <p:sp>
        <p:nvSpPr>
          <p:cNvPr id="21" name="bld3_164"/>
          <p:cNvSpPr txBox="1"/>
          <p:nvPr/>
        </p:nvSpPr>
        <p:spPr>
          <a:xfrm>
            <a:off x="6406744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5–15% concentrate. Lighter, fresher, common for everyday and citrus formulas.</a:t>
            </a:r>
            <a:endParaRPr lang="en-US" sz="1080" dirty="0"/>
          </a:p>
        </p:txBody>
      </p:sp>
      <p:sp>
        <p:nvSpPr>
          <p:cNvPr id="22" name="bld4_165"/>
          <p:cNvSpPr/>
          <p:nvPr/>
        </p:nvSpPr>
        <p:spPr>
          <a:xfrm>
            <a:off x="9061475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166"/>
          <p:cNvSpPr/>
          <p:nvPr/>
        </p:nvSpPr>
        <p:spPr>
          <a:xfrm>
            <a:off x="9235211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4" name="bld4_167"/>
          <p:cNvSpPr txBox="1"/>
          <p:nvPr/>
        </p:nvSpPr>
        <p:spPr>
          <a:xfrm>
            <a:off x="9244355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Eau de Cologne</a:t>
            </a:r>
            <a:endParaRPr lang="en-US" sz="1450" dirty="0"/>
          </a:p>
        </p:txBody>
      </p:sp>
      <p:sp>
        <p:nvSpPr>
          <p:cNvPr id="25" name="bld4_168"/>
          <p:cNvSpPr txBox="1"/>
          <p:nvPr/>
        </p:nvSpPr>
        <p:spPr>
          <a:xfrm>
            <a:off x="9244355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2–5% concentrate. Very light, classic citrus-led, applied liberally.</a:t>
            </a:r>
            <a:endParaRPr lang="en-US" sz="1080" dirty="0"/>
          </a:p>
        </p:txBody>
      </p:sp>
      <p:sp>
        <p:nvSpPr>
          <p:cNvPr id="27" name="trans_fade_1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CRITICAL DISTINCTION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Concentration is not performance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0E0D0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i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 higher concentration percentage always means a stronger, longer-lasting fragrance."</a:t>
            </a:r>
            <a:endParaRPr lang="en-US" sz="2100" dirty="0"/>
          </a:p>
        </p:txBody>
      </p:sp>
      <p:sp>
        <p:nvSpPr>
          <p:cNvPr id="10" name="bld1_169"/>
          <p:cNvSpPr/>
          <p:nvPr/>
        </p:nvSpPr>
        <p:spPr>
          <a:xfrm>
            <a:off x="6278728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EFE6D2"/>
          </a:solidFill>
          <a:ln/>
        </p:spPr>
      </p:sp>
      <p:sp>
        <p:nvSpPr>
          <p:cNvPr id="11" name="bld1_170"/>
          <p:cNvSpPr txBox="1"/>
          <p:nvPr/>
        </p:nvSpPr>
        <p:spPr>
          <a:xfrm>
            <a:off x="6598768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300" dirty="0"/>
          </a:p>
        </p:txBody>
      </p:sp>
      <p:sp>
        <p:nvSpPr>
          <p:cNvPr id="12" name="bld1_171"/>
          <p:cNvSpPr txBox="1"/>
          <p:nvPr/>
        </p:nvSpPr>
        <p:spPr>
          <a:xfrm>
            <a:off x="6598768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comes from which materials are used — their diffusion, tenacity and fixative structure — far more than from the raw % of concentrate. A well-built 10% EDT can outlast a poorly built 25% extrait. Concentration is a starting ratio, not a guarantee.</a:t>
            </a:r>
            <a:endParaRPr lang="en-US" sz="1450" dirty="0"/>
          </a:p>
        </p:txBody>
      </p:sp>
      <p:sp>
        <p:nvSpPr>
          <p:cNvPr id="14" name="trans_wipe_l_1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5" name="Text 1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1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MODEL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fragrance pyramid</a:t>
            </a:r>
            <a:endParaRPr lang="en-US" sz="3200" dirty="0"/>
          </a:p>
        </p:txBody>
      </p:sp>
      <p:sp>
        <p:nvSpPr>
          <p:cNvPr id="7" name="bld1_172"/>
          <p:cNvSpPr/>
          <p:nvPr/>
        </p:nvSpPr>
        <p:spPr>
          <a:xfrm>
            <a:off x="3953933" y="1691640"/>
            <a:ext cx="4741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8" name="bld1_173"/>
          <p:cNvSpPr/>
          <p:nvPr/>
        </p:nvSpPr>
        <p:spPr>
          <a:xfrm>
            <a:off x="3906520" y="1771227"/>
            <a:ext cx="14224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9" name="bld1_174"/>
          <p:cNvSpPr/>
          <p:nvPr/>
        </p:nvSpPr>
        <p:spPr>
          <a:xfrm>
            <a:off x="3859107" y="1850813"/>
            <a:ext cx="23706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0" name="bld1_175"/>
          <p:cNvSpPr/>
          <p:nvPr/>
        </p:nvSpPr>
        <p:spPr>
          <a:xfrm>
            <a:off x="3811693" y="1930400"/>
            <a:ext cx="33189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1" name="bld1_176"/>
          <p:cNvSpPr/>
          <p:nvPr/>
        </p:nvSpPr>
        <p:spPr>
          <a:xfrm>
            <a:off x="3764280" y="2009987"/>
            <a:ext cx="42672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2" name="bld1_177"/>
          <p:cNvSpPr/>
          <p:nvPr/>
        </p:nvSpPr>
        <p:spPr>
          <a:xfrm>
            <a:off x="3716867" y="2089573"/>
            <a:ext cx="52154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3" name="bld1_178"/>
          <p:cNvSpPr/>
          <p:nvPr/>
        </p:nvSpPr>
        <p:spPr>
          <a:xfrm>
            <a:off x="3669453" y="2169160"/>
            <a:ext cx="61637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4" name="bld1_179"/>
          <p:cNvSpPr/>
          <p:nvPr/>
        </p:nvSpPr>
        <p:spPr>
          <a:xfrm>
            <a:off x="3622040" y="2248747"/>
            <a:ext cx="71120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5" name="bld1_180"/>
          <p:cNvSpPr/>
          <p:nvPr/>
        </p:nvSpPr>
        <p:spPr>
          <a:xfrm>
            <a:off x="3574627" y="2328333"/>
            <a:ext cx="80602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6" name="bld1_181"/>
          <p:cNvSpPr/>
          <p:nvPr/>
        </p:nvSpPr>
        <p:spPr>
          <a:xfrm>
            <a:off x="3527213" y="2407920"/>
            <a:ext cx="90085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7" name="bld1_182"/>
          <p:cNvSpPr/>
          <p:nvPr/>
        </p:nvSpPr>
        <p:spPr>
          <a:xfrm>
            <a:off x="3479800" y="2487507"/>
            <a:ext cx="99568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8" name="bld1_183"/>
          <p:cNvSpPr/>
          <p:nvPr/>
        </p:nvSpPr>
        <p:spPr>
          <a:xfrm>
            <a:off x="3432387" y="2567093"/>
            <a:ext cx="109050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9" name="bld1_184"/>
          <p:cNvSpPr/>
          <p:nvPr/>
        </p:nvSpPr>
        <p:spPr>
          <a:xfrm>
            <a:off x="3384973" y="2646680"/>
            <a:ext cx="118533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0" name="bld1_185"/>
          <p:cNvSpPr/>
          <p:nvPr/>
        </p:nvSpPr>
        <p:spPr>
          <a:xfrm>
            <a:off x="3337560" y="2726267"/>
            <a:ext cx="128016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1" name="bld1_186"/>
          <p:cNvSpPr/>
          <p:nvPr/>
        </p:nvSpPr>
        <p:spPr>
          <a:xfrm>
            <a:off x="3290147" y="2805853"/>
            <a:ext cx="137498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2" name="bld1_187"/>
          <p:cNvSpPr/>
          <p:nvPr/>
        </p:nvSpPr>
        <p:spPr>
          <a:xfrm>
            <a:off x="3242733" y="2885440"/>
            <a:ext cx="146981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3" name="bld1_188"/>
          <p:cNvSpPr/>
          <p:nvPr/>
        </p:nvSpPr>
        <p:spPr>
          <a:xfrm>
            <a:off x="3195320" y="2965027"/>
            <a:ext cx="156464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4" name="bld1_189"/>
          <p:cNvSpPr/>
          <p:nvPr/>
        </p:nvSpPr>
        <p:spPr>
          <a:xfrm>
            <a:off x="3147907" y="3044613"/>
            <a:ext cx="165946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5" name="bld1_190"/>
          <p:cNvSpPr txBox="1"/>
          <p:nvPr/>
        </p:nvSpPr>
        <p:spPr>
          <a:xfrm>
            <a:off x="-502920" y="2115312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5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</a:t>
            </a:r>
            <a:endParaRPr lang="en-US" sz="1300" dirty="0"/>
          </a:p>
        </p:txBody>
      </p:sp>
      <p:sp>
        <p:nvSpPr>
          <p:cNvPr id="26" name="bld1_191"/>
          <p:cNvSpPr txBox="1"/>
          <p:nvPr/>
        </p:nvSpPr>
        <p:spPr>
          <a:xfrm>
            <a:off x="6675120" y="211531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Citrus, light fruits, aldehydes, aromatic herbs — the first impression, 0–30 minutes.</a:t>
            </a:r>
            <a:endParaRPr lang="en-US" sz="1100" dirty="0"/>
          </a:p>
        </p:txBody>
      </p:sp>
      <p:sp>
        <p:nvSpPr>
          <p:cNvPr id="27" name="bld2_192"/>
          <p:cNvSpPr/>
          <p:nvPr/>
        </p:nvSpPr>
        <p:spPr>
          <a:xfrm>
            <a:off x="3100493" y="3124200"/>
            <a:ext cx="175429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28" name="bld2_193"/>
          <p:cNvSpPr/>
          <p:nvPr/>
        </p:nvSpPr>
        <p:spPr>
          <a:xfrm>
            <a:off x="3053080" y="3203787"/>
            <a:ext cx="184912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29" name="bld2_194"/>
          <p:cNvSpPr/>
          <p:nvPr/>
        </p:nvSpPr>
        <p:spPr>
          <a:xfrm>
            <a:off x="3005667" y="3283373"/>
            <a:ext cx="194394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0" name="bld2_195"/>
          <p:cNvSpPr/>
          <p:nvPr/>
        </p:nvSpPr>
        <p:spPr>
          <a:xfrm>
            <a:off x="2958253" y="3362960"/>
            <a:ext cx="203877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1" name="bld2_196"/>
          <p:cNvSpPr/>
          <p:nvPr/>
        </p:nvSpPr>
        <p:spPr>
          <a:xfrm>
            <a:off x="2910840" y="3442547"/>
            <a:ext cx="213360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2" name="bld2_197"/>
          <p:cNvSpPr/>
          <p:nvPr/>
        </p:nvSpPr>
        <p:spPr>
          <a:xfrm>
            <a:off x="2863427" y="3522133"/>
            <a:ext cx="222842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3" name="bld2_198"/>
          <p:cNvSpPr/>
          <p:nvPr/>
        </p:nvSpPr>
        <p:spPr>
          <a:xfrm>
            <a:off x="2816013" y="3601720"/>
            <a:ext cx="232325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4" name="bld2_199"/>
          <p:cNvSpPr/>
          <p:nvPr/>
        </p:nvSpPr>
        <p:spPr>
          <a:xfrm>
            <a:off x="2768600" y="3681307"/>
            <a:ext cx="241808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5" name="bld2_200"/>
          <p:cNvSpPr/>
          <p:nvPr/>
        </p:nvSpPr>
        <p:spPr>
          <a:xfrm>
            <a:off x="2721187" y="3760893"/>
            <a:ext cx="251290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6" name="bld2_201"/>
          <p:cNvSpPr/>
          <p:nvPr/>
        </p:nvSpPr>
        <p:spPr>
          <a:xfrm>
            <a:off x="2673773" y="3840480"/>
            <a:ext cx="260773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7" name="bld2_202"/>
          <p:cNvSpPr/>
          <p:nvPr/>
        </p:nvSpPr>
        <p:spPr>
          <a:xfrm>
            <a:off x="2626360" y="3920067"/>
            <a:ext cx="270256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8" name="bld2_203"/>
          <p:cNvSpPr/>
          <p:nvPr/>
        </p:nvSpPr>
        <p:spPr>
          <a:xfrm>
            <a:off x="2578947" y="3999653"/>
            <a:ext cx="279738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9" name="bld2_204"/>
          <p:cNvSpPr/>
          <p:nvPr/>
        </p:nvSpPr>
        <p:spPr>
          <a:xfrm>
            <a:off x="2531533" y="4079240"/>
            <a:ext cx="289221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0" name="bld2_205"/>
          <p:cNvSpPr/>
          <p:nvPr/>
        </p:nvSpPr>
        <p:spPr>
          <a:xfrm>
            <a:off x="2484120" y="4158827"/>
            <a:ext cx="298704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1" name="bld2_206"/>
          <p:cNvSpPr/>
          <p:nvPr/>
        </p:nvSpPr>
        <p:spPr>
          <a:xfrm>
            <a:off x="2436707" y="4238413"/>
            <a:ext cx="308186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2" name="bld2_207"/>
          <p:cNvSpPr/>
          <p:nvPr/>
        </p:nvSpPr>
        <p:spPr>
          <a:xfrm>
            <a:off x="2389293" y="4318000"/>
            <a:ext cx="317669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3" name="bld2_208"/>
          <p:cNvSpPr/>
          <p:nvPr/>
        </p:nvSpPr>
        <p:spPr>
          <a:xfrm>
            <a:off x="2341880" y="4397587"/>
            <a:ext cx="327152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4" name="bld2_209"/>
          <p:cNvSpPr/>
          <p:nvPr/>
        </p:nvSpPr>
        <p:spPr>
          <a:xfrm>
            <a:off x="2294467" y="4477173"/>
            <a:ext cx="336634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5" name="bld2_210"/>
          <p:cNvSpPr txBox="1"/>
          <p:nvPr/>
        </p:nvSpPr>
        <p:spPr>
          <a:xfrm>
            <a:off x="-502920" y="3547872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</a:t>
            </a:r>
            <a:endParaRPr lang="en-US" sz="1300" dirty="0"/>
          </a:p>
        </p:txBody>
      </p:sp>
      <p:sp>
        <p:nvSpPr>
          <p:cNvPr id="46" name="bld2_211"/>
          <p:cNvSpPr txBox="1"/>
          <p:nvPr/>
        </p:nvSpPr>
        <p:spPr>
          <a:xfrm>
            <a:off x="6675120" y="354787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Florals, spices, greens — the main character, emerging 30 minutes to a few hours in.</a:t>
            </a:r>
            <a:endParaRPr lang="en-US" sz="1100" dirty="0"/>
          </a:p>
        </p:txBody>
      </p:sp>
      <p:sp>
        <p:nvSpPr>
          <p:cNvPr id="47" name="bld3_212"/>
          <p:cNvSpPr/>
          <p:nvPr/>
        </p:nvSpPr>
        <p:spPr>
          <a:xfrm>
            <a:off x="2247053" y="4556760"/>
            <a:ext cx="346117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48" name="bld3_213"/>
          <p:cNvSpPr/>
          <p:nvPr/>
        </p:nvSpPr>
        <p:spPr>
          <a:xfrm>
            <a:off x="2199640" y="4636347"/>
            <a:ext cx="355600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49" name="bld3_214"/>
          <p:cNvSpPr/>
          <p:nvPr/>
        </p:nvSpPr>
        <p:spPr>
          <a:xfrm>
            <a:off x="2152227" y="4715933"/>
            <a:ext cx="365082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0" name="bld3_215"/>
          <p:cNvSpPr/>
          <p:nvPr/>
        </p:nvSpPr>
        <p:spPr>
          <a:xfrm>
            <a:off x="2104813" y="4795520"/>
            <a:ext cx="374565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1" name="bld3_216"/>
          <p:cNvSpPr/>
          <p:nvPr/>
        </p:nvSpPr>
        <p:spPr>
          <a:xfrm>
            <a:off x="2057400" y="4875107"/>
            <a:ext cx="384048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2" name="bld3_217"/>
          <p:cNvSpPr/>
          <p:nvPr/>
        </p:nvSpPr>
        <p:spPr>
          <a:xfrm>
            <a:off x="2009987" y="4954693"/>
            <a:ext cx="393530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3" name="bld3_218"/>
          <p:cNvSpPr/>
          <p:nvPr/>
        </p:nvSpPr>
        <p:spPr>
          <a:xfrm>
            <a:off x="1962573" y="5034280"/>
            <a:ext cx="403013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4" name="bld3_219"/>
          <p:cNvSpPr/>
          <p:nvPr/>
        </p:nvSpPr>
        <p:spPr>
          <a:xfrm>
            <a:off x="1915160" y="5113867"/>
            <a:ext cx="412496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5" name="bld3_220"/>
          <p:cNvSpPr/>
          <p:nvPr/>
        </p:nvSpPr>
        <p:spPr>
          <a:xfrm>
            <a:off x="1867747" y="5193453"/>
            <a:ext cx="421978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6" name="bld3_221"/>
          <p:cNvSpPr/>
          <p:nvPr/>
        </p:nvSpPr>
        <p:spPr>
          <a:xfrm>
            <a:off x="1820333" y="5273040"/>
            <a:ext cx="431461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7" name="bld3_222"/>
          <p:cNvSpPr/>
          <p:nvPr/>
        </p:nvSpPr>
        <p:spPr>
          <a:xfrm>
            <a:off x="1772920" y="5352627"/>
            <a:ext cx="440944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8" name="bld3_223"/>
          <p:cNvSpPr/>
          <p:nvPr/>
        </p:nvSpPr>
        <p:spPr>
          <a:xfrm>
            <a:off x="1725507" y="5432213"/>
            <a:ext cx="450426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9" name="bld3_224"/>
          <p:cNvSpPr/>
          <p:nvPr/>
        </p:nvSpPr>
        <p:spPr>
          <a:xfrm>
            <a:off x="1678093" y="5511800"/>
            <a:ext cx="459909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0" name="bld3_225"/>
          <p:cNvSpPr/>
          <p:nvPr/>
        </p:nvSpPr>
        <p:spPr>
          <a:xfrm>
            <a:off x="1630680" y="5591387"/>
            <a:ext cx="469392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1" name="bld3_226"/>
          <p:cNvSpPr/>
          <p:nvPr/>
        </p:nvSpPr>
        <p:spPr>
          <a:xfrm>
            <a:off x="1583267" y="5670973"/>
            <a:ext cx="478874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2" name="bld3_227"/>
          <p:cNvSpPr/>
          <p:nvPr/>
        </p:nvSpPr>
        <p:spPr>
          <a:xfrm>
            <a:off x="1535853" y="5750560"/>
            <a:ext cx="488357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3" name="bld3_228"/>
          <p:cNvSpPr/>
          <p:nvPr/>
        </p:nvSpPr>
        <p:spPr>
          <a:xfrm>
            <a:off x="1488440" y="5830147"/>
            <a:ext cx="497840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4" name="bld3_229"/>
          <p:cNvSpPr/>
          <p:nvPr/>
        </p:nvSpPr>
        <p:spPr>
          <a:xfrm>
            <a:off x="1441027" y="5909733"/>
            <a:ext cx="507322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5" name="bld3_230"/>
          <p:cNvSpPr txBox="1"/>
          <p:nvPr/>
        </p:nvSpPr>
        <p:spPr>
          <a:xfrm>
            <a:off x="-502920" y="4980432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50" kern="0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300" dirty="0"/>
          </a:p>
        </p:txBody>
      </p:sp>
      <p:sp>
        <p:nvSpPr>
          <p:cNvPr id="66" name="bld3_231"/>
          <p:cNvSpPr txBox="1"/>
          <p:nvPr/>
        </p:nvSpPr>
        <p:spPr>
          <a:xfrm>
            <a:off x="6675120" y="498043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Woods, musks, ambers, resins — the lasting foundation, hours into the drydown.</a:t>
            </a:r>
            <a:endParaRPr lang="en-US" sz="1100" dirty="0"/>
          </a:p>
        </p:txBody>
      </p:sp>
      <p:sp>
        <p:nvSpPr>
          <p:cNvPr id="67" name="Text 65"/>
          <p:cNvSpPr txBox="1"/>
          <p:nvPr/>
        </p:nvSpPr>
        <p:spPr>
          <a:xfrm>
            <a:off x="548640" y="6172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as a teaching and marketing model — but real formulas overlap top, heart and base heavily. Few materials sit in only one layer.</a:t>
            </a:r>
            <a:endParaRPr lang="en-US" sz="1150" dirty="0"/>
          </a:p>
        </p:txBody>
      </p:sp>
      <p:sp>
        <p:nvSpPr>
          <p:cNvPr id="69" name="trans_fade_1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0" name="Text 6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129" dur="indefinite" nodeType="mainSeq">
                <p:childTnLst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8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2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  <p:bldP spid="61" grpId="0"/>
      <p:bldP spid="62" grpId="0"/>
      <p:bldP spid="63" grpId="0"/>
      <p:bldP spid="64" grpId="0"/>
      <p:bldP spid="65" grpId="0"/>
      <p:bldP spid="6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SOLVENTS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carries a formula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95454" y="4778792"/>
            <a:ext cx="1460021" cy="1460021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997656" y="4880994"/>
            <a:ext cx="1255618" cy="125561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52464" y="5435802"/>
            <a:ext cx="146002" cy="14600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bld1_232"/>
          <p:cNvSpPr/>
          <p:nvPr/>
        </p:nvSpPr>
        <p:spPr>
          <a:xfrm>
            <a:off x="548640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233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1_234"/>
          <p:cNvSpPr txBox="1"/>
          <p:nvPr/>
        </p:nvSpPr>
        <p:spPr>
          <a:xfrm>
            <a:off x="731520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Ethanol</a:t>
            </a:r>
            <a:endParaRPr lang="en-US" sz="1450" dirty="0"/>
          </a:p>
        </p:txBody>
      </p:sp>
      <p:sp>
        <p:nvSpPr>
          <p:cNvPr id="24" name="bld1_235"/>
          <p:cNvSpPr txBox="1"/>
          <p:nvPr/>
        </p:nvSpPr>
        <p:spPr>
          <a:xfrm>
            <a:off x="731520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Perfumer's alcohol. The standard solvent for finished fine-fragrance sprays.</a:t>
            </a:r>
            <a:endParaRPr lang="en-US" sz="1080" dirty="0"/>
          </a:p>
        </p:txBody>
      </p:sp>
      <p:sp>
        <p:nvSpPr>
          <p:cNvPr id="25" name="bld2_236"/>
          <p:cNvSpPr/>
          <p:nvPr/>
        </p:nvSpPr>
        <p:spPr>
          <a:xfrm>
            <a:off x="3386252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237"/>
          <p:cNvSpPr/>
          <p:nvPr/>
        </p:nvSpPr>
        <p:spPr>
          <a:xfrm>
            <a:off x="3559988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7" name="bld2_238"/>
          <p:cNvSpPr txBox="1"/>
          <p:nvPr/>
        </p:nvSpPr>
        <p:spPr>
          <a:xfrm>
            <a:off x="3569132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DPG</a:t>
            </a:r>
            <a:endParaRPr lang="en-US" sz="1450" dirty="0"/>
          </a:p>
        </p:txBody>
      </p:sp>
      <p:sp>
        <p:nvSpPr>
          <p:cNvPr id="28" name="bld2_239"/>
          <p:cNvSpPr txBox="1"/>
          <p:nvPr/>
        </p:nvSpPr>
        <p:spPr>
          <a:xfrm>
            <a:off x="3569132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Dipropylene glycol. Odourless, non-flammable — common for oils and roll-ons.</a:t>
            </a:r>
            <a:endParaRPr lang="en-US" sz="1080" dirty="0"/>
          </a:p>
        </p:txBody>
      </p:sp>
      <p:sp>
        <p:nvSpPr>
          <p:cNvPr id="29" name="bld3_240"/>
          <p:cNvSpPr/>
          <p:nvPr/>
        </p:nvSpPr>
        <p:spPr>
          <a:xfrm>
            <a:off x="6223864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241"/>
          <p:cNvSpPr/>
          <p:nvPr/>
        </p:nvSpPr>
        <p:spPr>
          <a:xfrm>
            <a:off x="6397600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1" name="bld3_242"/>
          <p:cNvSpPr txBox="1"/>
          <p:nvPr/>
        </p:nvSpPr>
        <p:spPr>
          <a:xfrm>
            <a:off x="6406744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</a:t>
            </a:r>
            <a:endParaRPr lang="en-US" sz="1450" dirty="0"/>
          </a:p>
        </p:txBody>
      </p:sp>
      <p:sp>
        <p:nvSpPr>
          <p:cNvPr id="32" name="bld3_243"/>
          <p:cNvSpPr txBox="1"/>
          <p:nvPr/>
        </p:nvSpPr>
        <p:spPr>
          <a:xfrm>
            <a:off x="6406744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Triethyl citrate. A gentler, skin-friendly solvent often used in oil-based formats.</a:t>
            </a:r>
            <a:endParaRPr lang="en-US" sz="1080" dirty="0"/>
          </a:p>
        </p:txBody>
      </p:sp>
      <p:sp>
        <p:nvSpPr>
          <p:cNvPr id="33" name="bld4_244"/>
          <p:cNvSpPr/>
          <p:nvPr/>
        </p:nvSpPr>
        <p:spPr>
          <a:xfrm>
            <a:off x="9061475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bld4_245"/>
          <p:cNvSpPr/>
          <p:nvPr/>
        </p:nvSpPr>
        <p:spPr>
          <a:xfrm>
            <a:off x="9235211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4_246"/>
          <p:cNvSpPr txBox="1"/>
          <p:nvPr/>
        </p:nvSpPr>
        <p:spPr>
          <a:xfrm>
            <a:off x="9244355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IPM</a:t>
            </a:r>
            <a:endParaRPr lang="en-US" sz="1450" dirty="0"/>
          </a:p>
        </p:txBody>
      </p:sp>
      <p:sp>
        <p:nvSpPr>
          <p:cNvPr id="36" name="bld4_247"/>
          <p:cNvSpPr txBox="1"/>
          <p:nvPr/>
        </p:nvSpPr>
        <p:spPr>
          <a:xfrm>
            <a:off x="9244355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Isopropyl myristate. A light, fast-absorbing carrier used where appropriate.</a:t>
            </a:r>
            <a:endParaRPr lang="en-US" sz="1080" dirty="0"/>
          </a:p>
        </p:txBody>
      </p:sp>
      <p:sp>
        <p:nvSpPr>
          <p:cNvPr id="38" name="trans_fade_1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9" name="Text 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GOES INTO A BOTTLE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finished perfume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finished spray perfume is mostly solvent — not concentrate.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850551"/>
            <a:ext cx="2218883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850551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67523" y="2850551"/>
            <a:ext cx="8653644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67523" y="2850551"/>
            <a:ext cx="86536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21167" y="2850551"/>
            <a:ext cx="110944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532111" y="2850551"/>
            <a:ext cx="55472" cy="566928"/>
          </a:xfrm>
          <a:prstGeom prst="rect">
            <a:avLst/>
          </a:prstGeom>
          <a:solidFill>
            <a:srgbClr val="B5652D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587583" y="2850551"/>
            <a:ext cx="55472" cy="566928"/>
          </a:xfrm>
          <a:prstGeom prst="rect">
            <a:avLst/>
          </a:prstGeom>
          <a:solidFill>
            <a:srgbClr val="5B3A52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bld1_248"/>
          <p:cNvSpPr/>
          <p:nvPr/>
        </p:nvSpPr>
        <p:spPr>
          <a:xfrm>
            <a:off x="566928" y="3892967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bld1_249"/>
          <p:cNvSpPr txBox="1"/>
          <p:nvPr/>
        </p:nvSpPr>
        <p:spPr>
          <a:xfrm>
            <a:off x="841248" y="381067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 concentrate  —  20%</a:t>
            </a:r>
            <a:endParaRPr lang="en-US" sz="1250" dirty="0"/>
          </a:p>
        </p:txBody>
      </p:sp>
      <p:sp>
        <p:nvSpPr>
          <p:cNvPr id="17" name="bld1_250"/>
          <p:cNvSpPr txBox="1"/>
          <p:nvPr/>
        </p:nvSpPr>
        <p:spPr>
          <a:xfrm>
            <a:off x="841248" y="408499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formula itself</a:t>
            </a:r>
            <a:endParaRPr lang="en-US" sz="1000" dirty="0"/>
          </a:p>
        </p:txBody>
      </p:sp>
      <p:sp>
        <p:nvSpPr>
          <p:cNvPr id="18" name="bld2_251"/>
          <p:cNvSpPr/>
          <p:nvPr/>
        </p:nvSpPr>
        <p:spPr>
          <a:xfrm>
            <a:off x="6297016" y="3892967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19" name="bld2_252"/>
          <p:cNvSpPr txBox="1"/>
          <p:nvPr/>
        </p:nvSpPr>
        <p:spPr>
          <a:xfrm>
            <a:off x="6571336" y="381067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 —  78%</a:t>
            </a:r>
            <a:endParaRPr lang="en-US" sz="1250" dirty="0"/>
          </a:p>
        </p:txBody>
      </p:sp>
      <p:sp>
        <p:nvSpPr>
          <p:cNvPr id="20" name="bld2_253"/>
          <p:cNvSpPr txBox="1"/>
          <p:nvPr/>
        </p:nvSpPr>
        <p:spPr>
          <a:xfrm>
            <a:off x="6571336" y="408499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carrier</a:t>
            </a:r>
            <a:endParaRPr lang="en-US" sz="1000" dirty="0"/>
          </a:p>
        </p:txBody>
      </p:sp>
      <p:sp>
        <p:nvSpPr>
          <p:cNvPr id="21" name="bld3_254"/>
          <p:cNvSpPr/>
          <p:nvPr/>
        </p:nvSpPr>
        <p:spPr>
          <a:xfrm>
            <a:off x="566928" y="4459895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2" name="bld3_255"/>
          <p:cNvSpPr txBox="1"/>
          <p:nvPr/>
        </p:nvSpPr>
        <p:spPr>
          <a:xfrm>
            <a:off x="841248" y="437759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 —  1%</a:t>
            </a:r>
            <a:endParaRPr lang="en-US" sz="1250" dirty="0"/>
          </a:p>
        </p:txBody>
      </p:sp>
      <p:sp>
        <p:nvSpPr>
          <p:cNvPr id="23" name="bld3_256"/>
          <p:cNvSpPr txBox="1"/>
          <p:nvPr/>
        </p:nvSpPr>
        <p:spPr>
          <a:xfrm>
            <a:off x="841248" y="465191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Optional, softens alcohol bite</a:t>
            </a:r>
            <a:endParaRPr lang="en-US" sz="1000" dirty="0"/>
          </a:p>
        </p:txBody>
      </p:sp>
      <p:sp>
        <p:nvSpPr>
          <p:cNvPr id="24" name="bld4_257"/>
          <p:cNvSpPr/>
          <p:nvPr/>
        </p:nvSpPr>
        <p:spPr>
          <a:xfrm>
            <a:off x="6297016" y="4459895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5" name="bld4_258"/>
          <p:cNvSpPr txBox="1"/>
          <p:nvPr/>
        </p:nvSpPr>
        <p:spPr>
          <a:xfrm>
            <a:off x="6571336" y="437759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Antioxidants / stabilisers  —  0.5%</a:t>
            </a:r>
            <a:endParaRPr lang="en-US" sz="1250" dirty="0"/>
          </a:p>
        </p:txBody>
      </p:sp>
      <p:sp>
        <p:nvSpPr>
          <p:cNvPr id="26" name="bld4_259"/>
          <p:cNvSpPr txBox="1"/>
          <p:nvPr/>
        </p:nvSpPr>
        <p:spPr>
          <a:xfrm>
            <a:off x="6571336" y="465191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required</a:t>
            </a:r>
            <a:endParaRPr lang="en-US" sz="1000" dirty="0"/>
          </a:p>
        </p:txBody>
      </p:sp>
      <p:sp>
        <p:nvSpPr>
          <p:cNvPr id="27" name="bld5_260"/>
          <p:cNvSpPr/>
          <p:nvPr/>
        </p:nvSpPr>
        <p:spPr>
          <a:xfrm>
            <a:off x="566928" y="5026823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8" name="bld5_261"/>
          <p:cNvSpPr txBox="1"/>
          <p:nvPr/>
        </p:nvSpPr>
        <p:spPr>
          <a:xfrm>
            <a:off x="841248" y="494452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 —  0.5%</a:t>
            </a:r>
            <a:endParaRPr lang="en-US" sz="1250" dirty="0"/>
          </a:p>
        </p:txBody>
      </p:sp>
      <p:sp>
        <p:nvSpPr>
          <p:cNvPr id="29" name="bld5_262"/>
          <p:cNvSpPr txBox="1"/>
          <p:nvPr/>
        </p:nvSpPr>
        <p:spPr>
          <a:xfrm>
            <a:off x="841248" y="521884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appropriate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9631375" y="246650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32" name="trans_push_l_1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SOURCES, ONE PALETTE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 vs. synthetics</a:t>
            </a:r>
            <a:endParaRPr lang="en-US" sz="3200" dirty="0"/>
          </a:p>
        </p:txBody>
      </p:sp>
      <p:sp>
        <p:nvSpPr>
          <p:cNvPr id="7" name="bld1_263"/>
          <p:cNvSpPr/>
          <p:nvPr/>
        </p:nvSpPr>
        <p:spPr>
          <a:xfrm>
            <a:off x="548640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9EDE0"/>
          </a:solidFill>
          <a:ln/>
        </p:spPr>
      </p:sp>
      <p:sp>
        <p:nvSpPr>
          <p:cNvPr id="8" name="bld1_264"/>
          <p:cNvSpPr/>
          <p:nvPr/>
        </p:nvSpPr>
        <p:spPr>
          <a:xfrm>
            <a:off x="777240" y="2011680"/>
            <a:ext cx="274320" cy="274320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9" name="bld1_265"/>
          <p:cNvSpPr txBox="1"/>
          <p:nvPr/>
        </p:nvSpPr>
        <p:spPr>
          <a:xfrm>
            <a:off x="1188720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</a:t>
            </a:r>
            <a:endParaRPr lang="en-US" sz="1800" dirty="0"/>
          </a:p>
        </p:txBody>
      </p:sp>
      <p:sp>
        <p:nvSpPr>
          <p:cNvPr id="10" name="bld1_266"/>
          <p:cNvSpPr txBox="1"/>
          <p:nvPr/>
        </p:nvSpPr>
        <p:spPr>
          <a:xfrm>
            <a:off x="914400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 oils — steam or expression distilled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Absolutes — solvent extracted, richer and truer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CO2 extracts — extracted under pressure, very clean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Resinoids — extracted from gums and resins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Complex, variable, often expensive</a:t>
            </a:r>
            <a:endParaRPr lang="en-US" sz="1300" dirty="0"/>
          </a:p>
        </p:txBody>
      </p:sp>
      <p:sp>
        <p:nvSpPr>
          <p:cNvPr id="11" name="bld1_267"/>
          <p:cNvSpPr/>
          <p:nvPr/>
        </p:nvSpPr>
        <p:spPr>
          <a:xfrm>
            <a:off x="5099152" y="5586984"/>
            <a:ext cx="621792" cy="621792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12" name="bld1_268"/>
          <p:cNvSpPr/>
          <p:nvPr/>
        </p:nvSpPr>
        <p:spPr>
          <a:xfrm rot="8100000">
            <a:off x="5291176" y="5779008"/>
            <a:ext cx="237744" cy="237744"/>
          </a:xfrm>
          <a:prstGeom prst="teardrop">
            <a:avLst/>
          </a:prstGeom>
          <a:solidFill>
            <a:srgbClr val="6E7A50">
              <a:alpha val="92000"/>
            </a:srgbClr>
          </a:solidFill>
          <a:ln/>
        </p:spPr>
      </p:sp>
      <p:sp>
        <p:nvSpPr>
          <p:cNvPr id="13" name="bld2_269"/>
          <p:cNvSpPr/>
          <p:nvPr/>
        </p:nvSpPr>
        <p:spPr>
          <a:xfrm>
            <a:off x="6278728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0E4DA"/>
          </a:solidFill>
          <a:ln/>
        </p:spPr>
      </p:sp>
      <p:sp>
        <p:nvSpPr>
          <p:cNvPr id="14" name="bld2_270"/>
          <p:cNvSpPr/>
          <p:nvPr/>
        </p:nvSpPr>
        <p:spPr>
          <a:xfrm>
            <a:off x="6507328" y="2011680"/>
            <a:ext cx="274320" cy="274320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5" name="bld2_271"/>
          <p:cNvSpPr txBox="1"/>
          <p:nvPr/>
        </p:nvSpPr>
        <p:spPr>
          <a:xfrm>
            <a:off x="6918808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</a:t>
            </a:r>
            <a:endParaRPr lang="en-US" sz="1800" dirty="0"/>
          </a:p>
        </p:txBody>
      </p:sp>
      <p:sp>
        <p:nvSpPr>
          <p:cNvPr id="16" name="bld2_272"/>
          <p:cNvSpPr txBox="1"/>
          <p:nvPr/>
        </p:nvSpPr>
        <p:spPr>
          <a:xfrm>
            <a:off x="6644488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 chemicals — single, isolated molecules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Captives / speciality materials — proprietary, exclusive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— pre-blended synthetic accords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Precise, consistent, batch after batch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effects naturals simply cannot achieve</a:t>
            </a:r>
            <a:endParaRPr lang="en-US" sz="1300" dirty="0"/>
          </a:p>
        </p:txBody>
      </p:sp>
      <p:sp>
        <p:nvSpPr>
          <p:cNvPr id="17" name="bld2_273"/>
          <p:cNvSpPr/>
          <p:nvPr/>
        </p:nvSpPr>
        <p:spPr>
          <a:xfrm>
            <a:off x="10829239" y="5586984"/>
            <a:ext cx="621792" cy="621792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8" name="bld2_274"/>
          <p:cNvSpPr/>
          <p:nvPr/>
        </p:nvSpPr>
        <p:spPr>
          <a:xfrm rot="8100000">
            <a:off x="11021263" y="5779008"/>
            <a:ext cx="237744" cy="237744"/>
          </a:xfrm>
          <a:prstGeom prst="teardrop">
            <a:avLst/>
          </a:prstGeom>
          <a:solidFill>
            <a:srgbClr val="B5652D">
              <a:alpha val="92000"/>
            </a:srgbClr>
          </a:solidFill>
          <a:ln/>
        </p:spPr>
      </p:sp>
      <p:sp>
        <p:nvSpPr>
          <p:cNvPr id="20" name="trans_wipe_l_1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31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OLFACTORY FAMILIES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twelve families you'll learn to recognise</a:t>
            </a:r>
            <a:endParaRPr lang="en-US" sz="3200" dirty="0"/>
          </a:p>
        </p:txBody>
      </p:sp>
      <p:sp>
        <p:nvSpPr>
          <p:cNvPr id="7" name="bld1_275"/>
          <p:cNvSpPr/>
          <p:nvPr/>
        </p:nvSpPr>
        <p:spPr>
          <a:xfrm>
            <a:off x="548640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865376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9" name="Shape 7"/>
          <p:cNvSpPr/>
          <p:nvPr/>
        </p:nvSpPr>
        <p:spPr>
          <a:xfrm>
            <a:off x="1596931" y="1933773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30881" y="1967723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" name="Shape 9"/>
          <p:cNvSpPr/>
          <p:nvPr/>
        </p:nvSpPr>
        <p:spPr>
          <a:xfrm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216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432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648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864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296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512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728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944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815180" y="2152022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2" name="Shape 20"/>
          <p:cNvSpPr/>
          <p:nvPr/>
        </p:nvSpPr>
        <p:spPr>
          <a:xfrm>
            <a:off x="1528534" y="1865376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3" name="bld1_277"/>
          <p:cNvSpPr txBox="1"/>
          <p:nvPr/>
        </p:nvSpPr>
        <p:spPr>
          <a:xfrm>
            <a:off x="731520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</a:t>
            </a:r>
            <a:endParaRPr lang="en-US" sz="1450" dirty="0"/>
          </a:p>
        </p:txBody>
      </p:sp>
      <p:sp>
        <p:nvSpPr>
          <p:cNvPr id="24" name="bld1_278"/>
          <p:cNvSpPr txBox="1"/>
          <p:nvPr/>
        </p:nvSpPr>
        <p:spPr>
          <a:xfrm>
            <a:off x="731520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Bergamot, lemon, mandarin</a:t>
            </a:r>
            <a:endParaRPr lang="en-US" sz="1080" dirty="0"/>
          </a:p>
        </p:txBody>
      </p:sp>
      <p:sp>
        <p:nvSpPr>
          <p:cNvPr id="25" name="bld2_279"/>
          <p:cNvSpPr/>
          <p:nvPr/>
        </p:nvSpPr>
        <p:spPr>
          <a:xfrm>
            <a:off x="3386252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366146" y="1865376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4616417" y="193183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4320000">
            <a:off x="4727811" y="2012766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8640000">
            <a:off x="4685262" y="2143718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2960000">
            <a:off x="4547571" y="2143718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17280000">
            <a:off x="4505023" y="2012766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618842" y="2118072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3" name="Shape 31"/>
          <p:cNvSpPr/>
          <p:nvPr/>
        </p:nvSpPr>
        <p:spPr>
          <a:xfrm>
            <a:off x="4366146" y="1865376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4" name="bld2_281"/>
          <p:cNvSpPr txBox="1"/>
          <p:nvPr/>
        </p:nvSpPr>
        <p:spPr>
          <a:xfrm>
            <a:off x="3569132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</a:t>
            </a:r>
            <a:endParaRPr lang="en-US" sz="1450" dirty="0"/>
          </a:p>
        </p:txBody>
      </p:sp>
      <p:sp>
        <p:nvSpPr>
          <p:cNvPr id="35" name="bld2_282"/>
          <p:cNvSpPr txBox="1"/>
          <p:nvPr/>
        </p:nvSpPr>
        <p:spPr>
          <a:xfrm>
            <a:off x="3569132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Rose, jasmine, muguet</a:t>
            </a:r>
            <a:endParaRPr lang="en-US" sz="1080" dirty="0"/>
          </a:p>
        </p:txBody>
      </p:sp>
      <p:sp>
        <p:nvSpPr>
          <p:cNvPr id="36" name="bld3_283"/>
          <p:cNvSpPr/>
          <p:nvPr/>
        </p:nvSpPr>
        <p:spPr>
          <a:xfrm>
            <a:off x="6223864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203758" y="1865376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38" name="Shape 36"/>
          <p:cNvSpPr/>
          <p:nvPr/>
        </p:nvSpPr>
        <p:spPr>
          <a:xfrm>
            <a:off x="7315804" y="1996823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7509167" y="1987123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12000000">
            <a:off x="7532942" y="1967723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203758" y="1865376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42" name="bld3_285"/>
          <p:cNvSpPr txBox="1"/>
          <p:nvPr/>
        </p:nvSpPr>
        <p:spPr>
          <a:xfrm>
            <a:off x="6406744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</a:t>
            </a:r>
            <a:endParaRPr lang="en-US" sz="1450" dirty="0"/>
          </a:p>
        </p:txBody>
      </p:sp>
      <p:sp>
        <p:nvSpPr>
          <p:cNvPr id="43" name="bld3_286"/>
          <p:cNvSpPr txBox="1"/>
          <p:nvPr/>
        </p:nvSpPr>
        <p:spPr>
          <a:xfrm>
            <a:off x="6406744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Peach, apple, blackcurrant</a:t>
            </a:r>
            <a:endParaRPr lang="en-US" sz="1080" dirty="0"/>
          </a:p>
        </p:txBody>
      </p:sp>
      <p:sp>
        <p:nvSpPr>
          <p:cNvPr id="44" name="bld4_287"/>
          <p:cNvSpPr/>
          <p:nvPr/>
        </p:nvSpPr>
        <p:spPr>
          <a:xfrm>
            <a:off x="9061475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10041369" y="1865376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6" name="Shape 44"/>
          <p:cNvSpPr/>
          <p:nvPr/>
        </p:nvSpPr>
        <p:spPr>
          <a:xfrm rot="15300000">
            <a:off x="10188067" y="208191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3050000">
            <a:off x="10233538" y="2149963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10800000">
            <a:off x="10311040" y="21762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8550000">
            <a:off x="10388543" y="2149963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6300000">
            <a:off x="10434014" y="208191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10041369" y="1865376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52" name="bld4_289"/>
          <p:cNvSpPr txBox="1"/>
          <p:nvPr/>
        </p:nvSpPr>
        <p:spPr>
          <a:xfrm>
            <a:off x="9244355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</a:t>
            </a:r>
            <a:endParaRPr lang="en-US" sz="1450" dirty="0"/>
          </a:p>
        </p:txBody>
      </p:sp>
      <p:sp>
        <p:nvSpPr>
          <p:cNvPr id="53" name="bld4_290"/>
          <p:cNvSpPr txBox="1"/>
          <p:nvPr/>
        </p:nvSpPr>
        <p:spPr>
          <a:xfrm>
            <a:off x="9244355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grass, galbanum, leaves</a:t>
            </a:r>
            <a:endParaRPr lang="en-US" sz="1080" dirty="0"/>
          </a:p>
        </p:txBody>
      </p:sp>
      <p:sp>
        <p:nvSpPr>
          <p:cNvPr id="54" name="bld5_291"/>
          <p:cNvSpPr/>
          <p:nvPr/>
        </p:nvSpPr>
        <p:spPr>
          <a:xfrm>
            <a:off x="548640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1528534" y="3505200"/>
            <a:ext cx="621792" cy="621792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56" name="Shape 54"/>
          <p:cNvSpPr/>
          <p:nvPr/>
        </p:nvSpPr>
        <p:spPr>
          <a:xfrm>
            <a:off x="1803055" y="3655465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2700000">
            <a:off x="1854908" y="3676943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5400000">
            <a:off x="1876387" y="3728796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8100000">
            <a:off x="1854908" y="3780650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10800000">
            <a:off x="1803055" y="3802128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13500000">
            <a:off x="1751202" y="3780650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16200000">
            <a:off x="1729723" y="3728796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18900000">
            <a:off x="1751202" y="3676943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1800630" y="3777296"/>
            <a:ext cx="77600" cy="77600"/>
          </a:xfrm>
          <a:prstGeom prst="ellipse">
            <a:avLst/>
          </a:prstGeom>
          <a:solidFill>
            <a:srgbClr val="9BAE84"/>
          </a:solidFill>
          <a:ln/>
        </p:spPr>
      </p:sp>
      <p:sp>
        <p:nvSpPr>
          <p:cNvPr id="65" name="Shape 63"/>
          <p:cNvSpPr/>
          <p:nvPr/>
        </p:nvSpPr>
        <p:spPr>
          <a:xfrm>
            <a:off x="1528534" y="3505200"/>
            <a:ext cx="621792" cy="621792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66" name="bld5_293"/>
          <p:cNvSpPr txBox="1"/>
          <p:nvPr/>
        </p:nvSpPr>
        <p:spPr>
          <a:xfrm>
            <a:off x="731520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Aromatic</a:t>
            </a:r>
            <a:endParaRPr lang="en-US" sz="1450" dirty="0"/>
          </a:p>
        </p:txBody>
      </p:sp>
      <p:sp>
        <p:nvSpPr>
          <p:cNvPr id="67" name="bld5_294"/>
          <p:cNvSpPr txBox="1"/>
          <p:nvPr/>
        </p:nvSpPr>
        <p:spPr>
          <a:xfrm>
            <a:off x="731520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Lavender, rosemary, herbs</a:t>
            </a:r>
            <a:endParaRPr lang="en-US" sz="1080" dirty="0"/>
          </a:p>
        </p:txBody>
      </p:sp>
      <p:sp>
        <p:nvSpPr>
          <p:cNvPr id="68" name="bld6_295"/>
          <p:cNvSpPr/>
          <p:nvPr/>
        </p:nvSpPr>
        <p:spPr>
          <a:xfrm>
            <a:off x="3386252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4366146" y="3505200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70" name="Shape 68"/>
          <p:cNvSpPr/>
          <p:nvPr/>
        </p:nvSpPr>
        <p:spPr>
          <a:xfrm>
            <a:off x="4434543" y="3573597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4515376" y="3654430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72" name="Shape 70"/>
          <p:cNvSpPr/>
          <p:nvPr/>
        </p:nvSpPr>
        <p:spPr>
          <a:xfrm>
            <a:off x="4596209" y="3735263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4647942" y="3786996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74" name="Shape 72"/>
          <p:cNvSpPr/>
          <p:nvPr/>
        </p:nvSpPr>
        <p:spPr>
          <a:xfrm>
            <a:off x="4366146" y="3505200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75" name="bld6_297"/>
          <p:cNvSpPr txBox="1"/>
          <p:nvPr/>
        </p:nvSpPr>
        <p:spPr>
          <a:xfrm>
            <a:off x="3569132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</a:t>
            </a:r>
            <a:endParaRPr lang="en-US" sz="1450" dirty="0"/>
          </a:p>
        </p:txBody>
      </p:sp>
      <p:sp>
        <p:nvSpPr>
          <p:cNvPr id="76" name="bld6_298"/>
          <p:cNvSpPr txBox="1"/>
          <p:nvPr/>
        </p:nvSpPr>
        <p:spPr>
          <a:xfrm>
            <a:off x="3569132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Cedar, sandalwood, vetiver</a:t>
            </a:r>
            <a:endParaRPr lang="en-US" sz="1080" dirty="0"/>
          </a:p>
        </p:txBody>
      </p:sp>
      <p:sp>
        <p:nvSpPr>
          <p:cNvPr id="77" name="bld7_299"/>
          <p:cNvSpPr/>
          <p:nvPr/>
        </p:nvSpPr>
        <p:spPr>
          <a:xfrm>
            <a:off x="6223864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7203758" y="3505200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79" name="Shape 77"/>
          <p:cNvSpPr/>
          <p:nvPr/>
        </p:nvSpPr>
        <p:spPr>
          <a:xfrm rot="9000000">
            <a:off x="7393404" y="3704547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 rot="6000000">
            <a:off x="7330354" y="3675447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 rot="11400000">
            <a:off x="7529203" y="3646347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7203758" y="3505200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83" name="bld7_301"/>
          <p:cNvSpPr txBox="1"/>
          <p:nvPr/>
        </p:nvSpPr>
        <p:spPr>
          <a:xfrm>
            <a:off x="6406744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</a:t>
            </a:r>
            <a:endParaRPr lang="en-US" sz="1450" dirty="0"/>
          </a:p>
        </p:txBody>
      </p:sp>
      <p:sp>
        <p:nvSpPr>
          <p:cNvPr id="84" name="bld7_302"/>
          <p:cNvSpPr txBox="1"/>
          <p:nvPr/>
        </p:nvSpPr>
        <p:spPr>
          <a:xfrm>
            <a:off x="6406744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Labdanum, resins, warmth</a:t>
            </a:r>
            <a:endParaRPr lang="en-US" sz="1080" dirty="0"/>
          </a:p>
        </p:txBody>
      </p:sp>
      <p:sp>
        <p:nvSpPr>
          <p:cNvPr id="85" name="bld8_303"/>
          <p:cNvSpPr/>
          <p:nvPr/>
        </p:nvSpPr>
        <p:spPr>
          <a:xfrm>
            <a:off x="9061475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6" name="Shape 84"/>
          <p:cNvSpPr/>
          <p:nvPr/>
        </p:nvSpPr>
        <p:spPr>
          <a:xfrm>
            <a:off x="10041369" y="3505200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87" name="Shape 85"/>
          <p:cNvSpPr/>
          <p:nvPr/>
        </p:nvSpPr>
        <p:spPr>
          <a:xfrm>
            <a:off x="10129166" y="3665747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0041369" y="3505200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89" name="bld8_305"/>
          <p:cNvSpPr txBox="1"/>
          <p:nvPr/>
        </p:nvSpPr>
        <p:spPr>
          <a:xfrm>
            <a:off x="9244355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</a:t>
            </a:r>
            <a:endParaRPr lang="en-US" sz="1450" dirty="0"/>
          </a:p>
        </p:txBody>
      </p:sp>
      <p:sp>
        <p:nvSpPr>
          <p:cNvPr id="90" name="bld8_306"/>
          <p:cNvSpPr txBox="1"/>
          <p:nvPr/>
        </p:nvSpPr>
        <p:spPr>
          <a:xfrm>
            <a:off x="9244355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skin, soft, radiant</a:t>
            </a:r>
            <a:endParaRPr lang="en-US" sz="1080" dirty="0"/>
          </a:p>
        </p:txBody>
      </p:sp>
      <p:sp>
        <p:nvSpPr>
          <p:cNvPr id="91" name="bld9_307"/>
          <p:cNvSpPr/>
          <p:nvPr/>
        </p:nvSpPr>
        <p:spPr>
          <a:xfrm>
            <a:off x="548640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2" name="Shape 90"/>
          <p:cNvSpPr/>
          <p:nvPr/>
        </p:nvSpPr>
        <p:spPr>
          <a:xfrm>
            <a:off x="1528534" y="5145024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93" name="Shape 91"/>
          <p:cNvSpPr/>
          <p:nvPr/>
        </p:nvSpPr>
        <p:spPr>
          <a:xfrm rot="840000">
            <a:off x="1781230" y="5225546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 rot="840000">
            <a:off x="1833944" y="5281321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784868" y="529465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6" name="Shape 94"/>
          <p:cNvSpPr/>
          <p:nvPr/>
        </p:nvSpPr>
        <p:spPr>
          <a:xfrm>
            <a:off x="1802328" y="535479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7" name="Shape 95"/>
          <p:cNvSpPr/>
          <p:nvPr/>
        </p:nvSpPr>
        <p:spPr>
          <a:xfrm>
            <a:off x="1819787" y="541493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8" name="Shape 96"/>
          <p:cNvSpPr/>
          <p:nvPr/>
        </p:nvSpPr>
        <p:spPr>
          <a:xfrm>
            <a:off x="1837247" y="547507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9" name="Shape 97"/>
          <p:cNvSpPr/>
          <p:nvPr/>
        </p:nvSpPr>
        <p:spPr>
          <a:xfrm>
            <a:off x="1854707" y="553521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00" name="Shape 98"/>
          <p:cNvSpPr/>
          <p:nvPr/>
        </p:nvSpPr>
        <p:spPr>
          <a:xfrm>
            <a:off x="1872167" y="559535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01" name="Shape 99"/>
          <p:cNvSpPr/>
          <p:nvPr/>
        </p:nvSpPr>
        <p:spPr>
          <a:xfrm>
            <a:off x="1528534" y="5145024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102" name="bld9_309"/>
          <p:cNvSpPr txBox="1"/>
          <p:nvPr/>
        </p:nvSpPr>
        <p:spPr>
          <a:xfrm>
            <a:off x="731520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</a:t>
            </a:r>
            <a:endParaRPr lang="en-US" sz="1450" dirty="0"/>
          </a:p>
        </p:txBody>
      </p:sp>
      <p:sp>
        <p:nvSpPr>
          <p:cNvPr id="103" name="bld9_310"/>
          <p:cNvSpPr txBox="1"/>
          <p:nvPr/>
        </p:nvSpPr>
        <p:spPr>
          <a:xfrm>
            <a:off x="731520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Vanilla, caramel, sugar</a:t>
            </a:r>
            <a:endParaRPr lang="en-US" sz="1080" dirty="0"/>
          </a:p>
        </p:txBody>
      </p:sp>
      <p:sp>
        <p:nvSpPr>
          <p:cNvPr id="104" name="bld10_311"/>
          <p:cNvSpPr/>
          <p:nvPr/>
        </p:nvSpPr>
        <p:spPr>
          <a:xfrm>
            <a:off x="3386252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5" name="Shape 103"/>
          <p:cNvSpPr/>
          <p:nvPr/>
        </p:nvSpPr>
        <p:spPr>
          <a:xfrm>
            <a:off x="4366146" y="5145024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434543" y="5213421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07" name="Shape 105"/>
          <p:cNvSpPr/>
          <p:nvPr/>
        </p:nvSpPr>
        <p:spPr>
          <a:xfrm>
            <a:off x="4496433" y="5334671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08" name="Shape 106"/>
          <p:cNvSpPr/>
          <p:nvPr/>
        </p:nvSpPr>
        <p:spPr>
          <a:xfrm>
            <a:off x="4471410" y="541550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09" name="Shape 107"/>
          <p:cNvSpPr/>
          <p:nvPr/>
        </p:nvSpPr>
        <p:spPr>
          <a:xfrm>
            <a:off x="4471410" y="5496336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0" name="Shape 108"/>
          <p:cNvSpPr/>
          <p:nvPr/>
        </p:nvSpPr>
        <p:spPr>
          <a:xfrm>
            <a:off x="4496433" y="5577169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1" name="Shape 109"/>
          <p:cNvSpPr/>
          <p:nvPr/>
        </p:nvSpPr>
        <p:spPr>
          <a:xfrm>
            <a:off x="4366146" y="5145024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12" name="bld10_313"/>
          <p:cNvSpPr txBox="1"/>
          <p:nvPr/>
        </p:nvSpPr>
        <p:spPr>
          <a:xfrm>
            <a:off x="3569132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Leather</a:t>
            </a:r>
            <a:endParaRPr lang="en-US" sz="1450" dirty="0"/>
          </a:p>
        </p:txBody>
      </p:sp>
      <p:sp>
        <p:nvSpPr>
          <p:cNvPr id="113" name="bld10_314"/>
          <p:cNvSpPr txBox="1"/>
          <p:nvPr/>
        </p:nvSpPr>
        <p:spPr>
          <a:xfrm>
            <a:off x="3569132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Suede, birch tar, smoke</a:t>
            </a:r>
            <a:endParaRPr lang="en-US" sz="1080" dirty="0"/>
          </a:p>
        </p:txBody>
      </p:sp>
      <p:sp>
        <p:nvSpPr>
          <p:cNvPr id="114" name="bld11_315"/>
          <p:cNvSpPr/>
          <p:nvPr/>
        </p:nvSpPr>
        <p:spPr>
          <a:xfrm>
            <a:off x="6223864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5" name="Shape 113"/>
          <p:cNvSpPr/>
          <p:nvPr/>
        </p:nvSpPr>
        <p:spPr>
          <a:xfrm>
            <a:off x="7203758" y="5145024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272155" y="5213421"/>
            <a:ext cx="484998" cy="484998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117" name="Shape 115"/>
          <p:cNvSpPr/>
          <p:nvPr/>
        </p:nvSpPr>
        <p:spPr>
          <a:xfrm>
            <a:off x="7325504" y="5453495"/>
            <a:ext cx="378298" cy="7275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118" name="Shape 116"/>
          <p:cNvSpPr/>
          <p:nvPr/>
        </p:nvSpPr>
        <p:spPr>
          <a:xfrm>
            <a:off x="7325504" y="5392870"/>
            <a:ext cx="378298" cy="7275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119" name="Shape 117"/>
          <p:cNvSpPr/>
          <p:nvPr/>
        </p:nvSpPr>
        <p:spPr>
          <a:xfrm>
            <a:off x="7325504" y="5324971"/>
            <a:ext cx="378298" cy="7275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120" name="Shape 118"/>
          <p:cNvSpPr/>
          <p:nvPr/>
        </p:nvSpPr>
        <p:spPr>
          <a:xfrm>
            <a:off x="7203758" y="5145024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121" name="bld11_317"/>
          <p:cNvSpPr txBox="1"/>
          <p:nvPr/>
        </p:nvSpPr>
        <p:spPr>
          <a:xfrm>
            <a:off x="6406744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Aquatic</a:t>
            </a:r>
            <a:endParaRPr lang="en-US" sz="1450" dirty="0"/>
          </a:p>
        </p:txBody>
      </p:sp>
      <p:sp>
        <p:nvSpPr>
          <p:cNvPr id="122" name="bld11_318"/>
          <p:cNvSpPr txBox="1"/>
          <p:nvPr/>
        </p:nvSpPr>
        <p:spPr>
          <a:xfrm>
            <a:off x="6406744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 air, ozone, melon</a:t>
            </a:r>
            <a:endParaRPr lang="en-US" sz="1080" dirty="0"/>
          </a:p>
        </p:txBody>
      </p:sp>
      <p:sp>
        <p:nvSpPr>
          <p:cNvPr id="123" name="bld12_319"/>
          <p:cNvSpPr/>
          <p:nvPr/>
        </p:nvSpPr>
        <p:spPr>
          <a:xfrm>
            <a:off x="9061475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4" name="Shape 122"/>
          <p:cNvSpPr/>
          <p:nvPr/>
        </p:nvSpPr>
        <p:spPr>
          <a:xfrm>
            <a:off x="10041369" y="5145024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125" name="Shape 123"/>
          <p:cNvSpPr/>
          <p:nvPr/>
        </p:nvSpPr>
        <p:spPr>
          <a:xfrm rot="9000000">
            <a:off x="10231016" y="5344371"/>
            <a:ext cx="281299" cy="281299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126" name="Shape 124"/>
          <p:cNvSpPr/>
          <p:nvPr/>
        </p:nvSpPr>
        <p:spPr>
          <a:xfrm rot="6000000">
            <a:off x="10167966" y="5315271"/>
            <a:ext cx="174599" cy="174599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127" name="Shape 125"/>
          <p:cNvSpPr/>
          <p:nvPr/>
        </p:nvSpPr>
        <p:spPr>
          <a:xfrm rot="11400000">
            <a:off x="10366815" y="5286171"/>
            <a:ext cx="145499" cy="145499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128" name="Shape 126"/>
          <p:cNvSpPr/>
          <p:nvPr/>
        </p:nvSpPr>
        <p:spPr>
          <a:xfrm>
            <a:off x="10041369" y="5145024"/>
            <a:ext cx="621792" cy="621792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129" name="bld12_321"/>
          <p:cNvSpPr txBox="1"/>
          <p:nvPr/>
        </p:nvSpPr>
        <p:spPr>
          <a:xfrm>
            <a:off x="9244355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Spicy</a:t>
            </a:r>
            <a:endParaRPr lang="en-US" sz="1450" dirty="0"/>
          </a:p>
        </p:txBody>
      </p:sp>
      <p:sp>
        <p:nvSpPr>
          <p:cNvPr id="130" name="bld12_322"/>
          <p:cNvSpPr txBox="1"/>
          <p:nvPr/>
        </p:nvSpPr>
        <p:spPr>
          <a:xfrm>
            <a:off x="9244355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Pepper, clove, cinnamon</a:t>
            </a:r>
            <a:endParaRPr lang="en-US" sz="1080" dirty="0"/>
          </a:p>
        </p:txBody>
      </p:sp>
      <p:sp>
        <p:nvSpPr>
          <p:cNvPr id="132" name="trans_fade_2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33" name="Text 1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9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8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3" grpId="0"/>
      <p:bldP spid="24" grpId="0"/>
      <p:bldP spid="25" grpId="0"/>
      <p:bldP spid="34" grpId="0"/>
      <p:bldP spid="35" grpId="0"/>
      <p:bldP spid="36" grpId="0"/>
      <p:bldP spid="42" grpId="0"/>
      <p:bldP spid="43" grpId="0"/>
      <p:bldP spid="44" grpId="0"/>
      <p:bldP spid="52" grpId="0"/>
      <p:bldP spid="53" grpId="0"/>
      <p:bldP spid="54" grpId="0"/>
      <p:bldP spid="66" grpId="0"/>
      <p:bldP spid="67" grpId="0"/>
      <p:bldP spid="68" grpId="0"/>
      <p:bldP spid="75" grpId="0"/>
      <p:bldP spid="76" grpId="0"/>
      <p:bldP spid="77" grpId="0"/>
      <p:bldP spid="83" grpId="0"/>
      <p:bldP spid="84" grpId="0"/>
      <p:bldP spid="85" grpId="0"/>
      <p:bldP spid="89" grpId="0"/>
      <p:bldP spid="90" grpId="0"/>
      <p:bldP spid="91" grpId="0"/>
      <p:bldP spid="102" grpId="0"/>
      <p:bldP spid="103" grpId="0"/>
      <p:bldP spid="104" grpId="0"/>
      <p:bldP spid="112" grpId="0"/>
      <p:bldP spid="113" grpId="0"/>
      <p:bldP spid="114" grpId="0"/>
      <p:bldP spid="121" grpId="0"/>
      <p:bldP spid="122" grpId="0"/>
      <p:bldP spid="123" grpId="0"/>
      <p:bldP spid="129" grpId="0"/>
      <p:bldP spid="130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PLAYTIME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perfumery myths, busted</a:t>
            </a:r>
            <a:endParaRPr lang="en-US" sz="3200" dirty="0"/>
          </a:p>
        </p:txBody>
      </p:sp>
      <p:sp>
        <p:nvSpPr>
          <p:cNvPr id="7" name="bld1_323"/>
          <p:cNvSpPr/>
          <p:nvPr/>
        </p:nvSpPr>
        <p:spPr>
          <a:xfrm>
            <a:off x="548640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324"/>
          <p:cNvSpPr txBox="1"/>
          <p:nvPr/>
        </p:nvSpPr>
        <p:spPr>
          <a:xfrm>
            <a:off x="749808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9" name="bld1_325"/>
          <p:cNvSpPr txBox="1"/>
          <p:nvPr/>
        </p:nvSpPr>
        <p:spPr>
          <a:xfrm>
            <a:off x="749808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is always better</a:t>
            </a:r>
            <a:endParaRPr lang="en-US" sz="1350" dirty="0"/>
          </a:p>
        </p:txBody>
      </p:sp>
      <p:sp>
        <p:nvSpPr>
          <p:cNvPr id="10" name="bld1_326"/>
          <p:cNvSpPr txBox="1"/>
          <p:nvPr/>
        </p:nvSpPr>
        <p:spPr>
          <a:xfrm>
            <a:off x="749808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11" name="bld1_327"/>
          <p:cNvSpPr txBox="1"/>
          <p:nvPr/>
        </p:nvSpPr>
        <p:spPr>
          <a:xfrm>
            <a:off x="749808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Naturals bring soul; synthetics bring precision, safety and effects naturals can't. Great perfumery uses both.</a:t>
            </a:r>
            <a:endParaRPr lang="en-US" sz="1080" dirty="0"/>
          </a:p>
        </p:txBody>
      </p:sp>
      <p:sp>
        <p:nvSpPr>
          <p:cNvPr id="12" name="bld2_328"/>
          <p:cNvSpPr/>
          <p:nvPr/>
        </p:nvSpPr>
        <p:spPr>
          <a:xfrm>
            <a:off x="4332122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329"/>
          <p:cNvSpPr txBox="1"/>
          <p:nvPr/>
        </p:nvSpPr>
        <p:spPr>
          <a:xfrm>
            <a:off x="4533290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14" name="bld2_330"/>
          <p:cNvSpPr txBox="1"/>
          <p:nvPr/>
        </p:nvSpPr>
        <p:spPr>
          <a:xfrm>
            <a:off x="4533290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oil means stronger</a:t>
            </a:r>
            <a:endParaRPr lang="en-US" sz="1350" dirty="0"/>
          </a:p>
        </p:txBody>
      </p:sp>
      <p:sp>
        <p:nvSpPr>
          <p:cNvPr id="15" name="bld2_331"/>
          <p:cNvSpPr txBox="1"/>
          <p:nvPr/>
        </p:nvSpPr>
        <p:spPr>
          <a:xfrm>
            <a:off x="4533290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16" name="bld2_332"/>
          <p:cNvSpPr txBox="1"/>
          <p:nvPr/>
        </p:nvSpPr>
        <p:spPr>
          <a:xfrm>
            <a:off x="4533290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choice, not raw %, drives strength. A well-built low-concentrate formula can outperform a poorly built rich one.</a:t>
            </a:r>
            <a:endParaRPr lang="en-US" sz="1080" dirty="0"/>
          </a:p>
        </p:txBody>
      </p:sp>
      <p:sp>
        <p:nvSpPr>
          <p:cNvPr id="17" name="bld3_333"/>
          <p:cNvSpPr/>
          <p:nvPr/>
        </p:nvSpPr>
        <p:spPr>
          <a:xfrm>
            <a:off x="8115605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334"/>
          <p:cNvSpPr txBox="1"/>
          <p:nvPr/>
        </p:nvSpPr>
        <p:spPr>
          <a:xfrm>
            <a:off x="8316773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19" name="bld3_335"/>
          <p:cNvSpPr txBox="1"/>
          <p:nvPr/>
        </p:nvSpPr>
        <p:spPr>
          <a:xfrm>
            <a:off x="8316773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means fake</a:t>
            </a:r>
            <a:endParaRPr lang="en-US" sz="1350" dirty="0"/>
          </a:p>
        </p:txBody>
      </p:sp>
      <p:sp>
        <p:nvSpPr>
          <p:cNvPr id="20" name="bld3_336"/>
          <p:cNvSpPr txBox="1"/>
          <p:nvPr/>
        </p:nvSpPr>
        <p:spPr>
          <a:xfrm>
            <a:off x="8316773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21" name="bld3_337"/>
          <p:cNvSpPr txBox="1"/>
          <p:nvPr/>
        </p:nvSpPr>
        <p:spPr>
          <a:xfrm>
            <a:off x="8316773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synthetics smell nothing like an approximation — they're original, beautiful materials with no natural equivalent.</a:t>
            </a:r>
            <a:endParaRPr lang="en-US" sz="1080" dirty="0"/>
          </a:p>
        </p:txBody>
      </p:sp>
      <p:sp>
        <p:nvSpPr>
          <p:cNvPr id="22" name="bld4_338"/>
          <p:cNvSpPr/>
          <p:nvPr/>
        </p:nvSpPr>
        <p:spPr>
          <a:xfrm>
            <a:off x="548640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339"/>
          <p:cNvSpPr txBox="1"/>
          <p:nvPr/>
        </p:nvSpPr>
        <p:spPr>
          <a:xfrm>
            <a:off x="749808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24" name="bld4_340"/>
          <p:cNvSpPr txBox="1"/>
          <p:nvPr/>
        </p:nvSpPr>
        <p:spPr>
          <a:xfrm>
            <a:off x="749808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Expensive material = better perfume</a:t>
            </a:r>
            <a:endParaRPr lang="en-US" sz="1350" dirty="0"/>
          </a:p>
        </p:txBody>
      </p:sp>
      <p:sp>
        <p:nvSpPr>
          <p:cNvPr id="25" name="bld4_341"/>
          <p:cNvSpPr txBox="1"/>
          <p:nvPr/>
        </p:nvSpPr>
        <p:spPr>
          <a:xfrm>
            <a:off x="749808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26" name="bld4_342"/>
          <p:cNvSpPr txBox="1"/>
          <p:nvPr/>
        </p:nvSpPr>
        <p:spPr>
          <a:xfrm>
            <a:off x="749808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reflects rarity and extraction cost, not olfactory value. Cheap materials can be the hero of a formula.</a:t>
            </a:r>
            <a:endParaRPr lang="en-US" sz="1080" dirty="0"/>
          </a:p>
        </p:txBody>
      </p:sp>
      <p:sp>
        <p:nvSpPr>
          <p:cNvPr id="27" name="bld5_343"/>
          <p:cNvSpPr/>
          <p:nvPr/>
        </p:nvSpPr>
        <p:spPr>
          <a:xfrm>
            <a:off x="4332122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344"/>
          <p:cNvSpPr txBox="1"/>
          <p:nvPr/>
        </p:nvSpPr>
        <p:spPr>
          <a:xfrm>
            <a:off x="4533290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29" name="bld5_345"/>
          <p:cNvSpPr txBox="1"/>
          <p:nvPr/>
        </p:nvSpPr>
        <p:spPr>
          <a:xfrm>
            <a:off x="4533290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/ heart / base must separate perfectly</a:t>
            </a:r>
            <a:endParaRPr lang="en-US" sz="1350" dirty="0"/>
          </a:p>
        </p:txBody>
      </p:sp>
      <p:sp>
        <p:nvSpPr>
          <p:cNvPr id="30" name="bld5_346"/>
          <p:cNvSpPr txBox="1"/>
          <p:nvPr/>
        </p:nvSpPr>
        <p:spPr>
          <a:xfrm>
            <a:off x="4533290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31" name="bld5_347"/>
          <p:cNvSpPr txBox="1"/>
          <p:nvPr/>
        </p:nvSpPr>
        <p:spPr>
          <a:xfrm>
            <a:off x="4533290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materials span multiple layers at once — the pyramid is a teaching model, not a physical law.</a:t>
            </a:r>
            <a:endParaRPr lang="en-US" sz="1080" dirty="0"/>
          </a:p>
        </p:txBody>
      </p:sp>
      <p:sp>
        <p:nvSpPr>
          <p:cNvPr id="32" name="bld6_348"/>
          <p:cNvSpPr/>
          <p:nvPr/>
        </p:nvSpPr>
        <p:spPr>
          <a:xfrm>
            <a:off x="8115605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bld6_349"/>
          <p:cNvSpPr txBox="1"/>
          <p:nvPr/>
        </p:nvSpPr>
        <p:spPr>
          <a:xfrm>
            <a:off x="8316773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34" name="bld6_350"/>
          <p:cNvSpPr txBox="1"/>
          <p:nvPr/>
        </p:nvSpPr>
        <p:spPr>
          <a:xfrm>
            <a:off x="8316773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materials = more complexity</a:t>
            </a:r>
            <a:endParaRPr lang="en-US" sz="1350" dirty="0"/>
          </a:p>
        </p:txBody>
      </p:sp>
      <p:sp>
        <p:nvSpPr>
          <p:cNvPr id="35" name="bld6_351"/>
          <p:cNvSpPr txBox="1"/>
          <p:nvPr/>
        </p:nvSpPr>
        <p:spPr>
          <a:xfrm>
            <a:off x="8316773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36" name="bld6_352"/>
          <p:cNvSpPr txBox="1"/>
          <p:nvPr/>
        </p:nvSpPr>
        <p:spPr>
          <a:xfrm>
            <a:off x="8316773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comes from how materials interact, not how many are in the beaker. Restraint is a skill.</a:t>
            </a:r>
            <a:endParaRPr lang="en-US" sz="1080" dirty="0"/>
          </a:p>
        </p:txBody>
      </p:sp>
      <p:sp>
        <p:nvSpPr>
          <p:cNvPr id="38" name="trans_fade_2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9" name="Text 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75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6E7A5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6E7A50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6E7A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pyramid, the percentages, the categories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 maps — not the territory. Learn them,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learn when real formulas break them.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01</a:t>
            </a:r>
            <a:endParaRPr lang="en-US" sz="1100" dirty="0"/>
          </a:p>
        </p:txBody>
      </p:sp>
      <p:sp>
        <p:nvSpPr>
          <p:cNvPr id="10" name="trans_fade_2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64447" y="3824387"/>
            <a:ext cx="1805026" cy="593080"/>
          </a:xfrm>
          <a:prstGeom prst="roundRect">
            <a:avLst>
              <a:gd name="adj" fmla="val 9251"/>
            </a:avLst>
          </a:prstGeom>
          <a:solidFill>
            <a:srgbClr val="B5652D">
              <a:alpha val="80000"/>
            </a:srgbClr>
          </a:solidFill>
          <a:ln w="12700">
            <a:solidFill>
              <a:srgbClr val="B5652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69854" y="2737074"/>
            <a:ext cx="794211" cy="1146621"/>
          </a:xfrm>
          <a:prstGeom prst="roundRect">
            <a:avLst>
              <a:gd name="adj" fmla="val 3454"/>
            </a:avLst>
          </a:prstGeom>
          <a:solidFill>
            <a:srgbClr val="FAF6EC"/>
          </a:solidFill>
          <a:ln w="12700">
            <a:solidFill>
              <a:srgbClr val="B5652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962388" y="2440534"/>
            <a:ext cx="914" cy="316309"/>
          </a:xfrm>
          <a:prstGeom prst="line">
            <a:avLst/>
          </a:prstGeom>
          <a:noFill/>
          <a:ln w="25400">
            <a:solidFill>
              <a:srgbClr val="B5652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02 · EQUIPMENT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Your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 Laboratory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need a professional lab to start — you need the right small set of tools, chosen for accuracy.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0.001g scale is non-negotiable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Pipettes, bottles, strips — and what each is for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 vs. nice-to-have, and common mistakes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  <p:sp>
        <p:nvSpPr>
          <p:cNvPr id="21" name="trans_fade_2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01 · THE NON-NEGOTIABLE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scale is your accuracy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8C3B49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8C3B49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39057" y="1689921"/>
            <a:ext cx="3017301" cy="3017301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1" name="Shape 9"/>
          <p:cNvSpPr/>
          <p:nvPr/>
        </p:nvSpPr>
        <p:spPr>
          <a:xfrm flipV="1">
            <a:off x="9547708" y="2939687"/>
            <a:ext cx="582490" cy="258884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30197" y="2939687"/>
            <a:ext cx="582490" cy="323605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130197" y="3263292"/>
            <a:ext cx="582490" cy="517769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59381" y="3781061"/>
            <a:ext cx="970816" cy="9144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9159381" y="3198571"/>
            <a:ext cx="388327" cy="582490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835776" y="2874966"/>
            <a:ext cx="711932" cy="323605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444154" y="3095017"/>
            <a:ext cx="207108" cy="207108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055768" y="2865258"/>
            <a:ext cx="148859" cy="148859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638258" y="3188863"/>
            <a:ext cx="148859" cy="148859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55768" y="3706632"/>
            <a:ext cx="148859" cy="148859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84952" y="3706632"/>
            <a:ext cx="148859" cy="148859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761346" y="2800536"/>
            <a:ext cx="148859" cy="148859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39057" y="1689921"/>
            <a:ext cx="3017301" cy="3017301"/>
          </a:xfrm>
          <a:prstGeom prst="ellipse">
            <a:avLst/>
          </a:prstGeom>
          <a:ln w="25603">
            <a:solidFill>
              <a:srgbClr val="B5652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0.01g kitchen scale cannot see a 0.05g dose. Don't guess where you can measure.</a:t>
            </a:r>
            <a:endParaRPr lang="en-US" sz="1050" dirty="0"/>
          </a:p>
        </p:txBody>
      </p:sp>
      <p:sp>
        <p:nvSpPr>
          <p:cNvPr id="25" name="bld1_353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6" name="bld1_354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0.001g readability, ~200g capacity</a:t>
            </a:r>
            <a:endParaRPr lang="en-US" sz="1650" dirty="0"/>
          </a:p>
        </p:txBody>
      </p:sp>
      <p:sp>
        <p:nvSpPr>
          <p:cNvPr id="27" name="bld1_355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sweet spot for perfumery — precise enough for trace materials, large enough for real batches.</a:t>
            </a:r>
            <a:endParaRPr lang="en-US" sz="1250" dirty="0"/>
          </a:p>
        </p:txBody>
      </p:sp>
      <p:sp>
        <p:nvSpPr>
          <p:cNvPr id="28" name="bld2_356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9" name="bld2_357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0.001g matters</a:t>
            </a:r>
            <a:endParaRPr lang="en-US" sz="1650" dirty="0"/>
          </a:p>
        </p:txBody>
      </p:sp>
      <p:sp>
        <p:nvSpPr>
          <p:cNvPr id="30" name="bld2_358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materials are used at fractions of a percent. A 0.01g scale simply cannot see doses that small.</a:t>
            </a:r>
            <a:endParaRPr lang="en-US" sz="1250" dirty="0"/>
          </a:p>
        </p:txBody>
      </p:sp>
      <p:sp>
        <p:nvSpPr>
          <p:cNvPr id="31" name="bld3_359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2" name="bld3_360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Repeatability over price</a:t>
            </a:r>
            <a:endParaRPr lang="en-US" sz="1650" dirty="0"/>
          </a:p>
        </p:txBody>
      </p:sp>
      <p:sp>
        <p:nvSpPr>
          <p:cNvPr id="33" name="bld3_361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cheap scale that gives a different reading each time is worse than useless — it teaches you the wrong lesson.</a:t>
            </a:r>
            <a:endParaRPr lang="en-US" sz="1250" dirty="0"/>
          </a:p>
        </p:txBody>
      </p:sp>
      <p:sp>
        <p:nvSpPr>
          <p:cNvPr id="34" name="bld4_362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4_363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Calibration &amp; max capacity</a:t>
            </a:r>
            <a:endParaRPr lang="en-US" sz="1650" dirty="0"/>
          </a:p>
        </p:txBody>
      </p:sp>
      <p:sp>
        <p:nvSpPr>
          <p:cNvPr id="36" name="bld4_364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regularly with a reference weight, and respect the scale's stated capacity — overloading degrades accuracy.</a:t>
            </a:r>
            <a:endParaRPr lang="en-US" sz="1250" dirty="0"/>
          </a:p>
        </p:txBody>
      </p:sp>
      <p:sp>
        <p:nvSpPr>
          <p:cNvPr id="38" name="trans_fade_2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9" name="Text 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Disposable pipettes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90499" y="1941363"/>
            <a:ext cx="2514417" cy="2514417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11" name="Shape 9"/>
          <p:cNvSpPr/>
          <p:nvPr/>
        </p:nvSpPr>
        <p:spPr>
          <a:xfrm>
            <a:off x="9385905" y="2433686"/>
            <a:ext cx="323605" cy="339786"/>
          </a:xfrm>
          <a:prstGeom prst="ellipse">
            <a:avLst/>
          </a:prstGeom>
          <a:solidFill>
            <a:srgbClr val="6E7A50">
              <a:alpha val="85000"/>
            </a:srgbClr>
          </a:solidFill>
          <a:ln w="12700">
            <a:solidFill>
              <a:srgbClr val="6E7A5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36735" y="2757291"/>
            <a:ext cx="914" cy="911979"/>
          </a:xfrm>
          <a:prstGeom prst="line">
            <a:avLst/>
          </a:prstGeom>
          <a:noFill/>
          <a:ln w="28575">
            <a:solidFill>
              <a:srgbClr val="6E7A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10800000">
            <a:off x="9503580" y="3669270"/>
            <a:ext cx="88256" cy="235349"/>
          </a:xfrm>
          <a:prstGeom prst="triangl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290499" y="1941363"/>
            <a:ext cx="2514417" cy="2514417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cheap, and it solves the one problem that actually matters: no cross-contamination.</a:t>
            </a:r>
            <a:endParaRPr lang="en-US" sz="1050" dirty="0"/>
          </a:p>
        </p:txBody>
      </p:sp>
      <p:sp>
        <p:nvSpPr>
          <p:cNvPr id="16" name="bld1_365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bld1_366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Cheap, fast, zero cleanup</a:t>
            </a:r>
            <a:endParaRPr lang="en-US" sz="1650" dirty="0"/>
          </a:p>
        </p:txBody>
      </p:sp>
      <p:sp>
        <p:nvSpPr>
          <p:cNvPr id="18" name="bld1_367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box of disposable plastic pipettes is all you need to transfer and dose materials accurately.</a:t>
            </a:r>
            <a:endParaRPr lang="en-US" sz="1250" dirty="0"/>
          </a:p>
        </p:txBody>
      </p:sp>
      <p:sp>
        <p:nvSpPr>
          <p:cNvPr id="19" name="bld2_368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2_369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pipette per material</a:t>
            </a:r>
            <a:endParaRPr lang="en-US" sz="1650" dirty="0"/>
          </a:p>
        </p:txBody>
      </p:sp>
      <p:sp>
        <p:nvSpPr>
          <p:cNvPr id="21" name="bld2_370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reuse a pipette across different materials — even a trace of cross-contamination ruins a reading.</a:t>
            </a:r>
            <a:endParaRPr lang="en-US" sz="1250" dirty="0"/>
          </a:p>
        </p:txBody>
      </p:sp>
      <p:sp>
        <p:nvSpPr>
          <p:cNvPr id="22" name="bld3_371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3" name="bld3_372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Throw it away, don't rinse it</a:t>
            </a:r>
            <a:endParaRPr lang="en-US" sz="1650" dirty="0"/>
          </a:p>
        </p:txBody>
      </p:sp>
      <p:sp>
        <p:nvSpPr>
          <p:cNvPr id="24" name="bld3_373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Rinsing costs more time and solvent than a fresh pipette costs — that's the entire point of disposables.</a:t>
            </a:r>
            <a:endParaRPr lang="en-US" sz="1250" dirty="0"/>
          </a:p>
        </p:txBody>
      </p:sp>
      <p:sp>
        <p:nvSpPr>
          <p:cNvPr id="26" name="trans_fade_2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03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Bottles for every stage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20967" y="4986731"/>
            <a:ext cx="1293775" cy="1293775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72724" y="5538488"/>
            <a:ext cx="190261" cy="190261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374"/>
          <p:cNvSpPr/>
          <p:nvPr/>
        </p:nvSpPr>
        <p:spPr>
          <a:xfrm>
            <a:off x="548640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2" name="Shape 10"/>
          <p:cNvSpPr/>
          <p:nvPr/>
        </p:nvSpPr>
        <p:spPr>
          <a:xfrm>
            <a:off x="1810033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13" name="Shape 11"/>
          <p:cNvSpPr/>
          <p:nvPr/>
        </p:nvSpPr>
        <p:spPr>
          <a:xfrm>
            <a:off x="1813868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48136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84712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7" name="bld1_376"/>
          <p:cNvSpPr txBox="1"/>
          <p:nvPr/>
        </p:nvSpPr>
        <p:spPr>
          <a:xfrm>
            <a:off x="731520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 glass bottles</a:t>
            </a:r>
            <a:endParaRPr lang="en-US" sz="1450" dirty="0"/>
          </a:p>
        </p:txBody>
      </p:sp>
      <p:sp>
        <p:nvSpPr>
          <p:cNvPr id="18" name="bld1_377"/>
          <p:cNvSpPr txBox="1"/>
          <p:nvPr/>
        </p:nvSpPr>
        <p:spPr>
          <a:xfrm>
            <a:off x="731520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UV-protective storage for raw materials and dilutions.</a:t>
            </a:r>
            <a:endParaRPr lang="en-US" sz="1080" dirty="0"/>
          </a:p>
        </p:txBody>
      </p:sp>
      <p:sp>
        <p:nvSpPr>
          <p:cNvPr id="19" name="bld2_378"/>
          <p:cNvSpPr/>
          <p:nvPr/>
        </p:nvSpPr>
        <p:spPr>
          <a:xfrm>
            <a:off x="3386252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1" name="Shape 19"/>
          <p:cNvSpPr/>
          <p:nvPr/>
        </p:nvSpPr>
        <p:spPr>
          <a:xfrm>
            <a:off x="4647645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22" name="Shape 20"/>
          <p:cNvSpPr/>
          <p:nvPr/>
        </p:nvSpPr>
        <p:spPr>
          <a:xfrm>
            <a:off x="4651479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85748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22324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26" name="bld2_380"/>
          <p:cNvSpPr txBox="1"/>
          <p:nvPr/>
        </p:nvSpPr>
        <p:spPr>
          <a:xfrm>
            <a:off x="3569132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 vials</a:t>
            </a:r>
            <a:endParaRPr lang="en-US" sz="1450" dirty="0"/>
          </a:p>
        </p:txBody>
      </p:sp>
      <p:sp>
        <p:nvSpPr>
          <p:cNvPr id="27" name="bld2_381"/>
          <p:cNvSpPr txBox="1"/>
          <p:nvPr/>
        </p:nvSpPr>
        <p:spPr>
          <a:xfrm>
            <a:off x="3569132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volumes for evaluation batches and giving out samples.</a:t>
            </a:r>
            <a:endParaRPr lang="en-US" sz="1080" dirty="0"/>
          </a:p>
        </p:txBody>
      </p:sp>
      <p:sp>
        <p:nvSpPr>
          <p:cNvPr id="28" name="bld3_382"/>
          <p:cNvSpPr/>
          <p:nvPr/>
        </p:nvSpPr>
        <p:spPr>
          <a:xfrm>
            <a:off x="6223864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0" name="Shape 28"/>
          <p:cNvSpPr/>
          <p:nvPr/>
        </p:nvSpPr>
        <p:spPr>
          <a:xfrm>
            <a:off x="7485257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31" name="Shape 29"/>
          <p:cNvSpPr/>
          <p:nvPr/>
        </p:nvSpPr>
        <p:spPr>
          <a:xfrm>
            <a:off x="7489091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23360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459936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35" name="bld3_384"/>
          <p:cNvSpPr txBox="1"/>
          <p:nvPr/>
        </p:nvSpPr>
        <p:spPr>
          <a:xfrm>
            <a:off x="6406744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Dilution bottles</a:t>
            </a:r>
            <a:endParaRPr lang="en-US" sz="1450" dirty="0"/>
          </a:p>
        </p:txBody>
      </p:sp>
      <p:sp>
        <p:nvSpPr>
          <p:cNvPr id="36" name="bld3_385"/>
          <p:cNvSpPr txBox="1"/>
          <p:nvPr/>
        </p:nvSpPr>
        <p:spPr>
          <a:xfrm>
            <a:off x="6406744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bottles per dilution strength, clearly labelled.</a:t>
            </a:r>
            <a:endParaRPr lang="en-US" sz="1080" dirty="0"/>
          </a:p>
        </p:txBody>
      </p:sp>
      <p:sp>
        <p:nvSpPr>
          <p:cNvPr id="37" name="bld4_386"/>
          <p:cNvSpPr/>
          <p:nvPr/>
        </p:nvSpPr>
        <p:spPr>
          <a:xfrm>
            <a:off x="9061475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9" name="Shape 37"/>
          <p:cNvSpPr/>
          <p:nvPr/>
        </p:nvSpPr>
        <p:spPr>
          <a:xfrm>
            <a:off x="10322869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40" name="Shape 38"/>
          <p:cNvSpPr/>
          <p:nvPr/>
        </p:nvSpPr>
        <p:spPr>
          <a:xfrm>
            <a:off x="10326703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260972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297548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4" name="bld4_388"/>
          <p:cNvSpPr txBox="1"/>
          <p:nvPr/>
        </p:nvSpPr>
        <p:spPr>
          <a:xfrm>
            <a:off x="9244355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storage</a:t>
            </a:r>
            <a:endParaRPr lang="en-US" sz="1450" dirty="0"/>
          </a:p>
        </p:txBody>
      </p:sp>
      <p:sp>
        <p:nvSpPr>
          <p:cNvPr id="45" name="bld4_389"/>
          <p:cNvSpPr txBox="1"/>
          <p:nvPr/>
        </p:nvSpPr>
        <p:spPr>
          <a:xfrm>
            <a:off x="9244355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bottles for macerating and storing finished compounds.</a:t>
            </a:r>
            <a:endParaRPr lang="en-US" sz="1080" dirty="0"/>
          </a:p>
        </p:txBody>
      </p:sp>
      <p:sp>
        <p:nvSpPr>
          <p:cNvPr id="47" name="trans_fade_2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8" name="Text 4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7" grpId="0"/>
      <p:bldP spid="18" grpId="0"/>
      <p:bldP spid="19" grpId="0"/>
      <p:bldP spid="26" grpId="0"/>
      <p:bldP spid="27" grpId="0"/>
      <p:bldP spid="28" grpId="0"/>
      <p:bldP spid="35" grpId="0"/>
      <p:bldP spid="36" grpId="0"/>
      <p:bldP spid="37" grpId="0"/>
      <p:bldP spid="44" grpId="0"/>
      <p:bldP spid="4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04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Scent strips — your primary instrument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B3A52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B3A52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4267" y="2402339"/>
            <a:ext cx="1592464" cy="1592464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1" name="Shape 9"/>
          <p:cNvSpPr/>
          <p:nvPr/>
        </p:nvSpPr>
        <p:spPr>
          <a:xfrm>
            <a:off x="8247025" y="2776250"/>
            <a:ext cx="92911" cy="844643"/>
          </a:xfrm>
          <a:prstGeom prst="roundRect">
            <a:avLst>
              <a:gd name="adj" fmla="val 1968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60741" y="3350607"/>
            <a:ext cx="65479" cy="251998"/>
          </a:xfrm>
          <a:prstGeom prst="roundRect">
            <a:avLst>
              <a:gd name="adj" fmla="val 20947"/>
            </a:avLst>
          </a:prstGeom>
          <a:solidFill>
            <a:srgbClr val="B5652D">
              <a:alpha val="7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494267" y="2402339"/>
            <a:ext cx="1592464" cy="1592464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32406" y="2402339"/>
            <a:ext cx="1592464" cy="1592464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5" name="Shape 13"/>
          <p:cNvSpPr/>
          <p:nvPr/>
        </p:nvSpPr>
        <p:spPr>
          <a:xfrm>
            <a:off x="9085164" y="2776250"/>
            <a:ext cx="92911" cy="844643"/>
          </a:xfrm>
          <a:prstGeom prst="roundRect">
            <a:avLst>
              <a:gd name="adj" fmla="val 1968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098880" y="3350607"/>
            <a:ext cx="65479" cy="251998"/>
          </a:xfrm>
          <a:prstGeom prst="roundRect">
            <a:avLst>
              <a:gd name="adj" fmla="val 20947"/>
            </a:avLst>
          </a:prstGeom>
          <a:solidFill>
            <a:srgbClr val="6E7A50">
              <a:alpha val="7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332406" y="2402339"/>
            <a:ext cx="1592464" cy="1592464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0545" y="2402339"/>
            <a:ext cx="1592464" cy="1592464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9" name="Shape 17"/>
          <p:cNvSpPr/>
          <p:nvPr/>
        </p:nvSpPr>
        <p:spPr>
          <a:xfrm>
            <a:off x="9923303" y="2776250"/>
            <a:ext cx="92911" cy="844643"/>
          </a:xfrm>
          <a:prstGeom prst="roundRect">
            <a:avLst>
              <a:gd name="adj" fmla="val 1968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937019" y="3350607"/>
            <a:ext cx="65479" cy="251998"/>
          </a:xfrm>
          <a:prstGeom prst="roundRect">
            <a:avLst>
              <a:gd name="adj" fmla="val 20947"/>
            </a:avLst>
          </a:prstGeom>
          <a:solidFill>
            <a:srgbClr val="8C3B49">
              <a:alpha val="7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170545" y="2402339"/>
            <a:ext cx="1592464" cy="1592464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08684" y="2402339"/>
            <a:ext cx="1592464" cy="1592464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3" name="Shape 21"/>
          <p:cNvSpPr/>
          <p:nvPr/>
        </p:nvSpPr>
        <p:spPr>
          <a:xfrm>
            <a:off x="10761442" y="2776250"/>
            <a:ext cx="92911" cy="844643"/>
          </a:xfrm>
          <a:prstGeom prst="roundRect">
            <a:avLst>
              <a:gd name="adj" fmla="val 1968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775158" y="3350607"/>
            <a:ext cx="65479" cy="251998"/>
          </a:xfrm>
          <a:prstGeom prst="roundRect">
            <a:avLst>
              <a:gd name="adj" fmla="val 20947"/>
            </a:avLst>
          </a:prstGeom>
          <a:solidFill>
            <a:srgbClr val="5B3A52">
              <a:alpha val="7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0008684" y="2402339"/>
            <a:ext cx="1592464" cy="1592464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strip, one material, one label — every time.</a:t>
            </a:r>
            <a:endParaRPr lang="en-US" sz="1050" dirty="0"/>
          </a:p>
        </p:txBody>
      </p:sp>
      <p:sp>
        <p:nvSpPr>
          <p:cNvPr id="27" name="bld1_39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8" name="bld1_39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blotters matter</a:t>
            </a:r>
            <a:endParaRPr lang="en-US" sz="1650" dirty="0"/>
          </a:p>
        </p:txBody>
      </p:sp>
      <p:sp>
        <p:nvSpPr>
          <p:cNvPr id="29" name="bld1_392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varies too much between evaluations — a blotter is a consistent, repeatable surface for judging a material.</a:t>
            </a:r>
            <a:endParaRPr lang="en-US" sz="1250" dirty="0"/>
          </a:p>
        </p:txBody>
      </p:sp>
      <p:sp>
        <p:nvSpPr>
          <p:cNvPr id="30" name="bld2_393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1" name="bld2_394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Proper labelling</a:t>
            </a:r>
            <a:endParaRPr lang="en-US" sz="1650" dirty="0"/>
          </a:p>
        </p:txBody>
      </p:sp>
      <p:sp>
        <p:nvSpPr>
          <p:cNvPr id="32" name="bld2_395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material, dilution and date on the strip itself before you dip it — not after.</a:t>
            </a:r>
            <a:endParaRPr lang="en-US" sz="1250" dirty="0"/>
          </a:p>
        </p:txBody>
      </p:sp>
      <p:sp>
        <p:nvSpPr>
          <p:cNvPr id="33" name="bld3_396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4" name="bld3_397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 stamps</a:t>
            </a:r>
            <a:endParaRPr lang="en-US" sz="1650" dirty="0"/>
          </a:p>
        </p:txBody>
      </p:sp>
      <p:sp>
        <p:nvSpPr>
          <p:cNvPr id="35" name="bld3_398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the exact time you dipped it, so later evaluations are measured against a real clock.</a:t>
            </a:r>
            <a:endParaRPr lang="en-US" sz="1250" dirty="0"/>
          </a:p>
        </p:txBody>
      </p:sp>
      <p:sp>
        <p:nvSpPr>
          <p:cNvPr id="36" name="bld4_399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7" name="bld4_400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Drydown evaluation</a:t>
            </a:r>
            <a:endParaRPr lang="en-US" sz="1650" dirty="0"/>
          </a:p>
        </p:txBody>
      </p:sp>
      <p:sp>
        <p:nvSpPr>
          <p:cNvPr id="38" name="bld4_401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strip lets you return to the same sample hours or days later and track how it truly evolves.</a:t>
            </a:r>
            <a:endParaRPr lang="en-US" sz="1250" dirty="0"/>
          </a:p>
        </p:txBody>
      </p:sp>
      <p:sp>
        <p:nvSpPr>
          <p:cNvPr id="40" name="trans_fade_2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1" name="Text 3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KIT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tools that save real time</a:t>
            </a:r>
            <a:endParaRPr lang="en-US" sz="3200" dirty="0"/>
          </a:p>
        </p:txBody>
      </p:sp>
      <p:sp>
        <p:nvSpPr>
          <p:cNvPr id="7" name="bld1_402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9" name="Shape 7"/>
          <p:cNvSpPr/>
          <p:nvPr/>
        </p:nvSpPr>
        <p:spPr>
          <a:xfrm>
            <a:off x="1616331" y="2070180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11" name="bld1_404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Gloves</a:t>
            </a:r>
            <a:endParaRPr lang="en-US" sz="1450" dirty="0"/>
          </a:p>
        </p:txBody>
      </p:sp>
      <p:sp>
        <p:nvSpPr>
          <p:cNvPr id="12" name="bld1_405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Nitrile — many materials irritate or stain skin.</a:t>
            </a:r>
            <a:endParaRPr lang="en-US" sz="1080" dirty="0"/>
          </a:p>
        </p:txBody>
      </p:sp>
      <p:sp>
        <p:nvSpPr>
          <p:cNvPr id="13" name="bld2_406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15" name="Shape 13"/>
          <p:cNvSpPr/>
          <p:nvPr/>
        </p:nvSpPr>
        <p:spPr>
          <a:xfrm>
            <a:off x="4655702" y="2050780"/>
            <a:ext cx="42680" cy="95060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80042" y="2118679"/>
            <a:ext cx="193999" cy="271599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11082" y="2227319"/>
            <a:ext cx="131919" cy="156169"/>
          </a:xfrm>
          <a:prstGeom prst="triangle">
            <a:avLst/>
          </a:prstGeom>
          <a:solidFill>
            <a:srgbClr val="5C8A45">
              <a:alpha val="9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19" name="bld2_408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beakers</a:t>
            </a:r>
            <a:endParaRPr lang="en-US" sz="1450" dirty="0"/>
          </a:p>
        </p:txBody>
      </p:sp>
      <p:sp>
        <p:nvSpPr>
          <p:cNvPr id="20" name="bld2_409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mixing and staging larger batches where needed.</a:t>
            </a:r>
            <a:endParaRPr lang="en-US" sz="1080" dirty="0"/>
          </a:p>
        </p:txBody>
      </p:sp>
      <p:sp>
        <p:nvSpPr>
          <p:cNvPr id="21" name="bld3_410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23" name="Shape 21"/>
          <p:cNvSpPr/>
          <p:nvPr/>
        </p:nvSpPr>
        <p:spPr>
          <a:xfrm>
            <a:off x="7493314" y="2050780"/>
            <a:ext cx="42680" cy="95060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17654" y="2118679"/>
            <a:ext cx="193999" cy="271599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8694" y="2227319"/>
            <a:ext cx="131919" cy="156169"/>
          </a:xfrm>
          <a:prstGeom prst="triangle">
            <a:avLst/>
          </a:prstGeom>
          <a:solidFill>
            <a:srgbClr val="4090AF">
              <a:alpha val="9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27" name="bld3_412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Funnels</a:t>
            </a:r>
            <a:endParaRPr lang="en-US" sz="1450" dirty="0"/>
          </a:p>
        </p:txBody>
      </p:sp>
      <p:sp>
        <p:nvSpPr>
          <p:cNvPr id="28" name="bld3_413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clean, spill-free bottle transfers.</a:t>
            </a:r>
            <a:endParaRPr lang="en-US" sz="1080" dirty="0"/>
          </a:p>
        </p:txBody>
      </p:sp>
      <p:sp>
        <p:nvSpPr>
          <p:cNvPr id="29" name="bld4_414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1" name="Shape 29"/>
          <p:cNvSpPr/>
          <p:nvPr/>
        </p:nvSpPr>
        <p:spPr>
          <a:xfrm>
            <a:off x="10109766" y="1978030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0171657" y="209928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10146633" y="2180112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10146633" y="2260945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10171657" y="2341778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3A281C"/>
            </a:solidFill>
            <a:prstDash val="solid"/>
          </a:ln>
        </p:spPr>
      </p:sp>
      <p:sp>
        <p:nvSpPr>
          <p:cNvPr id="37" name="bld4_416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Weighing boats</a:t>
            </a:r>
            <a:endParaRPr lang="en-US" sz="1450" dirty="0"/>
          </a:p>
        </p:txBody>
      </p:sp>
      <p:sp>
        <p:nvSpPr>
          <p:cNvPr id="38" name="bld4_417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Disposable boats for solids and viscous materials.</a:t>
            </a:r>
            <a:endParaRPr lang="en-US" sz="1080" dirty="0"/>
          </a:p>
        </p:txBody>
      </p:sp>
      <p:sp>
        <p:nvSpPr>
          <p:cNvPr id="39" name="bld5_418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1" name="Shape 39"/>
          <p:cNvSpPr/>
          <p:nvPr/>
        </p:nvSpPr>
        <p:spPr>
          <a:xfrm rot="8100000">
            <a:off x="1718180" y="4458432"/>
            <a:ext cx="242499" cy="242499"/>
          </a:xfrm>
          <a:prstGeom prst="teardrop">
            <a:avLst/>
          </a:prstGeom>
          <a:solidFill>
            <a:srgbClr val="8A6339">
              <a:alpha val="9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3" name="bld5_420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Spatulas</a:t>
            </a:r>
            <a:endParaRPr lang="en-US" sz="1450" dirty="0"/>
          </a:p>
        </p:txBody>
      </p:sp>
      <p:sp>
        <p:nvSpPr>
          <p:cNvPr id="44" name="bld5_421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solid and paste-like materials.</a:t>
            </a:r>
            <a:endParaRPr lang="en-US" sz="1080" dirty="0"/>
          </a:p>
        </p:txBody>
      </p:sp>
      <p:sp>
        <p:nvSpPr>
          <p:cNvPr id="45" name="bld6_422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47" name="Shape 45"/>
          <p:cNvSpPr/>
          <p:nvPr/>
        </p:nvSpPr>
        <p:spPr>
          <a:xfrm>
            <a:off x="4434543" y="4337182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4496433" y="4458432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4471410" y="453926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4471410" y="4620097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4496433" y="470093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53" name="bld6_424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Labels &amp; a marker</a:t>
            </a:r>
            <a:endParaRPr lang="en-US" sz="1450" dirty="0"/>
          </a:p>
        </p:txBody>
      </p:sp>
      <p:sp>
        <p:nvSpPr>
          <p:cNvPr id="54" name="bld6_425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Alcohol-resistant labels and a permanent marker — standard ink smears.</a:t>
            </a:r>
            <a:endParaRPr lang="en-US" sz="1080" dirty="0"/>
          </a:p>
        </p:txBody>
      </p:sp>
      <p:sp>
        <p:nvSpPr>
          <p:cNvPr id="55" name="bld7_426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57" name="Shape 55"/>
          <p:cNvSpPr/>
          <p:nvPr/>
        </p:nvSpPr>
        <p:spPr>
          <a:xfrm>
            <a:off x="7272155" y="4337182"/>
            <a:ext cx="484998" cy="484998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334045" y="4458432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7309021" y="453926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7309021" y="4620097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1" name="Shape 59"/>
          <p:cNvSpPr/>
          <p:nvPr/>
        </p:nvSpPr>
        <p:spPr>
          <a:xfrm>
            <a:off x="7334045" y="470093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63" name="bld7_428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Suitable storage</a:t>
            </a:r>
            <a:endParaRPr lang="en-US" sz="1450" dirty="0"/>
          </a:p>
        </p:txBody>
      </p:sp>
      <p:sp>
        <p:nvSpPr>
          <p:cNvPr id="64" name="bld7_429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Organised, dark storage for your growing material library.</a:t>
            </a:r>
            <a:endParaRPr lang="en-US" sz="1080" dirty="0"/>
          </a:p>
        </p:txBody>
      </p:sp>
      <p:sp>
        <p:nvSpPr>
          <p:cNvPr id="66" name="trans_fade_2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7" name="Text 6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1" grpId="0"/>
      <p:bldP spid="12" grpId="0"/>
      <p:bldP spid="13" grpId="0"/>
      <p:bldP spid="19" grpId="0"/>
      <p:bldP spid="20" grpId="0"/>
      <p:bldP spid="21" grpId="0"/>
      <p:bldP spid="27" grpId="0"/>
      <p:bldP spid="28" grpId="0"/>
      <p:bldP spid="29" grpId="0"/>
      <p:bldP spid="37" grpId="0"/>
      <p:bldP spid="38" grpId="0"/>
      <p:bldP spid="39" grpId="0"/>
      <p:bldP spid="43" grpId="0"/>
      <p:bldP spid="44" grpId="0"/>
      <p:bldP spid="45" grpId="0"/>
      <p:bldP spid="53" grpId="0"/>
      <p:bldP spid="54" grpId="0"/>
      <p:bldP spid="55" grpId="0"/>
      <p:bldP spid="63" grpId="0"/>
      <p:bldP spid="6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search for, not where to buy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8C3B49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8C3B49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374313" y="2255605"/>
            <a:ext cx="2346789" cy="2346789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374313" y="2255605"/>
            <a:ext cx="2346789" cy="2346789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2700000">
            <a:off x="10343940" y="4225232"/>
            <a:ext cx="502883" cy="914"/>
          </a:xfrm>
          <a:prstGeom prst="line">
            <a:avLst/>
          </a:prstGeom>
          <a:noFill/>
          <a:ln w="38100">
            <a:solidFill>
              <a:srgbClr val="C9A35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 spec — let the market compete for your order.</a:t>
            </a:r>
            <a:endParaRPr lang="en-US" sz="1050" dirty="0"/>
          </a:p>
        </p:txBody>
      </p:sp>
      <p:sp>
        <p:nvSpPr>
          <p:cNvPr id="14" name="bld1_43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5" name="bld1_43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by spec, not by brand</a:t>
            </a:r>
            <a:endParaRPr lang="en-US" sz="1650" dirty="0"/>
          </a:p>
        </p:txBody>
      </p:sp>
      <p:sp>
        <p:nvSpPr>
          <p:cNvPr id="16" name="bld1_432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Suppliers change — the specification doesn't. Search for what you need, not a specific store.</a:t>
            </a:r>
            <a:endParaRPr lang="en-US" sz="1250" dirty="0"/>
          </a:p>
        </p:txBody>
      </p:sp>
      <p:sp>
        <p:nvSpPr>
          <p:cNvPr id="17" name="bld2_433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8" name="bld2_434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"0.001g precision scale ~200g"</a:t>
            </a:r>
            <a:endParaRPr lang="en-US" sz="1650" dirty="0"/>
          </a:p>
        </p:txBody>
      </p:sp>
      <p:sp>
        <p:nvSpPr>
          <p:cNvPr id="19" name="bld2_435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exact scale class covered earlier, across many sellers.</a:t>
            </a:r>
            <a:endParaRPr lang="en-US" sz="1250" dirty="0"/>
          </a:p>
        </p:txBody>
      </p:sp>
      <p:sp>
        <p:nvSpPr>
          <p:cNvPr id="20" name="bld3_436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bld3_437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"amber glass bottles wholesale"</a:t>
            </a:r>
            <a:endParaRPr lang="en-US" sz="1650" dirty="0"/>
          </a:p>
        </p:txBody>
      </p:sp>
      <p:sp>
        <p:nvSpPr>
          <p:cNvPr id="22" name="bld3_438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bulk glassware suppliers for storage and dilution bottles.</a:t>
            </a:r>
            <a:endParaRPr lang="en-US" sz="1250" dirty="0"/>
          </a:p>
        </p:txBody>
      </p:sp>
      <p:sp>
        <p:nvSpPr>
          <p:cNvPr id="23" name="bld4_439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4" name="bld4_440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"perfumer's alcohol" / "disposable pipettes"</a:t>
            </a:r>
            <a:endParaRPr lang="en-US" sz="1650" dirty="0"/>
          </a:p>
        </p:txBody>
      </p:sp>
      <p:sp>
        <p:nvSpPr>
          <p:cNvPr id="25" name="bld4_441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most-searched consumables in any starter kit.</a:t>
            </a:r>
            <a:endParaRPr lang="en-US" sz="1250" dirty="0"/>
          </a:p>
        </p:txBody>
      </p:sp>
      <p:sp>
        <p:nvSpPr>
          <p:cNvPr id="27" name="trans_fade_2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Essential vs. nice-to-have</a:t>
            </a:r>
            <a:endParaRPr lang="en-US" sz="3200" dirty="0"/>
          </a:p>
        </p:txBody>
      </p:sp>
      <p:sp>
        <p:nvSpPr>
          <p:cNvPr id="7" name="bld1_442"/>
          <p:cNvSpPr/>
          <p:nvPr/>
        </p:nvSpPr>
        <p:spPr>
          <a:xfrm>
            <a:off x="548640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0E4DA"/>
          </a:solidFill>
          <a:ln/>
        </p:spPr>
      </p:sp>
      <p:sp>
        <p:nvSpPr>
          <p:cNvPr id="8" name="bld1_443"/>
          <p:cNvSpPr/>
          <p:nvPr/>
        </p:nvSpPr>
        <p:spPr>
          <a:xfrm>
            <a:off x="777240" y="2011680"/>
            <a:ext cx="274320" cy="274320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9" name="bld1_444"/>
          <p:cNvSpPr txBox="1"/>
          <p:nvPr/>
        </p:nvSpPr>
        <p:spPr>
          <a:xfrm>
            <a:off x="1188720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Essential</a:t>
            </a:r>
            <a:endParaRPr lang="en-US" sz="1800" dirty="0"/>
          </a:p>
        </p:txBody>
      </p:sp>
      <p:sp>
        <p:nvSpPr>
          <p:cNvPr id="10" name="bld1_445"/>
          <p:cNvSpPr txBox="1"/>
          <p:nvPr/>
        </p:nvSpPr>
        <p:spPr>
          <a:xfrm>
            <a:off x="914400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0.001g precision scale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Disposable pipettes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glass bottles + dilution bottles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Scent strips (blotters)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Gloves, labels and a marker</a:t>
            </a:r>
            <a:endParaRPr lang="en-US" sz="1300" dirty="0"/>
          </a:p>
        </p:txBody>
      </p:sp>
      <p:sp>
        <p:nvSpPr>
          <p:cNvPr id="11" name="bld1_446"/>
          <p:cNvSpPr/>
          <p:nvPr/>
        </p:nvSpPr>
        <p:spPr>
          <a:xfrm>
            <a:off x="5099152" y="5586984"/>
            <a:ext cx="621792" cy="621792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2" name="bld1_447"/>
          <p:cNvSpPr/>
          <p:nvPr/>
        </p:nvSpPr>
        <p:spPr>
          <a:xfrm rot="8100000">
            <a:off x="5291176" y="5779008"/>
            <a:ext cx="237744" cy="237744"/>
          </a:xfrm>
          <a:prstGeom prst="teardrop">
            <a:avLst/>
          </a:prstGeom>
          <a:solidFill>
            <a:srgbClr val="B5652D">
              <a:alpha val="92000"/>
            </a:srgbClr>
          </a:solidFill>
          <a:ln/>
        </p:spPr>
      </p:sp>
      <p:sp>
        <p:nvSpPr>
          <p:cNvPr id="13" name="bld2_448"/>
          <p:cNvSpPr/>
          <p:nvPr/>
        </p:nvSpPr>
        <p:spPr>
          <a:xfrm>
            <a:off x="6278728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9EDE0"/>
          </a:solidFill>
          <a:ln/>
        </p:spPr>
      </p:sp>
      <p:sp>
        <p:nvSpPr>
          <p:cNvPr id="14" name="bld2_449"/>
          <p:cNvSpPr/>
          <p:nvPr/>
        </p:nvSpPr>
        <p:spPr>
          <a:xfrm>
            <a:off x="6507328" y="2011680"/>
            <a:ext cx="274320" cy="274320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bld2_450"/>
          <p:cNvSpPr txBox="1"/>
          <p:nvPr/>
        </p:nvSpPr>
        <p:spPr>
          <a:xfrm>
            <a:off x="6918808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Nice to have</a:t>
            </a:r>
            <a:endParaRPr lang="en-US" sz="1800" dirty="0"/>
          </a:p>
        </p:txBody>
      </p:sp>
      <p:sp>
        <p:nvSpPr>
          <p:cNvPr id="16" name="bld2_451"/>
          <p:cNvSpPr txBox="1"/>
          <p:nvPr/>
        </p:nvSpPr>
        <p:spPr>
          <a:xfrm>
            <a:off x="6644488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second, larger-capacity scale for bigger batches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storage boxes as your material library grows</a:t>
            </a:r>
            <a:endParaRPr lang="en-US" sz="1300" dirty="0"/>
          </a:p>
        </p:txBody>
      </p:sp>
      <p:sp>
        <p:nvSpPr>
          <p:cNvPr id="17" name="bld2_452"/>
          <p:cNvSpPr/>
          <p:nvPr/>
        </p:nvSpPr>
        <p:spPr>
          <a:xfrm>
            <a:off x="10829239" y="5586984"/>
            <a:ext cx="621792" cy="621792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18" name="bld2_453"/>
          <p:cNvSpPr/>
          <p:nvPr/>
        </p:nvSpPr>
        <p:spPr>
          <a:xfrm rot="8100000">
            <a:off x="11021263" y="5779008"/>
            <a:ext cx="237744" cy="237744"/>
          </a:xfrm>
          <a:prstGeom prst="teardrop">
            <a:avLst/>
          </a:prstGeom>
          <a:solidFill>
            <a:srgbClr val="6E7A50">
              <a:alpha val="92000"/>
            </a:srgbClr>
          </a:solidFill>
          <a:ln/>
        </p:spPr>
      </p:sp>
      <p:sp>
        <p:nvSpPr>
          <p:cNvPr id="20" name="trans_wipe_l_3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31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FROM OTHERS' MISTAKES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beginner equipment mistakes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95454" y="4778792"/>
            <a:ext cx="1460021" cy="1460021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997656" y="4880994"/>
            <a:ext cx="1255618" cy="125561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52464" y="5435802"/>
            <a:ext cx="146002" cy="14600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bld1_454"/>
          <p:cNvSpPr/>
          <p:nvPr/>
        </p:nvSpPr>
        <p:spPr>
          <a:xfrm>
            <a:off x="548640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455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3" name="bld1_456"/>
          <p:cNvSpPr txBox="1"/>
          <p:nvPr/>
        </p:nvSpPr>
        <p:spPr>
          <a:xfrm>
            <a:off x="731520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kitchen scale</a:t>
            </a:r>
            <a:endParaRPr lang="en-US" sz="1450" dirty="0"/>
          </a:p>
        </p:txBody>
      </p:sp>
      <p:sp>
        <p:nvSpPr>
          <p:cNvPr id="24" name="bld1_457"/>
          <p:cNvSpPr txBox="1"/>
          <p:nvPr/>
        </p:nvSpPr>
        <p:spPr>
          <a:xfrm>
            <a:off x="731520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to 0.01g or 0.1g — invisible to most trace materials. It will silently ruin every formula you weigh on it.</a:t>
            </a:r>
            <a:endParaRPr lang="en-US" sz="1080" dirty="0"/>
          </a:p>
        </p:txBody>
      </p:sp>
      <p:sp>
        <p:nvSpPr>
          <p:cNvPr id="25" name="bld2_458"/>
          <p:cNvSpPr/>
          <p:nvPr/>
        </p:nvSpPr>
        <p:spPr>
          <a:xfrm>
            <a:off x="3386252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459"/>
          <p:cNvSpPr/>
          <p:nvPr/>
        </p:nvSpPr>
        <p:spPr>
          <a:xfrm>
            <a:off x="3559988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7" name="bld2_460"/>
          <p:cNvSpPr txBox="1"/>
          <p:nvPr/>
        </p:nvSpPr>
        <p:spPr>
          <a:xfrm>
            <a:off x="3569132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Reusing one pipette</a:t>
            </a:r>
            <a:endParaRPr lang="en-US" sz="1450" dirty="0"/>
          </a:p>
        </p:txBody>
      </p:sp>
      <p:sp>
        <p:nvSpPr>
          <p:cNvPr id="28" name="bld2_461"/>
          <p:cNvSpPr txBox="1"/>
          <p:nvPr/>
        </p:nvSpPr>
        <p:spPr>
          <a:xfrm>
            <a:off x="3569132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Cross-contaminates materials and skews every reading after the first. One pipette per material, or rinse thoroughly between uses.</a:t>
            </a:r>
            <a:endParaRPr lang="en-US" sz="1080" dirty="0"/>
          </a:p>
        </p:txBody>
      </p:sp>
      <p:sp>
        <p:nvSpPr>
          <p:cNvPr id="29" name="bld3_462"/>
          <p:cNvSpPr/>
          <p:nvPr/>
        </p:nvSpPr>
        <p:spPr>
          <a:xfrm>
            <a:off x="6223864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463"/>
          <p:cNvSpPr/>
          <p:nvPr/>
        </p:nvSpPr>
        <p:spPr>
          <a:xfrm>
            <a:off x="6397600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464"/>
          <p:cNvSpPr txBox="1"/>
          <p:nvPr/>
        </p:nvSpPr>
        <p:spPr>
          <a:xfrm>
            <a:off x="6406744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 glass storage</a:t>
            </a:r>
            <a:endParaRPr lang="en-US" sz="1450" dirty="0"/>
          </a:p>
        </p:txBody>
      </p:sp>
      <p:sp>
        <p:nvSpPr>
          <p:cNvPr id="32" name="bld3_465"/>
          <p:cNvSpPr txBox="1"/>
          <p:nvPr/>
        </p:nvSpPr>
        <p:spPr>
          <a:xfrm>
            <a:off x="6406744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light degrades citrus oils and many naturals within weeks. Amber glass is not optional for anything you plan to keep.</a:t>
            </a:r>
            <a:endParaRPr lang="en-US" sz="1080" dirty="0"/>
          </a:p>
        </p:txBody>
      </p:sp>
      <p:sp>
        <p:nvSpPr>
          <p:cNvPr id="33" name="bld4_466"/>
          <p:cNvSpPr/>
          <p:nvPr/>
        </p:nvSpPr>
        <p:spPr>
          <a:xfrm>
            <a:off x="9061475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bld4_467"/>
          <p:cNvSpPr/>
          <p:nvPr/>
        </p:nvSpPr>
        <p:spPr>
          <a:xfrm>
            <a:off x="9235211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4_468"/>
          <p:cNvSpPr txBox="1"/>
          <p:nvPr/>
        </p:nvSpPr>
        <p:spPr>
          <a:xfrm>
            <a:off x="9244355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Unlabelled bottles</a:t>
            </a:r>
            <a:endParaRPr lang="en-US" sz="1450" dirty="0"/>
          </a:p>
        </p:txBody>
      </p:sp>
      <p:sp>
        <p:nvSpPr>
          <p:cNvPr id="36" name="bld4_469"/>
          <p:cNvSpPr txBox="1"/>
          <p:nvPr/>
        </p:nvSpPr>
        <p:spPr>
          <a:xfrm>
            <a:off x="9244355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bottle without material, %, solvent and date becomes a mystery liquid within a month — and mystery liquids get thrown away.</a:t>
            </a:r>
            <a:endParaRPr lang="en-US" sz="1080" dirty="0"/>
          </a:p>
        </p:txBody>
      </p:sp>
      <p:sp>
        <p:nvSpPr>
          <p:cNvPr id="38" name="trans_fade_3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9" name="Text 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B5652D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B5652D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B5652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precise scale and a stack of scent strips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 teach you more than any expensive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ever will.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02</a:t>
            </a:r>
            <a:endParaRPr lang="en-US" sz="1100" dirty="0"/>
          </a:p>
        </p:txBody>
      </p:sp>
      <p:sp>
        <p:nvSpPr>
          <p:cNvPr id="10" name="trans_fade_3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33890" y="2086061"/>
            <a:ext cx="666140" cy="1398895"/>
          </a:xfrm>
          <a:prstGeom prst="ellipse">
            <a:avLst/>
          </a:prstGeom>
          <a:solidFill>
            <a:srgbClr val="6E7A50">
              <a:alpha val="96000"/>
            </a:srgbClr>
          </a:solidFill>
          <a:ln/>
        </p:spPr>
      </p:sp>
      <p:sp>
        <p:nvSpPr>
          <p:cNvPr id="6" name="Shape 4"/>
          <p:cNvSpPr/>
          <p:nvPr/>
        </p:nvSpPr>
        <p:spPr>
          <a:xfrm rot="4320000">
            <a:off x="10245887" y="2530703"/>
            <a:ext cx="666140" cy="1398895"/>
          </a:xfrm>
          <a:prstGeom prst="ellipse">
            <a:avLst/>
          </a:prstGeom>
          <a:solidFill>
            <a:srgbClr val="6E7A50">
              <a:alpha val="96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8640000">
            <a:off x="10012125" y="3250148"/>
            <a:ext cx="666140" cy="1398895"/>
          </a:xfrm>
          <a:prstGeom prst="ellipse">
            <a:avLst/>
          </a:prstGeom>
          <a:solidFill>
            <a:srgbClr val="6E7A50">
              <a:alpha val="96000"/>
            </a:srgbClr>
          </a:solidFill>
          <a:ln/>
        </p:spPr>
      </p:sp>
      <p:sp>
        <p:nvSpPr>
          <p:cNvPr id="8" name="Shape 6"/>
          <p:cNvSpPr/>
          <p:nvPr/>
        </p:nvSpPr>
        <p:spPr>
          <a:xfrm rot="12960000">
            <a:off x="9255655" y="3250148"/>
            <a:ext cx="666140" cy="1398895"/>
          </a:xfrm>
          <a:prstGeom prst="ellipse">
            <a:avLst/>
          </a:prstGeom>
          <a:solidFill>
            <a:srgbClr val="6E7A50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17280000">
            <a:off x="9021893" y="2530703"/>
            <a:ext cx="666140" cy="1398895"/>
          </a:xfrm>
          <a:prstGeom prst="ellipse">
            <a:avLst/>
          </a:prstGeom>
          <a:solidFill>
            <a:srgbClr val="6E7A50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647213" y="3109253"/>
            <a:ext cx="639495" cy="639495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03.1 · RAW MATERIALS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 &amp; How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Materials Behave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shop, you need a framework — how perfumers actually think about a raw material.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vocabulary: volatility, diffusion, tenacity, role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natural material families, in real depth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named materials — not just categories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  <p:sp>
        <p:nvSpPr>
          <p:cNvPr id="24" name="trans_fade_3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olfactory groups, revisited</a:t>
            </a:r>
            <a:endParaRPr lang="en-US" sz="3200" dirty="0"/>
          </a:p>
        </p:txBody>
      </p:sp>
      <p:sp>
        <p:nvSpPr>
          <p:cNvPr id="7" name="bld1_470"/>
          <p:cNvSpPr/>
          <p:nvPr/>
        </p:nvSpPr>
        <p:spPr>
          <a:xfrm>
            <a:off x="548640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865376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9" name="Shape 7"/>
          <p:cNvSpPr/>
          <p:nvPr/>
        </p:nvSpPr>
        <p:spPr>
          <a:xfrm>
            <a:off x="1596931" y="1933773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30881" y="1967723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" name="Shape 9"/>
          <p:cNvSpPr/>
          <p:nvPr/>
        </p:nvSpPr>
        <p:spPr>
          <a:xfrm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216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432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648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864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296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512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728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9440000">
            <a:off x="1827305" y="1982273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815180" y="2152022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2" name="Shape 20"/>
          <p:cNvSpPr/>
          <p:nvPr/>
        </p:nvSpPr>
        <p:spPr>
          <a:xfrm>
            <a:off x="1528534" y="1865376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3" name="bld1_472"/>
          <p:cNvSpPr txBox="1"/>
          <p:nvPr/>
        </p:nvSpPr>
        <p:spPr>
          <a:xfrm>
            <a:off x="731520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</a:t>
            </a:r>
            <a:endParaRPr lang="en-US" sz="1450" dirty="0"/>
          </a:p>
        </p:txBody>
      </p:sp>
      <p:sp>
        <p:nvSpPr>
          <p:cNvPr id="24" name="bld1_473"/>
          <p:cNvSpPr txBox="1"/>
          <p:nvPr/>
        </p:nvSpPr>
        <p:spPr>
          <a:xfrm>
            <a:off x="731520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Bright, volatile top notes</a:t>
            </a:r>
            <a:endParaRPr lang="en-US" sz="1080" dirty="0"/>
          </a:p>
        </p:txBody>
      </p:sp>
      <p:sp>
        <p:nvSpPr>
          <p:cNvPr id="25" name="bld2_474"/>
          <p:cNvSpPr/>
          <p:nvPr/>
        </p:nvSpPr>
        <p:spPr>
          <a:xfrm>
            <a:off x="3386252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366146" y="1865376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4616417" y="193183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4320000">
            <a:off x="4727811" y="2012766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8640000">
            <a:off x="4685262" y="2143718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2960000">
            <a:off x="4547571" y="2143718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17280000">
            <a:off x="4505023" y="2012766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618842" y="2118072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3" name="Shape 31"/>
          <p:cNvSpPr/>
          <p:nvPr/>
        </p:nvSpPr>
        <p:spPr>
          <a:xfrm>
            <a:off x="4366146" y="1865376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4" name="bld2_476"/>
          <p:cNvSpPr txBox="1"/>
          <p:nvPr/>
        </p:nvSpPr>
        <p:spPr>
          <a:xfrm>
            <a:off x="3569132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</a:t>
            </a:r>
            <a:endParaRPr lang="en-US" sz="1450" dirty="0"/>
          </a:p>
        </p:txBody>
      </p:sp>
      <p:sp>
        <p:nvSpPr>
          <p:cNvPr id="35" name="bld2_477"/>
          <p:cNvSpPr txBox="1"/>
          <p:nvPr/>
        </p:nvSpPr>
        <p:spPr>
          <a:xfrm>
            <a:off x="3569132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heart of most formulas</a:t>
            </a:r>
            <a:endParaRPr lang="en-US" sz="1080" dirty="0"/>
          </a:p>
        </p:txBody>
      </p:sp>
      <p:sp>
        <p:nvSpPr>
          <p:cNvPr id="36" name="bld3_478"/>
          <p:cNvSpPr/>
          <p:nvPr/>
        </p:nvSpPr>
        <p:spPr>
          <a:xfrm>
            <a:off x="6223864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203758" y="1865376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38" name="Shape 36"/>
          <p:cNvSpPr/>
          <p:nvPr/>
        </p:nvSpPr>
        <p:spPr>
          <a:xfrm rot="15300000">
            <a:off x="7350455" y="208191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13050000">
            <a:off x="7395926" y="2149963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10800000">
            <a:off x="7473429" y="21762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8550000">
            <a:off x="7550931" y="2149963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6300000">
            <a:off x="7596403" y="208191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203758" y="1865376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44" name="bld3_480"/>
          <p:cNvSpPr txBox="1"/>
          <p:nvPr/>
        </p:nvSpPr>
        <p:spPr>
          <a:xfrm>
            <a:off x="6406744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</a:t>
            </a:r>
            <a:endParaRPr lang="en-US" sz="1450" dirty="0"/>
          </a:p>
        </p:txBody>
      </p:sp>
      <p:sp>
        <p:nvSpPr>
          <p:cNvPr id="45" name="bld3_481"/>
          <p:cNvSpPr txBox="1"/>
          <p:nvPr/>
        </p:nvSpPr>
        <p:spPr>
          <a:xfrm>
            <a:off x="6406744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leafy, unripe</a:t>
            </a:r>
            <a:endParaRPr lang="en-US" sz="1080" dirty="0"/>
          </a:p>
        </p:txBody>
      </p:sp>
      <p:sp>
        <p:nvSpPr>
          <p:cNvPr id="46" name="bld4_482"/>
          <p:cNvSpPr/>
          <p:nvPr/>
        </p:nvSpPr>
        <p:spPr>
          <a:xfrm>
            <a:off x="9061475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10041369" y="1865376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48" name="Shape 46"/>
          <p:cNvSpPr/>
          <p:nvPr/>
        </p:nvSpPr>
        <p:spPr>
          <a:xfrm>
            <a:off x="10153416" y="1996823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0346779" y="1987123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2000000">
            <a:off x="10370553" y="1967723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10041369" y="1865376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52" name="bld4_484"/>
          <p:cNvSpPr txBox="1"/>
          <p:nvPr/>
        </p:nvSpPr>
        <p:spPr>
          <a:xfrm>
            <a:off x="9244355" y="2578608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</a:t>
            </a:r>
            <a:endParaRPr lang="en-US" sz="1450" dirty="0"/>
          </a:p>
        </p:txBody>
      </p:sp>
      <p:sp>
        <p:nvSpPr>
          <p:cNvPr id="53" name="bld4_485"/>
          <p:cNvSpPr txBox="1"/>
          <p:nvPr/>
        </p:nvSpPr>
        <p:spPr>
          <a:xfrm>
            <a:off x="9244355" y="3035808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Juicy, sweet, often synthetic-assisted</a:t>
            </a:r>
            <a:endParaRPr lang="en-US" sz="1080" dirty="0"/>
          </a:p>
        </p:txBody>
      </p:sp>
      <p:sp>
        <p:nvSpPr>
          <p:cNvPr id="54" name="bld5_486"/>
          <p:cNvSpPr/>
          <p:nvPr/>
        </p:nvSpPr>
        <p:spPr>
          <a:xfrm>
            <a:off x="548640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1528534" y="3505200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56" name="Shape 54"/>
          <p:cNvSpPr/>
          <p:nvPr/>
        </p:nvSpPr>
        <p:spPr>
          <a:xfrm>
            <a:off x="1596931" y="3573597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1677764" y="3654430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58" name="Shape 56"/>
          <p:cNvSpPr/>
          <p:nvPr/>
        </p:nvSpPr>
        <p:spPr>
          <a:xfrm>
            <a:off x="1758597" y="3735263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1810330" y="3786996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60" name="Shape 58"/>
          <p:cNvSpPr/>
          <p:nvPr/>
        </p:nvSpPr>
        <p:spPr>
          <a:xfrm>
            <a:off x="1528534" y="3505200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61" name="bld5_488"/>
          <p:cNvSpPr txBox="1"/>
          <p:nvPr/>
        </p:nvSpPr>
        <p:spPr>
          <a:xfrm>
            <a:off x="731520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</a:t>
            </a:r>
            <a:endParaRPr lang="en-US" sz="1450" dirty="0"/>
          </a:p>
        </p:txBody>
      </p:sp>
      <p:sp>
        <p:nvSpPr>
          <p:cNvPr id="62" name="bld5_489"/>
          <p:cNvSpPr txBox="1"/>
          <p:nvPr/>
        </p:nvSpPr>
        <p:spPr>
          <a:xfrm>
            <a:off x="731520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warm structural base</a:t>
            </a:r>
            <a:endParaRPr lang="en-US" sz="1080" dirty="0"/>
          </a:p>
        </p:txBody>
      </p:sp>
      <p:sp>
        <p:nvSpPr>
          <p:cNvPr id="63" name="bld6_490"/>
          <p:cNvSpPr/>
          <p:nvPr/>
        </p:nvSpPr>
        <p:spPr>
          <a:xfrm>
            <a:off x="3386252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4366146" y="3505200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65" name="Shape 63"/>
          <p:cNvSpPr/>
          <p:nvPr/>
        </p:nvSpPr>
        <p:spPr>
          <a:xfrm rot="9000000">
            <a:off x="4555792" y="3704547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 rot="6000000">
            <a:off x="4492743" y="3675447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 rot="11400000">
            <a:off x="4691592" y="3646347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4366146" y="3505200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69" name="bld6_492"/>
          <p:cNvSpPr txBox="1"/>
          <p:nvPr/>
        </p:nvSpPr>
        <p:spPr>
          <a:xfrm>
            <a:off x="3569132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</a:t>
            </a:r>
            <a:endParaRPr lang="en-US" sz="1450" dirty="0"/>
          </a:p>
        </p:txBody>
      </p:sp>
      <p:sp>
        <p:nvSpPr>
          <p:cNvPr id="70" name="bld6_493"/>
          <p:cNvSpPr txBox="1"/>
          <p:nvPr/>
        </p:nvSpPr>
        <p:spPr>
          <a:xfrm>
            <a:off x="3569132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Resinous, warm, enveloping</a:t>
            </a:r>
            <a:endParaRPr lang="en-US" sz="1080" dirty="0"/>
          </a:p>
        </p:txBody>
      </p:sp>
      <p:sp>
        <p:nvSpPr>
          <p:cNvPr id="71" name="bld7_494"/>
          <p:cNvSpPr/>
          <p:nvPr/>
        </p:nvSpPr>
        <p:spPr>
          <a:xfrm>
            <a:off x="6223864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7203758" y="3505200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73" name="Shape 71"/>
          <p:cNvSpPr/>
          <p:nvPr/>
        </p:nvSpPr>
        <p:spPr>
          <a:xfrm>
            <a:off x="7291555" y="3665747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203758" y="3505200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75" name="bld7_496"/>
          <p:cNvSpPr txBox="1"/>
          <p:nvPr/>
        </p:nvSpPr>
        <p:spPr>
          <a:xfrm>
            <a:off x="6406744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</a:t>
            </a:r>
            <a:endParaRPr lang="en-US" sz="1450" dirty="0"/>
          </a:p>
        </p:txBody>
      </p:sp>
      <p:sp>
        <p:nvSpPr>
          <p:cNvPr id="76" name="bld7_497"/>
          <p:cNvSpPr txBox="1"/>
          <p:nvPr/>
        </p:nvSpPr>
        <p:spPr>
          <a:xfrm>
            <a:off x="6406744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Skin-like, radiant, soft</a:t>
            </a:r>
            <a:endParaRPr lang="en-US" sz="1080" dirty="0"/>
          </a:p>
        </p:txBody>
      </p:sp>
      <p:sp>
        <p:nvSpPr>
          <p:cNvPr id="77" name="bld8_498"/>
          <p:cNvSpPr/>
          <p:nvPr/>
        </p:nvSpPr>
        <p:spPr>
          <a:xfrm>
            <a:off x="9061475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10041369" y="3505200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79" name="Shape 77"/>
          <p:cNvSpPr/>
          <p:nvPr/>
        </p:nvSpPr>
        <p:spPr>
          <a:xfrm rot="840000">
            <a:off x="10294066" y="3585722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 rot="840000">
            <a:off x="10346779" y="3641497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297703" y="3654834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2" name="Shape 80"/>
          <p:cNvSpPr/>
          <p:nvPr/>
        </p:nvSpPr>
        <p:spPr>
          <a:xfrm>
            <a:off x="10315163" y="3714974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3" name="Shape 81"/>
          <p:cNvSpPr/>
          <p:nvPr/>
        </p:nvSpPr>
        <p:spPr>
          <a:xfrm>
            <a:off x="10332623" y="3775114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4" name="Shape 82"/>
          <p:cNvSpPr/>
          <p:nvPr/>
        </p:nvSpPr>
        <p:spPr>
          <a:xfrm>
            <a:off x="10350083" y="3835253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5" name="Shape 83"/>
          <p:cNvSpPr/>
          <p:nvPr/>
        </p:nvSpPr>
        <p:spPr>
          <a:xfrm>
            <a:off x="10367543" y="3895393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6" name="Shape 84"/>
          <p:cNvSpPr/>
          <p:nvPr/>
        </p:nvSpPr>
        <p:spPr>
          <a:xfrm>
            <a:off x="10385003" y="3955533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87" name="Shape 85"/>
          <p:cNvSpPr/>
          <p:nvPr/>
        </p:nvSpPr>
        <p:spPr>
          <a:xfrm>
            <a:off x="10041369" y="3505200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88" name="bld8_500"/>
          <p:cNvSpPr txBox="1"/>
          <p:nvPr/>
        </p:nvSpPr>
        <p:spPr>
          <a:xfrm>
            <a:off x="9244355" y="4218432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</a:t>
            </a:r>
            <a:endParaRPr lang="en-US" sz="1450" dirty="0"/>
          </a:p>
        </p:txBody>
      </p:sp>
      <p:sp>
        <p:nvSpPr>
          <p:cNvPr id="89" name="bld8_501"/>
          <p:cNvSpPr txBox="1"/>
          <p:nvPr/>
        </p:nvSpPr>
        <p:spPr>
          <a:xfrm>
            <a:off x="9244355" y="4675632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Edible, sweet, comforting</a:t>
            </a:r>
            <a:endParaRPr lang="en-US" sz="1080" dirty="0"/>
          </a:p>
        </p:txBody>
      </p:sp>
      <p:sp>
        <p:nvSpPr>
          <p:cNvPr id="90" name="bld9_502"/>
          <p:cNvSpPr/>
          <p:nvPr/>
        </p:nvSpPr>
        <p:spPr>
          <a:xfrm>
            <a:off x="548640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1" name="Shape 89"/>
          <p:cNvSpPr/>
          <p:nvPr/>
        </p:nvSpPr>
        <p:spPr>
          <a:xfrm>
            <a:off x="1528534" y="5145024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92" name="Shape 90"/>
          <p:cNvSpPr/>
          <p:nvPr/>
        </p:nvSpPr>
        <p:spPr>
          <a:xfrm rot="9000000">
            <a:off x="1718180" y="5344371"/>
            <a:ext cx="281299" cy="281299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93" name="Shape 91"/>
          <p:cNvSpPr/>
          <p:nvPr/>
        </p:nvSpPr>
        <p:spPr>
          <a:xfrm rot="6000000">
            <a:off x="1655131" y="5315271"/>
            <a:ext cx="174599" cy="174599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 rot="11400000">
            <a:off x="1853980" y="5286171"/>
            <a:ext cx="145499" cy="145499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95" name="Shape 93"/>
          <p:cNvSpPr/>
          <p:nvPr/>
        </p:nvSpPr>
        <p:spPr>
          <a:xfrm>
            <a:off x="1528534" y="5145024"/>
            <a:ext cx="621792" cy="621792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96" name="bld9_504"/>
          <p:cNvSpPr txBox="1"/>
          <p:nvPr/>
        </p:nvSpPr>
        <p:spPr>
          <a:xfrm>
            <a:off x="731520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Spicy</a:t>
            </a:r>
            <a:endParaRPr lang="en-US" sz="1450" dirty="0"/>
          </a:p>
        </p:txBody>
      </p:sp>
      <p:sp>
        <p:nvSpPr>
          <p:cNvPr id="97" name="bld9_505"/>
          <p:cNvSpPr txBox="1"/>
          <p:nvPr/>
        </p:nvSpPr>
        <p:spPr>
          <a:xfrm>
            <a:off x="731520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sharp, piquant</a:t>
            </a:r>
            <a:endParaRPr lang="en-US" sz="1080" dirty="0"/>
          </a:p>
        </p:txBody>
      </p:sp>
      <p:sp>
        <p:nvSpPr>
          <p:cNvPr id="98" name="bld10_506"/>
          <p:cNvSpPr/>
          <p:nvPr/>
        </p:nvSpPr>
        <p:spPr>
          <a:xfrm>
            <a:off x="3386252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9" name="Shape 97"/>
          <p:cNvSpPr/>
          <p:nvPr/>
        </p:nvSpPr>
        <p:spPr>
          <a:xfrm>
            <a:off x="4366146" y="5145024"/>
            <a:ext cx="621792" cy="621792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100" name="Shape 98"/>
          <p:cNvSpPr/>
          <p:nvPr/>
        </p:nvSpPr>
        <p:spPr>
          <a:xfrm>
            <a:off x="4640667" y="5295289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1" name="Shape 99"/>
          <p:cNvSpPr/>
          <p:nvPr/>
        </p:nvSpPr>
        <p:spPr>
          <a:xfrm rot="2700000">
            <a:off x="4692520" y="5316767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 rot="5400000">
            <a:off x="4713999" y="5368620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3" name="Shape 101"/>
          <p:cNvSpPr/>
          <p:nvPr/>
        </p:nvSpPr>
        <p:spPr>
          <a:xfrm rot="8100000">
            <a:off x="4692520" y="5420474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4" name="Shape 102"/>
          <p:cNvSpPr/>
          <p:nvPr/>
        </p:nvSpPr>
        <p:spPr>
          <a:xfrm rot="10800000">
            <a:off x="4640667" y="5441952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5" name="Shape 103"/>
          <p:cNvSpPr/>
          <p:nvPr/>
        </p:nvSpPr>
        <p:spPr>
          <a:xfrm rot="13500000">
            <a:off x="4588814" y="5420474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6" name="Shape 104"/>
          <p:cNvSpPr/>
          <p:nvPr/>
        </p:nvSpPr>
        <p:spPr>
          <a:xfrm rot="16200000">
            <a:off x="4567335" y="5368620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7" name="Shape 105"/>
          <p:cNvSpPr/>
          <p:nvPr/>
        </p:nvSpPr>
        <p:spPr>
          <a:xfrm rot="18900000">
            <a:off x="4588814" y="5316767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108" name="Shape 106"/>
          <p:cNvSpPr/>
          <p:nvPr/>
        </p:nvSpPr>
        <p:spPr>
          <a:xfrm>
            <a:off x="4638242" y="5417120"/>
            <a:ext cx="77600" cy="77600"/>
          </a:xfrm>
          <a:prstGeom prst="ellipse">
            <a:avLst/>
          </a:prstGeom>
          <a:solidFill>
            <a:srgbClr val="9BAE84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366146" y="5145024"/>
            <a:ext cx="621792" cy="621792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110" name="bld10_508"/>
          <p:cNvSpPr txBox="1"/>
          <p:nvPr/>
        </p:nvSpPr>
        <p:spPr>
          <a:xfrm>
            <a:off x="3569132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Aromatic</a:t>
            </a:r>
            <a:endParaRPr lang="en-US" sz="1450" dirty="0"/>
          </a:p>
        </p:txBody>
      </p:sp>
      <p:sp>
        <p:nvSpPr>
          <p:cNvPr id="111" name="bld10_509"/>
          <p:cNvSpPr txBox="1"/>
          <p:nvPr/>
        </p:nvSpPr>
        <p:spPr>
          <a:xfrm>
            <a:off x="3569132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Herbal, medicinal, fresh</a:t>
            </a:r>
            <a:endParaRPr lang="en-US" sz="1080" dirty="0"/>
          </a:p>
        </p:txBody>
      </p:sp>
      <p:sp>
        <p:nvSpPr>
          <p:cNvPr id="112" name="bld11_510"/>
          <p:cNvSpPr/>
          <p:nvPr/>
        </p:nvSpPr>
        <p:spPr>
          <a:xfrm>
            <a:off x="6223864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3" name="Shape 111"/>
          <p:cNvSpPr/>
          <p:nvPr/>
        </p:nvSpPr>
        <p:spPr>
          <a:xfrm>
            <a:off x="7203758" y="5145024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7272155" y="5213421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15" name="Shape 113"/>
          <p:cNvSpPr/>
          <p:nvPr/>
        </p:nvSpPr>
        <p:spPr>
          <a:xfrm>
            <a:off x="7334045" y="5334671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6" name="Shape 114"/>
          <p:cNvSpPr/>
          <p:nvPr/>
        </p:nvSpPr>
        <p:spPr>
          <a:xfrm>
            <a:off x="7309021" y="541550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7" name="Shape 115"/>
          <p:cNvSpPr/>
          <p:nvPr/>
        </p:nvSpPr>
        <p:spPr>
          <a:xfrm>
            <a:off x="7309021" y="5496336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8" name="Shape 116"/>
          <p:cNvSpPr/>
          <p:nvPr/>
        </p:nvSpPr>
        <p:spPr>
          <a:xfrm>
            <a:off x="7334045" y="5577169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9" name="Shape 117"/>
          <p:cNvSpPr/>
          <p:nvPr/>
        </p:nvSpPr>
        <p:spPr>
          <a:xfrm>
            <a:off x="7203758" y="5145024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20" name="bld11_512"/>
          <p:cNvSpPr txBox="1"/>
          <p:nvPr/>
        </p:nvSpPr>
        <p:spPr>
          <a:xfrm>
            <a:off x="6406744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Leather</a:t>
            </a:r>
            <a:endParaRPr lang="en-US" sz="1450" dirty="0"/>
          </a:p>
        </p:txBody>
      </p:sp>
      <p:sp>
        <p:nvSpPr>
          <p:cNvPr id="121" name="bld11_513"/>
          <p:cNvSpPr txBox="1"/>
          <p:nvPr/>
        </p:nvSpPr>
        <p:spPr>
          <a:xfrm>
            <a:off x="6406744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Smoky, animalic, dry</a:t>
            </a:r>
            <a:endParaRPr lang="en-US" sz="1080" dirty="0"/>
          </a:p>
        </p:txBody>
      </p:sp>
      <p:sp>
        <p:nvSpPr>
          <p:cNvPr id="122" name="bld12_514"/>
          <p:cNvSpPr/>
          <p:nvPr/>
        </p:nvSpPr>
        <p:spPr>
          <a:xfrm>
            <a:off x="9061475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3" name="Shape 121"/>
          <p:cNvSpPr/>
          <p:nvPr/>
        </p:nvSpPr>
        <p:spPr>
          <a:xfrm>
            <a:off x="10041369" y="5145024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124" name="Shape 122"/>
          <p:cNvSpPr/>
          <p:nvPr/>
        </p:nvSpPr>
        <p:spPr>
          <a:xfrm>
            <a:off x="10109766" y="5213421"/>
            <a:ext cx="484998" cy="484998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125" name="Shape 123"/>
          <p:cNvSpPr/>
          <p:nvPr/>
        </p:nvSpPr>
        <p:spPr>
          <a:xfrm>
            <a:off x="10163116" y="5453495"/>
            <a:ext cx="378298" cy="7275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126" name="Shape 124"/>
          <p:cNvSpPr/>
          <p:nvPr/>
        </p:nvSpPr>
        <p:spPr>
          <a:xfrm>
            <a:off x="10163116" y="5392870"/>
            <a:ext cx="378298" cy="7275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127" name="Shape 125"/>
          <p:cNvSpPr/>
          <p:nvPr/>
        </p:nvSpPr>
        <p:spPr>
          <a:xfrm>
            <a:off x="10163116" y="5324971"/>
            <a:ext cx="378298" cy="7275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128" name="Shape 126"/>
          <p:cNvSpPr/>
          <p:nvPr/>
        </p:nvSpPr>
        <p:spPr>
          <a:xfrm>
            <a:off x="10041369" y="5145024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129" name="bld12_516"/>
          <p:cNvSpPr txBox="1"/>
          <p:nvPr/>
        </p:nvSpPr>
        <p:spPr>
          <a:xfrm>
            <a:off x="9244355" y="5858256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Marine / fresh</a:t>
            </a:r>
            <a:endParaRPr lang="en-US" sz="1450" dirty="0"/>
          </a:p>
        </p:txBody>
      </p:sp>
      <p:sp>
        <p:nvSpPr>
          <p:cNvPr id="130" name="bld12_517"/>
          <p:cNvSpPr txBox="1"/>
          <p:nvPr/>
        </p:nvSpPr>
        <p:spPr>
          <a:xfrm>
            <a:off x="9244355" y="6315456"/>
            <a:ext cx="2215820" cy="-2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Ozonic, clean, airy</a:t>
            </a:r>
            <a:endParaRPr lang="en-US" sz="1080" dirty="0"/>
          </a:p>
        </p:txBody>
      </p:sp>
      <p:sp>
        <p:nvSpPr>
          <p:cNvPr id="132" name="trans_fade_3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33" name="Text 1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9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8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3" grpId="0"/>
      <p:bldP spid="24" grpId="0"/>
      <p:bldP spid="25" grpId="0"/>
      <p:bldP spid="34" grpId="0"/>
      <p:bldP spid="35" grpId="0"/>
      <p:bldP spid="36" grpId="0"/>
      <p:bldP spid="44" grpId="0"/>
      <p:bldP spid="45" grpId="0"/>
      <p:bldP spid="46" grpId="0"/>
      <p:bldP spid="52" grpId="0"/>
      <p:bldP spid="53" grpId="0"/>
      <p:bldP spid="54" grpId="0"/>
      <p:bldP spid="61" grpId="0"/>
      <p:bldP spid="62" grpId="0"/>
      <p:bldP spid="63" grpId="0"/>
      <p:bldP spid="69" grpId="0"/>
      <p:bldP spid="70" grpId="0"/>
      <p:bldP spid="71" grpId="0"/>
      <p:bldP spid="75" grpId="0"/>
      <p:bldP spid="76" grpId="0"/>
      <p:bldP spid="77" grpId="0"/>
      <p:bldP spid="88" grpId="0"/>
      <p:bldP spid="89" grpId="0"/>
      <p:bldP spid="90" grpId="0"/>
      <p:bldP spid="96" grpId="0"/>
      <p:bldP spid="97" grpId="0"/>
      <p:bldP spid="98" grpId="0"/>
      <p:bldP spid="110" grpId="0"/>
      <p:bldP spid="111" grpId="0"/>
      <p:bldP spid="112" grpId="0"/>
      <p:bldP spid="120" grpId="0"/>
      <p:bldP spid="121" grpId="0"/>
      <p:bldP spid="122" grpId="0"/>
      <p:bldP spid="129" grpId="0"/>
      <p:bldP spid="130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OVER TIME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Longevity — how long a material lasts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822960" y="3657600"/>
            <a:ext cx="10545775" cy="91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bld1_518"/>
          <p:cNvSpPr/>
          <p:nvPr/>
        </p:nvSpPr>
        <p:spPr>
          <a:xfrm>
            <a:off x="740664" y="3575304"/>
            <a:ext cx="164592" cy="164592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9" name="bld1_519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10" name="bld1_520"/>
          <p:cNvSpPr txBox="1"/>
          <p:nvPr/>
        </p:nvSpPr>
        <p:spPr>
          <a:xfrm>
            <a:off x="4572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Short-lived</a:t>
            </a:r>
            <a:endParaRPr lang="en-US" sz="1200" dirty="0"/>
          </a:p>
        </p:txBody>
      </p:sp>
      <p:sp>
        <p:nvSpPr>
          <p:cNvPr id="11" name="bld1_521"/>
          <p:cNvSpPr txBox="1"/>
          <p:nvPr/>
        </p:nvSpPr>
        <p:spPr>
          <a:xfrm>
            <a:off x="4572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Citrus, light greens — gone in under 2 hours</a:t>
            </a:r>
            <a:endParaRPr lang="en-US" sz="1050" dirty="0"/>
          </a:p>
        </p:txBody>
      </p:sp>
      <p:sp>
        <p:nvSpPr>
          <p:cNvPr id="12" name="bld2_522"/>
          <p:cNvSpPr/>
          <p:nvPr/>
        </p:nvSpPr>
        <p:spPr>
          <a:xfrm>
            <a:off x="6013552" y="3575304"/>
            <a:ext cx="164592" cy="164592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3" name="bld2_523"/>
          <p:cNvSpPr/>
          <p:nvPr/>
        </p:nvSpPr>
        <p:spPr>
          <a:xfrm>
            <a:off x="5931256" y="3493008"/>
            <a:ext cx="329184" cy="329184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14" name="bld2_524"/>
          <p:cNvSpPr txBox="1"/>
          <p:nvPr/>
        </p:nvSpPr>
        <p:spPr>
          <a:xfrm>
            <a:off x="5318608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Medium-lived</a:t>
            </a:r>
            <a:endParaRPr lang="en-US" sz="1200" dirty="0"/>
          </a:p>
        </p:txBody>
      </p:sp>
      <p:sp>
        <p:nvSpPr>
          <p:cNvPr id="15" name="bld2_525"/>
          <p:cNvSpPr txBox="1"/>
          <p:nvPr/>
        </p:nvSpPr>
        <p:spPr>
          <a:xfrm>
            <a:off x="5318608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florals, spices — present for several hours</a:t>
            </a:r>
            <a:endParaRPr lang="en-US" sz="1050" dirty="0"/>
          </a:p>
        </p:txBody>
      </p:sp>
      <p:sp>
        <p:nvSpPr>
          <p:cNvPr id="16" name="bld3_526"/>
          <p:cNvSpPr/>
          <p:nvPr/>
        </p:nvSpPr>
        <p:spPr>
          <a:xfrm>
            <a:off x="11286439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7" name="bld3_527"/>
          <p:cNvSpPr/>
          <p:nvPr/>
        </p:nvSpPr>
        <p:spPr>
          <a:xfrm>
            <a:off x="11204143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8" name="bld3_528"/>
          <p:cNvSpPr txBox="1"/>
          <p:nvPr/>
        </p:nvSpPr>
        <p:spPr>
          <a:xfrm>
            <a:off x="10591495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Long-lasting</a:t>
            </a:r>
            <a:endParaRPr lang="en-US" sz="1200" dirty="0"/>
          </a:p>
        </p:txBody>
      </p:sp>
      <p:sp>
        <p:nvSpPr>
          <p:cNvPr id="19" name="bld3_529"/>
          <p:cNvSpPr txBox="1"/>
          <p:nvPr/>
        </p:nvSpPr>
        <p:spPr>
          <a:xfrm>
            <a:off x="10591495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Woods, resins, musks — detectable a day or more later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 is a spectrum, not three fixed boxes — most materials sit between these markers.</a:t>
            </a:r>
            <a:endParaRPr lang="en-US" sz="1250" dirty="0"/>
          </a:p>
        </p:txBody>
      </p:sp>
      <p:sp>
        <p:nvSpPr>
          <p:cNvPr id="22" name="trans_push_l_3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3" name="Text 2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BEHAVIOUR, PRECISELY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 is not the same as tenacity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5B3A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917576" y="4800914"/>
            <a:ext cx="1415778" cy="1415778"/>
          </a:xfrm>
          <a:prstGeom prst="ellipse">
            <a:avLst/>
          </a:prstGeom>
          <a:solidFill>
            <a:srgbClr val="5B3A52">
              <a:alpha val="2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205156" y="5088494"/>
            <a:ext cx="840618" cy="840618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37885" y="5221223"/>
            <a:ext cx="575160" cy="575160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470614" y="5353952"/>
            <a:ext cx="309701" cy="309701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37885" y="5221223"/>
            <a:ext cx="575160" cy="575160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205156" y="5088494"/>
            <a:ext cx="840618" cy="840618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4" name="bld1_530"/>
          <p:cNvSpPr/>
          <p:nvPr/>
        </p:nvSpPr>
        <p:spPr>
          <a:xfrm>
            <a:off x="548640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1_531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bld1_532"/>
          <p:cNvSpPr txBox="1"/>
          <p:nvPr/>
        </p:nvSpPr>
        <p:spPr>
          <a:xfrm>
            <a:off x="731520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Strong up close</a:t>
            </a:r>
            <a:endParaRPr lang="en-US" sz="1450" dirty="0"/>
          </a:p>
        </p:txBody>
      </p:sp>
      <p:sp>
        <p:nvSpPr>
          <p:cNvPr id="17" name="bld1_533"/>
          <p:cNvSpPr txBox="1"/>
          <p:nvPr/>
        </p:nvSpPr>
        <p:spPr>
          <a:xfrm>
            <a:off x="731520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Detectable only right at the skin or strip — low projection, an "intimate" material.</a:t>
            </a:r>
            <a:endParaRPr lang="en-US" sz="1080" dirty="0"/>
          </a:p>
        </p:txBody>
      </p:sp>
      <p:sp>
        <p:nvSpPr>
          <p:cNvPr id="18" name="bld2_534"/>
          <p:cNvSpPr/>
          <p:nvPr/>
        </p:nvSpPr>
        <p:spPr>
          <a:xfrm>
            <a:off x="3386252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2_535"/>
          <p:cNvSpPr/>
          <p:nvPr/>
        </p:nvSpPr>
        <p:spPr>
          <a:xfrm>
            <a:off x="3559988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0" name="bld2_536"/>
          <p:cNvSpPr txBox="1"/>
          <p:nvPr/>
        </p:nvSpPr>
        <p:spPr>
          <a:xfrm>
            <a:off x="3569132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Projection</a:t>
            </a:r>
            <a:endParaRPr lang="en-US" sz="1450" dirty="0"/>
          </a:p>
        </p:txBody>
      </p:sp>
      <p:sp>
        <p:nvSpPr>
          <p:cNvPr id="21" name="bld2_537"/>
          <p:cNvSpPr txBox="1"/>
          <p:nvPr/>
        </p:nvSpPr>
        <p:spPr>
          <a:xfrm>
            <a:off x="3569132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a material's smell carries into the surrounding space beyond the skin.</a:t>
            </a:r>
            <a:endParaRPr lang="en-US" sz="1080" dirty="0"/>
          </a:p>
        </p:txBody>
      </p:sp>
      <p:sp>
        <p:nvSpPr>
          <p:cNvPr id="22" name="bld3_538"/>
          <p:cNvSpPr/>
          <p:nvPr/>
        </p:nvSpPr>
        <p:spPr>
          <a:xfrm>
            <a:off x="6223864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3_539"/>
          <p:cNvSpPr/>
          <p:nvPr/>
        </p:nvSpPr>
        <p:spPr>
          <a:xfrm>
            <a:off x="6397600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4" name="bld3_540"/>
          <p:cNvSpPr txBox="1"/>
          <p:nvPr/>
        </p:nvSpPr>
        <p:spPr>
          <a:xfrm>
            <a:off x="6406744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</a:t>
            </a:r>
            <a:endParaRPr lang="en-US" sz="1450" dirty="0"/>
          </a:p>
        </p:txBody>
      </p:sp>
      <p:sp>
        <p:nvSpPr>
          <p:cNvPr id="25" name="bld3_541"/>
          <p:cNvSpPr txBox="1"/>
          <p:nvPr/>
        </p:nvSpPr>
        <p:spPr>
          <a:xfrm>
            <a:off x="6406744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easily and quickly a smell spreads and fills a room from a small amount.</a:t>
            </a:r>
            <a:endParaRPr lang="en-US" sz="1080" dirty="0"/>
          </a:p>
        </p:txBody>
      </p:sp>
      <p:sp>
        <p:nvSpPr>
          <p:cNvPr id="26" name="bld4_542"/>
          <p:cNvSpPr/>
          <p:nvPr/>
        </p:nvSpPr>
        <p:spPr>
          <a:xfrm>
            <a:off x="9061475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bld4_543"/>
          <p:cNvSpPr/>
          <p:nvPr/>
        </p:nvSpPr>
        <p:spPr>
          <a:xfrm>
            <a:off x="9235211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8" name="bld4_544"/>
          <p:cNvSpPr txBox="1"/>
          <p:nvPr/>
        </p:nvSpPr>
        <p:spPr>
          <a:xfrm>
            <a:off x="9244355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Tenacity</a:t>
            </a:r>
            <a:endParaRPr lang="en-US" sz="1450" dirty="0"/>
          </a:p>
        </p:txBody>
      </p:sp>
      <p:sp>
        <p:nvSpPr>
          <p:cNvPr id="29" name="bld4_545"/>
          <p:cNvSpPr txBox="1"/>
          <p:nvPr/>
        </p:nvSpPr>
        <p:spPr>
          <a:xfrm>
            <a:off x="9244355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the material remains detectable at all, regardless of how strong it is.</a:t>
            </a:r>
            <a:endParaRPr lang="en-US" sz="1080" dirty="0"/>
          </a:p>
        </p:txBody>
      </p:sp>
      <p:sp>
        <p:nvSpPr>
          <p:cNvPr id="31" name="trans_fade_3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PIECE OF THE PUZZLE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Molecular weight and volatility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C9A354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C9A354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77504" y="1358797"/>
            <a:ext cx="4140407" cy="4140407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flipV="1">
            <a:off x="9547708" y="2993168"/>
            <a:ext cx="980623" cy="43583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28330" y="2993168"/>
            <a:ext cx="980623" cy="5447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528330" y="3537958"/>
            <a:ext cx="980623" cy="87166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93959" y="4409623"/>
            <a:ext cx="1634371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8893959" y="3429000"/>
            <a:ext cx="653748" cy="98062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49169" y="2884210"/>
            <a:ext cx="1198539" cy="5447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73375" y="3254667"/>
            <a:ext cx="348666" cy="34866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403028" y="2867866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383651" y="3412656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403028" y="4284321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68657" y="4284321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3867" y="2758908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molecule diagram tells you a starting hypothesis — your nose confirms it.</a:t>
            </a:r>
            <a:endParaRPr lang="en-US" sz="1050" dirty="0"/>
          </a:p>
        </p:txBody>
      </p:sp>
      <p:sp>
        <p:nvSpPr>
          <p:cNvPr id="24" name="bld1_546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5" name="bld1_547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Lighter molecules tend to evaporate faster</a:t>
            </a:r>
            <a:endParaRPr lang="en-US" sz="1650" dirty="0"/>
          </a:p>
        </p:txBody>
      </p:sp>
      <p:sp>
        <p:nvSpPr>
          <p:cNvPr id="26" name="bld1_548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light molecules generally move into the air more readily — this is part of why citrus notes read first.</a:t>
            </a:r>
            <a:endParaRPr lang="en-US" sz="1250" dirty="0"/>
          </a:p>
        </p:txBody>
      </p:sp>
      <p:sp>
        <p:nvSpPr>
          <p:cNvPr id="27" name="bld2_549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8" name="bld2_550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But it's not the only factor</a:t>
            </a:r>
            <a:endParaRPr lang="en-US" sz="1650" dirty="0"/>
          </a:p>
        </p:txBody>
      </p:sp>
      <p:sp>
        <p:nvSpPr>
          <p:cNvPr id="29" name="bld2_551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Polarity, vapour pressure, and how a material binds to skin or fabric all matter just as much.</a:t>
            </a:r>
            <a:endParaRPr lang="en-US" sz="1250" dirty="0"/>
          </a:p>
        </p:txBody>
      </p:sp>
      <p:sp>
        <p:nvSpPr>
          <p:cNvPr id="30" name="bld3_552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1" name="bld3_553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it as a rough guide, not a rule</a:t>
            </a:r>
            <a:endParaRPr lang="en-US" sz="1650" dirty="0"/>
          </a:p>
        </p:txBody>
      </p:sp>
      <p:sp>
        <p:nvSpPr>
          <p:cNvPr id="32" name="bld3_554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heavier molecules are surprisingly diffusive; some light ones are surprisingly tenacious. Always confirm by smelling.</a:t>
            </a:r>
            <a:endParaRPr lang="en-US" sz="1250" dirty="0"/>
          </a:p>
        </p:txBody>
      </p:sp>
      <p:sp>
        <p:nvSpPr>
          <p:cNvPr id="34" name="trans_fade_3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EXTRACTION METHODS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all naturals are made the same way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20402" y="5039091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10891337" y="5235936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10787849" y="5554440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10452955" y="5554440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10349467" y="5235936"/>
            <a:ext cx="294905" cy="619300"/>
          </a:xfrm>
          <a:prstGeom prst="ellipse">
            <a:avLst/>
          </a:prstGeom>
          <a:solidFill>
            <a:srgbClr val="B5652D">
              <a:alpha val="96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626300" y="5492064"/>
            <a:ext cx="283108" cy="2831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bld1_555"/>
          <p:cNvSpPr/>
          <p:nvPr/>
        </p:nvSpPr>
        <p:spPr>
          <a:xfrm>
            <a:off x="548640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16" name="Shape 14"/>
          <p:cNvSpPr/>
          <p:nvPr/>
        </p:nvSpPr>
        <p:spPr>
          <a:xfrm rot="8100000">
            <a:off x="1413022" y="2611526"/>
            <a:ext cx="285293" cy="285293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18" name="bld1_557"/>
          <p:cNvSpPr txBox="1"/>
          <p:nvPr/>
        </p:nvSpPr>
        <p:spPr>
          <a:xfrm>
            <a:off x="731520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Essential oils</a:t>
            </a:r>
            <a:endParaRPr lang="en-US" sz="1450" dirty="0"/>
          </a:p>
        </p:txBody>
      </p:sp>
      <p:sp>
        <p:nvSpPr>
          <p:cNvPr id="19" name="bld1_558"/>
          <p:cNvSpPr txBox="1"/>
          <p:nvPr/>
        </p:nvSpPr>
        <p:spPr>
          <a:xfrm>
            <a:off x="731520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Steam-distilled or cold-expressed — direct, classic extraction.</a:t>
            </a:r>
            <a:endParaRPr lang="en-US" sz="1080" dirty="0"/>
          </a:p>
        </p:txBody>
      </p:sp>
      <p:sp>
        <p:nvSpPr>
          <p:cNvPr id="20" name="bld2_559"/>
          <p:cNvSpPr/>
          <p:nvPr/>
        </p:nvSpPr>
        <p:spPr>
          <a:xfrm>
            <a:off x="281872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2" name="Shape 20"/>
          <p:cNvSpPr/>
          <p:nvPr/>
        </p:nvSpPr>
        <p:spPr>
          <a:xfrm>
            <a:off x="3754435" y="2466598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4320000">
            <a:off x="3885487" y="2561813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8640000">
            <a:off x="3835430" y="2715874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12960000">
            <a:off x="3673440" y="2715874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17280000">
            <a:off x="3623383" y="2561813"/>
            <a:ext cx="142646" cy="29955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757288" y="2685703"/>
            <a:ext cx="136941" cy="136941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8" name="Shape 26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9" name="bld2_561"/>
          <p:cNvSpPr txBox="1"/>
          <p:nvPr/>
        </p:nvSpPr>
        <p:spPr>
          <a:xfrm>
            <a:off x="300160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Absolutes</a:t>
            </a:r>
            <a:endParaRPr lang="en-US" sz="1450" dirty="0"/>
          </a:p>
        </p:txBody>
      </p:sp>
      <p:sp>
        <p:nvSpPr>
          <p:cNvPr id="30" name="bld2_562"/>
          <p:cNvSpPr txBox="1"/>
          <p:nvPr/>
        </p:nvSpPr>
        <p:spPr>
          <a:xfrm>
            <a:off x="300160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Solvent-extracted — richer, truer to the living flower, more expensive.</a:t>
            </a:r>
            <a:endParaRPr lang="en-US" sz="1080" dirty="0"/>
          </a:p>
        </p:txBody>
      </p:sp>
      <p:sp>
        <p:nvSpPr>
          <p:cNvPr id="31" name="bld3_563"/>
          <p:cNvSpPr/>
          <p:nvPr/>
        </p:nvSpPr>
        <p:spPr>
          <a:xfrm>
            <a:off x="508881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33" name="Shape 31"/>
          <p:cNvSpPr/>
          <p:nvPr/>
        </p:nvSpPr>
        <p:spPr>
          <a:xfrm>
            <a:off x="5810555" y="2468880"/>
            <a:ext cx="570586" cy="570586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873319" y="2751320"/>
            <a:ext cx="445057" cy="85588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873319" y="2679997"/>
            <a:ext cx="445057" cy="85588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873319" y="2600115"/>
            <a:ext cx="445057" cy="85588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38" name="bld3_565"/>
          <p:cNvSpPr txBox="1"/>
          <p:nvPr/>
        </p:nvSpPr>
        <p:spPr>
          <a:xfrm>
            <a:off x="527169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CO2 extracts</a:t>
            </a:r>
            <a:endParaRPr lang="en-US" sz="1450" dirty="0"/>
          </a:p>
        </p:txBody>
      </p:sp>
      <p:sp>
        <p:nvSpPr>
          <p:cNvPr id="39" name="bld3_566"/>
          <p:cNvSpPr txBox="1"/>
          <p:nvPr/>
        </p:nvSpPr>
        <p:spPr>
          <a:xfrm>
            <a:off x="527169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under pressure — very clean, often closest to the raw material.</a:t>
            </a:r>
            <a:endParaRPr lang="en-US" sz="1080" dirty="0"/>
          </a:p>
        </p:txBody>
      </p:sp>
      <p:sp>
        <p:nvSpPr>
          <p:cNvPr id="40" name="bld4_567"/>
          <p:cNvSpPr/>
          <p:nvPr/>
        </p:nvSpPr>
        <p:spPr>
          <a:xfrm>
            <a:off x="735890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2" name="Shape 40"/>
          <p:cNvSpPr/>
          <p:nvPr/>
        </p:nvSpPr>
        <p:spPr>
          <a:xfrm rot="9000000">
            <a:off x="8223291" y="2622938"/>
            <a:ext cx="330940" cy="33094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6000000">
            <a:off x="8149115" y="2588703"/>
            <a:ext cx="205411" cy="205411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11400000">
            <a:off x="8383055" y="2554468"/>
            <a:ext cx="171176" cy="17117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6" name="bld4_569"/>
          <p:cNvSpPr txBox="1"/>
          <p:nvPr/>
        </p:nvSpPr>
        <p:spPr>
          <a:xfrm>
            <a:off x="754178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Resinoids</a:t>
            </a:r>
            <a:endParaRPr lang="en-US" sz="1450" dirty="0"/>
          </a:p>
        </p:txBody>
      </p:sp>
      <p:sp>
        <p:nvSpPr>
          <p:cNvPr id="47" name="bld4_570"/>
          <p:cNvSpPr txBox="1"/>
          <p:nvPr/>
        </p:nvSpPr>
        <p:spPr>
          <a:xfrm>
            <a:off x="754178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from gums and resins — deep, warm, amber-adjacent.</a:t>
            </a:r>
            <a:endParaRPr lang="en-US" sz="1080" dirty="0"/>
          </a:p>
        </p:txBody>
      </p:sp>
      <p:sp>
        <p:nvSpPr>
          <p:cNvPr id="48" name="bld5_571"/>
          <p:cNvSpPr/>
          <p:nvPr/>
        </p:nvSpPr>
        <p:spPr>
          <a:xfrm>
            <a:off x="962899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50" name="Shape 48"/>
          <p:cNvSpPr/>
          <p:nvPr/>
        </p:nvSpPr>
        <p:spPr>
          <a:xfrm>
            <a:off x="10606630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51" name="Shape 49"/>
          <p:cNvSpPr/>
          <p:nvPr/>
        </p:nvSpPr>
        <p:spPr>
          <a:xfrm>
            <a:off x="10610464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0544733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581309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55" name="bld5_573"/>
          <p:cNvSpPr txBox="1"/>
          <p:nvPr/>
        </p:nvSpPr>
        <p:spPr>
          <a:xfrm>
            <a:off x="981187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Tinctures</a:t>
            </a:r>
            <a:endParaRPr lang="en-US" sz="1450" dirty="0"/>
          </a:p>
        </p:txBody>
      </p:sp>
      <p:sp>
        <p:nvSpPr>
          <p:cNvPr id="56" name="bld5_574"/>
          <p:cNvSpPr txBox="1"/>
          <p:nvPr/>
        </p:nvSpPr>
        <p:spPr>
          <a:xfrm>
            <a:off x="981187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steeped directly in alcohol — simple, traditional, variable.</a:t>
            </a:r>
            <a:endParaRPr lang="en-US" sz="1080" dirty="0"/>
          </a:p>
        </p:txBody>
      </p:sp>
      <p:sp>
        <p:nvSpPr>
          <p:cNvPr id="58" name="trans_fade_3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9" name="Text 5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8" grpId="0"/>
      <p:bldP spid="19" grpId="0"/>
      <p:bldP spid="20" grpId="0"/>
      <p:bldP spid="29" grpId="0"/>
      <p:bldP spid="30" grpId="0"/>
      <p:bldP spid="31" grpId="0"/>
      <p:bldP spid="38" grpId="0"/>
      <p:bldP spid="39" grpId="0"/>
      <p:bldP spid="40" grpId="0"/>
      <p:bldP spid="46" grpId="0"/>
      <p:bldP spid="47" grpId="0"/>
      <p:bldP spid="48" grpId="0"/>
      <p:bldP spid="55" grpId="0"/>
      <p:bldP spid="5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MATERIALS · FAMILY 1 OF 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Citrus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BF0C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10" name="Shape 8"/>
          <p:cNvSpPr/>
          <p:nvPr/>
        </p:nvSpPr>
        <p:spPr>
          <a:xfrm>
            <a:off x="1203316" y="3479523"/>
            <a:ext cx="1073117" cy="1073117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278434" y="3554641"/>
            <a:ext cx="922880" cy="92288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2" name="Shape 10"/>
          <p:cNvSpPr/>
          <p:nvPr/>
        </p:nvSpPr>
        <p:spPr>
          <a:xfrm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216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432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648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864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080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296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512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728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9440000">
            <a:off x="1713047" y="3586835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86219" y="3962426"/>
            <a:ext cx="107312" cy="10731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3" name="Shape 21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4" name="bld1_576"/>
          <p:cNvSpPr txBox="1"/>
          <p:nvPr/>
        </p:nvSpPr>
        <p:spPr>
          <a:xfrm>
            <a:off x="914400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Bergamot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26" name="Shape 24"/>
          <p:cNvSpPr/>
          <p:nvPr/>
        </p:nvSpPr>
        <p:spPr>
          <a:xfrm>
            <a:off x="2865793" y="3668974"/>
            <a:ext cx="1232942" cy="1232942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952099" y="3755280"/>
            <a:ext cx="1060331" cy="1060331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8" name="Shape 26"/>
          <p:cNvSpPr/>
          <p:nvPr/>
        </p:nvSpPr>
        <p:spPr>
          <a:xfrm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216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432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648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864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1080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296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512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728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19440000">
            <a:off x="3451440" y="3792268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420617" y="4223798"/>
            <a:ext cx="123294" cy="123294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39" name="Shape 37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40" name="bld2_578"/>
          <p:cNvSpPr txBox="1"/>
          <p:nvPr/>
        </p:nvSpPr>
        <p:spPr>
          <a:xfrm>
            <a:off x="2656789" y="5222097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Lemon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2" name="Shape 40"/>
          <p:cNvSpPr/>
          <p:nvPr/>
        </p:nvSpPr>
        <p:spPr>
          <a:xfrm>
            <a:off x="4688095" y="3479523"/>
            <a:ext cx="1073117" cy="1073117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763213" y="3554641"/>
            <a:ext cx="922880" cy="92288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4" name="Shape 42"/>
          <p:cNvSpPr/>
          <p:nvPr/>
        </p:nvSpPr>
        <p:spPr>
          <a:xfrm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216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432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648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864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1080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1296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512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728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9440000">
            <a:off x="5197825" y="3586835"/>
            <a:ext cx="53656" cy="418515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5170997" y="3962426"/>
            <a:ext cx="107312" cy="10731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5" name="Shape 53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56" name="bld3_580"/>
          <p:cNvSpPr txBox="1"/>
          <p:nvPr/>
        </p:nvSpPr>
        <p:spPr>
          <a:xfrm>
            <a:off x="4399178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Lime</a:t>
            </a:r>
            <a:endParaRPr lang="en-US" sz="1350" dirty="0"/>
          </a:p>
        </p:txBody>
      </p:sp>
      <p:sp>
        <p:nvSpPr>
          <p:cNvPr id="57" name="Shape 55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58" name="Shape 56"/>
          <p:cNvSpPr/>
          <p:nvPr/>
        </p:nvSpPr>
        <p:spPr>
          <a:xfrm>
            <a:off x="6430484" y="3748887"/>
            <a:ext cx="1073117" cy="1073117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6505602" y="3824005"/>
            <a:ext cx="922880" cy="92288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60" name="Shape 58"/>
          <p:cNvSpPr/>
          <p:nvPr/>
        </p:nvSpPr>
        <p:spPr>
          <a:xfrm>
            <a:off x="6940214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2160000">
            <a:off x="6940214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4320000">
            <a:off x="6940214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6480000">
            <a:off x="6940214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 rot="8640000">
            <a:off x="6940214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 rot="10800000">
            <a:off x="6940214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 rot="12960000">
            <a:off x="6940214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 rot="15120000">
            <a:off x="6940214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 rot="17280000">
            <a:off x="6940214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 rot="19440000">
            <a:off x="6940214" y="3856199"/>
            <a:ext cx="53656" cy="41851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6913386" y="4231789"/>
            <a:ext cx="107312" cy="10731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71" name="Shape 69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72" name="bld4_582"/>
          <p:cNvSpPr txBox="1"/>
          <p:nvPr/>
        </p:nvSpPr>
        <p:spPr>
          <a:xfrm>
            <a:off x="6141568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Sweet Orange</a:t>
            </a:r>
            <a:endParaRPr lang="en-US" sz="1350" dirty="0"/>
          </a:p>
        </p:txBody>
      </p:sp>
      <p:sp>
        <p:nvSpPr>
          <p:cNvPr id="73" name="Shape 71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74" name="Shape 72"/>
          <p:cNvSpPr/>
          <p:nvPr/>
        </p:nvSpPr>
        <p:spPr>
          <a:xfrm>
            <a:off x="8092960" y="3399610"/>
            <a:ext cx="1232942" cy="1232942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8179266" y="3485916"/>
            <a:ext cx="1060331" cy="1060331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76" name="Shape 74"/>
          <p:cNvSpPr/>
          <p:nvPr/>
        </p:nvSpPr>
        <p:spPr>
          <a:xfrm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 rot="216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 rot="432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 rot="648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 rot="864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 rot="1080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 rot="1296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 rot="1512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 rot="1728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 rot="19440000">
            <a:off x="8678608" y="3522904"/>
            <a:ext cx="61647" cy="480848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>
            <a:off x="8647784" y="3954434"/>
            <a:ext cx="123294" cy="123294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87" name="Shape 85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88" name="bld5_584"/>
          <p:cNvSpPr txBox="1"/>
          <p:nvPr/>
        </p:nvSpPr>
        <p:spPr>
          <a:xfrm>
            <a:off x="7883957" y="4952733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Mandarin</a:t>
            </a:r>
            <a:endParaRPr lang="en-US" sz="1350" dirty="0"/>
          </a:p>
        </p:txBody>
      </p:sp>
      <p:sp>
        <p:nvSpPr>
          <p:cNvPr id="89" name="Shape 87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90" name="Shape 88"/>
          <p:cNvSpPr/>
          <p:nvPr/>
        </p:nvSpPr>
        <p:spPr>
          <a:xfrm>
            <a:off x="9915262" y="3748887"/>
            <a:ext cx="1073117" cy="1073117"/>
          </a:xfrm>
          <a:prstGeom prst="ellipse">
            <a:avLst/>
          </a:prstGeom>
          <a:solidFill>
            <a:srgbClr val="C9503E">
              <a:alpha val="92000"/>
            </a:srgbClr>
          </a:solidFill>
          <a:ln/>
        </p:spPr>
      </p:sp>
      <p:sp>
        <p:nvSpPr>
          <p:cNvPr id="91" name="Shape 89"/>
          <p:cNvSpPr/>
          <p:nvPr/>
        </p:nvSpPr>
        <p:spPr>
          <a:xfrm>
            <a:off x="9990380" y="3824005"/>
            <a:ext cx="922880" cy="92288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92" name="Shape 90"/>
          <p:cNvSpPr/>
          <p:nvPr/>
        </p:nvSpPr>
        <p:spPr>
          <a:xfrm>
            <a:off x="10424993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93" name="Shape 91"/>
          <p:cNvSpPr/>
          <p:nvPr/>
        </p:nvSpPr>
        <p:spPr>
          <a:xfrm rot="2160000">
            <a:off x="10424993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 rot="4320000">
            <a:off x="10424993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95" name="Shape 93"/>
          <p:cNvSpPr/>
          <p:nvPr/>
        </p:nvSpPr>
        <p:spPr>
          <a:xfrm rot="6480000">
            <a:off x="10424993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96" name="Shape 94"/>
          <p:cNvSpPr/>
          <p:nvPr/>
        </p:nvSpPr>
        <p:spPr>
          <a:xfrm rot="8640000">
            <a:off x="10424993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97" name="Shape 95"/>
          <p:cNvSpPr/>
          <p:nvPr/>
        </p:nvSpPr>
        <p:spPr>
          <a:xfrm rot="10800000">
            <a:off x="10424993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98" name="Shape 96"/>
          <p:cNvSpPr/>
          <p:nvPr/>
        </p:nvSpPr>
        <p:spPr>
          <a:xfrm rot="12960000">
            <a:off x="10424993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99" name="Shape 97"/>
          <p:cNvSpPr/>
          <p:nvPr/>
        </p:nvSpPr>
        <p:spPr>
          <a:xfrm rot="15120000">
            <a:off x="10424993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0" name="Shape 98"/>
          <p:cNvSpPr/>
          <p:nvPr/>
        </p:nvSpPr>
        <p:spPr>
          <a:xfrm rot="17280000">
            <a:off x="10424993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1" name="Shape 99"/>
          <p:cNvSpPr/>
          <p:nvPr/>
        </p:nvSpPr>
        <p:spPr>
          <a:xfrm rot="19440000">
            <a:off x="10424993" y="3856199"/>
            <a:ext cx="53656" cy="418515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>
            <a:off x="10398165" y="4231789"/>
            <a:ext cx="107312" cy="10731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3" name="Shape 101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104" name="bld6_586"/>
          <p:cNvSpPr txBox="1"/>
          <p:nvPr/>
        </p:nvSpPr>
        <p:spPr>
          <a:xfrm>
            <a:off x="9626346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Grapefruit</a:t>
            </a:r>
            <a:endParaRPr lang="en-US" sz="1350" dirty="0"/>
          </a:p>
        </p:txBody>
      </p:sp>
      <p:sp>
        <p:nvSpPr>
          <p:cNvPr id="106" name="trans_fade_3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07" name="Text 10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40" grpId="0"/>
      <p:bldP spid="56" grpId="0"/>
      <p:bldP spid="72" grpId="0"/>
      <p:bldP spid="88" grpId="0"/>
      <p:bldP spid="104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CITRUS,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citrus oils — not one smell</a:t>
            </a:r>
            <a:endParaRPr lang="en-US" sz="3200" dirty="0"/>
          </a:p>
        </p:txBody>
      </p:sp>
      <p:sp>
        <p:nvSpPr>
          <p:cNvPr id="7" name="bld1_587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9" name="Shape 7"/>
          <p:cNvSpPr/>
          <p:nvPr/>
        </p:nvSpPr>
        <p:spPr>
          <a:xfrm>
            <a:off x="1596931" y="1978030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30881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" name="Shape 9"/>
          <p:cNvSpPr/>
          <p:nvPr/>
        </p:nvSpPr>
        <p:spPr>
          <a:xfrm>
            <a:off x="1827305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2160000">
            <a:off x="1827305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4320000">
            <a:off x="1827305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6480000">
            <a:off x="1827305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8640000">
            <a:off x="1827305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1827305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2960000">
            <a:off x="1827305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5120000">
            <a:off x="1827305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7280000">
            <a:off x="1827305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9440000">
            <a:off x="1827305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815180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2" name="Shape 20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3" name="bld1_589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Bergamot</a:t>
            </a:r>
            <a:endParaRPr lang="en-US" sz="1450" dirty="0"/>
          </a:p>
        </p:txBody>
      </p:sp>
      <p:sp>
        <p:nvSpPr>
          <p:cNvPr id="24" name="bld1_590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Fresh, elegant, floral-citrus, slightly bitter. Very fast top note, gone in under 2 hours.</a:t>
            </a:r>
            <a:endParaRPr lang="en-US" sz="1080" dirty="0"/>
          </a:p>
        </p:txBody>
      </p:sp>
      <p:sp>
        <p:nvSpPr>
          <p:cNvPr id="25" name="bld2_591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27" name="Shape 25"/>
          <p:cNvSpPr/>
          <p:nvPr/>
        </p:nvSpPr>
        <p:spPr>
          <a:xfrm>
            <a:off x="4434543" y="1978030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468493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9" name="Shape 27"/>
          <p:cNvSpPr/>
          <p:nvPr/>
        </p:nvSpPr>
        <p:spPr>
          <a:xfrm>
            <a:off x="4664917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2160000">
            <a:off x="4664917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4320000">
            <a:off x="4664917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6480000">
            <a:off x="4664917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8640000">
            <a:off x="4664917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0800000">
            <a:off x="4664917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2960000">
            <a:off x="4664917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5120000">
            <a:off x="4664917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17280000">
            <a:off x="4664917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19440000">
            <a:off x="4664917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652792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0" name="Shape 38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41" name="bld2_593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Lemon</a:t>
            </a:r>
            <a:endParaRPr lang="en-US" sz="1450" dirty="0"/>
          </a:p>
        </p:txBody>
      </p:sp>
      <p:sp>
        <p:nvSpPr>
          <p:cNvPr id="42" name="bld2_594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Bright, sharp, sparkling and immediately recognisable. A fleeting, classic freshness lift.</a:t>
            </a:r>
            <a:endParaRPr lang="en-US" sz="1080" dirty="0"/>
          </a:p>
        </p:txBody>
      </p:sp>
      <p:sp>
        <p:nvSpPr>
          <p:cNvPr id="43" name="bld3_595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5" name="Shape 43"/>
          <p:cNvSpPr/>
          <p:nvPr/>
        </p:nvSpPr>
        <p:spPr>
          <a:xfrm>
            <a:off x="7272155" y="1978030"/>
            <a:ext cx="484998" cy="484998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306104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7" name="Shape 45"/>
          <p:cNvSpPr/>
          <p:nvPr/>
        </p:nvSpPr>
        <p:spPr>
          <a:xfrm>
            <a:off x="7502529" y="2026530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2160000">
            <a:off x="7502529" y="2026530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4320000">
            <a:off x="7502529" y="2026530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6480000">
            <a:off x="7502529" y="2026530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8640000">
            <a:off x="7502529" y="2026530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0800000">
            <a:off x="7502529" y="2026530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2960000">
            <a:off x="7502529" y="2026530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5120000">
            <a:off x="7502529" y="2026530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7280000">
            <a:off x="7502529" y="2026530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19440000">
            <a:off x="7502529" y="2026530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490404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8" name="Shape 56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8FBF6B"/>
            </a:solidFill>
            <a:prstDash val="solid"/>
          </a:ln>
        </p:spPr>
      </p:sp>
      <p:sp>
        <p:nvSpPr>
          <p:cNvPr id="59" name="bld3_597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Lime</a:t>
            </a:r>
            <a:endParaRPr lang="en-US" sz="1450" dirty="0"/>
          </a:p>
        </p:txBody>
      </p:sp>
      <p:sp>
        <p:nvSpPr>
          <p:cNvPr id="60" name="bld3_598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Sharper, greener and more tart than lemon. Zesty and short-lived.</a:t>
            </a:r>
            <a:endParaRPr lang="en-US" sz="1080" dirty="0"/>
          </a:p>
        </p:txBody>
      </p:sp>
      <p:sp>
        <p:nvSpPr>
          <p:cNvPr id="61" name="bld4_599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63" name="Shape 61"/>
          <p:cNvSpPr/>
          <p:nvPr/>
        </p:nvSpPr>
        <p:spPr>
          <a:xfrm>
            <a:off x="10109766" y="1978030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10143716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65" name="Shape 63"/>
          <p:cNvSpPr/>
          <p:nvPr/>
        </p:nvSpPr>
        <p:spPr>
          <a:xfrm>
            <a:off x="10340140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 rot="2160000">
            <a:off x="10340140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 rot="4320000">
            <a:off x="10340140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 rot="6480000">
            <a:off x="10340140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 rot="8640000">
            <a:off x="10340140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 rot="10800000">
            <a:off x="10340140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 rot="12960000">
            <a:off x="10340140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 rot="15120000">
            <a:off x="10340140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 rot="17280000">
            <a:off x="10340140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 rot="19440000">
            <a:off x="10340140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10328015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76" name="Shape 74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F2C348"/>
            </a:solidFill>
            <a:prstDash val="solid"/>
          </a:ln>
        </p:spPr>
      </p:sp>
      <p:sp>
        <p:nvSpPr>
          <p:cNvPr id="77" name="bld4_601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Sweet Orange</a:t>
            </a:r>
            <a:endParaRPr lang="en-US" sz="1450" dirty="0"/>
          </a:p>
        </p:txBody>
      </p:sp>
      <p:sp>
        <p:nvSpPr>
          <p:cNvPr id="78" name="bld4_602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Softer, sweeter, rounder and more juicy than lemon or lime. A warm, candy-like top note.</a:t>
            </a:r>
            <a:endParaRPr lang="en-US" sz="1080" dirty="0"/>
          </a:p>
        </p:txBody>
      </p:sp>
      <p:sp>
        <p:nvSpPr>
          <p:cNvPr id="79" name="bld5_603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81" name="Shape 79"/>
          <p:cNvSpPr/>
          <p:nvPr/>
        </p:nvSpPr>
        <p:spPr>
          <a:xfrm>
            <a:off x="1596931" y="4337182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1630881" y="4371132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83" name="Shape 81"/>
          <p:cNvSpPr/>
          <p:nvPr/>
        </p:nvSpPr>
        <p:spPr>
          <a:xfrm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 rot="216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 rot="432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 rot="648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7" name="Shape 85"/>
          <p:cNvSpPr/>
          <p:nvPr/>
        </p:nvSpPr>
        <p:spPr>
          <a:xfrm rot="864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8" name="Shape 86"/>
          <p:cNvSpPr/>
          <p:nvPr/>
        </p:nvSpPr>
        <p:spPr>
          <a:xfrm rot="1080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89" name="Shape 87"/>
          <p:cNvSpPr/>
          <p:nvPr/>
        </p:nvSpPr>
        <p:spPr>
          <a:xfrm rot="1296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90" name="Shape 88"/>
          <p:cNvSpPr/>
          <p:nvPr/>
        </p:nvSpPr>
        <p:spPr>
          <a:xfrm rot="1512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91" name="Shape 89"/>
          <p:cNvSpPr/>
          <p:nvPr/>
        </p:nvSpPr>
        <p:spPr>
          <a:xfrm rot="1728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92" name="Shape 90"/>
          <p:cNvSpPr/>
          <p:nvPr/>
        </p:nvSpPr>
        <p:spPr>
          <a:xfrm rot="1944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93" name="Shape 91"/>
          <p:cNvSpPr/>
          <p:nvPr/>
        </p:nvSpPr>
        <p:spPr>
          <a:xfrm>
            <a:off x="1815180" y="4555431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94" name="Shape 92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95" name="bld5_605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Mandarin</a:t>
            </a:r>
            <a:endParaRPr lang="en-US" sz="1450" dirty="0"/>
          </a:p>
        </p:txBody>
      </p:sp>
      <p:sp>
        <p:nvSpPr>
          <p:cNvPr id="96" name="bld5_606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sweet, gentle citrus — a smoother, less acidic alternative to orange.</a:t>
            </a:r>
            <a:endParaRPr lang="en-US" sz="1080" dirty="0"/>
          </a:p>
        </p:txBody>
      </p:sp>
      <p:sp>
        <p:nvSpPr>
          <p:cNvPr id="97" name="bld6_607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8" name="Shape 96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99" name="Shape 97"/>
          <p:cNvSpPr/>
          <p:nvPr/>
        </p:nvSpPr>
        <p:spPr>
          <a:xfrm>
            <a:off x="4434543" y="4337182"/>
            <a:ext cx="484998" cy="484998"/>
          </a:xfrm>
          <a:prstGeom prst="ellipse">
            <a:avLst/>
          </a:prstGeom>
          <a:solidFill>
            <a:srgbClr val="C9503E">
              <a:alpha val="92000"/>
            </a:srgbClr>
          </a:solidFill>
          <a:ln/>
        </p:spPr>
      </p:sp>
      <p:sp>
        <p:nvSpPr>
          <p:cNvPr id="100" name="Shape 98"/>
          <p:cNvSpPr/>
          <p:nvPr/>
        </p:nvSpPr>
        <p:spPr>
          <a:xfrm>
            <a:off x="4468493" y="4371132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1" name="Shape 99"/>
          <p:cNvSpPr/>
          <p:nvPr/>
        </p:nvSpPr>
        <p:spPr>
          <a:xfrm>
            <a:off x="4664917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 rot="2160000">
            <a:off x="4664917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3" name="Shape 101"/>
          <p:cNvSpPr/>
          <p:nvPr/>
        </p:nvSpPr>
        <p:spPr>
          <a:xfrm rot="4320000">
            <a:off x="4664917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4" name="Shape 102"/>
          <p:cNvSpPr/>
          <p:nvPr/>
        </p:nvSpPr>
        <p:spPr>
          <a:xfrm rot="6480000">
            <a:off x="4664917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5" name="Shape 103"/>
          <p:cNvSpPr/>
          <p:nvPr/>
        </p:nvSpPr>
        <p:spPr>
          <a:xfrm rot="8640000">
            <a:off x="4664917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6" name="Shape 104"/>
          <p:cNvSpPr/>
          <p:nvPr/>
        </p:nvSpPr>
        <p:spPr>
          <a:xfrm rot="10800000">
            <a:off x="4664917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7" name="Shape 105"/>
          <p:cNvSpPr/>
          <p:nvPr/>
        </p:nvSpPr>
        <p:spPr>
          <a:xfrm rot="12960000">
            <a:off x="4664917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8" name="Shape 106"/>
          <p:cNvSpPr/>
          <p:nvPr/>
        </p:nvSpPr>
        <p:spPr>
          <a:xfrm rot="15120000">
            <a:off x="4664917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09" name="Shape 107"/>
          <p:cNvSpPr/>
          <p:nvPr/>
        </p:nvSpPr>
        <p:spPr>
          <a:xfrm rot="17280000">
            <a:off x="4664917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10" name="Shape 108"/>
          <p:cNvSpPr/>
          <p:nvPr/>
        </p:nvSpPr>
        <p:spPr>
          <a:xfrm rot="19440000">
            <a:off x="4664917" y="4385682"/>
            <a:ext cx="24250" cy="18914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111" name="Shape 109"/>
          <p:cNvSpPr/>
          <p:nvPr/>
        </p:nvSpPr>
        <p:spPr>
          <a:xfrm>
            <a:off x="4652792" y="4555431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EC8F72"/>
            </a:solidFill>
            <a:prstDash val="solid"/>
          </a:ln>
        </p:spPr>
      </p:sp>
      <p:sp>
        <p:nvSpPr>
          <p:cNvPr id="113" name="bld6_609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Grapefruit</a:t>
            </a:r>
            <a:endParaRPr lang="en-US" sz="1450" dirty="0"/>
          </a:p>
        </p:txBody>
      </p:sp>
      <p:sp>
        <p:nvSpPr>
          <p:cNvPr id="114" name="bld6_610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Bitter, fresh, slightly sulphurous depending on quality — reads further into the heart than most citrus.</a:t>
            </a:r>
            <a:endParaRPr lang="en-US" sz="1080" dirty="0"/>
          </a:p>
        </p:txBody>
      </p:sp>
      <p:sp>
        <p:nvSpPr>
          <p:cNvPr id="115" name="bld7_611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6" name="Shape 114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272155" y="4337182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118" name="Shape 116"/>
          <p:cNvSpPr/>
          <p:nvPr/>
        </p:nvSpPr>
        <p:spPr>
          <a:xfrm>
            <a:off x="7306104" y="4371132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502529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0" name="Shape 118"/>
          <p:cNvSpPr/>
          <p:nvPr/>
        </p:nvSpPr>
        <p:spPr>
          <a:xfrm rot="2160000">
            <a:off x="7502529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1" name="Shape 119"/>
          <p:cNvSpPr/>
          <p:nvPr/>
        </p:nvSpPr>
        <p:spPr>
          <a:xfrm rot="4320000">
            <a:off x="7502529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2" name="Shape 120"/>
          <p:cNvSpPr/>
          <p:nvPr/>
        </p:nvSpPr>
        <p:spPr>
          <a:xfrm rot="6480000">
            <a:off x="7502529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3" name="Shape 121"/>
          <p:cNvSpPr/>
          <p:nvPr/>
        </p:nvSpPr>
        <p:spPr>
          <a:xfrm rot="8640000">
            <a:off x="7502529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4" name="Shape 122"/>
          <p:cNvSpPr/>
          <p:nvPr/>
        </p:nvSpPr>
        <p:spPr>
          <a:xfrm rot="10800000">
            <a:off x="7502529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5" name="Shape 123"/>
          <p:cNvSpPr/>
          <p:nvPr/>
        </p:nvSpPr>
        <p:spPr>
          <a:xfrm rot="12960000">
            <a:off x="7502529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6" name="Shape 124"/>
          <p:cNvSpPr/>
          <p:nvPr/>
        </p:nvSpPr>
        <p:spPr>
          <a:xfrm rot="15120000">
            <a:off x="7502529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7" name="Shape 125"/>
          <p:cNvSpPr/>
          <p:nvPr/>
        </p:nvSpPr>
        <p:spPr>
          <a:xfrm rot="17280000">
            <a:off x="7502529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8" name="Shape 126"/>
          <p:cNvSpPr/>
          <p:nvPr/>
        </p:nvSpPr>
        <p:spPr>
          <a:xfrm rot="19440000">
            <a:off x="7502529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9" name="Shape 127"/>
          <p:cNvSpPr/>
          <p:nvPr/>
        </p:nvSpPr>
        <p:spPr>
          <a:xfrm>
            <a:off x="7490404" y="4555431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F2C348"/>
            </a:solidFill>
            <a:prstDash val="solid"/>
          </a:ln>
        </p:spPr>
      </p:sp>
      <p:sp>
        <p:nvSpPr>
          <p:cNvPr id="131" name="bld7_613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Bitter Orange</a:t>
            </a:r>
            <a:endParaRPr lang="en-US" sz="1450" dirty="0"/>
          </a:p>
        </p:txBody>
      </p:sp>
      <p:sp>
        <p:nvSpPr>
          <p:cNvPr id="132" name="bld7_614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Drier and more tart than sweet orange, with a slightly green, peel-like edge.</a:t>
            </a:r>
            <a:endParaRPr lang="en-US" sz="1080" dirty="0"/>
          </a:p>
        </p:txBody>
      </p:sp>
      <p:sp>
        <p:nvSpPr>
          <p:cNvPr id="133" name="bld8_615"/>
          <p:cNvSpPr/>
          <p:nvPr/>
        </p:nvSpPr>
        <p:spPr>
          <a:xfrm>
            <a:off x="9061475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4" name="Shape 132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135" name="Shape 133"/>
          <p:cNvSpPr/>
          <p:nvPr/>
        </p:nvSpPr>
        <p:spPr>
          <a:xfrm>
            <a:off x="10109766" y="4337182"/>
            <a:ext cx="484998" cy="484998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36" name="Shape 134"/>
          <p:cNvSpPr/>
          <p:nvPr/>
        </p:nvSpPr>
        <p:spPr>
          <a:xfrm>
            <a:off x="10143716" y="4371132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37" name="Shape 135"/>
          <p:cNvSpPr/>
          <p:nvPr/>
        </p:nvSpPr>
        <p:spPr>
          <a:xfrm>
            <a:off x="10340140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38" name="Shape 136"/>
          <p:cNvSpPr/>
          <p:nvPr/>
        </p:nvSpPr>
        <p:spPr>
          <a:xfrm rot="2160000">
            <a:off x="10340140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39" name="Shape 137"/>
          <p:cNvSpPr/>
          <p:nvPr/>
        </p:nvSpPr>
        <p:spPr>
          <a:xfrm rot="4320000">
            <a:off x="10340140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0" name="Shape 138"/>
          <p:cNvSpPr/>
          <p:nvPr/>
        </p:nvSpPr>
        <p:spPr>
          <a:xfrm rot="6480000">
            <a:off x="10340140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1" name="Shape 139"/>
          <p:cNvSpPr/>
          <p:nvPr/>
        </p:nvSpPr>
        <p:spPr>
          <a:xfrm rot="8640000">
            <a:off x="10340140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2" name="Shape 140"/>
          <p:cNvSpPr/>
          <p:nvPr/>
        </p:nvSpPr>
        <p:spPr>
          <a:xfrm rot="10800000">
            <a:off x="10340140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3" name="Shape 141"/>
          <p:cNvSpPr/>
          <p:nvPr/>
        </p:nvSpPr>
        <p:spPr>
          <a:xfrm rot="12960000">
            <a:off x="10340140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4" name="Shape 142"/>
          <p:cNvSpPr/>
          <p:nvPr/>
        </p:nvSpPr>
        <p:spPr>
          <a:xfrm rot="15120000">
            <a:off x="10340140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5" name="Shape 143"/>
          <p:cNvSpPr/>
          <p:nvPr/>
        </p:nvSpPr>
        <p:spPr>
          <a:xfrm rot="17280000">
            <a:off x="10340140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6" name="Shape 144"/>
          <p:cNvSpPr/>
          <p:nvPr/>
        </p:nvSpPr>
        <p:spPr>
          <a:xfrm rot="19440000">
            <a:off x="10340140" y="4385682"/>
            <a:ext cx="24250" cy="18914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147" name="Shape 145"/>
          <p:cNvSpPr/>
          <p:nvPr/>
        </p:nvSpPr>
        <p:spPr>
          <a:xfrm>
            <a:off x="10328015" y="4555431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48" name="Shape 146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149" name="bld8_617"/>
          <p:cNvSpPr txBox="1"/>
          <p:nvPr/>
        </p:nvSpPr>
        <p:spPr>
          <a:xfrm>
            <a:off x="9244355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Petitgrain</a:t>
            </a:r>
            <a:endParaRPr lang="en-US" sz="1450" dirty="0"/>
          </a:p>
        </p:txBody>
      </p:sp>
      <p:sp>
        <p:nvSpPr>
          <p:cNvPr id="150" name="bld8_618"/>
          <p:cNvSpPr txBox="1"/>
          <p:nvPr/>
        </p:nvSpPr>
        <p:spPr>
          <a:xfrm>
            <a:off x="9244355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Green, bitter, twiggy — distilled from leaves and twigs, not fruit. Longer-lived than the peel oils.</a:t>
            </a:r>
            <a:endParaRPr lang="en-US" sz="1080" dirty="0"/>
          </a:p>
        </p:txBody>
      </p:sp>
      <p:sp>
        <p:nvSpPr>
          <p:cNvPr id="152" name="trans_fade_4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53" name="Text 15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3" grpId="0"/>
      <p:bldP spid="24" grpId="0"/>
      <p:bldP spid="25" grpId="0"/>
      <p:bldP spid="41" grpId="0"/>
      <p:bldP spid="42" grpId="0"/>
      <p:bldP spid="43" grpId="0"/>
      <p:bldP spid="59" grpId="0"/>
      <p:bldP spid="60" grpId="0"/>
      <p:bldP spid="61" grpId="0"/>
      <p:bldP spid="77" grpId="0"/>
      <p:bldP spid="78" grpId="0"/>
      <p:bldP spid="79" grpId="0"/>
      <p:bldP spid="95" grpId="0"/>
      <p:bldP spid="96" grpId="0"/>
      <p:bldP spid="97" grpId="0"/>
      <p:bldP spid="113" grpId="0"/>
      <p:bldP spid="114" grpId="0"/>
      <p:bldP spid="115" grpId="0"/>
      <p:bldP spid="131" grpId="0"/>
      <p:bldP spid="132" grpId="0"/>
      <p:bldP spid="133" grpId="0"/>
      <p:bldP spid="149" grpId="0"/>
      <p:bldP spid="150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citrus oils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8" name="Shape 6"/>
          <p:cNvSpPr/>
          <p:nvPr/>
        </p:nvSpPr>
        <p:spPr>
          <a:xfrm>
            <a:off x="1425092" y="1694383"/>
            <a:ext cx="1640434" cy="1640434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539923" y="1809214"/>
            <a:ext cx="1410773" cy="141077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2204298" y="1858427"/>
            <a:ext cx="82022" cy="63976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163288" y="2432578"/>
            <a:ext cx="164043" cy="16404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Shape 19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2" name="bld1_620"/>
          <p:cNvSpPr txBox="1"/>
          <p:nvPr/>
        </p:nvSpPr>
        <p:spPr>
          <a:xfrm>
            <a:off x="685800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Bergamot</a:t>
            </a:r>
            <a:endParaRPr lang="en-US" sz="1800" dirty="0"/>
          </a:p>
        </p:txBody>
      </p:sp>
      <p:sp>
        <p:nvSpPr>
          <p:cNvPr id="23" name="bld1_621"/>
          <p:cNvSpPr txBox="1"/>
          <p:nvPr/>
        </p:nvSpPr>
        <p:spPr>
          <a:xfrm>
            <a:off x="658368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4" name="bld1_622"/>
          <p:cNvSpPr txBox="1"/>
          <p:nvPr/>
        </p:nvSpPr>
        <p:spPr>
          <a:xfrm>
            <a:off x="658368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Fresh, elegant, floral-citrus, slightly bitter</a:t>
            </a:r>
            <a:endParaRPr lang="en-US" sz="1100" dirty="0"/>
          </a:p>
        </p:txBody>
      </p:sp>
      <p:sp>
        <p:nvSpPr>
          <p:cNvPr id="25" name="bld1_623"/>
          <p:cNvSpPr txBox="1"/>
          <p:nvPr/>
        </p:nvSpPr>
        <p:spPr>
          <a:xfrm>
            <a:off x="658368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6" name="bld1_624"/>
          <p:cNvSpPr txBox="1"/>
          <p:nvPr/>
        </p:nvSpPr>
        <p:spPr>
          <a:xfrm>
            <a:off x="658368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fresh opening lift</a:t>
            </a:r>
            <a:endParaRPr lang="en-US" sz="1100" dirty="0"/>
          </a:p>
        </p:txBody>
      </p:sp>
      <p:sp>
        <p:nvSpPr>
          <p:cNvPr id="27" name="bld1_625"/>
          <p:cNvSpPr txBox="1"/>
          <p:nvPr/>
        </p:nvSpPr>
        <p:spPr>
          <a:xfrm>
            <a:off x="658368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8" name="bld1_626"/>
          <p:cNvSpPr txBox="1"/>
          <p:nvPr/>
        </p:nvSpPr>
        <p:spPr>
          <a:xfrm>
            <a:off x="658368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note · fleeting · diffusive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30" name="Shape 28"/>
          <p:cNvSpPr/>
          <p:nvPr/>
        </p:nvSpPr>
        <p:spPr>
          <a:xfrm>
            <a:off x="4818431" y="1694383"/>
            <a:ext cx="1640434" cy="1640434"/>
          </a:xfrm>
          <a:prstGeom prst="ellipse">
            <a:avLst/>
          </a:prstGeom>
          <a:solidFill>
            <a:srgbClr val="C9503E">
              <a:alpha val="9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933261" y="1809214"/>
            <a:ext cx="1410773" cy="141077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32" name="Shape 30"/>
          <p:cNvSpPr/>
          <p:nvPr/>
        </p:nvSpPr>
        <p:spPr>
          <a:xfrm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216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432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648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864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1080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1296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1512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1728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19440000">
            <a:off x="5597637" y="1858427"/>
            <a:ext cx="82022" cy="639769"/>
          </a:xfrm>
          <a:prstGeom prst="ellipse">
            <a:avLst/>
          </a:prstGeom>
          <a:solidFill>
            <a:srgbClr val="EC8F72">
              <a:alpha val="8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556626" y="2432578"/>
            <a:ext cx="164043" cy="16404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3" name="Shape 41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ln w="25603">
            <a:solidFill>
              <a:srgbClr val="EC8F72"/>
            </a:solidFill>
            <a:prstDash val="solid"/>
          </a:ln>
        </p:spPr>
      </p:sp>
      <p:sp>
        <p:nvSpPr>
          <p:cNvPr id="44" name="bld2_628"/>
          <p:cNvSpPr txBox="1"/>
          <p:nvPr/>
        </p:nvSpPr>
        <p:spPr>
          <a:xfrm>
            <a:off x="4079138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Grapefruit</a:t>
            </a:r>
            <a:endParaRPr lang="en-US" sz="1800" dirty="0"/>
          </a:p>
        </p:txBody>
      </p:sp>
      <p:sp>
        <p:nvSpPr>
          <p:cNvPr id="45" name="bld2_629"/>
          <p:cNvSpPr txBox="1"/>
          <p:nvPr/>
        </p:nvSpPr>
        <p:spPr>
          <a:xfrm>
            <a:off x="4051706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6" name="bld2_630"/>
          <p:cNvSpPr txBox="1"/>
          <p:nvPr/>
        </p:nvSpPr>
        <p:spPr>
          <a:xfrm>
            <a:off x="4051706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Bitter, fresh, radiant</a:t>
            </a:r>
            <a:endParaRPr lang="en-US" sz="1100" dirty="0"/>
          </a:p>
        </p:txBody>
      </p:sp>
      <p:sp>
        <p:nvSpPr>
          <p:cNvPr id="47" name="bld2_631"/>
          <p:cNvSpPr txBox="1"/>
          <p:nvPr/>
        </p:nvSpPr>
        <p:spPr>
          <a:xfrm>
            <a:off x="4051706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8" name="bld2_632"/>
          <p:cNvSpPr txBox="1"/>
          <p:nvPr/>
        </p:nvSpPr>
        <p:spPr>
          <a:xfrm>
            <a:off x="4051706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Modern, sparkling brightness</a:t>
            </a:r>
            <a:endParaRPr lang="en-US" sz="1100" dirty="0"/>
          </a:p>
        </p:txBody>
      </p:sp>
      <p:sp>
        <p:nvSpPr>
          <p:cNvPr id="49" name="bld2_633"/>
          <p:cNvSpPr txBox="1"/>
          <p:nvPr/>
        </p:nvSpPr>
        <p:spPr>
          <a:xfrm>
            <a:off x="4051706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0" name="bld2_634"/>
          <p:cNvSpPr txBox="1"/>
          <p:nvPr/>
        </p:nvSpPr>
        <p:spPr>
          <a:xfrm>
            <a:off x="4051706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note · short · diffusive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52" name="Shape 50"/>
          <p:cNvSpPr/>
          <p:nvPr/>
        </p:nvSpPr>
        <p:spPr>
          <a:xfrm>
            <a:off x="8211769" y="1694383"/>
            <a:ext cx="1640434" cy="1640434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326600" y="1809214"/>
            <a:ext cx="1410773" cy="141077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4" name="Shape 52"/>
          <p:cNvSpPr/>
          <p:nvPr/>
        </p:nvSpPr>
        <p:spPr>
          <a:xfrm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216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432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648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864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1080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1296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1512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1728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19440000">
            <a:off x="8990975" y="1858427"/>
            <a:ext cx="82022" cy="63976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8949964" y="2432578"/>
            <a:ext cx="164043" cy="16404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65" name="Shape 63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66" name="bld3_636"/>
          <p:cNvSpPr txBox="1"/>
          <p:nvPr/>
        </p:nvSpPr>
        <p:spPr>
          <a:xfrm>
            <a:off x="7472477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Petitgrain</a:t>
            </a:r>
            <a:endParaRPr lang="en-US" sz="1800" dirty="0"/>
          </a:p>
        </p:txBody>
      </p:sp>
      <p:sp>
        <p:nvSpPr>
          <p:cNvPr id="67" name="bld3_637"/>
          <p:cNvSpPr txBox="1"/>
          <p:nvPr/>
        </p:nvSpPr>
        <p:spPr>
          <a:xfrm>
            <a:off x="7445045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68" name="bld3_638"/>
          <p:cNvSpPr txBox="1"/>
          <p:nvPr/>
        </p:nvSpPr>
        <p:spPr>
          <a:xfrm>
            <a:off x="7445045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Green, bitter, woody-twiggy</a:t>
            </a:r>
            <a:endParaRPr lang="en-US" sz="1100" dirty="0"/>
          </a:p>
        </p:txBody>
      </p:sp>
      <p:sp>
        <p:nvSpPr>
          <p:cNvPr id="69" name="bld3_639"/>
          <p:cNvSpPr txBox="1"/>
          <p:nvPr/>
        </p:nvSpPr>
        <p:spPr>
          <a:xfrm>
            <a:off x="7445045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70" name="bld3_640"/>
          <p:cNvSpPr txBox="1"/>
          <p:nvPr/>
        </p:nvSpPr>
        <p:spPr>
          <a:xfrm>
            <a:off x="7445045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Bridges citrus into the heart</a:t>
            </a:r>
            <a:endParaRPr lang="en-US" sz="1100" dirty="0"/>
          </a:p>
        </p:txBody>
      </p:sp>
      <p:sp>
        <p:nvSpPr>
          <p:cNvPr id="71" name="bld3_641"/>
          <p:cNvSpPr txBox="1"/>
          <p:nvPr/>
        </p:nvSpPr>
        <p:spPr>
          <a:xfrm>
            <a:off x="7445045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72" name="bld3_642"/>
          <p:cNvSpPr txBox="1"/>
          <p:nvPr/>
        </p:nvSpPr>
        <p:spPr>
          <a:xfrm>
            <a:off x="7445045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Top-heart · medium · intimate</a:t>
            </a:r>
            <a:endParaRPr lang="en-US" sz="1100" dirty="0"/>
          </a:p>
        </p:txBody>
      </p:sp>
      <p:sp>
        <p:nvSpPr>
          <p:cNvPr id="74" name="trans_fade_4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5" name="Text 7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2" grpId="0"/>
      <p:bldP spid="23" grpId="0"/>
      <p:bldP spid="24" grpId="0"/>
      <p:bldP spid="25" grpId="0"/>
      <p:bldP spid="26" grpId="0"/>
      <p:bldP spid="27" grpId="0"/>
      <p:bldP spid="28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66" grpId="0"/>
      <p:bldP spid="67" grpId="0"/>
      <p:bldP spid="68" grpId="0"/>
      <p:bldP spid="69" grpId="0"/>
      <p:bldP spid="70" grpId="0"/>
      <p:bldP spid="71" grpId="0"/>
      <p:bldP spid="72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MATERIALS · FAMILY 2 OF 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Woods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1E7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C4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0" name="Shape 8"/>
          <p:cNvSpPr/>
          <p:nvPr/>
        </p:nvSpPr>
        <p:spPr>
          <a:xfrm>
            <a:off x="1203316" y="3479523"/>
            <a:ext cx="1073117" cy="1073117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1" name="Shape 9"/>
          <p:cNvSpPr/>
          <p:nvPr/>
        </p:nvSpPr>
        <p:spPr>
          <a:xfrm>
            <a:off x="1471595" y="3747802"/>
            <a:ext cx="536558" cy="53655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675488" y="3951694"/>
            <a:ext cx="128774" cy="128774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3" name="Shape 11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4" name="bld1_644"/>
          <p:cNvSpPr txBox="1"/>
          <p:nvPr/>
        </p:nvSpPr>
        <p:spPr>
          <a:xfrm>
            <a:off x="914400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Sandalwood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6" name="Shape 14"/>
          <p:cNvSpPr/>
          <p:nvPr/>
        </p:nvSpPr>
        <p:spPr>
          <a:xfrm>
            <a:off x="2865793" y="3668974"/>
            <a:ext cx="1232942" cy="1232942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071283" y="3874465"/>
            <a:ext cx="821962" cy="82196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8" name="Shape 16"/>
          <p:cNvSpPr/>
          <p:nvPr/>
        </p:nvSpPr>
        <p:spPr>
          <a:xfrm>
            <a:off x="3276773" y="4079955"/>
            <a:ext cx="410981" cy="410981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408287" y="4211469"/>
            <a:ext cx="147953" cy="147953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0" name="Shape 18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1" name="bld2_646"/>
          <p:cNvSpPr txBox="1"/>
          <p:nvPr/>
        </p:nvSpPr>
        <p:spPr>
          <a:xfrm>
            <a:off x="2656789" y="5222097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Cedarwood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106610" y="3511717"/>
            <a:ext cx="236086" cy="236086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flipV="1">
            <a:off x="4819600" y="3629759"/>
            <a:ext cx="405053" cy="600516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920697" y="3629759"/>
            <a:ext cx="303956" cy="727820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082305" y="3629759"/>
            <a:ext cx="142348" cy="710229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4653" y="3629759"/>
            <a:ext cx="9144" cy="788741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224653" y="3629759"/>
            <a:ext cx="142348" cy="710229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224653" y="3629759"/>
            <a:ext cx="303956" cy="727820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224653" y="3629759"/>
            <a:ext cx="405053" cy="600516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2" name="bld3_648"/>
          <p:cNvSpPr txBox="1"/>
          <p:nvPr/>
        </p:nvSpPr>
        <p:spPr>
          <a:xfrm>
            <a:off x="4399178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Vetiver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4" name="Shape 32"/>
          <p:cNvSpPr/>
          <p:nvPr/>
        </p:nvSpPr>
        <p:spPr>
          <a:xfrm rot="18900000">
            <a:off x="6634376" y="3802543"/>
            <a:ext cx="665332" cy="965805"/>
          </a:xfrm>
          <a:prstGeom prst="teardrop">
            <a:avLst/>
          </a:prstGeom>
          <a:solidFill>
            <a:srgbClr val="8A633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961556" y="3963510"/>
            <a:ext cx="914" cy="590214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7" name="bld4_650"/>
          <p:cNvSpPr txBox="1"/>
          <p:nvPr/>
        </p:nvSpPr>
        <p:spPr>
          <a:xfrm>
            <a:off x="6141568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Patchouli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9" name="Shape 37"/>
          <p:cNvSpPr/>
          <p:nvPr/>
        </p:nvSpPr>
        <p:spPr>
          <a:xfrm>
            <a:off x="8092960" y="3399610"/>
            <a:ext cx="1232942" cy="1232942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298451" y="3605101"/>
            <a:ext cx="821962" cy="82196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1" name="Shape 39"/>
          <p:cNvSpPr/>
          <p:nvPr/>
        </p:nvSpPr>
        <p:spPr>
          <a:xfrm>
            <a:off x="8503941" y="3810591"/>
            <a:ext cx="410981" cy="410981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8635455" y="3942105"/>
            <a:ext cx="147953" cy="147953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43" name="Shape 41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4" name="bld5_652"/>
          <p:cNvSpPr txBox="1"/>
          <p:nvPr/>
        </p:nvSpPr>
        <p:spPr>
          <a:xfrm>
            <a:off x="7883957" y="4952733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Guaiacwood</a:t>
            </a:r>
            <a:endParaRPr lang="en-US" sz="1350" dirty="0"/>
          </a:p>
        </p:txBody>
      </p:sp>
      <p:sp>
        <p:nvSpPr>
          <p:cNvPr id="45" name="Shape 43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6" name="Shape 44"/>
          <p:cNvSpPr/>
          <p:nvPr/>
        </p:nvSpPr>
        <p:spPr>
          <a:xfrm>
            <a:off x="9915262" y="3748887"/>
            <a:ext cx="1073117" cy="1073117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7" name="Shape 45"/>
          <p:cNvSpPr/>
          <p:nvPr/>
        </p:nvSpPr>
        <p:spPr>
          <a:xfrm>
            <a:off x="10183541" y="4017166"/>
            <a:ext cx="536558" cy="53655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0387434" y="4221058"/>
            <a:ext cx="128774" cy="128774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49" name="Shape 47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0" name="bld6_654"/>
          <p:cNvSpPr txBox="1"/>
          <p:nvPr/>
        </p:nvSpPr>
        <p:spPr>
          <a:xfrm>
            <a:off x="9626346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Amyris</a:t>
            </a:r>
            <a:endParaRPr lang="en-US" sz="1350" dirty="0"/>
          </a:p>
        </p:txBody>
      </p:sp>
      <p:sp>
        <p:nvSpPr>
          <p:cNvPr id="52" name="trans_fade_4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3" name="Text 5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21" grpId="0"/>
      <p:bldP spid="32" grpId="0"/>
      <p:bldP spid="37" grpId="0"/>
      <p:bldP spid="44" grpId="0"/>
      <p:bldP spid="50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WOODS,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structural base of the formula</a:t>
            </a:r>
            <a:endParaRPr lang="en-US" sz="3200" dirty="0"/>
          </a:p>
        </p:txBody>
      </p:sp>
      <p:sp>
        <p:nvSpPr>
          <p:cNvPr id="7" name="bld1_655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9" name="Shape 7"/>
          <p:cNvSpPr/>
          <p:nvPr/>
        </p:nvSpPr>
        <p:spPr>
          <a:xfrm>
            <a:off x="2069866" y="1978030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0" name="Shape 8"/>
          <p:cNvSpPr/>
          <p:nvPr/>
        </p:nvSpPr>
        <p:spPr>
          <a:xfrm>
            <a:off x="2191116" y="2099280"/>
            <a:ext cx="242499" cy="2424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283265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2" name="Shape 10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3" name="bld1_657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Sandalwood</a:t>
            </a:r>
            <a:endParaRPr lang="en-US" sz="1450" dirty="0"/>
          </a:p>
        </p:txBody>
      </p:sp>
      <p:sp>
        <p:nvSpPr>
          <p:cNvPr id="14" name="bld1_658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Creamy, smooth, warm, soft wood. Base note, very long — the gold standard for smooth woods.</a:t>
            </a:r>
            <a:endParaRPr lang="en-US" sz="1080" dirty="0"/>
          </a:p>
        </p:txBody>
      </p:sp>
      <p:sp>
        <p:nvSpPr>
          <p:cNvPr id="15" name="bld2_659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7" name="Shape 15"/>
          <p:cNvSpPr/>
          <p:nvPr/>
        </p:nvSpPr>
        <p:spPr>
          <a:xfrm>
            <a:off x="5853349" y="1978030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5934182" y="2058863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9" name="Shape 17"/>
          <p:cNvSpPr/>
          <p:nvPr/>
        </p:nvSpPr>
        <p:spPr>
          <a:xfrm>
            <a:off x="6015015" y="2139696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066748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1" name="Shape 19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2" name="bld2_661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Cedarwood</a:t>
            </a:r>
            <a:endParaRPr lang="en-US" sz="1450" dirty="0"/>
          </a:p>
        </p:txBody>
      </p:sp>
      <p:sp>
        <p:nvSpPr>
          <p:cNvPr id="23" name="bld2_662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pencil-like, structured woodiness — character shifts with origin. Base note, long.</a:t>
            </a:r>
            <a:endParaRPr lang="en-US" sz="1080" dirty="0"/>
          </a:p>
        </p:txBody>
      </p:sp>
      <p:sp>
        <p:nvSpPr>
          <p:cNvPr id="24" name="bld3_663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6" name="Shape 24"/>
          <p:cNvSpPr/>
          <p:nvPr/>
        </p:nvSpPr>
        <p:spPr>
          <a:xfrm>
            <a:off x="9825980" y="1992580"/>
            <a:ext cx="106700" cy="106700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flipV="1">
            <a:off x="9696265" y="2045930"/>
            <a:ext cx="183065" cy="271405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9741956" y="2045930"/>
            <a:ext cx="137374" cy="328940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9814996" y="2045930"/>
            <a:ext cx="64334" cy="320990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879330" y="2045930"/>
            <a:ext cx="9144" cy="356473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879330" y="2045930"/>
            <a:ext cx="64334" cy="320990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879330" y="2045930"/>
            <a:ext cx="137374" cy="328940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879330" y="2045930"/>
            <a:ext cx="183065" cy="271405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35" name="bld3_665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Vetiver</a:t>
            </a:r>
            <a:endParaRPr lang="en-US" sz="1450" dirty="0"/>
          </a:p>
        </p:txBody>
      </p:sp>
      <p:sp>
        <p:nvSpPr>
          <p:cNvPr id="36" name="bld3_666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Rooty, earthy, dry, smoky, grassy. Base note, very long, grounding and textured.</a:t>
            </a:r>
            <a:endParaRPr lang="en-US" sz="1080" dirty="0"/>
          </a:p>
        </p:txBody>
      </p:sp>
      <p:sp>
        <p:nvSpPr>
          <p:cNvPr id="37" name="bld4_667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9" name="Shape 37"/>
          <p:cNvSpPr/>
          <p:nvPr/>
        </p:nvSpPr>
        <p:spPr>
          <a:xfrm rot="18900000">
            <a:off x="2162016" y="4361432"/>
            <a:ext cx="300699" cy="436498"/>
          </a:xfrm>
          <a:prstGeom prst="teardrop">
            <a:avLst/>
          </a:prstGeom>
          <a:solidFill>
            <a:srgbClr val="8A6339">
              <a:alpha val="94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2306879" y="4434182"/>
            <a:ext cx="914" cy="266749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42" name="bld4_669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Patchouli</a:t>
            </a:r>
            <a:endParaRPr lang="en-US" sz="1450" dirty="0"/>
          </a:p>
        </p:txBody>
      </p:sp>
      <p:sp>
        <p:nvSpPr>
          <p:cNvPr id="43" name="bld4_670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Earthy, woody, damp, camphoraceous or clean depending on quality. Base note, extremely long.</a:t>
            </a:r>
            <a:endParaRPr lang="en-US" sz="1080" dirty="0"/>
          </a:p>
        </p:txBody>
      </p:sp>
      <p:sp>
        <p:nvSpPr>
          <p:cNvPr id="44" name="bld5_671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853349" y="4337182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934182" y="4418015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8" name="Shape 46"/>
          <p:cNvSpPr/>
          <p:nvPr/>
        </p:nvSpPr>
        <p:spPr>
          <a:xfrm>
            <a:off x="6015015" y="4498848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066748" y="4550581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0" name="Shape 48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BE9A66"/>
            </a:solidFill>
            <a:prstDash val="solid"/>
          </a:ln>
        </p:spPr>
      </p:sp>
      <p:sp>
        <p:nvSpPr>
          <p:cNvPr id="51" name="bld5_673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Guaiacwood</a:t>
            </a:r>
            <a:endParaRPr lang="en-US" sz="1450" dirty="0"/>
          </a:p>
        </p:txBody>
      </p:sp>
      <p:sp>
        <p:nvSpPr>
          <p:cNvPr id="52" name="bld5_674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Smoky, sweet, woody, slightly rosy. Base note, long — an underused, characterful wood.</a:t>
            </a:r>
            <a:endParaRPr lang="en-US" sz="1080" dirty="0"/>
          </a:p>
        </p:txBody>
      </p:sp>
      <p:sp>
        <p:nvSpPr>
          <p:cNvPr id="53" name="bld6_675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55" name="Shape 53"/>
          <p:cNvSpPr/>
          <p:nvPr/>
        </p:nvSpPr>
        <p:spPr>
          <a:xfrm>
            <a:off x="9636831" y="4337182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56" name="Shape 54"/>
          <p:cNvSpPr/>
          <p:nvPr/>
        </p:nvSpPr>
        <p:spPr>
          <a:xfrm>
            <a:off x="9758081" y="4458432"/>
            <a:ext cx="242499" cy="2424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850230" y="4550581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8" name="Shape 56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BE9A66"/>
            </a:solidFill>
            <a:prstDash val="solid"/>
          </a:ln>
        </p:spPr>
      </p:sp>
      <p:sp>
        <p:nvSpPr>
          <p:cNvPr id="59" name="bld6_677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Amyris</a:t>
            </a:r>
            <a:endParaRPr lang="en-US" sz="1450" dirty="0"/>
          </a:p>
        </p:txBody>
      </p:sp>
      <p:sp>
        <p:nvSpPr>
          <p:cNvPr id="60" name="bld6_678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slightly oily, budget-friendly sandalwood-adjacent. Base note, long, inexpensive.</a:t>
            </a:r>
            <a:endParaRPr lang="en-US" sz="1080" dirty="0"/>
          </a:p>
        </p:txBody>
      </p:sp>
      <p:sp>
        <p:nvSpPr>
          <p:cNvPr id="62" name="trans_fade_4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3" name="Text 6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3" grpId="0"/>
      <p:bldP spid="14" grpId="0"/>
      <p:bldP spid="15" grpId="0"/>
      <p:bldP spid="22" grpId="0"/>
      <p:bldP spid="23" grpId="0"/>
      <p:bldP spid="24" grpId="0"/>
      <p:bldP spid="35" grpId="0"/>
      <p:bldP spid="36" grpId="0"/>
      <p:bldP spid="37" grpId="0"/>
      <p:bldP spid="42" grpId="0"/>
      <p:bldP spid="43" grpId="0"/>
      <p:bldP spid="44" grpId="0"/>
      <p:bldP spid="51" grpId="0"/>
      <p:bldP spid="52" grpId="0"/>
      <p:bldP spid="53" grpId="0"/>
      <p:bldP spid="59" grpId="0"/>
      <p:bldP spid="60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woods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8" name="Shape 6"/>
          <p:cNvSpPr/>
          <p:nvPr/>
        </p:nvSpPr>
        <p:spPr>
          <a:xfrm>
            <a:off x="1005612" y="1756220"/>
            <a:ext cx="1516759" cy="151675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9" name="Shape 7"/>
          <p:cNvSpPr/>
          <p:nvPr/>
        </p:nvSpPr>
        <p:spPr>
          <a:xfrm>
            <a:off x="1384802" y="2135410"/>
            <a:ext cx="758380" cy="75838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72986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1" name="Shape 9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2" name="bld1_680"/>
          <p:cNvSpPr txBox="1"/>
          <p:nvPr/>
        </p:nvSpPr>
        <p:spPr>
          <a:xfrm>
            <a:off x="685800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Sandalwood</a:t>
            </a:r>
            <a:endParaRPr lang="en-US" sz="1800" dirty="0"/>
          </a:p>
        </p:txBody>
      </p:sp>
      <p:sp>
        <p:nvSpPr>
          <p:cNvPr id="13" name="bld1_681"/>
          <p:cNvSpPr txBox="1"/>
          <p:nvPr/>
        </p:nvSpPr>
        <p:spPr>
          <a:xfrm>
            <a:off x="658368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4" name="bld1_682"/>
          <p:cNvSpPr txBox="1"/>
          <p:nvPr/>
        </p:nvSpPr>
        <p:spPr>
          <a:xfrm>
            <a:off x="658368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Creamy, smooth, warm, soft wood</a:t>
            </a:r>
            <a:endParaRPr lang="en-US" sz="1100" dirty="0"/>
          </a:p>
        </p:txBody>
      </p:sp>
      <p:sp>
        <p:nvSpPr>
          <p:cNvPr id="15" name="bld1_683"/>
          <p:cNvSpPr txBox="1"/>
          <p:nvPr/>
        </p:nvSpPr>
        <p:spPr>
          <a:xfrm>
            <a:off x="658368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6" name="bld1_684"/>
          <p:cNvSpPr txBox="1"/>
          <p:nvPr/>
        </p:nvSpPr>
        <p:spPr>
          <a:xfrm>
            <a:off x="658368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Smoothness, comfort</a:t>
            </a:r>
            <a:endParaRPr lang="en-US" sz="1100" dirty="0"/>
          </a:p>
        </p:txBody>
      </p:sp>
      <p:sp>
        <p:nvSpPr>
          <p:cNvPr id="17" name="bld1_685"/>
          <p:cNvSpPr txBox="1"/>
          <p:nvPr/>
        </p:nvSpPr>
        <p:spPr>
          <a:xfrm>
            <a:off x="658368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18" name="bld1_686"/>
          <p:cNvSpPr txBox="1"/>
          <p:nvPr/>
        </p:nvSpPr>
        <p:spPr>
          <a:xfrm>
            <a:off x="658368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intimate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027852" y="1801723"/>
            <a:ext cx="333687" cy="333687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flipV="1">
            <a:off x="3622187" y="1968567"/>
            <a:ext cx="572509" cy="848779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765079" y="1968567"/>
            <a:ext cx="429617" cy="1028712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993500" y="1968567"/>
            <a:ext cx="201196" cy="1003849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94696" y="1968567"/>
            <a:ext cx="9144" cy="1114818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94696" y="1968567"/>
            <a:ext cx="201196" cy="1003849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94696" y="1968567"/>
            <a:ext cx="429617" cy="1028712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194696" y="1968567"/>
            <a:ext cx="572509" cy="848779"/>
          </a:xfrm>
          <a:prstGeom prst="line">
            <a:avLst/>
          </a:prstGeom>
          <a:noFill/>
          <a:ln w="22225">
            <a:solidFill>
              <a:srgbClr val="8A6339">
                <a:alpha val="9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29" name="bld2_688"/>
          <p:cNvSpPr txBox="1"/>
          <p:nvPr/>
        </p:nvSpPr>
        <p:spPr>
          <a:xfrm>
            <a:off x="3116504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Vetiver</a:t>
            </a:r>
            <a:endParaRPr lang="en-US" sz="1800" dirty="0"/>
          </a:p>
        </p:txBody>
      </p:sp>
      <p:sp>
        <p:nvSpPr>
          <p:cNvPr id="30" name="bld2_689"/>
          <p:cNvSpPr txBox="1"/>
          <p:nvPr/>
        </p:nvSpPr>
        <p:spPr>
          <a:xfrm>
            <a:off x="3089072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1" name="bld2_690"/>
          <p:cNvSpPr txBox="1"/>
          <p:nvPr/>
        </p:nvSpPr>
        <p:spPr>
          <a:xfrm>
            <a:off x="3089072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Rooty, earthy, dry, smoky</a:t>
            </a:r>
            <a:endParaRPr lang="en-US" sz="1100" dirty="0"/>
          </a:p>
        </p:txBody>
      </p:sp>
      <p:sp>
        <p:nvSpPr>
          <p:cNvPr id="32" name="bld2_691"/>
          <p:cNvSpPr txBox="1"/>
          <p:nvPr/>
        </p:nvSpPr>
        <p:spPr>
          <a:xfrm>
            <a:off x="3089072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3" name="bld2_692"/>
          <p:cNvSpPr txBox="1"/>
          <p:nvPr/>
        </p:nvSpPr>
        <p:spPr>
          <a:xfrm>
            <a:off x="3089072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Grounding, texture</a:t>
            </a:r>
            <a:endParaRPr lang="en-US" sz="1100" dirty="0"/>
          </a:p>
        </p:txBody>
      </p:sp>
      <p:sp>
        <p:nvSpPr>
          <p:cNvPr id="34" name="bld2_693"/>
          <p:cNvSpPr txBox="1"/>
          <p:nvPr/>
        </p:nvSpPr>
        <p:spPr>
          <a:xfrm>
            <a:off x="3089072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5" name="bld2_694"/>
          <p:cNvSpPr txBox="1"/>
          <p:nvPr/>
        </p:nvSpPr>
        <p:spPr>
          <a:xfrm>
            <a:off x="3089072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moderate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7" name="Shape 35"/>
          <p:cNvSpPr/>
          <p:nvPr/>
        </p:nvSpPr>
        <p:spPr>
          <a:xfrm rot="18900000">
            <a:off x="6155204" y="1832058"/>
            <a:ext cx="940391" cy="1365083"/>
          </a:xfrm>
          <a:prstGeom prst="teardrop">
            <a:avLst/>
          </a:prstGeom>
          <a:solidFill>
            <a:srgbClr val="8A6339">
              <a:alpha val="94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619913" y="2059572"/>
            <a:ext cx="914" cy="83421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40" name="bld3_696"/>
          <p:cNvSpPr txBox="1"/>
          <p:nvPr/>
        </p:nvSpPr>
        <p:spPr>
          <a:xfrm>
            <a:off x="5547208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Patchouli</a:t>
            </a:r>
            <a:endParaRPr lang="en-US" sz="1800" dirty="0"/>
          </a:p>
        </p:txBody>
      </p:sp>
      <p:sp>
        <p:nvSpPr>
          <p:cNvPr id="41" name="bld3_697"/>
          <p:cNvSpPr txBox="1"/>
          <p:nvPr/>
        </p:nvSpPr>
        <p:spPr>
          <a:xfrm>
            <a:off x="5519776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2" name="bld3_698"/>
          <p:cNvSpPr txBox="1"/>
          <p:nvPr/>
        </p:nvSpPr>
        <p:spPr>
          <a:xfrm>
            <a:off x="5519776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Earthy, woody, damp</a:t>
            </a:r>
            <a:endParaRPr lang="en-US" sz="1100" dirty="0"/>
          </a:p>
        </p:txBody>
      </p:sp>
      <p:sp>
        <p:nvSpPr>
          <p:cNvPr id="43" name="bld3_699"/>
          <p:cNvSpPr txBox="1"/>
          <p:nvPr/>
        </p:nvSpPr>
        <p:spPr>
          <a:xfrm>
            <a:off x="5519776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4" name="bld3_700"/>
          <p:cNvSpPr txBox="1"/>
          <p:nvPr/>
        </p:nvSpPr>
        <p:spPr>
          <a:xfrm>
            <a:off x="5519776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and grip</a:t>
            </a:r>
            <a:endParaRPr lang="en-US" sz="1100" dirty="0"/>
          </a:p>
        </p:txBody>
      </p:sp>
      <p:sp>
        <p:nvSpPr>
          <p:cNvPr id="45" name="bld3_701"/>
          <p:cNvSpPr txBox="1"/>
          <p:nvPr/>
        </p:nvSpPr>
        <p:spPr>
          <a:xfrm>
            <a:off x="5519776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46" name="bld3_702"/>
          <p:cNvSpPr txBox="1"/>
          <p:nvPr/>
        </p:nvSpPr>
        <p:spPr>
          <a:xfrm>
            <a:off x="5519776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extremely long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8" name="Shape 46"/>
          <p:cNvSpPr/>
          <p:nvPr/>
        </p:nvSpPr>
        <p:spPr>
          <a:xfrm>
            <a:off x="8297724" y="1756220"/>
            <a:ext cx="1516759" cy="151675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550517" y="2009014"/>
            <a:ext cx="1011173" cy="1011173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50" name="Shape 48"/>
          <p:cNvSpPr/>
          <p:nvPr/>
        </p:nvSpPr>
        <p:spPr>
          <a:xfrm>
            <a:off x="8803310" y="2261807"/>
            <a:ext cx="505586" cy="50558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965098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2" name="Shape 50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3" name="bld4_704"/>
          <p:cNvSpPr txBox="1"/>
          <p:nvPr/>
        </p:nvSpPr>
        <p:spPr>
          <a:xfrm>
            <a:off x="7977911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Cedarwood</a:t>
            </a:r>
            <a:endParaRPr lang="en-US" sz="1800" dirty="0"/>
          </a:p>
        </p:txBody>
      </p:sp>
      <p:sp>
        <p:nvSpPr>
          <p:cNvPr id="54" name="bld4_705"/>
          <p:cNvSpPr txBox="1"/>
          <p:nvPr/>
        </p:nvSpPr>
        <p:spPr>
          <a:xfrm>
            <a:off x="7950479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55" name="bld4_706"/>
          <p:cNvSpPr txBox="1"/>
          <p:nvPr/>
        </p:nvSpPr>
        <p:spPr>
          <a:xfrm>
            <a:off x="7950479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pencil-like woodiness</a:t>
            </a:r>
            <a:endParaRPr lang="en-US" sz="1100" dirty="0"/>
          </a:p>
        </p:txBody>
      </p:sp>
      <p:sp>
        <p:nvSpPr>
          <p:cNvPr id="56" name="bld4_707"/>
          <p:cNvSpPr txBox="1"/>
          <p:nvPr/>
        </p:nvSpPr>
        <p:spPr>
          <a:xfrm>
            <a:off x="7950479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57" name="bld4_708"/>
          <p:cNvSpPr txBox="1"/>
          <p:nvPr/>
        </p:nvSpPr>
        <p:spPr>
          <a:xfrm>
            <a:off x="7950479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Softness, structure</a:t>
            </a:r>
            <a:endParaRPr lang="en-US" sz="1100" dirty="0"/>
          </a:p>
        </p:txBody>
      </p:sp>
      <p:sp>
        <p:nvSpPr>
          <p:cNvPr id="58" name="bld4_709"/>
          <p:cNvSpPr txBox="1"/>
          <p:nvPr/>
        </p:nvSpPr>
        <p:spPr>
          <a:xfrm>
            <a:off x="7950479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9" name="bld4_710"/>
          <p:cNvSpPr txBox="1"/>
          <p:nvPr/>
        </p:nvSpPr>
        <p:spPr>
          <a:xfrm>
            <a:off x="7950479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long · quiet</a:t>
            </a:r>
            <a:endParaRPr lang="en-US" sz="1100" dirty="0"/>
          </a:p>
        </p:txBody>
      </p:sp>
      <p:sp>
        <p:nvSpPr>
          <p:cNvPr id="61" name="trans_fade_4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2" name="Text 5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  <p:bldP spid="1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53" grpId="0"/>
      <p:bldP spid="54" grpId="0"/>
      <p:bldP spid="55" grpId="0"/>
      <p:bldP spid="56" grpId="0"/>
      <p:bldP spid="57" grpId="0"/>
      <p:bldP spid="58" grpId="0"/>
      <p:bldP spid="59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MATERIALS · FAMILY 3 OF 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Florals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AEC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A4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0" name="Shape 8"/>
          <p:cNvSpPr/>
          <p:nvPr/>
        </p:nvSpPr>
        <p:spPr>
          <a:xfrm>
            <a:off x="1605735" y="3475231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4320000">
            <a:off x="1852209" y="3654304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8640000">
            <a:off x="1758064" y="3944051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2960000">
            <a:off x="1453406" y="3944051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7280000">
            <a:off x="1359261" y="3654304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611101" y="3887307"/>
            <a:ext cx="257548" cy="257548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7" name="bld1_712"/>
          <p:cNvSpPr txBox="1"/>
          <p:nvPr/>
        </p:nvSpPr>
        <p:spPr>
          <a:xfrm>
            <a:off x="914400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9" name="Shape 17"/>
          <p:cNvSpPr/>
          <p:nvPr/>
        </p:nvSpPr>
        <p:spPr>
          <a:xfrm rot="10800000">
            <a:off x="3395958" y="3668974"/>
            <a:ext cx="172612" cy="616471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4400000">
            <a:off x="3662898" y="3823092"/>
            <a:ext cx="172612" cy="616471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8000000">
            <a:off x="3662898" y="4131328"/>
            <a:ext cx="172612" cy="616471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395958" y="4285445"/>
            <a:ext cx="172612" cy="616471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3600000">
            <a:off x="3129018" y="4131328"/>
            <a:ext cx="172612" cy="616471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7200000">
            <a:off x="3129018" y="3823092"/>
            <a:ext cx="172612" cy="616471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334311" y="4137492"/>
            <a:ext cx="295906" cy="295906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6" name="Shape 24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7" name="bld2_714"/>
          <p:cNvSpPr txBox="1"/>
          <p:nvPr/>
        </p:nvSpPr>
        <p:spPr>
          <a:xfrm>
            <a:off x="2656789" y="5222097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9" name="Shape 27"/>
          <p:cNvSpPr/>
          <p:nvPr/>
        </p:nvSpPr>
        <p:spPr>
          <a:xfrm>
            <a:off x="5090513" y="3475231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4320000">
            <a:off x="5336987" y="3654304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8640000">
            <a:off x="5242842" y="3944051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12960000">
            <a:off x="4938184" y="3944051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17280000">
            <a:off x="4844040" y="3654304"/>
            <a:ext cx="268279" cy="56338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095879" y="3887307"/>
            <a:ext cx="257548" cy="25754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35" name="Shape 33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6" name="bld3_716"/>
          <p:cNvSpPr txBox="1"/>
          <p:nvPr/>
        </p:nvSpPr>
        <p:spPr>
          <a:xfrm>
            <a:off x="4399178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Neroli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8" name="Shape 36"/>
          <p:cNvSpPr/>
          <p:nvPr/>
        </p:nvSpPr>
        <p:spPr>
          <a:xfrm rot="10800000">
            <a:off x="6891924" y="3748887"/>
            <a:ext cx="150236" cy="536558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14400000">
            <a:off x="7124261" y="3883027"/>
            <a:ext cx="150236" cy="536558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18000000">
            <a:off x="7124261" y="4151306"/>
            <a:ext cx="150236" cy="536558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891924" y="4285445"/>
            <a:ext cx="150236" cy="536558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3600000">
            <a:off x="6659587" y="4151306"/>
            <a:ext cx="150236" cy="536558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7200000">
            <a:off x="6659587" y="3883027"/>
            <a:ext cx="150236" cy="536558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838268" y="4156671"/>
            <a:ext cx="257548" cy="257548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45" name="Shape 43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46" name="bld4_718"/>
          <p:cNvSpPr txBox="1"/>
          <p:nvPr/>
        </p:nvSpPr>
        <p:spPr>
          <a:xfrm>
            <a:off x="6141568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Ylang-Ylang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8" name="Shape 46"/>
          <p:cNvSpPr/>
          <p:nvPr/>
        </p:nvSpPr>
        <p:spPr>
          <a:xfrm>
            <a:off x="8616961" y="3607731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2700000">
            <a:off x="8748780" y="3662332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5400000">
            <a:off x="8803382" y="3794152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8100000">
            <a:off x="8748780" y="3925971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0800000">
            <a:off x="8616961" y="3980573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3500000">
            <a:off x="8485141" y="3925971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6200000">
            <a:off x="8430540" y="3794152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8900000">
            <a:off x="8485141" y="3662332"/>
            <a:ext cx="184941" cy="44385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610796" y="3917446"/>
            <a:ext cx="197271" cy="197271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57" name="Shape 55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58" name="bld5_720"/>
          <p:cNvSpPr txBox="1"/>
          <p:nvPr/>
        </p:nvSpPr>
        <p:spPr>
          <a:xfrm>
            <a:off x="7883957" y="4952733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Geranium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60" name="Shape 58"/>
          <p:cNvSpPr/>
          <p:nvPr/>
        </p:nvSpPr>
        <p:spPr>
          <a:xfrm>
            <a:off x="10371337" y="3930029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2700000">
            <a:off x="10486069" y="3977553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5400000">
            <a:off x="10533592" y="4092284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8100000">
            <a:off x="10486069" y="4207016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 rot="10800000">
            <a:off x="10371337" y="4254540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 rot="13500000">
            <a:off x="10256605" y="4207016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 rot="16200000">
            <a:off x="10209082" y="4092284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 rot="18900000">
            <a:off x="10256605" y="3977553"/>
            <a:ext cx="160967" cy="386322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10365971" y="4199596"/>
            <a:ext cx="171699" cy="171699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69" name="Shape 67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70" name="bld6_722"/>
          <p:cNvSpPr txBox="1"/>
          <p:nvPr/>
        </p:nvSpPr>
        <p:spPr>
          <a:xfrm>
            <a:off x="9626346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Osmanthus</a:t>
            </a:r>
            <a:endParaRPr lang="en-US" sz="1350" dirty="0"/>
          </a:p>
        </p:txBody>
      </p:sp>
      <p:sp>
        <p:nvSpPr>
          <p:cNvPr id="72" name="trans_fade_4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3" name="Text 7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27" grpId="0"/>
      <p:bldP spid="36" grpId="0"/>
      <p:bldP spid="46" grpId="0"/>
      <p:bldP spid="58" grpId="0"/>
      <p:bldP spid="70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FLORALS,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heart of nearly every formula</a:t>
            </a:r>
            <a:endParaRPr lang="en-US" sz="3200" dirty="0"/>
          </a:p>
        </p:txBody>
      </p:sp>
      <p:sp>
        <p:nvSpPr>
          <p:cNvPr id="7" name="bld1_723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9" name="Shape 7"/>
          <p:cNvSpPr/>
          <p:nvPr/>
        </p:nvSpPr>
        <p:spPr>
          <a:xfrm>
            <a:off x="1778805" y="1976090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4320000">
            <a:off x="1890200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8640000">
            <a:off x="1847651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2960000">
            <a:off x="1709960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7280000">
            <a:off x="1667411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781230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5" name="Shape 13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6" name="bld1_725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</a:t>
            </a:r>
            <a:endParaRPr lang="en-US" sz="1450" dirty="0"/>
          </a:p>
        </p:txBody>
      </p:sp>
      <p:sp>
        <p:nvSpPr>
          <p:cNvPr id="17" name="bld1_726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Honeyed, green, slightly spicy. Heart note, medium-long, moderately diffusive — the archetypal floral.</a:t>
            </a:r>
            <a:endParaRPr lang="en-US" sz="1080" dirty="0"/>
          </a:p>
        </p:txBody>
      </p:sp>
      <p:sp>
        <p:nvSpPr>
          <p:cNvPr id="18" name="bld2_727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0" name="Shape 18"/>
          <p:cNvSpPr/>
          <p:nvPr/>
        </p:nvSpPr>
        <p:spPr>
          <a:xfrm rot="10800000">
            <a:off x="4643092" y="1978030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4400000">
            <a:off x="4748097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18000000">
            <a:off x="4748097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643092" y="2220529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3600000">
            <a:off x="4538087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7200000">
            <a:off x="4538087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618842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7" name="Shape 25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8" name="bld2_729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</a:t>
            </a:r>
            <a:endParaRPr lang="en-US" sz="1450" dirty="0"/>
          </a:p>
        </p:txBody>
      </p:sp>
      <p:sp>
        <p:nvSpPr>
          <p:cNvPr id="29" name="bld2_730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Indolic, heady, intensely floral with an animalic edge. Heart note, long-lasting, very diffusive in tiny amounts.</a:t>
            </a:r>
            <a:endParaRPr lang="en-US" sz="1080" dirty="0"/>
          </a:p>
        </p:txBody>
      </p:sp>
      <p:sp>
        <p:nvSpPr>
          <p:cNvPr id="30" name="bld3_731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2" name="Shape 30"/>
          <p:cNvSpPr/>
          <p:nvPr/>
        </p:nvSpPr>
        <p:spPr>
          <a:xfrm rot="10800000">
            <a:off x="7480704" y="1978030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14400000">
            <a:off x="7585709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8000000">
            <a:off x="7585709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480704" y="2220529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3600000">
            <a:off x="7375699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7200000">
            <a:off x="7375699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456454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9" name="Shape 37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40" name="bld3_733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Ylang-Ylang</a:t>
            </a:r>
            <a:endParaRPr lang="en-US" sz="1450" dirty="0"/>
          </a:p>
        </p:txBody>
      </p:sp>
      <p:sp>
        <p:nvSpPr>
          <p:cNvPr id="41" name="bld3_734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Creamy, banana-custard, exotic and heavy. Heart note, long, very diffusive — easy to overdose.</a:t>
            </a:r>
            <a:endParaRPr lang="en-US" sz="1080" dirty="0"/>
          </a:p>
        </p:txBody>
      </p:sp>
      <p:sp>
        <p:nvSpPr>
          <p:cNvPr id="42" name="bld4_735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4" name="Shape 42"/>
          <p:cNvSpPr/>
          <p:nvPr/>
        </p:nvSpPr>
        <p:spPr>
          <a:xfrm>
            <a:off x="10291641" y="1976090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4320000">
            <a:off x="10403035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8640000">
            <a:off x="10360486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2960000">
            <a:off x="10222795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17280000">
            <a:off x="10180246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0294066" y="2162329"/>
            <a:ext cx="116399" cy="11639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0" name="Shape 48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F2C348"/>
            </a:solidFill>
            <a:prstDash val="solid"/>
          </a:ln>
        </p:spPr>
      </p:sp>
      <p:sp>
        <p:nvSpPr>
          <p:cNvPr id="51" name="bld4_737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Neroli</a:t>
            </a:r>
            <a:endParaRPr lang="en-US" sz="1450" dirty="0"/>
          </a:p>
        </p:txBody>
      </p:sp>
      <p:sp>
        <p:nvSpPr>
          <p:cNvPr id="52" name="bld4_738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Fresh, bitter-orange-blossom, faintly green. Top-heart note — lighter and fresher than orange blossom absolute.</a:t>
            </a:r>
            <a:endParaRPr lang="en-US" sz="1080" dirty="0"/>
          </a:p>
        </p:txBody>
      </p:sp>
      <p:sp>
        <p:nvSpPr>
          <p:cNvPr id="53" name="bld5_739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1778805" y="4335242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4320000">
            <a:off x="1890200" y="44161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8640000">
            <a:off x="1847651" y="4547127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12960000">
            <a:off x="1709960" y="4547127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17280000">
            <a:off x="1667411" y="44161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1781230" y="4521481"/>
            <a:ext cx="116399" cy="11639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61" name="Shape 59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62" name="bld5_741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Orange Blossom</a:t>
            </a:r>
            <a:endParaRPr lang="en-US" sz="1450" dirty="0"/>
          </a:p>
        </p:txBody>
      </p:sp>
      <p:sp>
        <p:nvSpPr>
          <p:cNvPr id="63" name="bld5_742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Richer and more indolic than neroli, from the same flower via solvent extraction. Heart note, warm and lush.</a:t>
            </a:r>
            <a:endParaRPr lang="en-US" sz="1080" dirty="0"/>
          </a:p>
        </p:txBody>
      </p:sp>
      <p:sp>
        <p:nvSpPr>
          <p:cNvPr id="64" name="bld6_743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EBF0E2"/>
          </a:solidFill>
          <a:ln/>
        </p:spPr>
      </p:sp>
      <p:sp>
        <p:nvSpPr>
          <p:cNvPr id="66" name="Shape 64"/>
          <p:cNvSpPr/>
          <p:nvPr/>
        </p:nvSpPr>
        <p:spPr>
          <a:xfrm>
            <a:off x="4640667" y="4419050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 rot="2700000">
            <a:off x="4692520" y="4440528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 rot="5400000">
            <a:off x="4713999" y="4492381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 rot="8100000">
            <a:off x="4692520" y="4544235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 rot="10800000">
            <a:off x="4640667" y="4565713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 rot="13500000">
            <a:off x="4588814" y="4544235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 rot="16200000">
            <a:off x="4567335" y="4492381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 rot="18900000">
            <a:off x="4588814" y="4440528"/>
            <a:ext cx="72750" cy="174599"/>
          </a:xfrm>
          <a:prstGeom prst="ellipse">
            <a:avLst/>
          </a:prstGeom>
          <a:solidFill>
            <a:srgbClr val="63754A">
              <a:alpha val="94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4638242" y="4540881"/>
            <a:ext cx="77600" cy="77600"/>
          </a:xfrm>
          <a:prstGeom prst="ellipse">
            <a:avLst/>
          </a:prstGeom>
          <a:solidFill>
            <a:srgbClr val="9BAE84"/>
          </a:solidFill>
          <a:ln/>
        </p:spPr>
      </p:sp>
      <p:sp>
        <p:nvSpPr>
          <p:cNvPr id="75" name="Shape 73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63754A"/>
            </a:solidFill>
            <a:prstDash val="solid"/>
          </a:ln>
        </p:spPr>
      </p:sp>
      <p:sp>
        <p:nvSpPr>
          <p:cNvPr id="76" name="bld6_745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Lavender</a:t>
            </a:r>
            <a:endParaRPr lang="en-US" sz="1450" dirty="0"/>
          </a:p>
        </p:txBody>
      </p:sp>
      <p:sp>
        <p:nvSpPr>
          <p:cNvPr id="77" name="bld6_746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Herbal-floral, camphoraceous, clean. Top-heart, medium tenacity — the bridge between aromatic and floral.</a:t>
            </a:r>
            <a:endParaRPr lang="en-US" sz="1080" dirty="0"/>
          </a:p>
        </p:txBody>
      </p:sp>
      <p:sp>
        <p:nvSpPr>
          <p:cNvPr id="78" name="bld7_747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9" name="Shape 77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80" name="Shape 78"/>
          <p:cNvSpPr/>
          <p:nvPr/>
        </p:nvSpPr>
        <p:spPr>
          <a:xfrm>
            <a:off x="7478279" y="4419050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 rot="2700000">
            <a:off x="7530132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 rot="5400000">
            <a:off x="7551610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 rot="8100000">
            <a:off x="7530132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 rot="10800000">
            <a:off x="7478279" y="456571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 rot="13500000">
            <a:off x="7426425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 rot="16200000">
            <a:off x="7404947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7" name="Shape 85"/>
          <p:cNvSpPr/>
          <p:nvPr/>
        </p:nvSpPr>
        <p:spPr>
          <a:xfrm rot="18900000">
            <a:off x="7426425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8" name="Shape 86"/>
          <p:cNvSpPr/>
          <p:nvPr/>
        </p:nvSpPr>
        <p:spPr>
          <a:xfrm>
            <a:off x="7475854" y="4540881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89" name="Shape 87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90" name="bld7_749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Geranium</a:t>
            </a:r>
            <a:endParaRPr lang="en-US" sz="1450" dirty="0"/>
          </a:p>
        </p:txBody>
      </p:sp>
      <p:sp>
        <p:nvSpPr>
          <p:cNvPr id="91" name="bld7_750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Rosy but sharper and greener than rose itself, minty-metallic edge. Heart note, medium — a common rose extender.</a:t>
            </a:r>
            <a:endParaRPr lang="en-US" sz="1080" dirty="0"/>
          </a:p>
        </p:txBody>
      </p:sp>
      <p:sp>
        <p:nvSpPr>
          <p:cNvPr id="92" name="bld8_751"/>
          <p:cNvSpPr/>
          <p:nvPr/>
        </p:nvSpPr>
        <p:spPr>
          <a:xfrm>
            <a:off x="9061475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3" name="Shape 91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94" name="Shape 92"/>
          <p:cNvSpPr/>
          <p:nvPr/>
        </p:nvSpPr>
        <p:spPr>
          <a:xfrm>
            <a:off x="10315890" y="4419050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5" name="Shape 93"/>
          <p:cNvSpPr/>
          <p:nvPr/>
        </p:nvSpPr>
        <p:spPr>
          <a:xfrm rot="2700000">
            <a:off x="10367744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6" name="Shape 94"/>
          <p:cNvSpPr/>
          <p:nvPr/>
        </p:nvSpPr>
        <p:spPr>
          <a:xfrm rot="5400000">
            <a:off x="10389222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7" name="Shape 95"/>
          <p:cNvSpPr/>
          <p:nvPr/>
        </p:nvSpPr>
        <p:spPr>
          <a:xfrm rot="8100000">
            <a:off x="10367744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8" name="Shape 96"/>
          <p:cNvSpPr/>
          <p:nvPr/>
        </p:nvSpPr>
        <p:spPr>
          <a:xfrm rot="10800000">
            <a:off x="10315890" y="456571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9" name="Shape 97"/>
          <p:cNvSpPr/>
          <p:nvPr/>
        </p:nvSpPr>
        <p:spPr>
          <a:xfrm rot="13500000">
            <a:off x="10264037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0" name="Shape 98"/>
          <p:cNvSpPr/>
          <p:nvPr/>
        </p:nvSpPr>
        <p:spPr>
          <a:xfrm rot="16200000">
            <a:off x="10242559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1" name="Shape 99"/>
          <p:cNvSpPr/>
          <p:nvPr/>
        </p:nvSpPr>
        <p:spPr>
          <a:xfrm rot="18900000">
            <a:off x="10264037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>
            <a:off x="10313465" y="4540881"/>
            <a:ext cx="77600" cy="77600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104" name="bld8_753"/>
          <p:cNvSpPr txBox="1"/>
          <p:nvPr/>
        </p:nvSpPr>
        <p:spPr>
          <a:xfrm>
            <a:off x="9244355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Osmanthus</a:t>
            </a:r>
            <a:endParaRPr lang="en-US" sz="1450" dirty="0"/>
          </a:p>
        </p:txBody>
      </p:sp>
      <p:sp>
        <p:nvSpPr>
          <p:cNvPr id="105" name="bld8_754"/>
          <p:cNvSpPr txBox="1"/>
          <p:nvPr/>
        </p:nvSpPr>
        <p:spPr>
          <a:xfrm>
            <a:off x="9244355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Apricot-suede, tea-like, unusual. Heart note, medium-long — a distinctive, less common floral.</a:t>
            </a:r>
            <a:endParaRPr lang="en-US" sz="1080" dirty="0"/>
          </a:p>
        </p:txBody>
      </p:sp>
      <p:sp>
        <p:nvSpPr>
          <p:cNvPr id="107" name="trans_fade_4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08" name="Text 10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6" grpId="0"/>
      <p:bldP spid="17" grpId="0"/>
      <p:bldP spid="18" grpId="0"/>
      <p:bldP spid="28" grpId="0"/>
      <p:bldP spid="29" grpId="0"/>
      <p:bldP spid="30" grpId="0"/>
      <p:bldP spid="40" grpId="0"/>
      <p:bldP spid="41" grpId="0"/>
      <p:bldP spid="42" grpId="0"/>
      <p:bldP spid="51" grpId="0"/>
      <p:bldP spid="52" grpId="0"/>
      <p:bldP spid="53" grpId="0"/>
      <p:bldP spid="62" grpId="0"/>
      <p:bldP spid="63" grpId="0"/>
      <p:bldP spid="64" grpId="0"/>
      <p:bldP spid="76" grpId="0"/>
      <p:bldP spid="77" grpId="0"/>
      <p:bldP spid="78" grpId="0"/>
      <p:bldP spid="90" grpId="0"/>
      <p:bldP spid="91" grpId="0"/>
      <p:bldP spid="92" grpId="0"/>
      <p:bldP spid="104" grpId="0"/>
      <p:bldP spid="10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florals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8" name="Shape 6"/>
          <p:cNvSpPr/>
          <p:nvPr/>
        </p:nvSpPr>
        <p:spPr>
          <a:xfrm>
            <a:off x="1574397" y="1750153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1922766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1789701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1359093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1226028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581981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4" name="Shape 12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5" name="bld1_756"/>
          <p:cNvSpPr txBox="1"/>
          <p:nvPr/>
        </p:nvSpPr>
        <p:spPr>
          <a:xfrm>
            <a:off x="685800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</a:t>
            </a:r>
            <a:endParaRPr lang="en-US" sz="1800" dirty="0"/>
          </a:p>
        </p:txBody>
      </p:sp>
      <p:sp>
        <p:nvSpPr>
          <p:cNvPr id="16" name="bld1_757"/>
          <p:cNvSpPr txBox="1"/>
          <p:nvPr/>
        </p:nvSpPr>
        <p:spPr>
          <a:xfrm>
            <a:off x="658368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7" name="bld1_758"/>
          <p:cNvSpPr txBox="1"/>
          <p:nvPr/>
        </p:nvSpPr>
        <p:spPr>
          <a:xfrm>
            <a:off x="658368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Honeyed, green, slightly spicy</a:t>
            </a:r>
            <a:endParaRPr lang="en-US" sz="1100" dirty="0"/>
          </a:p>
        </p:txBody>
      </p:sp>
      <p:sp>
        <p:nvSpPr>
          <p:cNvPr id="18" name="bld1_759"/>
          <p:cNvSpPr txBox="1"/>
          <p:nvPr/>
        </p:nvSpPr>
        <p:spPr>
          <a:xfrm>
            <a:off x="658368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9" name="bld1_760"/>
          <p:cNvSpPr txBox="1"/>
          <p:nvPr/>
        </p:nvSpPr>
        <p:spPr>
          <a:xfrm>
            <a:off x="658368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and romance</a:t>
            </a:r>
            <a:endParaRPr lang="en-US" sz="1100" dirty="0"/>
          </a:p>
        </p:txBody>
      </p:sp>
      <p:sp>
        <p:nvSpPr>
          <p:cNvPr id="20" name="bld1_761"/>
          <p:cNvSpPr txBox="1"/>
          <p:nvPr/>
        </p:nvSpPr>
        <p:spPr>
          <a:xfrm>
            <a:off x="658368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1" name="bld1_762"/>
          <p:cNvSpPr txBox="1"/>
          <p:nvPr/>
        </p:nvSpPr>
        <p:spPr>
          <a:xfrm>
            <a:off x="658368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· medium-long · moderate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3" name="Shape 21"/>
          <p:cNvSpPr/>
          <p:nvPr/>
        </p:nvSpPr>
        <p:spPr>
          <a:xfrm rot="10800000">
            <a:off x="4088523" y="175622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4400000">
            <a:off x="4416911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18000000">
            <a:off x="4416911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088523" y="251460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3600000">
            <a:off x="3760135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7200000">
            <a:off x="3760135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012685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0" name="Shape 28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1" name="bld2_764"/>
          <p:cNvSpPr txBox="1"/>
          <p:nvPr/>
        </p:nvSpPr>
        <p:spPr>
          <a:xfrm>
            <a:off x="3116504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</a:t>
            </a:r>
            <a:endParaRPr lang="en-US" sz="1800" dirty="0"/>
          </a:p>
        </p:txBody>
      </p:sp>
      <p:sp>
        <p:nvSpPr>
          <p:cNvPr id="32" name="bld2_765"/>
          <p:cNvSpPr txBox="1"/>
          <p:nvPr/>
        </p:nvSpPr>
        <p:spPr>
          <a:xfrm>
            <a:off x="3089072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3" name="bld2_766"/>
          <p:cNvSpPr txBox="1"/>
          <p:nvPr/>
        </p:nvSpPr>
        <p:spPr>
          <a:xfrm>
            <a:off x="3089072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Indolic, heady, sensual</a:t>
            </a:r>
            <a:endParaRPr lang="en-US" sz="1100" dirty="0"/>
          </a:p>
        </p:txBody>
      </p:sp>
      <p:sp>
        <p:nvSpPr>
          <p:cNvPr id="34" name="bld2_767"/>
          <p:cNvSpPr txBox="1"/>
          <p:nvPr/>
        </p:nvSpPr>
        <p:spPr>
          <a:xfrm>
            <a:off x="3089072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5" name="bld2_768"/>
          <p:cNvSpPr txBox="1"/>
          <p:nvPr/>
        </p:nvSpPr>
        <p:spPr>
          <a:xfrm>
            <a:off x="3089072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Radiance, depth</a:t>
            </a:r>
            <a:endParaRPr lang="en-US" sz="1100" dirty="0"/>
          </a:p>
        </p:txBody>
      </p:sp>
      <p:sp>
        <p:nvSpPr>
          <p:cNvPr id="36" name="bld2_769"/>
          <p:cNvSpPr txBox="1"/>
          <p:nvPr/>
        </p:nvSpPr>
        <p:spPr>
          <a:xfrm>
            <a:off x="3089072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7" name="bld2_770"/>
          <p:cNvSpPr txBox="1"/>
          <p:nvPr/>
        </p:nvSpPr>
        <p:spPr>
          <a:xfrm>
            <a:off x="3089072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· long · very diffusive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9" name="Shape 37"/>
          <p:cNvSpPr/>
          <p:nvPr/>
        </p:nvSpPr>
        <p:spPr>
          <a:xfrm>
            <a:off x="6435805" y="1750153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4320000">
            <a:off x="6784174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8640000">
            <a:off x="6651109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12960000">
            <a:off x="6220500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17280000">
            <a:off x="6087435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443388" y="2332589"/>
            <a:ext cx="364022" cy="36402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5" name="Shape 43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ln w="25603">
            <a:solidFill>
              <a:srgbClr val="F2C348"/>
            </a:solidFill>
            <a:prstDash val="solid"/>
          </a:ln>
        </p:spPr>
      </p:sp>
      <p:sp>
        <p:nvSpPr>
          <p:cNvPr id="46" name="bld3_772"/>
          <p:cNvSpPr txBox="1"/>
          <p:nvPr/>
        </p:nvSpPr>
        <p:spPr>
          <a:xfrm>
            <a:off x="5547208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Neroli</a:t>
            </a:r>
            <a:endParaRPr lang="en-US" sz="1800" dirty="0"/>
          </a:p>
        </p:txBody>
      </p:sp>
      <p:sp>
        <p:nvSpPr>
          <p:cNvPr id="47" name="bld3_773"/>
          <p:cNvSpPr txBox="1"/>
          <p:nvPr/>
        </p:nvSpPr>
        <p:spPr>
          <a:xfrm>
            <a:off x="5519776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8" name="bld3_774"/>
          <p:cNvSpPr txBox="1"/>
          <p:nvPr/>
        </p:nvSpPr>
        <p:spPr>
          <a:xfrm>
            <a:off x="5519776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bitter-orange blossom</a:t>
            </a:r>
            <a:endParaRPr lang="en-US" sz="1100" dirty="0"/>
          </a:p>
        </p:txBody>
      </p:sp>
      <p:sp>
        <p:nvSpPr>
          <p:cNvPr id="49" name="bld3_775"/>
          <p:cNvSpPr txBox="1"/>
          <p:nvPr/>
        </p:nvSpPr>
        <p:spPr>
          <a:xfrm>
            <a:off x="5519776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50" name="bld3_776"/>
          <p:cNvSpPr txBox="1"/>
          <p:nvPr/>
        </p:nvSpPr>
        <p:spPr>
          <a:xfrm>
            <a:off x="5519776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Lifts and lightens a floral heart</a:t>
            </a:r>
            <a:endParaRPr lang="en-US" sz="1100" dirty="0"/>
          </a:p>
        </p:txBody>
      </p:sp>
      <p:sp>
        <p:nvSpPr>
          <p:cNvPr id="51" name="bld3_777"/>
          <p:cNvSpPr txBox="1"/>
          <p:nvPr/>
        </p:nvSpPr>
        <p:spPr>
          <a:xfrm>
            <a:off x="5519776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2" name="bld3_778"/>
          <p:cNvSpPr txBox="1"/>
          <p:nvPr/>
        </p:nvSpPr>
        <p:spPr>
          <a:xfrm>
            <a:off x="5519776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Top-heart · medium · diffusive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54" name="Shape 52"/>
          <p:cNvSpPr/>
          <p:nvPr/>
        </p:nvSpPr>
        <p:spPr>
          <a:xfrm rot="10800000">
            <a:off x="8949930" y="175622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4400000">
            <a:off x="9278318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18000000">
            <a:off x="9278318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949930" y="251460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3600000">
            <a:off x="8621542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7200000">
            <a:off x="8621542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874092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61" name="Shape 59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62" name="bld4_780"/>
          <p:cNvSpPr txBox="1"/>
          <p:nvPr/>
        </p:nvSpPr>
        <p:spPr>
          <a:xfrm>
            <a:off x="7977911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Ylang-Ylang</a:t>
            </a:r>
            <a:endParaRPr lang="en-US" sz="1800" dirty="0"/>
          </a:p>
        </p:txBody>
      </p:sp>
      <p:sp>
        <p:nvSpPr>
          <p:cNvPr id="63" name="bld4_781"/>
          <p:cNvSpPr txBox="1"/>
          <p:nvPr/>
        </p:nvSpPr>
        <p:spPr>
          <a:xfrm>
            <a:off x="7950479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64" name="bld4_782"/>
          <p:cNvSpPr txBox="1"/>
          <p:nvPr/>
        </p:nvSpPr>
        <p:spPr>
          <a:xfrm>
            <a:off x="7950479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Creamy, exotic, banana-custard</a:t>
            </a:r>
            <a:endParaRPr lang="en-US" sz="1100" dirty="0"/>
          </a:p>
        </p:txBody>
      </p:sp>
      <p:sp>
        <p:nvSpPr>
          <p:cNvPr id="65" name="bld4_783"/>
          <p:cNvSpPr txBox="1"/>
          <p:nvPr/>
        </p:nvSpPr>
        <p:spPr>
          <a:xfrm>
            <a:off x="7950479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66" name="bld4_784"/>
          <p:cNvSpPr txBox="1"/>
          <p:nvPr/>
        </p:nvSpPr>
        <p:spPr>
          <a:xfrm>
            <a:off x="7950479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Lushness, tropical warmth</a:t>
            </a:r>
            <a:endParaRPr lang="en-US" sz="1100" dirty="0"/>
          </a:p>
        </p:txBody>
      </p:sp>
      <p:sp>
        <p:nvSpPr>
          <p:cNvPr id="67" name="bld4_785"/>
          <p:cNvSpPr txBox="1"/>
          <p:nvPr/>
        </p:nvSpPr>
        <p:spPr>
          <a:xfrm>
            <a:off x="7950479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68" name="bld4_786"/>
          <p:cNvSpPr txBox="1"/>
          <p:nvPr/>
        </p:nvSpPr>
        <p:spPr>
          <a:xfrm>
            <a:off x="7950479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· long · very diffusive</a:t>
            </a:r>
            <a:endParaRPr lang="en-US" sz="1100" dirty="0"/>
          </a:p>
        </p:txBody>
      </p:sp>
      <p:sp>
        <p:nvSpPr>
          <p:cNvPr id="70" name="trans_fade_4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1" name="Text 6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46" grpId="0"/>
      <p:bldP spid="47" grpId="0"/>
      <p:bldP spid="48" grpId="0"/>
      <p:bldP spid="49" grpId="0"/>
      <p:bldP spid="50" grpId="0"/>
      <p:bldP spid="51" grpId="0"/>
      <p:bldP spid="52" grpId="0"/>
      <p:bldP spid="62" grpId="0"/>
      <p:bldP spid="63" grpId="0"/>
      <p:bldP spid="64" grpId="0"/>
      <p:bldP spid="65" grpId="0"/>
      <p:bldP spid="66" grpId="0"/>
      <p:bldP spid="67" grpId="0"/>
      <p:bldP spid="68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MATERIALS · FAMILY 4 OF 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Resins &amp; Balsams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BEBD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7A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RESINS &amp; BALSAMS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0" name="Shape 8"/>
          <p:cNvSpPr/>
          <p:nvPr/>
        </p:nvSpPr>
        <p:spPr>
          <a:xfrm rot="9000000">
            <a:off x="1471595" y="3769265"/>
            <a:ext cx="622408" cy="622408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6000000">
            <a:off x="1332090" y="3704878"/>
            <a:ext cx="386322" cy="386322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1400000">
            <a:off x="1772068" y="3640491"/>
            <a:ext cx="321935" cy="321935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4" name="bld1_788"/>
          <p:cNvSpPr txBox="1"/>
          <p:nvPr/>
        </p:nvSpPr>
        <p:spPr>
          <a:xfrm>
            <a:off x="914400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Labdanum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6" name="Shape 14"/>
          <p:cNvSpPr/>
          <p:nvPr/>
        </p:nvSpPr>
        <p:spPr>
          <a:xfrm rot="9000000">
            <a:off x="3174028" y="4001869"/>
            <a:ext cx="715107" cy="715107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6000000">
            <a:off x="3013746" y="3927892"/>
            <a:ext cx="443859" cy="44385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1400000">
            <a:off x="3519252" y="3853915"/>
            <a:ext cx="369883" cy="369883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0" name="bld2_790"/>
          <p:cNvSpPr txBox="1"/>
          <p:nvPr/>
        </p:nvSpPr>
        <p:spPr>
          <a:xfrm>
            <a:off x="2656789" y="5222097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Benzoin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2" name="Shape 20"/>
          <p:cNvSpPr/>
          <p:nvPr/>
        </p:nvSpPr>
        <p:spPr>
          <a:xfrm rot="9000000">
            <a:off x="4956374" y="3769265"/>
            <a:ext cx="622408" cy="622408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6000000">
            <a:off x="4816869" y="3704878"/>
            <a:ext cx="386322" cy="386322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1400000">
            <a:off x="5256846" y="3640491"/>
            <a:ext cx="321935" cy="321935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6" name="bld3_792"/>
          <p:cNvSpPr txBox="1"/>
          <p:nvPr/>
        </p:nvSpPr>
        <p:spPr>
          <a:xfrm>
            <a:off x="4399178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Frankincense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8" name="Shape 26"/>
          <p:cNvSpPr/>
          <p:nvPr/>
        </p:nvSpPr>
        <p:spPr>
          <a:xfrm rot="9000000">
            <a:off x="6698763" y="4038629"/>
            <a:ext cx="622408" cy="622408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6000000">
            <a:off x="6559258" y="3974242"/>
            <a:ext cx="386322" cy="386322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1400000">
            <a:off x="6999236" y="3909855"/>
            <a:ext cx="321935" cy="321935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2" name="bld4_794"/>
          <p:cNvSpPr txBox="1"/>
          <p:nvPr/>
        </p:nvSpPr>
        <p:spPr>
          <a:xfrm>
            <a:off x="6141568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Myrrh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4" name="Shape 32"/>
          <p:cNvSpPr/>
          <p:nvPr/>
        </p:nvSpPr>
        <p:spPr>
          <a:xfrm rot="9000000">
            <a:off x="8401196" y="3732505"/>
            <a:ext cx="715107" cy="715107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6000000">
            <a:off x="8240913" y="3658528"/>
            <a:ext cx="443859" cy="44385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1400000">
            <a:off x="8746420" y="3584552"/>
            <a:ext cx="369883" cy="369883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8" name="bld5_796"/>
          <p:cNvSpPr txBox="1"/>
          <p:nvPr/>
        </p:nvSpPr>
        <p:spPr>
          <a:xfrm>
            <a:off x="7883957" y="4952733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Peru Balsam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0" name="Shape 38"/>
          <p:cNvSpPr/>
          <p:nvPr/>
        </p:nvSpPr>
        <p:spPr>
          <a:xfrm rot="9000000">
            <a:off x="10183541" y="4038629"/>
            <a:ext cx="622408" cy="622408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6000000">
            <a:off x="10044036" y="3974242"/>
            <a:ext cx="386322" cy="386322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11400000">
            <a:off x="10484014" y="3909855"/>
            <a:ext cx="321935" cy="321935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4" name="bld6_798"/>
          <p:cNvSpPr txBox="1"/>
          <p:nvPr/>
        </p:nvSpPr>
        <p:spPr>
          <a:xfrm>
            <a:off x="9626346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Tolu Balsam</a:t>
            </a:r>
            <a:endParaRPr lang="en-US" sz="1350" dirty="0"/>
          </a:p>
        </p:txBody>
      </p:sp>
      <p:sp>
        <p:nvSpPr>
          <p:cNvPr id="46" name="trans_fade_4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7" name="Text 4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20" grpId="0"/>
      <p:bldP spid="26" grpId="0"/>
      <p:bldP spid="32" grpId="0"/>
      <p:bldP spid="38" grpId="0"/>
      <p:bldP spid="44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RESINS &amp; BALSAMS,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they differ: sweetness, darkness, smoke</a:t>
            </a:r>
            <a:endParaRPr lang="en-US" sz="3200" dirty="0"/>
          </a:p>
        </p:txBody>
      </p:sp>
      <p:sp>
        <p:nvSpPr>
          <p:cNvPr id="7" name="bld1_799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9" name="Shape 7"/>
          <p:cNvSpPr/>
          <p:nvPr/>
        </p:nvSpPr>
        <p:spPr>
          <a:xfrm rot="9000000">
            <a:off x="2191116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6000000">
            <a:off x="2128066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1400000">
            <a:off x="2326915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3" name="bld1_801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Labdanum</a:t>
            </a:r>
            <a:endParaRPr lang="en-US" sz="1450" dirty="0"/>
          </a:p>
        </p:txBody>
      </p:sp>
      <p:sp>
        <p:nvSpPr>
          <p:cNvPr id="14" name="bld1_802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Amber-resinous, leathery, honeyed. Base note, very long, richly diffusive — the backbone of most amber accords.</a:t>
            </a:r>
            <a:endParaRPr lang="en-US" sz="1080" dirty="0"/>
          </a:p>
        </p:txBody>
      </p:sp>
      <p:sp>
        <p:nvSpPr>
          <p:cNvPr id="15" name="bld2_803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7" name="Shape 15"/>
          <p:cNvSpPr/>
          <p:nvPr/>
        </p:nvSpPr>
        <p:spPr>
          <a:xfrm rot="9000000">
            <a:off x="5974598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6000000">
            <a:off x="5911548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1400000">
            <a:off x="6110398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21" name="bld2_805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Benzoin</a:t>
            </a:r>
            <a:endParaRPr lang="en-US" sz="1450" dirty="0"/>
          </a:p>
        </p:txBody>
      </p:sp>
      <p:sp>
        <p:nvSpPr>
          <p:cNvPr id="22" name="bld2_806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vanilla-like, balsamic. Base note, long, warm and softly diffusive — a natural sweetener and fixative.</a:t>
            </a:r>
            <a:endParaRPr lang="en-US" sz="1080" dirty="0"/>
          </a:p>
        </p:txBody>
      </p:sp>
      <p:sp>
        <p:nvSpPr>
          <p:cNvPr id="23" name="bld3_807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5" name="Shape 23"/>
          <p:cNvSpPr/>
          <p:nvPr/>
        </p:nvSpPr>
        <p:spPr>
          <a:xfrm rot="9000000">
            <a:off x="9758081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6000000">
            <a:off x="9695031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11400000">
            <a:off x="9893880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29" name="bld3_809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Frankincense</a:t>
            </a:r>
            <a:endParaRPr lang="en-US" sz="1450" dirty="0"/>
          </a:p>
        </p:txBody>
      </p:sp>
      <p:sp>
        <p:nvSpPr>
          <p:cNvPr id="30" name="bld3_810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Resinous, citrusy-piney, faintly smoky. Base-heart, long — cooler and fresher than most resins.</a:t>
            </a:r>
            <a:endParaRPr lang="en-US" sz="1080" dirty="0"/>
          </a:p>
        </p:txBody>
      </p:sp>
      <p:sp>
        <p:nvSpPr>
          <p:cNvPr id="31" name="bld4_811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3" name="Shape 31"/>
          <p:cNvSpPr/>
          <p:nvPr/>
        </p:nvSpPr>
        <p:spPr>
          <a:xfrm rot="9000000">
            <a:off x="2191116" y="4468131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6000000">
            <a:off x="2128066" y="4439032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1400000">
            <a:off x="2326915" y="4409932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37" name="bld4_813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Myrrh</a:t>
            </a:r>
            <a:endParaRPr lang="en-US" sz="1450" dirty="0"/>
          </a:p>
        </p:txBody>
      </p:sp>
      <p:sp>
        <p:nvSpPr>
          <p:cNvPr id="38" name="bld4_814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Bitter, medicinal, dark-resinous. Base note, very long, low diffusion — the darkest and most brooding of the resins.</a:t>
            </a:r>
            <a:endParaRPr lang="en-US" sz="1080" dirty="0"/>
          </a:p>
        </p:txBody>
      </p:sp>
      <p:sp>
        <p:nvSpPr>
          <p:cNvPr id="39" name="bld5_815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1" name="Shape 39"/>
          <p:cNvSpPr/>
          <p:nvPr/>
        </p:nvSpPr>
        <p:spPr>
          <a:xfrm rot="9000000">
            <a:off x="5974598" y="4468131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6000000">
            <a:off x="5911548" y="4439032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11400000">
            <a:off x="6110398" y="4409932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45" name="bld5_817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Peru Balsam</a:t>
            </a:r>
            <a:endParaRPr lang="en-US" sz="1450" dirty="0"/>
          </a:p>
        </p:txBody>
      </p:sp>
      <p:sp>
        <p:nvSpPr>
          <p:cNvPr id="46" name="bld5_818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cinnamon-vanilla, slightly spicy. Base note, long — closer to gourmand than most resins.</a:t>
            </a:r>
            <a:endParaRPr lang="en-US" sz="1080" dirty="0"/>
          </a:p>
        </p:txBody>
      </p:sp>
      <p:sp>
        <p:nvSpPr>
          <p:cNvPr id="47" name="bld6_819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9" name="Shape 47"/>
          <p:cNvSpPr/>
          <p:nvPr/>
        </p:nvSpPr>
        <p:spPr>
          <a:xfrm rot="9000000">
            <a:off x="9758081" y="4468131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6000000">
            <a:off x="9695031" y="4439032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1400000">
            <a:off x="9893880" y="4409932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53" name="bld6_821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Tolu Balsam</a:t>
            </a:r>
            <a:endParaRPr lang="en-US" sz="1450" dirty="0"/>
          </a:p>
        </p:txBody>
      </p:sp>
      <p:sp>
        <p:nvSpPr>
          <p:cNvPr id="54" name="bld6_822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floral-balsamic, softer than Peru balsam. Base note, long, gentle sweetness and fixation.</a:t>
            </a:r>
            <a:endParaRPr lang="en-US" sz="1080" dirty="0"/>
          </a:p>
        </p:txBody>
      </p:sp>
      <p:sp>
        <p:nvSpPr>
          <p:cNvPr id="56" name="trans_fade_4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7" name="Text 5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3" grpId="0"/>
      <p:bldP spid="14" grpId="0"/>
      <p:bldP spid="15" grpId="0"/>
      <p:bldP spid="21" grpId="0"/>
      <p:bldP spid="22" grpId="0"/>
      <p:bldP spid="23" grpId="0"/>
      <p:bldP spid="29" grpId="0"/>
      <p:bldP spid="30" grpId="0"/>
      <p:bldP spid="31" grpId="0"/>
      <p:bldP spid="37" grpId="0"/>
      <p:bldP spid="38" grpId="0"/>
      <p:bldP spid="39" grpId="0"/>
      <p:bldP spid="45" grpId="0"/>
      <p:bldP spid="46" grpId="0"/>
      <p:bldP spid="47" grpId="0"/>
      <p:bldP spid="53" grpId="0"/>
      <p:bldP spid="54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resins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8" name="Shape 6"/>
          <p:cNvSpPr/>
          <p:nvPr/>
        </p:nvSpPr>
        <p:spPr>
          <a:xfrm rot="9000000">
            <a:off x="1835201" y="2137300"/>
            <a:ext cx="951451" cy="951451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6000000">
            <a:off x="1621944" y="2038874"/>
            <a:ext cx="590556" cy="590556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1400000">
            <a:off x="2294522" y="1940448"/>
            <a:ext cx="492130" cy="49213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2" name="bld1_824"/>
          <p:cNvSpPr txBox="1"/>
          <p:nvPr/>
        </p:nvSpPr>
        <p:spPr>
          <a:xfrm>
            <a:off x="685800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Labdanum</a:t>
            </a:r>
            <a:endParaRPr lang="en-US" sz="1800" dirty="0"/>
          </a:p>
        </p:txBody>
      </p:sp>
      <p:sp>
        <p:nvSpPr>
          <p:cNvPr id="13" name="bld1_825"/>
          <p:cNvSpPr txBox="1"/>
          <p:nvPr/>
        </p:nvSpPr>
        <p:spPr>
          <a:xfrm>
            <a:off x="658368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4" name="bld1_826"/>
          <p:cNvSpPr txBox="1"/>
          <p:nvPr/>
        </p:nvSpPr>
        <p:spPr>
          <a:xfrm>
            <a:off x="658368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Amber-resinous, leathery, honeyed</a:t>
            </a:r>
            <a:endParaRPr lang="en-US" sz="1100" dirty="0"/>
          </a:p>
        </p:txBody>
      </p:sp>
      <p:sp>
        <p:nvSpPr>
          <p:cNvPr id="15" name="bld1_827"/>
          <p:cNvSpPr txBox="1"/>
          <p:nvPr/>
        </p:nvSpPr>
        <p:spPr>
          <a:xfrm>
            <a:off x="658368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6" name="bld1_828"/>
          <p:cNvSpPr txBox="1"/>
          <p:nvPr/>
        </p:nvSpPr>
        <p:spPr>
          <a:xfrm>
            <a:off x="658368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Warmth, fixation</a:t>
            </a:r>
            <a:endParaRPr lang="en-US" sz="1100" dirty="0"/>
          </a:p>
        </p:txBody>
      </p:sp>
      <p:sp>
        <p:nvSpPr>
          <p:cNvPr id="17" name="bld1_829"/>
          <p:cNvSpPr txBox="1"/>
          <p:nvPr/>
        </p:nvSpPr>
        <p:spPr>
          <a:xfrm>
            <a:off x="658368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18" name="bld1_830"/>
          <p:cNvSpPr txBox="1"/>
          <p:nvPr/>
        </p:nvSpPr>
        <p:spPr>
          <a:xfrm>
            <a:off x="658368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diffusive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0" name="Shape 18"/>
          <p:cNvSpPr/>
          <p:nvPr/>
        </p:nvSpPr>
        <p:spPr>
          <a:xfrm rot="9000000">
            <a:off x="5228539" y="2137300"/>
            <a:ext cx="951451" cy="951451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6000000">
            <a:off x="5015283" y="2038874"/>
            <a:ext cx="590556" cy="590556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11400000">
            <a:off x="5687861" y="1940448"/>
            <a:ext cx="492130" cy="49213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24" name="bld2_832"/>
          <p:cNvSpPr txBox="1"/>
          <p:nvPr/>
        </p:nvSpPr>
        <p:spPr>
          <a:xfrm>
            <a:off x="4079138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Benzoin</a:t>
            </a:r>
            <a:endParaRPr lang="en-US" sz="1800" dirty="0"/>
          </a:p>
        </p:txBody>
      </p:sp>
      <p:sp>
        <p:nvSpPr>
          <p:cNvPr id="25" name="bld2_833"/>
          <p:cNvSpPr txBox="1"/>
          <p:nvPr/>
        </p:nvSpPr>
        <p:spPr>
          <a:xfrm>
            <a:off x="4051706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6" name="bld2_834"/>
          <p:cNvSpPr txBox="1"/>
          <p:nvPr/>
        </p:nvSpPr>
        <p:spPr>
          <a:xfrm>
            <a:off x="4051706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vanilla-balsamic</a:t>
            </a:r>
            <a:endParaRPr lang="en-US" sz="1100" dirty="0"/>
          </a:p>
        </p:txBody>
      </p:sp>
      <p:sp>
        <p:nvSpPr>
          <p:cNvPr id="27" name="bld2_835"/>
          <p:cNvSpPr txBox="1"/>
          <p:nvPr/>
        </p:nvSpPr>
        <p:spPr>
          <a:xfrm>
            <a:off x="4051706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8" name="bld2_836"/>
          <p:cNvSpPr txBox="1"/>
          <p:nvPr/>
        </p:nvSpPr>
        <p:spPr>
          <a:xfrm>
            <a:off x="4051706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Softness and sweetness</a:t>
            </a:r>
            <a:endParaRPr lang="en-US" sz="1100" dirty="0"/>
          </a:p>
        </p:txBody>
      </p:sp>
      <p:sp>
        <p:nvSpPr>
          <p:cNvPr id="29" name="bld2_837"/>
          <p:cNvSpPr txBox="1"/>
          <p:nvPr/>
        </p:nvSpPr>
        <p:spPr>
          <a:xfrm>
            <a:off x="4051706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0" name="bld2_838"/>
          <p:cNvSpPr txBox="1"/>
          <p:nvPr/>
        </p:nvSpPr>
        <p:spPr>
          <a:xfrm>
            <a:off x="4051706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long · gentle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2" name="Shape 30"/>
          <p:cNvSpPr/>
          <p:nvPr/>
        </p:nvSpPr>
        <p:spPr>
          <a:xfrm rot="9000000">
            <a:off x="8621878" y="2137300"/>
            <a:ext cx="951451" cy="951451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6000000">
            <a:off x="8408621" y="2038874"/>
            <a:ext cx="590556" cy="590556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1400000">
            <a:off x="9081199" y="1940448"/>
            <a:ext cx="492130" cy="49213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36" name="bld3_840"/>
          <p:cNvSpPr txBox="1"/>
          <p:nvPr/>
        </p:nvSpPr>
        <p:spPr>
          <a:xfrm>
            <a:off x="7472477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Frankincense</a:t>
            </a:r>
            <a:endParaRPr lang="en-US" sz="1800" dirty="0"/>
          </a:p>
        </p:txBody>
      </p:sp>
      <p:sp>
        <p:nvSpPr>
          <p:cNvPr id="37" name="bld3_841"/>
          <p:cNvSpPr txBox="1"/>
          <p:nvPr/>
        </p:nvSpPr>
        <p:spPr>
          <a:xfrm>
            <a:off x="7445045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8" name="bld3_842"/>
          <p:cNvSpPr txBox="1"/>
          <p:nvPr/>
        </p:nvSpPr>
        <p:spPr>
          <a:xfrm>
            <a:off x="7445045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Resinous, citrusy-piney, smoky</a:t>
            </a:r>
            <a:endParaRPr lang="en-US" sz="1100" dirty="0"/>
          </a:p>
        </p:txBody>
      </p:sp>
      <p:sp>
        <p:nvSpPr>
          <p:cNvPr id="39" name="bld3_843"/>
          <p:cNvSpPr txBox="1"/>
          <p:nvPr/>
        </p:nvSpPr>
        <p:spPr>
          <a:xfrm>
            <a:off x="7445045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0" name="bld3_844"/>
          <p:cNvSpPr txBox="1"/>
          <p:nvPr/>
        </p:nvSpPr>
        <p:spPr>
          <a:xfrm>
            <a:off x="7445045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Coolness within warmth</a:t>
            </a:r>
            <a:endParaRPr lang="en-US" sz="1100" dirty="0"/>
          </a:p>
        </p:txBody>
      </p:sp>
      <p:sp>
        <p:nvSpPr>
          <p:cNvPr id="41" name="bld3_845"/>
          <p:cNvSpPr txBox="1"/>
          <p:nvPr/>
        </p:nvSpPr>
        <p:spPr>
          <a:xfrm>
            <a:off x="7445045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42" name="bld3_846"/>
          <p:cNvSpPr txBox="1"/>
          <p:nvPr/>
        </p:nvSpPr>
        <p:spPr>
          <a:xfrm>
            <a:off x="7445045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Base-heart · long</a:t>
            </a:r>
            <a:endParaRPr lang="en-US" sz="1100" dirty="0"/>
          </a:p>
        </p:txBody>
      </p:sp>
      <p:sp>
        <p:nvSpPr>
          <p:cNvPr id="44" name="trans_fade_5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5" name="Text 4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  <p:bldP spid="18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6" grpId="0"/>
      <p:bldP spid="37" grpId="0"/>
      <p:bldP spid="38" grpId="0"/>
      <p:bldP spid="39" grpId="0"/>
      <p:bldP spid="40" grpId="0"/>
      <p:bldP spid="41" grpId="0"/>
      <p:bldP spid="42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EFE6D2"/>
          </a:solidFill>
          <a:ln/>
        </p:spPr>
      </p:sp>
      <p:sp>
        <p:nvSpPr>
          <p:cNvPr id="3" name="Shape 1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TRUTH ABOUT NATURALS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two harvests smell identical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2656579" y="2540562"/>
            <a:ext cx="665665" cy="1397896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3268139" y="2984886"/>
            <a:ext cx="665665" cy="1397896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3034544" y="3703818"/>
            <a:ext cx="665665" cy="1397896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2278614" y="3703818"/>
            <a:ext cx="665665" cy="1397896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2045019" y="2984886"/>
            <a:ext cx="665665" cy="1397896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669892" y="3563023"/>
            <a:ext cx="639038" cy="63903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Shape 12"/>
          <p:cNvSpPr/>
          <p:nvPr/>
        </p:nvSpPr>
        <p:spPr>
          <a:xfrm>
            <a:off x="5763015" y="2540562"/>
            <a:ext cx="665665" cy="1397896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4320000">
            <a:off x="6374575" y="2984886"/>
            <a:ext cx="665665" cy="1397896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8640000">
            <a:off x="6140980" y="3703818"/>
            <a:ext cx="665665" cy="1397896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2960000">
            <a:off x="5385050" y="3703818"/>
            <a:ext cx="665665" cy="1397896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5151455" y="2984886"/>
            <a:ext cx="665665" cy="1397896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5776328" y="3563023"/>
            <a:ext cx="639038" cy="63903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0" name="Shape 18"/>
          <p:cNvSpPr/>
          <p:nvPr/>
        </p:nvSpPr>
        <p:spPr>
          <a:xfrm>
            <a:off x="8869451" y="2540562"/>
            <a:ext cx="665665" cy="1397896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4320000">
            <a:off x="9481011" y="2984886"/>
            <a:ext cx="665665" cy="1397896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8640000">
            <a:off x="9247416" y="3703818"/>
            <a:ext cx="665665" cy="1397896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12960000">
            <a:off x="8491486" y="3703818"/>
            <a:ext cx="665665" cy="1397896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7280000">
            <a:off x="8257891" y="2984886"/>
            <a:ext cx="665665" cy="1397896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8882765" y="3563023"/>
            <a:ext cx="639038" cy="63903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Climate, soil, harvest timing and extraction batch all shift the smell of a natural — plan for variation, don't fight it.</a:t>
            </a:r>
            <a:endParaRPr lang="en-US" sz="1200" dirty="0"/>
          </a:p>
        </p:txBody>
      </p:sp>
      <p:sp>
        <p:nvSpPr>
          <p:cNvPr id="28" name="trans_fade_5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9" name="Text 2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C5646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C5646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C56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 bring soul and complexity —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they demand respect for their variability.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03.1</a:t>
            </a:r>
            <a:endParaRPr lang="en-US" sz="1100" dirty="0"/>
          </a:p>
        </p:txBody>
      </p:sp>
      <p:sp>
        <p:nvSpPr>
          <p:cNvPr id="10" name="trans_fade_5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9795" y="1881835"/>
            <a:ext cx="3094330" cy="309433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3067995"/>
            <a:ext cx="812262" cy="36100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79222" y="3067995"/>
            <a:ext cx="812262" cy="45125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779222" y="3519251"/>
            <a:ext cx="812262" cy="72201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25452" y="4241262"/>
            <a:ext cx="1353769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425452" y="3429000"/>
            <a:ext cx="541508" cy="81226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74196" y="2977744"/>
            <a:ext cx="992764" cy="45125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22558" y="3284598"/>
            <a:ext cx="288804" cy="2888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75433" y="2964206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487694" y="3415462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675433" y="4137473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21663" y="4137473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70407" y="2873955"/>
            <a:ext cx="207578" cy="207578"/>
          </a:xfrm>
          <a:prstGeom prst="ellipse">
            <a:avLst/>
          </a:prstGeom>
          <a:solidFill>
            <a:srgbClr val="C9A354"/>
          </a:solidFill>
          <a:ln w="19050">
            <a:solidFill>
              <a:srgbClr val="0E0D0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03.2 · RAW MATERIALS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 —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Modern Palette</a:t>
            </a:r>
            <a:endParaRPr lang="en-US" sz="46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perfumery is built on synthetic molecules. This module will change how you see them, for good.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synthetic families, in real depth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bases — and why using one isn't cheating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Busting the naturals-vs-synthetics myths for good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  <p:sp>
        <p:nvSpPr>
          <p:cNvPr id="31" name="trans_fade_5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 perfumery runs on synthetics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C5646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C5646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8258" y="1199550"/>
            <a:ext cx="4458900" cy="44589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flipV="1">
            <a:off x="9547708" y="2959642"/>
            <a:ext cx="1056055" cy="469358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603763" y="2959642"/>
            <a:ext cx="1056055" cy="5866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603763" y="3546339"/>
            <a:ext cx="1056055" cy="93871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43671" y="4485055"/>
            <a:ext cx="1760092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8843671" y="3429000"/>
            <a:ext cx="704037" cy="105605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56973" y="2842303"/>
            <a:ext cx="1290734" cy="5866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59964" y="3241257"/>
            <a:ext cx="375486" cy="375486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468822" y="2824702"/>
            <a:ext cx="269881" cy="269881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24878" y="3411399"/>
            <a:ext cx="269881" cy="269881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468822" y="4350115"/>
            <a:ext cx="269881" cy="269881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08730" y="4350115"/>
            <a:ext cx="269881" cy="269881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22033" y="2707362"/>
            <a:ext cx="269881" cy="269881"/>
          </a:xfrm>
          <a:prstGeom prst="ellipse">
            <a:avLst/>
          </a:prstGeom>
          <a:solidFill>
            <a:srgbClr val="B5652D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molecule, isolated and perfected — the synthetic advantage.</a:t>
            </a:r>
            <a:endParaRPr lang="en-US" sz="1050" dirty="0"/>
          </a:p>
        </p:txBody>
      </p:sp>
      <p:sp>
        <p:nvSpPr>
          <p:cNvPr id="24" name="bld1_847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5" name="bld1_848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Consistency, batch after batch</a:t>
            </a:r>
            <a:endParaRPr lang="en-US" sz="1650" dirty="0"/>
          </a:p>
        </p:txBody>
      </p:sp>
      <p:sp>
        <p:nvSpPr>
          <p:cNvPr id="26" name="bld1_849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synthetic molecule smells identical this year and next — naturals simply can't promise that.</a:t>
            </a:r>
            <a:endParaRPr lang="en-US" sz="1250" dirty="0"/>
          </a:p>
        </p:txBody>
      </p:sp>
      <p:sp>
        <p:nvSpPr>
          <p:cNvPr id="27" name="bld2_850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8" name="bld2_851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Effects that don't exist in nature</a:t>
            </a:r>
            <a:endParaRPr lang="en-US" sz="1650" dirty="0"/>
          </a:p>
        </p:txBody>
      </p:sp>
      <p:sp>
        <p:nvSpPr>
          <p:cNvPr id="29" name="bld2_852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Ozonic, radiant, transparent-woody — entire categories of smell with no natural equivalent.</a:t>
            </a:r>
            <a:endParaRPr lang="en-US" sz="1250" dirty="0"/>
          </a:p>
        </p:txBody>
      </p:sp>
      <p:sp>
        <p:nvSpPr>
          <p:cNvPr id="30" name="bld3_853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854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and sustainability</a:t>
            </a:r>
            <a:endParaRPr lang="en-US" sz="1650" dirty="0"/>
          </a:p>
        </p:txBody>
      </p:sp>
      <p:sp>
        <p:nvSpPr>
          <p:cNvPr id="32" name="bld3_855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pressure on endangered species and rare harvests — sandalwood and musk deer among them.</a:t>
            </a:r>
            <a:endParaRPr lang="en-US" sz="1250" dirty="0"/>
          </a:p>
        </p:txBody>
      </p:sp>
      <p:sp>
        <p:nvSpPr>
          <p:cNvPr id="33" name="bld4_856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4" name="bld4_857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Affordability at scale</a:t>
            </a:r>
            <a:endParaRPr lang="en-US" sz="1650" dirty="0"/>
          </a:p>
        </p:txBody>
      </p:sp>
      <p:sp>
        <p:nvSpPr>
          <p:cNvPr id="35" name="bld4_858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beautiful perfumery accessible far beyond luxury-only pricing.</a:t>
            </a:r>
            <a:endParaRPr lang="en-US" sz="1250" dirty="0"/>
          </a:p>
        </p:txBody>
      </p:sp>
      <p:sp>
        <p:nvSpPr>
          <p:cNvPr id="37" name="trans_fade_5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8" name="Text 3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CATEGORIES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major synthetic families</a:t>
            </a:r>
            <a:endParaRPr lang="en-US" sz="3200" dirty="0"/>
          </a:p>
        </p:txBody>
      </p:sp>
      <p:sp>
        <p:nvSpPr>
          <p:cNvPr id="7" name="bld1_859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9" name="Shape 7"/>
          <p:cNvSpPr/>
          <p:nvPr/>
        </p:nvSpPr>
        <p:spPr>
          <a:xfrm>
            <a:off x="1616331" y="2070180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11" name="bld1_861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Musks</a:t>
            </a:r>
            <a:endParaRPr lang="en-US" sz="1450" dirty="0"/>
          </a:p>
        </p:txBody>
      </p:sp>
      <p:sp>
        <p:nvSpPr>
          <p:cNvPr id="12" name="bld1_862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Skin-like radiance and fixation</a:t>
            </a:r>
            <a:endParaRPr lang="en-US" sz="1080" dirty="0"/>
          </a:p>
        </p:txBody>
      </p:sp>
      <p:sp>
        <p:nvSpPr>
          <p:cNvPr id="13" name="bld2_863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5" name="Shape 13"/>
          <p:cNvSpPr/>
          <p:nvPr/>
        </p:nvSpPr>
        <p:spPr>
          <a:xfrm rot="9000000">
            <a:off x="4555792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6000000">
            <a:off x="4492743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1400000">
            <a:off x="4691592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9" name="bld2_865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 / Ambrox</a:t>
            </a:r>
            <a:endParaRPr lang="en-US" sz="1450" dirty="0"/>
          </a:p>
        </p:txBody>
      </p:sp>
      <p:sp>
        <p:nvSpPr>
          <p:cNvPr id="20" name="bld2_866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radiant, modern amber effect</a:t>
            </a:r>
            <a:endParaRPr lang="en-US" sz="1080" dirty="0"/>
          </a:p>
        </p:txBody>
      </p:sp>
      <p:sp>
        <p:nvSpPr>
          <p:cNvPr id="21" name="bld3_867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3" name="Shape 21"/>
          <p:cNvSpPr/>
          <p:nvPr/>
        </p:nvSpPr>
        <p:spPr>
          <a:xfrm>
            <a:off x="7272155" y="1978030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7352988" y="2058863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5" name="Shape 23"/>
          <p:cNvSpPr/>
          <p:nvPr/>
        </p:nvSpPr>
        <p:spPr>
          <a:xfrm>
            <a:off x="7433821" y="2139696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7485554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7" name="Shape 25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8" name="bld3_869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</a:t>
            </a:r>
            <a:endParaRPr lang="en-US" sz="1450" dirty="0"/>
          </a:p>
        </p:txBody>
      </p:sp>
      <p:sp>
        <p:nvSpPr>
          <p:cNvPr id="29" name="bld3_870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Transparent, voluminous woodiness</a:t>
            </a:r>
            <a:endParaRPr lang="en-US" sz="1080" dirty="0"/>
          </a:p>
        </p:txBody>
      </p:sp>
      <p:sp>
        <p:nvSpPr>
          <p:cNvPr id="30" name="bld4_871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10291641" y="1976090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4320000">
            <a:off x="10403035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8640000">
            <a:off x="10360486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2960000">
            <a:off x="10222795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7280000">
            <a:off x="10180246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10294066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8" name="Shape 36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9" name="bld4_873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</a:t>
            </a:r>
            <a:endParaRPr lang="en-US" sz="1450" dirty="0"/>
          </a:p>
        </p:txBody>
      </p:sp>
      <p:sp>
        <p:nvSpPr>
          <p:cNvPr id="40" name="bld4_874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Isolated, hyper-true floral facets</a:t>
            </a:r>
            <a:endParaRPr lang="en-US" sz="1080" dirty="0"/>
          </a:p>
        </p:txBody>
      </p:sp>
      <p:sp>
        <p:nvSpPr>
          <p:cNvPr id="41" name="bld5_875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43" name="Shape 41"/>
          <p:cNvSpPr/>
          <p:nvPr/>
        </p:nvSpPr>
        <p:spPr>
          <a:xfrm>
            <a:off x="1596931" y="4337182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630881" y="4371132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5" name="Shape 43"/>
          <p:cNvSpPr/>
          <p:nvPr/>
        </p:nvSpPr>
        <p:spPr>
          <a:xfrm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216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432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648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864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1080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296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512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728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9440000">
            <a:off x="1827305" y="4385682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1815180" y="4555431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6" name="Shape 54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57" name="bld5_877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 / green</a:t>
            </a:r>
            <a:endParaRPr lang="en-US" sz="1450" dirty="0"/>
          </a:p>
        </p:txBody>
      </p:sp>
      <p:sp>
        <p:nvSpPr>
          <p:cNvPr id="58" name="bld5_878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Citrus, green, metallic and aldehydic lift</a:t>
            </a:r>
            <a:endParaRPr lang="en-US" sz="1080" dirty="0"/>
          </a:p>
        </p:txBody>
      </p:sp>
      <p:sp>
        <p:nvSpPr>
          <p:cNvPr id="59" name="bld6_879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61" name="Shape 59"/>
          <p:cNvSpPr/>
          <p:nvPr/>
        </p:nvSpPr>
        <p:spPr>
          <a:xfrm>
            <a:off x="4478193" y="4400232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4671555" y="4390532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12000000">
            <a:off x="4695330" y="4371132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65" name="bld6_881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</a:t>
            </a:r>
            <a:endParaRPr lang="en-US" sz="1450" dirty="0"/>
          </a:p>
        </p:txBody>
      </p:sp>
      <p:sp>
        <p:nvSpPr>
          <p:cNvPr id="66" name="bld6_882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Juicy, vivid fruit facets</a:t>
            </a:r>
            <a:endParaRPr lang="en-US" sz="1080" dirty="0"/>
          </a:p>
        </p:txBody>
      </p:sp>
      <p:sp>
        <p:nvSpPr>
          <p:cNvPr id="67" name="bld7_883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8" name="Shape 66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69" name="Shape 67"/>
          <p:cNvSpPr/>
          <p:nvPr/>
        </p:nvSpPr>
        <p:spPr>
          <a:xfrm rot="840000">
            <a:off x="7456454" y="4349307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 rot="840000">
            <a:off x="7509167" y="4405082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460091" y="441841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72" name="Shape 70"/>
          <p:cNvSpPr/>
          <p:nvPr/>
        </p:nvSpPr>
        <p:spPr>
          <a:xfrm>
            <a:off x="7477551" y="447855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73" name="Shape 71"/>
          <p:cNvSpPr/>
          <p:nvPr/>
        </p:nvSpPr>
        <p:spPr>
          <a:xfrm>
            <a:off x="7495011" y="453869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74" name="Shape 72"/>
          <p:cNvSpPr/>
          <p:nvPr/>
        </p:nvSpPr>
        <p:spPr>
          <a:xfrm>
            <a:off x="7512471" y="459883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75" name="Shape 73"/>
          <p:cNvSpPr/>
          <p:nvPr/>
        </p:nvSpPr>
        <p:spPr>
          <a:xfrm>
            <a:off x="7529931" y="465897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76" name="Shape 74"/>
          <p:cNvSpPr/>
          <p:nvPr/>
        </p:nvSpPr>
        <p:spPr>
          <a:xfrm>
            <a:off x="7547391" y="471911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77" name="Shape 75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78" name="bld7_885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</a:t>
            </a:r>
            <a:endParaRPr lang="en-US" sz="1450" dirty="0"/>
          </a:p>
        </p:txBody>
      </p:sp>
      <p:sp>
        <p:nvSpPr>
          <p:cNvPr id="79" name="bld7_886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edible, comforting facets</a:t>
            </a:r>
            <a:endParaRPr lang="en-US" sz="1080" dirty="0"/>
          </a:p>
        </p:txBody>
      </p:sp>
      <p:sp>
        <p:nvSpPr>
          <p:cNvPr id="81" name="trans_fade_5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82" name="Text 7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1" grpId="0"/>
      <p:bldP spid="12" grpId="0"/>
      <p:bldP spid="13" grpId="0"/>
      <p:bldP spid="19" grpId="0"/>
      <p:bldP spid="20" grpId="0"/>
      <p:bldP spid="21" grpId="0"/>
      <p:bldP spid="28" grpId="0"/>
      <p:bldP spid="29" grpId="0"/>
      <p:bldP spid="30" grpId="0"/>
      <p:bldP spid="39" grpId="0"/>
      <p:bldP spid="40" grpId="0"/>
      <p:bldP spid="41" grpId="0"/>
      <p:bldP spid="57" grpId="0"/>
      <p:bldP spid="58" grpId="0"/>
      <p:bldP spid="59" grpId="0"/>
      <p:bldP spid="65" grpId="0"/>
      <p:bldP spid="66" grpId="0"/>
      <p:bldP spid="67" grpId="0"/>
      <p:bldP spid="78" grpId="0"/>
      <p:bldP spid="79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FAMOUS MATERIALS · PART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Molecules every perfumer knows by name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8" name="Shape 6"/>
          <p:cNvSpPr/>
          <p:nvPr/>
        </p:nvSpPr>
        <p:spPr>
          <a:xfrm>
            <a:off x="1005612" y="1756220"/>
            <a:ext cx="1516759" cy="151675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7288" y="1907896"/>
            <a:ext cx="1213407" cy="1213407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0" name="Shape 8"/>
          <p:cNvSpPr/>
          <p:nvPr/>
        </p:nvSpPr>
        <p:spPr>
          <a:xfrm>
            <a:off x="1308964" y="2059572"/>
            <a:ext cx="910056" cy="91005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460640" y="2211248"/>
            <a:ext cx="606704" cy="606704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2" name="Shape 10"/>
          <p:cNvSpPr/>
          <p:nvPr/>
        </p:nvSpPr>
        <p:spPr>
          <a:xfrm>
            <a:off x="1612316" y="2362924"/>
            <a:ext cx="303352" cy="303352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672986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4" name="Shape 12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5" name="bld1_888"/>
          <p:cNvSpPr txBox="1"/>
          <p:nvPr/>
        </p:nvSpPr>
        <p:spPr>
          <a:xfrm>
            <a:off x="685800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E Super</a:t>
            </a:r>
            <a:endParaRPr lang="en-US" sz="1800" dirty="0"/>
          </a:p>
        </p:txBody>
      </p:sp>
      <p:sp>
        <p:nvSpPr>
          <p:cNvPr id="16" name="bld1_889"/>
          <p:cNvSpPr txBox="1"/>
          <p:nvPr/>
        </p:nvSpPr>
        <p:spPr>
          <a:xfrm>
            <a:off x="658368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7" name="bld1_890"/>
          <p:cNvSpPr txBox="1"/>
          <p:nvPr/>
        </p:nvSpPr>
        <p:spPr>
          <a:xfrm>
            <a:off x="658368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Velvety, transparent woody volume</a:t>
            </a:r>
            <a:endParaRPr lang="en-US" sz="1100" dirty="0"/>
          </a:p>
        </p:txBody>
      </p:sp>
      <p:sp>
        <p:nvSpPr>
          <p:cNvPr id="18" name="bld1_891"/>
          <p:cNvSpPr txBox="1"/>
          <p:nvPr/>
        </p:nvSpPr>
        <p:spPr>
          <a:xfrm>
            <a:off x="658368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9" name="bld1_892"/>
          <p:cNvSpPr txBox="1"/>
          <p:nvPr/>
        </p:nvSpPr>
        <p:spPr>
          <a:xfrm>
            <a:off x="658368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without weight</a:t>
            </a:r>
            <a:endParaRPr lang="en-US" sz="1100" dirty="0"/>
          </a:p>
        </p:txBody>
      </p:sp>
      <p:sp>
        <p:nvSpPr>
          <p:cNvPr id="20" name="bld1_893"/>
          <p:cNvSpPr txBox="1"/>
          <p:nvPr/>
        </p:nvSpPr>
        <p:spPr>
          <a:xfrm>
            <a:off x="658368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1" name="bld1_894"/>
          <p:cNvSpPr txBox="1"/>
          <p:nvPr/>
        </p:nvSpPr>
        <p:spPr>
          <a:xfrm>
            <a:off x="658368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almost everywhere, any dose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3" name="Shape 21"/>
          <p:cNvSpPr/>
          <p:nvPr/>
        </p:nvSpPr>
        <p:spPr>
          <a:xfrm rot="10800000">
            <a:off x="4088523" y="175622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4400000">
            <a:off x="4416911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18000000">
            <a:off x="4416911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088523" y="251460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3600000">
            <a:off x="3760135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7200000">
            <a:off x="3760135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012685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0" name="Shape 28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739173" y="1658992"/>
            <a:ext cx="311130" cy="311130"/>
          </a:xfrm>
          <a:prstGeom prst="star5">
            <a:avLst/>
          </a:prstGeom>
          <a:solidFill>
            <a:srgbClr val="EFB0C8">
              <a:alpha val="90000"/>
            </a:srgbClr>
          </a:solidFill>
          <a:ln/>
        </p:spPr>
      </p:sp>
      <p:sp>
        <p:nvSpPr>
          <p:cNvPr id="32" name="bld2_896"/>
          <p:cNvSpPr txBox="1"/>
          <p:nvPr/>
        </p:nvSpPr>
        <p:spPr>
          <a:xfrm>
            <a:off x="3116504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</a:t>
            </a:r>
            <a:endParaRPr lang="en-US" sz="1800" dirty="0"/>
          </a:p>
        </p:txBody>
      </p:sp>
      <p:sp>
        <p:nvSpPr>
          <p:cNvPr id="33" name="bld2_897"/>
          <p:cNvSpPr txBox="1"/>
          <p:nvPr/>
        </p:nvSpPr>
        <p:spPr>
          <a:xfrm>
            <a:off x="3089072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4" name="bld2_898"/>
          <p:cNvSpPr txBox="1"/>
          <p:nvPr/>
        </p:nvSpPr>
        <p:spPr>
          <a:xfrm>
            <a:off x="3089072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Airy, jasmine-adjacent radiance</a:t>
            </a:r>
            <a:endParaRPr lang="en-US" sz="1100" dirty="0"/>
          </a:p>
        </p:txBody>
      </p:sp>
      <p:sp>
        <p:nvSpPr>
          <p:cNvPr id="35" name="bld2_899"/>
          <p:cNvSpPr txBox="1"/>
          <p:nvPr/>
        </p:nvSpPr>
        <p:spPr>
          <a:xfrm>
            <a:off x="3089072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6" name="bld2_900"/>
          <p:cNvSpPr txBox="1"/>
          <p:nvPr/>
        </p:nvSpPr>
        <p:spPr>
          <a:xfrm>
            <a:off x="3089072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up space in a formula</a:t>
            </a:r>
            <a:endParaRPr lang="en-US" sz="1100" dirty="0"/>
          </a:p>
        </p:txBody>
      </p:sp>
      <p:sp>
        <p:nvSpPr>
          <p:cNvPr id="37" name="bld2_901"/>
          <p:cNvSpPr txBox="1"/>
          <p:nvPr/>
        </p:nvSpPr>
        <p:spPr>
          <a:xfrm>
            <a:off x="3089072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8" name="bld2_902"/>
          <p:cNvSpPr txBox="1"/>
          <p:nvPr/>
        </p:nvSpPr>
        <p:spPr>
          <a:xfrm>
            <a:off x="3089072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diffusion superpower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0" name="Shape 38"/>
          <p:cNvSpPr/>
          <p:nvPr/>
        </p:nvSpPr>
        <p:spPr>
          <a:xfrm rot="9000000">
            <a:off x="6246210" y="2165745"/>
            <a:ext cx="879720" cy="87972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6000000">
            <a:off x="6049031" y="2074740"/>
            <a:ext cx="546033" cy="546033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11400000">
            <a:off x="6670902" y="1983734"/>
            <a:ext cx="455028" cy="455028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4" name="bld3_904"/>
          <p:cNvSpPr txBox="1"/>
          <p:nvPr/>
        </p:nvSpPr>
        <p:spPr>
          <a:xfrm>
            <a:off x="5547208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Ambroxan</a:t>
            </a:r>
            <a:endParaRPr lang="en-US" sz="1800" dirty="0"/>
          </a:p>
        </p:txBody>
      </p:sp>
      <p:sp>
        <p:nvSpPr>
          <p:cNvPr id="45" name="bld3_905"/>
          <p:cNvSpPr txBox="1"/>
          <p:nvPr/>
        </p:nvSpPr>
        <p:spPr>
          <a:xfrm>
            <a:off x="5519776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6" name="bld3_906"/>
          <p:cNvSpPr txBox="1"/>
          <p:nvPr/>
        </p:nvSpPr>
        <p:spPr>
          <a:xfrm>
            <a:off x="5519776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radiant amber-musk</a:t>
            </a:r>
            <a:endParaRPr lang="en-US" sz="1100" dirty="0"/>
          </a:p>
        </p:txBody>
      </p:sp>
      <p:sp>
        <p:nvSpPr>
          <p:cNvPr id="47" name="bld3_907"/>
          <p:cNvSpPr txBox="1"/>
          <p:nvPr/>
        </p:nvSpPr>
        <p:spPr>
          <a:xfrm>
            <a:off x="5519776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8" name="bld3_908"/>
          <p:cNvSpPr txBox="1"/>
          <p:nvPr/>
        </p:nvSpPr>
        <p:spPr>
          <a:xfrm>
            <a:off x="5519776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that carries far</a:t>
            </a:r>
            <a:endParaRPr lang="en-US" sz="1100" dirty="0"/>
          </a:p>
        </p:txBody>
      </p:sp>
      <p:sp>
        <p:nvSpPr>
          <p:cNvPr id="49" name="bld3_909"/>
          <p:cNvSpPr txBox="1"/>
          <p:nvPr/>
        </p:nvSpPr>
        <p:spPr>
          <a:xfrm>
            <a:off x="5519776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0" name="bld3_910"/>
          <p:cNvSpPr txBox="1"/>
          <p:nvPr/>
        </p:nvSpPr>
        <p:spPr>
          <a:xfrm>
            <a:off x="5519776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perfumery's signature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52" name="Shape 50"/>
          <p:cNvSpPr/>
          <p:nvPr/>
        </p:nvSpPr>
        <p:spPr>
          <a:xfrm rot="840000">
            <a:off x="8874092" y="1794139"/>
            <a:ext cx="364022" cy="1440921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840000">
            <a:off x="9050617" y="1968567"/>
            <a:ext cx="914" cy="1092067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885468" y="2010278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5" name="Shape 53"/>
          <p:cNvSpPr/>
          <p:nvPr/>
        </p:nvSpPr>
        <p:spPr>
          <a:xfrm>
            <a:off x="8940071" y="2198356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6" name="Shape 54"/>
          <p:cNvSpPr/>
          <p:nvPr/>
        </p:nvSpPr>
        <p:spPr>
          <a:xfrm>
            <a:off x="8994675" y="2386434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7" name="Shape 55"/>
          <p:cNvSpPr/>
          <p:nvPr/>
        </p:nvSpPr>
        <p:spPr>
          <a:xfrm>
            <a:off x="9049278" y="2574512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8" name="Shape 56"/>
          <p:cNvSpPr/>
          <p:nvPr/>
        </p:nvSpPr>
        <p:spPr>
          <a:xfrm>
            <a:off x="9103881" y="2762590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9" name="Shape 57"/>
          <p:cNvSpPr/>
          <p:nvPr/>
        </p:nvSpPr>
        <p:spPr>
          <a:xfrm>
            <a:off x="9158485" y="2950668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60" name="Shape 58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61" name="bld4_912"/>
          <p:cNvSpPr txBox="1"/>
          <p:nvPr/>
        </p:nvSpPr>
        <p:spPr>
          <a:xfrm>
            <a:off x="7977911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Vanillin</a:t>
            </a:r>
            <a:endParaRPr lang="en-US" sz="1800" dirty="0"/>
          </a:p>
        </p:txBody>
      </p:sp>
      <p:sp>
        <p:nvSpPr>
          <p:cNvPr id="62" name="bld4_913"/>
          <p:cNvSpPr txBox="1"/>
          <p:nvPr/>
        </p:nvSpPr>
        <p:spPr>
          <a:xfrm>
            <a:off x="7950479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63" name="bld4_914"/>
          <p:cNvSpPr txBox="1"/>
          <p:nvPr/>
        </p:nvSpPr>
        <p:spPr>
          <a:xfrm>
            <a:off x="7950479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essence of vanilla, isolated</a:t>
            </a:r>
            <a:endParaRPr lang="en-US" sz="1100" dirty="0"/>
          </a:p>
        </p:txBody>
      </p:sp>
      <p:sp>
        <p:nvSpPr>
          <p:cNvPr id="64" name="bld4_915"/>
          <p:cNvSpPr txBox="1"/>
          <p:nvPr/>
        </p:nvSpPr>
        <p:spPr>
          <a:xfrm>
            <a:off x="7950479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65" name="bld4_916"/>
          <p:cNvSpPr txBox="1"/>
          <p:nvPr/>
        </p:nvSpPr>
        <p:spPr>
          <a:xfrm>
            <a:off x="7950479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sweet, endlessly useful</a:t>
            </a:r>
            <a:endParaRPr lang="en-US" sz="1100" dirty="0"/>
          </a:p>
        </p:txBody>
      </p:sp>
      <p:sp>
        <p:nvSpPr>
          <p:cNvPr id="66" name="bld4_917"/>
          <p:cNvSpPr txBox="1"/>
          <p:nvPr/>
        </p:nvSpPr>
        <p:spPr>
          <a:xfrm>
            <a:off x="7950479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67" name="bld4_918"/>
          <p:cNvSpPr txBox="1"/>
          <p:nvPr/>
        </p:nvSpPr>
        <p:spPr>
          <a:xfrm>
            <a:off x="7950479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 and base workhorse</a:t>
            </a:r>
            <a:endParaRPr lang="en-US" sz="1100" dirty="0"/>
          </a:p>
        </p:txBody>
      </p:sp>
      <p:sp>
        <p:nvSpPr>
          <p:cNvPr id="69" name="trans_fade_5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0" name="Text 6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61" grpId="0"/>
      <p:bldP spid="62" grpId="0"/>
      <p:bldP spid="63" grpId="0"/>
      <p:bldP spid="64" grpId="0"/>
      <p:bldP spid="65" grpId="0"/>
      <p:bldP spid="66" grpId="0"/>
      <p:bldP spid="67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PLAYTIME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myths, busted</a:t>
            </a:r>
            <a:endParaRPr lang="en-US" sz="3200" dirty="0"/>
          </a:p>
        </p:txBody>
      </p:sp>
      <p:sp>
        <p:nvSpPr>
          <p:cNvPr id="7" name="bld1_919"/>
          <p:cNvSpPr/>
          <p:nvPr/>
        </p:nvSpPr>
        <p:spPr>
          <a:xfrm>
            <a:off x="548640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920"/>
          <p:cNvSpPr txBox="1"/>
          <p:nvPr/>
        </p:nvSpPr>
        <p:spPr>
          <a:xfrm>
            <a:off x="749808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9" name="bld1_921"/>
          <p:cNvSpPr txBox="1"/>
          <p:nvPr/>
        </p:nvSpPr>
        <p:spPr>
          <a:xfrm>
            <a:off x="749808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 are less safe than naturals</a:t>
            </a:r>
            <a:endParaRPr lang="en-US" sz="1350" dirty="0"/>
          </a:p>
        </p:txBody>
      </p:sp>
      <p:sp>
        <p:nvSpPr>
          <p:cNvPr id="10" name="bld1_922"/>
          <p:cNvSpPr txBox="1"/>
          <p:nvPr/>
        </p:nvSpPr>
        <p:spPr>
          <a:xfrm>
            <a:off x="749808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11" name="bld1_923"/>
          <p:cNvSpPr txBox="1"/>
          <p:nvPr/>
        </p:nvSpPr>
        <p:spPr>
          <a:xfrm>
            <a:off x="749808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Synthetics are among the most rigorously tested materials in consumer goods — many naturals contain far more allergens and irritants.</a:t>
            </a:r>
            <a:endParaRPr lang="en-US" sz="1080" dirty="0"/>
          </a:p>
        </p:txBody>
      </p:sp>
      <p:sp>
        <p:nvSpPr>
          <p:cNvPr id="12" name="bld2_924"/>
          <p:cNvSpPr/>
          <p:nvPr/>
        </p:nvSpPr>
        <p:spPr>
          <a:xfrm>
            <a:off x="4332122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925"/>
          <p:cNvSpPr txBox="1"/>
          <p:nvPr/>
        </p:nvSpPr>
        <p:spPr>
          <a:xfrm>
            <a:off x="4533290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14" name="bld2_926"/>
          <p:cNvSpPr txBox="1"/>
          <p:nvPr/>
        </p:nvSpPr>
        <p:spPr>
          <a:xfrm>
            <a:off x="4533290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means cheap</a:t>
            </a:r>
            <a:endParaRPr lang="en-US" sz="1350" dirty="0"/>
          </a:p>
        </p:txBody>
      </p:sp>
      <p:sp>
        <p:nvSpPr>
          <p:cNvPr id="15" name="bld2_927"/>
          <p:cNvSpPr txBox="1"/>
          <p:nvPr/>
        </p:nvSpPr>
        <p:spPr>
          <a:xfrm>
            <a:off x="4533290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16" name="bld2_928"/>
          <p:cNvSpPr txBox="1"/>
          <p:nvPr/>
        </p:nvSpPr>
        <p:spPr>
          <a:xfrm>
            <a:off x="4533290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captive synthetic molecules cost more per kilo than gold-standard naturals — exclusivity and R&amp;D drive price, not "natural vs. synthetic."</a:t>
            </a:r>
            <a:endParaRPr lang="en-US" sz="1080" dirty="0"/>
          </a:p>
        </p:txBody>
      </p:sp>
      <p:sp>
        <p:nvSpPr>
          <p:cNvPr id="17" name="bld3_929"/>
          <p:cNvSpPr/>
          <p:nvPr/>
        </p:nvSpPr>
        <p:spPr>
          <a:xfrm>
            <a:off x="8115605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930"/>
          <p:cNvSpPr txBox="1"/>
          <p:nvPr/>
        </p:nvSpPr>
        <p:spPr>
          <a:xfrm>
            <a:off x="8316773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19" name="bld3_931"/>
          <p:cNvSpPr txBox="1"/>
          <p:nvPr/>
        </p:nvSpPr>
        <p:spPr>
          <a:xfrm>
            <a:off x="8316773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 smell inherently 'chemical'</a:t>
            </a:r>
            <a:endParaRPr lang="en-US" sz="1350" dirty="0"/>
          </a:p>
        </p:txBody>
      </p:sp>
      <p:sp>
        <p:nvSpPr>
          <p:cNvPr id="20" name="bld3_932"/>
          <p:cNvSpPr txBox="1"/>
          <p:nvPr/>
        </p:nvSpPr>
        <p:spPr>
          <a:xfrm>
            <a:off x="8316773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21" name="bld3_933"/>
          <p:cNvSpPr txBox="1"/>
          <p:nvPr/>
        </p:nvSpPr>
        <p:spPr>
          <a:xfrm>
            <a:off x="8316773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poorly built formula smells chemical — with any material. Iso E Super and Hedione are beloved precisely because they don't.</a:t>
            </a:r>
            <a:endParaRPr lang="en-US" sz="1080" dirty="0"/>
          </a:p>
        </p:txBody>
      </p:sp>
      <p:sp>
        <p:nvSpPr>
          <p:cNvPr id="22" name="bld4_934"/>
          <p:cNvSpPr/>
          <p:nvPr/>
        </p:nvSpPr>
        <p:spPr>
          <a:xfrm>
            <a:off x="548640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935"/>
          <p:cNvSpPr txBox="1"/>
          <p:nvPr/>
        </p:nvSpPr>
        <p:spPr>
          <a:xfrm>
            <a:off x="749808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24" name="bld4_936"/>
          <p:cNvSpPr txBox="1"/>
          <p:nvPr/>
        </p:nvSpPr>
        <p:spPr>
          <a:xfrm>
            <a:off x="749808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 are automatically more sophisticated</a:t>
            </a:r>
            <a:endParaRPr lang="en-US" sz="1350" dirty="0"/>
          </a:p>
        </p:txBody>
      </p:sp>
      <p:sp>
        <p:nvSpPr>
          <p:cNvPr id="25" name="bld4_937"/>
          <p:cNvSpPr txBox="1"/>
          <p:nvPr/>
        </p:nvSpPr>
        <p:spPr>
          <a:xfrm>
            <a:off x="749808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26" name="bld4_938"/>
          <p:cNvSpPr txBox="1"/>
          <p:nvPr/>
        </p:nvSpPr>
        <p:spPr>
          <a:xfrm>
            <a:off x="749808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of history's most acclaimed perfumes lean heavily synthetic. Sophistication is about composition, not ingredient origin.</a:t>
            </a:r>
            <a:endParaRPr lang="en-US" sz="1080" dirty="0"/>
          </a:p>
        </p:txBody>
      </p:sp>
      <p:sp>
        <p:nvSpPr>
          <p:cNvPr id="27" name="bld5_939"/>
          <p:cNvSpPr/>
          <p:nvPr/>
        </p:nvSpPr>
        <p:spPr>
          <a:xfrm>
            <a:off x="4332122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940"/>
          <p:cNvSpPr txBox="1"/>
          <p:nvPr/>
        </p:nvSpPr>
        <p:spPr>
          <a:xfrm>
            <a:off x="4533290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29" name="bld5_941"/>
          <p:cNvSpPr txBox="1"/>
          <p:nvPr/>
        </p:nvSpPr>
        <p:spPr>
          <a:xfrm>
            <a:off x="4533290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perfumers avoid synthetics</a:t>
            </a:r>
            <a:endParaRPr lang="en-US" sz="1350" dirty="0"/>
          </a:p>
        </p:txBody>
      </p:sp>
      <p:sp>
        <p:nvSpPr>
          <p:cNvPr id="30" name="bld5_942"/>
          <p:cNvSpPr txBox="1"/>
          <p:nvPr/>
        </p:nvSpPr>
        <p:spPr>
          <a:xfrm>
            <a:off x="4533290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31" name="bld5_943"/>
          <p:cNvSpPr txBox="1"/>
          <p:nvPr/>
        </p:nvSpPr>
        <p:spPr>
          <a:xfrm>
            <a:off x="4533290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major fine fragrance house uses synthetics extensively — they are the industry standard, not a shortcut.</a:t>
            </a:r>
            <a:endParaRPr lang="en-US" sz="1080" dirty="0"/>
          </a:p>
        </p:txBody>
      </p:sp>
      <p:sp>
        <p:nvSpPr>
          <p:cNvPr id="33" name="trans_fade_5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4" name="Text 3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1 OF 7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0EBE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0" name="Shape 8"/>
          <p:cNvSpPr/>
          <p:nvPr/>
        </p:nvSpPr>
        <p:spPr>
          <a:xfrm>
            <a:off x="1246241" y="3683415"/>
            <a:ext cx="987267" cy="665332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12" name="bld1_945"/>
          <p:cNvSpPr txBox="1"/>
          <p:nvPr/>
        </p:nvSpPr>
        <p:spPr>
          <a:xfrm>
            <a:off x="914400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6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Galaxolide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4" name="Shape 12"/>
          <p:cNvSpPr/>
          <p:nvPr/>
        </p:nvSpPr>
        <p:spPr>
          <a:xfrm>
            <a:off x="2915110" y="3903233"/>
            <a:ext cx="1134307" cy="764424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16" name="bld2_947"/>
          <p:cNvSpPr txBox="1"/>
          <p:nvPr/>
        </p:nvSpPr>
        <p:spPr>
          <a:xfrm>
            <a:off x="2656789" y="5222097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6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Habanolide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8" name="Shape 16"/>
          <p:cNvSpPr/>
          <p:nvPr/>
        </p:nvSpPr>
        <p:spPr>
          <a:xfrm>
            <a:off x="4731019" y="3683415"/>
            <a:ext cx="987267" cy="665332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20" name="bld3_949"/>
          <p:cNvSpPr txBox="1"/>
          <p:nvPr/>
        </p:nvSpPr>
        <p:spPr>
          <a:xfrm>
            <a:off x="4399178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6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Ambrettolide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22" name="Shape 20"/>
          <p:cNvSpPr/>
          <p:nvPr/>
        </p:nvSpPr>
        <p:spPr>
          <a:xfrm>
            <a:off x="6473409" y="3952779"/>
            <a:ext cx="987267" cy="665332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24" name="bld4_951"/>
          <p:cNvSpPr txBox="1"/>
          <p:nvPr/>
        </p:nvSpPr>
        <p:spPr>
          <a:xfrm>
            <a:off x="6141568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6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Helvetolide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26" name="Shape 24"/>
          <p:cNvSpPr/>
          <p:nvPr/>
        </p:nvSpPr>
        <p:spPr>
          <a:xfrm>
            <a:off x="8142278" y="3633869"/>
            <a:ext cx="1134307" cy="764424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28" name="bld5_953"/>
          <p:cNvSpPr txBox="1"/>
          <p:nvPr/>
        </p:nvSpPr>
        <p:spPr>
          <a:xfrm>
            <a:off x="7883957" y="4952733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6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Ethylene Brassylate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30" name="Shape 28"/>
          <p:cNvSpPr/>
          <p:nvPr/>
        </p:nvSpPr>
        <p:spPr>
          <a:xfrm>
            <a:off x="9958187" y="3952779"/>
            <a:ext cx="987267" cy="665332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32" name="bld6_955"/>
          <p:cNvSpPr txBox="1"/>
          <p:nvPr/>
        </p:nvSpPr>
        <p:spPr>
          <a:xfrm>
            <a:off x="9626346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6B62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Exaltolide</a:t>
            </a:r>
            <a:endParaRPr lang="en-US" sz="1350" dirty="0"/>
          </a:p>
        </p:txBody>
      </p:sp>
      <p:sp>
        <p:nvSpPr>
          <p:cNvPr id="34" name="trans_fade_5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6" grpId="0"/>
      <p:bldP spid="20" grpId="0"/>
      <p:bldP spid="24" grpId="0"/>
      <p:bldP spid="28" grpId="0"/>
      <p:bldP spid="32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Clean, metallic, skin-like, fruity — not one smell</a:t>
            </a:r>
            <a:endParaRPr lang="en-US" sz="3200" dirty="0"/>
          </a:p>
        </p:txBody>
      </p:sp>
      <p:sp>
        <p:nvSpPr>
          <p:cNvPr id="7" name="bld1_956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9" name="Shape 7"/>
          <p:cNvSpPr/>
          <p:nvPr/>
        </p:nvSpPr>
        <p:spPr>
          <a:xfrm>
            <a:off x="2089266" y="2070180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11" name="bld1_958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Galaxolide</a:t>
            </a:r>
            <a:endParaRPr lang="en-US" sz="1450" dirty="0"/>
          </a:p>
        </p:txBody>
      </p:sp>
      <p:sp>
        <p:nvSpPr>
          <p:cNvPr id="12" name="bld1_959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laundry-like, soft. Base note, very long, radiant at low % — the classic "fresh clean" musk.</a:t>
            </a:r>
            <a:endParaRPr lang="en-US" sz="1080" dirty="0"/>
          </a:p>
        </p:txBody>
      </p:sp>
      <p:sp>
        <p:nvSpPr>
          <p:cNvPr id="13" name="bld2_960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5" name="Shape 13"/>
          <p:cNvSpPr/>
          <p:nvPr/>
        </p:nvSpPr>
        <p:spPr>
          <a:xfrm>
            <a:off x="5872749" y="2070180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17" name="bld2_962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Habanolide</a:t>
            </a:r>
            <a:endParaRPr lang="en-US" sz="1450" dirty="0"/>
          </a:p>
        </p:txBody>
      </p:sp>
      <p:sp>
        <p:nvSpPr>
          <p:cNvPr id="18" name="bld2_963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Cleaner, more metallic and modern. Base note, very long — real diffusion and body, not just a background hum.</a:t>
            </a:r>
            <a:endParaRPr lang="en-US" sz="1080" dirty="0"/>
          </a:p>
        </p:txBody>
      </p:sp>
      <p:sp>
        <p:nvSpPr>
          <p:cNvPr id="19" name="bld3_964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21" name="Shape 19"/>
          <p:cNvSpPr/>
          <p:nvPr/>
        </p:nvSpPr>
        <p:spPr>
          <a:xfrm>
            <a:off x="9656231" y="2070180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23" name="bld3_966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Ambrettolide</a:t>
            </a:r>
            <a:endParaRPr lang="en-US" sz="1450" dirty="0"/>
          </a:p>
        </p:txBody>
      </p:sp>
      <p:sp>
        <p:nvSpPr>
          <p:cNvPr id="24" name="bld3_967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elegant, skin-like, slightly fruity ambrette character. Base note, long — closer to skin than a lab-clean musk.</a:t>
            </a:r>
            <a:endParaRPr lang="en-US" sz="1080" dirty="0"/>
          </a:p>
        </p:txBody>
      </p:sp>
      <p:sp>
        <p:nvSpPr>
          <p:cNvPr id="25" name="bld4_968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27" name="Shape 25"/>
          <p:cNvSpPr/>
          <p:nvPr/>
        </p:nvSpPr>
        <p:spPr>
          <a:xfrm>
            <a:off x="2089266" y="4429332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29" name="bld4_970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Helvetolide</a:t>
            </a:r>
            <a:endParaRPr lang="en-US" sz="1450" dirty="0"/>
          </a:p>
        </p:txBody>
      </p:sp>
      <p:sp>
        <p:nvSpPr>
          <p:cNvPr id="30" name="bld4_971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Fruity, pear-like musk nuance. Base note, medium-long, intimate — a gentler, more skin-like effect.</a:t>
            </a:r>
            <a:endParaRPr lang="en-US" sz="1080" dirty="0"/>
          </a:p>
        </p:txBody>
      </p:sp>
      <p:sp>
        <p:nvSpPr>
          <p:cNvPr id="31" name="bld5_972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33" name="Shape 31"/>
          <p:cNvSpPr/>
          <p:nvPr/>
        </p:nvSpPr>
        <p:spPr>
          <a:xfrm>
            <a:off x="5872749" y="4429332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35" name="bld5_974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Ethylene Brassylate</a:t>
            </a:r>
            <a:endParaRPr lang="en-US" sz="1450" dirty="0"/>
          </a:p>
        </p:txBody>
      </p:sp>
      <p:sp>
        <p:nvSpPr>
          <p:cNvPr id="36" name="bld5_975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rounded, economical. Base note, long — a useful, affordable background musk.</a:t>
            </a:r>
            <a:endParaRPr lang="en-US" sz="1080" dirty="0"/>
          </a:p>
        </p:txBody>
      </p:sp>
      <p:sp>
        <p:nvSpPr>
          <p:cNvPr id="37" name="bld6_976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39" name="Shape 37"/>
          <p:cNvSpPr/>
          <p:nvPr/>
        </p:nvSpPr>
        <p:spPr>
          <a:xfrm>
            <a:off x="9656231" y="4429332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41" name="bld6_978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Exaltolide</a:t>
            </a:r>
            <a:endParaRPr lang="en-US" sz="1450" dirty="0"/>
          </a:p>
        </p:txBody>
      </p:sp>
      <p:sp>
        <p:nvSpPr>
          <p:cNvPr id="42" name="bld6_979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Macrocyclic-style, soft and naturalistic. Base note, long, very gentle diffusion.</a:t>
            </a:r>
            <a:endParaRPr lang="en-US" sz="1080" dirty="0"/>
          </a:p>
        </p:txBody>
      </p:sp>
      <p:sp>
        <p:nvSpPr>
          <p:cNvPr id="44" name="trans_fade_5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5" name="Text 4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1" grpId="0"/>
      <p:bldP spid="12" grpId="0"/>
      <p:bldP spid="13" grpId="0"/>
      <p:bldP spid="17" grpId="0"/>
      <p:bldP spid="18" grpId="0"/>
      <p:bldP spid="19" grpId="0"/>
      <p:bldP spid="23" grpId="0"/>
      <p:bldP spid="24" grpId="0"/>
      <p:bldP spid="25" grpId="0"/>
      <p:bldP spid="29" grpId="0"/>
      <p:bldP spid="30" grpId="0"/>
      <p:bldP spid="31" grpId="0"/>
      <p:bldP spid="35" grpId="0"/>
      <p:bldP spid="36" grpId="0"/>
      <p:bldP spid="37" grpId="0"/>
      <p:bldP spid="41" grpId="0"/>
      <p:bldP spid="4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musks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8" name="Shape 6"/>
          <p:cNvSpPr/>
          <p:nvPr/>
        </p:nvSpPr>
        <p:spPr>
          <a:xfrm>
            <a:off x="1490710" y="2006066"/>
            <a:ext cx="1509199" cy="101706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10" name="bld1_981"/>
          <p:cNvSpPr txBox="1"/>
          <p:nvPr/>
        </p:nvSpPr>
        <p:spPr>
          <a:xfrm>
            <a:off x="685800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Galaxolide</a:t>
            </a:r>
            <a:endParaRPr lang="en-US" sz="1800" dirty="0"/>
          </a:p>
        </p:txBody>
      </p:sp>
      <p:sp>
        <p:nvSpPr>
          <p:cNvPr id="11" name="bld1_982"/>
          <p:cNvSpPr txBox="1"/>
          <p:nvPr/>
        </p:nvSpPr>
        <p:spPr>
          <a:xfrm>
            <a:off x="658368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2" name="bld1_983"/>
          <p:cNvSpPr txBox="1"/>
          <p:nvPr/>
        </p:nvSpPr>
        <p:spPr>
          <a:xfrm>
            <a:off x="658368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laundry-like musk</a:t>
            </a:r>
            <a:endParaRPr lang="en-US" sz="1100" dirty="0"/>
          </a:p>
        </p:txBody>
      </p:sp>
      <p:sp>
        <p:nvSpPr>
          <p:cNvPr id="13" name="bld1_984"/>
          <p:cNvSpPr txBox="1"/>
          <p:nvPr/>
        </p:nvSpPr>
        <p:spPr>
          <a:xfrm>
            <a:off x="658368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4" name="bld1_985"/>
          <p:cNvSpPr txBox="1"/>
          <p:nvPr/>
        </p:nvSpPr>
        <p:spPr>
          <a:xfrm>
            <a:off x="658368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"fresh clean" signature</a:t>
            </a:r>
            <a:endParaRPr lang="en-US" sz="1100" dirty="0"/>
          </a:p>
        </p:txBody>
      </p:sp>
      <p:sp>
        <p:nvSpPr>
          <p:cNvPr id="15" name="bld1_986"/>
          <p:cNvSpPr txBox="1"/>
          <p:nvPr/>
        </p:nvSpPr>
        <p:spPr>
          <a:xfrm>
            <a:off x="658368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16" name="bld1_987"/>
          <p:cNvSpPr txBox="1"/>
          <p:nvPr/>
        </p:nvSpPr>
        <p:spPr>
          <a:xfrm>
            <a:off x="658368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radiant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8" name="Shape 16"/>
          <p:cNvSpPr/>
          <p:nvPr/>
        </p:nvSpPr>
        <p:spPr>
          <a:xfrm>
            <a:off x="4884048" y="2006066"/>
            <a:ext cx="1509199" cy="101706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20" name="bld2_989"/>
          <p:cNvSpPr txBox="1"/>
          <p:nvPr/>
        </p:nvSpPr>
        <p:spPr>
          <a:xfrm>
            <a:off x="4079138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Habanolide</a:t>
            </a:r>
            <a:endParaRPr lang="en-US" sz="1800" dirty="0"/>
          </a:p>
        </p:txBody>
      </p:sp>
      <p:sp>
        <p:nvSpPr>
          <p:cNvPr id="21" name="bld2_990"/>
          <p:cNvSpPr txBox="1"/>
          <p:nvPr/>
        </p:nvSpPr>
        <p:spPr>
          <a:xfrm>
            <a:off x="4051706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2" name="bld2_991"/>
          <p:cNvSpPr txBox="1"/>
          <p:nvPr/>
        </p:nvSpPr>
        <p:spPr>
          <a:xfrm>
            <a:off x="4051706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Cleaner, metallic, modern</a:t>
            </a:r>
            <a:endParaRPr lang="en-US" sz="1100" dirty="0"/>
          </a:p>
        </p:txBody>
      </p:sp>
      <p:sp>
        <p:nvSpPr>
          <p:cNvPr id="23" name="bld2_992"/>
          <p:cNvSpPr txBox="1"/>
          <p:nvPr/>
        </p:nvSpPr>
        <p:spPr>
          <a:xfrm>
            <a:off x="4051706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4" name="bld2_993"/>
          <p:cNvSpPr txBox="1"/>
          <p:nvPr/>
        </p:nvSpPr>
        <p:spPr>
          <a:xfrm>
            <a:off x="4051706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diffusion and body</a:t>
            </a:r>
            <a:endParaRPr lang="en-US" sz="1100" dirty="0"/>
          </a:p>
        </p:txBody>
      </p:sp>
      <p:sp>
        <p:nvSpPr>
          <p:cNvPr id="25" name="bld2_994"/>
          <p:cNvSpPr txBox="1"/>
          <p:nvPr/>
        </p:nvSpPr>
        <p:spPr>
          <a:xfrm>
            <a:off x="4051706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6" name="bld2_995"/>
          <p:cNvSpPr txBox="1"/>
          <p:nvPr/>
        </p:nvSpPr>
        <p:spPr>
          <a:xfrm>
            <a:off x="4051706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diffusive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28" name="Shape 26"/>
          <p:cNvSpPr/>
          <p:nvPr/>
        </p:nvSpPr>
        <p:spPr>
          <a:xfrm>
            <a:off x="8277387" y="2006066"/>
            <a:ext cx="1509199" cy="101706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30" name="bld3_997"/>
          <p:cNvSpPr txBox="1"/>
          <p:nvPr/>
        </p:nvSpPr>
        <p:spPr>
          <a:xfrm>
            <a:off x="7472477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Ambrettolide</a:t>
            </a:r>
            <a:endParaRPr lang="en-US" sz="1800" dirty="0"/>
          </a:p>
        </p:txBody>
      </p:sp>
      <p:sp>
        <p:nvSpPr>
          <p:cNvPr id="31" name="bld3_998"/>
          <p:cNvSpPr txBox="1"/>
          <p:nvPr/>
        </p:nvSpPr>
        <p:spPr>
          <a:xfrm>
            <a:off x="7445045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2" name="bld3_999"/>
          <p:cNvSpPr txBox="1"/>
          <p:nvPr/>
        </p:nvSpPr>
        <p:spPr>
          <a:xfrm>
            <a:off x="7445045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elegant, skin-like</a:t>
            </a:r>
            <a:endParaRPr lang="en-US" sz="1100" dirty="0"/>
          </a:p>
        </p:txBody>
      </p:sp>
      <p:sp>
        <p:nvSpPr>
          <p:cNvPr id="33" name="bld3_1000"/>
          <p:cNvSpPr txBox="1"/>
          <p:nvPr/>
        </p:nvSpPr>
        <p:spPr>
          <a:xfrm>
            <a:off x="7445045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4" name="bld3_1001"/>
          <p:cNvSpPr txBox="1"/>
          <p:nvPr/>
        </p:nvSpPr>
        <p:spPr>
          <a:xfrm>
            <a:off x="7445045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Natural, skin-like feel</a:t>
            </a:r>
            <a:endParaRPr lang="en-US" sz="1100" dirty="0"/>
          </a:p>
        </p:txBody>
      </p:sp>
      <p:sp>
        <p:nvSpPr>
          <p:cNvPr id="35" name="bld3_1002"/>
          <p:cNvSpPr txBox="1"/>
          <p:nvPr/>
        </p:nvSpPr>
        <p:spPr>
          <a:xfrm>
            <a:off x="7445045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AFA4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6" name="bld3_1003"/>
          <p:cNvSpPr txBox="1"/>
          <p:nvPr/>
        </p:nvSpPr>
        <p:spPr>
          <a:xfrm>
            <a:off x="7445045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long · moderate</a:t>
            </a:r>
            <a:endParaRPr lang="en-US" sz="1100" dirty="0"/>
          </a:p>
        </p:txBody>
      </p:sp>
      <p:sp>
        <p:nvSpPr>
          <p:cNvPr id="38" name="trans_fade_6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9" name="Text 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30" grpId="0"/>
      <p:bldP spid="31" grpId="0"/>
      <p:bldP spid="32" grpId="0"/>
      <p:bldP spid="33" grpId="0"/>
      <p:bldP spid="34" grpId="0"/>
      <p:bldP spid="35" grpId="0"/>
      <p:bldP spid="36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2 OF 7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Amber, Ambrox &amp; Radiant Materials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BEBD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7A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&amp; AMBROX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358913" y="3199522"/>
            <a:ext cx="1633118" cy="1633118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0" name="Shape 8"/>
          <p:cNvSpPr/>
          <p:nvPr/>
        </p:nvSpPr>
        <p:spPr>
          <a:xfrm rot="9000000">
            <a:off x="1857014" y="3723100"/>
            <a:ext cx="738823" cy="738823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6000000">
            <a:off x="1691416" y="3646670"/>
            <a:ext cx="458580" cy="458580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1400000">
            <a:off x="2213687" y="3570240"/>
            <a:ext cx="382150" cy="38215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358913" y="3199522"/>
            <a:ext cx="1633118" cy="1633118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4" name="bld1_1005"/>
          <p:cNvSpPr txBox="1"/>
          <p:nvPr/>
        </p:nvSpPr>
        <p:spPr>
          <a:xfrm>
            <a:off x="914400" y="4978945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Ambroxan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850881" y="3347271"/>
            <a:ext cx="1876349" cy="1876349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6" name="Shape 14"/>
          <p:cNvSpPr/>
          <p:nvPr/>
        </p:nvSpPr>
        <p:spPr>
          <a:xfrm rot="9000000">
            <a:off x="4423168" y="3948828"/>
            <a:ext cx="848860" cy="84886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6000000">
            <a:off x="4232906" y="3861015"/>
            <a:ext cx="526879" cy="52687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1400000">
            <a:off x="4832962" y="3773202"/>
            <a:ext cx="439066" cy="43906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850881" y="3347271"/>
            <a:ext cx="1876349" cy="1876349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0" name="bld2_1007"/>
          <p:cNvSpPr txBox="1"/>
          <p:nvPr/>
        </p:nvSpPr>
        <p:spPr>
          <a:xfrm>
            <a:off x="3527984" y="5369924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Ambrofix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586080" y="3199522"/>
            <a:ext cx="1633118" cy="1633118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2" name="Shape 20"/>
          <p:cNvSpPr/>
          <p:nvPr/>
        </p:nvSpPr>
        <p:spPr>
          <a:xfrm rot="9000000">
            <a:off x="7084181" y="3723100"/>
            <a:ext cx="738823" cy="738823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6000000">
            <a:off x="6918583" y="3646670"/>
            <a:ext cx="458580" cy="458580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1400000">
            <a:off x="7440854" y="3570240"/>
            <a:ext cx="382150" cy="38215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6586080" y="3199522"/>
            <a:ext cx="1633118" cy="1633118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6" name="bld3_1009"/>
          <p:cNvSpPr txBox="1"/>
          <p:nvPr/>
        </p:nvSpPr>
        <p:spPr>
          <a:xfrm>
            <a:off x="6141568" y="4978945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Cetalox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9199664" y="3468886"/>
            <a:ext cx="1633118" cy="1633118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8" name="Shape 26"/>
          <p:cNvSpPr/>
          <p:nvPr/>
        </p:nvSpPr>
        <p:spPr>
          <a:xfrm rot="9000000">
            <a:off x="9697765" y="3992464"/>
            <a:ext cx="738823" cy="738823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6000000">
            <a:off x="9532167" y="3916034"/>
            <a:ext cx="458580" cy="458580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1400000">
            <a:off x="10054438" y="3839604"/>
            <a:ext cx="382150" cy="38215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9199664" y="3468886"/>
            <a:ext cx="1633118" cy="1633118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2" name="bld4_1011"/>
          <p:cNvSpPr txBox="1"/>
          <p:nvPr/>
        </p:nvSpPr>
        <p:spPr>
          <a:xfrm>
            <a:off x="8755151" y="5248309"/>
            <a:ext cx="252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Cedramber</a:t>
            </a:r>
            <a:endParaRPr lang="en-US" sz="1350" dirty="0"/>
          </a:p>
        </p:txBody>
      </p:sp>
      <p:sp>
        <p:nvSpPr>
          <p:cNvPr id="34" name="trans_fade_6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19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20" grpId="0"/>
      <p:bldP spid="26" grpId="0"/>
      <p:bldP spid="32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AMBER, AMBROX &amp; RADIANT MATERIALS,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Similar, but not identical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082915" y="4948679"/>
            <a:ext cx="1369879" cy="1369879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767854" y="5473799"/>
            <a:ext cx="359593" cy="159819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127448" y="5473799"/>
            <a:ext cx="359593" cy="19977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1127448" y="5673573"/>
            <a:ext cx="359593" cy="319639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28126" y="5993212"/>
            <a:ext cx="599322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528126" y="5633618"/>
            <a:ext cx="239729" cy="35959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328351" y="5433844"/>
            <a:ext cx="439503" cy="19977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03927" y="5569691"/>
            <a:ext cx="127855" cy="127855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081500" y="5427851"/>
            <a:ext cx="91896" cy="91896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441093" y="5627625"/>
            <a:ext cx="91896" cy="91896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081500" y="5947264"/>
            <a:ext cx="91896" cy="91896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482177" y="5947264"/>
            <a:ext cx="91896" cy="91896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82403" y="5387896"/>
            <a:ext cx="91896" cy="91896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bld1_1012"/>
          <p:cNvSpPr/>
          <p:nvPr/>
        </p:nvSpPr>
        <p:spPr>
          <a:xfrm>
            <a:off x="548640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3" name="Shape 21"/>
          <p:cNvSpPr/>
          <p:nvPr/>
        </p:nvSpPr>
        <p:spPr>
          <a:xfrm rot="9000000">
            <a:off x="1696784" y="2622938"/>
            <a:ext cx="330940" cy="33094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6000000">
            <a:off x="1622607" y="2588703"/>
            <a:ext cx="205411" cy="205411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11400000">
            <a:off x="1856547" y="2554468"/>
            <a:ext cx="171176" cy="17117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7" name="bld1_1014"/>
          <p:cNvSpPr txBox="1"/>
          <p:nvPr/>
        </p:nvSpPr>
        <p:spPr>
          <a:xfrm>
            <a:off x="731520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Ambroxan</a:t>
            </a:r>
            <a:endParaRPr lang="en-US" sz="1450" dirty="0"/>
          </a:p>
        </p:txBody>
      </p:sp>
      <p:sp>
        <p:nvSpPr>
          <p:cNvPr id="28" name="bld1_1015"/>
          <p:cNvSpPr txBox="1"/>
          <p:nvPr/>
        </p:nvSpPr>
        <p:spPr>
          <a:xfrm>
            <a:off x="731520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radiant amber-musk with real skin-warmth. Base note, very long, extremely diffusive — the genre-defining reference point.</a:t>
            </a:r>
            <a:endParaRPr lang="en-US" sz="1080" dirty="0"/>
          </a:p>
        </p:txBody>
      </p:sp>
      <p:sp>
        <p:nvSpPr>
          <p:cNvPr id="29" name="bld2_1016"/>
          <p:cNvSpPr/>
          <p:nvPr/>
        </p:nvSpPr>
        <p:spPr>
          <a:xfrm>
            <a:off x="3386252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1" name="Shape 29"/>
          <p:cNvSpPr/>
          <p:nvPr/>
        </p:nvSpPr>
        <p:spPr>
          <a:xfrm rot="9000000">
            <a:off x="4534395" y="2622938"/>
            <a:ext cx="330940" cy="33094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6000000">
            <a:off x="4460219" y="2588703"/>
            <a:ext cx="205411" cy="205411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11400000">
            <a:off x="4694159" y="2554468"/>
            <a:ext cx="171176" cy="17117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5" name="bld2_1018"/>
          <p:cNvSpPr txBox="1"/>
          <p:nvPr/>
        </p:nvSpPr>
        <p:spPr>
          <a:xfrm>
            <a:off x="3569132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Ambrofix</a:t>
            </a:r>
            <a:endParaRPr lang="en-US" sz="1450" dirty="0"/>
          </a:p>
        </p:txBody>
      </p:sp>
      <p:sp>
        <p:nvSpPr>
          <p:cNvPr id="36" name="bld2_1019"/>
          <p:cNvSpPr txBox="1"/>
          <p:nvPr/>
        </p:nvSpPr>
        <p:spPr>
          <a:xfrm>
            <a:off x="3569132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cleaner, more consistent take on Ambroxan's effect. Base note, very long — favoured for reliability batch to batch.</a:t>
            </a:r>
            <a:endParaRPr lang="en-US" sz="1080" dirty="0"/>
          </a:p>
        </p:txBody>
      </p:sp>
      <p:sp>
        <p:nvSpPr>
          <p:cNvPr id="37" name="bld3_1020"/>
          <p:cNvSpPr/>
          <p:nvPr/>
        </p:nvSpPr>
        <p:spPr>
          <a:xfrm>
            <a:off x="6223864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9" name="Shape 37"/>
          <p:cNvSpPr/>
          <p:nvPr/>
        </p:nvSpPr>
        <p:spPr>
          <a:xfrm rot="9000000">
            <a:off x="7372007" y="2622938"/>
            <a:ext cx="330940" cy="33094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6000000">
            <a:off x="7297831" y="2588703"/>
            <a:ext cx="205411" cy="205411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11400000">
            <a:off x="7531771" y="2554468"/>
            <a:ext cx="171176" cy="17117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43" name="bld3_1022"/>
          <p:cNvSpPr txBox="1"/>
          <p:nvPr/>
        </p:nvSpPr>
        <p:spPr>
          <a:xfrm>
            <a:off x="6406744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Cetalox</a:t>
            </a:r>
            <a:endParaRPr lang="en-US" sz="1450" dirty="0"/>
          </a:p>
        </p:txBody>
      </p:sp>
      <p:sp>
        <p:nvSpPr>
          <p:cNvPr id="44" name="bld3_1023"/>
          <p:cNvSpPr txBox="1"/>
          <p:nvPr/>
        </p:nvSpPr>
        <p:spPr>
          <a:xfrm>
            <a:off x="6406744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Softer, rounder, more ambery-woody and less sharp or dry than pure Ambroxan. Base note, long.</a:t>
            </a:r>
            <a:endParaRPr lang="en-US" sz="1080" dirty="0"/>
          </a:p>
        </p:txBody>
      </p:sp>
      <p:sp>
        <p:nvSpPr>
          <p:cNvPr id="45" name="bld4_1024"/>
          <p:cNvSpPr/>
          <p:nvPr/>
        </p:nvSpPr>
        <p:spPr>
          <a:xfrm>
            <a:off x="9061475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7" name="Shape 45"/>
          <p:cNvSpPr/>
          <p:nvPr/>
        </p:nvSpPr>
        <p:spPr>
          <a:xfrm rot="9000000">
            <a:off x="10209619" y="2622938"/>
            <a:ext cx="330940" cy="330940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6000000">
            <a:off x="10135443" y="2588703"/>
            <a:ext cx="205411" cy="205411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11400000">
            <a:off x="10369383" y="2554468"/>
            <a:ext cx="171176" cy="171176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51" name="bld4_1026"/>
          <p:cNvSpPr txBox="1"/>
          <p:nvPr/>
        </p:nvSpPr>
        <p:spPr>
          <a:xfrm>
            <a:off x="9244355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Cedramber</a:t>
            </a:r>
            <a:endParaRPr lang="en-US" sz="1450" dirty="0"/>
          </a:p>
        </p:txBody>
      </p:sp>
      <p:sp>
        <p:nvSpPr>
          <p:cNvPr id="52" name="bld4_1027"/>
          <p:cNvSpPr txBox="1"/>
          <p:nvPr/>
        </p:nvSpPr>
        <p:spPr>
          <a:xfrm>
            <a:off x="9244355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Woody-amber crossover with a dry, radiant lift. Base note, long — bridges the woody and amber families.</a:t>
            </a:r>
            <a:endParaRPr lang="en-US" sz="1080" dirty="0"/>
          </a:p>
        </p:txBody>
      </p:sp>
      <p:sp>
        <p:nvSpPr>
          <p:cNvPr id="54" name="trans_fade_6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5" name="Text 5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7" grpId="0"/>
      <p:bldP spid="28" grpId="0"/>
      <p:bldP spid="29" grpId="0"/>
      <p:bldP spid="35" grpId="0"/>
      <p:bldP spid="36" grpId="0"/>
      <p:bldP spid="37" grpId="0"/>
      <p:bldP spid="43" grpId="0"/>
      <p:bldP spid="44" grpId="0"/>
      <p:bldP spid="45" grpId="0"/>
      <p:bldP spid="51" grpId="0"/>
      <p:bldP spid="52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amber-radiants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8" name="Shape 6"/>
          <p:cNvSpPr/>
          <p:nvPr/>
        </p:nvSpPr>
        <p:spPr>
          <a:xfrm rot="9000000">
            <a:off x="1835201" y="2137300"/>
            <a:ext cx="951451" cy="951451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6000000">
            <a:off x="1621944" y="2038874"/>
            <a:ext cx="590556" cy="590556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1400000">
            <a:off x="2294522" y="1940448"/>
            <a:ext cx="492130" cy="49213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2" name="bld1_1029"/>
          <p:cNvSpPr txBox="1"/>
          <p:nvPr/>
        </p:nvSpPr>
        <p:spPr>
          <a:xfrm>
            <a:off x="685800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Ambroxan</a:t>
            </a:r>
            <a:endParaRPr lang="en-US" sz="1800" dirty="0"/>
          </a:p>
        </p:txBody>
      </p:sp>
      <p:sp>
        <p:nvSpPr>
          <p:cNvPr id="13" name="bld1_1030"/>
          <p:cNvSpPr txBox="1"/>
          <p:nvPr/>
        </p:nvSpPr>
        <p:spPr>
          <a:xfrm>
            <a:off x="658368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4" name="bld1_1031"/>
          <p:cNvSpPr txBox="1"/>
          <p:nvPr/>
        </p:nvSpPr>
        <p:spPr>
          <a:xfrm>
            <a:off x="658368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radiant amber-musk</a:t>
            </a:r>
            <a:endParaRPr lang="en-US" sz="1100" dirty="0"/>
          </a:p>
        </p:txBody>
      </p:sp>
      <p:sp>
        <p:nvSpPr>
          <p:cNvPr id="15" name="bld1_1032"/>
          <p:cNvSpPr txBox="1"/>
          <p:nvPr/>
        </p:nvSpPr>
        <p:spPr>
          <a:xfrm>
            <a:off x="658368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6" name="bld1_1033"/>
          <p:cNvSpPr txBox="1"/>
          <p:nvPr/>
        </p:nvSpPr>
        <p:spPr>
          <a:xfrm>
            <a:off x="658368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 that carries far</a:t>
            </a:r>
            <a:endParaRPr lang="en-US" sz="1100" dirty="0"/>
          </a:p>
        </p:txBody>
      </p:sp>
      <p:sp>
        <p:nvSpPr>
          <p:cNvPr id="17" name="bld1_1034"/>
          <p:cNvSpPr txBox="1"/>
          <p:nvPr/>
        </p:nvSpPr>
        <p:spPr>
          <a:xfrm>
            <a:off x="658368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18" name="bld1_1035"/>
          <p:cNvSpPr txBox="1"/>
          <p:nvPr/>
        </p:nvSpPr>
        <p:spPr>
          <a:xfrm>
            <a:off x="658368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extreme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0" name="Shape 18"/>
          <p:cNvSpPr/>
          <p:nvPr/>
        </p:nvSpPr>
        <p:spPr>
          <a:xfrm rot="9000000">
            <a:off x="5228539" y="2137300"/>
            <a:ext cx="951451" cy="951451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6000000">
            <a:off x="5015283" y="2038874"/>
            <a:ext cx="590556" cy="590556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11400000">
            <a:off x="5687861" y="1940448"/>
            <a:ext cx="492130" cy="49213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24" name="bld2_1037"/>
          <p:cNvSpPr txBox="1"/>
          <p:nvPr/>
        </p:nvSpPr>
        <p:spPr>
          <a:xfrm>
            <a:off x="4079138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Cetalox</a:t>
            </a:r>
            <a:endParaRPr lang="en-US" sz="1800" dirty="0"/>
          </a:p>
        </p:txBody>
      </p:sp>
      <p:sp>
        <p:nvSpPr>
          <p:cNvPr id="25" name="bld2_1038"/>
          <p:cNvSpPr txBox="1"/>
          <p:nvPr/>
        </p:nvSpPr>
        <p:spPr>
          <a:xfrm>
            <a:off x="4051706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6" name="bld2_1039"/>
          <p:cNvSpPr txBox="1"/>
          <p:nvPr/>
        </p:nvSpPr>
        <p:spPr>
          <a:xfrm>
            <a:off x="4051706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ambery-woody, musky</a:t>
            </a:r>
            <a:endParaRPr lang="en-US" sz="1100" dirty="0"/>
          </a:p>
        </p:txBody>
      </p:sp>
      <p:sp>
        <p:nvSpPr>
          <p:cNvPr id="27" name="bld2_1040"/>
          <p:cNvSpPr txBox="1"/>
          <p:nvPr/>
        </p:nvSpPr>
        <p:spPr>
          <a:xfrm>
            <a:off x="4051706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8" name="bld2_1041"/>
          <p:cNvSpPr txBox="1"/>
          <p:nvPr/>
        </p:nvSpPr>
        <p:spPr>
          <a:xfrm>
            <a:off x="4051706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gentler radiant glow</a:t>
            </a:r>
            <a:endParaRPr lang="en-US" sz="1100" dirty="0"/>
          </a:p>
        </p:txBody>
      </p:sp>
      <p:sp>
        <p:nvSpPr>
          <p:cNvPr id="29" name="bld2_1042"/>
          <p:cNvSpPr txBox="1"/>
          <p:nvPr/>
        </p:nvSpPr>
        <p:spPr>
          <a:xfrm>
            <a:off x="4051706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0" name="bld2_1043"/>
          <p:cNvSpPr txBox="1"/>
          <p:nvPr/>
        </p:nvSpPr>
        <p:spPr>
          <a:xfrm>
            <a:off x="4051706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long · moderate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2" name="Shape 30"/>
          <p:cNvSpPr/>
          <p:nvPr/>
        </p:nvSpPr>
        <p:spPr>
          <a:xfrm rot="9000000">
            <a:off x="8621878" y="2137300"/>
            <a:ext cx="951451" cy="951451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6000000">
            <a:off x="8408621" y="2038874"/>
            <a:ext cx="590556" cy="590556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1400000">
            <a:off x="9081199" y="1940448"/>
            <a:ext cx="492130" cy="492130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36" name="bld3_1045"/>
          <p:cNvSpPr txBox="1"/>
          <p:nvPr/>
        </p:nvSpPr>
        <p:spPr>
          <a:xfrm>
            <a:off x="7472477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Cedramber</a:t>
            </a:r>
            <a:endParaRPr lang="en-US" sz="1800" dirty="0"/>
          </a:p>
        </p:txBody>
      </p:sp>
      <p:sp>
        <p:nvSpPr>
          <p:cNvPr id="37" name="bld3_1046"/>
          <p:cNvSpPr txBox="1"/>
          <p:nvPr/>
        </p:nvSpPr>
        <p:spPr>
          <a:xfrm>
            <a:off x="7445045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8" name="bld3_1047"/>
          <p:cNvSpPr txBox="1"/>
          <p:nvPr/>
        </p:nvSpPr>
        <p:spPr>
          <a:xfrm>
            <a:off x="7445045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Woody-amber crossover</a:t>
            </a:r>
            <a:endParaRPr lang="en-US" sz="1100" dirty="0"/>
          </a:p>
        </p:txBody>
      </p:sp>
      <p:sp>
        <p:nvSpPr>
          <p:cNvPr id="39" name="bld3_1048"/>
          <p:cNvSpPr txBox="1"/>
          <p:nvPr/>
        </p:nvSpPr>
        <p:spPr>
          <a:xfrm>
            <a:off x="7445045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0" name="bld3_1049"/>
          <p:cNvSpPr txBox="1"/>
          <p:nvPr/>
        </p:nvSpPr>
        <p:spPr>
          <a:xfrm>
            <a:off x="7445045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Bridges wood and amber</a:t>
            </a:r>
            <a:endParaRPr lang="en-US" sz="1100" dirty="0"/>
          </a:p>
        </p:txBody>
      </p:sp>
      <p:sp>
        <p:nvSpPr>
          <p:cNvPr id="41" name="bld3_1050"/>
          <p:cNvSpPr txBox="1"/>
          <p:nvPr/>
        </p:nvSpPr>
        <p:spPr>
          <a:xfrm>
            <a:off x="7445045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17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42" name="bld3_1051"/>
          <p:cNvSpPr txBox="1"/>
          <p:nvPr/>
        </p:nvSpPr>
        <p:spPr>
          <a:xfrm>
            <a:off x="7445045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long · diffusive</a:t>
            </a:r>
            <a:endParaRPr lang="en-US" sz="1100" dirty="0"/>
          </a:p>
        </p:txBody>
      </p:sp>
      <p:sp>
        <p:nvSpPr>
          <p:cNvPr id="44" name="trans_fade_6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5" name="Text 4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  <p:bldP spid="18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6" grpId="0"/>
      <p:bldP spid="37" grpId="0"/>
      <p:bldP spid="38" grpId="0"/>
      <p:bldP spid="39" grpId="0"/>
      <p:bldP spid="40" grpId="0"/>
      <p:bldP spid="41" grpId="0"/>
      <p:bldP spid="42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3 OF 7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 Synthetics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1E7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C4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0" name="Shape 8"/>
          <p:cNvSpPr/>
          <p:nvPr/>
        </p:nvSpPr>
        <p:spPr>
          <a:xfrm>
            <a:off x="1203316" y="3479523"/>
            <a:ext cx="1073117" cy="1073117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310628" y="3586835"/>
            <a:ext cx="858493" cy="858493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2" name="Shape 10"/>
          <p:cNvSpPr/>
          <p:nvPr/>
        </p:nvSpPr>
        <p:spPr>
          <a:xfrm>
            <a:off x="1417940" y="3694146"/>
            <a:ext cx="643870" cy="64387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525251" y="3801458"/>
            <a:ext cx="429247" cy="429247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4" name="Shape 12"/>
          <p:cNvSpPr/>
          <p:nvPr/>
        </p:nvSpPr>
        <p:spPr>
          <a:xfrm>
            <a:off x="1632563" y="3908770"/>
            <a:ext cx="214623" cy="214623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675488" y="3951694"/>
            <a:ext cx="128774" cy="128774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7" name="bld1_1053"/>
          <p:cNvSpPr txBox="1"/>
          <p:nvPr/>
        </p:nvSpPr>
        <p:spPr>
          <a:xfrm>
            <a:off x="914400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E Super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9" name="Shape 17"/>
          <p:cNvSpPr/>
          <p:nvPr/>
        </p:nvSpPr>
        <p:spPr>
          <a:xfrm>
            <a:off x="2865793" y="3668974"/>
            <a:ext cx="1232942" cy="123294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0" name="Shape 18"/>
          <p:cNvSpPr/>
          <p:nvPr/>
        </p:nvSpPr>
        <p:spPr>
          <a:xfrm>
            <a:off x="3019910" y="3823092"/>
            <a:ext cx="924707" cy="924707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174028" y="3977210"/>
            <a:ext cx="616471" cy="616471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2" name="Shape 20"/>
          <p:cNvSpPr/>
          <p:nvPr/>
        </p:nvSpPr>
        <p:spPr>
          <a:xfrm>
            <a:off x="3328146" y="4131328"/>
            <a:ext cx="308236" cy="30823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408287" y="4211469"/>
            <a:ext cx="147953" cy="147953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4" name="Shape 22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5" name="bld2_1055"/>
          <p:cNvSpPr txBox="1"/>
          <p:nvPr/>
        </p:nvSpPr>
        <p:spPr>
          <a:xfrm>
            <a:off x="2656789" y="5222097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Cashmeran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688095" y="3479523"/>
            <a:ext cx="1073117" cy="1073117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8" name="Shape 26"/>
          <p:cNvSpPr/>
          <p:nvPr/>
        </p:nvSpPr>
        <p:spPr>
          <a:xfrm>
            <a:off x="4956374" y="3747802"/>
            <a:ext cx="536558" cy="53655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160266" y="3951694"/>
            <a:ext cx="128774" cy="128774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30" name="Shape 28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1" name="bld3_1057"/>
          <p:cNvSpPr txBox="1"/>
          <p:nvPr/>
        </p:nvSpPr>
        <p:spPr>
          <a:xfrm>
            <a:off x="4399178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Javanol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3" name="Shape 31"/>
          <p:cNvSpPr/>
          <p:nvPr/>
        </p:nvSpPr>
        <p:spPr>
          <a:xfrm>
            <a:off x="6430484" y="3748887"/>
            <a:ext cx="1073117" cy="1073117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34" name="Shape 32"/>
          <p:cNvSpPr/>
          <p:nvPr/>
        </p:nvSpPr>
        <p:spPr>
          <a:xfrm>
            <a:off x="6698763" y="4017166"/>
            <a:ext cx="536558" cy="53655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902655" y="4221058"/>
            <a:ext cx="128774" cy="128774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36" name="Shape 34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7" name="bld4_1059"/>
          <p:cNvSpPr txBox="1"/>
          <p:nvPr/>
        </p:nvSpPr>
        <p:spPr>
          <a:xfrm>
            <a:off x="6141568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Sandalore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9" name="Shape 37"/>
          <p:cNvSpPr/>
          <p:nvPr/>
        </p:nvSpPr>
        <p:spPr>
          <a:xfrm>
            <a:off x="8092960" y="3399610"/>
            <a:ext cx="1232942" cy="1232942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298451" y="3605101"/>
            <a:ext cx="821962" cy="82196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1" name="Shape 39"/>
          <p:cNvSpPr/>
          <p:nvPr/>
        </p:nvSpPr>
        <p:spPr>
          <a:xfrm>
            <a:off x="8503941" y="3810591"/>
            <a:ext cx="410981" cy="410981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8635455" y="3942105"/>
            <a:ext cx="147953" cy="147953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43" name="Shape 41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4" name="bld5_1061"/>
          <p:cNvSpPr txBox="1"/>
          <p:nvPr/>
        </p:nvSpPr>
        <p:spPr>
          <a:xfrm>
            <a:off x="7883957" y="4952733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Ebanol</a:t>
            </a:r>
            <a:endParaRPr lang="en-US" sz="1350" dirty="0"/>
          </a:p>
        </p:txBody>
      </p:sp>
      <p:sp>
        <p:nvSpPr>
          <p:cNvPr id="45" name="Shape 43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6" name="Shape 44"/>
          <p:cNvSpPr/>
          <p:nvPr/>
        </p:nvSpPr>
        <p:spPr>
          <a:xfrm>
            <a:off x="9915262" y="3748887"/>
            <a:ext cx="1073117" cy="1073117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0094115" y="3927740"/>
            <a:ext cx="715411" cy="715411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8" name="Shape 46"/>
          <p:cNvSpPr/>
          <p:nvPr/>
        </p:nvSpPr>
        <p:spPr>
          <a:xfrm>
            <a:off x="10272968" y="4106593"/>
            <a:ext cx="357706" cy="35770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0387434" y="4221058"/>
            <a:ext cx="128774" cy="128774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0" name="Shape 48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1" name="bld6_1063"/>
          <p:cNvSpPr txBox="1"/>
          <p:nvPr/>
        </p:nvSpPr>
        <p:spPr>
          <a:xfrm>
            <a:off x="9626346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43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Polysantol</a:t>
            </a:r>
            <a:endParaRPr lang="en-US" sz="1350" dirty="0"/>
          </a:p>
        </p:txBody>
      </p:sp>
      <p:sp>
        <p:nvSpPr>
          <p:cNvPr id="53" name="trans_fade_6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4" name="Text 5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25" grpId="0"/>
      <p:bldP spid="31" grpId="0"/>
      <p:bldP spid="37" grpId="0"/>
      <p:bldP spid="44" grpId="0"/>
      <p:bldP spid="5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WOODY SYNTHETICS,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Dry, creamy, transparent, and textured woods</a:t>
            </a:r>
            <a:endParaRPr lang="en-US" sz="3200" dirty="0"/>
          </a:p>
        </p:txBody>
      </p:sp>
      <p:sp>
        <p:nvSpPr>
          <p:cNvPr id="7" name="bld1_1064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9" name="Shape 7"/>
          <p:cNvSpPr/>
          <p:nvPr/>
        </p:nvSpPr>
        <p:spPr>
          <a:xfrm>
            <a:off x="1596931" y="1978030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45431" y="2026530"/>
            <a:ext cx="387998" cy="387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1" name="Shape 9"/>
          <p:cNvSpPr/>
          <p:nvPr/>
        </p:nvSpPr>
        <p:spPr>
          <a:xfrm>
            <a:off x="1693931" y="2075030"/>
            <a:ext cx="290999" cy="2909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742430" y="2123529"/>
            <a:ext cx="193999" cy="19399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3" name="Shape 11"/>
          <p:cNvSpPr/>
          <p:nvPr/>
        </p:nvSpPr>
        <p:spPr>
          <a:xfrm>
            <a:off x="1790930" y="2172029"/>
            <a:ext cx="97000" cy="9700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810330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5" name="Shape 13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6" name="bld1_1066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E Super</a:t>
            </a:r>
            <a:endParaRPr lang="en-US" sz="1450" dirty="0"/>
          </a:p>
        </p:txBody>
      </p:sp>
      <p:sp>
        <p:nvSpPr>
          <p:cNvPr id="17" name="bld1_1067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Velvety, transparent, huge volume. Base note, very long — the single most-used woody synthetic in the world. Softens transitions between materials.</a:t>
            </a:r>
            <a:endParaRPr lang="en-US" sz="1080" dirty="0"/>
          </a:p>
        </p:txBody>
      </p:sp>
      <p:sp>
        <p:nvSpPr>
          <p:cNvPr id="18" name="bld2_1068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434543" y="1978030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1" name="Shape 19"/>
          <p:cNvSpPr/>
          <p:nvPr/>
        </p:nvSpPr>
        <p:spPr>
          <a:xfrm>
            <a:off x="4495168" y="2038655"/>
            <a:ext cx="363748" cy="36374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555792" y="2099280"/>
            <a:ext cx="242499" cy="24249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3" name="Shape 21"/>
          <p:cNvSpPr/>
          <p:nvPr/>
        </p:nvSpPr>
        <p:spPr>
          <a:xfrm>
            <a:off x="4616417" y="2159904"/>
            <a:ext cx="121249" cy="12124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4647942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5" name="Shape 23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26" name="bld2_1070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Cashmeran</a:t>
            </a:r>
            <a:endParaRPr lang="en-US" sz="1450" dirty="0"/>
          </a:p>
        </p:txBody>
      </p:sp>
      <p:sp>
        <p:nvSpPr>
          <p:cNvPr id="27" name="bld2_1071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musky, spiced woodiness. Base note, very long, cosy — a comfort-wood texture unlike any natural.</a:t>
            </a:r>
            <a:endParaRPr lang="en-US" sz="1080" dirty="0"/>
          </a:p>
        </p:txBody>
      </p:sp>
      <p:sp>
        <p:nvSpPr>
          <p:cNvPr id="28" name="bld3_1072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0" name="Shape 28"/>
          <p:cNvSpPr/>
          <p:nvPr/>
        </p:nvSpPr>
        <p:spPr>
          <a:xfrm>
            <a:off x="7272155" y="1978030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31" name="Shape 29"/>
          <p:cNvSpPr/>
          <p:nvPr/>
        </p:nvSpPr>
        <p:spPr>
          <a:xfrm>
            <a:off x="7393404" y="2099280"/>
            <a:ext cx="242499" cy="2424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7485554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33" name="Shape 31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4" name="bld3_1074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Javanol</a:t>
            </a:r>
            <a:endParaRPr lang="en-US" sz="1450" dirty="0"/>
          </a:p>
        </p:txBody>
      </p:sp>
      <p:sp>
        <p:nvSpPr>
          <p:cNvPr id="35" name="bld3_1075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creamy, true-to-life sandalwood. Base note, long, intense at tiny doses — a modern sandalwood benchmark.</a:t>
            </a:r>
            <a:endParaRPr lang="en-US" sz="1080" dirty="0"/>
          </a:p>
        </p:txBody>
      </p:sp>
      <p:sp>
        <p:nvSpPr>
          <p:cNvPr id="36" name="bld4_1076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8" name="Shape 36"/>
          <p:cNvSpPr/>
          <p:nvPr/>
        </p:nvSpPr>
        <p:spPr>
          <a:xfrm>
            <a:off x="10109766" y="1978030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0190599" y="2058863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0" name="Shape 38"/>
          <p:cNvSpPr/>
          <p:nvPr/>
        </p:nvSpPr>
        <p:spPr>
          <a:xfrm>
            <a:off x="10271432" y="2139696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0323165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42" name="Shape 40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BE9A66"/>
            </a:solidFill>
            <a:prstDash val="solid"/>
          </a:ln>
        </p:spPr>
      </p:sp>
      <p:sp>
        <p:nvSpPr>
          <p:cNvPr id="43" name="bld4_1078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Ebanol</a:t>
            </a:r>
            <a:endParaRPr lang="en-US" sz="1450" dirty="0"/>
          </a:p>
        </p:txBody>
      </p:sp>
      <p:sp>
        <p:nvSpPr>
          <p:cNvPr id="44" name="bld4_1079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 sandalwood with a drier edge than Javanol. Base note, long — a versatile, affordable sandalwood substitute.</a:t>
            </a:r>
            <a:endParaRPr lang="en-US" sz="1080" dirty="0"/>
          </a:p>
        </p:txBody>
      </p:sp>
      <p:sp>
        <p:nvSpPr>
          <p:cNvPr id="45" name="bld5_1080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7" name="Shape 45"/>
          <p:cNvSpPr/>
          <p:nvPr/>
        </p:nvSpPr>
        <p:spPr>
          <a:xfrm>
            <a:off x="1596931" y="4337182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8" name="Shape 46"/>
          <p:cNvSpPr/>
          <p:nvPr/>
        </p:nvSpPr>
        <p:spPr>
          <a:xfrm>
            <a:off x="1718180" y="4458432"/>
            <a:ext cx="242499" cy="2424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810330" y="4550581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0" name="Shape 48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BE9A66"/>
            </a:solidFill>
            <a:prstDash val="solid"/>
          </a:ln>
        </p:spPr>
      </p:sp>
      <p:sp>
        <p:nvSpPr>
          <p:cNvPr id="51" name="bld5_1082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Sandalore</a:t>
            </a:r>
            <a:endParaRPr lang="en-US" sz="1450" dirty="0"/>
          </a:p>
        </p:txBody>
      </p:sp>
      <p:sp>
        <p:nvSpPr>
          <p:cNvPr id="52" name="bld5_1083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milky, gentle sandalwood effect. Base note, medium-long — the mildest of the sandalwood synthetics.</a:t>
            </a:r>
            <a:endParaRPr lang="en-US" sz="1080" dirty="0"/>
          </a:p>
        </p:txBody>
      </p:sp>
      <p:sp>
        <p:nvSpPr>
          <p:cNvPr id="53" name="bld6_1084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55" name="Shape 53"/>
          <p:cNvSpPr/>
          <p:nvPr/>
        </p:nvSpPr>
        <p:spPr>
          <a:xfrm>
            <a:off x="4434543" y="4337182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56" name="Shape 54"/>
          <p:cNvSpPr/>
          <p:nvPr/>
        </p:nvSpPr>
        <p:spPr>
          <a:xfrm>
            <a:off x="4555792" y="4458432"/>
            <a:ext cx="242499" cy="2424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4647942" y="4550581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8" name="Shape 56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9" name="bld6_1086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Bacdanol</a:t>
            </a:r>
            <a:endParaRPr lang="en-US" sz="1450" dirty="0"/>
          </a:p>
        </p:txBody>
      </p:sp>
      <p:sp>
        <p:nvSpPr>
          <p:cNvPr id="60" name="bld6_1087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woody-balsamic sandalwood facet. Base note, long — adds roundness alongside sharper woods.</a:t>
            </a:r>
            <a:endParaRPr lang="en-US" sz="1080" dirty="0"/>
          </a:p>
        </p:txBody>
      </p:sp>
      <p:sp>
        <p:nvSpPr>
          <p:cNvPr id="61" name="bld7_1088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63" name="Shape 61"/>
          <p:cNvSpPr/>
          <p:nvPr/>
        </p:nvSpPr>
        <p:spPr>
          <a:xfrm>
            <a:off x="7272155" y="4337182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7352988" y="4418015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65" name="Shape 63"/>
          <p:cNvSpPr/>
          <p:nvPr/>
        </p:nvSpPr>
        <p:spPr>
          <a:xfrm>
            <a:off x="7433821" y="4498848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7485554" y="4550581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67" name="Shape 65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68" name="bld7_1090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Polysantol</a:t>
            </a:r>
            <a:endParaRPr lang="en-US" sz="1450" dirty="0"/>
          </a:p>
        </p:txBody>
      </p:sp>
      <p:sp>
        <p:nvSpPr>
          <p:cNvPr id="69" name="bld7_1091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Intense, creamy-sweet sandalwood character. Base note, long, potent — used in very small amounts.</a:t>
            </a:r>
            <a:endParaRPr lang="en-US" sz="1080" dirty="0"/>
          </a:p>
        </p:txBody>
      </p:sp>
      <p:sp>
        <p:nvSpPr>
          <p:cNvPr id="70" name="bld8_1092"/>
          <p:cNvSpPr/>
          <p:nvPr/>
        </p:nvSpPr>
        <p:spPr>
          <a:xfrm>
            <a:off x="9061475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1" name="Shape 69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72" name="Shape 70"/>
          <p:cNvSpPr/>
          <p:nvPr/>
        </p:nvSpPr>
        <p:spPr>
          <a:xfrm>
            <a:off x="10109766" y="4337182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10158266" y="4385682"/>
            <a:ext cx="387998" cy="387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74" name="Shape 72"/>
          <p:cNvSpPr/>
          <p:nvPr/>
        </p:nvSpPr>
        <p:spPr>
          <a:xfrm>
            <a:off x="10206766" y="4434182"/>
            <a:ext cx="290999" cy="2909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10255266" y="4482681"/>
            <a:ext cx="193999" cy="19399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76" name="Shape 74"/>
          <p:cNvSpPr/>
          <p:nvPr/>
        </p:nvSpPr>
        <p:spPr>
          <a:xfrm>
            <a:off x="10303766" y="4531181"/>
            <a:ext cx="97000" cy="9700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10323165" y="4550581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78" name="Shape 76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79" name="bld8_1094"/>
          <p:cNvSpPr txBox="1"/>
          <p:nvPr/>
        </p:nvSpPr>
        <p:spPr>
          <a:xfrm>
            <a:off x="9244355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Kephalis</a:t>
            </a:r>
            <a:endParaRPr lang="en-US" sz="1450" dirty="0"/>
          </a:p>
        </p:txBody>
      </p:sp>
      <p:sp>
        <p:nvSpPr>
          <p:cNvPr id="80" name="bld8_1095"/>
          <p:cNvSpPr txBox="1"/>
          <p:nvPr/>
        </p:nvSpPr>
        <p:spPr>
          <a:xfrm>
            <a:off x="9244355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vetiver-cedar textured woodiness. Base note, long — adds grain and structure rather than smoothness.</a:t>
            </a:r>
            <a:endParaRPr lang="en-US" sz="1080" dirty="0"/>
          </a:p>
        </p:txBody>
      </p:sp>
      <p:sp>
        <p:nvSpPr>
          <p:cNvPr id="82" name="trans_fade_6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83" name="Text 8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6" grpId="0"/>
      <p:bldP spid="17" grpId="0"/>
      <p:bldP spid="18" grpId="0"/>
      <p:bldP spid="26" grpId="0"/>
      <p:bldP spid="27" grpId="0"/>
      <p:bldP spid="28" grpId="0"/>
      <p:bldP spid="34" grpId="0"/>
      <p:bldP spid="35" grpId="0"/>
      <p:bldP spid="36" grpId="0"/>
      <p:bldP spid="43" grpId="0"/>
      <p:bldP spid="44" grpId="0"/>
      <p:bldP spid="45" grpId="0"/>
      <p:bldP spid="51" grpId="0"/>
      <p:bldP spid="52" grpId="0"/>
      <p:bldP spid="53" grpId="0"/>
      <p:bldP spid="59" grpId="0"/>
      <p:bldP spid="60" grpId="0"/>
      <p:bldP spid="61" grpId="0"/>
      <p:bldP spid="68" grpId="0"/>
      <p:bldP spid="69" grpId="0"/>
      <p:bldP spid="70" grpId="0"/>
      <p:bldP spid="79" grpId="0"/>
      <p:bldP spid="80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woody synthetics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8" name="Shape 6"/>
          <p:cNvSpPr/>
          <p:nvPr/>
        </p:nvSpPr>
        <p:spPr>
          <a:xfrm>
            <a:off x="1005612" y="1756220"/>
            <a:ext cx="1516759" cy="151675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7288" y="1907896"/>
            <a:ext cx="1213407" cy="1213407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0" name="Shape 8"/>
          <p:cNvSpPr/>
          <p:nvPr/>
        </p:nvSpPr>
        <p:spPr>
          <a:xfrm>
            <a:off x="1308964" y="2059572"/>
            <a:ext cx="910056" cy="91005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460640" y="2211248"/>
            <a:ext cx="606704" cy="606704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2" name="Shape 10"/>
          <p:cNvSpPr/>
          <p:nvPr/>
        </p:nvSpPr>
        <p:spPr>
          <a:xfrm>
            <a:off x="1612316" y="2362924"/>
            <a:ext cx="303352" cy="303352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672986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4" name="Shape 12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5" name="bld1_1097"/>
          <p:cNvSpPr txBox="1"/>
          <p:nvPr/>
        </p:nvSpPr>
        <p:spPr>
          <a:xfrm>
            <a:off x="685800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E Super</a:t>
            </a:r>
            <a:endParaRPr lang="en-US" sz="1800" dirty="0"/>
          </a:p>
        </p:txBody>
      </p:sp>
      <p:sp>
        <p:nvSpPr>
          <p:cNvPr id="16" name="bld1_1098"/>
          <p:cNvSpPr txBox="1"/>
          <p:nvPr/>
        </p:nvSpPr>
        <p:spPr>
          <a:xfrm>
            <a:off x="658368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7" name="bld1_1099"/>
          <p:cNvSpPr txBox="1"/>
          <p:nvPr/>
        </p:nvSpPr>
        <p:spPr>
          <a:xfrm>
            <a:off x="658368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Velvety, transparent, huge volume</a:t>
            </a:r>
            <a:endParaRPr lang="en-US" sz="1100" dirty="0"/>
          </a:p>
        </p:txBody>
      </p:sp>
      <p:sp>
        <p:nvSpPr>
          <p:cNvPr id="18" name="bld1_1100"/>
          <p:cNvSpPr txBox="1"/>
          <p:nvPr/>
        </p:nvSpPr>
        <p:spPr>
          <a:xfrm>
            <a:off x="658368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9" name="bld1_1101"/>
          <p:cNvSpPr txBox="1"/>
          <p:nvPr/>
        </p:nvSpPr>
        <p:spPr>
          <a:xfrm>
            <a:off x="658368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without weight</a:t>
            </a:r>
            <a:endParaRPr lang="en-US" sz="1100" dirty="0"/>
          </a:p>
        </p:txBody>
      </p:sp>
      <p:sp>
        <p:nvSpPr>
          <p:cNvPr id="20" name="bld1_1102"/>
          <p:cNvSpPr txBox="1"/>
          <p:nvPr/>
        </p:nvSpPr>
        <p:spPr>
          <a:xfrm>
            <a:off x="658368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1" name="bld1_1103"/>
          <p:cNvSpPr txBox="1"/>
          <p:nvPr/>
        </p:nvSpPr>
        <p:spPr>
          <a:xfrm>
            <a:off x="658368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any dose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436316" y="1756220"/>
            <a:ext cx="1516759" cy="151675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25911" y="1945815"/>
            <a:ext cx="1137569" cy="113756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815506" y="2135410"/>
            <a:ext cx="758380" cy="758380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6" name="Shape 24"/>
          <p:cNvSpPr/>
          <p:nvPr/>
        </p:nvSpPr>
        <p:spPr>
          <a:xfrm>
            <a:off x="4005101" y="2325005"/>
            <a:ext cx="379190" cy="37919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103690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8" name="Shape 26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29" name="bld2_1105"/>
          <p:cNvSpPr txBox="1"/>
          <p:nvPr/>
        </p:nvSpPr>
        <p:spPr>
          <a:xfrm>
            <a:off x="3116504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Cashmeran</a:t>
            </a:r>
            <a:endParaRPr lang="en-US" sz="1800" dirty="0"/>
          </a:p>
        </p:txBody>
      </p:sp>
      <p:sp>
        <p:nvSpPr>
          <p:cNvPr id="30" name="bld2_1106"/>
          <p:cNvSpPr txBox="1"/>
          <p:nvPr/>
        </p:nvSpPr>
        <p:spPr>
          <a:xfrm>
            <a:off x="3089072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1" name="bld2_1107"/>
          <p:cNvSpPr txBox="1"/>
          <p:nvPr/>
        </p:nvSpPr>
        <p:spPr>
          <a:xfrm>
            <a:off x="3089072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musky, spiced woodiness</a:t>
            </a:r>
            <a:endParaRPr lang="en-US" sz="1100" dirty="0"/>
          </a:p>
        </p:txBody>
      </p:sp>
      <p:sp>
        <p:nvSpPr>
          <p:cNvPr id="32" name="bld2_1108"/>
          <p:cNvSpPr txBox="1"/>
          <p:nvPr/>
        </p:nvSpPr>
        <p:spPr>
          <a:xfrm>
            <a:off x="3089072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3" name="bld2_1109"/>
          <p:cNvSpPr txBox="1"/>
          <p:nvPr/>
        </p:nvSpPr>
        <p:spPr>
          <a:xfrm>
            <a:off x="3089072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Cosy, enveloping warmth</a:t>
            </a:r>
            <a:endParaRPr lang="en-US" sz="1100" dirty="0"/>
          </a:p>
        </p:txBody>
      </p:sp>
      <p:sp>
        <p:nvSpPr>
          <p:cNvPr id="34" name="bld2_1110"/>
          <p:cNvSpPr txBox="1"/>
          <p:nvPr/>
        </p:nvSpPr>
        <p:spPr>
          <a:xfrm>
            <a:off x="3089072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5" name="bld2_1111"/>
          <p:cNvSpPr txBox="1"/>
          <p:nvPr/>
        </p:nvSpPr>
        <p:spPr>
          <a:xfrm>
            <a:off x="3089072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7" name="Shape 35"/>
          <p:cNvSpPr/>
          <p:nvPr/>
        </p:nvSpPr>
        <p:spPr>
          <a:xfrm>
            <a:off x="5867020" y="1756220"/>
            <a:ext cx="1516759" cy="151675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38" name="Shape 36"/>
          <p:cNvSpPr/>
          <p:nvPr/>
        </p:nvSpPr>
        <p:spPr>
          <a:xfrm>
            <a:off x="6246210" y="2135410"/>
            <a:ext cx="758380" cy="75838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534394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40" name="Shape 38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1" name="bld3_1113"/>
          <p:cNvSpPr txBox="1"/>
          <p:nvPr/>
        </p:nvSpPr>
        <p:spPr>
          <a:xfrm>
            <a:off x="5547208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Javanol</a:t>
            </a:r>
            <a:endParaRPr lang="en-US" sz="1800" dirty="0"/>
          </a:p>
        </p:txBody>
      </p:sp>
      <p:sp>
        <p:nvSpPr>
          <p:cNvPr id="42" name="bld3_1114"/>
          <p:cNvSpPr txBox="1"/>
          <p:nvPr/>
        </p:nvSpPr>
        <p:spPr>
          <a:xfrm>
            <a:off x="5519776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3" name="bld3_1115"/>
          <p:cNvSpPr txBox="1"/>
          <p:nvPr/>
        </p:nvSpPr>
        <p:spPr>
          <a:xfrm>
            <a:off x="5519776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creamy sandalwood</a:t>
            </a:r>
            <a:endParaRPr lang="en-US" sz="1100" dirty="0"/>
          </a:p>
        </p:txBody>
      </p:sp>
      <p:sp>
        <p:nvSpPr>
          <p:cNvPr id="44" name="bld3_1116"/>
          <p:cNvSpPr txBox="1"/>
          <p:nvPr/>
        </p:nvSpPr>
        <p:spPr>
          <a:xfrm>
            <a:off x="5519776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5" name="bld3_1117"/>
          <p:cNvSpPr txBox="1"/>
          <p:nvPr/>
        </p:nvSpPr>
        <p:spPr>
          <a:xfrm>
            <a:off x="5519776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True-to-life sandalwood, intense</a:t>
            </a:r>
            <a:endParaRPr lang="en-US" sz="1100" dirty="0"/>
          </a:p>
        </p:txBody>
      </p:sp>
      <p:sp>
        <p:nvSpPr>
          <p:cNvPr id="46" name="bld3_1118"/>
          <p:cNvSpPr txBox="1"/>
          <p:nvPr/>
        </p:nvSpPr>
        <p:spPr>
          <a:xfrm>
            <a:off x="5519776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47" name="bld3_1119"/>
          <p:cNvSpPr txBox="1"/>
          <p:nvPr/>
        </p:nvSpPr>
        <p:spPr>
          <a:xfrm>
            <a:off x="5519776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long · tiny dose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9" name="Shape 47"/>
          <p:cNvSpPr/>
          <p:nvPr/>
        </p:nvSpPr>
        <p:spPr>
          <a:xfrm>
            <a:off x="8297724" y="1756220"/>
            <a:ext cx="1516759" cy="151675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50" name="Shape 48"/>
          <p:cNvSpPr/>
          <p:nvPr/>
        </p:nvSpPr>
        <p:spPr>
          <a:xfrm>
            <a:off x="8676914" y="2135410"/>
            <a:ext cx="758380" cy="75838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965098" y="2423594"/>
            <a:ext cx="182011" cy="182011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2" name="Shape 50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ln w="25603">
            <a:solidFill>
              <a:srgbClr val="BE9A66"/>
            </a:solidFill>
            <a:prstDash val="solid"/>
          </a:ln>
        </p:spPr>
      </p:sp>
      <p:sp>
        <p:nvSpPr>
          <p:cNvPr id="53" name="bld4_1121"/>
          <p:cNvSpPr txBox="1"/>
          <p:nvPr/>
        </p:nvSpPr>
        <p:spPr>
          <a:xfrm>
            <a:off x="7977911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Sandalore</a:t>
            </a:r>
            <a:endParaRPr lang="en-US" sz="1800" dirty="0"/>
          </a:p>
        </p:txBody>
      </p:sp>
      <p:sp>
        <p:nvSpPr>
          <p:cNvPr id="54" name="bld4_1122"/>
          <p:cNvSpPr txBox="1"/>
          <p:nvPr/>
        </p:nvSpPr>
        <p:spPr>
          <a:xfrm>
            <a:off x="7950479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55" name="bld4_1123"/>
          <p:cNvSpPr txBox="1"/>
          <p:nvPr/>
        </p:nvSpPr>
        <p:spPr>
          <a:xfrm>
            <a:off x="7950479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milky sandalwood</a:t>
            </a:r>
            <a:endParaRPr lang="en-US" sz="1100" dirty="0"/>
          </a:p>
        </p:txBody>
      </p:sp>
      <p:sp>
        <p:nvSpPr>
          <p:cNvPr id="56" name="bld4_1124"/>
          <p:cNvSpPr txBox="1"/>
          <p:nvPr/>
        </p:nvSpPr>
        <p:spPr>
          <a:xfrm>
            <a:off x="7950479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57" name="bld4_1125"/>
          <p:cNvSpPr txBox="1"/>
          <p:nvPr/>
        </p:nvSpPr>
        <p:spPr>
          <a:xfrm>
            <a:off x="7950479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mildest sandalwood effect</a:t>
            </a:r>
            <a:endParaRPr lang="en-US" sz="1100" dirty="0"/>
          </a:p>
        </p:txBody>
      </p:sp>
      <p:sp>
        <p:nvSpPr>
          <p:cNvPr id="58" name="bld4_1126"/>
          <p:cNvSpPr txBox="1"/>
          <p:nvPr/>
        </p:nvSpPr>
        <p:spPr>
          <a:xfrm>
            <a:off x="7950479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63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9" name="bld4_1127"/>
          <p:cNvSpPr txBox="1"/>
          <p:nvPr/>
        </p:nvSpPr>
        <p:spPr>
          <a:xfrm>
            <a:off x="7950479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medium-long</a:t>
            </a:r>
            <a:endParaRPr lang="en-US" sz="1100" dirty="0"/>
          </a:p>
        </p:txBody>
      </p:sp>
      <p:sp>
        <p:nvSpPr>
          <p:cNvPr id="61" name="trans_fade_6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2" name="Text 5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41" grpId="0"/>
      <p:bldP spid="42" grpId="0"/>
      <p:bldP spid="43" grpId="0"/>
      <p:bldP spid="44" grpId="0"/>
      <p:bldP spid="45" grpId="0"/>
      <p:bldP spid="46" grpId="0"/>
      <p:bldP spid="47" grpId="0"/>
      <p:bldP spid="53" grpId="0"/>
      <p:bldP spid="54" grpId="0"/>
      <p:bldP spid="55" grpId="0"/>
      <p:bldP spid="56" grpId="0"/>
      <p:bldP spid="57" grpId="0"/>
      <p:bldP spid="58" grpId="0"/>
      <p:bldP spid="59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4 OF 7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 Synthetics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AEC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A4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0" name="Shape 8"/>
          <p:cNvSpPr/>
          <p:nvPr/>
        </p:nvSpPr>
        <p:spPr>
          <a:xfrm rot="10800000">
            <a:off x="1824945" y="3379165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4400000">
            <a:off x="2100738" y="3538394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8000000">
            <a:off x="2100738" y="3856852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824945" y="4016081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3600000">
            <a:off x="1549152" y="3856852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7200000">
            <a:off x="1549152" y="3538394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761254" y="3863221"/>
            <a:ext cx="305720" cy="30572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7" name="Shape 15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8" name="bld1_1129"/>
          <p:cNvSpPr txBox="1"/>
          <p:nvPr/>
        </p:nvSpPr>
        <p:spPr>
          <a:xfrm>
            <a:off x="914400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0" name="Shape 18"/>
          <p:cNvSpPr/>
          <p:nvPr/>
        </p:nvSpPr>
        <p:spPr>
          <a:xfrm>
            <a:off x="3822037" y="3547815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4320000">
            <a:off x="4158185" y="3792042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8640000">
            <a:off x="4029788" y="4187208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12960000">
            <a:off x="3614285" y="4187208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7280000">
            <a:off x="3485888" y="3792042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829354" y="4109819"/>
            <a:ext cx="351252" cy="35125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6" name="Shape 24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7" name="bld2_1131"/>
          <p:cNvSpPr txBox="1"/>
          <p:nvPr/>
        </p:nvSpPr>
        <p:spPr>
          <a:xfrm>
            <a:off x="3005267" y="5369924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Phenylethyl Alcohol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9" name="Shape 27"/>
          <p:cNvSpPr/>
          <p:nvPr/>
        </p:nvSpPr>
        <p:spPr>
          <a:xfrm rot="10800000">
            <a:off x="6006679" y="3379165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4400000">
            <a:off x="6282472" y="3538394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18000000">
            <a:off x="6282472" y="3856852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6006679" y="4016081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3600000">
            <a:off x="5730887" y="3856852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7200000">
            <a:off x="5730887" y="3538394"/>
            <a:ext cx="178337" cy="636916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942988" y="3863221"/>
            <a:ext cx="305720" cy="30572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6" name="Shape 34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7" name="bld3_1133"/>
          <p:cNvSpPr txBox="1"/>
          <p:nvPr/>
        </p:nvSpPr>
        <p:spPr>
          <a:xfrm>
            <a:off x="5096134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Benzyl Acetate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9" name="Shape 37"/>
          <p:cNvSpPr/>
          <p:nvPr/>
        </p:nvSpPr>
        <p:spPr>
          <a:xfrm>
            <a:off x="8091177" y="3863552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2700000">
            <a:off x="8227368" y="3919964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5400000">
            <a:off x="8283781" y="4056156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8100000">
            <a:off x="8227368" y="4192347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10800000">
            <a:off x="8091177" y="4248759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13500000">
            <a:off x="7954986" y="4192347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16200000">
            <a:off x="7898574" y="4056156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18900000">
            <a:off x="7954986" y="3919964"/>
            <a:ext cx="191075" cy="458580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084808" y="4183539"/>
            <a:ext cx="203813" cy="203813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48" name="Shape 46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49" name="bld4_1135"/>
          <p:cNvSpPr txBox="1"/>
          <p:nvPr/>
        </p:nvSpPr>
        <p:spPr>
          <a:xfrm>
            <a:off x="7187001" y="5248309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Alpha Ionone</a:t>
            </a:r>
            <a:endParaRPr lang="en-US" sz="1350" dirty="0"/>
          </a:p>
        </p:txBody>
      </p:sp>
      <p:sp>
        <p:nvSpPr>
          <p:cNvPr id="50" name="Shape 48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51" name="Shape 49"/>
          <p:cNvSpPr/>
          <p:nvPr/>
        </p:nvSpPr>
        <p:spPr>
          <a:xfrm>
            <a:off x="10094638" y="3278451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4320000">
            <a:off x="10430787" y="3522678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8640000">
            <a:off x="10302389" y="3917844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2960000">
            <a:off x="9886886" y="3917844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7280000">
            <a:off x="9758489" y="3522678"/>
            <a:ext cx="365888" cy="76836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10101955" y="3840455"/>
            <a:ext cx="351252" cy="35125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57" name="Shape 55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58" name="bld5_1137"/>
          <p:cNvSpPr txBox="1"/>
          <p:nvPr/>
        </p:nvSpPr>
        <p:spPr>
          <a:xfrm>
            <a:off x="9277868" y="5100560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4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Oxide</a:t>
            </a:r>
            <a:endParaRPr lang="en-US" sz="1350" dirty="0"/>
          </a:p>
        </p:txBody>
      </p:sp>
      <p:sp>
        <p:nvSpPr>
          <p:cNvPr id="60" name="trans_fade_6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1" name="Text 5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3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8" grpId="0"/>
      <p:bldP spid="27" grpId="0"/>
      <p:bldP spid="37" grpId="0"/>
      <p:bldP spid="49" grpId="0"/>
      <p:bldP spid="58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 SYNTHETICS,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Isolated, hyper-true floral facets</a:t>
            </a:r>
            <a:endParaRPr lang="en-US" sz="3200" dirty="0"/>
          </a:p>
        </p:txBody>
      </p:sp>
      <p:sp>
        <p:nvSpPr>
          <p:cNvPr id="7" name="bld1_1138"/>
          <p:cNvSpPr/>
          <p:nvPr/>
        </p:nvSpPr>
        <p:spPr>
          <a:xfrm>
            <a:off x="548640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9" name="Shape 7"/>
          <p:cNvSpPr/>
          <p:nvPr/>
        </p:nvSpPr>
        <p:spPr>
          <a:xfrm rot="10800000">
            <a:off x="1521719" y="1978030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4400000">
            <a:off x="1626724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8000000">
            <a:off x="1626724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521719" y="2220529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3600000">
            <a:off x="1416714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7200000">
            <a:off x="1416714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497469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6" name="Shape 14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7" name="bld1_1140"/>
          <p:cNvSpPr txBox="1"/>
          <p:nvPr/>
        </p:nvSpPr>
        <p:spPr>
          <a:xfrm>
            <a:off x="731520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</a:t>
            </a:r>
            <a:endParaRPr lang="en-US" sz="1450" dirty="0"/>
          </a:p>
        </p:txBody>
      </p:sp>
      <p:sp>
        <p:nvSpPr>
          <p:cNvPr id="18" name="bld1_1141"/>
          <p:cNvSpPr txBox="1"/>
          <p:nvPr/>
        </p:nvSpPr>
        <p:spPr>
          <a:xfrm>
            <a:off x="731520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Transparent, jasmine-like material valued for space, diffusion and radiance — not simply "jasmine."</a:t>
            </a:r>
            <a:endParaRPr lang="en-US" sz="1080" dirty="0"/>
          </a:p>
        </p:txBody>
      </p:sp>
      <p:sp>
        <p:nvSpPr>
          <p:cNvPr id="19" name="bld2_1142"/>
          <p:cNvSpPr/>
          <p:nvPr/>
        </p:nvSpPr>
        <p:spPr>
          <a:xfrm>
            <a:off x="281872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1" name="Shape 19"/>
          <p:cNvSpPr/>
          <p:nvPr/>
        </p:nvSpPr>
        <p:spPr>
          <a:xfrm>
            <a:off x="3789383" y="205989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2700000">
            <a:off x="3841237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5400000">
            <a:off x="3862715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8100000">
            <a:off x="3841237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10800000">
            <a:off x="3789383" y="220656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13500000">
            <a:off x="3737530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16200000">
            <a:off x="3716052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18900000">
            <a:off x="3737530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786958" y="2181729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0" name="Shape 28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31" name="bld2_1144"/>
          <p:cNvSpPr txBox="1"/>
          <p:nvPr/>
        </p:nvSpPr>
        <p:spPr>
          <a:xfrm>
            <a:off x="300160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Hydroxycitronellal</a:t>
            </a:r>
            <a:endParaRPr lang="en-US" sz="1450" dirty="0"/>
          </a:p>
        </p:txBody>
      </p:sp>
      <p:sp>
        <p:nvSpPr>
          <p:cNvPr id="32" name="bld2_1145"/>
          <p:cNvSpPr txBox="1"/>
          <p:nvPr/>
        </p:nvSpPr>
        <p:spPr>
          <a:xfrm>
            <a:off x="300160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muguet (lily-of-the-valley) floral. Heart note, medium — a clean, slightly waxy floral lift.</a:t>
            </a:r>
            <a:endParaRPr lang="en-US" sz="1080" dirty="0"/>
          </a:p>
        </p:txBody>
      </p:sp>
      <p:sp>
        <p:nvSpPr>
          <p:cNvPr id="33" name="bld3_1146"/>
          <p:cNvSpPr/>
          <p:nvPr/>
        </p:nvSpPr>
        <p:spPr>
          <a:xfrm>
            <a:off x="508881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5" name="Shape 33"/>
          <p:cNvSpPr/>
          <p:nvPr/>
        </p:nvSpPr>
        <p:spPr>
          <a:xfrm>
            <a:off x="6035223" y="1976090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4320000">
            <a:off x="6146617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8640000">
            <a:off x="6104068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12960000">
            <a:off x="5966377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17280000">
            <a:off x="5923829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037648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41" name="Shape 39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42" name="bld3_1148"/>
          <p:cNvSpPr txBox="1"/>
          <p:nvPr/>
        </p:nvSpPr>
        <p:spPr>
          <a:xfrm>
            <a:off x="527169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Phenylethyl Alcohol</a:t>
            </a:r>
            <a:endParaRPr lang="en-US" sz="1450" dirty="0"/>
          </a:p>
        </p:txBody>
      </p:sp>
      <p:sp>
        <p:nvSpPr>
          <p:cNvPr id="43" name="bld3_1149"/>
          <p:cNvSpPr txBox="1"/>
          <p:nvPr/>
        </p:nvSpPr>
        <p:spPr>
          <a:xfrm>
            <a:off x="527169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rosy, slightly honeyed. Heart note, medium — the single most-used rose material in the world.</a:t>
            </a:r>
            <a:endParaRPr lang="en-US" sz="1080" dirty="0"/>
          </a:p>
        </p:txBody>
      </p:sp>
      <p:sp>
        <p:nvSpPr>
          <p:cNvPr id="44" name="bld4_1150"/>
          <p:cNvSpPr/>
          <p:nvPr/>
        </p:nvSpPr>
        <p:spPr>
          <a:xfrm>
            <a:off x="735890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6" name="Shape 44"/>
          <p:cNvSpPr/>
          <p:nvPr/>
        </p:nvSpPr>
        <p:spPr>
          <a:xfrm rot="10800000">
            <a:off x="8331987" y="1978030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4400000">
            <a:off x="8436992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18000000">
            <a:off x="8436992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331987" y="2220529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3600000">
            <a:off x="8226982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7200000">
            <a:off x="8226982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307737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53" name="Shape 51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54" name="bld4_1152"/>
          <p:cNvSpPr txBox="1"/>
          <p:nvPr/>
        </p:nvSpPr>
        <p:spPr>
          <a:xfrm>
            <a:off x="754178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Benzyl Acetate</a:t>
            </a:r>
            <a:endParaRPr lang="en-US" sz="1450" dirty="0"/>
          </a:p>
        </p:txBody>
      </p:sp>
      <p:sp>
        <p:nvSpPr>
          <p:cNvPr id="55" name="bld4_1153"/>
          <p:cNvSpPr txBox="1"/>
          <p:nvPr/>
        </p:nvSpPr>
        <p:spPr>
          <a:xfrm>
            <a:off x="754178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fruity-jasmine, pear-like. Top-heart, medium — a bright lift inside a jasmine accord.</a:t>
            </a:r>
            <a:endParaRPr lang="en-US" sz="1080" dirty="0"/>
          </a:p>
        </p:txBody>
      </p:sp>
      <p:sp>
        <p:nvSpPr>
          <p:cNvPr id="56" name="bld5_1154"/>
          <p:cNvSpPr/>
          <p:nvPr/>
        </p:nvSpPr>
        <p:spPr>
          <a:xfrm>
            <a:off x="962899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58" name="Shape 56"/>
          <p:cNvSpPr/>
          <p:nvPr/>
        </p:nvSpPr>
        <p:spPr>
          <a:xfrm>
            <a:off x="10599652" y="205989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2700000">
            <a:off x="10651505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5400000">
            <a:off x="10672983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8100000">
            <a:off x="10651505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10800000">
            <a:off x="10599652" y="220656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13500000">
            <a:off x="10547798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 rot="16200000">
            <a:off x="10526320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 rot="18900000">
            <a:off x="10547798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10597227" y="2181729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67" name="Shape 65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68" name="bld5_1156"/>
          <p:cNvSpPr txBox="1"/>
          <p:nvPr/>
        </p:nvSpPr>
        <p:spPr>
          <a:xfrm>
            <a:off x="981187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Linalool</a:t>
            </a:r>
            <a:endParaRPr lang="en-US" sz="1450" dirty="0"/>
          </a:p>
        </p:txBody>
      </p:sp>
      <p:sp>
        <p:nvSpPr>
          <p:cNvPr id="69" name="bld5_1157"/>
          <p:cNvSpPr txBox="1"/>
          <p:nvPr/>
        </p:nvSpPr>
        <p:spPr>
          <a:xfrm>
            <a:off x="981187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Floral-woody freshness, occurs naturally too. Top-heart, medium — a foundational, near-invisible freshener.</a:t>
            </a:r>
            <a:endParaRPr lang="en-US" sz="1080" dirty="0"/>
          </a:p>
        </p:txBody>
      </p:sp>
      <p:sp>
        <p:nvSpPr>
          <p:cNvPr id="70" name="bld6_1158"/>
          <p:cNvSpPr/>
          <p:nvPr/>
        </p:nvSpPr>
        <p:spPr>
          <a:xfrm>
            <a:off x="548640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1" name="Shape 69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72" name="Shape 70"/>
          <p:cNvSpPr/>
          <p:nvPr/>
        </p:nvSpPr>
        <p:spPr>
          <a:xfrm>
            <a:off x="1519294" y="4419050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 rot="2700000">
            <a:off x="1571147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 rot="5400000">
            <a:off x="1592626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 rot="8100000">
            <a:off x="1571147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 rot="10800000">
            <a:off x="1519294" y="456571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 rot="13500000">
            <a:off x="1467441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 rot="16200000">
            <a:off x="1445962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 rot="18900000">
            <a:off x="1467441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1516869" y="4540881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81" name="Shape 79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82" name="bld6_1160"/>
          <p:cNvSpPr txBox="1"/>
          <p:nvPr/>
        </p:nvSpPr>
        <p:spPr>
          <a:xfrm>
            <a:off x="731520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Linalyl Acetate</a:t>
            </a:r>
            <a:endParaRPr lang="en-US" sz="1450" dirty="0"/>
          </a:p>
        </p:txBody>
      </p:sp>
      <p:sp>
        <p:nvSpPr>
          <p:cNvPr id="83" name="bld6_1161"/>
          <p:cNvSpPr txBox="1"/>
          <p:nvPr/>
        </p:nvSpPr>
        <p:spPr>
          <a:xfrm>
            <a:off x="731520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pear-like, lavender-adjacent. Top note, medium — rounds out linalool with a fruity edge.</a:t>
            </a:r>
            <a:endParaRPr lang="en-US" sz="1080" dirty="0"/>
          </a:p>
        </p:txBody>
      </p:sp>
      <p:sp>
        <p:nvSpPr>
          <p:cNvPr id="84" name="bld7_1162"/>
          <p:cNvSpPr/>
          <p:nvPr/>
        </p:nvSpPr>
        <p:spPr>
          <a:xfrm>
            <a:off x="281872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5" name="Shape 83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86" name="Shape 84"/>
          <p:cNvSpPr/>
          <p:nvPr/>
        </p:nvSpPr>
        <p:spPr>
          <a:xfrm>
            <a:off x="3789383" y="4419050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7" name="Shape 85"/>
          <p:cNvSpPr/>
          <p:nvPr/>
        </p:nvSpPr>
        <p:spPr>
          <a:xfrm rot="2700000">
            <a:off x="3841237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8" name="Shape 86"/>
          <p:cNvSpPr/>
          <p:nvPr/>
        </p:nvSpPr>
        <p:spPr>
          <a:xfrm rot="5400000">
            <a:off x="3862715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89" name="Shape 87"/>
          <p:cNvSpPr/>
          <p:nvPr/>
        </p:nvSpPr>
        <p:spPr>
          <a:xfrm rot="8100000">
            <a:off x="3841237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0" name="Shape 88"/>
          <p:cNvSpPr/>
          <p:nvPr/>
        </p:nvSpPr>
        <p:spPr>
          <a:xfrm rot="10800000">
            <a:off x="3789383" y="456571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1" name="Shape 89"/>
          <p:cNvSpPr/>
          <p:nvPr/>
        </p:nvSpPr>
        <p:spPr>
          <a:xfrm rot="13500000">
            <a:off x="3737530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2" name="Shape 90"/>
          <p:cNvSpPr/>
          <p:nvPr/>
        </p:nvSpPr>
        <p:spPr>
          <a:xfrm rot="16200000">
            <a:off x="3716052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3" name="Shape 91"/>
          <p:cNvSpPr/>
          <p:nvPr/>
        </p:nvSpPr>
        <p:spPr>
          <a:xfrm rot="18900000">
            <a:off x="3737530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>
            <a:off x="3786958" y="4540881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95" name="Shape 93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96" name="bld7_1164"/>
          <p:cNvSpPr txBox="1"/>
          <p:nvPr/>
        </p:nvSpPr>
        <p:spPr>
          <a:xfrm>
            <a:off x="300160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Citronellol</a:t>
            </a:r>
            <a:endParaRPr lang="en-US" sz="1450" dirty="0"/>
          </a:p>
        </p:txBody>
      </p:sp>
      <p:sp>
        <p:nvSpPr>
          <p:cNvPr id="97" name="bld7_1165"/>
          <p:cNvSpPr txBox="1"/>
          <p:nvPr/>
        </p:nvSpPr>
        <p:spPr>
          <a:xfrm>
            <a:off x="300160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Light, rosy-citrus freshness. Top-heart, medium — a common rose extender and freshener.</a:t>
            </a:r>
            <a:endParaRPr lang="en-US" sz="1080" dirty="0"/>
          </a:p>
        </p:txBody>
      </p:sp>
      <p:sp>
        <p:nvSpPr>
          <p:cNvPr id="98" name="bld8_1166"/>
          <p:cNvSpPr/>
          <p:nvPr/>
        </p:nvSpPr>
        <p:spPr>
          <a:xfrm>
            <a:off x="508881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9" name="Shape 97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00" name="Shape 98"/>
          <p:cNvSpPr/>
          <p:nvPr/>
        </p:nvSpPr>
        <p:spPr>
          <a:xfrm>
            <a:off x="6059473" y="4419050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1" name="Shape 99"/>
          <p:cNvSpPr/>
          <p:nvPr/>
        </p:nvSpPr>
        <p:spPr>
          <a:xfrm rot="2700000">
            <a:off x="6111326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 rot="5400000">
            <a:off x="6132804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3" name="Shape 101"/>
          <p:cNvSpPr/>
          <p:nvPr/>
        </p:nvSpPr>
        <p:spPr>
          <a:xfrm rot="8100000">
            <a:off x="6111326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4" name="Shape 102"/>
          <p:cNvSpPr/>
          <p:nvPr/>
        </p:nvSpPr>
        <p:spPr>
          <a:xfrm rot="10800000">
            <a:off x="6059473" y="456571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5" name="Shape 103"/>
          <p:cNvSpPr/>
          <p:nvPr/>
        </p:nvSpPr>
        <p:spPr>
          <a:xfrm rot="13500000">
            <a:off x="6007619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6" name="Shape 104"/>
          <p:cNvSpPr/>
          <p:nvPr/>
        </p:nvSpPr>
        <p:spPr>
          <a:xfrm rot="16200000">
            <a:off x="5986141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7" name="Shape 105"/>
          <p:cNvSpPr/>
          <p:nvPr/>
        </p:nvSpPr>
        <p:spPr>
          <a:xfrm rot="18900000">
            <a:off x="6007619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8" name="Shape 106"/>
          <p:cNvSpPr/>
          <p:nvPr/>
        </p:nvSpPr>
        <p:spPr>
          <a:xfrm>
            <a:off x="6057048" y="4540881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110" name="bld8_1168"/>
          <p:cNvSpPr txBox="1"/>
          <p:nvPr/>
        </p:nvSpPr>
        <p:spPr>
          <a:xfrm>
            <a:off x="527169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Geraniol</a:t>
            </a:r>
            <a:endParaRPr lang="en-US" sz="1450" dirty="0"/>
          </a:p>
        </p:txBody>
      </p:sp>
      <p:sp>
        <p:nvSpPr>
          <p:cNvPr id="111" name="bld8_1169"/>
          <p:cNvSpPr txBox="1"/>
          <p:nvPr/>
        </p:nvSpPr>
        <p:spPr>
          <a:xfrm>
            <a:off x="527169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Rosy, slightly sweet, geranium-adjacent. Heart note, medium — pairs naturally with citronellol.</a:t>
            </a:r>
            <a:endParaRPr lang="en-US" sz="1080" dirty="0"/>
          </a:p>
        </p:txBody>
      </p:sp>
      <p:sp>
        <p:nvSpPr>
          <p:cNvPr id="112" name="bld9_1170"/>
          <p:cNvSpPr/>
          <p:nvPr/>
        </p:nvSpPr>
        <p:spPr>
          <a:xfrm>
            <a:off x="735890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3" name="Shape 111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14" name="Shape 112"/>
          <p:cNvSpPr/>
          <p:nvPr/>
        </p:nvSpPr>
        <p:spPr>
          <a:xfrm>
            <a:off x="8329562" y="4419050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5" name="Shape 113"/>
          <p:cNvSpPr/>
          <p:nvPr/>
        </p:nvSpPr>
        <p:spPr>
          <a:xfrm rot="2700000">
            <a:off x="8381416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6" name="Shape 114"/>
          <p:cNvSpPr/>
          <p:nvPr/>
        </p:nvSpPr>
        <p:spPr>
          <a:xfrm rot="5400000">
            <a:off x="8402894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7" name="Shape 115"/>
          <p:cNvSpPr/>
          <p:nvPr/>
        </p:nvSpPr>
        <p:spPr>
          <a:xfrm rot="8100000">
            <a:off x="8381416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8" name="Shape 116"/>
          <p:cNvSpPr/>
          <p:nvPr/>
        </p:nvSpPr>
        <p:spPr>
          <a:xfrm rot="10800000">
            <a:off x="8329562" y="456571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9" name="Shape 117"/>
          <p:cNvSpPr/>
          <p:nvPr/>
        </p:nvSpPr>
        <p:spPr>
          <a:xfrm rot="13500000">
            <a:off x="8277709" y="4544235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0" name="Shape 118"/>
          <p:cNvSpPr/>
          <p:nvPr/>
        </p:nvSpPr>
        <p:spPr>
          <a:xfrm rot="16200000">
            <a:off x="8256231" y="449238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1" name="Shape 119"/>
          <p:cNvSpPr/>
          <p:nvPr/>
        </p:nvSpPr>
        <p:spPr>
          <a:xfrm rot="18900000">
            <a:off x="8277709" y="444052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2" name="Shape 120"/>
          <p:cNvSpPr/>
          <p:nvPr/>
        </p:nvSpPr>
        <p:spPr>
          <a:xfrm>
            <a:off x="8327137" y="4540881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124" name="bld9_1172"/>
          <p:cNvSpPr txBox="1"/>
          <p:nvPr/>
        </p:nvSpPr>
        <p:spPr>
          <a:xfrm>
            <a:off x="7541788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Ionones</a:t>
            </a:r>
            <a:endParaRPr lang="en-US" sz="1450" dirty="0"/>
          </a:p>
        </p:txBody>
      </p:sp>
      <p:sp>
        <p:nvSpPr>
          <p:cNvPr id="125" name="bld9_1173"/>
          <p:cNvSpPr txBox="1"/>
          <p:nvPr/>
        </p:nvSpPr>
        <p:spPr>
          <a:xfrm>
            <a:off x="7541788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Alpha, beta &amp; methyl ionone — powdery violet-woody-suede. Heart-base, medium-long — the entire "violet" effect comes from this trio.</a:t>
            </a:r>
            <a:endParaRPr lang="en-US" sz="1080" dirty="0"/>
          </a:p>
        </p:txBody>
      </p:sp>
      <p:sp>
        <p:nvSpPr>
          <p:cNvPr id="126" name="bld10_1174"/>
          <p:cNvSpPr/>
          <p:nvPr/>
        </p:nvSpPr>
        <p:spPr>
          <a:xfrm>
            <a:off x="962899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7" name="Shape 125"/>
          <p:cNvSpPr/>
          <p:nvPr/>
        </p:nvSpPr>
        <p:spPr>
          <a:xfrm>
            <a:off x="10325130" y="4268785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28" name="Shape 126"/>
          <p:cNvSpPr/>
          <p:nvPr/>
        </p:nvSpPr>
        <p:spPr>
          <a:xfrm>
            <a:off x="10575402" y="4335242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9" name="Shape 127"/>
          <p:cNvSpPr/>
          <p:nvPr/>
        </p:nvSpPr>
        <p:spPr>
          <a:xfrm rot="4320000">
            <a:off x="10686796" y="44161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0" name="Shape 128"/>
          <p:cNvSpPr/>
          <p:nvPr/>
        </p:nvSpPr>
        <p:spPr>
          <a:xfrm rot="8640000">
            <a:off x="10644247" y="4547127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1" name="Shape 129"/>
          <p:cNvSpPr/>
          <p:nvPr/>
        </p:nvSpPr>
        <p:spPr>
          <a:xfrm rot="12960000">
            <a:off x="10506556" y="4547127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2" name="Shape 130"/>
          <p:cNvSpPr/>
          <p:nvPr/>
        </p:nvSpPr>
        <p:spPr>
          <a:xfrm rot="17280000">
            <a:off x="10464007" y="44161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3" name="Shape 131"/>
          <p:cNvSpPr/>
          <p:nvPr/>
        </p:nvSpPr>
        <p:spPr>
          <a:xfrm>
            <a:off x="10577827" y="4521481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34" name="Shape 132"/>
          <p:cNvSpPr/>
          <p:nvPr/>
        </p:nvSpPr>
        <p:spPr>
          <a:xfrm>
            <a:off x="10325130" y="4268785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35" name="bld10_1176"/>
          <p:cNvSpPr txBox="1"/>
          <p:nvPr/>
        </p:nvSpPr>
        <p:spPr>
          <a:xfrm>
            <a:off x="9811878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Oxide</a:t>
            </a:r>
            <a:endParaRPr lang="en-US" sz="1450" dirty="0"/>
          </a:p>
        </p:txBody>
      </p:sp>
      <p:sp>
        <p:nvSpPr>
          <p:cNvPr id="136" name="bld10_1177"/>
          <p:cNvSpPr txBox="1"/>
          <p:nvPr/>
        </p:nvSpPr>
        <p:spPr>
          <a:xfrm>
            <a:off x="9811878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green, metallic-rosy top facet. Top note, short — a tiny dose gives rose an unmistakable natural sparkle.</a:t>
            </a:r>
            <a:endParaRPr lang="en-US" sz="1080" dirty="0"/>
          </a:p>
        </p:txBody>
      </p:sp>
      <p:sp>
        <p:nvSpPr>
          <p:cNvPr id="138" name="trans_fade_6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39" name="Text 1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8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7" grpId="0"/>
      <p:bldP spid="18" grpId="0"/>
      <p:bldP spid="19" grpId="0"/>
      <p:bldP spid="31" grpId="0"/>
      <p:bldP spid="32" grpId="0"/>
      <p:bldP spid="33" grpId="0"/>
      <p:bldP spid="42" grpId="0"/>
      <p:bldP spid="43" grpId="0"/>
      <p:bldP spid="44" grpId="0"/>
      <p:bldP spid="54" grpId="0"/>
      <p:bldP spid="55" grpId="0"/>
      <p:bldP spid="56" grpId="0"/>
      <p:bldP spid="68" grpId="0"/>
      <p:bldP spid="69" grpId="0"/>
      <p:bldP spid="70" grpId="0"/>
      <p:bldP spid="82" grpId="0"/>
      <p:bldP spid="83" grpId="0"/>
      <p:bldP spid="84" grpId="0"/>
      <p:bldP spid="96" grpId="0"/>
      <p:bldP spid="97" grpId="0"/>
      <p:bldP spid="98" grpId="0"/>
      <p:bldP spid="110" grpId="0"/>
      <p:bldP spid="111" grpId="0"/>
      <p:bldP spid="112" grpId="0"/>
      <p:bldP spid="124" grpId="0"/>
      <p:bldP spid="125" grpId="0"/>
      <p:bldP spid="126" grpId="0"/>
      <p:bldP spid="135" grpId="0"/>
      <p:bldP spid="136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USEFUL DISTINCTION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 vs. Hedione HC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90499" y="2297631"/>
            <a:ext cx="1341022" cy="134102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1" name="Shape 9"/>
          <p:cNvSpPr/>
          <p:nvPr/>
        </p:nvSpPr>
        <p:spPr>
          <a:xfrm rot="10800000">
            <a:off x="8887790" y="2445144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4400000">
            <a:off x="9114256" y="2575893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8000000">
            <a:off x="9114256" y="2837393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887790" y="2968142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3600000">
            <a:off x="8661325" y="2837393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7200000">
            <a:off x="8661325" y="2575893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835491" y="2842623"/>
            <a:ext cx="251039" cy="25103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8" name="Shape 16"/>
          <p:cNvSpPr/>
          <p:nvPr/>
        </p:nvSpPr>
        <p:spPr>
          <a:xfrm>
            <a:off x="8290499" y="2297631"/>
            <a:ext cx="1341022" cy="134102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463894" y="2297631"/>
            <a:ext cx="1341022" cy="134102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0" name="Shape 18"/>
          <p:cNvSpPr/>
          <p:nvPr/>
        </p:nvSpPr>
        <p:spPr>
          <a:xfrm rot="10800000">
            <a:off x="10061185" y="2445144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4400000">
            <a:off x="10287650" y="2575893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18000000">
            <a:off x="10287650" y="2837393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0061185" y="2968142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3600000">
            <a:off x="9834720" y="2837393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7200000">
            <a:off x="9834720" y="2575893"/>
            <a:ext cx="146440" cy="5229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08885" y="2842623"/>
            <a:ext cx="251039" cy="25103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7" name="Shape 25"/>
          <p:cNvSpPr/>
          <p:nvPr/>
        </p:nvSpPr>
        <p:spPr>
          <a:xfrm>
            <a:off x="9463894" y="2297631"/>
            <a:ext cx="1341022" cy="134102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Smell them side by side rather than assuming one simply replaces the other.</a:t>
            </a:r>
            <a:endParaRPr lang="en-US" sz="1050" dirty="0"/>
          </a:p>
        </p:txBody>
      </p:sp>
      <p:sp>
        <p:nvSpPr>
          <p:cNvPr id="29" name="bld1_1178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30" name="bld1_1179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Related, not identical</a:t>
            </a:r>
            <a:endParaRPr lang="en-US" sz="1650" dirty="0"/>
          </a:p>
        </p:txBody>
      </p:sp>
      <p:sp>
        <p:nvSpPr>
          <p:cNvPr id="31" name="bld1_1180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Hedione HC is a distinct material with its own character — a relative of Hedione, not an interchangeable substitute.</a:t>
            </a:r>
            <a:endParaRPr lang="en-US" sz="1250" dirty="0"/>
          </a:p>
        </p:txBody>
      </p:sp>
      <p:sp>
        <p:nvSpPr>
          <p:cNvPr id="32" name="bld2_1181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3" name="bld2_1182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 reads bright and citrus-dewy</a:t>
            </a:r>
            <a:endParaRPr lang="en-US" sz="1650" dirty="0"/>
          </a:p>
        </p:txBody>
      </p:sp>
      <p:sp>
        <p:nvSpPr>
          <p:cNvPr id="34" name="bld2_1183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material — airy, radiant, with a fresh green-citrus edge to its jasmine transparency.</a:t>
            </a:r>
            <a:endParaRPr lang="en-US" sz="1250" dirty="0"/>
          </a:p>
        </p:txBody>
      </p:sp>
      <p:sp>
        <p:nvSpPr>
          <p:cNvPr id="35" name="bld3_1184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36" name="bld3_1185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 HC reads smoother and rounder</a:t>
            </a:r>
            <a:endParaRPr lang="en-US" sz="1650" dirty="0"/>
          </a:p>
        </p:txBody>
      </p:sp>
      <p:sp>
        <p:nvSpPr>
          <p:cNvPr id="37" name="bld3_1186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Generally softer and more discreet, with different diffusion behaviour worth evaluating on its own strip.</a:t>
            </a:r>
            <a:endParaRPr lang="en-US" sz="1250" dirty="0"/>
          </a:p>
        </p:txBody>
      </p:sp>
      <p:sp>
        <p:nvSpPr>
          <p:cNvPr id="39" name="trans_fade_6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0" name="Text 3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floral synthetics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1657819" y="175622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14400000">
            <a:off x="1986207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8000000">
            <a:off x="1986207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657819" y="2514600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3600000">
            <a:off x="1329431" y="232500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7200000">
            <a:off x="1329431" y="1945815"/>
            <a:ext cx="212346" cy="75838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581981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5" name="Shape 13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08470" y="1658992"/>
            <a:ext cx="311130" cy="311130"/>
          </a:xfrm>
          <a:prstGeom prst="star5">
            <a:avLst/>
          </a:prstGeom>
          <a:solidFill>
            <a:srgbClr val="EFB0C8">
              <a:alpha val="90000"/>
            </a:srgbClr>
          </a:solidFill>
          <a:ln/>
        </p:spPr>
      </p:sp>
      <p:sp>
        <p:nvSpPr>
          <p:cNvPr id="17" name="bld1_1188"/>
          <p:cNvSpPr txBox="1"/>
          <p:nvPr/>
        </p:nvSpPr>
        <p:spPr>
          <a:xfrm>
            <a:off x="685800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</a:t>
            </a:r>
            <a:endParaRPr lang="en-US" sz="1800" dirty="0"/>
          </a:p>
        </p:txBody>
      </p:sp>
      <p:sp>
        <p:nvSpPr>
          <p:cNvPr id="18" name="bld1_1189"/>
          <p:cNvSpPr txBox="1"/>
          <p:nvPr/>
        </p:nvSpPr>
        <p:spPr>
          <a:xfrm>
            <a:off x="658368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9" name="bld1_1190"/>
          <p:cNvSpPr txBox="1"/>
          <p:nvPr/>
        </p:nvSpPr>
        <p:spPr>
          <a:xfrm>
            <a:off x="658368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Airy, jasmine-adjacent radiance</a:t>
            </a:r>
            <a:endParaRPr lang="en-US" sz="1100" dirty="0"/>
          </a:p>
        </p:txBody>
      </p:sp>
      <p:sp>
        <p:nvSpPr>
          <p:cNvPr id="20" name="bld1_1191"/>
          <p:cNvSpPr txBox="1"/>
          <p:nvPr/>
        </p:nvSpPr>
        <p:spPr>
          <a:xfrm>
            <a:off x="658368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1" name="bld1_1192"/>
          <p:cNvSpPr txBox="1"/>
          <p:nvPr/>
        </p:nvSpPr>
        <p:spPr>
          <a:xfrm>
            <a:off x="658368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space in a formula</a:t>
            </a:r>
            <a:endParaRPr lang="en-US" sz="1100" dirty="0"/>
          </a:p>
        </p:txBody>
      </p:sp>
      <p:sp>
        <p:nvSpPr>
          <p:cNvPr id="22" name="bld1_1193"/>
          <p:cNvSpPr txBox="1"/>
          <p:nvPr/>
        </p:nvSpPr>
        <p:spPr>
          <a:xfrm>
            <a:off x="658368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3" name="bld1_1194"/>
          <p:cNvSpPr txBox="1"/>
          <p:nvPr/>
        </p:nvSpPr>
        <p:spPr>
          <a:xfrm>
            <a:off x="658368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· medium-long · diffusive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5" name="Shape 23"/>
          <p:cNvSpPr/>
          <p:nvPr/>
        </p:nvSpPr>
        <p:spPr>
          <a:xfrm>
            <a:off x="4005101" y="1750153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4320000">
            <a:off x="4353470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8640000">
            <a:off x="4220405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12960000">
            <a:off x="3789797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17280000">
            <a:off x="3656731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012685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1" name="Shape 29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2" name="bld2_1196"/>
          <p:cNvSpPr txBox="1"/>
          <p:nvPr/>
        </p:nvSpPr>
        <p:spPr>
          <a:xfrm>
            <a:off x="3116504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Phenylethyl Alcohol</a:t>
            </a:r>
            <a:endParaRPr lang="en-US" sz="1800" dirty="0"/>
          </a:p>
        </p:txBody>
      </p:sp>
      <p:sp>
        <p:nvSpPr>
          <p:cNvPr id="33" name="bld2_1197"/>
          <p:cNvSpPr txBox="1"/>
          <p:nvPr/>
        </p:nvSpPr>
        <p:spPr>
          <a:xfrm>
            <a:off x="3089072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4" name="bld2_1198"/>
          <p:cNvSpPr txBox="1"/>
          <p:nvPr/>
        </p:nvSpPr>
        <p:spPr>
          <a:xfrm>
            <a:off x="3089072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rosy, honeyed</a:t>
            </a:r>
            <a:endParaRPr lang="en-US" sz="1100" dirty="0"/>
          </a:p>
        </p:txBody>
      </p:sp>
      <p:sp>
        <p:nvSpPr>
          <p:cNvPr id="35" name="bld2_1199"/>
          <p:cNvSpPr txBox="1"/>
          <p:nvPr/>
        </p:nvSpPr>
        <p:spPr>
          <a:xfrm>
            <a:off x="3089072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6" name="bld2_1200"/>
          <p:cNvSpPr txBox="1"/>
          <p:nvPr/>
        </p:nvSpPr>
        <p:spPr>
          <a:xfrm>
            <a:off x="3089072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world's most-used rose note</a:t>
            </a:r>
            <a:endParaRPr lang="en-US" sz="1100" dirty="0"/>
          </a:p>
        </p:txBody>
      </p:sp>
      <p:sp>
        <p:nvSpPr>
          <p:cNvPr id="37" name="bld2_1201"/>
          <p:cNvSpPr txBox="1"/>
          <p:nvPr/>
        </p:nvSpPr>
        <p:spPr>
          <a:xfrm>
            <a:off x="3089072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8" name="bld2_1202"/>
          <p:cNvSpPr txBox="1"/>
          <p:nvPr/>
        </p:nvSpPr>
        <p:spPr>
          <a:xfrm>
            <a:off x="3089072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· medium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0" name="Shape 38"/>
          <p:cNvSpPr/>
          <p:nvPr/>
        </p:nvSpPr>
        <p:spPr>
          <a:xfrm>
            <a:off x="6511643" y="2012249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2700000">
            <a:off x="6673806" y="2079420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5400000">
            <a:off x="6740977" y="2241583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8100000">
            <a:off x="6673806" y="2403747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10800000">
            <a:off x="6511643" y="2470917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13500000">
            <a:off x="6349479" y="2403747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16200000">
            <a:off x="6282309" y="2241583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8900000">
            <a:off x="6349479" y="2079420"/>
            <a:ext cx="227514" cy="54603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504059" y="2393259"/>
            <a:ext cx="242681" cy="242681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49" name="Shape 47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50" name="bld3_1204"/>
          <p:cNvSpPr txBox="1"/>
          <p:nvPr/>
        </p:nvSpPr>
        <p:spPr>
          <a:xfrm>
            <a:off x="5547208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Ionones</a:t>
            </a:r>
            <a:endParaRPr lang="en-US" sz="1800" dirty="0"/>
          </a:p>
        </p:txBody>
      </p:sp>
      <p:sp>
        <p:nvSpPr>
          <p:cNvPr id="51" name="bld3_1205"/>
          <p:cNvSpPr txBox="1"/>
          <p:nvPr/>
        </p:nvSpPr>
        <p:spPr>
          <a:xfrm>
            <a:off x="5519776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52" name="bld3_1206"/>
          <p:cNvSpPr txBox="1"/>
          <p:nvPr/>
        </p:nvSpPr>
        <p:spPr>
          <a:xfrm>
            <a:off x="5519776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Powdery violet-woody-suede</a:t>
            </a:r>
            <a:endParaRPr lang="en-US" sz="1100" dirty="0"/>
          </a:p>
        </p:txBody>
      </p:sp>
      <p:sp>
        <p:nvSpPr>
          <p:cNvPr id="53" name="bld3_1207"/>
          <p:cNvSpPr txBox="1"/>
          <p:nvPr/>
        </p:nvSpPr>
        <p:spPr>
          <a:xfrm>
            <a:off x="5519776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54" name="bld3_1208"/>
          <p:cNvSpPr txBox="1"/>
          <p:nvPr/>
        </p:nvSpPr>
        <p:spPr>
          <a:xfrm>
            <a:off x="5519776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the "violet" effect</a:t>
            </a:r>
            <a:endParaRPr lang="en-US" sz="1100" dirty="0"/>
          </a:p>
        </p:txBody>
      </p:sp>
      <p:sp>
        <p:nvSpPr>
          <p:cNvPr id="55" name="bld3_1209"/>
          <p:cNvSpPr txBox="1"/>
          <p:nvPr/>
        </p:nvSpPr>
        <p:spPr>
          <a:xfrm>
            <a:off x="5519776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6" name="bld3_1210"/>
          <p:cNvSpPr txBox="1"/>
          <p:nvPr/>
        </p:nvSpPr>
        <p:spPr>
          <a:xfrm>
            <a:off x="5519776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Heart-base · medium-long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58" name="Shape 56"/>
          <p:cNvSpPr/>
          <p:nvPr/>
        </p:nvSpPr>
        <p:spPr>
          <a:xfrm>
            <a:off x="8866508" y="1750153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4320000">
            <a:off x="9214878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8640000">
            <a:off x="9081813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12960000">
            <a:off x="8651204" y="2412791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17280000">
            <a:off x="8518139" y="2003259"/>
            <a:ext cx="379190" cy="7962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874092" y="2332589"/>
            <a:ext cx="364022" cy="364022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64" name="Shape 62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65" name="bld4_1212"/>
          <p:cNvSpPr txBox="1"/>
          <p:nvPr/>
        </p:nvSpPr>
        <p:spPr>
          <a:xfrm>
            <a:off x="7977911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Oxide</a:t>
            </a:r>
            <a:endParaRPr lang="en-US" sz="1800" dirty="0"/>
          </a:p>
        </p:txBody>
      </p:sp>
      <p:sp>
        <p:nvSpPr>
          <p:cNvPr id="66" name="bld4_1213"/>
          <p:cNvSpPr txBox="1"/>
          <p:nvPr/>
        </p:nvSpPr>
        <p:spPr>
          <a:xfrm>
            <a:off x="7950479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67" name="bld4_1214"/>
          <p:cNvSpPr txBox="1"/>
          <p:nvPr/>
        </p:nvSpPr>
        <p:spPr>
          <a:xfrm>
            <a:off x="7950479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green, metallic-rosy</a:t>
            </a:r>
            <a:endParaRPr lang="en-US" sz="1100" dirty="0"/>
          </a:p>
        </p:txBody>
      </p:sp>
      <p:sp>
        <p:nvSpPr>
          <p:cNvPr id="68" name="bld4_1215"/>
          <p:cNvSpPr txBox="1"/>
          <p:nvPr/>
        </p:nvSpPr>
        <p:spPr>
          <a:xfrm>
            <a:off x="7950479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69" name="bld4_1216"/>
          <p:cNvSpPr txBox="1"/>
          <p:nvPr/>
        </p:nvSpPr>
        <p:spPr>
          <a:xfrm>
            <a:off x="7950479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sparkle at a tiny dose</a:t>
            </a:r>
            <a:endParaRPr lang="en-US" sz="1100" dirty="0"/>
          </a:p>
        </p:txBody>
      </p:sp>
      <p:sp>
        <p:nvSpPr>
          <p:cNvPr id="70" name="bld4_1217"/>
          <p:cNvSpPr txBox="1"/>
          <p:nvPr/>
        </p:nvSpPr>
        <p:spPr>
          <a:xfrm>
            <a:off x="7950479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79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71" name="bld4_1218"/>
          <p:cNvSpPr txBox="1"/>
          <p:nvPr/>
        </p:nvSpPr>
        <p:spPr>
          <a:xfrm>
            <a:off x="7950479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short · potent</a:t>
            </a:r>
            <a:endParaRPr lang="en-US" sz="1100" dirty="0"/>
          </a:p>
        </p:txBody>
      </p:sp>
      <p:sp>
        <p:nvSpPr>
          <p:cNvPr id="73" name="trans_fade_7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4" name="Text 7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50" grpId="0"/>
      <p:bldP spid="51" grpId="0"/>
      <p:bldP spid="52" grpId="0"/>
      <p:bldP spid="53" grpId="0"/>
      <p:bldP spid="54" grpId="0"/>
      <p:bldP spid="55" grpId="0"/>
      <p:bldP spid="56" grpId="0"/>
      <p:bldP spid="65" grpId="0"/>
      <p:bldP spid="66" grpId="0"/>
      <p:bldP spid="67" grpId="0"/>
      <p:bldP spid="68" grpId="0"/>
      <p:bldP spid="69" grpId="0"/>
      <p:bldP spid="70" grpId="0"/>
      <p:bldP spid="7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5 OF 7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 &amp; Green Synthetics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EBF3E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E5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&amp; GREEN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10" name="Shape 8"/>
          <p:cNvSpPr/>
          <p:nvPr/>
        </p:nvSpPr>
        <p:spPr>
          <a:xfrm>
            <a:off x="1203316" y="3479523"/>
            <a:ext cx="1073117" cy="1073117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278434" y="3554641"/>
            <a:ext cx="922880" cy="92288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2" name="Shape 10"/>
          <p:cNvSpPr/>
          <p:nvPr/>
        </p:nvSpPr>
        <p:spPr>
          <a:xfrm>
            <a:off x="1713047" y="3586835"/>
            <a:ext cx="53656" cy="41851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2160000">
            <a:off x="1713047" y="3586835"/>
            <a:ext cx="53656" cy="41851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4320000">
            <a:off x="1713047" y="3586835"/>
            <a:ext cx="53656" cy="41851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6480000">
            <a:off x="1713047" y="3586835"/>
            <a:ext cx="53656" cy="41851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8640000">
            <a:off x="1713047" y="3586835"/>
            <a:ext cx="53656" cy="41851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0800000">
            <a:off x="1713047" y="3586835"/>
            <a:ext cx="53656" cy="41851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2960000">
            <a:off x="1713047" y="3586835"/>
            <a:ext cx="53656" cy="41851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5120000">
            <a:off x="1713047" y="3586835"/>
            <a:ext cx="53656" cy="41851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7280000">
            <a:off x="1713047" y="3586835"/>
            <a:ext cx="53656" cy="41851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9440000">
            <a:off x="1713047" y="3586835"/>
            <a:ext cx="53656" cy="418515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86219" y="3962426"/>
            <a:ext cx="107312" cy="10731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3" name="Shape 21"/>
          <p:cNvSpPr/>
          <p:nvPr/>
        </p:nvSpPr>
        <p:spPr>
          <a:xfrm>
            <a:off x="1051979" y="3328186"/>
            <a:ext cx="1375791" cy="1375791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24" name="bld1_1220"/>
          <p:cNvSpPr txBox="1"/>
          <p:nvPr/>
        </p:nvSpPr>
        <p:spPr>
          <a:xfrm>
            <a:off x="914400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5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Dihydromyrcenol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26" name="Shape 24"/>
          <p:cNvSpPr/>
          <p:nvPr/>
        </p:nvSpPr>
        <p:spPr>
          <a:xfrm rot="15300000">
            <a:off x="3064844" y="4045564"/>
            <a:ext cx="209600" cy="64729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13050000">
            <a:off x="3180440" y="4218565"/>
            <a:ext cx="209600" cy="64729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10800000">
            <a:off x="3377464" y="4285445"/>
            <a:ext cx="209600" cy="64729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8550000">
            <a:off x="3574488" y="4218565"/>
            <a:ext cx="209600" cy="64729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6300000">
            <a:off x="3690083" y="4045564"/>
            <a:ext cx="209600" cy="64729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691916" y="3495098"/>
            <a:ext cx="1580695" cy="1580695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32" name="bld2_1222"/>
          <p:cNvSpPr txBox="1"/>
          <p:nvPr/>
        </p:nvSpPr>
        <p:spPr>
          <a:xfrm>
            <a:off x="2656789" y="5222097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5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cis-3-Hexenol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34" name="Shape 32"/>
          <p:cNvSpPr/>
          <p:nvPr/>
        </p:nvSpPr>
        <p:spPr>
          <a:xfrm rot="15300000">
            <a:off x="4861343" y="3807296"/>
            <a:ext cx="182430" cy="563386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3050000">
            <a:off x="4961954" y="3957870"/>
            <a:ext cx="182430" cy="563386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0800000">
            <a:off x="5133438" y="4016081"/>
            <a:ext cx="182430" cy="563386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8550000">
            <a:off x="5304922" y="3957870"/>
            <a:ext cx="182430" cy="563386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6300000">
            <a:off x="5405533" y="3807296"/>
            <a:ext cx="182430" cy="563386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536758" y="3328186"/>
            <a:ext cx="1375791" cy="1375791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40" name="bld3_1224"/>
          <p:cNvSpPr txBox="1"/>
          <p:nvPr/>
        </p:nvSpPr>
        <p:spPr>
          <a:xfrm>
            <a:off x="4399178" y="4850281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5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cis-3-Hexenyl Acetate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2" name="Shape 40"/>
          <p:cNvSpPr/>
          <p:nvPr/>
        </p:nvSpPr>
        <p:spPr>
          <a:xfrm rot="15300000">
            <a:off x="6603733" y="4076660"/>
            <a:ext cx="182430" cy="563386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13050000">
            <a:off x="6704343" y="4227234"/>
            <a:ext cx="182430" cy="563386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10800000">
            <a:off x="6875827" y="4285445"/>
            <a:ext cx="182430" cy="563386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8550000">
            <a:off x="7047311" y="4227234"/>
            <a:ext cx="182430" cy="563386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6300000">
            <a:off x="7147922" y="4076660"/>
            <a:ext cx="182430" cy="563386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279147" y="3597550"/>
            <a:ext cx="1375791" cy="1375791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48" name="bld4_1226"/>
          <p:cNvSpPr txBox="1"/>
          <p:nvPr/>
        </p:nvSpPr>
        <p:spPr>
          <a:xfrm>
            <a:off x="6141568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5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Stemone</a:t>
            </a:r>
            <a:endParaRPr lang="en-US" sz="1350" dirty="0"/>
          </a:p>
        </p:txBody>
      </p:sp>
      <p:sp>
        <p:nvSpPr>
          <p:cNvPr id="49" name="Shape 47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50" name="Shape 48"/>
          <p:cNvSpPr/>
          <p:nvPr/>
        </p:nvSpPr>
        <p:spPr>
          <a:xfrm rot="15300000">
            <a:off x="8292012" y="3776200"/>
            <a:ext cx="209600" cy="64729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3050000">
            <a:off x="8407607" y="3949201"/>
            <a:ext cx="209600" cy="64729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0800000">
            <a:off x="8604631" y="4016081"/>
            <a:ext cx="209600" cy="64729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8550000">
            <a:off x="8801655" y="3949201"/>
            <a:ext cx="209600" cy="64729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6300000">
            <a:off x="8917251" y="3776200"/>
            <a:ext cx="209600" cy="647295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919084" y="3225734"/>
            <a:ext cx="1580695" cy="1580695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56" name="bld5_1228"/>
          <p:cNvSpPr txBox="1"/>
          <p:nvPr/>
        </p:nvSpPr>
        <p:spPr>
          <a:xfrm>
            <a:off x="7883957" y="4952733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5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Triplal</a:t>
            </a:r>
            <a:endParaRPr lang="en-US" sz="1350" dirty="0"/>
          </a:p>
        </p:txBody>
      </p:sp>
      <p:sp>
        <p:nvSpPr>
          <p:cNvPr id="57" name="Shape 55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58" name="Shape 56"/>
          <p:cNvSpPr/>
          <p:nvPr/>
        </p:nvSpPr>
        <p:spPr>
          <a:xfrm>
            <a:off x="10076230" y="3909855"/>
            <a:ext cx="751182" cy="751182"/>
          </a:xfrm>
          <a:prstGeom prst="star5">
            <a:avLst/>
          </a:prstGeom>
          <a:solidFill>
            <a:srgbClr val="9EC24C">
              <a:alpha val="90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9763925" y="3597550"/>
            <a:ext cx="1375791" cy="1375791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60" name="bld6_1230"/>
          <p:cNvSpPr txBox="1"/>
          <p:nvPr/>
        </p:nvSpPr>
        <p:spPr>
          <a:xfrm>
            <a:off x="9626346" y="5119645"/>
            <a:ext cx="16509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E5C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Aldehydes</a:t>
            </a:r>
            <a:endParaRPr lang="en-US" sz="1350" dirty="0"/>
          </a:p>
        </p:txBody>
      </p:sp>
      <p:sp>
        <p:nvSpPr>
          <p:cNvPr id="62" name="trans_fade_7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3" name="Text 6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32" grpId="0"/>
      <p:bldP spid="40" grpId="0"/>
      <p:bldP spid="48" grpId="0"/>
      <p:bldP spid="56" grpId="0"/>
      <p:bldP spid="60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&amp; GREEN SYNTHETICS,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kinds of "fresh"</a:t>
            </a:r>
            <a:endParaRPr lang="en-US" sz="3200" dirty="0"/>
          </a:p>
        </p:txBody>
      </p:sp>
      <p:sp>
        <p:nvSpPr>
          <p:cNvPr id="7" name="bld1_1231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9" name="Shape 7"/>
          <p:cNvSpPr/>
          <p:nvPr/>
        </p:nvSpPr>
        <p:spPr>
          <a:xfrm>
            <a:off x="2069866" y="1978030"/>
            <a:ext cx="484998" cy="484998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103816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" name="Shape 9"/>
          <p:cNvSpPr/>
          <p:nvPr/>
        </p:nvSpPr>
        <p:spPr>
          <a:xfrm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216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432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648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864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296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512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728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9440000">
            <a:off x="2300240" y="2026530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288115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2" name="Shape 20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3" name="bld1_1233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Dihydromyrcenol</a:t>
            </a:r>
            <a:endParaRPr lang="en-US" sz="1450" dirty="0"/>
          </a:p>
        </p:txBody>
      </p:sp>
      <p:sp>
        <p:nvSpPr>
          <p:cNvPr id="24" name="bld1_1234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freshness. Explosive, citrus-aromatic and clean. Top note, medium — the backbone of the 1990s "fresh" trend.</a:t>
            </a:r>
            <a:endParaRPr lang="en-US" sz="1080" dirty="0"/>
          </a:p>
        </p:txBody>
      </p:sp>
      <p:sp>
        <p:nvSpPr>
          <p:cNvPr id="25" name="bld2_1235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27" name="Shape 25"/>
          <p:cNvSpPr/>
          <p:nvPr/>
        </p:nvSpPr>
        <p:spPr>
          <a:xfrm rot="15300000">
            <a:off x="5931649" y="2126168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13050000">
            <a:off x="5977120" y="21942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10800000">
            <a:off x="6054623" y="2220529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8550000">
            <a:off x="6132125" y="21942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6300000">
            <a:off x="6177597" y="2126168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33" name="bld2_1237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cis-3-Hexenol</a:t>
            </a:r>
            <a:endParaRPr lang="en-US" sz="1450" dirty="0"/>
          </a:p>
        </p:txBody>
      </p:sp>
      <p:sp>
        <p:nvSpPr>
          <p:cNvPr id="34" name="bld2_1238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freshness. Sharp, cut-grass green — the exact smell of a freshly mown lawn. Top note, short, dosed carefully.</a:t>
            </a:r>
            <a:endParaRPr lang="en-US" sz="1080" dirty="0"/>
          </a:p>
        </p:txBody>
      </p:sp>
      <p:sp>
        <p:nvSpPr>
          <p:cNvPr id="35" name="bld3_1239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37" name="Shape 35"/>
          <p:cNvSpPr/>
          <p:nvPr/>
        </p:nvSpPr>
        <p:spPr>
          <a:xfrm rot="15300000">
            <a:off x="9715131" y="2126168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 rot="13050000">
            <a:off x="9760603" y="21942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 rot="10800000">
            <a:off x="9838105" y="2220529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 rot="8550000">
            <a:off x="9915608" y="21942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6300000">
            <a:off x="9961079" y="2126168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8FBF6B"/>
            </a:solidFill>
            <a:prstDash val="solid"/>
          </a:ln>
        </p:spPr>
      </p:sp>
      <p:sp>
        <p:nvSpPr>
          <p:cNvPr id="43" name="bld3_1241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cis-3-Hexenyl Acetate</a:t>
            </a:r>
            <a:endParaRPr lang="en-US" sz="1450" dirty="0"/>
          </a:p>
        </p:txBody>
      </p:sp>
      <p:sp>
        <p:nvSpPr>
          <p:cNvPr id="44" name="bld3_1242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Softer green freshness. Green-fruity, pear-skin quality — gentler than raw leaf alcohol. Top note, short.</a:t>
            </a:r>
            <a:endParaRPr lang="en-US" sz="1080" dirty="0"/>
          </a:p>
        </p:txBody>
      </p:sp>
      <p:sp>
        <p:nvSpPr>
          <p:cNvPr id="45" name="bld4_1243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7" name="Shape 45"/>
          <p:cNvSpPr/>
          <p:nvPr/>
        </p:nvSpPr>
        <p:spPr>
          <a:xfrm rot="15300000">
            <a:off x="2148167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13050000">
            <a:off x="2193638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10800000">
            <a:off x="2271140" y="457968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8550000">
            <a:off x="2348643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6300000">
            <a:off x="2394114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8FBF6B"/>
            </a:solidFill>
            <a:prstDash val="solid"/>
          </a:ln>
        </p:spPr>
      </p:sp>
      <p:sp>
        <p:nvSpPr>
          <p:cNvPr id="53" name="bld4_1245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Stemone</a:t>
            </a:r>
            <a:endParaRPr lang="en-US" sz="1450" dirty="0"/>
          </a:p>
        </p:txBody>
      </p:sp>
      <p:sp>
        <p:nvSpPr>
          <p:cNvPr id="54" name="bld4_1246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Watery, metallic freshness. Green, faintly melon-stem. Top note, short-medium — an unusual, modern accent.</a:t>
            </a:r>
            <a:endParaRPr lang="en-US" sz="1080" dirty="0"/>
          </a:p>
        </p:txBody>
      </p:sp>
      <p:sp>
        <p:nvSpPr>
          <p:cNvPr id="55" name="bld5_1247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57" name="Shape 55"/>
          <p:cNvSpPr/>
          <p:nvPr/>
        </p:nvSpPr>
        <p:spPr>
          <a:xfrm rot="15300000">
            <a:off x="5931649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13050000">
            <a:off x="5977120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10800000">
            <a:off x="6054623" y="457968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8550000">
            <a:off x="6132125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6300000">
            <a:off x="6177597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63" name="bld5_1249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Triplal</a:t>
            </a:r>
            <a:endParaRPr lang="en-US" sz="1450" dirty="0"/>
          </a:p>
        </p:txBody>
      </p:sp>
      <p:sp>
        <p:nvSpPr>
          <p:cNvPr id="64" name="bld5_1250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Green, floral-leafy freshness. Top note, medium — more versatile and less bitter than galbanum.</a:t>
            </a:r>
            <a:endParaRPr lang="en-US" sz="1080" dirty="0"/>
          </a:p>
        </p:txBody>
      </p:sp>
      <p:sp>
        <p:nvSpPr>
          <p:cNvPr id="65" name="bld6_1251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67" name="Shape 65"/>
          <p:cNvSpPr/>
          <p:nvPr/>
        </p:nvSpPr>
        <p:spPr>
          <a:xfrm>
            <a:off x="9709581" y="4409932"/>
            <a:ext cx="339498" cy="339498"/>
          </a:xfrm>
          <a:prstGeom prst="star5">
            <a:avLst/>
          </a:prstGeom>
          <a:solidFill>
            <a:srgbClr val="9EC24C">
              <a:alpha val="90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69" name="bld6_1253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Aldehydes (C8–C10–C11–C12 MNA)</a:t>
            </a:r>
            <a:endParaRPr lang="en-US" sz="1450" dirty="0"/>
          </a:p>
        </p:txBody>
      </p:sp>
      <p:sp>
        <p:nvSpPr>
          <p:cNvPr id="70" name="bld6_1254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Aldehydic sparkle. Soapy, waxy, metallic lift. Top note, medium — the classic "aldehydic" perfume effect.</a:t>
            </a:r>
            <a:endParaRPr lang="en-US" sz="1080" dirty="0"/>
          </a:p>
        </p:txBody>
      </p:sp>
      <p:sp>
        <p:nvSpPr>
          <p:cNvPr id="72" name="trans_fade_7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3" name="Text 7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3" grpId="0"/>
      <p:bldP spid="24" grpId="0"/>
      <p:bldP spid="25" grpId="0"/>
      <p:bldP spid="33" grpId="0"/>
      <p:bldP spid="34" grpId="0"/>
      <p:bldP spid="35" grpId="0"/>
      <p:bldP spid="43" grpId="0"/>
      <p:bldP spid="44" grpId="0"/>
      <p:bldP spid="45" grpId="0"/>
      <p:bldP spid="53" grpId="0"/>
      <p:bldP spid="54" grpId="0"/>
      <p:bldP spid="55" grpId="0"/>
      <p:bldP spid="63" grpId="0"/>
      <p:bldP spid="64" grpId="0"/>
      <p:bldP spid="65" grpId="0"/>
      <p:bldP spid="69" grpId="0"/>
      <p:bldP spid="70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fresh synthetics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8" name="Shape 6"/>
          <p:cNvSpPr/>
          <p:nvPr/>
        </p:nvSpPr>
        <p:spPr>
          <a:xfrm>
            <a:off x="1425092" y="1694383"/>
            <a:ext cx="1640434" cy="1640434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539923" y="1809214"/>
            <a:ext cx="1410773" cy="141077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2204298" y="1858427"/>
            <a:ext cx="82022" cy="63976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163288" y="2432578"/>
            <a:ext cx="164043" cy="16404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Shape 19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2" name="bld1_1256"/>
          <p:cNvSpPr txBox="1"/>
          <p:nvPr/>
        </p:nvSpPr>
        <p:spPr>
          <a:xfrm>
            <a:off x="685800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Dihydromyrcenol</a:t>
            </a:r>
            <a:endParaRPr lang="en-US" sz="1800" dirty="0"/>
          </a:p>
        </p:txBody>
      </p:sp>
      <p:sp>
        <p:nvSpPr>
          <p:cNvPr id="23" name="bld1_1257"/>
          <p:cNvSpPr txBox="1"/>
          <p:nvPr/>
        </p:nvSpPr>
        <p:spPr>
          <a:xfrm>
            <a:off x="658368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4" name="bld1_1258"/>
          <p:cNvSpPr txBox="1"/>
          <p:nvPr/>
        </p:nvSpPr>
        <p:spPr>
          <a:xfrm>
            <a:off x="658368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Explosive citrus-fresh lift</a:t>
            </a:r>
            <a:endParaRPr lang="en-US" sz="1100" dirty="0"/>
          </a:p>
        </p:txBody>
      </p:sp>
      <p:sp>
        <p:nvSpPr>
          <p:cNvPr id="25" name="bld1_1259"/>
          <p:cNvSpPr txBox="1"/>
          <p:nvPr/>
        </p:nvSpPr>
        <p:spPr>
          <a:xfrm>
            <a:off x="658368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6" name="bld1_1260"/>
          <p:cNvSpPr txBox="1"/>
          <p:nvPr/>
        </p:nvSpPr>
        <p:spPr>
          <a:xfrm>
            <a:off x="658368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citrus far past 2 hours</a:t>
            </a:r>
            <a:endParaRPr lang="en-US" sz="1100" dirty="0"/>
          </a:p>
        </p:txBody>
      </p:sp>
      <p:sp>
        <p:nvSpPr>
          <p:cNvPr id="27" name="bld1_1261"/>
          <p:cNvSpPr txBox="1"/>
          <p:nvPr/>
        </p:nvSpPr>
        <p:spPr>
          <a:xfrm>
            <a:off x="658368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8" name="bld1_1262"/>
          <p:cNvSpPr txBox="1"/>
          <p:nvPr/>
        </p:nvSpPr>
        <p:spPr>
          <a:xfrm>
            <a:off x="658368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medium · diffusive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30" name="Shape 28"/>
          <p:cNvSpPr/>
          <p:nvPr/>
        </p:nvSpPr>
        <p:spPr>
          <a:xfrm>
            <a:off x="5064496" y="1940448"/>
            <a:ext cx="1148304" cy="1148304"/>
          </a:xfrm>
          <a:prstGeom prst="star5">
            <a:avLst/>
          </a:prstGeom>
          <a:solidFill>
            <a:srgbClr val="9EC24C">
              <a:alpha val="90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32" name="bld2_1264"/>
          <p:cNvSpPr txBox="1"/>
          <p:nvPr/>
        </p:nvSpPr>
        <p:spPr>
          <a:xfrm>
            <a:off x="4079138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Aldehydes</a:t>
            </a:r>
            <a:endParaRPr lang="en-US" sz="1800" dirty="0"/>
          </a:p>
        </p:txBody>
      </p:sp>
      <p:sp>
        <p:nvSpPr>
          <p:cNvPr id="33" name="bld2_1265"/>
          <p:cNvSpPr txBox="1"/>
          <p:nvPr/>
        </p:nvSpPr>
        <p:spPr>
          <a:xfrm>
            <a:off x="4051706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4" name="bld2_1266"/>
          <p:cNvSpPr txBox="1"/>
          <p:nvPr/>
        </p:nvSpPr>
        <p:spPr>
          <a:xfrm>
            <a:off x="4051706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Sparkling, soapy, waxy</a:t>
            </a:r>
            <a:endParaRPr lang="en-US" sz="1100" dirty="0"/>
          </a:p>
        </p:txBody>
      </p:sp>
      <p:sp>
        <p:nvSpPr>
          <p:cNvPr id="35" name="bld2_1267"/>
          <p:cNvSpPr txBox="1"/>
          <p:nvPr/>
        </p:nvSpPr>
        <p:spPr>
          <a:xfrm>
            <a:off x="4051706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6" name="bld2_1268"/>
          <p:cNvSpPr txBox="1"/>
          <p:nvPr/>
        </p:nvSpPr>
        <p:spPr>
          <a:xfrm>
            <a:off x="4051706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"aldehydic" lift</a:t>
            </a:r>
            <a:endParaRPr lang="en-US" sz="1100" dirty="0"/>
          </a:p>
        </p:txBody>
      </p:sp>
      <p:sp>
        <p:nvSpPr>
          <p:cNvPr id="37" name="bld2_1269"/>
          <p:cNvSpPr txBox="1"/>
          <p:nvPr/>
        </p:nvSpPr>
        <p:spPr>
          <a:xfrm>
            <a:off x="4051706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9EC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8" name="bld2_1270"/>
          <p:cNvSpPr txBox="1"/>
          <p:nvPr/>
        </p:nvSpPr>
        <p:spPr>
          <a:xfrm>
            <a:off x="4051706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medium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0" name="Shape 38"/>
          <p:cNvSpPr/>
          <p:nvPr/>
        </p:nvSpPr>
        <p:spPr>
          <a:xfrm rot="15300000">
            <a:off x="8476608" y="2195437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 rot="13050000">
            <a:off x="8630408" y="2425615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10800000">
            <a:off x="8892549" y="2514600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8550000">
            <a:off x="9154690" y="2425615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6300000">
            <a:off x="9308490" y="2195437"/>
            <a:ext cx="278874" cy="861228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46" name="bld3_1272"/>
          <p:cNvSpPr txBox="1"/>
          <p:nvPr/>
        </p:nvSpPr>
        <p:spPr>
          <a:xfrm>
            <a:off x="7472477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cis-3-Hexenol</a:t>
            </a:r>
            <a:endParaRPr lang="en-US" sz="1800" dirty="0"/>
          </a:p>
        </p:txBody>
      </p:sp>
      <p:sp>
        <p:nvSpPr>
          <p:cNvPr id="47" name="bld3_1273"/>
          <p:cNvSpPr txBox="1"/>
          <p:nvPr/>
        </p:nvSpPr>
        <p:spPr>
          <a:xfrm>
            <a:off x="7445045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8" name="bld3_1274"/>
          <p:cNvSpPr txBox="1"/>
          <p:nvPr/>
        </p:nvSpPr>
        <p:spPr>
          <a:xfrm>
            <a:off x="7445045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cut-grass green</a:t>
            </a:r>
            <a:endParaRPr lang="en-US" sz="1100" dirty="0"/>
          </a:p>
        </p:txBody>
      </p:sp>
      <p:sp>
        <p:nvSpPr>
          <p:cNvPr id="49" name="bld3_1275"/>
          <p:cNvSpPr txBox="1"/>
          <p:nvPr/>
        </p:nvSpPr>
        <p:spPr>
          <a:xfrm>
            <a:off x="7445045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50" name="bld3_1276"/>
          <p:cNvSpPr txBox="1"/>
          <p:nvPr/>
        </p:nvSpPr>
        <p:spPr>
          <a:xfrm>
            <a:off x="7445045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freshly-mown-lawn effect</a:t>
            </a:r>
            <a:endParaRPr lang="en-US" sz="1100" dirty="0"/>
          </a:p>
        </p:txBody>
      </p:sp>
      <p:sp>
        <p:nvSpPr>
          <p:cNvPr id="51" name="bld3_1277"/>
          <p:cNvSpPr txBox="1"/>
          <p:nvPr/>
        </p:nvSpPr>
        <p:spPr>
          <a:xfrm>
            <a:off x="7445045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5C8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2" name="bld3_1278"/>
          <p:cNvSpPr txBox="1"/>
          <p:nvPr/>
        </p:nvSpPr>
        <p:spPr>
          <a:xfrm>
            <a:off x="7445045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short · intimate</a:t>
            </a:r>
            <a:endParaRPr lang="en-US" sz="1100" dirty="0"/>
          </a:p>
        </p:txBody>
      </p:sp>
      <p:sp>
        <p:nvSpPr>
          <p:cNvPr id="54" name="trans_fade_7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5" name="Text 5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2" grpId="0"/>
      <p:bldP spid="23" grpId="0"/>
      <p:bldP spid="24" grpId="0"/>
      <p:bldP spid="25" grpId="0"/>
      <p:bldP spid="26" grpId="0"/>
      <p:bldP spid="27" grpId="0"/>
      <p:bldP spid="28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46" grpId="0"/>
      <p:bldP spid="47" grpId="0"/>
      <p:bldP spid="48" grpId="0"/>
      <p:bldP spid="49" grpId="0"/>
      <p:bldP spid="50" grpId="0"/>
      <p:bldP spid="51" grpId="0"/>
      <p:bldP spid="52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6 OF 7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 Synthetics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BE4D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A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10" name="Shape 8"/>
          <p:cNvSpPr/>
          <p:nvPr/>
        </p:nvSpPr>
        <p:spPr>
          <a:xfrm>
            <a:off x="1391842" y="3544763"/>
            <a:ext cx="1044543" cy="1044543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908627" y="3519287"/>
            <a:ext cx="914" cy="178337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12000000">
            <a:off x="1932402" y="3468333"/>
            <a:ext cx="242028" cy="165598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14" name="bld1_1280"/>
          <p:cNvSpPr txBox="1"/>
          <p:nvPr/>
        </p:nvSpPr>
        <p:spPr>
          <a:xfrm>
            <a:off x="914400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2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Butyrate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16" name="Shape 14"/>
          <p:cNvSpPr/>
          <p:nvPr/>
        </p:nvSpPr>
        <p:spPr>
          <a:xfrm>
            <a:off x="3404924" y="3743931"/>
            <a:ext cx="1200113" cy="1200113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999494" y="3714660"/>
            <a:ext cx="914" cy="204897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12000000">
            <a:off x="4023269" y="3656118"/>
            <a:ext cx="278075" cy="190262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20" name="bld2_1282"/>
          <p:cNvSpPr txBox="1"/>
          <p:nvPr/>
        </p:nvSpPr>
        <p:spPr>
          <a:xfrm>
            <a:off x="3005267" y="5369924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2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Fructone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22" name="Shape 20"/>
          <p:cNvSpPr/>
          <p:nvPr/>
        </p:nvSpPr>
        <p:spPr>
          <a:xfrm>
            <a:off x="5573576" y="3544763"/>
            <a:ext cx="1044543" cy="1044543"/>
          </a:xfrm>
          <a:prstGeom prst="ellipse">
            <a:avLst/>
          </a:prstGeom>
          <a:solidFill>
            <a:srgbClr val="E8A85E">
              <a:alpha val="9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0361" y="3519287"/>
            <a:ext cx="914" cy="178337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12000000">
            <a:off x="6114136" y="3468333"/>
            <a:ext cx="242028" cy="165598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26" name="bld3_1284"/>
          <p:cNvSpPr txBox="1"/>
          <p:nvPr/>
        </p:nvSpPr>
        <p:spPr>
          <a:xfrm>
            <a:off x="5096134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2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Gamma Undecalactone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28" name="Shape 26"/>
          <p:cNvSpPr/>
          <p:nvPr/>
        </p:nvSpPr>
        <p:spPr>
          <a:xfrm>
            <a:off x="7664443" y="3814127"/>
            <a:ext cx="1044543" cy="1044543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8181228" y="3788651"/>
            <a:ext cx="914" cy="178337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rot="12000000">
            <a:off x="8205003" y="3737697"/>
            <a:ext cx="242028" cy="165598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32" name="bld4_1286"/>
          <p:cNvSpPr txBox="1"/>
          <p:nvPr/>
        </p:nvSpPr>
        <p:spPr>
          <a:xfrm>
            <a:off x="7187001" y="5248309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2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Gamma Nonalactone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34" name="Shape 32"/>
          <p:cNvSpPr/>
          <p:nvPr/>
        </p:nvSpPr>
        <p:spPr>
          <a:xfrm>
            <a:off x="9677525" y="3474567"/>
            <a:ext cx="1200113" cy="1200113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0272095" y="3445296"/>
            <a:ext cx="914" cy="204897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12000000">
            <a:off x="10295870" y="3386754"/>
            <a:ext cx="278075" cy="190262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38" name="bld5_1288"/>
          <p:cNvSpPr txBox="1"/>
          <p:nvPr/>
        </p:nvSpPr>
        <p:spPr>
          <a:xfrm>
            <a:off x="9277868" y="5100560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A2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Allyl Amyl Glycolate</a:t>
            </a:r>
            <a:endParaRPr lang="en-US" sz="1350" dirty="0"/>
          </a:p>
        </p:txBody>
      </p:sp>
      <p:sp>
        <p:nvSpPr>
          <p:cNvPr id="40" name="trans_fade_7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1" name="Text 3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3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20" grpId="0"/>
      <p:bldP spid="26" grpId="0"/>
      <p:bldP spid="32" grpId="0"/>
      <p:bldP spid="38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FRUITY SYNTHETICS,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Juicy realism versus candy effect</a:t>
            </a:r>
            <a:endParaRPr lang="en-US" sz="3200" dirty="0"/>
          </a:p>
        </p:txBody>
      </p:sp>
      <p:sp>
        <p:nvSpPr>
          <p:cNvPr id="7" name="bld1_1289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9" name="Shape 7"/>
          <p:cNvSpPr/>
          <p:nvPr/>
        </p:nvSpPr>
        <p:spPr>
          <a:xfrm>
            <a:off x="2113516" y="2041080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306879" y="2031380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00">
            <a:off x="2330653" y="2011980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13" name="bld1_1291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Butyrate</a:t>
            </a:r>
            <a:endParaRPr lang="en-US" sz="1450" dirty="0"/>
          </a:p>
        </p:txBody>
      </p:sp>
      <p:sp>
        <p:nvSpPr>
          <p:cNvPr id="14" name="bld1_1292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Juicy, pear-apple, sharp-fruity. Top note, short — instantly recognisable, easily tips into "candy" if overdosed.</a:t>
            </a:r>
            <a:endParaRPr lang="en-US" sz="1080" dirty="0"/>
          </a:p>
        </p:txBody>
      </p:sp>
      <p:sp>
        <p:nvSpPr>
          <p:cNvPr id="15" name="bld2_1293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17" name="Shape 15"/>
          <p:cNvSpPr/>
          <p:nvPr/>
        </p:nvSpPr>
        <p:spPr>
          <a:xfrm>
            <a:off x="5896999" y="2041080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090361" y="2031380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2000000">
            <a:off x="6114136" y="2011980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EC8F72"/>
            </a:solidFill>
            <a:prstDash val="solid"/>
          </a:ln>
        </p:spPr>
      </p:sp>
      <p:sp>
        <p:nvSpPr>
          <p:cNvPr id="21" name="bld2_1295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Fructone</a:t>
            </a:r>
            <a:endParaRPr lang="en-US" sz="1450" dirty="0"/>
          </a:p>
        </p:txBody>
      </p:sp>
      <p:sp>
        <p:nvSpPr>
          <p:cNvPr id="22" name="bld2_1296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apple-like, gentle fruitiness. Top-heart, medium — a rounder, less sharp fruity effect than most esters.</a:t>
            </a:r>
            <a:endParaRPr lang="en-US" sz="1080" dirty="0"/>
          </a:p>
        </p:txBody>
      </p:sp>
      <p:sp>
        <p:nvSpPr>
          <p:cNvPr id="23" name="bld3_1297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25" name="Shape 23"/>
          <p:cNvSpPr/>
          <p:nvPr/>
        </p:nvSpPr>
        <p:spPr>
          <a:xfrm>
            <a:off x="9680481" y="2041080"/>
            <a:ext cx="397698" cy="397698"/>
          </a:xfrm>
          <a:prstGeom prst="ellipse">
            <a:avLst/>
          </a:prstGeom>
          <a:solidFill>
            <a:srgbClr val="E8A85E">
              <a:alpha val="9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9873844" y="2031380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2000000">
            <a:off x="9897618" y="2011980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EC8F72"/>
            </a:solidFill>
            <a:prstDash val="solid"/>
          </a:ln>
        </p:spPr>
      </p:sp>
      <p:sp>
        <p:nvSpPr>
          <p:cNvPr id="29" name="bld3_1299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Gamma Undecalactone</a:t>
            </a:r>
            <a:endParaRPr lang="en-US" sz="1450" dirty="0"/>
          </a:p>
        </p:txBody>
      </p:sp>
      <p:sp>
        <p:nvSpPr>
          <p:cNvPr id="30" name="bld3_1300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Ripe, creamy peach — the definitive lactonic peach material. Heart note, medium-long.</a:t>
            </a:r>
            <a:endParaRPr lang="en-US" sz="1080" dirty="0"/>
          </a:p>
        </p:txBody>
      </p:sp>
      <p:sp>
        <p:nvSpPr>
          <p:cNvPr id="31" name="bld4_1301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33" name="Shape 31"/>
          <p:cNvSpPr/>
          <p:nvPr/>
        </p:nvSpPr>
        <p:spPr>
          <a:xfrm>
            <a:off x="2113516" y="4400232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306879" y="4390532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2000000">
            <a:off x="2330653" y="4371132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D9A05B"/>
            </a:solidFill>
            <a:prstDash val="solid"/>
          </a:ln>
        </p:spPr>
      </p:sp>
      <p:sp>
        <p:nvSpPr>
          <p:cNvPr id="37" name="bld4_1303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Gamma Nonalactone</a:t>
            </a:r>
            <a:endParaRPr lang="en-US" sz="1450" dirty="0"/>
          </a:p>
        </p:txBody>
      </p:sp>
      <p:sp>
        <p:nvSpPr>
          <p:cNvPr id="38" name="bld4_1304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 coconut-peach, milkier than undecalactone. Heart note, medium-long — softer, more gourmand-adjacent.</a:t>
            </a:r>
            <a:endParaRPr lang="en-US" sz="1080" dirty="0"/>
          </a:p>
        </p:txBody>
      </p:sp>
      <p:sp>
        <p:nvSpPr>
          <p:cNvPr id="39" name="bld5_1305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41" name="Shape 39"/>
          <p:cNvSpPr/>
          <p:nvPr/>
        </p:nvSpPr>
        <p:spPr>
          <a:xfrm>
            <a:off x="5896999" y="4400232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090361" y="4390532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rot="12000000">
            <a:off x="6114136" y="4371132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45" name="bld5_1307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Allyl Amyl Glycolate</a:t>
            </a:r>
            <a:endParaRPr lang="en-US" sz="1450" dirty="0"/>
          </a:p>
        </p:txBody>
      </p:sp>
      <p:sp>
        <p:nvSpPr>
          <p:cNvPr id="46" name="bld5_1308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pineapple-tropical. Top note, medium — a distinctive tropical-fruit accent used in small amounts.</a:t>
            </a:r>
            <a:endParaRPr lang="en-US" sz="1080" dirty="0"/>
          </a:p>
        </p:txBody>
      </p:sp>
      <p:sp>
        <p:nvSpPr>
          <p:cNvPr id="47" name="bld6_1309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49" name="Shape 47"/>
          <p:cNvSpPr/>
          <p:nvPr/>
        </p:nvSpPr>
        <p:spPr>
          <a:xfrm>
            <a:off x="9680481" y="4400232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9873844" y="4390532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rot="12000000">
            <a:off x="9897618" y="4371132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EC8F72"/>
            </a:solidFill>
            <a:prstDash val="solid"/>
          </a:ln>
        </p:spPr>
      </p:sp>
      <p:sp>
        <p:nvSpPr>
          <p:cNvPr id="53" name="bld6_1311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Pear &amp; apple esters</a:t>
            </a:r>
            <a:endParaRPr lang="en-US" sz="1450" dirty="0"/>
          </a:p>
        </p:txBody>
      </p:sp>
      <p:sp>
        <p:nvSpPr>
          <p:cNvPr id="54" name="bld6_1312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broad family of fruity esters behind most crisp pear and apple effects. Top note, short — juicy realism, dose-dependent.</a:t>
            </a:r>
            <a:endParaRPr lang="en-US" sz="1080" dirty="0"/>
          </a:p>
        </p:txBody>
      </p:sp>
      <p:sp>
        <p:nvSpPr>
          <p:cNvPr id="56" name="trans_fade_7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7" name="Text 5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3" grpId="0"/>
      <p:bldP spid="14" grpId="0"/>
      <p:bldP spid="15" grpId="0"/>
      <p:bldP spid="21" grpId="0"/>
      <p:bldP spid="22" grpId="0"/>
      <p:bldP spid="23" grpId="0"/>
      <p:bldP spid="29" grpId="0"/>
      <p:bldP spid="30" grpId="0"/>
      <p:bldP spid="31" grpId="0"/>
      <p:bldP spid="37" grpId="0"/>
      <p:bldP spid="38" grpId="0"/>
      <p:bldP spid="39" grpId="0"/>
      <p:bldP spid="45" grpId="0"/>
      <p:bldP spid="46" grpId="0"/>
      <p:bldP spid="47" grpId="0"/>
      <p:bldP spid="53" grpId="0"/>
      <p:bldP spid="54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fruity synthetics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8" name="Shape 6"/>
          <p:cNvSpPr/>
          <p:nvPr/>
        </p:nvSpPr>
        <p:spPr>
          <a:xfrm>
            <a:off x="1572731" y="1907640"/>
            <a:ext cx="1345156" cy="1345156"/>
          </a:xfrm>
          <a:prstGeom prst="ellipse">
            <a:avLst/>
          </a:prstGeom>
          <a:solidFill>
            <a:srgbClr val="E8A85E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239823" y="1874831"/>
            <a:ext cx="914" cy="229661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2000000">
            <a:off x="2263597" y="1809214"/>
            <a:ext cx="311682" cy="213256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93749" y="1463040"/>
            <a:ext cx="2103120" cy="2103120"/>
          </a:xfrm>
          <a:prstGeom prst="ellipse">
            <a:avLst/>
          </a:prstGeom>
          <a:ln w="25603">
            <a:solidFill>
              <a:srgbClr val="EC8F72"/>
            </a:solidFill>
            <a:prstDash val="solid"/>
          </a:ln>
        </p:spPr>
      </p:sp>
      <p:sp>
        <p:nvSpPr>
          <p:cNvPr id="12" name="bld1_1314"/>
          <p:cNvSpPr txBox="1"/>
          <p:nvPr/>
        </p:nvSpPr>
        <p:spPr>
          <a:xfrm>
            <a:off x="685800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Gamma Undecalactone</a:t>
            </a:r>
            <a:endParaRPr lang="en-US" sz="1800" dirty="0"/>
          </a:p>
        </p:txBody>
      </p:sp>
      <p:sp>
        <p:nvSpPr>
          <p:cNvPr id="13" name="bld1_1315"/>
          <p:cNvSpPr txBox="1"/>
          <p:nvPr/>
        </p:nvSpPr>
        <p:spPr>
          <a:xfrm>
            <a:off x="658368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4" name="bld1_1316"/>
          <p:cNvSpPr txBox="1"/>
          <p:nvPr/>
        </p:nvSpPr>
        <p:spPr>
          <a:xfrm>
            <a:off x="658368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Ripe, creamy peach</a:t>
            </a:r>
            <a:endParaRPr lang="en-US" sz="1100" dirty="0"/>
          </a:p>
        </p:txBody>
      </p:sp>
      <p:sp>
        <p:nvSpPr>
          <p:cNvPr id="15" name="bld1_1317"/>
          <p:cNvSpPr txBox="1"/>
          <p:nvPr/>
        </p:nvSpPr>
        <p:spPr>
          <a:xfrm>
            <a:off x="658368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16" name="bld1_1318"/>
          <p:cNvSpPr txBox="1"/>
          <p:nvPr/>
        </p:nvSpPr>
        <p:spPr>
          <a:xfrm>
            <a:off x="658368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definitive peach note</a:t>
            </a:r>
            <a:endParaRPr lang="en-US" sz="1100" dirty="0"/>
          </a:p>
        </p:txBody>
      </p:sp>
      <p:sp>
        <p:nvSpPr>
          <p:cNvPr id="17" name="bld1_1319"/>
          <p:cNvSpPr txBox="1"/>
          <p:nvPr/>
        </p:nvSpPr>
        <p:spPr>
          <a:xfrm>
            <a:off x="658368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18" name="bld1_1320"/>
          <p:cNvSpPr txBox="1"/>
          <p:nvPr/>
        </p:nvSpPr>
        <p:spPr>
          <a:xfrm>
            <a:off x="658368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· medium-long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20" name="Shape 18"/>
          <p:cNvSpPr/>
          <p:nvPr/>
        </p:nvSpPr>
        <p:spPr>
          <a:xfrm>
            <a:off x="4966070" y="1907640"/>
            <a:ext cx="1345156" cy="1345156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5633161" y="1874831"/>
            <a:ext cx="914" cy="229661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2000000">
            <a:off x="5656936" y="1809214"/>
            <a:ext cx="311682" cy="213256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587088" y="1463040"/>
            <a:ext cx="2103120" cy="2103120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24" name="bld2_1322"/>
          <p:cNvSpPr txBox="1"/>
          <p:nvPr/>
        </p:nvSpPr>
        <p:spPr>
          <a:xfrm>
            <a:off x="4079138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Butyrate</a:t>
            </a:r>
            <a:endParaRPr lang="en-US" sz="1800" dirty="0"/>
          </a:p>
        </p:txBody>
      </p:sp>
      <p:sp>
        <p:nvSpPr>
          <p:cNvPr id="25" name="bld2_1323"/>
          <p:cNvSpPr txBox="1"/>
          <p:nvPr/>
        </p:nvSpPr>
        <p:spPr>
          <a:xfrm>
            <a:off x="4051706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26" name="bld2_1324"/>
          <p:cNvSpPr txBox="1"/>
          <p:nvPr/>
        </p:nvSpPr>
        <p:spPr>
          <a:xfrm>
            <a:off x="4051706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Juicy, pear-apple, sharp</a:t>
            </a:r>
            <a:endParaRPr lang="en-US" sz="1100" dirty="0"/>
          </a:p>
        </p:txBody>
      </p:sp>
      <p:sp>
        <p:nvSpPr>
          <p:cNvPr id="27" name="bld2_1325"/>
          <p:cNvSpPr txBox="1"/>
          <p:nvPr/>
        </p:nvSpPr>
        <p:spPr>
          <a:xfrm>
            <a:off x="4051706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8" name="bld2_1326"/>
          <p:cNvSpPr txBox="1"/>
          <p:nvPr/>
        </p:nvSpPr>
        <p:spPr>
          <a:xfrm>
            <a:off x="4051706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fruity recognition</a:t>
            </a:r>
            <a:endParaRPr lang="en-US" sz="1100" dirty="0"/>
          </a:p>
        </p:txBody>
      </p:sp>
      <p:sp>
        <p:nvSpPr>
          <p:cNvPr id="29" name="bld2_1327"/>
          <p:cNvSpPr txBox="1"/>
          <p:nvPr/>
        </p:nvSpPr>
        <p:spPr>
          <a:xfrm>
            <a:off x="4051706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0" name="bld2_1328"/>
          <p:cNvSpPr txBox="1"/>
          <p:nvPr/>
        </p:nvSpPr>
        <p:spPr>
          <a:xfrm>
            <a:off x="4051706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short · potent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9408" y="1907640"/>
            <a:ext cx="1345156" cy="1345156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9026500" y="1874831"/>
            <a:ext cx="914" cy="229661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rot="12000000">
            <a:off x="9050274" y="1809214"/>
            <a:ext cx="311682" cy="213256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980426" y="1463040"/>
            <a:ext cx="2103120" cy="2103120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36" name="bld3_1330"/>
          <p:cNvSpPr txBox="1"/>
          <p:nvPr/>
        </p:nvSpPr>
        <p:spPr>
          <a:xfrm>
            <a:off x="7472477" y="3749040"/>
            <a:ext cx="3119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Allyl Amyl Glycolate</a:t>
            </a:r>
            <a:endParaRPr lang="en-US" sz="1800" dirty="0"/>
          </a:p>
        </p:txBody>
      </p:sp>
      <p:sp>
        <p:nvSpPr>
          <p:cNvPr id="37" name="bld3_1331"/>
          <p:cNvSpPr txBox="1"/>
          <p:nvPr/>
        </p:nvSpPr>
        <p:spPr>
          <a:xfrm>
            <a:off x="7445045" y="4187952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8" name="bld3_1332"/>
          <p:cNvSpPr txBox="1"/>
          <p:nvPr/>
        </p:nvSpPr>
        <p:spPr>
          <a:xfrm>
            <a:off x="7445045" y="4407408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pineapple-tropical</a:t>
            </a:r>
            <a:endParaRPr lang="en-US" sz="1100" dirty="0"/>
          </a:p>
        </p:txBody>
      </p:sp>
      <p:sp>
        <p:nvSpPr>
          <p:cNvPr id="39" name="bld3_1333"/>
          <p:cNvSpPr txBox="1"/>
          <p:nvPr/>
        </p:nvSpPr>
        <p:spPr>
          <a:xfrm>
            <a:off x="7445045" y="475488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0" name="bld3_1334"/>
          <p:cNvSpPr txBox="1"/>
          <p:nvPr/>
        </p:nvSpPr>
        <p:spPr>
          <a:xfrm>
            <a:off x="7445045" y="4974336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distinctive tropical accent</a:t>
            </a:r>
            <a:endParaRPr lang="en-US" sz="1100" dirty="0"/>
          </a:p>
        </p:txBody>
      </p:sp>
      <p:sp>
        <p:nvSpPr>
          <p:cNvPr id="41" name="bld3_1335"/>
          <p:cNvSpPr txBox="1"/>
          <p:nvPr/>
        </p:nvSpPr>
        <p:spPr>
          <a:xfrm>
            <a:off x="7445045" y="5321808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950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42" name="bld3_1336"/>
          <p:cNvSpPr txBox="1"/>
          <p:nvPr/>
        </p:nvSpPr>
        <p:spPr>
          <a:xfrm>
            <a:off x="7445045" y="5541264"/>
            <a:ext cx="3173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· medium</a:t>
            </a:r>
            <a:endParaRPr lang="en-US" sz="1100" dirty="0"/>
          </a:p>
        </p:txBody>
      </p:sp>
      <p:sp>
        <p:nvSpPr>
          <p:cNvPr id="44" name="trans_fade_7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5" name="Text 4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  <p:bldP spid="18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6" grpId="0"/>
      <p:bldP spid="37" grpId="0"/>
      <p:bldP spid="38" grpId="0"/>
      <p:bldP spid="39" grpId="0"/>
      <p:bldP spid="40" grpId="0"/>
      <p:bldP spid="41" grpId="0"/>
      <p:bldP spid="42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MATERIALS · FAMILY 7 OF 7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 Synthetics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09160"/>
          </a:xfrm>
          <a:prstGeom prst="roundRect">
            <a:avLst>
              <a:gd name="adj" fmla="val 3107"/>
            </a:avLst>
          </a:prstGeom>
          <a:solidFill>
            <a:srgbClr val="F3E4C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47672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C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10" name="Shape 8"/>
          <p:cNvSpPr/>
          <p:nvPr/>
        </p:nvSpPr>
        <p:spPr>
          <a:xfrm rot="840000">
            <a:off x="1761254" y="3411011"/>
            <a:ext cx="305720" cy="1210141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840000">
            <a:off x="1908627" y="3557502"/>
            <a:ext cx="914" cy="917159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770807" y="3592532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3" name="Shape 11"/>
          <p:cNvSpPr/>
          <p:nvPr/>
        </p:nvSpPr>
        <p:spPr>
          <a:xfrm>
            <a:off x="1816665" y="3750487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4" name="Shape 12"/>
          <p:cNvSpPr/>
          <p:nvPr/>
        </p:nvSpPr>
        <p:spPr>
          <a:xfrm>
            <a:off x="1862523" y="3908443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5" name="Shape 13"/>
          <p:cNvSpPr/>
          <p:nvPr/>
        </p:nvSpPr>
        <p:spPr>
          <a:xfrm>
            <a:off x="1908381" y="4066398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6" name="Shape 14"/>
          <p:cNvSpPr/>
          <p:nvPr/>
        </p:nvSpPr>
        <p:spPr>
          <a:xfrm>
            <a:off x="1954239" y="4224353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7" name="Shape 15"/>
          <p:cNvSpPr/>
          <p:nvPr/>
        </p:nvSpPr>
        <p:spPr>
          <a:xfrm>
            <a:off x="2000097" y="4382308"/>
            <a:ext cx="57322" cy="5732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8" name="Shape 16"/>
          <p:cNvSpPr/>
          <p:nvPr/>
        </p:nvSpPr>
        <p:spPr>
          <a:xfrm>
            <a:off x="1097554" y="3199522"/>
            <a:ext cx="1633118" cy="1633118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19" name="bld1_1338"/>
          <p:cNvSpPr txBox="1"/>
          <p:nvPr/>
        </p:nvSpPr>
        <p:spPr>
          <a:xfrm>
            <a:off x="914400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Vanillin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21" name="Shape 19"/>
          <p:cNvSpPr/>
          <p:nvPr/>
        </p:nvSpPr>
        <p:spPr>
          <a:xfrm rot="840000">
            <a:off x="3829354" y="3590258"/>
            <a:ext cx="351252" cy="1390374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840000">
            <a:off x="3999494" y="3758567"/>
            <a:ext cx="914" cy="1053757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0331" y="3798814"/>
            <a:ext cx="65860" cy="65860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4" name="Shape 22"/>
          <p:cNvSpPr/>
          <p:nvPr/>
        </p:nvSpPr>
        <p:spPr>
          <a:xfrm>
            <a:off x="3893019" y="3980295"/>
            <a:ext cx="65860" cy="65860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5" name="Shape 23"/>
          <p:cNvSpPr/>
          <p:nvPr/>
        </p:nvSpPr>
        <p:spPr>
          <a:xfrm>
            <a:off x="3945707" y="4161775"/>
            <a:ext cx="65860" cy="65860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6" name="Shape 24"/>
          <p:cNvSpPr/>
          <p:nvPr/>
        </p:nvSpPr>
        <p:spPr>
          <a:xfrm>
            <a:off x="3998395" y="4343256"/>
            <a:ext cx="65860" cy="65860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7" name="Shape 25"/>
          <p:cNvSpPr/>
          <p:nvPr/>
        </p:nvSpPr>
        <p:spPr>
          <a:xfrm>
            <a:off x="4051082" y="4524736"/>
            <a:ext cx="65860" cy="65860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8" name="Shape 26"/>
          <p:cNvSpPr/>
          <p:nvPr/>
        </p:nvSpPr>
        <p:spPr>
          <a:xfrm>
            <a:off x="4103770" y="4706217"/>
            <a:ext cx="65860" cy="65860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9" name="Shape 27"/>
          <p:cNvSpPr/>
          <p:nvPr/>
        </p:nvSpPr>
        <p:spPr>
          <a:xfrm>
            <a:off x="3066806" y="3347271"/>
            <a:ext cx="1876349" cy="1876349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30" name="bld2_1340"/>
          <p:cNvSpPr txBox="1"/>
          <p:nvPr/>
        </p:nvSpPr>
        <p:spPr>
          <a:xfrm>
            <a:off x="3005267" y="5369924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Vanillin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2" name="Shape 30"/>
          <p:cNvSpPr/>
          <p:nvPr/>
        </p:nvSpPr>
        <p:spPr>
          <a:xfrm>
            <a:off x="5458931" y="3379165"/>
            <a:ext cx="1273832" cy="1273832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637268" y="3557502"/>
            <a:ext cx="917159" cy="917159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892034" y="3812268"/>
            <a:ext cx="407626" cy="407626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279288" y="3199522"/>
            <a:ext cx="1633118" cy="1633118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36" name="bld3_1342"/>
          <p:cNvSpPr txBox="1"/>
          <p:nvPr/>
        </p:nvSpPr>
        <p:spPr>
          <a:xfrm>
            <a:off x="5096134" y="4978945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Coumarin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8" name="Shape 36"/>
          <p:cNvSpPr/>
          <p:nvPr/>
        </p:nvSpPr>
        <p:spPr>
          <a:xfrm>
            <a:off x="7549798" y="3648529"/>
            <a:ext cx="1273832" cy="1273832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7728135" y="3826866"/>
            <a:ext cx="917159" cy="917159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7982901" y="4081632"/>
            <a:ext cx="407626" cy="407626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370155" y="3468886"/>
            <a:ext cx="1633118" cy="1633118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42" name="bld4_1344"/>
          <p:cNvSpPr txBox="1"/>
          <p:nvPr/>
        </p:nvSpPr>
        <p:spPr>
          <a:xfrm>
            <a:off x="7187001" y="5248309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Maltol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44" name="Shape 42"/>
          <p:cNvSpPr/>
          <p:nvPr/>
        </p:nvSpPr>
        <p:spPr>
          <a:xfrm>
            <a:off x="9545806" y="3284305"/>
            <a:ext cx="1463552" cy="1463552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9750703" y="3489203"/>
            <a:ext cx="1053757" cy="1053757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043413" y="3781913"/>
            <a:ext cx="468337" cy="468337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9339407" y="3077907"/>
            <a:ext cx="1876349" cy="1876349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48" name="bld5_1346"/>
          <p:cNvSpPr txBox="1"/>
          <p:nvPr/>
        </p:nvSpPr>
        <p:spPr>
          <a:xfrm>
            <a:off x="9277868" y="5100560"/>
            <a:ext cx="19994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5C3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Heliotropin</a:t>
            </a:r>
            <a:endParaRPr lang="en-US" sz="1350" dirty="0"/>
          </a:p>
        </p:txBody>
      </p:sp>
      <p:sp>
        <p:nvSpPr>
          <p:cNvPr id="50" name="trans_fade_7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1" name="Text 4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3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9" grpId="0"/>
      <p:bldP spid="30" grpId="0"/>
      <p:bldP spid="36" grpId="0"/>
      <p:bldP spid="42" grpId="0"/>
      <p:bldP spid="48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 SYNTHETICS, IN DEPTH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Vanilla, tonka, caramel, candy, powder, almond</a:t>
            </a:r>
            <a:endParaRPr lang="en-US" sz="3200" dirty="0"/>
          </a:p>
        </p:txBody>
      </p:sp>
      <p:sp>
        <p:nvSpPr>
          <p:cNvPr id="7" name="bld1_1347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9" name="Shape 7"/>
          <p:cNvSpPr/>
          <p:nvPr/>
        </p:nvSpPr>
        <p:spPr>
          <a:xfrm rot="840000">
            <a:off x="1781230" y="1990155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40000">
            <a:off x="1833944" y="2045930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84868" y="205926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2" name="Shape 10"/>
          <p:cNvSpPr/>
          <p:nvPr/>
        </p:nvSpPr>
        <p:spPr>
          <a:xfrm>
            <a:off x="1802328" y="211940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3" name="Shape 11"/>
          <p:cNvSpPr/>
          <p:nvPr/>
        </p:nvSpPr>
        <p:spPr>
          <a:xfrm>
            <a:off x="1819787" y="217954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4" name="Shape 12"/>
          <p:cNvSpPr/>
          <p:nvPr/>
        </p:nvSpPr>
        <p:spPr>
          <a:xfrm>
            <a:off x="1837247" y="2239686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5" name="Shape 13"/>
          <p:cNvSpPr/>
          <p:nvPr/>
        </p:nvSpPr>
        <p:spPr>
          <a:xfrm>
            <a:off x="1854707" y="2299826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6" name="Shape 14"/>
          <p:cNvSpPr/>
          <p:nvPr/>
        </p:nvSpPr>
        <p:spPr>
          <a:xfrm>
            <a:off x="1872167" y="2359966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7" name="Shape 15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18" name="bld1_1349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Vanillin</a:t>
            </a:r>
            <a:endParaRPr lang="en-US" sz="1450" dirty="0"/>
          </a:p>
        </p:txBody>
      </p:sp>
      <p:sp>
        <p:nvSpPr>
          <p:cNvPr id="19" name="bld1_1350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essence of vanilla, isolated. Base note, very long, richly diffusive — the single most-used gourmand material.</a:t>
            </a:r>
            <a:endParaRPr lang="en-US" sz="1080" dirty="0"/>
          </a:p>
        </p:txBody>
      </p:sp>
      <p:sp>
        <p:nvSpPr>
          <p:cNvPr id="20" name="bld2_1351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22" name="Shape 20"/>
          <p:cNvSpPr/>
          <p:nvPr/>
        </p:nvSpPr>
        <p:spPr>
          <a:xfrm rot="840000">
            <a:off x="4618842" y="1990155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840000">
            <a:off x="4671555" y="2045930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22479" y="205926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5" name="Shape 23"/>
          <p:cNvSpPr/>
          <p:nvPr/>
        </p:nvSpPr>
        <p:spPr>
          <a:xfrm>
            <a:off x="4639939" y="211940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6" name="Shape 24"/>
          <p:cNvSpPr/>
          <p:nvPr/>
        </p:nvSpPr>
        <p:spPr>
          <a:xfrm>
            <a:off x="4657399" y="2179547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7" name="Shape 25"/>
          <p:cNvSpPr/>
          <p:nvPr/>
        </p:nvSpPr>
        <p:spPr>
          <a:xfrm>
            <a:off x="4674859" y="2239686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8" name="Shape 26"/>
          <p:cNvSpPr/>
          <p:nvPr/>
        </p:nvSpPr>
        <p:spPr>
          <a:xfrm>
            <a:off x="4692319" y="2299826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29" name="Shape 27"/>
          <p:cNvSpPr/>
          <p:nvPr/>
        </p:nvSpPr>
        <p:spPr>
          <a:xfrm>
            <a:off x="4709779" y="2359966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0" name="Shape 28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31" name="bld2_1353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Vanillin</a:t>
            </a:r>
            <a:endParaRPr lang="en-US" sz="1450" dirty="0"/>
          </a:p>
        </p:txBody>
      </p:sp>
      <p:sp>
        <p:nvSpPr>
          <p:cNvPr id="32" name="bld2_1354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Sharper, several times stronger than vanillin, less "round." Base note, very long — used in tiny amounts for extra lift.</a:t>
            </a:r>
            <a:endParaRPr lang="en-US" sz="1080" dirty="0"/>
          </a:p>
        </p:txBody>
      </p:sp>
      <p:sp>
        <p:nvSpPr>
          <p:cNvPr id="33" name="bld3_1355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5" name="Shape 33"/>
          <p:cNvSpPr/>
          <p:nvPr/>
        </p:nvSpPr>
        <p:spPr>
          <a:xfrm>
            <a:off x="7272155" y="1978030"/>
            <a:ext cx="484998" cy="484998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7340054" y="2045930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437054" y="2142929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39" name="bld3_1357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Coumarin</a:t>
            </a:r>
            <a:endParaRPr lang="en-US" sz="1450" dirty="0"/>
          </a:p>
        </p:txBody>
      </p:sp>
      <p:sp>
        <p:nvSpPr>
          <p:cNvPr id="40" name="bld3_1358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tonka effect: sweet hay, tonka-like warmth. Base note, long — a fougère and gourmand cornerstone, softly powdery.</a:t>
            </a:r>
            <a:endParaRPr lang="en-US" sz="1080" dirty="0"/>
          </a:p>
        </p:txBody>
      </p:sp>
      <p:sp>
        <p:nvSpPr>
          <p:cNvPr id="41" name="bld4_1359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43" name="Shape 41"/>
          <p:cNvSpPr/>
          <p:nvPr/>
        </p:nvSpPr>
        <p:spPr>
          <a:xfrm>
            <a:off x="10109766" y="1978030"/>
            <a:ext cx="484998" cy="484998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0177666" y="2045930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10274666" y="2142929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5C3A1E"/>
            </a:solidFill>
            <a:prstDash val="solid"/>
          </a:ln>
        </p:spPr>
      </p:sp>
      <p:sp>
        <p:nvSpPr>
          <p:cNvPr id="47" name="bld4_1361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Maltol</a:t>
            </a:r>
            <a:endParaRPr lang="en-US" sz="1450" dirty="0"/>
          </a:p>
        </p:txBody>
      </p:sp>
      <p:sp>
        <p:nvSpPr>
          <p:cNvPr id="48" name="bld4_1362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candy effect: cotton-candy sweetness. Top-heart, medium-long, very diffusive — the defining "sugar trend" material.</a:t>
            </a:r>
            <a:endParaRPr lang="en-US" sz="1080" dirty="0"/>
          </a:p>
        </p:txBody>
      </p:sp>
      <p:sp>
        <p:nvSpPr>
          <p:cNvPr id="49" name="bld5_1363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51" name="Shape 49"/>
          <p:cNvSpPr/>
          <p:nvPr/>
        </p:nvSpPr>
        <p:spPr>
          <a:xfrm>
            <a:off x="1596931" y="4337182"/>
            <a:ext cx="484998" cy="484998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1664831" y="4405082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1761830" y="4502081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D9A05B"/>
            </a:solidFill>
            <a:prstDash val="solid"/>
          </a:ln>
        </p:spPr>
      </p:sp>
      <p:sp>
        <p:nvSpPr>
          <p:cNvPr id="55" name="bld5_1365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Maltol</a:t>
            </a:r>
            <a:endParaRPr lang="en-US" sz="1450" dirty="0"/>
          </a:p>
        </p:txBody>
      </p:sp>
      <p:sp>
        <p:nvSpPr>
          <p:cNvPr id="56" name="bld5_1366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caramel effect: softer, breadier sweetness than ethyl maltol. Heart note, medium — a gentler caramelised-sugar effect.</a:t>
            </a:r>
            <a:endParaRPr lang="en-US" sz="1080" dirty="0"/>
          </a:p>
        </p:txBody>
      </p:sp>
      <p:sp>
        <p:nvSpPr>
          <p:cNvPr id="57" name="bld6_1367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59" name="Shape 57"/>
          <p:cNvSpPr/>
          <p:nvPr/>
        </p:nvSpPr>
        <p:spPr>
          <a:xfrm>
            <a:off x="4434543" y="4337182"/>
            <a:ext cx="484998" cy="484998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4502443" y="4405082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4599442" y="4502081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D9A05B"/>
            </a:solidFill>
            <a:prstDash val="solid"/>
          </a:ln>
        </p:spPr>
      </p:sp>
      <p:sp>
        <p:nvSpPr>
          <p:cNvPr id="63" name="bld6_1369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Heliotropin</a:t>
            </a:r>
            <a:endParaRPr lang="en-US" sz="1450" dirty="0"/>
          </a:p>
        </p:txBody>
      </p:sp>
      <p:sp>
        <p:nvSpPr>
          <p:cNvPr id="64" name="bld6_1370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called Piperonal — the powder / almond effect. Powdery, sweet almond, faintly floral. Heart-base, medium-long.</a:t>
            </a:r>
            <a:endParaRPr lang="en-US" sz="1080" dirty="0"/>
          </a:p>
        </p:txBody>
      </p:sp>
      <p:sp>
        <p:nvSpPr>
          <p:cNvPr id="65" name="bld7_1371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67" name="Shape 65"/>
          <p:cNvSpPr/>
          <p:nvPr/>
        </p:nvSpPr>
        <p:spPr>
          <a:xfrm>
            <a:off x="7272155" y="4337182"/>
            <a:ext cx="484998" cy="484998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7340054" y="4405082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7437054" y="4502081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5C3A1E"/>
            </a:solidFill>
            <a:prstDash val="solid"/>
          </a:ln>
        </p:spPr>
      </p:sp>
      <p:sp>
        <p:nvSpPr>
          <p:cNvPr id="71" name="bld7_1373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Furaneol</a:t>
            </a:r>
            <a:endParaRPr lang="en-US" sz="1450" dirty="0"/>
          </a:p>
        </p:txBody>
      </p:sp>
      <p:sp>
        <p:nvSpPr>
          <p:cNvPr id="72" name="bld7_1374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Caramelised, strawberry-like sweetness. Heart note, medium — an unusual, jammy gourmand accent.</a:t>
            </a:r>
            <a:endParaRPr lang="en-US" sz="1080" dirty="0"/>
          </a:p>
        </p:txBody>
      </p:sp>
      <p:sp>
        <p:nvSpPr>
          <p:cNvPr id="74" name="trans_fade_7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5" name="Text 7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8" grpId="0"/>
      <p:bldP spid="19" grpId="0"/>
      <p:bldP spid="20" grpId="0"/>
      <p:bldP spid="31" grpId="0"/>
      <p:bldP spid="32" grpId="0"/>
      <p:bldP spid="33" grpId="0"/>
      <p:bldP spid="39" grpId="0"/>
      <p:bldP spid="40" grpId="0"/>
      <p:bldP spid="41" grpId="0"/>
      <p:bldP spid="47" grpId="0"/>
      <p:bldP spid="48" grpId="0"/>
      <p:bldP spid="49" grpId="0"/>
      <p:bldP spid="55" grpId="0"/>
      <p:bldP spid="56" grpId="0"/>
      <p:bldP spid="57" grpId="0"/>
      <p:bldP spid="63" grpId="0"/>
      <p:bldP spid="64" grpId="0"/>
      <p:bldP spid="65" grpId="0"/>
      <p:bldP spid="71" grpId="0"/>
      <p:bldP spid="72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gourmand synthetics to learn cold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8" name="Shape 6"/>
          <p:cNvSpPr/>
          <p:nvPr/>
        </p:nvSpPr>
        <p:spPr>
          <a:xfrm rot="840000">
            <a:off x="1581981" y="1794139"/>
            <a:ext cx="364022" cy="1440921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840000">
            <a:off x="1758506" y="1968567"/>
            <a:ext cx="914" cy="1092067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93356" y="2010278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1" name="Shape 9"/>
          <p:cNvSpPr/>
          <p:nvPr/>
        </p:nvSpPr>
        <p:spPr>
          <a:xfrm>
            <a:off x="1647960" y="2198356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2" name="Shape 10"/>
          <p:cNvSpPr/>
          <p:nvPr/>
        </p:nvSpPr>
        <p:spPr>
          <a:xfrm>
            <a:off x="1702563" y="2386434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3" name="Shape 11"/>
          <p:cNvSpPr/>
          <p:nvPr/>
        </p:nvSpPr>
        <p:spPr>
          <a:xfrm>
            <a:off x="1757166" y="2574512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4" name="Shape 12"/>
          <p:cNvSpPr/>
          <p:nvPr/>
        </p:nvSpPr>
        <p:spPr>
          <a:xfrm>
            <a:off x="1811770" y="2762590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5" name="Shape 13"/>
          <p:cNvSpPr/>
          <p:nvPr/>
        </p:nvSpPr>
        <p:spPr>
          <a:xfrm>
            <a:off x="1866373" y="2950668"/>
            <a:ext cx="68254" cy="68254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16" name="Shape 14"/>
          <p:cNvSpPr/>
          <p:nvPr/>
        </p:nvSpPr>
        <p:spPr>
          <a:xfrm>
            <a:off x="791710" y="1542318"/>
            <a:ext cx="1944563" cy="1944563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17" name="bld1_1376"/>
          <p:cNvSpPr txBox="1"/>
          <p:nvPr/>
        </p:nvSpPr>
        <p:spPr>
          <a:xfrm>
            <a:off x="685800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Vanillin</a:t>
            </a:r>
            <a:endParaRPr lang="en-US" sz="1800" dirty="0"/>
          </a:p>
        </p:txBody>
      </p:sp>
      <p:sp>
        <p:nvSpPr>
          <p:cNvPr id="18" name="bld1_1377"/>
          <p:cNvSpPr txBox="1"/>
          <p:nvPr/>
        </p:nvSpPr>
        <p:spPr>
          <a:xfrm>
            <a:off x="658368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19" name="bld1_1378"/>
          <p:cNvSpPr txBox="1"/>
          <p:nvPr/>
        </p:nvSpPr>
        <p:spPr>
          <a:xfrm>
            <a:off x="658368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essence of vanilla, isolated</a:t>
            </a:r>
            <a:endParaRPr lang="en-US" sz="1100" dirty="0"/>
          </a:p>
        </p:txBody>
      </p:sp>
      <p:sp>
        <p:nvSpPr>
          <p:cNvPr id="20" name="bld1_1379"/>
          <p:cNvSpPr txBox="1"/>
          <p:nvPr/>
        </p:nvSpPr>
        <p:spPr>
          <a:xfrm>
            <a:off x="658368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21" name="bld1_1380"/>
          <p:cNvSpPr txBox="1"/>
          <p:nvPr/>
        </p:nvSpPr>
        <p:spPr>
          <a:xfrm>
            <a:off x="658368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sweet, endlessly useful</a:t>
            </a:r>
            <a:endParaRPr lang="en-US" sz="1100" dirty="0"/>
          </a:p>
        </p:txBody>
      </p:sp>
      <p:sp>
        <p:nvSpPr>
          <p:cNvPr id="22" name="bld1_1381"/>
          <p:cNvSpPr txBox="1"/>
          <p:nvPr/>
        </p:nvSpPr>
        <p:spPr>
          <a:xfrm>
            <a:off x="658368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23" name="bld1_1382"/>
          <p:cNvSpPr txBox="1"/>
          <p:nvPr/>
        </p:nvSpPr>
        <p:spPr>
          <a:xfrm>
            <a:off x="658368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very long · diffusive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25" name="Shape 23"/>
          <p:cNvSpPr/>
          <p:nvPr/>
        </p:nvSpPr>
        <p:spPr>
          <a:xfrm>
            <a:off x="3436316" y="1756220"/>
            <a:ext cx="1516759" cy="1516759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648662" y="1968567"/>
            <a:ext cx="1092067" cy="1092067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952014" y="2271919"/>
            <a:ext cx="485363" cy="485363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222414" y="1542318"/>
            <a:ext cx="1944563" cy="1944563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29" name="bld2_1384"/>
          <p:cNvSpPr txBox="1"/>
          <p:nvPr/>
        </p:nvSpPr>
        <p:spPr>
          <a:xfrm>
            <a:off x="3116504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Coumarin</a:t>
            </a:r>
            <a:endParaRPr lang="en-US" sz="1800" dirty="0"/>
          </a:p>
        </p:txBody>
      </p:sp>
      <p:sp>
        <p:nvSpPr>
          <p:cNvPr id="30" name="bld2_1385"/>
          <p:cNvSpPr txBox="1"/>
          <p:nvPr/>
        </p:nvSpPr>
        <p:spPr>
          <a:xfrm>
            <a:off x="3089072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31" name="bld2_1386"/>
          <p:cNvSpPr txBox="1"/>
          <p:nvPr/>
        </p:nvSpPr>
        <p:spPr>
          <a:xfrm>
            <a:off x="3089072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hay, tonka-like warmth</a:t>
            </a:r>
            <a:endParaRPr lang="en-US" sz="1100" dirty="0"/>
          </a:p>
        </p:txBody>
      </p:sp>
      <p:sp>
        <p:nvSpPr>
          <p:cNvPr id="32" name="bld2_1387"/>
          <p:cNvSpPr txBox="1"/>
          <p:nvPr/>
        </p:nvSpPr>
        <p:spPr>
          <a:xfrm>
            <a:off x="3089072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33" name="bld2_1388"/>
          <p:cNvSpPr txBox="1"/>
          <p:nvPr/>
        </p:nvSpPr>
        <p:spPr>
          <a:xfrm>
            <a:off x="3089072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 and sweetens</a:t>
            </a:r>
            <a:endParaRPr lang="en-US" sz="1100" dirty="0"/>
          </a:p>
        </p:txBody>
      </p:sp>
      <p:sp>
        <p:nvSpPr>
          <p:cNvPr id="34" name="bld2_1389"/>
          <p:cNvSpPr txBox="1"/>
          <p:nvPr/>
        </p:nvSpPr>
        <p:spPr>
          <a:xfrm>
            <a:off x="3089072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35" name="bld2_1390"/>
          <p:cNvSpPr txBox="1"/>
          <p:nvPr/>
        </p:nvSpPr>
        <p:spPr>
          <a:xfrm>
            <a:off x="3089072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· long · powdery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7" name="Shape 35"/>
          <p:cNvSpPr/>
          <p:nvPr/>
        </p:nvSpPr>
        <p:spPr>
          <a:xfrm>
            <a:off x="5867020" y="1756220"/>
            <a:ext cx="1516759" cy="1516759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079366" y="1968567"/>
            <a:ext cx="1092067" cy="1092067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382718" y="2271919"/>
            <a:ext cx="485363" cy="485363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653118" y="1542318"/>
            <a:ext cx="1944563" cy="1944563"/>
          </a:xfrm>
          <a:prstGeom prst="ellipse">
            <a:avLst/>
          </a:prstGeom>
          <a:ln w="25603">
            <a:solidFill>
              <a:srgbClr val="5C3A1E"/>
            </a:solidFill>
            <a:prstDash val="solid"/>
          </a:ln>
        </p:spPr>
      </p:sp>
      <p:sp>
        <p:nvSpPr>
          <p:cNvPr id="41" name="bld3_1392"/>
          <p:cNvSpPr txBox="1"/>
          <p:nvPr/>
        </p:nvSpPr>
        <p:spPr>
          <a:xfrm>
            <a:off x="5547208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Maltol</a:t>
            </a:r>
            <a:endParaRPr lang="en-US" sz="1800" dirty="0"/>
          </a:p>
        </p:txBody>
      </p:sp>
      <p:sp>
        <p:nvSpPr>
          <p:cNvPr id="42" name="bld3_1393"/>
          <p:cNvSpPr txBox="1"/>
          <p:nvPr/>
        </p:nvSpPr>
        <p:spPr>
          <a:xfrm>
            <a:off x="5519776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43" name="bld3_1394"/>
          <p:cNvSpPr txBox="1"/>
          <p:nvPr/>
        </p:nvSpPr>
        <p:spPr>
          <a:xfrm>
            <a:off x="5519776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Cotton-candy sweetness</a:t>
            </a:r>
            <a:endParaRPr lang="en-US" sz="1100" dirty="0"/>
          </a:p>
        </p:txBody>
      </p:sp>
      <p:sp>
        <p:nvSpPr>
          <p:cNvPr id="44" name="bld3_1395"/>
          <p:cNvSpPr txBox="1"/>
          <p:nvPr/>
        </p:nvSpPr>
        <p:spPr>
          <a:xfrm>
            <a:off x="5519776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45" name="bld3_1396"/>
          <p:cNvSpPr txBox="1"/>
          <p:nvPr/>
        </p:nvSpPr>
        <p:spPr>
          <a:xfrm>
            <a:off x="5519776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gourmand lift</a:t>
            </a:r>
            <a:endParaRPr lang="en-US" sz="1100" dirty="0"/>
          </a:p>
        </p:txBody>
      </p:sp>
      <p:sp>
        <p:nvSpPr>
          <p:cNvPr id="46" name="bld3_1397"/>
          <p:cNvSpPr txBox="1"/>
          <p:nvPr/>
        </p:nvSpPr>
        <p:spPr>
          <a:xfrm>
            <a:off x="5519776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47" name="bld3_1398"/>
          <p:cNvSpPr txBox="1"/>
          <p:nvPr/>
        </p:nvSpPr>
        <p:spPr>
          <a:xfrm>
            <a:off x="5519776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Top-heart · medium-long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49" name="Shape 47"/>
          <p:cNvSpPr/>
          <p:nvPr/>
        </p:nvSpPr>
        <p:spPr>
          <a:xfrm>
            <a:off x="8297724" y="1756220"/>
            <a:ext cx="1516759" cy="1516759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510070" y="1968567"/>
            <a:ext cx="1092067" cy="1092067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813422" y="2271919"/>
            <a:ext cx="485363" cy="485363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083822" y="1542318"/>
            <a:ext cx="1944563" cy="1944563"/>
          </a:xfrm>
          <a:prstGeom prst="ellipse">
            <a:avLst/>
          </a:prstGeom>
          <a:ln w="25603">
            <a:solidFill>
              <a:srgbClr val="D9A05B"/>
            </a:solidFill>
            <a:prstDash val="solid"/>
          </a:ln>
        </p:spPr>
      </p:sp>
      <p:sp>
        <p:nvSpPr>
          <p:cNvPr id="53" name="bld4_1400"/>
          <p:cNvSpPr txBox="1"/>
          <p:nvPr/>
        </p:nvSpPr>
        <p:spPr>
          <a:xfrm>
            <a:off x="7977911" y="3669762"/>
            <a:ext cx="215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Heliotropin</a:t>
            </a:r>
            <a:endParaRPr lang="en-US" sz="1800" dirty="0"/>
          </a:p>
        </p:txBody>
      </p:sp>
      <p:sp>
        <p:nvSpPr>
          <p:cNvPr id="54" name="bld4_1401"/>
          <p:cNvSpPr txBox="1"/>
          <p:nvPr/>
        </p:nvSpPr>
        <p:spPr>
          <a:xfrm>
            <a:off x="7950479" y="4108674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950" dirty="0"/>
          </a:p>
        </p:txBody>
      </p:sp>
      <p:sp>
        <p:nvSpPr>
          <p:cNvPr id="55" name="bld4_1402"/>
          <p:cNvSpPr txBox="1"/>
          <p:nvPr/>
        </p:nvSpPr>
        <p:spPr>
          <a:xfrm>
            <a:off x="7950479" y="4328130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Powdery, sweet almond</a:t>
            </a:r>
            <a:endParaRPr lang="en-US" sz="1100" dirty="0"/>
          </a:p>
        </p:txBody>
      </p:sp>
      <p:sp>
        <p:nvSpPr>
          <p:cNvPr id="56" name="bld4_1403"/>
          <p:cNvSpPr txBox="1"/>
          <p:nvPr/>
        </p:nvSpPr>
        <p:spPr>
          <a:xfrm>
            <a:off x="7950479" y="4675602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950" dirty="0"/>
          </a:p>
        </p:txBody>
      </p:sp>
      <p:sp>
        <p:nvSpPr>
          <p:cNvPr id="57" name="bld4_1404"/>
          <p:cNvSpPr txBox="1"/>
          <p:nvPr/>
        </p:nvSpPr>
        <p:spPr>
          <a:xfrm>
            <a:off x="7950479" y="4895058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soft, cosmetic-powder facet</a:t>
            </a:r>
            <a:endParaRPr lang="en-US" sz="1100" dirty="0"/>
          </a:p>
        </p:txBody>
      </p:sp>
      <p:sp>
        <p:nvSpPr>
          <p:cNvPr id="58" name="bld4_1405"/>
          <p:cNvSpPr txBox="1"/>
          <p:nvPr/>
        </p:nvSpPr>
        <p:spPr>
          <a:xfrm>
            <a:off x="7950479" y="5242530"/>
            <a:ext cx="221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50" dirty="0"/>
          </a:p>
        </p:txBody>
      </p:sp>
      <p:sp>
        <p:nvSpPr>
          <p:cNvPr id="59" name="bld4_1406"/>
          <p:cNvSpPr txBox="1"/>
          <p:nvPr/>
        </p:nvSpPr>
        <p:spPr>
          <a:xfrm>
            <a:off x="7950479" y="5461986"/>
            <a:ext cx="221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Heart-base · medium-long</a:t>
            </a:r>
            <a:endParaRPr lang="en-US" sz="1100" dirty="0"/>
          </a:p>
        </p:txBody>
      </p:sp>
      <p:sp>
        <p:nvSpPr>
          <p:cNvPr id="61" name="trans_fade_7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2" name="Text 5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41" grpId="0"/>
      <p:bldP spid="42" grpId="0"/>
      <p:bldP spid="43" grpId="0"/>
      <p:bldP spid="44" grpId="0"/>
      <p:bldP spid="45" grpId="0"/>
      <p:bldP spid="46" grpId="0"/>
      <p:bldP spid="47" grpId="0"/>
      <p:bldP spid="53" grpId="0"/>
      <p:bldP spid="54" grpId="0"/>
      <p:bldP spid="55" grpId="0"/>
      <p:bldP spid="56" grpId="0"/>
      <p:bldP spid="57" grpId="0"/>
      <p:bldP spid="58" grpId="0"/>
      <p:bldP spid="59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B3A52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B3A52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B3A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base is a formula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your formula.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SINGLE MATERIALS</a:t>
            </a:r>
            <a:endParaRPr lang="en-US" sz="1100" dirty="0"/>
          </a:p>
        </p:txBody>
      </p:sp>
      <p:sp>
        <p:nvSpPr>
          <p:cNvPr id="10" name="trans_fade_8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BASES &amp; SPECIALITIES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base actually is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B5652D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B5652D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90499" y="1826148"/>
            <a:ext cx="2514417" cy="2514417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1" name="Shape 9"/>
          <p:cNvSpPr/>
          <p:nvPr/>
        </p:nvSpPr>
        <p:spPr>
          <a:xfrm>
            <a:off x="8567085" y="2102734"/>
            <a:ext cx="1961245" cy="1961245"/>
          </a:xfrm>
          <a:prstGeom prst="ellipse">
            <a:avLst/>
          </a:prstGeom>
          <a:solidFill>
            <a:srgbClr val="C1752F">
              <a:alpha val="96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841659" y="2377308"/>
            <a:ext cx="1412097" cy="1412097"/>
          </a:xfrm>
          <a:prstGeom prst="donut">
            <a:avLst/>
          </a:prstGeom>
          <a:solidFill>
            <a:srgbClr val="E7AC55">
              <a:alpha val="4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233908" y="2769558"/>
            <a:ext cx="627599" cy="627599"/>
          </a:xfrm>
          <a:prstGeom prst="ellipse">
            <a:avLst/>
          </a:prstGeom>
          <a:solidFill>
            <a:srgbClr val="E7AC55">
              <a:alpha val="9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290499" y="1826148"/>
            <a:ext cx="2514417" cy="2514417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character and use — never confidential internal compositions.</a:t>
            </a:r>
            <a:endParaRPr lang="en-US" sz="1050" dirty="0"/>
          </a:p>
        </p:txBody>
      </p:sp>
      <p:sp>
        <p:nvSpPr>
          <p:cNvPr id="16" name="bld1_1407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bld1_1408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pre-composed mixture that acts like a raw material</a:t>
            </a:r>
            <a:endParaRPr lang="en-US" sz="1650" dirty="0"/>
          </a:p>
        </p:txBody>
      </p:sp>
      <p:sp>
        <p:nvSpPr>
          <p:cNvPr id="18" name="bld1_1409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is built in advance to deliver a floral, woody, amber, musk or other effect — and can be dropped into a formula and treated much like one complex ingredient.</a:t>
            </a:r>
            <a:endParaRPr lang="en-US" sz="1250" dirty="0"/>
          </a:p>
        </p:txBody>
      </p:sp>
      <p:sp>
        <p:nvSpPr>
          <p:cNvPr id="19" name="bld2_1410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0" name="bld2_1411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perfumers reach for one</a:t>
            </a:r>
            <a:endParaRPr lang="en-US" sz="1650" dirty="0"/>
          </a:p>
        </p:txBody>
      </p:sp>
      <p:sp>
        <p:nvSpPr>
          <p:cNvPr id="21" name="bld2_1412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Speed, consistency, complexity, structure and polish — plus reconstructing notes that are genuinely difficult to build from single materials alone.</a:t>
            </a:r>
            <a:endParaRPr lang="en-US" sz="1250" dirty="0"/>
          </a:p>
        </p:txBody>
      </p:sp>
      <p:sp>
        <p:nvSpPr>
          <p:cNvPr id="22" name="bld3_1413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3_1414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finished perfume</a:t>
            </a:r>
            <a:endParaRPr lang="en-US" sz="1650" dirty="0"/>
          </a:p>
        </p:txBody>
      </p:sp>
      <p:sp>
        <p:nvSpPr>
          <p:cNvPr id="24" name="bld3_1415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base doesn't mean the work is finished — it's a highly capable starting point, extended and modified like any other material.</a:t>
            </a:r>
            <a:endParaRPr lang="en-US" sz="1250" dirty="0"/>
          </a:p>
        </p:txBody>
      </p:sp>
      <p:sp>
        <p:nvSpPr>
          <p:cNvPr id="26" name="trans_fade_8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 BASES · A NAMED EXAMPLE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Givco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783080" y="2331720"/>
            <a:ext cx="2651760" cy="2651760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8" name="Shape 6"/>
          <p:cNvSpPr/>
          <p:nvPr/>
        </p:nvSpPr>
        <p:spPr>
          <a:xfrm>
            <a:off x="2850413" y="2615140"/>
            <a:ext cx="517093" cy="108589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3325478" y="2960294"/>
            <a:ext cx="517093" cy="108589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3144019" y="3518766"/>
            <a:ext cx="517093" cy="108589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2556808" y="3518766"/>
            <a:ext cx="517093" cy="108589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2375349" y="2960294"/>
            <a:ext cx="517093" cy="108589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860755" y="3409395"/>
            <a:ext cx="496409" cy="49640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4" name="Shape 12"/>
          <p:cNvSpPr/>
          <p:nvPr/>
        </p:nvSpPr>
        <p:spPr>
          <a:xfrm>
            <a:off x="1783080" y="2331720"/>
            <a:ext cx="2651760" cy="2651760"/>
          </a:xfrm>
          <a:prstGeom prst="ellipse">
            <a:avLst/>
          </a:prstGeom>
          <a:ln w="41148">
            <a:solidFill>
              <a:srgbClr val="C79BD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468880" y="5212080"/>
            <a:ext cx="1280160" cy="237744"/>
          </a:xfrm>
          <a:prstGeom prst="roundRect">
            <a:avLst>
              <a:gd name="adj" fmla="val 50000"/>
            </a:avLst>
          </a:prstGeom>
          <a:solidFill>
            <a:srgbClr val="8C3B49">
              <a:alpha val="12000"/>
            </a:srgbClr>
          </a:solidFill>
          <a:ln w="12700">
            <a:solidFill>
              <a:srgbClr val="8C3B4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68880" y="521208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BASE</a:t>
            </a:r>
            <a:endParaRPr lang="en-US" sz="850" dirty="0"/>
          </a:p>
        </p:txBody>
      </p:sp>
      <p:sp>
        <p:nvSpPr>
          <p:cNvPr id="17" name="bld1_1416"/>
          <p:cNvSpPr txBox="1"/>
          <p:nvPr/>
        </p:nvSpPr>
        <p:spPr>
          <a:xfrm>
            <a:off x="5394960" y="1783080"/>
            <a:ext cx="6248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000" dirty="0"/>
          </a:p>
        </p:txBody>
      </p:sp>
      <p:sp>
        <p:nvSpPr>
          <p:cNvPr id="18" name="bld1_1417"/>
          <p:cNvSpPr txBox="1"/>
          <p:nvPr/>
        </p:nvSpPr>
        <p:spPr>
          <a:xfrm>
            <a:off x="5394960" y="2002536"/>
            <a:ext cx="6248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commercial rose base / speciality — a ready-built rosy floral character, more complex than any single rose chemical used alone.</a:t>
            </a:r>
            <a:endParaRPr lang="en-US" sz="1200" dirty="0"/>
          </a:p>
        </p:txBody>
      </p:sp>
      <p:sp>
        <p:nvSpPr>
          <p:cNvPr id="19" name="bld2_1418"/>
          <p:cNvSpPr txBox="1"/>
          <p:nvPr/>
        </p:nvSpPr>
        <p:spPr>
          <a:xfrm>
            <a:off x="5394960" y="2734056"/>
            <a:ext cx="6248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FOR</a:t>
            </a:r>
            <a:endParaRPr lang="en-US" sz="1000" dirty="0"/>
          </a:p>
        </p:txBody>
      </p:sp>
      <p:sp>
        <p:nvSpPr>
          <p:cNvPr id="20" name="bld2_1419"/>
          <p:cNvSpPr txBox="1"/>
          <p:nvPr/>
        </p:nvSpPr>
        <p:spPr>
          <a:xfrm>
            <a:off x="5394960" y="2953512"/>
            <a:ext cx="6248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Constructing rose effects quickly, and as part of a larger floral structure — not a finished perfume by itself.</a:t>
            </a:r>
            <a:endParaRPr lang="en-US" sz="1200" dirty="0"/>
          </a:p>
        </p:txBody>
      </p:sp>
      <p:sp>
        <p:nvSpPr>
          <p:cNvPr id="21" name="bld3_1420"/>
          <p:cNvSpPr txBox="1"/>
          <p:nvPr/>
        </p:nvSpPr>
        <p:spPr>
          <a:xfrm>
            <a:off x="5394960" y="3685032"/>
            <a:ext cx="6248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ROLE</a:t>
            </a:r>
            <a:endParaRPr lang="en-US" sz="1000" dirty="0"/>
          </a:p>
        </p:txBody>
      </p:sp>
      <p:sp>
        <p:nvSpPr>
          <p:cNvPr id="22" name="bld3_1421"/>
          <p:cNvSpPr txBox="1"/>
          <p:nvPr/>
        </p:nvSpPr>
        <p:spPr>
          <a:xfrm>
            <a:off x="5394960" y="3904488"/>
            <a:ext cx="6248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support or replace parts of a hand-built rose accord, depending on how much of the formula's rose character it's asked to carry.</a:t>
            </a:r>
            <a:endParaRPr lang="en-US" sz="1200" dirty="0"/>
          </a:p>
        </p:txBody>
      </p:sp>
      <p:sp>
        <p:nvSpPr>
          <p:cNvPr id="23" name="bld4_1422"/>
          <p:cNvSpPr txBox="1"/>
          <p:nvPr/>
        </p:nvSpPr>
        <p:spPr>
          <a:xfrm>
            <a:off x="5394960" y="4636008"/>
            <a:ext cx="6248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REMEMBERING</a:t>
            </a:r>
            <a:endParaRPr lang="en-US" sz="1000" dirty="0"/>
          </a:p>
        </p:txBody>
      </p:sp>
      <p:sp>
        <p:nvSpPr>
          <p:cNvPr id="24" name="bld4_1423"/>
          <p:cNvSpPr txBox="1"/>
          <p:nvPr/>
        </p:nvSpPr>
        <p:spPr>
          <a:xfrm>
            <a:off x="5394960" y="4855464"/>
            <a:ext cx="6248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Rose Givco does not automatically make the final fragrance a finished rose perfume — it's a starting body, not the destination.</a:t>
            </a:r>
            <a:endParaRPr lang="en-US" sz="1200" dirty="0"/>
          </a:p>
        </p:txBody>
      </p:sp>
      <p:sp>
        <p:nvSpPr>
          <p:cNvPr id="26" name="trans_fade_8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SKILL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rose base could be modified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393192" y="2953512"/>
            <a:ext cx="1499616" cy="1499616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8" name="Shape 6"/>
          <p:cNvSpPr/>
          <p:nvPr/>
        </p:nvSpPr>
        <p:spPr>
          <a:xfrm>
            <a:off x="996787" y="3113791"/>
            <a:ext cx="292425" cy="61409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1265444" y="3308982"/>
            <a:ext cx="292425" cy="61409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1162827" y="3624807"/>
            <a:ext cx="292425" cy="61409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830748" y="3624807"/>
            <a:ext cx="292425" cy="61409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728130" y="3308982"/>
            <a:ext cx="292425" cy="61409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02636" y="3562956"/>
            <a:ext cx="280728" cy="280728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4" name="Shape 12"/>
          <p:cNvSpPr/>
          <p:nvPr/>
        </p:nvSpPr>
        <p:spPr>
          <a:xfrm>
            <a:off x="393192" y="2953512"/>
            <a:ext cx="1499616" cy="1499616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5" name="bld1_1425"/>
          <p:cNvSpPr txBox="1"/>
          <p:nvPr/>
        </p:nvSpPr>
        <p:spPr>
          <a:xfrm>
            <a:off x="3845" y="4599432"/>
            <a:ext cx="2278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Givco</a:t>
            </a:r>
            <a:endParaRPr lang="en-US" sz="1250" dirty="0"/>
          </a:p>
        </p:txBody>
      </p:sp>
      <p:sp>
        <p:nvSpPr>
          <p:cNvPr id="16" name="bld2_1426"/>
          <p:cNvSpPr txBox="1"/>
          <p:nvPr/>
        </p:nvSpPr>
        <p:spPr>
          <a:xfrm>
            <a:off x="1938528" y="3410712"/>
            <a:ext cx="885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C7A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2869616" y="2953512"/>
            <a:ext cx="1499616" cy="1499616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8" name="Shape 16"/>
          <p:cNvSpPr/>
          <p:nvPr/>
        </p:nvSpPr>
        <p:spPr>
          <a:xfrm rot="10800000">
            <a:off x="3537545" y="3118470"/>
            <a:ext cx="163758" cy="58485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4400000">
            <a:off x="3790792" y="3264682"/>
            <a:ext cx="163758" cy="58485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8000000">
            <a:off x="3790792" y="3557107"/>
            <a:ext cx="163758" cy="58485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537545" y="3703320"/>
            <a:ext cx="163758" cy="58485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3600000">
            <a:off x="3284297" y="3557107"/>
            <a:ext cx="163758" cy="58485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7200000">
            <a:off x="3284297" y="3264682"/>
            <a:ext cx="163758" cy="584850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479060" y="3562956"/>
            <a:ext cx="280728" cy="280728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5" name="Shape 23"/>
          <p:cNvSpPr/>
          <p:nvPr/>
        </p:nvSpPr>
        <p:spPr>
          <a:xfrm>
            <a:off x="2869616" y="2953512"/>
            <a:ext cx="1499616" cy="1499616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6" name="bld2_1428"/>
          <p:cNvSpPr txBox="1"/>
          <p:nvPr/>
        </p:nvSpPr>
        <p:spPr>
          <a:xfrm>
            <a:off x="2480269" y="4599432"/>
            <a:ext cx="2278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Hedione → more airy / diffusive</a:t>
            </a:r>
            <a:endParaRPr lang="en-US" sz="1250" dirty="0"/>
          </a:p>
        </p:txBody>
      </p:sp>
      <p:sp>
        <p:nvSpPr>
          <p:cNvPr id="27" name="bld3_1429"/>
          <p:cNvSpPr txBox="1"/>
          <p:nvPr/>
        </p:nvSpPr>
        <p:spPr>
          <a:xfrm>
            <a:off x="4414952" y="3410712"/>
            <a:ext cx="885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C7A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5346040" y="2953512"/>
            <a:ext cx="1499616" cy="1499616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29" name="Shape 27"/>
          <p:cNvSpPr/>
          <p:nvPr/>
        </p:nvSpPr>
        <p:spPr>
          <a:xfrm rot="15300000">
            <a:off x="5699839" y="3475743"/>
            <a:ext cx="198849" cy="614093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3050000">
            <a:off x="5809505" y="3639870"/>
            <a:ext cx="198849" cy="614093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10800000">
            <a:off x="5996423" y="3703320"/>
            <a:ext cx="198849" cy="614093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8550000">
            <a:off x="6183341" y="3639870"/>
            <a:ext cx="198849" cy="614093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6300000">
            <a:off x="6293007" y="3475743"/>
            <a:ext cx="198849" cy="614093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346040" y="2953512"/>
            <a:ext cx="1499616" cy="1499616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35" name="bld3_1431"/>
          <p:cNvSpPr txBox="1"/>
          <p:nvPr/>
        </p:nvSpPr>
        <p:spPr>
          <a:xfrm>
            <a:off x="4956693" y="4599432"/>
            <a:ext cx="2278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green materials → greener rose</a:t>
            </a:r>
            <a:endParaRPr lang="en-US" sz="1250" dirty="0"/>
          </a:p>
        </p:txBody>
      </p:sp>
      <p:sp>
        <p:nvSpPr>
          <p:cNvPr id="36" name="bld4_1432"/>
          <p:cNvSpPr txBox="1"/>
          <p:nvPr/>
        </p:nvSpPr>
        <p:spPr>
          <a:xfrm>
            <a:off x="6891376" y="3410712"/>
            <a:ext cx="885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C7A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600" dirty="0"/>
          </a:p>
        </p:txBody>
      </p:sp>
      <p:sp>
        <p:nvSpPr>
          <p:cNvPr id="37" name="Shape 35"/>
          <p:cNvSpPr/>
          <p:nvPr/>
        </p:nvSpPr>
        <p:spPr>
          <a:xfrm>
            <a:off x="7822463" y="2953512"/>
            <a:ext cx="1499616" cy="1499616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8" name="Shape 36"/>
          <p:cNvSpPr/>
          <p:nvPr/>
        </p:nvSpPr>
        <p:spPr>
          <a:xfrm rot="18900000">
            <a:off x="8209664" y="3176955"/>
            <a:ext cx="725214" cy="1052730"/>
          </a:xfrm>
          <a:prstGeom prst="teardrop">
            <a:avLst/>
          </a:prstGeom>
          <a:solidFill>
            <a:srgbClr val="8A6339">
              <a:alpha val="94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8566785" y="3352410"/>
            <a:ext cx="914" cy="643335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822463" y="2953512"/>
            <a:ext cx="1499616" cy="1499616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1" name="bld4_1434"/>
          <p:cNvSpPr txBox="1"/>
          <p:nvPr/>
        </p:nvSpPr>
        <p:spPr>
          <a:xfrm>
            <a:off x="7433116" y="4599432"/>
            <a:ext cx="2278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patchouli → darker rose</a:t>
            </a:r>
            <a:endParaRPr lang="en-US" sz="1250" dirty="0"/>
          </a:p>
        </p:txBody>
      </p:sp>
      <p:sp>
        <p:nvSpPr>
          <p:cNvPr id="42" name="bld5_1435"/>
          <p:cNvSpPr txBox="1"/>
          <p:nvPr/>
        </p:nvSpPr>
        <p:spPr>
          <a:xfrm>
            <a:off x="9367799" y="3410712"/>
            <a:ext cx="885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C7A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600" dirty="0"/>
          </a:p>
        </p:txBody>
      </p:sp>
      <p:sp>
        <p:nvSpPr>
          <p:cNvPr id="43" name="Shape 41"/>
          <p:cNvSpPr/>
          <p:nvPr/>
        </p:nvSpPr>
        <p:spPr>
          <a:xfrm>
            <a:off x="10298887" y="2953512"/>
            <a:ext cx="1499616" cy="1499616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44" name="Shape 42"/>
          <p:cNvSpPr/>
          <p:nvPr/>
        </p:nvSpPr>
        <p:spPr>
          <a:xfrm>
            <a:off x="10510633" y="3340713"/>
            <a:ext cx="1076124" cy="725214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298887" y="2953512"/>
            <a:ext cx="1499616" cy="1499616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46" name="bld5_1437"/>
          <p:cNvSpPr txBox="1"/>
          <p:nvPr/>
        </p:nvSpPr>
        <p:spPr>
          <a:xfrm>
            <a:off x="9909540" y="4599432"/>
            <a:ext cx="2278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musks → cleaner, modern rose</a:t>
            </a:r>
            <a:endParaRPr lang="en-US" sz="1250" dirty="0"/>
          </a:p>
        </p:txBody>
      </p:sp>
      <p:sp>
        <p:nvSpPr>
          <p:cNvPr id="48" name="trans_push_l_8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9" name="Text 4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1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26" grpId="0"/>
      <p:bldP spid="27" grpId="0"/>
      <p:bldP spid="35" grpId="0"/>
      <p:bldP spid="36" grpId="0"/>
      <p:bldP spid="41" grpId="0"/>
      <p:bldP spid="42" grpId="0"/>
      <p:bldP spid="46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ROSE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base types worth knowing</a:t>
            </a:r>
            <a:endParaRPr lang="en-US" sz="3200" dirty="0"/>
          </a:p>
        </p:txBody>
      </p:sp>
      <p:sp>
        <p:nvSpPr>
          <p:cNvPr id="7" name="bld1_1438"/>
          <p:cNvSpPr/>
          <p:nvPr/>
        </p:nvSpPr>
        <p:spPr>
          <a:xfrm>
            <a:off x="548640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9" name="Shape 7"/>
          <p:cNvSpPr/>
          <p:nvPr/>
        </p:nvSpPr>
        <p:spPr>
          <a:xfrm rot="10800000">
            <a:off x="1521719" y="1978030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4400000">
            <a:off x="1626724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8000000">
            <a:off x="1626724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521719" y="2220529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3600000">
            <a:off x="1416714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7200000">
            <a:off x="1416714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497469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6" name="Shape 14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7" name="bld1_1440"/>
          <p:cNvSpPr txBox="1"/>
          <p:nvPr/>
        </p:nvSpPr>
        <p:spPr>
          <a:xfrm>
            <a:off x="731520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 bases</a:t>
            </a:r>
            <a:endParaRPr lang="en-US" sz="1450" dirty="0"/>
          </a:p>
        </p:txBody>
      </p:sp>
      <p:sp>
        <p:nvSpPr>
          <p:cNvPr id="18" name="bld1_1441"/>
          <p:cNvSpPr txBox="1"/>
          <p:nvPr/>
        </p:nvSpPr>
        <p:spPr>
          <a:xfrm>
            <a:off x="731520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Rich, indolic, heady florals — major houses each keep proprietary jasmine specialities.</a:t>
            </a:r>
            <a:endParaRPr lang="en-US" sz="1080" dirty="0"/>
          </a:p>
        </p:txBody>
      </p:sp>
      <p:sp>
        <p:nvSpPr>
          <p:cNvPr id="19" name="bld2_1442"/>
          <p:cNvSpPr/>
          <p:nvPr/>
        </p:nvSpPr>
        <p:spPr>
          <a:xfrm>
            <a:off x="281872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1" name="Shape 19"/>
          <p:cNvSpPr/>
          <p:nvPr/>
        </p:nvSpPr>
        <p:spPr>
          <a:xfrm>
            <a:off x="3789383" y="205989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2700000">
            <a:off x="3841237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5400000">
            <a:off x="3862715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8100000">
            <a:off x="3841237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10800000">
            <a:off x="3789383" y="220656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13500000">
            <a:off x="3737530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16200000">
            <a:off x="3716052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18900000">
            <a:off x="3737530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786958" y="2181729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0" name="Shape 28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31" name="bld2_1444"/>
          <p:cNvSpPr txBox="1"/>
          <p:nvPr/>
        </p:nvSpPr>
        <p:spPr>
          <a:xfrm>
            <a:off x="300160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Muguet bases</a:t>
            </a:r>
            <a:endParaRPr lang="en-US" sz="1450" dirty="0"/>
          </a:p>
        </p:txBody>
      </p:sp>
      <p:sp>
        <p:nvSpPr>
          <p:cNvPr id="32" name="bld2_1445"/>
          <p:cNvSpPr txBox="1"/>
          <p:nvPr/>
        </p:nvSpPr>
        <p:spPr>
          <a:xfrm>
            <a:off x="300160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Lily-of-the-valley — always synthetic, since muguet yields no usable natural extract.</a:t>
            </a:r>
            <a:endParaRPr lang="en-US" sz="1080" dirty="0"/>
          </a:p>
        </p:txBody>
      </p:sp>
      <p:sp>
        <p:nvSpPr>
          <p:cNvPr id="33" name="bld3_1446"/>
          <p:cNvSpPr/>
          <p:nvPr/>
        </p:nvSpPr>
        <p:spPr>
          <a:xfrm>
            <a:off x="508881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5" name="Shape 33"/>
          <p:cNvSpPr/>
          <p:nvPr/>
        </p:nvSpPr>
        <p:spPr>
          <a:xfrm>
            <a:off x="6042498" y="1992580"/>
            <a:ext cx="106700" cy="106700"/>
          </a:xfrm>
          <a:prstGeom prst="ellipse">
            <a:avLst/>
          </a:prstGeom>
          <a:solidFill>
            <a:srgbClr val="C79BD9">
              <a:alpha val="96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flipV="1">
            <a:off x="5912783" y="2045930"/>
            <a:ext cx="183065" cy="271405"/>
          </a:xfrm>
          <a:prstGeom prst="line">
            <a:avLst/>
          </a:prstGeom>
          <a:noFill/>
          <a:ln w="22225">
            <a:solidFill>
              <a:srgbClr val="C79BD9">
                <a:alpha val="9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5958474" y="2045930"/>
            <a:ext cx="137374" cy="328940"/>
          </a:xfrm>
          <a:prstGeom prst="line">
            <a:avLst/>
          </a:prstGeom>
          <a:noFill/>
          <a:ln w="22225">
            <a:solidFill>
              <a:srgbClr val="C79BD9">
                <a:alpha val="90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6031513" y="2045930"/>
            <a:ext cx="64334" cy="320990"/>
          </a:xfrm>
          <a:prstGeom prst="line">
            <a:avLst/>
          </a:prstGeom>
          <a:noFill/>
          <a:ln w="22225">
            <a:solidFill>
              <a:srgbClr val="C79BD9">
                <a:alpha val="90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95848" y="2045930"/>
            <a:ext cx="9144" cy="356473"/>
          </a:xfrm>
          <a:prstGeom prst="line">
            <a:avLst/>
          </a:prstGeom>
          <a:noFill/>
          <a:ln w="22225">
            <a:solidFill>
              <a:srgbClr val="C79BD9">
                <a:alpha val="90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095848" y="2045930"/>
            <a:ext cx="64334" cy="320990"/>
          </a:xfrm>
          <a:prstGeom prst="line">
            <a:avLst/>
          </a:prstGeom>
          <a:noFill/>
          <a:ln w="22225">
            <a:solidFill>
              <a:srgbClr val="C79BD9">
                <a:alpha val="90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095848" y="2045930"/>
            <a:ext cx="137374" cy="328940"/>
          </a:xfrm>
          <a:prstGeom prst="line">
            <a:avLst/>
          </a:prstGeom>
          <a:noFill/>
          <a:ln w="22225">
            <a:solidFill>
              <a:srgbClr val="C79BD9">
                <a:alpha val="90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95848" y="2045930"/>
            <a:ext cx="183065" cy="271405"/>
          </a:xfrm>
          <a:prstGeom prst="line">
            <a:avLst/>
          </a:prstGeom>
          <a:noFill/>
          <a:ln w="22225">
            <a:solidFill>
              <a:srgbClr val="C79BD9">
                <a:alpha val="90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44" name="bld3_1448"/>
          <p:cNvSpPr txBox="1"/>
          <p:nvPr/>
        </p:nvSpPr>
        <p:spPr>
          <a:xfrm>
            <a:off x="527169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Orris / violet bases</a:t>
            </a:r>
            <a:endParaRPr lang="en-US" sz="1450" dirty="0"/>
          </a:p>
        </p:txBody>
      </p:sp>
      <p:sp>
        <p:nvSpPr>
          <p:cNvPr id="45" name="bld3_1449"/>
          <p:cNvSpPr txBox="1"/>
          <p:nvPr/>
        </p:nvSpPr>
        <p:spPr>
          <a:xfrm>
            <a:off x="527169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Powdery, cool, carroty-woody — built around one of perfumery's costliest naturals.</a:t>
            </a:r>
            <a:endParaRPr lang="en-US" sz="1080" dirty="0"/>
          </a:p>
        </p:txBody>
      </p:sp>
      <p:sp>
        <p:nvSpPr>
          <p:cNvPr id="46" name="bld4_1450"/>
          <p:cNvSpPr/>
          <p:nvPr/>
        </p:nvSpPr>
        <p:spPr>
          <a:xfrm>
            <a:off x="735890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8" name="Shape 46"/>
          <p:cNvSpPr/>
          <p:nvPr/>
        </p:nvSpPr>
        <p:spPr>
          <a:xfrm>
            <a:off x="8123438" y="1978030"/>
            <a:ext cx="484998" cy="484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9" name="Shape 47"/>
          <p:cNvSpPr/>
          <p:nvPr/>
        </p:nvSpPr>
        <p:spPr>
          <a:xfrm>
            <a:off x="8244688" y="2099280"/>
            <a:ext cx="242499" cy="2424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336837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51" name="Shape 49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2" name="bld4_1452"/>
          <p:cNvSpPr txBox="1"/>
          <p:nvPr/>
        </p:nvSpPr>
        <p:spPr>
          <a:xfrm>
            <a:off x="754178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Sandalwood bases</a:t>
            </a:r>
            <a:endParaRPr lang="en-US" sz="1450" dirty="0"/>
          </a:p>
        </p:txBody>
      </p:sp>
      <p:sp>
        <p:nvSpPr>
          <p:cNvPr id="53" name="bld4_1453"/>
          <p:cNvSpPr txBox="1"/>
          <p:nvPr/>
        </p:nvSpPr>
        <p:spPr>
          <a:xfrm>
            <a:off x="754178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Creamy, milky wood, blended from naturals and woody synthetics.</a:t>
            </a:r>
            <a:endParaRPr lang="en-US" sz="1080" dirty="0"/>
          </a:p>
        </p:txBody>
      </p:sp>
      <p:sp>
        <p:nvSpPr>
          <p:cNvPr id="54" name="bld5_1454"/>
          <p:cNvSpPr/>
          <p:nvPr/>
        </p:nvSpPr>
        <p:spPr>
          <a:xfrm>
            <a:off x="962899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56" name="Shape 54"/>
          <p:cNvSpPr/>
          <p:nvPr/>
        </p:nvSpPr>
        <p:spPr>
          <a:xfrm rot="9000000">
            <a:off x="10514777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6000000">
            <a:off x="10451727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11400000">
            <a:off x="10650576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60" name="bld5_1456"/>
          <p:cNvSpPr txBox="1"/>
          <p:nvPr/>
        </p:nvSpPr>
        <p:spPr>
          <a:xfrm>
            <a:off x="981187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 bases</a:t>
            </a:r>
            <a:endParaRPr lang="en-US" sz="1450" dirty="0"/>
          </a:p>
        </p:txBody>
      </p:sp>
      <p:sp>
        <p:nvSpPr>
          <p:cNvPr id="61" name="bld5_1457"/>
          <p:cNvSpPr txBox="1"/>
          <p:nvPr/>
        </p:nvSpPr>
        <p:spPr>
          <a:xfrm>
            <a:off x="981187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labdanum-led warmth, or a modern woody-amber build.</a:t>
            </a:r>
            <a:endParaRPr lang="en-US" sz="1080" dirty="0"/>
          </a:p>
        </p:txBody>
      </p:sp>
      <p:sp>
        <p:nvSpPr>
          <p:cNvPr id="62" name="bld6_1458"/>
          <p:cNvSpPr/>
          <p:nvPr/>
        </p:nvSpPr>
        <p:spPr>
          <a:xfrm>
            <a:off x="548640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64" name="Shape 62"/>
          <p:cNvSpPr/>
          <p:nvPr/>
        </p:nvSpPr>
        <p:spPr>
          <a:xfrm>
            <a:off x="1332570" y="4429332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66" name="bld6_1460"/>
          <p:cNvSpPr txBox="1"/>
          <p:nvPr/>
        </p:nvSpPr>
        <p:spPr>
          <a:xfrm>
            <a:off x="731520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 bases</a:t>
            </a:r>
            <a:endParaRPr lang="en-US" sz="1450" dirty="0"/>
          </a:p>
        </p:txBody>
      </p:sp>
      <p:sp>
        <p:nvSpPr>
          <p:cNvPr id="67" name="bld6_1461"/>
          <p:cNvSpPr txBox="1"/>
          <p:nvPr/>
        </p:nvSpPr>
        <p:spPr>
          <a:xfrm>
            <a:off x="731520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skin-layer of a formula — clean, soft or animalic depending on the blend.</a:t>
            </a:r>
            <a:endParaRPr lang="en-US" sz="1080" dirty="0"/>
          </a:p>
        </p:txBody>
      </p:sp>
      <p:sp>
        <p:nvSpPr>
          <p:cNvPr id="68" name="bld7_1462"/>
          <p:cNvSpPr/>
          <p:nvPr/>
        </p:nvSpPr>
        <p:spPr>
          <a:xfrm>
            <a:off x="281872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70" name="Shape 68"/>
          <p:cNvSpPr/>
          <p:nvPr/>
        </p:nvSpPr>
        <p:spPr>
          <a:xfrm>
            <a:off x="3583259" y="4337182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3645149" y="4458432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3620126" y="453926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3620126" y="4620097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3645149" y="470093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76" name="bld7_1464"/>
          <p:cNvSpPr txBox="1"/>
          <p:nvPr/>
        </p:nvSpPr>
        <p:spPr>
          <a:xfrm>
            <a:off x="300160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Leather bases</a:t>
            </a:r>
            <a:endParaRPr lang="en-US" sz="1450" dirty="0"/>
          </a:p>
        </p:txBody>
      </p:sp>
      <p:sp>
        <p:nvSpPr>
          <p:cNvPr id="77" name="bld7_1465"/>
          <p:cNvSpPr txBox="1"/>
          <p:nvPr/>
        </p:nvSpPr>
        <p:spPr>
          <a:xfrm>
            <a:off x="300160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Suede, clean, or smoky leather texture — built for effect, not literal realism.</a:t>
            </a:r>
            <a:endParaRPr lang="en-US" sz="1080" dirty="0"/>
          </a:p>
        </p:txBody>
      </p:sp>
      <p:sp>
        <p:nvSpPr>
          <p:cNvPr id="78" name="bld8_1466"/>
          <p:cNvSpPr/>
          <p:nvPr/>
        </p:nvSpPr>
        <p:spPr>
          <a:xfrm>
            <a:off x="508881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9" name="Shape 77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80" name="Shape 78"/>
          <p:cNvSpPr/>
          <p:nvPr/>
        </p:nvSpPr>
        <p:spPr>
          <a:xfrm>
            <a:off x="5896999" y="4400232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>
            <a:off x="6090361" y="4390532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rot="12000000">
            <a:off x="6114136" y="4371132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84" name="bld8_1468"/>
          <p:cNvSpPr txBox="1"/>
          <p:nvPr/>
        </p:nvSpPr>
        <p:spPr>
          <a:xfrm>
            <a:off x="527169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 bases</a:t>
            </a:r>
            <a:endParaRPr lang="en-US" sz="1450" dirty="0"/>
          </a:p>
        </p:txBody>
      </p:sp>
      <p:sp>
        <p:nvSpPr>
          <p:cNvPr id="85" name="bld8_1469"/>
          <p:cNvSpPr txBox="1"/>
          <p:nvPr/>
        </p:nvSpPr>
        <p:spPr>
          <a:xfrm>
            <a:off x="527169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Convincing tropical or stone-fruit character, built from stacked fruity esters and lactones.</a:t>
            </a:r>
            <a:endParaRPr lang="en-US" sz="1080" dirty="0"/>
          </a:p>
        </p:txBody>
      </p:sp>
      <p:sp>
        <p:nvSpPr>
          <p:cNvPr id="86" name="bld9_1470"/>
          <p:cNvSpPr/>
          <p:nvPr/>
        </p:nvSpPr>
        <p:spPr>
          <a:xfrm>
            <a:off x="735890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7" name="Shape 85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88" name="Shape 86"/>
          <p:cNvSpPr/>
          <p:nvPr/>
        </p:nvSpPr>
        <p:spPr>
          <a:xfrm>
            <a:off x="8123438" y="4337182"/>
            <a:ext cx="484998" cy="484998"/>
          </a:xfrm>
          <a:prstGeom prst="ellipse">
            <a:avLst/>
          </a:prstGeom>
          <a:solidFill>
            <a:srgbClr val="C1752F">
              <a:alpha val="96000"/>
            </a:srgbClr>
          </a:solidFill>
          <a:ln/>
        </p:spPr>
      </p:sp>
      <p:sp>
        <p:nvSpPr>
          <p:cNvPr id="89" name="Shape 87"/>
          <p:cNvSpPr/>
          <p:nvPr/>
        </p:nvSpPr>
        <p:spPr>
          <a:xfrm>
            <a:off x="8191338" y="4405082"/>
            <a:ext cx="349198" cy="349198"/>
          </a:xfrm>
          <a:prstGeom prst="donut">
            <a:avLst/>
          </a:prstGeom>
          <a:solidFill>
            <a:srgbClr val="E7AC55">
              <a:alpha val="45000"/>
            </a:srgbClr>
          </a:solidFill>
          <a:ln/>
        </p:spPr>
      </p:sp>
      <p:sp>
        <p:nvSpPr>
          <p:cNvPr id="90" name="Shape 88"/>
          <p:cNvSpPr/>
          <p:nvPr/>
        </p:nvSpPr>
        <p:spPr>
          <a:xfrm>
            <a:off x="8288337" y="4502081"/>
            <a:ext cx="155199" cy="155199"/>
          </a:xfrm>
          <a:prstGeom prst="ellipse">
            <a:avLst/>
          </a:prstGeom>
          <a:solidFill>
            <a:srgbClr val="E7AC55">
              <a:alpha val="90000"/>
            </a:srgbClr>
          </a:solidFill>
          <a:ln/>
        </p:spPr>
      </p:sp>
      <p:sp>
        <p:nvSpPr>
          <p:cNvPr id="91" name="Shape 89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92" name="bld9_1472"/>
          <p:cNvSpPr txBox="1"/>
          <p:nvPr/>
        </p:nvSpPr>
        <p:spPr>
          <a:xfrm>
            <a:off x="7541788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Proprietary</a:t>
            </a:r>
            <a:endParaRPr lang="en-US" sz="1450" dirty="0"/>
          </a:p>
        </p:txBody>
      </p:sp>
      <p:sp>
        <p:nvSpPr>
          <p:cNvPr id="93" name="bld9_1473"/>
          <p:cNvSpPr txBox="1"/>
          <p:nvPr/>
        </p:nvSpPr>
        <p:spPr>
          <a:xfrm>
            <a:off x="7541788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Givaudan, Firmenich, IFF, Symrise and Robertet each maintain their own bases across these categories.</a:t>
            </a:r>
            <a:endParaRPr lang="en-US" sz="1080" dirty="0"/>
          </a:p>
        </p:txBody>
      </p:sp>
      <p:sp>
        <p:nvSpPr>
          <p:cNvPr id="95" name="trans_fade_8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96" name="Text 9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7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7" grpId="0"/>
      <p:bldP spid="18" grpId="0"/>
      <p:bldP spid="19" grpId="0"/>
      <p:bldP spid="31" grpId="0"/>
      <p:bldP spid="32" grpId="0"/>
      <p:bldP spid="33" grpId="0"/>
      <p:bldP spid="44" grpId="0"/>
      <p:bldP spid="45" grpId="0"/>
      <p:bldP spid="46" grpId="0"/>
      <p:bldP spid="52" grpId="0"/>
      <p:bldP spid="53" grpId="0"/>
      <p:bldP spid="54" grpId="0"/>
      <p:bldP spid="60" grpId="0"/>
      <p:bldP spid="61" grpId="0"/>
      <p:bldP spid="62" grpId="0"/>
      <p:bldP spid="66" grpId="0"/>
      <p:bldP spid="67" grpId="0"/>
      <p:bldP spid="68" grpId="0"/>
      <p:bldP spid="76" grpId="0"/>
      <p:bldP spid="77" grpId="0"/>
      <p:bldP spid="78" grpId="0"/>
      <p:bldP spid="84" grpId="0"/>
      <p:bldP spid="85" grpId="0"/>
      <p:bldP spid="86" grpId="0"/>
      <p:bldP spid="92" grpId="0"/>
      <p:bldP spid="93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17150F"/>
          </a:solidFill>
          <a:ln/>
        </p:spPr>
      </p:sp>
      <p:sp>
        <p:nvSpPr>
          <p:cNvPr id="3" name="Shape 1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4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FOR THE FUN PART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Superpower materials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3655076" y="1536869"/>
            <a:ext cx="4881543" cy="4881543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9401" y="1507579"/>
            <a:ext cx="292893" cy="292893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0" name="Shape 8"/>
          <p:cNvSpPr/>
          <p:nvPr/>
        </p:nvSpPr>
        <p:spPr>
          <a:xfrm>
            <a:off x="2545635" y="427427"/>
            <a:ext cx="7100426" cy="7100426"/>
          </a:xfrm>
          <a:prstGeom prst="ellipse">
            <a:avLst/>
          </a:prstGeom>
          <a:ln w="16459">
            <a:solidFill>
              <a:srgbClr val="B5652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66321" y="1448113"/>
            <a:ext cx="5059053" cy="5059053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flipV="1">
            <a:off x="6095848" y="3445108"/>
            <a:ext cx="1198197" cy="53253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94044" y="3445108"/>
            <a:ext cx="1198197" cy="66566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7294044" y="4110773"/>
            <a:ext cx="1198197" cy="106506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97050" y="5175837"/>
            <a:ext cx="1996995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5297050" y="3977640"/>
            <a:ext cx="798798" cy="11981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31385" y="3311975"/>
            <a:ext cx="1464463" cy="66566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82835" y="3764627"/>
            <a:ext cx="426026" cy="4260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40942" y="3292005"/>
            <a:ext cx="306206" cy="30620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339138" y="3957670"/>
            <a:ext cx="306206" cy="30620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40942" y="5022734"/>
            <a:ext cx="306206" cy="30620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43947" y="5022734"/>
            <a:ext cx="306206" cy="30620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78282" y="3158872"/>
            <a:ext cx="306206" cy="30620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handful of materials that can transform a formula at less than 1% of the concentrate.</a:t>
            </a:r>
            <a:endParaRPr lang="en-US" sz="1200" dirty="0"/>
          </a:p>
        </p:txBody>
      </p:sp>
      <p:sp>
        <p:nvSpPr>
          <p:cNvPr id="26" name="trans_fade_8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4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TRANSFORMERS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doses, massive effect</a:t>
            </a:r>
            <a:endParaRPr lang="en-US" sz="3200" dirty="0"/>
          </a:p>
        </p:txBody>
      </p:sp>
      <p:sp>
        <p:nvSpPr>
          <p:cNvPr id="7" name="bld1_1474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9" name="Shape 7"/>
          <p:cNvSpPr/>
          <p:nvPr/>
        </p:nvSpPr>
        <p:spPr>
          <a:xfrm rot="10800000">
            <a:off x="2278415" y="1978030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4400000">
            <a:off x="2383420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8000000">
            <a:off x="2383420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278415" y="2220529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3600000">
            <a:off x="2173410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7200000">
            <a:off x="2173410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254165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6" name="Shape 14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17" name="bld1_1476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</a:t>
            </a:r>
            <a:endParaRPr lang="en-US" sz="1450" dirty="0"/>
          </a:p>
        </p:txBody>
      </p:sp>
      <p:sp>
        <p:nvSpPr>
          <p:cNvPr id="18" name="bld1_1477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space and diffusion — makes an entire formula feel airier.</a:t>
            </a:r>
            <a:endParaRPr lang="en-US" sz="1080" dirty="0"/>
          </a:p>
        </p:txBody>
      </p:sp>
      <p:sp>
        <p:nvSpPr>
          <p:cNvPr id="19" name="bld2_1478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53349" y="1978030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5901848" y="2026530"/>
            <a:ext cx="387998" cy="38799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3" name="Shape 21"/>
          <p:cNvSpPr/>
          <p:nvPr/>
        </p:nvSpPr>
        <p:spPr>
          <a:xfrm>
            <a:off x="5950348" y="2075030"/>
            <a:ext cx="290999" cy="290999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998848" y="2123529"/>
            <a:ext cx="193999" cy="193999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5" name="Shape 23"/>
          <p:cNvSpPr/>
          <p:nvPr/>
        </p:nvSpPr>
        <p:spPr>
          <a:xfrm>
            <a:off x="6047348" y="2172029"/>
            <a:ext cx="97000" cy="97000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6066748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27" name="Shape 25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BE9A66"/>
            </a:solidFill>
            <a:prstDash val="solid"/>
          </a:ln>
        </p:spPr>
      </p:sp>
      <p:sp>
        <p:nvSpPr>
          <p:cNvPr id="28" name="bld2_1480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E Super</a:t>
            </a:r>
            <a:endParaRPr lang="en-US" sz="1450" dirty="0"/>
          </a:p>
        </p:txBody>
      </p:sp>
      <p:sp>
        <p:nvSpPr>
          <p:cNvPr id="29" name="bld2_1481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volume and a transparent woody glow around everything else.</a:t>
            </a:r>
            <a:endParaRPr lang="en-US" sz="1080" dirty="0"/>
          </a:p>
        </p:txBody>
      </p:sp>
      <p:sp>
        <p:nvSpPr>
          <p:cNvPr id="30" name="bld3_1482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2" name="Shape 30"/>
          <p:cNvSpPr/>
          <p:nvPr/>
        </p:nvSpPr>
        <p:spPr>
          <a:xfrm rot="9000000">
            <a:off x="9758081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6000000">
            <a:off x="9695031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1400000">
            <a:off x="9893880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E7AC55"/>
            </a:solidFill>
            <a:prstDash val="solid"/>
          </a:ln>
        </p:spPr>
      </p:sp>
      <p:sp>
        <p:nvSpPr>
          <p:cNvPr id="36" name="bld3_1484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Ambrox materials</a:t>
            </a:r>
            <a:endParaRPr lang="en-US" sz="1450" dirty="0"/>
          </a:p>
        </p:txBody>
      </p:sp>
      <p:sp>
        <p:nvSpPr>
          <p:cNvPr id="37" name="bld3_1485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Radiance and persistence — extends how far and how long a formula reads.</a:t>
            </a:r>
            <a:endParaRPr lang="en-US" sz="1080" dirty="0"/>
          </a:p>
        </p:txBody>
      </p:sp>
      <p:sp>
        <p:nvSpPr>
          <p:cNvPr id="38" name="bld4_1486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40" name="Shape 38"/>
          <p:cNvSpPr/>
          <p:nvPr/>
        </p:nvSpPr>
        <p:spPr>
          <a:xfrm>
            <a:off x="2089266" y="4429332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E8E2DC"/>
            </a:solidFill>
            <a:prstDash val="solid"/>
          </a:ln>
        </p:spPr>
      </p:sp>
      <p:sp>
        <p:nvSpPr>
          <p:cNvPr id="42" name="bld4_1488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Musks</a:t>
            </a:r>
            <a:endParaRPr lang="en-US" sz="1450" dirty="0"/>
          </a:p>
        </p:txBody>
      </p:sp>
      <p:sp>
        <p:nvSpPr>
          <p:cNvPr id="43" name="bld4_1489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Body, texture and fixation — the skin-like glue that holds a formula together.</a:t>
            </a:r>
            <a:endParaRPr lang="en-US" sz="1080" dirty="0"/>
          </a:p>
        </p:txBody>
      </p:sp>
      <p:sp>
        <p:nvSpPr>
          <p:cNvPr id="44" name="bld5_1490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6" name="Shape 44"/>
          <p:cNvSpPr/>
          <p:nvPr/>
        </p:nvSpPr>
        <p:spPr>
          <a:xfrm>
            <a:off x="5853349" y="4337182"/>
            <a:ext cx="484998" cy="484998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887299" y="4371132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8" name="Shape 46"/>
          <p:cNvSpPr/>
          <p:nvPr/>
        </p:nvSpPr>
        <p:spPr>
          <a:xfrm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216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432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648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864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080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296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512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1728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19440000">
            <a:off x="6083723" y="4385682"/>
            <a:ext cx="24250" cy="189149"/>
          </a:xfrm>
          <a:prstGeom prst="ellipse">
            <a:avLst/>
          </a:prstGeom>
          <a:solidFill>
            <a:srgbClr val="5C8A45">
              <a:alpha val="82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6071598" y="4555431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9" name="Shape 57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F2C348"/>
            </a:solidFill>
            <a:prstDash val="solid"/>
          </a:ln>
        </p:spPr>
      </p:sp>
      <p:sp>
        <p:nvSpPr>
          <p:cNvPr id="60" name="bld5_1492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Dihydromyrcenol</a:t>
            </a:r>
            <a:endParaRPr lang="en-US" sz="1450" dirty="0"/>
          </a:p>
        </p:txBody>
      </p:sp>
      <p:sp>
        <p:nvSpPr>
          <p:cNvPr id="61" name="bld5_1493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explosive, fresh lift — instantly brightens an opening.</a:t>
            </a:r>
            <a:endParaRPr lang="en-US" sz="1080" dirty="0"/>
          </a:p>
        </p:txBody>
      </p:sp>
      <p:sp>
        <p:nvSpPr>
          <p:cNvPr id="62" name="bld6_1494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64" name="Shape 62"/>
          <p:cNvSpPr/>
          <p:nvPr/>
        </p:nvSpPr>
        <p:spPr>
          <a:xfrm>
            <a:off x="9636831" y="4337182"/>
            <a:ext cx="484998" cy="484998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704731" y="4405082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801730" y="4502081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D9A05B"/>
            </a:solidFill>
            <a:prstDash val="solid"/>
          </a:ln>
        </p:spPr>
      </p:sp>
      <p:sp>
        <p:nvSpPr>
          <p:cNvPr id="68" name="bld6_1496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Maltol</a:t>
            </a:r>
            <a:endParaRPr lang="en-US" sz="1450" dirty="0"/>
          </a:p>
        </p:txBody>
      </p:sp>
      <p:sp>
        <p:nvSpPr>
          <p:cNvPr id="69" name="bld6_1497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Sweetness and gourmand impact — can flip a formula's whole character.</a:t>
            </a:r>
            <a:endParaRPr lang="en-US" sz="1080" dirty="0"/>
          </a:p>
        </p:txBody>
      </p:sp>
      <p:sp>
        <p:nvSpPr>
          <p:cNvPr id="71" name="trans_fade_8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2" name="Text 6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7" grpId="0"/>
      <p:bldP spid="18" grpId="0"/>
      <p:bldP spid="19" grpId="0"/>
      <p:bldP spid="28" grpId="0"/>
      <p:bldP spid="29" grpId="0"/>
      <p:bldP spid="30" grpId="0"/>
      <p:bldP spid="36" grpId="0"/>
      <p:bldP spid="37" grpId="0"/>
      <p:bldP spid="38" grpId="0"/>
      <p:bldP spid="42" grpId="0"/>
      <p:bldP spid="43" grpId="0"/>
      <p:bldP spid="44" grpId="0"/>
      <p:bldP spid="60" grpId="0"/>
      <p:bldP spid="61" grpId="0"/>
      <p:bldP spid="62" grpId="0"/>
      <p:bldP spid="68" grpId="0"/>
      <p:bldP spid="69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8C3B49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8C3B49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8C3B4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fraction of a percent can change everything.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 are precision instruments,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shortcuts.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03.2</a:t>
            </a:r>
            <a:endParaRPr lang="en-US" sz="1100" dirty="0"/>
          </a:p>
        </p:txBody>
      </p:sp>
      <p:sp>
        <p:nvSpPr>
          <p:cNvPr id="10" name="trans_fade_8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48726" y="2010766"/>
            <a:ext cx="2836469" cy="2836469"/>
          </a:xfrm>
          <a:prstGeom prst="ellipse">
            <a:avLst/>
          </a:prstGeom>
          <a:solidFill>
            <a:srgbClr val="6E7A50">
              <a:alpha val="9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8747278" y="2209318"/>
            <a:ext cx="2439363" cy="243936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7" name="Shape 5"/>
          <p:cNvSpPr/>
          <p:nvPr/>
        </p:nvSpPr>
        <p:spPr>
          <a:xfrm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 rot="216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648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864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080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296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512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728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9440000">
            <a:off x="9896048" y="2294412"/>
            <a:ext cx="141823" cy="1106223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9825137" y="3287177"/>
            <a:ext cx="283647" cy="283647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03 · WHAT TO ORDER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 + KRISTAN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Your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Palette</a:t>
            </a:r>
            <a:endParaRPr lang="en-US" sz="46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actually order first? A practical, no-nonsense shopping module.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30 materials, then the next 30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Shopping by family, not by impulse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starter-perfumer checklist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 + KRISTAN</a:t>
            </a:r>
            <a:endParaRPr lang="en-US" sz="1250" dirty="0"/>
          </a:p>
        </p:txBody>
      </p:sp>
      <p:sp>
        <p:nvSpPr>
          <p:cNvPr id="31" name="trans_fade_8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6E7A5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6E7A50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6E7A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not buy three hundred materials.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 balanced palette, not a chemical hoard.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THIS BEFORE YOU SHOP</a:t>
            </a:r>
            <a:endParaRPr lang="en-US" sz="1100" dirty="0"/>
          </a:p>
        </p:txBody>
      </p:sp>
      <p:sp>
        <p:nvSpPr>
          <p:cNvPr id="10" name="trans_fade_8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30 — your absolute fundamentals</a:t>
            </a:r>
            <a:endParaRPr lang="en-US" sz="3200" dirty="0"/>
          </a:p>
        </p:txBody>
      </p:sp>
      <p:sp>
        <p:nvSpPr>
          <p:cNvPr id="7" name="bld1_1498"/>
          <p:cNvSpPr txBox="1"/>
          <p:nvPr/>
        </p:nvSpPr>
        <p:spPr>
          <a:xfrm>
            <a:off x="548640" y="271576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 &amp; AMBERS</a:t>
            </a:r>
            <a:endParaRPr lang="en-US" sz="1250" dirty="0"/>
          </a:p>
        </p:txBody>
      </p:sp>
      <p:sp>
        <p:nvSpPr>
          <p:cNvPr id="8" name="bld1_1499"/>
          <p:cNvSpPr/>
          <p:nvPr/>
        </p:nvSpPr>
        <p:spPr>
          <a:xfrm>
            <a:off x="548640" y="31729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9" name="bld1_1500"/>
          <p:cNvSpPr txBox="1"/>
          <p:nvPr/>
        </p:nvSpPr>
        <p:spPr>
          <a:xfrm>
            <a:off x="841248" y="31089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E Super</a:t>
            </a:r>
            <a:endParaRPr lang="en-US" sz="1200" dirty="0"/>
          </a:p>
        </p:txBody>
      </p:sp>
      <p:sp>
        <p:nvSpPr>
          <p:cNvPr id="10" name="bld1_1501"/>
          <p:cNvSpPr/>
          <p:nvPr/>
        </p:nvSpPr>
        <p:spPr>
          <a:xfrm>
            <a:off x="548640" y="36301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1" name="bld1_1502"/>
          <p:cNvSpPr txBox="1"/>
          <p:nvPr/>
        </p:nvSpPr>
        <p:spPr>
          <a:xfrm>
            <a:off x="841248" y="35661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Cedarwood (natural)</a:t>
            </a:r>
            <a:endParaRPr lang="en-US" sz="1200" dirty="0"/>
          </a:p>
        </p:txBody>
      </p:sp>
      <p:sp>
        <p:nvSpPr>
          <p:cNvPr id="12" name="bld1_1503"/>
          <p:cNvSpPr/>
          <p:nvPr/>
        </p:nvSpPr>
        <p:spPr>
          <a:xfrm>
            <a:off x="548640" y="40873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3" name="bld1_1504"/>
          <p:cNvSpPr txBox="1"/>
          <p:nvPr/>
        </p:nvSpPr>
        <p:spPr>
          <a:xfrm>
            <a:off x="841248" y="40233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Ambroxan</a:t>
            </a:r>
            <a:endParaRPr lang="en-US" sz="1200" dirty="0"/>
          </a:p>
        </p:txBody>
      </p:sp>
      <p:sp>
        <p:nvSpPr>
          <p:cNvPr id="14" name="bld1_1505"/>
          <p:cNvSpPr/>
          <p:nvPr/>
        </p:nvSpPr>
        <p:spPr>
          <a:xfrm>
            <a:off x="548640" y="45445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5" name="bld1_1506"/>
          <p:cNvSpPr txBox="1"/>
          <p:nvPr/>
        </p:nvSpPr>
        <p:spPr>
          <a:xfrm>
            <a:off x="841248" y="44805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Vetiver</a:t>
            </a:r>
            <a:endParaRPr lang="en-US" sz="1200" dirty="0"/>
          </a:p>
        </p:txBody>
      </p:sp>
      <p:sp>
        <p:nvSpPr>
          <p:cNvPr id="16" name="bld2_1507"/>
          <p:cNvSpPr txBox="1"/>
          <p:nvPr/>
        </p:nvSpPr>
        <p:spPr>
          <a:xfrm>
            <a:off x="3402254" y="271576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MUSKS &amp; FLORALS</a:t>
            </a:r>
            <a:endParaRPr lang="en-US" sz="1250" dirty="0"/>
          </a:p>
        </p:txBody>
      </p:sp>
      <p:sp>
        <p:nvSpPr>
          <p:cNvPr id="17" name="bld2_1508"/>
          <p:cNvSpPr/>
          <p:nvPr/>
        </p:nvSpPr>
        <p:spPr>
          <a:xfrm>
            <a:off x="3402254" y="31729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18" name="bld2_1509"/>
          <p:cNvSpPr txBox="1"/>
          <p:nvPr/>
        </p:nvSpPr>
        <p:spPr>
          <a:xfrm>
            <a:off x="3694862" y="31089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Galaxolide</a:t>
            </a:r>
            <a:endParaRPr lang="en-US" sz="1200" dirty="0"/>
          </a:p>
        </p:txBody>
      </p:sp>
      <p:sp>
        <p:nvSpPr>
          <p:cNvPr id="19" name="bld2_1510"/>
          <p:cNvSpPr/>
          <p:nvPr/>
        </p:nvSpPr>
        <p:spPr>
          <a:xfrm>
            <a:off x="3402254" y="36301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20" name="bld2_1511"/>
          <p:cNvSpPr txBox="1"/>
          <p:nvPr/>
        </p:nvSpPr>
        <p:spPr>
          <a:xfrm>
            <a:off x="3694862" y="35661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Habanolide</a:t>
            </a:r>
            <a:endParaRPr lang="en-US" sz="1200" dirty="0"/>
          </a:p>
        </p:txBody>
      </p:sp>
      <p:sp>
        <p:nvSpPr>
          <p:cNvPr id="21" name="bld2_1512"/>
          <p:cNvSpPr/>
          <p:nvPr/>
        </p:nvSpPr>
        <p:spPr>
          <a:xfrm>
            <a:off x="3402254" y="40873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22" name="bld2_1513"/>
          <p:cNvSpPr txBox="1"/>
          <p:nvPr/>
        </p:nvSpPr>
        <p:spPr>
          <a:xfrm>
            <a:off x="3694862" y="40233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Hedione</a:t>
            </a:r>
            <a:endParaRPr lang="en-US" sz="1200" dirty="0"/>
          </a:p>
        </p:txBody>
      </p:sp>
      <p:sp>
        <p:nvSpPr>
          <p:cNvPr id="23" name="bld2_1514"/>
          <p:cNvSpPr/>
          <p:nvPr/>
        </p:nvSpPr>
        <p:spPr>
          <a:xfrm>
            <a:off x="3402254" y="45445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24" name="bld2_1515"/>
          <p:cNvSpPr txBox="1"/>
          <p:nvPr/>
        </p:nvSpPr>
        <p:spPr>
          <a:xfrm>
            <a:off x="3694862" y="44805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Linalool</a:t>
            </a:r>
            <a:endParaRPr lang="en-US" sz="1200" dirty="0"/>
          </a:p>
        </p:txBody>
      </p:sp>
      <p:sp>
        <p:nvSpPr>
          <p:cNvPr id="25" name="bld3_1516"/>
          <p:cNvSpPr txBox="1"/>
          <p:nvPr/>
        </p:nvSpPr>
        <p:spPr>
          <a:xfrm>
            <a:off x="6255868" y="271576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&amp; GREEN</a:t>
            </a:r>
            <a:endParaRPr lang="en-US" sz="1250" dirty="0"/>
          </a:p>
        </p:txBody>
      </p:sp>
      <p:sp>
        <p:nvSpPr>
          <p:cNvPr id="26" name="bld3_1517"/>
          <p:cNvSpPr/>
          <p:nvPr/>
        </p:nvSpPr>
        <p:spPr>
          <a:xfrm>
            <a:off x="6255868" y="31729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27" name="bld3_1518"/>
          <p:cNvSpPr txBox="1"/>
          <p:nvPr/>
        </p:nvSpPr>
        <p:spPr>
          <a:xfrm>
            <a:off x="6548476" y="31089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</a:t>
            </a:r>
            <a:endParaRPr lang="en-US" sz="1200" dirty="0"/>
          </a:p>
        </p:txBody>
      </p:sp>
      <p:sp>
        <p:nvSpPr>
          <p:cNvPr id="28" name="bld3_1519"/>
          <p:cNvSpPr/>
          <p:nvPr/>
        </p:nvSpPr>
        <p:spPr>
          <a:xfrm>
            <a:off x="6255868" y="36301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29" name="bld3_1520"/>
          <p:cNvSpPr txBox="1"/>
          <p:nvPr/>
        </p:nvSpPr>
        <p:spPr>
          <a:xfrm>
            <a:off x="6548476" y="35661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Dihydromyrcenol</a:t>
            </a:r>
            <a:endParaRPr lang="en-US" sz="1200" dirty="0"/>
          </a:p>
        </p:txBody>
      </p:sp>
      <p:sp>
        <p:nvSpPr>
          <p:cNvPr id="30" name="bld3_1521"/>
          <p:cNvSpPr/>
          <p:nvPr/>
        </p:nvSpPr>
        <p:spPr>
          <a:xfrm>
            <a:off x="6255868" y="40873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31" name="bld3_1522"/>
          <p:cNvSpPr txBox="1"/>
          <p:nvPr/>
        </p:nvSpPr>
        <p:spPr>
          <a:xfrm>
            <a:off x="6548476" y="40233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Cis-3-hexenol</a:t>
            </a:r>
            <a:endParaRPr lang="en-US" sz="1200" dirty="0"/>
          </a:p>
        </p:txBody>
      </p:sp>
      <p:sp>
        <p:nvSpPr>
          <p:cNvPr id="32" name="bld4_1523"/>
          <p:cNvSpPr txBox="1"/>
          <p:nvPr/>
        </p:nvSpPr>
        <p:spPr>
          <a:xfrm>
            <a:off x="9109481" y="271576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 &amp; BASE</a:t>
            </a:r>
            <a:endParaRPr lang="en-US" sz="1250" dirty="0"/>
          </a:p>
        </p:txBody>
      </p:sp>
      <p:sp>
        <p:nvSpPr>
          <p:cNvPr id="33" name="bld4_1524"/>
          <p:cNvSpPr/>
          <p:nvPr/>
        </p:nvSpPr>
        <p:spPr>
          <a:xfrm>
            <a:off x="9109481" y="31729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4" name="bld4_1525"/>
          <p:cNvSpPr txBox="1"/>
          <p:nvPr/>
        </p:nvSpPr>
        <p:spPr>
          <a:xfrm>
            <a:off x="9402089" y="31089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Vanillin</a:t>
            </a:r>
            <a:endParaRPr lang="en-US" sz="1200" dirty="0"/>
          </a:p>
        </p:txBody>
      </p:sp>
      <p:sp>
        <p:nvSpPr>
          <p:cNvPr id="35" name="bld4_1526"/>
          <p:cNvSpPr/>
          <p:nvPr/>
        </p:nvSpPr>
        <p:spPr>
          <a:xfrm>
            <a:off x="9109481" y="36301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6" name="bld4_1527"/>
          <p:cNvSpPr txBox="1"/>
          <p:nvPr/>
        </p:nvSpPr>
        <p:spPr>
          <a:xfrm>
            <a:off x="9402089" y="35661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Ethyl Maltol</a:t>
            </a:r>
            <a:endParaRPr lang="en-US" sz="1200" dirty="0"/>
          </a:p>
        </p:txBody>
      </p:sp>
      <p:sp>
        <p:nvSpPr>
          <p:cNvPr id="37" name="bld4_1528"/>
          <p:cNvSpPr/>
          <p:nvPr/>
        </p:nvSpPr>
        <p:spPr>
          <a:xfrm>
            <a:off x="9109481" y="40873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8" name="bld4_1529"/>
          <p:cNvSpPr txBox="1"/>
          <p:nvPr/>
        </p:nvSpPr>
        <p:spPr>
          <a:xfrm>
            <a:off x="9402089" y="40233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Coumarin</a:t>
            </a:r>
            <a:endParaRPr lang="en-US" sz="1200" dirty="0"/>
          </a:p>
        </p:txBody>
      </p:sp>
      <p:sp>
        <p:nvSpPr>
          <p:cNvPr id="39" name="bld4_1530"/>
          <p:cNvSpPr/>
          <p:nvPr/>
        </p:nvSpPr>
        <p:spPr>
          <a:xfrm>
            <a:off x="9109481" y="454456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40" name="bld4_1531"/>
          <p:cNvSpPr txBox="1"/>
          <p:nvPr/>
        </p:nvSpPr>
        <p:spPr>
          <a:xfrm>
            <a:off x="9402089" y="448056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Labdanum</a:t>
            </a:r>
            <a:endParaRPr lang="en-US" sz="1200" dirty="0"/>
          </a:p>
        </p:txBody>
      </p:sp>
      <p:sp>
        <p:nvSpPr>
          <p:cNvPr id="42" name="trans_fade_9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3" name="Text 4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79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next 30 — expanding possibilities</a:t>
            </a:r>
            <a:endParaRPr lang="en-US" sz="3200" dirty="0"/>
          </a:p>
        </p:txBody>
      </p:sp>
      <p:sp>
        <p:nvSpPr>
          <p:cNvPr id="7" name="bld1_1532"/>
          <p:cNvSpPr txBox="1"/>
          <p:nvPr/>
        </p:nvSpPr>
        <p:spPr>
          <a:xfrm>
            <a:off x="548640" y="289864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 &amp; AMBERS</a:t>
            </a:r>
            <a:endParaRPr lang="en-US" sz="1250" dirty="0"/>
          </a:p>
        </p:txBody>
      </p:sp>
      <p:sp>
        <p:nvSpPr>
          <p:cNvPr id="8" name="bld1_1533"/>
          <p:cNvSpPr/>
          <p:nvPr/>
        </p:nvSpPr>
        <p:spPr>
          <a:xfrm>
            <a:off x="548640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9" name="bld1_1534"/>
          <p:cNvSpPr txBox="1"/>
          <p:nvPr/>
        </p:nvSpPr>
        <p:spPr>
          <a:xfrm>
            <a:off x="841248" y="32918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Cashmeran</a:t>
            </a:r>
            <a:endParaRPr lang="en-US" sz="1200" dirty="0"/>
          </a:p>
        </p:txBody>
      </p:sp>
      <p:sp>
        <p:nvSpPr>
          <p:cNvPr id="10" name="bld1_1535"/>
          <p:cNvSpPr/>
          <p:nvPr/>
        </p:nvSpPr>
        <p:spPr>
          <a:xfrm>
            <a:off x="548640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1" name="bld1_1536"/>
          <p:cNvSpPr txBox="1"/>
          <p:nvPr/>
        </p:nvSpPr>
        <p:spPr>
          <a:xfrm>
            <a:off x="841248" y="37490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Sandalwood (natural)</a:t>
            </a:r>
            <a:endParaRPr lang="en-US" sz="1200" dirty="0"/>
          </a:p>
        </p:txBody>
      </p:sp>
      <p:sp>
        <p:nvSpPr>
          <p:cNvPr id="12" name="bld1_1537"/>
          <p:cNvSpPr/>
          <p:nvPr/>
        </p:nvSpPr>
        <p:spPr>
          <a:xfrm>
            <a:off x="548640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3" name="bld1_1538"/>
          <p:cNvSpPr txBox="1"/>
          <p:nvPr/>
        </p:nvSpPr>
        <p:spPr>
          <a:xfrm>
            <a:off x="841248" y="42062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Norlimbanol</a:t>
            </a:r>
            <a:endParaRPr lang="en-US" sz="1200" dirty="0"/>
          </a:p>
        </p:txBody>
      </p:sp>
      <p:sp>
        <p:nvSpPr>
          <p:cNvPr id="14" name="bld2_1539"/>
          <p:cNvSpPr txBox="1"/>
          <p:nvPr/>
        </p:nvSpPr>
        <p:spPr>
          <a:xfrm>
            <a:off x="3402254" y="289864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MUSKS &amp; FLORALS</a:t>
            </a:r>
            <a:endParaRPr lang="en-US" sz="1250" dirty="0"/>
          </a:p>
        </p:txBody>
      </p:sp>
      <p:sp>
        <p:nvSpPr>
          <p:cNvPr id="15" name="bld2_1540"/>
          <p:cNvSpPr/>
          <p:nvPr/>
        </p:nvSpPr>
        <p:spPr>
          <a:xfrm>
            <a:off x="3402254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16" name="bld2_1541"/>
          <p:cNvSpPr txBox="1"/>
          <p:nvPr/>
        </p:nvSpPr>
        <p:spPr>
          <a:xfrm>
            <a:off x="3694862" y="32918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Ambrettolide</a:t>
            </a:r>
            <a:endParaRPr lang="en-US" sz="1200" dirty="0"/>
          </a:p>
        </p:txBody>
      </p:sp>
      <p:sp>
        <p:nvSpPr>
          <p:cNvPr id="17" name="bld2_1542"/>
          <p:cNvSpPr/>
          <p:nvPr/>
        </p:nvSpPr>
        <p:spPr>
          <a:xfrm>
            <a:off x="3402254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18" name="bld2_1543"/>
          <p:cNvSpPr txBox="1"/>
          <p:nvPr/>
        </p:nvSpPr>
        <p:spPr>
          <a:xfrm>
            <a:off x="3694862" y="37490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 absolute</a:t>
            </a:r>
            <a:endParaRPr lang="en-US" sz="1200" dirty="0"/>
          </a:p>
        </p:txBody>
      </p:sp>
      <p:sp>
        <p:nvSpPr>
          <p:cNvPr id="19" name="bld2_1544"/>
          <p:cNvSpPr/>
          <p:nvPr/>
        </p:nvSpPr>
        <p:spPr>
          <a:xfrm>
            <a:off x="3402254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20" name="bld2_1545"/>
          <p:cNvSpPr txBox="1"/>
          <p:nvPr/>
        </p:nvSpPr>
        <p:spPr>
          <a:xfrm>
            <a:off x="3694862" y="42062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Jasmine absolute</a:t>
            </a:r>
            <a:endParaRPr lang="en-US" sz="1200" dirty="0"/>
          </a:p>
        </p:txBody>
      </p:sp>
      <p:sp>
        <p:nvSpPr>
          <p:cNvPr id="21" name="bld3_1546"/>
          <p:cNvSpPr txBox="1"/>
          <p:nvPr/>
        </p:nvSpPr>
        <p:spPr>
          <a:xfrm>
            <a:off x="6255868" y="289864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FRUITY &amp; GREEN</a:t>
            </a:r>
            <a:endParaRPr lang="en-US" sz="1250" dirty="0"/>
          </a:p>
        </p:txBody>
      </p:sp>
      <p:sp>
        <p:nvSpPr>
          <p:cNvPr id="22" name="bld3_1547"/>
          <p:cNvSpPr/>
          <p:nvPr/>
        </p:nvSpPr>
        <p:spPr>
          <a:xfrm>
            <a:off x="6255868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3" name="bld3_1548"/>
          <p:cNvSpPr txBox="1"/>
          <p:nvPr/>
        </p:nvSpPr>
        <p:spPr>
          <a:xfrm>
            <a:off x="6548476" y="32918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Allyl amyl glycolate</a:t>
            </a:r>
            <a:endParaRPr lang="en-US" sz="1200" dirty="0"/>
          </a:p>
        </p:txBody>
      </p:sp>
      <p:sp>
        <p:nvSpPr>
          <p:cNvPr id="24" name="bld3_1549"/>
          <p:cNvSpPr/>
          <p:nvPr/>
        </p:nvSpPr>
        <p:spPr>
          <a:xfrm>
            <a:off x="6255868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5" name="bld3_1550"/>
          <p:cNvSpPr txBox="1"/>
          <p:nvPr/>
        </p:nvSpPr>
        <p:spPr>
          <a:xfrm>
            <a:off x="6548476" y="37490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Galbanum</a:t>
            </a:r>
            <a:endParaRPr lang="en-US" sz="1200" dirty="0"/>
          </a:p>
        </p:txBody>
      </p:sp>
      <p:sp>
        <p:nvSpPr>
          <p:cNvPr id="26" name="bld3_1551"/>
          <p:cNvSpPr/>
          <p:nvPr/>
        </p:nvSpPr>
        <p:spPr>
          <a:xfrm>
            <a:off x="6255868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7" name="bld3_1552"/>
          <p:cNvSpPr txBox="1"/>
          <p:nvPr/>
        </p:nvSpPr>
        <p:spPr>
          <a:xfrm>
            <a:off x="6548476" y="42062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Prunolide</a:t>
            </a:r>
            <a:endParaRPr lang="en-US" sz="1200" dirty="0"/>
          </a:p>
        </p:txBody>
      </p:sp>
      <p:sp>
        <p:nvSpPr>
          <p:cNvPr id="28" name="bld4_1553"/>
          <p:cNvSpPr txBox="1"/>
          <p:nvPr/>
        </p:nvSpPr>
        <p:spPr>
          <a:xfrm>
            <a:off x="9109481" y="2898648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 &amp; FRESH</a:t>
            </a:r>
            <a:endParaRPr lang="en-US" sz="1250" dirty="0"/>
          </a:p>
        </p:txBody>
      </p:sp>
      <p:sp>
        <p:nvSpPr>
          <p:cNvPr id="29" name="bld4_1554"/>
          <p:cNvSpPr/>
          <p:nvPr/>
        </p:nvSpPr>
        <p:spPr>
          <a:xfrm>
            <a:off x="9109481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0" name="bld4_1555"/>
          <p:cNvSpPr txBox="1"/>
          <p:nvPr/>
        </p:nvSpPr>
        <p:spPr>
          <a:xfrm>
            <a:off x="9402089" y="32918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Calone</a:t>
            </a:r>
            <a:endParaRPr lang="en-US" sz="1200" dirty="0"/>
          </a:p>
        </p:txBody>
      </p:sp>
      <p:sp>
        <p:nvSpPr>
          <p:cNvPr id="31" name="bld4_1556"/>
          <p:cNvSpPr/>
          <p:nvPr/>
        </p:nvSpPr>
        <p:spPr>
          <a:xfrm>
            <a:off x="9109481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2" name="bld4_1557"/>
          <p:cNvSpPr txBox="1"/>
          <p:nvPr/>
        </p:nvSpPr>
        <p:spPr>
          <a:xfrm>
            <a:off x="9402089" y="37490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Maltol</a:t>
            </a:r>
            <a:endParaRPr lang="en-US" sz="1200" dirty="0"/>
          </a:p>
        </p:txBody>
      </p:sp>
      <p:sp>
        <p:nvSpPr>
          <p:cNvPr id="33" name="bld4_1558"/>
          <p:cNvSpPr/>
          <p:nvPr/>
        </p:nvSpPr>
        <p:spPr>
          <a:xfrm>
            <a:off x="9109481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4" name="bld4_1559"/>
          <p:cNvSpPr txBox="1"/>
          <p:nvPr/>
        </p:nvSpPr>
        <p:spPr>
          <a:xfrm>
            <a:off x="9402089" y="4206240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Patchouli</a:t>
            </a:r>
            <a:endParaRPr lang="en-US" sz="1200" dirty="0"/>
          </a:p>
        </p:txBody>
      </p:sp>
      <p:sp>
        <p:nvSpPr>
          <p:cNvPr id="36" name="trans_fade_9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7" name="Text 3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 BY FAMILY, NOT BY IMPULSE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Organise every purchase around the palette</a:t>
            </a:r>
            <a:endParaRPr lang="en-US" sz="3200" dirty="0"/>
          </a:p>
        </p:txBody>
      </p:sp>
      <p:sp>
        <p:nvSpPr>
          <p:cNvPr id="7" name="bld1_1560"/>
          <p:cNvSpPr/>
          <p:nvPr/>
        </p:nvSpPr>
        <p:spPr>
          <a:xfrm>
            <a:off x="548640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9" name="Shape 7"/>
          <p:cNvSpPr/>
          <p:nvPr/>
        </p:nvSpPr>
        <p:spPr>
          <a:xfrm>
            <a:off x="1313170" y="1978030"/>
            <a:ext cx="484998" cy="48499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394003" y="2058863"/>
            <a:ext cx="323332" cy="323332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1" name="Shape 9"/>
          <p:cNvSpPr/>
          <p:nvPr/>
        </p:nvSpPr>
        <p:spPr>
          <a:xfrm>
            <a:off x="1474836" y="2139696"/>
            <a:ext cx="161666" cy="16166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526569" y="2191429"/>
            <a:ext cx="58200" cy="5820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3" name="Shape 11"/>
          <p:cNvSpPr/>
          <p:nvPr/>
        </p:nvSpPr>
        <p:spPr>
          <a:xfrm>
            <a:off x="1244773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4" name="bld1_1562"/>
          <p:cNvSpPr txBox="1"/>
          <p:nvPr/>
        </p:nvSpPr>
        <p:spPr>
          <a:xfrm>
            <a:off x="731520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Woods</a:t>
            </a:r>
            <a:endParaRPr lang="en-US" sz="1450" dirty="0"/>
          </a:p>
        </p:txBody>
      </p:sp>
      <p:sp>
        <p:nvSpPr>
          <p:cNvPr id="15" name="bld1_1563"/>
          <p:cNvSpPr txBox="1"/>
          <p:nvPr/>
        </p:nvSpPr>
        <p:spPr>
          <a:xfrm>
            <a:off x="731520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base</a:t>
            </a:r>
            <a:endParaRPr lang="en-US" sz="1080" dirty="0"/>
          </a:p>
        </p:txBody>
      </p:sp>
      <p:sp>
        <p:nvSpPr>
          <p:cNvPr id="16" name="bld2_1564"/>
          <p:cNvSpPr/>
          <p:nvPr/>
        </p:nvSpPr>
        <p:spPr>
          <a:xfrm>
            <a:off x="281872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18" name="Shape 16"/>
          <p:cNvSpPr/>
          <p:nvPr/>
        </p:nvSpPr>
        <p:spPr>
          <a:xfrm>
            <a:off x="3602659" y="2070180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14862" y="1909633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20" name="bld2_1566"/>
          <p:cNvSpPr txBox="1"/>
          <p:nvPr/>
        </p:nvSpPr>
        <p:spPr>
          <a:xfrm>
            <a:off x="300160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Musks</a:t>
            </a:r>
            <a:endParaRPr lang="en-US" sz="1450" dirty="0"/>
          </a:p>
        </p:txBody>
      </p:sp>
      <p:sp>
        <p:nvSpPr>
          <p:cNvPr id="21" name="bld2_1567"/>
          <p:cNvSpPr txBox="1"/>
          <p:nvPr/>
        </p:nvSpPr>
        <p:spPr>
          <a:xfrm>
            <a:off x="300160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&amp; fixation</a:t>
            </a:r>
            <a:endParaRPr lang="en-US" sz="1080" dirty="0"/>
          </a:p>
        </p:txBody>
      </p:sp>
      <p:sp>
        <p:nvSpPr>
          <p:cNvPr id="22" name="bld3_1568"/>
          <p:cNvSpPr/>
          <p:nvPr/>
        </p:nvSpPr>
        <p:spPr>
          <a:xfrm>
            <a:off x="5088819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4" name="Shape 22"/>
          <p:cNvSpPr/>
          <p:nvPr/>
        </p:nvSpPr>
        <p:spPr>
          <a:xfrm rot="9000000">
            <a:off x="5974598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6000000">
            <a:off x="5911548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11400000">
            <a:off x="6110398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8" name="bld3_1570"/>
          <p:cNvSpPr txBox="1"/>
          <p:nvPr/>
        </p:nvSpPr>
        <p:spPr>
          <a:xfrm>
            <a:off x="5271699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Ambers</a:t>
            </a:r>
            <a:endParaRPr lang="en-US" sz="1450" dirty="0"/>
          </a:p>
        </p:txBody>
      </p:sp>
      <p:sp>
        <p:nvSpPr>
          <p:cNvPr id="29" name="bld3_1571"/>
          <p:cNvSpPr txBox="1"/>
          <p:nvPr/>
        </p:nvSpPr>
        <p:spPr>
          <a:xfrm>
            <a:off x="5271699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</a:t>
            </a:r>
            <a:endParaRPr lang="en-US" sz="1080" dirty="0"/>
          </a:p>
        </p:txBody>
      </p:sp>
      <p:sp>
        <p:nvSpPr>
          <p:cNvPr id="30" name="bld4_1572"/>
          <p:cNvSpPr/>
          <p:nvPr/>
        </p:nvSpPr>
        <p:spPr>
          <a:xfrm>
            <a:off x="735890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8305312" y="1976090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4320000">
            <a:off x="8416707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8640000">
            <a:off x="8374158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2960000">
            <a:off x="8236467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7280000">
            <a:off x="8193918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8307737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8" name="Shape 36"/>
          <p:cNvSpPr/>
          <p:nvPr/>
        </p:nvSpPr>
        <p:spPr>
          <a:xfrm>
            <a:off x="8055041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9" name="bld4_1574"/>
          <p:cNvSpPr txBox="1"/>
          <p:nvPr/>
        </p:nvSpPr>
        <p:spPr>
          <a:xfrm>
            <a:off x="754178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Florals</a:t>
            </a:r>
            <a:endParaRPr lang="en-US" sz="1450" dirty="0"/>
          </a:p>
        </p:txBody>
      </p:sp>
      <p:sp>
        <p:nvSpPr>
          <p:cNvPr id="40" name="bld4_1575"/>
          <p:cNvSpPr txBox="1"/>
          <p:nvPr/>
        </p:nvSpPr>
        <p:spPr>
          <a:xfrm>
            <a:off x="754178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</a:t>
            </a:r>
            <a:endParaRPr lang="en-US" sz="1080" dirty="0"/>
          </a:p>
        </p:txBody>
      </p:sp>
      <p:sp>
        <p:nvSpPr>
          <p:cNvPr id="41" name="bld5_1576"/>
          <p:cNvSpPr/>
          <p:nvPr/>
        </p:nvSpPr>
        <p:spPr>
          <a:xfrm>
            <a:off x="9628998" y="1781617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43" name="Shape 41"/>
          <p:cNvSpPr/>
          <p:nvPr/>
        </p:nvSpPr>
        <p:spPr>
          <a:xfrm>
            <a:off x="10393528" y="1978030"/>
            <a:ext cx="484998" cy="484998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0427477" y="2011980"/>
            <a:ext cx="417098" cy="41709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5" name="Shape 43"/>
          <p:cNvSpPr/>
          <p:nvPr/>
        </p:nvSpPr>
        <p:spPr>
          <a:xfrm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216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432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648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864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1080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296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512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728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9440000">
            <a:off x="10623902" y="2026530"/>
            <a:ext cx="24250" cy="189149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10611777" y="2196279"/>
            <a:ext cx="48500" cy="48500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6" name="Shape 54"/>
          <p:cNvSpPr/>
          <p:nvPr/>
        </p:nvSpPr>
        <p:spPr>
          <a:xfrm>
            <a:off x="10325130" y="1909633"/>
            <a:ext cx="621792" cy="621792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57" name="bld5_1578"/>
          <p:cNvSpPr txBox="1"/>
          <p:nvPr/>
        </p:nvSpPr>
        <p:spPr>
          <a:xfrm>
            <a:off x="9811878" y="2622865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</a:t>
            </a:r>
            <a:endParaRPr lang="en-US" sz="1450" dirty="0"/>
          </a:p>
        </p:txBody>
      </p:sp>
      <p:sp>
        <p:nvSpPr>
          <p:cNvPr id="58" name="bld5_1579"/>
          <p:cNvSpPr txBox="1"/>
          <p:nvPr/>
        </p:nvSpPr>
        <p:spPr>
          <a:xfrm>
            <a:off x="9811878" y="3080065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lift</a:t>
            </a:r>
            <a:endParaRPr lang="en-US" sz="1080" dirty="0"/>
          </a:p>
        </p:txBody>
      </p:sp>
      <p:sp>
        <p:nvSpPr>
          <p:cNvPr id="59" name="bld6_1580"/>
          <p:cNvSpPr/>
          <p:nvPr/>
        </p:nvSpPr>
        <p:spPr>
          <a:xfrm>
            <a:off x="548640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61" name="Shape 59"/>
          <p:cNvSpPr/>
          <p:nvPr/>
        </p:nvSpPr>
        <p:spPr>
          <a:xfrm>
            <a:off x="1356820" y="4400232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1550182" y="4390532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12000000">
            <a:off x="1573957" y="4371132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1244773" y="4268785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65" name="bld6_1582"/>
          <p:cNvSpPr txBox="1"/>
          <p:nvPr/>
        </p:nvSpPr>
        <p:spPr>
          <a:xfrm>
            <a:off x="731520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</a:t>
            </a:r>
            <a:endParaRPr lang="en-US" sz="1450" dirty="0"/>
          </a:p>
        </p:txBody>
      </p:sp>
      <p:sp>
        <p:nvSpPr>
          <p:cNvPr id="66" name="bld6_1583"/>
          <p:cNvSpPr txBox="1"/>
          <p:nvPr/>
        </p:nvSpPr>
        <p:spPr>
          <a:xfrm>
            <a:off x="731520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Juiciness</a:t>
            </a:r>
            <a:endParaRPr lang="en-US" sz="1080" dirty="0"/>
          </a:p>
        </p:txBody>
      </p:sp>
      <p:sp>
        <p:nvSpPr>
          <p:cNvPr id="67" name="bld7_1584"/>
          <p:cNvSpPr/>
          <p:nvPr/>
        </p:nvSpPr>
        <p:spPr>
          <a:xfrm>
            <a:off x="281872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8" name="Shape 66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69" name="Shape 67"/>
          <p:cNvSpPr/>
          <p:nvPr/>
        </p:nvSpPr>
        <p:spPr>
          <a:xfrm rot="15300000">
            <a:off x="3661559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 rot="13050000">
            <a:off x="3707031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 rot="10800000">
            <a:off x="3784533" y="457968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 rot="8550000">
            <a:off x="3862036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 rot="6300000">
            <a:off x="3907507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3514862" y="4268785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75" name="bld7_1586"/>
          <p:cNvSpPr txBox="1"/>
          <p:nvPr/>
        </p:nvSpPr>
        <p:spPr>
          <a:xfrm>
            <a:off x="300160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</a:t>
            </a:r>
            <a:endParaRPr lang="en-US" sz="1450" dirty="0"/>
          </a:p>
        </p:txBody>
      </p:sp>
      <p:sp>
        <p:nvSpPr>
          <p:cNvPr id="76" name="bld7_1587"/>
          <p:cNvSpPr txBox="1"/>
          <p:nvPr/>
        </p:nvSpPr>
        <p:spPr>
          <a:xfrm>
            <a:off x="300160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Freshness</a:t>
            </a:r>
            <a:endParaRPr lang="en-US" sz="1080" dirty="0"/>
          </a:p>
        </p:txBody>
      </p:sp>
      <p:sp>
        <p:nvSpPr>
          <p:cNvPr id="77" name="bld8_1588"/>
          <p:cNvSpPr/>
          <p:nvPr/>
        </p:nvSpPr>
        <p:spPr>
          <a:xfrm>
            <a:off x="5088819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79" name="Shape 77"/>
          <p:cNvSpPr/>
          <p:nvPr/>
        </p:nvSpPr>
        <p:spPr>
          <a:xfrm>
            <a:off x="5853349" y="4337182"/>
            <a:ext cx="484998" cy="484998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5906698" y="4577256"/>
            <a:ext cx="378298" cy="7275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>
            <a:off x="5906698" y="4516631"/>
            <a:ext cx="378298" cy="7275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5906698" y="4448732"/>
            <a:ext cx="378298" cy="7275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84" name="bld8_1590"/>
          <p:cNvSpPr txBox="1"/>
          <p:nvPr/>
        </p:nvSpPr>
        <p:spPr>
          <a:xfrm>
            <a:off x="5271699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 / Aquatic</a:t>
            </a:r>
            <a:endParaRPr lang="en-US" sz="1450" dirty="0"/>
          </a:p>
        </p:txBody>
      </p:sp>
      <p:sp>
        <p:nvSpPr>
          <p:cNvPr id="85" name="bld8_1591"/>
          <p:cNvSpPr txBox="1"/>
          <p:nvPr/>
        </p:nvSpPr>
        <p:spPr>
          <a:xfrm>
            <a:off x="5271699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Airiness</a:t>
            </a:r>
            <a:endParaRPr lang="en-US" sz="1080" dirty="0"/>
          </a:p>
        </p:txBody>
      </p:sp>
      <p:sp>
        <p:nvSpPr>
          <p:cNvPr id="86" name="bld9_1592"/>
          <p:cNvSpPr/>
          <p:nvPr/>
        </p:nvSpPr>
        <p:spPr>
          <a:xfrm>
            <a:off x="735890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7" name="Shape 85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88" name="Shape 86"/>
          <p:cNvSpPr/>
          <p:nvPr/>
        </p:nvSpPr>
        <p:spPr>
          <a:xfrm rot="840000">
            <a:off x="8307737" y="4349307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89" name="Shape 87"/>
          <p:cNvSpPr/>
          <p:nvPr/>
        </p:nvSpPr>
        <p:spPr>
          <a:xfrm rot="840000">
            <a:off x="8360451" y="4405082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8311375" y="441841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1" name="Shape 89"/>
          <p:cNvSpPr/>
          <p:nvPr/>
        </p:nvSpPr>
        <p:spPr>
          <a:xfrm>
            <a:off x="8328835" y="447855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2" name="Shape 90"/>
          <p:cNvSpPr/>
          <p:nvPr/>
        </p:nvSpPr>
        <p:spPr>
          <a:xfrm>
            <a:off x="8346295" y="453869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3" name="Shape 91"/>
          <p:cNvSpPr/>
          <p:nvPr/>
        </p:nvSpPr>
        <p:spPr>
          <a:xfrm>
            <a:off x="8363755" y="459883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4" name="Shape 92"/>
          <p:cNvSpPr/>
          <p:nvPr/>
        </p:nvSpPr>
        <p:spPr>
          <a:xfrm>
            <a:off x="8381214" y="465897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5" name="Shape 93"/>
          <p:cNvSpPr/>
          <p:nvPr/>
        </p:nvSpPr>
        <p:spPr>
          <a:xfrm>
            <a:off x="8398674" y="471911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96" name="Shape 94"/>
          <p:cNvSpPr/>
          <p:nvPr/>
        </p:nvSpPr>
        <p:spPr>
          <a:xfrm>
            <a:off x="8055041" y="4268785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97" name="bld9_1594"/>
          <p:cNvSpPr txBox="1"/>
          <p:nvPr/>
        </p:nvSpPr>
        <p:spPr>
          <a:xfrm>
            <a:off x="7541788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</a:t>
            </a:r>
            <a:endParaRPr lang="en-US" sz="1450" dirty="0"/>
          </a:p>
        </p:txBody>
      </p:sp>
      <p:sp>
        <p:nvSpPr>
          <p:cNvPr id="98" name="bld9_1595"/>
          <p:cNvSpPr txBox="1"/>
          <p:nvPr/>
        </p:nvSpPr>
        <p:spPr>
          <a:xfrm>
            <a:off x="7541788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Sweetness</a:t>
            </a:r>
            <a:endParaRPr lang="en-US" sz="1080" dirty="0"/>
          </a:p>
        </p:txBody>
      </p:sp>
      <p:sp>
        <p:nvSpPr>
          <p:cNvPr id="99" name="bld10_1596"/>
          <p:cNvSpPr/>
          <p:nvPr/>
        </p:nvSpPr>
        <p:spPr>
          <a:xfrm>
            <a:off x="9628998" y="4140769"/>
            <a:ext cx="2014057" cy="210312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0" name="Shape 98"/>
          <p:cNvSpPr/>
          <p:nvPr/>
        </p:nvSpPr>
        <p:spPr>
          <a:xfrm>
            <a:off x="10325130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01" name="Shape 99"/>
          <p:cNvSpPr/>
          <p:nvPr/>
        </p:nvSpPr>
        <p:spPr>
          <a:xfrm rot="9000000">
            <a:off x="10514777" y="4468131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 rot="6000000">
            <a:off x="10451727" y="4439032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03" name="Shape 101"/>
          <p:cNvSpPr/>
          <p:nvPr/>
        </p:nvSpPr>
        <p:spPr>
          <a:xfrm rot="11400000">
            <a:off x="10650576" y="4409932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04" name="Shape 102"/>
          <p:cNvSpPr/>
          <p:nvPr/>
        </p:nvSpPr>
        <p:spPr>
          <a:xfrm>
            <a:off x="10325130" y="4268785"/>
            <a:ext cx="621792" cy="621792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105" name="bld10_1598"/>
          <p:cNvSpPr txBox="1"/>
          <p:nvPr/>
        </p:nvSpPr>
        <p:spPr>
          <a:xfrm>
            <a:off x="9811878" y="4982017"/>
            <a:ext cx="16482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</a:t>
            </a:r>
            <a:endParaRPr lang="en-US" sz="1450" dirty="0"/>
          </a:p>
        </p:txBody>
      </p:sp>
      <p:sp>
        <p:nvSpPr>
          <p:cNvPr id="106" name="bld10_1599"/>
          <p:cNvSpPr txBox="1"/>
          <p:nvPr/>
        </p:nvSpPr>
        <p:spPr>
          <a:xfrm>
            <a:off x="9811878" y="5439217"/>
            <a:ext cx="164829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&amp; soul</a:t>
            </a:r>
            <a:endParaRPr lang="en-US" sz="1080" dirty="0"/>
          </a:p>
        </p:txBody>
      </p:sp>
      <p:sp>
        <p:nvSpPr>
          <p:cNvPr id="108" name="trans_fade_9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09" name="Text 10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8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4" grpId="0"/>
      <p:bldP spid="15" grpId="0"/>
      <p:bldP spid="16" grpId="0"/>
      <p:bldP spid="20" grpId="0"/>
      <p:bldP spid="21" grpId="0"/>
      <p:bldP spid="22" grpId="0"/>
      <p:bldP spid="28" grpId="0"/>
      <p:bldP spid="29" grpId="0"/>
      <p:bldP spid="30" grpId="0"/>
      <p:bldP spid="39" grpId="0"/>
      <p:bldP spid="40" grpId="0"/>
      <p:bldP spid="41" grpId="0"/>
      <p:bldP spid="57" grpId="0"/>
      <p:bldP spid="58" grpId="0"/>
      <p:bldP spid="59" grpId="0"/>
      <p:bldP spid="65" grpId="0"/>
      <p:bldP spid="66" grpId="0"/>
      <p:bldP spid="67" grpId="0"/>
      <p:bldP spid="75" grpId="0"/>
      <p:bldP spid="76" grpId="0"/>
      <p:bldP spid="77" grpId="0"/>
      <p:bldP spid="84" grpId="0"/>
      <p:bldP spid="85" grpId="0"/>
      <p:bldP spid="86" grpId="0"/>
      <p:bldP spid="97" grpId="0"/>
      <p:bldP spid="98" grpId="0"/>
      <p:bldP spid="99" grpId="0"/>
      <p:bldP spid="105" grpId="0"/>
      <p:bldP spid="106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DISCIPLINE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 beats curiosity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374313" y="3177558"/>
            <a:ext cx="502883" cy="502883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Shape 9"/>
          <p:cNvSpPr/>
          <p:nvPr/>
        </p:nvSpPr>
        <p:spPr>
          <a:xfrm>
            <a:off x="8835289" y="3177558"/>
            <a:ext cx="502883" cy="502883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2" name="Shape 10"/>
          <p:cNvSpPr/>
          <p:nvPr/>
        </p:nvSpPr>
        <p:spPr>
          <a:xfrm>
            <a:off x="9296266" y="3177558"/>
            <a:ext cx="502883" cy="502883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3" name="Shape 11"/>
          <p:cNvSpPr/>
          <p:nvPr/>
        </p:nvSpPr>
        <p:spPr>
          <a:xfrm>
            <a:off x="9757242" y="3177558"/>
            <a:ext cx="502883" cy="502883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18219" y="3177558"/>
            <a:ext cx="502883" cy="502883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balanced palette, not a random hoard.</a:t>
            </a:r>
            <a:endParaRPr lang="en-US" sz="1050" dirty="0"/>
          </a:p>
        </p:txBody>
      </p:sp>
      <p:sp>
        <p:nvSpPr>
          <p:cNvPr id="16" name="bld1_160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1_160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 every family first</a:t>
            </a:r>
            <a:endParaRPr lang="en-US" sz="1650" dirty="0"/>
          </a:p>
        </p:txBody>
      </p:sp>
      <p:sp>
        <p:nvSpPr>
          <p:cNvPr id="18" name="bld1_1602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material from each of the ten categories teaches you more than ten materials from one category.</a:t>
            </a:r>
            <a:endParaRPr lang="en-US" sz="1250" dirty="0"/>
          </a:p>
        </p:txBody>
      </p:sp>
      <p:sp>
        <p:nvSpPr>
          <p:cNvPr id="19" name="bld2_1603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0" name="bld2_1604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Resist the rare and expensive</a:t>
            </a:r>
            <a:endParaRPr lang="en-US" sz="1650" dirty="0"/>
          </a:p>
        </p:txBody>
      </p:sp>
      <p:sp>
        <p:nvSpPr>
          <p:cNvPr id="21" name="bld2_1605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exotic captive material is exciting — but useless without the fundamentals to build around it.</a:t>
            </a:r>
            <a:endParaRPr lang="en-US" sz="1250" dirty="0"/>
          </a:p>
        </p:txBody>
      </p:sp>
      <p:sp>
        <p:nvSpPr>
          <p:cNvPr id="22" name="bld3_1606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3_1607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Depth comes later</a:t>
            </a:r>
            <a:endParaRPr lang="en-US" sz="1650" dirty="0"/>
          </a:p>
        </p:txBody>
      </p:sp>
      <p:sp>
        <p:nvSpPr>
          <p:cNvPr id="24" name="bld3_1608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your first 60 materials are familiar, specialise into what you actually love working with.</a:t>
            </a:r>
            <a:endParaRPr lang="en-US" sz="1250" dirty="0"/>
          </a:p>
        </p:txBody>
      </p:sp>
      <p:sp>
        <p:nvSpPr>
          <p:cNvPr id="26" name="trans_fade_9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starter-perfumer checklist</a:t>
            </a:r>
            <a:endParaRPr lang="en-US" sz="3200" dirty="0"/>
          </a:p>
        </p:txBody>
      </p:sp>
      <p:sp>
        <p:nvSpPr>
          <p:cNvPr id="7" name="bld1_1609"/>
          <p:cNvSpPr txBox="1"/>
          <p:nvPr/>
        </p:nvSpPr>
        <p:spPr>
          <a:xfrm>
            <a:off x="548640" y="289864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</a:t>
            </a:r>
            <a:endParaRPr lang="en-US" sz="1250" dirty="0"/>
          </a:p>
        </p:txBody>
      </p:sp>
      <p:sp>
        <p:nvSpPr>
          <p:cNvPr id="8" name="bld1_1610"/>
          <p:cNvSpPr/>
          <p:nvPr/>
        </p:nvSpPr>
        <p:spPr>
          <a:xfrm>
            <a:off x="548640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9" name="bld1_1611"/>
          <p:cNvSpPr txBox="1"/>
          <p:nvPr/>
        </p:nvSpPr>
        <p:spPr>
          <a:xfrm>
            <a:off x="841248" y="32918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30 list complete</a:t>
            </a:r>
            <a:endParaRPr lang="en-US" sz="1200" dirty="0"/>
          </a:p>
        </p:txBody>
      </p:sp>
      <p:sp>
        <p:nvSpPr>
          <p:cNvPr id="10" name="bld1_1612"/>
          <p:cNvSpPr/>
          <p:nvPr/>
        </p:nvSpPr>
        <p:spPr>
          <a:xfrm>
            <a:off x="548640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11" name="bld1_1613"/>
          <p:cNvSpPr txBox="1"/>
          <p:nvPr/>
        </p:nvSpPr>
        <p:spPr>
          <a:xfrm>
            <a:off x="841248" y="37490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material per family minimum</a:t>
            </a:r>
            <a:endParaRPr lang="en-US" sz="1200" dirty="0"/>
          </a:p>
        </p:txBody>
      </p:sp>
      <p:sp>
        <p:nvSpPr>
          <p:cNvPr id="12" name="bld1_1614"/>
          <p:cNvSpPr/>
          <p:nvPr/>
        </p:nvSpPr>
        <p:spPr>
          <a:xfrm>
            <a:off x="548640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13" name="bld1_1615"/>
          <p:cNvSpPr txBox="1"/>
          <p:nvPr/>
        </p:nvSpPr>
        <p:spPr>
          <a:xfrm>
            <a:off x="841248" y="42062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Naturals + synthetics both represented</a:t>
            </a:r>
            <a:endParaRPr lang="en-US" sz="1200" dirty="0"/>
          </a:p>
        </p:txBody>
      </p:sp>
      <p:sp>
        <p:nvSpPr>
          <p:cNvPr id="14" name="bld2_1616"/>
          <p:cNvSpPr txBox="1"/>
          <p:nvPr/>
        </p:nvSpPr>
        <p:spPr>
          <a:xfrm>
            <a:off x="4353458" y="289864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</a:t>
            </a:r>
            <a:endParaRPr lang="en-US" sz="1250" dirty="0"/>
          </a:p>
        </p:txBody>
      </p:sp>
      <p:sp>
        <p:nvSpPr>
          <p:cNvPr id="15" name="bld2_1617"/>
          <p:cNvSpPr/>
          <p:nvPr/>
        </p:nvSpPr>
        <p:spPr>
          <a:xfrm>
            <a:off x="4353458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6" name="bld2_1618"/>
          <p:cNvSpPr txBox="1"/>
          <p:nvPr/>
        </p:nvSpPr>
        <p:spPr>
          <a:xfrm>
            <a:off x="4646066" y="32918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0.001g scale</a:t>
            </a:r>
            <a:endParaRPr lang="en-US" sz="1200" dirty="0"/>
          </a:p>
        </p:txBody>
      </p:sp>
      <p:sp>
        <p:nvSpPr>
          <p:cNvPr id="17" name="bld2_1619"/>
          <p:cNvSpPr/>
          <p:nvPr/>
        </p:nvSpPr>
        <p:spPr>
          <a:xfrm>
            <a:off x="4353458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8" name="bld2_1620"/>
          <p:cNvSpPr txBox="1"/>
          <p:nvPr/>
        </p:nvSpPr>
        <p:spPr>
          <a:xfrm>
            <a:off x="4646066" y="37490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Pipettes (plastic + glass)</a:t>
            </a:r>
            <a:endParaRPr lang="en-US" sz="1200" dirty="0"/>
          </a:p>
        </p:txBody>
      </p:sp>
      <p:sp>
        <p:nvSpPr>
          <p:cNvPr id="19" name="bld2_1621"/>
          <p:cNvSpPr/>
          <p:nvPr/>
        </p:nvSpPr>
        <p:spPr>
          <a:xfrm>
            <a:off x="4353458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20" name="bld2_1622"/>
          <p:cNvSpPr txBox="1"/>
          <p:nvPr/>
        </p:nvSpPr>
        <p:spPr>
          <a:xfrm>
            <a:off x="4646066" y="42062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bottles + scent strips</a:t>
            </a:r>
            <a:endParaRPr lang="en-US" sz="1200" dirty="0"/>
          </a:p>
        </p:txBody>
      </p:sp>
      <p:sp>
        <p:nvSpPr>
          <p:cNvPr id="21" name="bld3_1623"/>
          <p:cNvSpPr txBox="1"/>
          <p:nvPr/>
        </p:nvSpPr>
        <p:spPr>
          <a:xfrm>
            <a:off x="8158277" y="289864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endParaRPr lang="en-US" sz="1250" dirty="0"/>
          </a:p>
        </p:txBody>
      </p:sp>
      <p:sp>
        <p:nvSpPr>
          <p:cNvPr id="22" name="bld3_1624"/>
          <p:cNvSpPr/>
          <p:nvPr/>
        </p:nvSpPr>
        <p:spPr>
          <a:xfrm>
            <a:off x="8158277" y="33558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3" name="bld3_1625"/>
          <p:cNvSpPr txBox="1"/>
          <p:nvPr/>
        </p:nvSpPr>
        <p:spPr>
          <a:xfrm>
            <a:off x="8450885" y="32918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log started</a:t>
            </a:r>
            <a:endParaRPr lang="en-US" sz="1200" dirty="0"/>
          </a:p>
        </p:txBody>
      </p:sp>
      <p:sp>
        <p:nvSpPr>
          <p:cNvPr id="24" name="bld3_1626"/>
          <p:cNvSpPr/>
          <p:nvPr/>
        </p:nvSpPr>
        <p:spPr>
          <a:xfrm>
            <a:off x="8158277" y="38130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5" name="bld3_1627"/>
          <p:cNvSpPr txBox="1"/>
          <p:nvPr/>
        </p:nvSpPr>
        <p:spPr>
          <a:xfrm>
            <a:off x="8450885" y="37490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boxes labelled</a:t>
            </a:r>
            <a:endParaRPr lang="en-US" sz="1200" dirty="0"/>
          </a:p>
        </p:txBody>
      </p:sp>
      <p:sp>
        <p:nvSpPr>
          <p:cNvPr id="26" name="bld3_1628"/>
          <p:cNvSpPr/>
          <p:nvPr/>
        </p:nvSpPr>
        <p:spPr>
          <a:xfrm>
            <a:off x="8158277" y="427024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7" name="bld3_1629"/>
          <p:cNvSpPr txBox="1"/>
          <p:nvPr/>
        </p:nvSpPr>
        <p:spPr>
          <a:xfrm>
            <a:off x="8450885" y="420624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 bottles ready</a:t>
            </a:r>
            <a:endParaRPr lang="en-US" sz="1200" dirty="0"/>
          </a:p>
        </p:txBody>
      </p:sp>
      <p:sp>
        <p:nvSpPr>
          <p:cNvPr id="29" name="trans_fade_9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0" name="Text 2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B3A52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B3A52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B3A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Depth beats width. Thirty materials you know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intimately beat three hundred you've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really smelled.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03</a:t>
            </a:r>
            <a:endParaRPr lang="en-US" sz="1100" dirty="0"/>
          </a:p>
        </p:txBody>
      </p:sp>
      <p:sp>
        <p:nvSpPr>
          <p:cNvPr id="10" name="trans_fade_9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06227" y="2096719"/>
            <a:ext cx="321466" cy="746077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36354" y="2629632"/>
            <a:ext cx="1461211" cy="2131649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70148" y="3482291"/>
            <a:ext cx="993624" cy="1225698"/>
          </a:xfrm>
          <a:prstGeom prst="triangle">
            <a:avLst/>
          </a:prstGeom>
          <a:solidFill>
            <a:srgbClr val="C9A354">
              <a:alpha val="90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04 · DILUTION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Dilute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Confidence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 is the skill that makes every other skill in this course possible.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examples at 10%, 1% and 0.1%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Diluting liquids vs. solids, step by step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label a dilution so it's never a mystery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  <p:sp>
        <p:nvSpPr>
          <p:cNvPr id="21" name="trans_fade_9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DILUTE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reasons every perfumer dilutes</a:t>
            </a:r>
            <a:endParaRPr lang="en-US" sz="3200" dirty="0"/>
          </a:p>
        </p:txBody>
      </p:sp>
      <p:sp>
        <p:nvSpPr>
          <p:cNvPr id="7" name="bld1_1630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631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1632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</a:t>
            </a:r>
            <a:endParaRPr lang="en-US" sz="1450" dirty="0"/>
          </a:p>
        </p:txBody>
      </p:sp>
      <p:sp>
        <p:nvSpPr>
          <p:cNvPr id="10" name="bld1_1633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Weighing 0.05g of pure material is unreliable — weighing it diluted is precise.</a:t>
            </a:r>
            <a:endParaRPr lang="en-US" sz="1080" dirty="0"/>
          </a:p>
        </p:txBody>
      </p:sp>
      <p:sp>
        <p:nvSpPr>
          <p:cNvPr id="11" name="bld2_1634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1635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1636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Easier evaluation</a:t>
            </a:r>
            <a:endParaRPr lang="en-US" sz="1450" dirty="0"/>
          </a:p>
        </p:txBody>
      </p:sp>
      <p:sp>
        <p:nvSpPr>
          <p:cNvPr id="14" name="bld2_1637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diluted material is safer and clearer to smell on a strip.</a:t>
            </a:r>
            <a:endParaRPr lang="en-US" sz="1080" dirty="0"/>
          </a:p>
        </p:txBody>
      </p:sp>
      <p:sp>
        <p:nvSpPr>
          <p:cNvPr id="15" name="bld3_1638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1639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1640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Easier dosing</a:t>
            </a:r>
            <a:endParaRPr lang="en-US" sz="1450" dirty="0"/>
          </a:p>
        </p:txBody>
      </p:sp>
      <p:sp>
        <p:nvSpPr>
          <p:cNvPr id="18" name="bld3_1641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controlled doses become achievable at any strength.</a:t>
            </a:r>
            <a:endParaRPr lang="en-US" sz="1080" dirty="0"/>
          </a:p>
        </p:txBody>
      </p:sp>
      <p:sp>
        <p:nvSpPr>
          <p:cNvPr id="19" name="bld4_1642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1643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4_1644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Understanding potency</a:t>
            </a:r>
            <a:endParaRPr lang="en-US" sz="1450" dirty="0"/>
          </a:p>
        </p:txBody>
      </p:sp>
      <p:sp>
        <p:nvSpPr>
          <p:cNvPr id="22" name="bld4_1645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materials reveal their true character only once tamed.</a:t>
            </a:r>
            <a:endParaRPr lang="en-US" sz="1080" dirty="0"/>
          </a:p>
        </p:txBody>
      </p:sp>
      <p:sp>
        <p:nvSpPr>
          <p:cNvPr id="23" name="bld5_1646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1647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5" name="bld5_1648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with solids</a:t>
            </a:r>
            <a:endParaRPr lang="en-US" sz="1450" dirty="0"/>
          </a:p>
        </p:txBody>
      </p:sp>
      <p:sp>
        <p:nvSpPr>
          <p:cNvPr id="26" name="bld5_1649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materials become usable liquids once dissolved.</a:t>
            </a:r>
            <a:endParaRPr lang="en-US" sz="1080" dirty="0"/>
          </a:p>
        </p:txBody>
      </p:sp>
      <p:sp>
        <p:nvSpPr>
          <p:cNvPr id="27" name="bld6_1650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1651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9" name="bld6_1652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development</a:t>
            </a:r>
            <a:endParaRPr lang="en-US" sz="1450" dirty="0"/>
          </a:p>
        </p:txBody>
      </p:sp>
      <p:sp>
        <p:nvSpPr>
          <p:cNvPr id="30" name="bld6_1653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Diluted stocks let you iterate a formula quickly and repeatably.</a:t>
            </a:r>
            <a:endParaRPr lang="en-US" sz="1080" dirty="0"/>
          </a:p>
        </p:txBody>
      </p:sp>
      <p:sp>
        <p:nvSpPr>
          <p:cNvPr id="32" name="trans_fade_9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DILUTION LADDER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working strengths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29090" y="4712428"/>
            <a:ext cx="1592750" cy="159275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625465" y="5322982"/>
            <a:ext cx="418097" cy="185821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3562" y="5322982"/>
            <a:ext cx="41809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1043562" y="5555258"/>
            <a:ext cx="418097" cy="37164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46734" y="5926900"/>
            <a:ext cx="696828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346734" y="5508803"/>
            <a:ext cx="278731" cy="4180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14457" y="5276527"/>
            <a:ext cx="51100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51136" y="5434474"/>
            <a:ext cx="148657" cy="14865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90138" y="5269558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408235" y="5501835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90138" y="5873476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93310" y="5873476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61034" y="5223103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bld1_1654"/>
          <p:cNvSpPr/>
          <p:nvPr/>
        </p:nvSpPr>
        <p:spPr>
          <a:xfrm>
            <a:off x="548640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1655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3" name="bld1_1656"/>
          <p:cNvSpPr txBox="1"/>
          <p:nvPr/>
        </p:nvSpPr>
        <p:spPr>
          <a:xfrm>
            <a:off x="731520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1450" dirty="0"/>
          </a:p>
        </p:txBody>
      </p:sp>
      <p:sp>
        <p:nvSpPr>
          <p:cNvPr id="24" name="bld1_1657"/>
          <p:cNvSpPr txBox="1"/>
          <p:nvPr/>
        </p:nvSpPr>
        <p:spPr>
          <a:xfrm>
            <a:off x="731520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Neat material — undiluted</a:t>
            </a:r>
            <a:endParaRPr lang="en-US" sz="1080" dirty="0"/>
          </a:p>
        </p:txBody>
      </p:sp>
      <p:sp>
        <p:nvSpPr>
          <p:cNvPr id="25" name="bld2_1658"/>
          <p:cNvSpPr/>
          <p:nvPr/>
        </p:nvSpPr>
        <p:spPr>
          <a:xfrm>
            <a:off x="281872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1659"/>
          <p:cNvSpPr/>
          <p:nvPr/>
        </p:nvSpPr>
        <p:spPr>
          <a:xfrm>
            <a:off x="2992465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7" name="bld2_1660"/>
          <p:cNvSpPr txBox="1"/>
          <p:nvPr/>
        </p:nvSpPr>
        <p:spPr>
          <a:xfrm>
            <a:off x="300160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</a:t>
            </a:r>
            <a:endParaRPr lang="en-US" sz="1450" dirty="0"/>
          </a:p>
        </p:txBody>
      </p:sp>
      <p:sp>
        <p:nvSpPr>
          <p:cNvPr id="28" name="bld2_1661"/>
          <p:cNvSpPr txBox="1"/>
          <p:nvPr/>
        </p:nvSpPr>
        <p:spPr>
          <a:xfrm>
            <a:off x="300160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strength — strong materials</a:t>
            </a:r>
            <a:endParaRPr lang="en-US" sz="1080" dirty="0"/>
          </a:p>
        </p:txBody>
      </p:sp>
      <p:sp>
        <p:nvSpPr>
          <p:cNvPr id="29" name="bld3_1662"/>
          <p:cNvSpPr/>
          <p:nvPr/>
        </p:nvSpPr>
        <p:spPr>
          <a:xfrm>
            <a:off x="508881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1663"/>
          <p:cNvSpPr/>
          <p:nvPr/>
        </p:nvSpPr>
        <p:spPr>
          <a:xfrm>
            <a:off x="5262555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1664"/>
          <p:cNvSpPr txBox="1"/>
          <p:nvPr/>
        </p:nvSpPr>
        <p:spPr>
          <a:xfrm>
            <a:off x="527169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</a:t>
            </a:r>
            <a:endParaRPr lang="en-US" sz="1450" dirty="0"/>
          </a:p>
        </p:txBody>
      </p:sp>
      <p:sp>
        <p:nvSpPr>
          <p:cNvPr id="32" name="bld3_1665"/>
          <p:cNvSpPr txBox="1"/>
          <p:nvPr/>
        </p:nvSpPr>
        <p:spPr>
          <a:xfrm>
            <a:off x="527169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working dilution</a:t>
            </a:r>
            <a:endParaRPr lang="en-US" sz="1080" dirty="0"/>
          </a:p>
        </p:txBody>
      </p:sp>
      <p:sp>
        <p:nvSpPr>
          <p:cNvPr id="33" name="bld4_1666"/>
          <p:cNvSpPr/>
          <p:nvPr/>
        </p:nvSpPr>
        <p:spPr>
          <a:xfrm>
            <a:off x="735890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bld4_1667"/>
          <p:cNvSpPr/>
          <p:nvPr/>
        </p:nvSpPr>
        <p:spPr>
          <a:xfrm>
            <a:off x="7532644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4_1668"/>
          <p:cNvSpPr txBox="1"/>
          <p:nvPr/>
        </p:nvSpPr>
        <p:spPr>
          <a:xfrm>
            <a:off x="754178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1%</a:t>
            </a:r>
            <a:endParaRPr lang="en-US" sz="1450" dirty="0"/>
          </a:p>
        </p:txBody>
      </p:sp>
      <p:sp>
        <p:nvSpPr>
          <p:cNvPr id="36" name="bld4_1669"/>
          <p:cNvSpPr txBox="1"/>
          <p:nvPr/>
        </p:nvSpPr>
        <p:spPr>
          <a:xfrm>
            <a:off x="754178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very potent materials</a:t>
            </a:r>
            <a:endParaRPr lang="en-US" sz="1080" dirty="0"/>
          </a:p>
        </p:txBody>
      </p:sp>
      <p:sp>
        <p:nvSpPr>
          <p:cNvPr id="37" name="bld5_1670"/>
          <p:cNvSpPr/>
          <p:nvPr/>
        </p:nvSpPr>
        <p:spPr>
          <a:xfrm>
            <a:off x="962899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bld5_1671"/>
          <p:cNvSpPr/>
          <p:nvPr/>
        </p:nvSpPr>
        <p:spPr>
          <a:xfrm>
            <a:off x="9802734" y="2504542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39" name="bld5_1672"/>
          <p:cNvSpPr txBox="1"/>
          <p:nvPr/>
        </p:nvSpPr>
        <p:spPr>
          <a:xfrm>
            <a:off x="981187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0.1%</a:t>
            </a:r>
            <a:endParaRPr lang="en-US" sz="1450" dirty="0"/>
          </a:p>
        </p:txBody>
      </p:sp>
      <p:sp>
        <p:nvSpPr>
          <p:cNvPr id="40" name="bld5_1673"/>
          <p:cNvSpPr txBox="1"/>
          <p:nvPr/>
        </p:nvSpPr>
        <p:spPr>
          <a:xfrm>
            <a:off x="981187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most powerful trace materials</a:t>
            </a:r>
            <a:endParaRPr lang="en-US" sz="1080" dirty="0"/>
          </a:p>
        </p:txBody>
      </p:sp>
      <p:sp>
        <p:nvSpPr>
          <p:cNvPr id="42" name="trans_fade_9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3" name="Text 4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PICTURE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material to labelled bottle</a:t>
            </a:r>
            <a:endParaRPr lang="en-US" sz="3200" dirty="0"/>
          </a:p>
        </p:txBody>
      </p:sp>
      <p:sp>
        <p:nvSpPr>
          <p:cNvPr id="7" name="bld1_1674"/>
          <p:cNvSpPr txBox="1"/>
          <p:nvPr/>
        </p:nvSpPr>
        <p:spPr>
          <a:xfrm>
            <a:off x="2112264" y="3538728"/>
            <a:ext cx="14243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0040" y="2926080"/>
            <a:ext cx="1737360" cy="1737360"/>
          </a:xfrm>
          <a:prstGeom prst="ellipse">
            <a:avLst/>
          </a:prstGeom>
          <a:solidFill>
            <a:srgbClr val="FBF0CE"/>
          </a:solidFill>
          <a:ln/>
        </p:spPr>
      </p:sp>
      <p:sp>
        <p:nvSpPr>
          <p:cNvPr id="9" name="Shape 7"/>
          <p:cNvSpPr/>
          <p:nvPr/>
        </p:nvSpPr>
        <p:spPr>
          <a:xfrm>
            <a:off x="511150" y="3117190"/>
            <a:ext cx="1355141" cy="1355141"/>
          </a:xfrm>
          <a:prstGeom prst="ellipse">
            <a:avLst/>
          </a:prstGeom>
          <a:solidFill>
            <a:srgbClr val="9EC24C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06009" y="3212049"/>
            <a:ext cx="1165421" cy="1165421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1" name="Shape 9"/>
          <p:cNvSpPr/>
          <p:nvPr/>
        </p:nvSpPr>
        <p:spPr>
          <a:xfrm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216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432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648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864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296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512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728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9440000">
            <a:off x="1154841" y="3252704"/>
            <a:ext cx="67757" cy="528505"/>
          </a:xfrm>
          <a:prstGeom prst="ellipse">
            <a:avLst/>
          </a:prstGeom>
          <a:solidFill>
            <a:srgbClr val="9EC24C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20963" y="3727003"/>
            <a:ext cx="135514" cy="135514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2" name="Shape 20"/>
          <p:cNvSpPr/>
          <p:nvPr/>
        </p:nvSpPr>
        <p:spPr>
          <a:xfrm>
            <a:off x="320040" y="2926080"/>
            <a:ext cx="1737360" cy="1737360"/>
          </a:xfrm>
          <a:prstGeom prst="ellipse">
            <a:avLst/>
          </a:prstGeom>
          <a:ln w="25603">
            <a:solidFill>
              <a:srgbClr val="9EC24C"/>
            </a:solidFill>
            <a:prstDash val="solid"/>
          </a:ln>
        </p:spPr>
      </p:sp>
      <p:sp>
        <p:nvSpPr>
          <p:cNvPr id="23" name="bld1_1676"/>
          <p:cNvSpPr txBox="1"/>
          <p:nvPr/>
        </p:nvSpPr>
        <p:spPr>
          <a:xfrm>
            <a:off x="228600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</a:t>
            </a:r>
            <a:endParaRPr lang="en-US" sz="1400" dirty="0"/>
          </a:p>
        </p:txBody>
      </p:sp>
      <p:sp>
        <p:nvSpPr>
          <p:cNvPr id="24" name="bld1_1677"/>
          <p:cNvSpPr txBox="1"/>
          <p:nvPr/>
        </p:nvSpPr>
        <p:spPr>
          <a:xfrm>
            <a:off x="228600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material you're diluting</a:t>
            </a:r>
            <a:endParaRPr lang="en-US" sz="1050" dirty="0"/>
          </a:p>
        </p:txBody>
      </p:sp>
      <p:sp>
        <p:nvSpPr>
          <p:cNvPr id="25" name="bld2_1678"/>
          <p:cNvSpPr txBox="1"/>
          <p:nvPr/>
        </p:nvSpPr>
        <p:spPr>
          <a:xfrm>
            <a:off x="5383682" y="3538728"/>
            <a:ext cx="14243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3591458" y="2926080"/>
            <a:ext cx="1737360" cy="173736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27" name="Shape 25"/>
          <p:cNvSpPr/>
          <p:nvPr/>
        </p:nvSpPr>
        <p:spPr>
          <a:xfrm>
            <a:off x="3782568" y="3117190"/>
            <a:ext cx="1355141" cy="1355141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931633" y="3787984"/>
            <a:ext cx="1057010" cy="203271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931633" y="3618592"/>
            <a:ext cx="1057010" cy="203271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931633" y="3428872"/>
            <a:ext cx="1057010" cy="203271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591458" y="2926080"/>
            <a:ext cx="1737360" cy="173736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32" name="bld2_1680"/>
          <p:cNvSpPr txBox="1"/>
          <p:nvPr/>
        </p:nvSpPr>
        <p:spPr>
          <a:xfrm>
            <a:off x="3500018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Solvent</a:t>
            </a:r>
            <a:endParaRPr lang="en-US" sz="1400" dirty="0"/>
          </a:p>
        </p:txBody>
      </p:sp>
      <p:sp>
        <p:nvSpPr>
          <p:cNvPr id="33" name="bld2_1681"/>
          <p:cNvSpPr txBox="1"/>
          <p:nvPr/>
        </p:nvSpPr>
        <p:spPr>
          <a:xfrm>
            <a:off x="3500018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Ethanol, DPG or similar</a:t>
            </a:r>
            <a:endParaRPr lang="en-US" sz="1050" dirty="0"/>
          </a:p>
        </p:txBody>
      </p:sp>
      <p:sp>
        <p:nvSpPr>
          <p:cNvPr id="34" name="bld3_1682"/>
          <p:cNvSpPr txBox="1"/>
          <p:nvPr/>
        </p:nvSpPr>
        <p:spPr>
          <a:xfrm>
            <a:off x="8655101" y="3538728"/>
            <a:ext cx="14243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6862877" y="2926080"/>
            <a:ext cx="1737360" cy="173736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6" name="Shape 34"/>
          <p:cNvSpPr/>
          <p:nvPr/>
        </p:nvSpPr>
        <p:spPr>
          <a:xfrm>
            <a:off x="7053986" y="3117190"/>
            <a:ext cx="1355141" cy="1355141"/>
          </a:xfrm>
          <a:prstGeom prst="ellipse">
            <a:avLst/>
          </a:prstGeom>
          <a:solidFill>
            <a:srgbClr val="C1752F">
              <a:alpha val="96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243706" y="3306909"/>
            <a:ext cx="975701" cy="975701"/>
          </a:xfrm>
          <a:prstGeom prst="donut">
            <a:avLst/>
          </a:prstGeom>
          <a:solidFill>
            <a:srgbClr val="E7AC55">
              <a:alpha val="4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514734" y="3577937"/>
            <a:ext cx="433645" cy="433645"/>
          </a:xfrm>
          <a:prstGeom prst="ellipse">
            <a:avLst/>
          </a:prstGeom>
          <a:solidFill>
            <a:srgbClr val="E7AC55">
              <a:alpha val="9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862877" y="2926080"/>
            <a:ext cx="1737360" cy="173736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0" name="bld3_1684"/>
          <p:cNvSpPr txBox="1"/>
          <p:nvPr/>
        </p:nvSpPr>
        <p:spPr>
          <a:xfrm>
            <a:off x="6771437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Mixed dilution</a:t>
            </a:r>
            <a:endParaRPr lang="en-US" sz="1400" dirty="0"/>
          </a:p>
        </p:txBody>
      </p:sp>
      <p:sp>
        <p:nvSpPr>
          <p:cNvPr id="41" name="bld3_1685"/>
          <p:cNvSpPr txBox="1"/>
          <p:nvPr/>
        </p:nvSpPr>
        <p:spPr>
          <a:xfrm>
            <a:off x="6771437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Weighed, combined, stirred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0134295" y="2926080"/>
            <a:ext cx="1737360" cy="173736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3" name="Shape 41"/>
          <p:cNvSpPr/>
          <p:nvPr/>
        </p:nvSpPr>
        <p:spPr>
          <a:xfrm>
            <a:off x="10933158" y="3239152"/>
            <a:ext cx="139634" cy="111122"/>
          </a:xfrm>
          <a:prstGeom prst="roundRect">
            <a:avLst>
              <a:gd name="adj" fmla="val 32915"/>
            </a:avLst>
          </a:prstGeom>
          <a:solidFill>
            <a:srgbClr val="0E0D0B"/>
          </a:solidFill>
          <a:ln/>
        </p:spPr>
      </p:sp>
      <p:sp>
        <p:nvSpPr>
          <p:cNvPr id="44" name="Shape 42"/>
          <p:cNvSpPr/>
          <p:nvPr/>
        </p:nvSpPr>
        <p:spPr>
          <a:xfrm>
            <a:off x="10942265" y="3350274"/>
            <a:ext cx="121421" cy="177794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786153" y="3528068"/>
            <a:ext cx="433645" cy="822299"/>
          </a:xfrm>
          <a:prstGeom prst="roundRect">
            <a:avLst>
              <a:gd name="adj" fmla="val 25304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822729" y="3898103"/>
            <a:ext cx="360493" cy="415689"/>
          </a:xfrm>
          <a:prstGeom prst="roundRect">
            <a:avLst>
              <a:gd name="adj" fmla="val 25365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0134295" y="2926080"/>
            <a:ext cx="1737360" cy="173736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8" name="bld4_1687"/>
          <p:cNvSpPr txBox="1"/>
          <p:nvPr/>
        </p:nvSpPr>
        <p:spPr>
          <a:xfrm>
            <a:off x="10042855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Labelled bottle</a:t>
            </a:r>
            <a:endParaRPr lang="en-US" sz="1400" dirty="0"/>
          </a:p>
        </p:txBody>
      </p:sp>
      <p:sp>
        <p:nvSpPr>
          <p:cNvPr id="49" name="bld4_1688"/>
          <p:cNvSpPr txBox="1"/>
          <p:nvPr/>
        </p:nvSpPr>
        <p:spPr>
          <a:xfrm>
            <a:off x="10042855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Material, %, solvent, date</a:t>
            </a:r>
            <a:endParaRPr lang="en-US" sz="1050" dirty="0"/>
          </a:p>
        </p:txBody>
      </p:sp>
      <p:sp>
        <p:nvSpPr>
          <p:cNvPr id="51" name="trans_push_l_9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2" name="Text 4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3" grpId="0"/>
      <p:bldP spid="24" grpId="0"/>
      <p:bldP spid="25" grpId="0"/>
      <p:bldP spid="32" grpId="0"/>
      <p:bldP spid="33" grpId="0"/>
      <p:bldP spid="34" grpId="0"/>
      <p:bldP spid="40" grpId="0"/>
      <p:bldP spid="41" grpId="0"/>
      <p:bldP spid="48" grpId="0"/>
      <p:bldP spid="49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Diluting a liquid material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B3A52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B3A52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22871" y="1773735"/>
            <a:ext cx="2849673" cy="2849673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1" name="Shape 9"/>
          <p:cNvSpPr/>
          <p:nvPr/>
        </p:nvSpPr>
        <p:spPr>
          <a:xfrm rot="8100000">
            <a:off x="8992021" y="2642885"/>
            <a:ext cx="1111372" cy="1111372"/>
          </a:xfrm>
          <a:prstGeom prst="teardrop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122871" y="1773735"/>
            <a:ext cx="2849673" cy="2849673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1g material + 9g solvent = 10% dilution.</a:t>
            </a:r>
            <a:endParaRPr lang="en-US" sz="1050" dirty="0"/>
          </a:p>
        </p:txBody>
      </p:sp>
      <p:sp>
        <p:nvSpPr>
          <p:cNvPr id="14" name="bld1_1689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bld1_1690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— weigh the material</a:t>
            </a:r>
            <a:endParaRPr lang="en-US" sz="1650" dirty="0"/>
          </a:p>
        </p:txBody>
      </p:sp>
      <p:sp>
        <p:nvSpPr>
          <p:cNvPr id="16" name="bld1_1691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your bottle on the scale, tare, and weigh out exactly 1g of material.</a:t>
            </a:r>
            <a:endParaRPr lang="en-US" sz="1250" dirty="0"/>
          </a:p>
        </p:txBody>
      </p:sp>
      <p:sp>
        <p:nvSpPr>
          <p:cNvPr id="17" name="bld2_1692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8" name="bld2_1693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— add solvent</a:t>
            </a:r>
            <a:endParaRPr lang="en-US" sz="1650" dirty="0"/>
          </a:p>
        </p:txBody>
      </p:sp>
      <p:sp>
        <p:nvSpPr>
          <p:cNvPr id="19" name="bld2_1694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9g of your chosen solvent (often ethanol or DPG) to the same bottle.</a:t>
            </a:r>
            <a:endParaRPr lang="en-US" sz="1250" dirty="0"/>
          </a:p>
        </p:txBody>
      </p:sp>
      <p:sp>
        <p:nvSpPr>
          <p:cNvPr id="20" name="bld3_1695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1" name="bld3_1696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 — you now have 10%</a:t>
            </a:r>
            <a:endParaRPr lang="en-US" sz="1650" dirty="0"/>
          </a:p>
        </p:txBody>
      </p:sp>
      <p:sp>
        <p:nvSpPr>
          <p:cNvPr id="22" name="bld3_1697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1g material + 9g solvent = 10g total, and the material is 10% of that total.</a:t>
            </a:r>
            <a:endParaRPr lang="en-US" sz="1250" dirty="0"/>
          </a:p>
        </p:txBody>
      </p:sp>
      <p:sp>
        <p:nvSpPr>
          <p:cNvPr id="24" name="trans_fade_10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5" name="Text 2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down to 1% and 0.1%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C9A354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C9A354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90499" y="1710934"/>
            <a:ext cx="2514417" cy="2514417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09569" y="2130003"/>
            <a:ext cx="1676278" cy="1676278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28638" y="2549073"/>
            <a:ext cx="838139" cy="838139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dilution is built from the one before it — a chain, not three separate weighings.</a:t>
            </a:r>
            <a:endParaRPr lang="en-US" sz="1050" dirty="0"/>
          </a:p>
        </p:txBody>
      </p:sp>
      <p:sp>
        <p:nvSpPr>
          <p:cNvPr id="14" name="bld1_1698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bld1_1699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1%, straight from raw material</a:t>
            </a:r>
            <a:endParaRPr lang="en-US" sz="1650" dirty="0"/>
          </a:p>
        </p:txBody>
      </p:sp>
      <p:sp>
        <p:nvSpPr>
          <p:cNvPr id="16" name="bld1_1700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0.1g material + 9.9g solvent = 10g total, and the material is 1% of that total.</a:t>
            </a:r>
            <a:endParaRPr lang="en-US" sz="1250" dirty="0"/>
          </a:p>
        </p:txBody>
      </p:sp>
      <p:sp>
        <p:nvSpPr>
          <p:cNvPr id="17" name="bld2_1701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8" name="bld2_1702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1%, the easier way — from a 10% stock</a:t>
            </a:r>
            <a:endParaRPr lang="en-US" sz="1650" dirty="0"/>
          </a:p>
        </p:txBody>
      </p:sp>
      <p:sp>
        <p:nvSpPr>
          <p:cNvPr id="19" name="bld2_1703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1g of your existing 10% stock + 9g solvent = 10g at 1%. No need to weigh a tiny 0.1g amount twice.</a:t>
            </a:r>
            <a:endParaRPr lang="en-US" sz="1250" dirty="0"/>
          </a:p>
        </p:txBody>
      </p:sp>
      <p:sp>
        <p:nvSpPr>
          <p:cNvPr id="20" name="bld3_1704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1" name="bld3_1705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0.1%, the same trick again</a:t>
            </a:r>
            <a:endParaRPr lang="en-US" sz="1650" dirty="0"/>
          </a:p>
        </p:txBody>
      </p:sp>
      <p:sp>
        <p:nvSpPr>
          <p:cNvPr id="22" name="bld3_1706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1g of your 1% stock + 9g solvent = 10g at 0.1%. Each stock becomes the starting point for the next.</a:t>
            </a:r>
            <a:endParaRPr lang="en-US" sz="1250" dirty="0"/>
          </a:p>
        </p:txBody>
      </p:sp>
      <p:sp>
        <p:nvSpPr>
          <p:cNvPr id="24" name="trans_fade_10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5" name="Text 2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HOW LOW TO GO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some materials need lower dilutions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29090" y="4712428"/>
            <a:ext cx="1592750" cy="159275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625465" y="5322982"/>
            <a:ext cx="418097" cy="185821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3562" y="5322982"/>
            <a:ext cx="41809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1043562" y="5555258"/>
            <a:ext cx="418097" cy="37164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46734" y="5926900"/>
            <a:ext cx="696828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346734" y="5508803"/>
            <a:ext cx="278731" cy="4180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14457" y="5276527"/>
            <a:ext cx="51100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51136" y="5434474"/>
            <a:ext cx="148657" cy="14865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90138" y="5269558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408235" y="5501835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90138" y="5873476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93310" y="5873476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61034" y="5223103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bld1_1707"/>
          <p:cNvSpPr/>
          <p:nvPr/>
        </p:nvSpPr>
        <p:spPr>
          <a:xfrm>
            <a:off x="548640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1708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1_1709"/>
          <p:cNvSpPr txBox="1"/>
          <p:nvPr/>
        </p:nvSpPr>
        <p:spPr>
          <a:xfrm>
            <a:off x="731520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potency</a:t>
            </a:r>
            <a:endParaRPr lang="en-US" sz="1450" dirty="0"/>
          </a:p>
        </p:txBody>
      </p:sp>
      <p:sp>
        <p:nvSpPr>
          <p:cNvPr id="24" name="bld1_1710"/>
          <p:cNvSpPr txBox="1"/>
          <p:nvPr/>
        </p:nvSpPr>
        <p:spPr>
          <a:xfrm>
            <a:off x="731520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materials are so powerful that even 10% overwhelms a scent strip — 1% or lower reveals their real character.</a:t>
            </a:r>
            <a:endParaRPr lang="en-US" sz="1080" dirty="0"/>
          </a:p>
        </p:txBody>
      </p:sp>
      <p:sp>
        <p:nvSpPr>
          <p:cNvPr id="25" name="bld2_1711"/>
          <p:cNvSpPr/>
          <p:nvPr/>
        </p:nvSpPr>
        <p:spPr>
          <a:xfrm>
            <a:off x="4332122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1712"/>
          <p:cNvSpPr/>
          <p:nvPr/>
        </p:nvSpPr>
        <p:spPr>
          <a:xfrm>
            <a:off x="4505858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7" name="bld2_1713"/>
          <p:cNvSpPr txBox="1"/>
          <p:nvPr/>
        </p:nvSpPr>
        <p:spPr>
          <a:xfrm>
            <a:off x="4515002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Accurate dosing in a formula</a:t>
            </a:r>
            <a:endParaRPr lang="en-US" sz="1450" dirty="0"/>
          </a:p>
        </p:txBody>
      </p:sp>
      <p:sp>
        <p:nvSpPr>
          <p:cNvPr id="28" name="bld2_1714"/>
          <p:cNvSpPr txBox="1"/>
          <p:nvPr/>
        </p:nvSpPr>
        <p:spPr>
          <a:xfrm>
            <a:off x="4515002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used at 0.05% of a formula needs a dilute stock — otherwise you simply can't weigh a small enough amount of the neat material.</a:t>
            </a:r>
            <a:endParaRPr lang="en-US" sz="1080" dirty="0"/>
          </a:p>
        </p:txBody>
      </p:sp>
      <p:sp>
        <p:nvSpPr>
          <p:cNvPr id="29" name="bld3_1715"/>
          <p:cNvSpPr/>
          <p:nvPr/>
        </p:nvSpPr>
        <p:spPr>
          <a:xfrm>
            <a:off x="8115605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1716"/>
          <p:cNvSpPr/>
          <p:nvPr/>
        </p:nvSpPr>
        <p:spPr>
          <a:xfrm>
            <a:off x="8289341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1" name="bld3_1717"/>
          <p:cNvSpPr txBox="1"/>
          <p:nvPr/>
        </p:nvSpPr>
        <p:spPr>
          <a:xfrm>
            <a:off x="8298485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and usage limits</a:t>
            </a:r>
            <a:endParaRPr lang="en-US" sz="1450" dirty="0"/>
          </a:p>
        </p:txBody>
      </p:sp>
      <p:sp>
        <p:nvSpPr>
          <p:cNvPr id="32" name="bld3_1718"/>
          <p:cNvSpPr txBox="1"/>
          <p:nvPr/>
        </p:nvSpPr>
        <p:spPr>
          <a:xfrm>
            <a:off x="8298485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IFRA and other guidelines cap some materials at very low percentages — a pre-made low dilution keeps you safely under the limit by default.</a:t>
            </a:r>
            <a:endParaRPr lang="en-US" sz="1080" dirty="0"/>
          </a:p>
        </p:txBody>
      </p:sp>
      <p:sp>
        <p:nvSpPr>
          <p:cNvPr id="34" name="trans_fade_10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Diluting a solid material</a:t>
            </a:r>
            <a:endParaRPr lang="en-US" sz="3200" dirty="0"/>
          </a:p>
        </p:txBody>
      </p:sp>
      <p:sp>
        <p:nvSpPr>
          <p:cNvPr id="7" name="bld1_1719"/>
          <p:cNvSpPr txBox="1"/>
          <p:nvPr/>
        </p:nvSpPr>
        <p:spPr>
          <a:xfrm>
            <a:off x="2112264" y="3538728"/>
            <a:ext cx="606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0040" y="2926080"/>
            <a:ext cx="1737360" cy="173736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188720" y="3645695"/>
            <a:ext cx="335397" cy="149065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24117" y="3645695"/>
            <a:ext cx="335397" cy="186332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524117" y="3832026"/>
            <a:ext cx="335397" cy="298131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5122" y="4130157"/>
            <a:ext cx="558996" cy="9144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965122" y="3794760"/>
            <a:ext cx="223598" cy="335397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8790" y="3608428"/>
            <a:ext cx="409930" cy="186332"/>
          </a:xfrm>
          <a:prstGeom prst="line">
            <a:avLst/>
          </a:prstGeom>
          <a:noFill/>
          <a:ln w="25400">
            <a:solidFill>
              <a:srgbClr val="3A28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29094" y="3735134"/>
            <a:ext cx="119252" cy="119252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81261" y="3602838"/>
            <a:ext cx="85713" cy="85713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816658" y="3789170"/>
            <a:ext cx="85713" cy="85713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1261" y="4087301"/>
            <a:ext cx="85713" cy="85713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2265" y="4087301"/>
            <a:ext cx="85713" cy="85713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5934" y="3565572"/>
            <a:ext cx="85713" cy="85713"/>
          </a:xfrm>
          <a:prstGeom prst="ellipse">
            <a:avLst/>
          </a:prstGeom>
          <a:solidFill>
            <a:srgbClr val="5C4230"/>
          </a:solidFill>
          <a:ln w="19050">
            <a:solidFill>
              <a:srgbClr val="EFE2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" y="2926080"/>
            <a:ext cx="1737360" cy="173736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2" name="bld1_1721"/>
          <p:cNvSpPr txBox="1"/>
          <p:nvPr/>
        </p:nvSpPr>
        <p:spPr>
          <a:xfrm>
            <a:off x="228600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</a:t>
            </a:r>
            <a:endParaRPr lang="en-US" sz="1400" dirty="0"/>
          </a:p>
        </p:txBody>
      </p:sp>
      <p:sp>
        <p:nvSpPr>
          <p:cNvPr id="23" name="bld1_1722"/>
          <p:cNvSpPr txBox="1"/>
          <p:nvPr/>
        </p:nvSpPr>
        <p:spPr>
          <a:xfrm>
            <a:off x="228600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Precisely, on the scale</a:t>
            </a:r>
            <a:endParaRPr lang="en-US" sz="1050" dirty="0"/>
          </a:p>
        </p:txBody>
      </p:sp>
      <p:sp>
        <p:nvSpPr>
          <p:cNvPr id="24" name="bld2_1723"/>
          <p:cNvSpPr txBox="1"/>
          <p:nvPr/>
        </p:nvSpPr>
        <p:spPr>
          <a:xfrm>
            <a:off x="4565828" y="3538728"/>
            <a:ext cx="606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2773604" y="2926080"/>
            <a:ext cx="1737360" cy="173736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26" name="Shape 24"/>
          <p:cNvSpPr/>
          <p:nvPr/>
        </p:nvSpPr>
        <p:spPr>
          <a:xfrm>
            <a:off x="2964713" y="3117190"/>
            <a:ext cx="1355141" cy="1355141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113779" y="3787984"/>
            <a:ext cx="1057010" cy="203271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113779" y="3618592"/>
            <a:ext cx="1057010" cy="203271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113779" y="3428872"/>
            <a:ext cx="1057010" cy="203271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773604" y="2926080"/>
            <a:ext cx="1737360" cy="173736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31" name="bld2_1725"/>
          <p:cNvSpPr txBox="1"/>
          <p:nvPr/>
        </p:nvSpPr>
        <p:spPr>
          <a:xfrm>
            <a:off x="2682164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solvent</a:t>
            </a:r>
            <a:endParaRPr lang="en-US" sz="1400" dirty="0"/>
          </a:p>
        </p:txBody>
      </p:sp>
      <p:sp>
        <p:nvSpPr>
          <p:cNvPr id="32" name="bld2_1726"/>
          <p:cNvSpPr txBox="1"/>
          <p:nvPr/>
        </p:nvSpPr>
        <p:spPr>
          <a:xfrm>
            <a:off x="2682164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calculated weight</a:t>
            </a:r>
            <a:endParaRPr lang="en-US" sz="1050" dirty="0"/>
          </a:p>
        </p:txBody>
      </p:sp>
      <p:sp>
        <p:nvSpPr>
          <p:cNvPr id="33" name="bld3_1727"/>
          <p:cNvSpPr txBox="1"/>
          <p:nvPr/>
        </p:nvSpPr>
        <p:spPr>
          <a:xfrm>
            <a:off x="7019392" y="3538728"/>
            <a:ext cx="606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5227168" y="2926080"/>
            <a:ext cx="1737360" cy="1737360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5" name="Shape 33"/>
          <p:cNvSpPr/>
          <p:nvPr/>
        </p:nvSpPr>
        <p:spPr>
          <a:xfrm rot="8100000">
            <a:off x="5757062" y="3455975"/>
            <a:ext cx="677570" cy="677570"/>
          </a:xfrm>
          <a:prstGeom prst="teardrop">
            <a:avLst/>
          </a:prstGeom>
          <a:solidFill>
            <a:srgbClr val="8A5A2E">
              <a:alpha val="9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227168" y="2926080"/>
            <a:ext cx="1737360" cy="1737360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37" name="bld3_1729"/>
          <p:cNvSpPr txBox="1"/>
          <p:nvPr/>
        </p:nvSpPr>
        <p:spPr>
          <a:xfrm>
            <a:off x="5135728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 gently</a:t>
            </a:r>
            <a:endParaRPr lang="en-US" sz="1400" dirty="0"/>
          </a:p>
        </p:txBody>
      </p:sp>
      <p:sp>
        <p:nvSpPr>
          <p:cNvPr id="38" name="bld3_1730"/>
          <p:cNvSpPr txBox="1"/>
          <p:nvPr/>
        </p:nvSpPr>
        <p:spPr>
          <a:xfrm>
            <a:off x="5135728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needed</a:t>
            </a:r>
            <a:endParaRPr lang="en-US" sz="1050" dirty="0"/>
          </a:p>
        </p:txBody>
      </p:sp>
      <p:sp>
        <p:nvSpPr>
          <p:cNvPr id="39" name="bld4_1731"/>
          <p:cNvSpPr txBox="1"/>
          <p:nvPr/>
        </p:nvSpPr>
        <p:spPr>
          <a:xfrm>
            <a:off x="9472955" y="3538728"/>
            <a:ext cx="6064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7680731" y="2926080"/>
            <a:ext cx="1737360" cy="173736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41" name="Shape 39"/>
          <p:cNvSpPr/>
          <p:nvPr/>
        </p:nvSpPr>
        <p:spPr>
          <a:xfrm rot="8100000">
            <a:off x="8210626" y="3455975"/>
            <a:ext cx="677570" cy="677570"/>
          </a:xfrm>
          <a:prstGeom prst="teardrop">
            <a:avLst/>
          </a:prstGeom>
          <a:solidFill>
            <a:srgbClr val="4090AF">
              <a:alpha val="9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680731" y="2926080"/>
            <a:ext cx="1737360" cy="173736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43" name="bld4_1733"/>
          <p:cNvSpPr txBox="1"/>
          <p:nvPr/>
        </p:nvSpPr>
        <p:spPr>
          <a:xfrm>
            <a:off x="7589291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</a:t>
            </a:r>
            <a:endParaRPr lang="en-US" sz="1400" dirty="0"/>
          </a:p>
        </p:txBody>
      </p:sp>
      <p:sp>
        <p:nvSpPr>
          <p:cNvPr id="44" name="bld4_1734"/>
          <p:cNvSpPr txBox="1"/>
          <p:nvPr/>
        </p:nvSpPr>
        <p:spPr>
          <a:xfrm>
            <a:off x="7589291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fully dissolved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10134295" y="2926080"/>
            <a:ext cx="1737360" cy="173736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46" name="Shape 44"/>
          <p:cNvSpPr/>
          <p:nvPr/>
        </p:nvSpPr>
        <p:spPr>
          <a:xfrm>
            <a:off x="10325405" y="3117190"/>
            <a:ext cx="1355141" cy="1355141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0498333" y="3455975"/>
            <a:ext cx="10092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0428415" y="3681832"/>
            <a:ext cx="114912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0428415" y="3907688"/>
            <a:ext cx="114912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10498333" y="4133545"/>
            <a:ext cx="10092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10134295" y="2926080"/>
            <a:ext cx="1737360" cy="173736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52" name="bld5_1736"/>
          <p:cNvSpPr txBox="1"/>
          <p:nvPr/>
        </p:nvSpPr>
        <p:spPr>
          <a:xfrm>
            <a:off x="10042855" y="48280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</a:t>
            </a:r>
            <a:endParaRPr lang="en-US" sz="1400" dirty="0"/>
          </a:p>
        </p:txBody>
      </p:sp>
      <p:sp>
        <p:nvSpPr>
          <p:cNvPr id="53" name="bld5_1737"/>
          <p:cNvSpPr txBox="1"/>
          <p:nvPr/>
        </p:nvSpPr>
        <p:spPr>
          <a:xfrm>
            <a:off x="10042855" y="51755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Material, %, solvent, date</a:t>
            </a:r>
            <a:endParaRPr lang="en-US" sz="1050" dirty="0"/>
          </a:p>
        </p:txBody>
      </p:sp>
      <p:sp>
        <p:nvSpPr>
          <p:cNvPr id="55" name="trans_push_l_10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6" name="Text 5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4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2" grpId="0"/>
      <p:bldP spid="23" grpId="0"/>
      <p:bldP spid="24" grpId="0"/>
      <p:bldP spid="31" grpId="0"/>
      <p:bldP spid="32" grpId="0"/>
      <p:bldP spid="33" grpId="0"/>
      <p:bldP spid="37" grpId="0"/>
      <p:bldP spid="38" grpId="0"/>
      <p:bldP spid="39" grpId="0"/>
      <p:bldP spid="43" grpId="0"/>
      <p:bldP spid="44" grpId="0"/>
      <p:bldP spid="52" grpId="0"/>
      <p:bldP spid="53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STRENGTH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Dilution depends on potency and purpose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73333" y="4756671"/>
            <a:ext cx="1504264" cy="1504264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4857" y="5398195"/>
            <a:ext cx="221215" cy="221215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1738"/>
          <p:cNvSpPr/>
          <p:nvPr/>
        </p:nvSpPr>
        <p:spPr>
          <a:xfrm>
            <a:off x="548640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bld1_1739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12" name="bld1_1740"/>
          <p:cNvSpPr txBox="1"/>
          <p:nvPr/>
        </p:nvSpPr>
        <p:spPr>
          <a:xfrm>
            <a:off x="731520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Often evaluated at 100%</a:t>
            </a:r>
            <a:endParaRPr lang="en-US" sz="1450" dirty="0"/>
          </a:p>
        </p:txBody>
      </p:sp>
      <p:sp>
        <p:nvSpPr>
          <p:cNvPr id="13" name="bld1_1741"/>
          <p:cNvSpPr txBox="1"/>
          <p:nvPr/>
        </p:nvSpPr>
        <p:spPr>
          <a:xfrm>
            <a:off x="731520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Gentle, low-impact materials — many light woods and musks.</a:t>
            </a:r>
            <a:endParaRPr lang="en-US" sz="1080" dirty="0"/>
          </a:p>
        </p:txBody>
      </p:sp>
      <p:sp>
        <p:nvSpPr>
          <p:cNvPr id="14" name="bld2_1742"/>
          <p:cNvSpPr/>
          <p:nvPr/>
        </p:nvSpPr>
        <p:spPr>
          <a:xfrm>
            <a:off x="4332122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2_1743"/>
          <p:cNvSpPr/>
          <p:nvPr/>
        </p:nvSpPr>
        <p:spPr>
          <a:xfrm>
            <a:off x="4505858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6" name="bld2_1744"/>
          <p:cNvSpPr txBox="1"/>
          <p:nvPr/>
        </p:nvSpPr>
        <p:spPr>
          <a:xfrm>
            <a:off x="4515002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Often evaluated at 10%</a:t>
            </a:r>
            <a:endParaRPr lang="en-US" sz="1450" dirty="0"/>
          </a:p>
        </p:txBody>
      </p:sp>
      <p:sp>
        <p:nvSpPr>
          <p:cNvPr id="17" name="bld2_1745"/>
          <p:cNvSpPr txBox="1"/>
          <p:nvPr/>
        </p:nvSpPr>
        <p:spPr>
          <a:xfrm>
            <a:off x="4515002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for most working materials in a formula.</a:t>
            </a:r>
            <a:endParaRPr lang="en-US" sz="1080" dirty="0"/>
          </a:p>
        </p:txBody>
      </p:sp>
      <p:sp>
        <p:nvSpPr>
          <p:cNvPr id="18" name="bld3_1746"/>
          <p:cNvSpPr/>
          <p:nvPr/>
        </p:nvSpPr>
        <p:spPr>
          <a:xfrm>
            <a:off x="8115605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3_1747"/>
          <p:cNvSpPr/>
          <p:nvPr/>
        </p:nvSpPr>
        <p:spPr>
          <a:xfrm>
            <a:off x="8289341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0" name="bld3_1748"/>
          <p:cNvSpPr txBox="1"/>
          <p:nvPr/>
        </p:nvSpPr>
        <p:spPr>
          <a:xfrm>
            <a:off x="8298485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Often evaluated at 1%</a:t>
            </a:r>
            <a:endParaRPr lang="en-US" sz="1450" dirty="0"/>
          </a:p>
        </p:txBody>
      </p:sp>
      <p:sp>
        <p:nvSpPr>
          <p:cNvPr id="21" name="bld3_1749"/>
          <p:cNvSpPr txBox="1"/>
          <p:nvPr/>
        </p:nvSpPr>
        <p:spPr>
          <a:xfrm>
            <a:off x="8298485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trace materials — strong musks, some florals, superpower synthetics.</a:t>
            </a:r>
            <a:endParaRPr lang="en-US" sz="1080" dirty="0"/>
          </a:p>
        </p:txBody>
      </p:sp>
      <p:sp>
        <p:nvSpPr>
          <p:cNvPr id="23" name="trans_fade_10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EFE6D2"/>
          </a:solidFill>
          <a:ln/>
        </p:spPr>
      </p:sp>
      <p:sp>
        <p:nvSpPr>
          <p:cNvPr id="3" name="Shape 1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THIS EVERY TIME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ideal dilution label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3158712" y="2265883"/>
            <a:ext cx="1214617" cy="342351"/>
          </a:xfrm>
          <a:prstGeom prst="roundRect">
            <a:avLst>
              <a:gd name="adj" fmla="val 10684"/>
            </a:avLst>
          </a:prstGeom>
          <a:solidFill>
            <a:srgbClr val="0E0D0B"/>
          </a:solidFill>
          <a:ln/>
        </p:spPr>
      </p:sp>
      <p:sp>
        <p:nvSpPr>
          <p:cNvPr id="9" name="Shape 7"/>
          <p:cNvSpPr/>
          <p:nvPr/>
        </p:nvSpPr>
        <p:spPr>
          <a:xfrm>
            <a:off x="3237926" y="2608235"/>
            <a:ext cx="1056188" cy="547762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79970" y="3155997"/>
            <a:ext cx="3772101" cy="2533400"/>
          </a:xfrm>
          <a:prstGeom prst="roundRect">
            <a:avLst>
              <a:gd name="adj" fmla="val 4331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16546" y="4296027"/>
            <a:ext cx="3698949" cy="1356794"/>
          </a:xfrm>
          <a:prstGeom prst="roundRect">
            <a:avLst>
              <a:gd name="adj" fmla="val 6739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408064" y="4017353"/>
            <a:ext cx="2715913" cy="658684"/>
          </a:xfrm>
          <a:prstGeom prst="roundRect">
            <a:avLst>
              <a:gd name="adj" fmla="val 4165"/>
            </a:avLst>
          </a:prstGeom>
          <a:solidFill>
            <a:srgbClr val="FAF6EC">
              <a:alpha val="92000"/>
            </a:srgbClr>
          </a:solidFill>
          <a:ln w="9525">
            <a:solidFill>
              <a:srgbClr val="CFC5A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17736" y="2646274"/>
            <a:ext cx="46596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Material:  Hedione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317736" y="3264408"/>
            <a:ext cx="46596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Dilution:  10% in DPG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317736" y="3882542"/>
            <a:ext cx="46596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Solvent:  DPG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317736" y="4500677"/>
            <a:ext cx="46596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 Prepared today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Material, dilution, solvent, date — every single bottle, no exceptions.</a:t>
            </a:r>
            <a:endParaRPr lang="en-US" sz="1200" dirty="0"/>
          </a:p>
        </p:txBody>
      </p:sp>
      <p:sp>
        <p:nvSpPr>
          <p:cNvPr id="19" name="trans_fade_10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0" name="Text 1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C9A354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C9A354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C9A35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in doubt, dilute. You can always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stronger — you can't un-smell overload.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04</a:t>
            </a:r>
            <a:endParaRPr lang="en-US" sz="1100" dirty="0"/>
          </a:p>
        </p:txBody>
      </p:sp>
      <p:sp>
        <p:nvSpPr>
          <p:cNvPr id="10" name="trans_fade_10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30588" y="2182673"/>
            <a:ext cx="274192" cy="2492654"/>
          </a:xfrm>
          <a:prstGeom prst="roundRect">
            <a:avLst>
              <a:gd name="adj" fmla="val 667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44304" y="3827825"/>
            <a:ext cx="246760" cy="829214"/>
          </a:xfrm>
          <a:prstGeom prst="roundRect">
            <a:avLst>
              <a:gd name="adj" fmla="val 5558"/>
            </a:avLst>
          </a:prstGeom>
          <a:solidFill>
            <a:srgbClr val="6E7A50">
              <a:alpha val="75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05 · NOSE TRAINING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Your Nose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Like A Perfumer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nose is a muscle. This module is how professionals actually train it.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a strip across 48 real hours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record, every single time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actually build lasting scent memory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  <p:sp>
        <p:nvSpPr>
          <p:cNvPr id="20" name="trans_fade_10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HABIT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on a strip, across real time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822960" y="3657600"/>
            <a:ext cx="10545775" cy="91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bld1_1750"/>
          <p:cNvSpPr/>
          <p:nvPr/>
        </p:nvSpPr>
        <p:spPr>
          <a:xfrm>
            <a:off x="740664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9" name="bld1_1751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0" name="bld1_1752"/>
          <p:cNvSpPr txBox="1"/>
          <p:nvPr/>
        </p:nvSpPr>
        <p:spPr>
          <a:xfrm>
            <a:off x="4572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min</a:t>
            </a:r>
            <a:endParaRPr lang="en-US" sz="1200" dirty="0"/>
          </a:p>
        </p:txBody>
      </p:sp>
      <p:sp>
        <p:nvSpPr>
          <p:cNvPr id="11" name="bld1_1753"/>
          <p:cNvSpPr txBox="1"/>
          <p:nvPr/>
        </p:nvSpPr>
        <p:spPr>
          <a:xfrm>
            <a:off x="4572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impression</a:t>
            </a:r>
            <a:endParaRPr lang="en-US" sz="1050" dirty="0"/>
          </a:p>
        </p:txBody>
      </p:sp>
      <p:sp>
        <p:nvSpPr>
          <p:cNvPr id="12" name="bld2_1754"/>
          <p:cNvSpPr/>
          <p:nvPr/>
        </p:nvSpPr>
        <p:spPr>
          <a:xfrm>
            <a:off x="2849819" y="3575304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3" name="bld2_1755"/>
          <p:cNvSpPr/>
          <p:nvPr/>
        </p:nvSpPr>
        <p:spPr>
          <a:xfrm>
            <a:off x="2767523" y="3493008"/>
            <a:ext cx="329184" cy="329184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14" name="bld2_1756"/>
          <p:cNvSpPr txBox="1"/>
          <p:nvPr/>
        </p:nvSpPr>
        <p:spPr>
          <a:xfrm>
            <a:off x="215487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200" dirty="0"/>
          </a:p>
        </p:txBody>
      </p:sp>
      <p:sp>
        <p:nvSpPr>
          <p:cNvPr id="15" name="bld2_1757"/>
          <p:cNvSpPr txBox="1"/>
          <p:nvPr/>
        </p:nvSpPr>
        <p:spPr>
          <a:xfrm>
            <a:off x="215487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note settling</a:t>
            </a:r>
            <a:endParaRPr lang="en-US" sz="1050" dirty="0"/>
          </a:p>
        </p:txBody>
      </p:sp>
      <p:sp>
        <p:nvSpPr>
          <p:cNvPr id="16" name="bld3_1758"/>
          <p:cNvSpPr/>
          <p:nvPr/>
        </p:nvSpPr>
        <p:spPr>
          <a:xfrm>
            <a:off x="4958974" y="3575304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7" name="bld3_1759"/>
          <p:cNvSpPr/>
          <p:nvPr/>
        </p:nvSpPr>
        <p:spPr>
          <a:xfrm>
            <a:off x="4876678" y="3493008"/>
            <a:ext cx="329184" cy="329184"/>
          </a:xfrm>
          <a:prstGeom prst="ellipse">
            <a:avLst/>
          </a:prstGeom>
          <a:ln w="12802">
            <a:solidFill>
              <a:srgbClr val="5B3A52"/>
            </a:solidFill>
            <a:prstDash val="solid"/>
          </a:ln>
        </p:spPr>
      </p:sp>
      <p:sp>
        <p:nvSpPr>
          <p:cNvPr id="18" name="bld3_1760"/>
          <p:cNvSpPr txBox="1"/>
          <p:nvPr/>
        </p:nvSpPr>
        <p:spPr>
          <a:xfrm>
            <a:off x="426403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hour</a:t>
            </a:r>
            <a:endParaRPr lang="en-US" sz="1200" dirty="0"/>
          </a:p>
        </p:txBody>
      </p:sp>
      <p:sp>
        <p:nvSpPr>
          <p:cNvPr id="19" name="bld3_1761"/>
          <p:cNvSpPr txBox="1"/>
          <p:nvPr/>
        </p:nvSpPr>
        <p:spPr>
          <a:xfrm>
            <a:off x="426403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emerging</a:t>
            </a:r>
            <a:endParaRPr lang="en-US" sz="1050" dirty="0"/>
          </a:p>
        </p:txBody>
      </p:sp>
      <p:sp>
        <p:nvSpPr>
          <p:cNvPr id="20" name="bld4_1762"/>
          <p:cNvSpPr/>
          <p:nvPr/>
        </p:nvSpPr>
        <p:spPr>
          <a:xfrm>
            <a:off x="7068129" y="3575304"/>
            <a:ext cx="164592" cy="164592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1" name="bld4_1763"/>
          <p:cNvSpPr/>
          <p:nvPr/>
        </p:nvSpPr>
        <p:spPr>
          <a:xfrm>
            <a:off x="6985833" y="3493008"/>
            <a:ext cx="329184" cy="329184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22" name="bld4_1764"/>
          <p:cNvSpPr txBox="1"/>
          <p:nvPr/>
        </p:nvSpPr>
        <p:spPr>
          <a:xfrm>
            <a:off x="637318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hours</a:t>
            </a:r>
            <a:endParaRPr lang="en-US" sz="1200" dirty="0"/>
          </a:p>
        </p:txBody>
      </p:sp>
      <p:sp>
        <p:nvSpPr>
          <p:cNvPr id="23" name="bld4_1765"/>
          <p:cNvSpPr txBox="1"/>
          <p:nvPr/>
        </p:nvSpPr>
        <p:spPr>
          <a:xfrm>
            <a:off x="637318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 maturing</a:t>
            </a:r>
            <a:endParaRPr lang="en-US" sz="1050" dirty="0"/>
          </a:p>
        </p:txBody>
      </p:sp>
      <p:sp>
        <p:nvSpPr>
          <p:cNvPr id="24" name="bld5_1766"/>
          <p:cNvSpPr/>
          <p:nvPr/>
        </p:nvSpPr>
        <p:spPr>
          <a:xfrm>
            <a:off x="9177284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5_1767"/>
          <p:cNvSpPr/>
          <p:nvPr/>
        </p:nvSpPr>
        <p:spPr>
          <a:xfrm>
            <a:off x="9094988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26" name="bld5_1768"/>
          <p:cNvSpPr txBox="1"/>
          <p:nvPr/>
        </p:nvSpPr>
        <p:spPr>
          <a:xfrm>
            <a:off x="848234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hours</a:t>
            </a:r>
            <a:endParaRPr lang="en-US" sz="1200" dirty="0"/>
          </a:p>
        </p:txBody>
      </p:sp>
      <p:sp>
        <p:nvSpPr>
          <p:cNvPr id="27" name="bld5_1769"/>
          <p:cNvSpPr txBox="1"/>
          <p:nvPr/>
        </p:nvSpPr>
        <p:spPr>
          <a:xfrm>
            <a:off x="848234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Drydown forming</a:t>
            </a:r>
            <a:endParaRPr lang="en-US" sz="1050" dirty="0"/>
          </a:p>
        </p:txBody>
      </p:sp>
      <p:sp>
        <p:nvSpPr>
          <p:cNvPr id="28" name="bld6_1770"/>
          <p:cNvSpPr/>
          <p:nvPr/>
        </p:nvSpPr>
        <p:spPr>
          <a:xfrm>
            <a:off x="11286439" y="3575304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9" name="bld6_1771"/>
          <p:cNvSpPr/>
          <p:nvPr/>
        </p:nvSpPr>
        <p:spPr>
          <a:xfrm>
            <a:off x="11204143" y="3493008"/>
            <a:ext cx="329184" cy="329184"/>
          </a:xfrm>
          <a:prstGeom prst="ellipse">
            <a:avLst/>
          </a:prstGeom>
          <a:ln w="12802">
            <a:solidFill>
              <a:srgbClr val="5B3A52"/>
            </a:solidFill>
            <a:prstDash val="solid"/>
          </a:ln>
        </p:spPr>
      </p:sp>
      <p:sp>
        <p:nvSpPr>
          <p:cNvPr id="30" name="bld6_1772"/>
          <p:cNvSpPr txBox="1"/>
          <p:nvPr/>
        </p:nvSpPr>
        <p:spPr>
          <a:xfrm>
            <a:off x="1059149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hours</a:t>
            </a:r>
            <a:endParaRPr lang="en-US" sz="1200" dirty="0"/>
          </a:p>
        </p:txBody>
      </p:sp>
      <p:sp>
        <p:nvSpPr>
          <p:cNvPr id="31" name="bld6_1773"/>
          <p:cNvSpPr txBox="1"/>
          <p:nvPr/>
        </p:nvSpPr>
        <p:spPr>
          <a:xfrm>
            <a:off x="1059149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Final, true character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you only smelled at 0 minutes is a material you don't actually know yet.</a:t>
            </a:r>
            <a:endParaRPr lang="en-US" sz="1250" dirty="0"/>
          </a:p>
        </p:txBody>
      </p:sp>
      <p:sp>
        <p:nvSpPr>
          <p:cNvPr id="34" name="trans_push_l_10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RECORD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Consistent evaluation, every single time</a:t>
            </a:r>
            <a:endParaRPr lang="en-US" sz="3200" dirty="0"/>
          </a:p>
        </p:txBody>
      </p:sp>
      <p:sp>
        <p:nvSpPr>
          <p:cNvPr id="7" name="bld1_1774"/>
          <p:cNvSpPr/>
          <p:nvPr/>
        </p:nvSpPr>
        <p:spPr>
          <a:xfrm>
            <a:off x="548640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775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1776"/>
          <p:cNvSpPr txBox="1"/>
          <p:nvPr/>
        </p:nvSpPr>
        <p:spPr>
          <a:xfrm>
            <a:off x="731520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impression</a:t>
            </a:r>
            <a:endParaRPr lang="en-US" sz="1450" dirty="0"/>
          </a:p>
        </p:txBody>
      </p:sp>
      <p:sp>
        <p:nvSpPr>
          <p:cNvPr id="10" name="bld1_1777"/>
          <p:cNvSpPr txBox="1"/>
          <p:nvPr/>
        </p:nvSpPr>
        <p:spPr>
          <a:xfrm>
            <a:off x="731520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gut reaction, unfiltered.</a:t>
            </a:r>
            <a:endParaRPr lang="en-US" sz="1080" dirty="0"/>
          </a:p>
        </p:txBody>
      </p:sp>
      <p:sp>
        <p:nvSpPr>
          <p:cNvPr id="11" name="bld2_1778"/>
          <p:cNvSpPr/>
          <p:nvPr/>
        </p:nvSpPr>
        <p:spPr>
          <a:xfrm>
            <a:off x="3386252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1779"/>
          <p:cNvSpPr/>
          <p:nvPr/>
        </p:nvSpPr>
        <p:spPr>
          <a:xfrm>
            <a:off x="355998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1780"/>
          <p:cNvSpPr txBox="1"/>
          <p:nvPr/>
        </p:nvSpPr>
        <p:spPr>
          <a:xfrm>
            <a:off x="3569132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Character</a:t>
            </a:r>
            <a:endParaRPr lang="en-US" sz="1450" dirty="0"/>
          </a:p>
        </p:txBody>
      </p:sp>
      <p:sp>
        <p:nvSpPr>
          <p:cNvPr id="14" name="bld2_1781"/>
          <p:cNvSpPr txBox="1"/>
          <p:nvPr/>
        </p:nvSpPr>
        <p:spPr>
          <a:xfrm>
            <a:off x="3569132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family, what mood, what texture.</a:t>
            </a:r>
            <a:endParaRPr lang="en-US" sz="1080" dirty="0"/>
          </a:p>
        </p:txBody>
      </p:sp>
      <p:sp>
        <p:nvSpPr>
          <p:cNvPr id="15" name="bld3_1782"/>
          <p:cNvSpPr/>
          <p:nvPr/>
        </p:nvSpPr>
        <p:spPr>
          <a:xfrm>
            <a:off x="6223864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1783"/>
          <p:cNvSpPr/>
          <p:nvPr/>
        </p:nvSpPr>
        <p:spPr>
          <a:xfrm>
            <a:off x="6397600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1784"/>
          <p:cNvSpPr txBox="1"/>
          <p:nvPr/>
        </p:nvSpPr>
        <p:spPr>
          <a:xfrm>
            <a:off x="6406744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</a:t>
            </a:r>
            <a:endParaRPr lang="en-US" sz="1450" dirty="0"/>
          </a:p>
        </p:txBody>
      </p:sp>
      <p:sp>
        <p:nvSpPr>
          <p:cNvPr id="18" name="bld3_1785"/>
          <p:cNvSpPr txBox="1"/>
          <p:nvPr/>
        </p:nvSpPr>
        <p:spPr>
          <a:xfrm>
            <a:off x="6406744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intense at each time point.</a:t>
            </a:r>
            <a:endParaRPr lang="en-US" sz="1080" dirty="0"/>
          </a:p>
        </p:txBody>
      </p:sp>
      <p:sp>
        <p:nvSpPr>
          <p:cNvPr id="19" name="bld4_1786"/>
          <p:cNvSpPr/>
          <p:nvPr/>
        </p:nvSpPr>
        <p:spPr>
          <a:xfrm>
            <a:off x="9061475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1787"/>
          <p:cNvSpPr/>
          <p:nvPr/>
        </p:nvSpPr>
        <p:spPr>
          <a:xfrm>
            <a:off x="9235211" y="2096171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4_1788"/>
          <p:cNvSpPr txBox="1"/>
          <p:nvPr/>
        </p:nvSpPr>
        <p:spPr>
          <a:xfrm>
            <a:off x="9244355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</a:t>
            </a:r>
            <a:endParaRPr lang="en-US" sz="1450" dirty="0"/>
          </a:p>
        </p:txBody>
      </p:sp>
      <p:sp>
        <p:nvSpPr>
          <p:cNvPr id="22" name="bld4_1789"/>
          <p:cNvSpPr txBox="1"/>
          <p:nvPr/>
        </p:nvSpPr>
        <p:spPr>
          <a:xfrm>
            <a:off x="9244355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it reaches from the strip.</a:t>
            </a:r>
            <a:endParaRPr lang="en-US" sz="1080" dirty="0"/>
          </a:p>
        </p:txBody>
      </p:sp>
      <p:sp>
        <p:nvSpPr>
          <p:cNvPr id="23" name="bld5_1790"/>
          <p:cNvSpPr/>
          <p:nvPr/>
        </p:nvSpPr>
        <p:spPr>
          <a:xfrm>
            <a:off x="548640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1791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5_1792"/>
          <p:cNvSpPr txBox="1"/>
          <p:nvPr/>
        </p:nvSpPr>
        <p:spPr>
          <a:xfrm>
            <a:off x="731520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Changes</a:t>
            </a:r>
            <a:endParaRPr lang="en-US" sz="1450" dirty="0"/>
          </a:p>
        </p:txBody>
      </p:sp>
      <p:sp>
        <p:nvSpPr>
          <p:cNvPr id="26" name="bld5_1793"/>
          <p:cNvSpPr txBox="1"/>
          <p:nvPr/>
        </p:nvSpPr>
        <p:spPr>
          <a:xfrm>
            <a:off x="731520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shifts between checkpoints.</a:t>
            </a:r>
            <a:endParaRPr lang="en-US" sz="1080" dirty="0"/>
          </a:p>
        </p:txBody>
      </p:sp>
      <p:sp>
        <p:nvSpPr>
          <p:cNvPr id="27" name="bld6_1794"/>
          <p:cNvSpPr/>
          <p:nvPr/>
        </p:nvSpPr>
        <p:spPr>
          <a:xfrm>
            <a:off x="3386252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1795"/>
          <p:cNvSpPr/>
          <p:nvPr/>
        </p:nvSpPr>
        <p:spPr>
          <a:xfrm>
            <a:off x="3559988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1796"/>
          <p:cNvSpPr txBox="1"/>
          <p:nvPr/>
        </p:nvSpPr>
        <p:spPr>
          <a:xfrm>
            <a:off x="3569132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Drydown</a:t>
            </a:r>
            <a:endParaRPr lang="en-US" sz="1450" dirty="0"/>
          </a:p>
        </p:txBody>
      </p:sp>
      <p:sp>
        <p:nvSpPr>
          <p:cNvPr id="30" name="bld6_1797"/>
          <p:cNvSpPr txBox="1"/>
          <p:nvPr/>
        </p:nvSpPr>
        <p:spPr>
          <a:xfrm>
            <a:off x="3569132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remains once it settles.</a:t>
            </a:r>
            <a:endParaRPr lang="en-US" sz="1080" dirty="0"/>
          </a:p>
        </p:txBody>
      </p:sp>
      <p:sp>
        <p:nvSpPr>
          <p:cNvPr id="31" name="bld7_1798"/>
          <p:cNvSpPr/>
          <p:nvPr/>
        </p:nvSpPr>
        <p:spPr>
          <a:xfrm>
            <a:off x="6223864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bld7_1799"/>
          <p:cNvSpPr/>
          <p:nvPr/>
        </p:nvSpPr>
        <p:spPr>
          <a:xfrm>
            <a:off x="6397600" y="4135283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3" name="bld7_1800"/>
          <p:cNvSpPr txBox="1"/>
          <p:nvPr/>
        </p:nvSpPr>
        <p:spPr>
          <a:xfrm>
            <a:off x="6406744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Associations</a:t>
            </a:r>
            <a:endParaRPr lang="en-US" sz="1450" dirty="0"/>
          </a:p>
        </p:txBody>
      </p:sp>
      <p:sp>
        <p:nvSpPr>
          <p:cNvPr id="34" name="bld7_1801"/>
          <p:cNvSpPr txBox="1"/>
          <p:nvPr/>
        </p:nvSpPr>
        <p:spPr>
          <a:xfrm>
            <a:off x="6406744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reminds you of.</a:t>
            </a:r>
            <a:endParaRPr lang="en-US" sz="1080" dirty="0"/>
          </a:p>
        </p:txBody>
      </p:sp>
      <p:sp>
        <p:nvSpPr>
          <p:cNvPr id="35" name="bld8_1802"/>
          <p:cNvSpPr/>
          <p:nvPr/>
        </p:nvSpPr>
        <p:spPr>
          <a:xfrm>
            <a:off x="9061475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bld8_1803"/>
          <p:cNvSpPr/>
          <p:nvPr/>
        </p:nvSpPr>
        <p:spPr>
          <a:xfrm>
            <a:off x="9235211" y="4135283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7" name="bld8_1804"/>
          <p:cNvSpPr txBox="1"/>
          <p:nvPr/>
        </p:nvSpPr>
        <p:spPr>
          <a:xfrm>
            <a:off x="9244355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Possible uses</a:t>
            </a:r>
            <a:endParaRPr lang="en-US" sz="1450" dirty="0"/>
          </a:p>
        </p:txBody>
      </p:sp>
      <p:sp>
        <p:nvSpPr>
          <p:cNvPr id="38" name="bld8_1805"/>
          <p:cNvSpPr txBox="1"/>
          <p:nvPr/>
        </p:nvSpPr>
        <p:spPr>
          <a:xfrm>
            <a:off x="9244355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might work in a formula.</a:t>
            </a:r>
            <a:endParaRPr lang="en-US" sz="1080" dirty="0"/>
          </a:p>
        </p:txBody>
      </p:sp>
      <p:sp>
        <p:nvSpPr>
          <p:cNvPr id="40" name="trans_fade_10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1" name="Text 3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8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MISTAKE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Neat alone can mislead you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C5646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C5646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7738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31454" y="4206697"/>
            <a:ext cx="390796" cy="932231"/>
          </a:xfrm>
          <a:prstGeom prst="roundRect">
            <a:avLst>
              <a:gd name="adj" fmla="val 3510"/>
            </a:avLst>
          </a:prstGeom>
          <a:solidFill>
            <a:srgbClr val="5B3A52">
              <a:alpha val="7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465412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79128" y="3446282"/>
            <a:ext cx="390796" cy="1692646"/>
          </a:xfrm>
          <a:prstGeom prst="roundRect">
            <a:avLst>
              <a:gd name="adj" fmla="val 3510"/>
            </a:avLst>
          </a:prstGeom>
          <a:solidFill>
            <a:srgbClr val="5C5646">
              <a:alpha val="7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13085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26801" y="2685867"/>
            <a:ext cx="390796" cy="2453061"/>
          </a:xfrm>
          <a:prstGeom prst="roundRect">
            <a:avLst>
              <a:gd name="adj" fmla="val 3510"/>
            </a:avLst>
          </a:prstGeom>
          <a:solidFill>
            <a:srgbClr val="C9A354">
              <a:alpha val="75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material, three strengths — three different lessons.</a:t>
            </a:r>
            <a:endParaRPr lang="en-US" sz="1050" dirty="0"/>
          </a:p>
        </p:txBody>
      </p:sp>
      <p:sp>
        <p:nvSpPr>
          <p:cNvPr id="17" name="bld1_1806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8" name="bld1_1807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Powerful materials overwhelm at 100%</a:t>
            </a:r>
            <a:endParaRPr lang="en-US" sz="1650" dirty="0"/>
          </a:p>
        </p:txBody>
      </p:sp>
      <p:sp>
        <p:nvSpPr>
          <p:cNvPr id="19" name="bld1_1808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materials are so potent neat that your nose can't parse their real character.</a:t>
            </a:r>
            <a:endParaRPr lang="en-US" sz="1250" dirty="0"/>
          </a:p>
        </p:txBody>
      </p:sp>
      <p:sp>
        <p:nvSpPr>
          <p:cNvPr id="20" name="bld2_1809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1" name="bld2_1810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Formulas rarely use materials neat</a:t>
            </a:r>
            <a:endParaRPr lang="en-US" sz="1650" dirty="0"/>
          </a:p>
        </p:txBody>
      </p:sp>
      <p:sp>
        <p:nvSpPr>
          <p:cNvPr id="22" name="bld2_1811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almost always work with the material diluted — so evaluate it the way you'll actually use it.</a:t>
            </a:r>
            <a:endParaRPr lang="en-US" sz="1250" dirty="0"/>
          </a:p>
        </p:txBody>
      </p:sp>
      <p:sp>
        <p:nvSpPr>
          <p:cNvPr id="23" name="bld3_1812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4" name="bld3_1813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across the dilution ladder</a:t>
            </a:r>
            <a:endParaRPr lang="en-US" sz="1650" dirty="0"/>
          </a:p>
        </p:txBody>
      </p:sp>
      <p:sp>
        <p:nvSpPr>
          <p:cNvPr id="25" name="bld3_1814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 material at 100%, 10% and 1% to understand how its character shifts with concentration.</a:t>
            </a:r>
            <a:endParaRPr lang="en-US" sz="1250" dirty="0"/>
          </a:p>
        </p:txBody>
      </p:sp>
      <p:sp>
        <p:nvSpPr>
          <p:cNvPr id="27" name="trans_fade_11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DIGITAL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your material log should track</a:t>
            </a:r>
            <a:endParaRPr lang="en-US" sz="3200" dirty="0"/>
          </a:p>
        </p:txBody>
      </p:sp>
      <p:sp>
        <p:nvSpPr>
          <p:cNvPr id="7" name="bld1_1815"/>
          <p:cNvSpPr/>
          <p:nvPr/>
        </p:nvSpPr>
        <p:spPr>
          <a:xfrm>
            <a:off x="548640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1816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1817"/>
          <p:cNvSpPr txBox="1"/>
          <p:nvPr/>
        </p:nvSpPr>
        <p:spPr>
          <a:xfrm>
            <a:off x="731520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</a:t>
            </a:r>
            <a:endParaRPr lang="en-US" sz="1450" dirty="0"/>
          </a:p>
        </p:txBody>
      </p:sp>
      <p:sp>
        <p:nvSpPr>
          <p:cNvPr id="10" name="bld1_1818"/>
          <p:cNvSpPr txBox="1"/>
          <p:nvPr/>
        </p:nvSpPr>
        <p:spPr>
          <a:xfrm>
            <a:off x="731520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name and CAS if known.</a:t>
            </a:r>
            <a:endParaRPr lang="en-US" sz="1080" dirty="0"/>
          </a:p>
        </p:txBody>
      </p:sp>
      <p:sp>
        <p:nvSpPr>
          <p:cNvPr id="11" name="bld2_1819"/>
          <p:cNvSpPr/>
          <p:nvPr/>
        </p:nvSpPr>
        <p:spPr>
          <a:xfrm>
            <a:off x="3386252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1820"/>
          <p:cNvSpPr/>
          <p:nvPr/>
        </p:nvSpPr>
        <p:spPr>
          <a:xfrm>
            <a:off x="355998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1821"/>
          <p:cNvSpPr txBox="1"/>
          <p:nvPr/>
        </p:nvSpPr>
        <p:spPr>
          <a:xfrm>
            <a:off x="3569132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Supplier</a:t>
            </a:r>
            <a:endParaRPr lang="en-US" sz="1450" dirty="0"/>
          </a:p>
        </p:txBody>
      </p:sp>
      <p:sp>
        <p:nvSpPr>
          <p:cNvPr id="14" name="bld2_1822"/>
          <p:cNvSpPr txBox="1"/>
          <p:nvPr/>
        </p:nvSpPr>
        <p:spPr>
          <a:xfrm>
            <a:off x="3569132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was sourced.</a:t>
            </a:r>
            <a:endParaRPr lang="en-US" sz="1080" dirty="0"/>
          </a:p>
        </p:txBody>
      </p:sp>
      <p:sp>
        <p:nvSpPr>
          <p:cNvPr id="15" name="bld3_1823"/>
          <p:cNvSpPr/>
          <p:nvPr/>
        </p:nvSpPr>
        <p:spPr>
          <a:xfrm>
            <a:off x="6223864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1824"/>
          <p:cNvSpPr/>
          <p:nvPr/>
        </p:nvSpPr>
        <p:spPr>
          <a:xfrm>
            <a:off x="6397600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1825"/>
          <p:cNvSpPr txBox="1"/>
          <p:nvPr/>
        </p:nvSpPr>
        <p:spPr>
          <a:xfrm>
            <a:off x="6406744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Dilution</a:t>
            </a:r>
            <a:endParaRPr lang="en-US" sz="1450" dirty="0"/>
          </a:p>
        </p:txBody>
      </p:sp>
      <p:sp>
        <p:nvSpPr>
          <p:cNvPr id="18" name="bld3_1826"/>
          <p:cNvSpPr txBox="1"/>
          <p:nvPr/>
        </p:nvSpPr>
        <p:spPr>
          <a:xfrm>
            <a:off x="6406744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 and solvent used.</a:t>
            </a:r>
            <a:endParaRPr lang="en-US" sz="1080" dirty="0"/>
          </a:p>
        </p:txBody>
      </p:sp>
      <p:sp>
        <p:nvSpPr>
          <p:cNvPr id="19" name="bld4_1827"/>
          <p:cNvSpPr/>
          <p:nvPr/>
        </p:nvSpPr>
        <p:spPr>
          <a:xfrm>
            <a:off x="9061475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1828"/>
          <p:cNvSpPr/>
          <p:nvPr/>
        </p:nvSpPr>
        <p:spPr>
          <a:xfrm>
            <a:off x="9235211" y="2096171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4_1829"/>
          <p:cNvSpPr txBox="1"/>
          <p:nvPr/>
        </p:nvSpPr>
        <p:spPr>
          <a:xfrm>
            <a:off x="9244355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Description</a:t>
            </a:r>
            <a:endParaRPr lang="en-US" sz="1450" dirty="0"/>
          </a:p>
        </p:txBody>
      </p:sp>
      <p:sp>
        <p:nvSpPr>
          <p:cNvPr id="22" name="bld4_1830"/>
          <p:cNvSpPr txBox="1"/>
          <p:nvPr/>
        </p:nvSpPr>
        <p:spPr>
          <a:xfrm>
            <a:off x="9244355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written evaluation.</a:t>
            </a:r>
            <a:endParaRPr lang="en-US" sz="1080" dirty="0"/>
          </a:p>
        </p:txBody>
      </p:sp>
      <p:sp>
        <p:nvSpPr>
          <p:cNvPr id="23" name="bld5_1831"/>
          <p:cNvSpPr/>
          <p:nvPr/>
        </p:nvSpPr>
        <p:spPr>
          <a:xfrm>
            <a:off x="548640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1832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5_1833"/>
          <p:cNvSpPr txBox="1"/>
          <p:nvPr/>
        </p:nvSpPr>
        <p:spPr>
          <a:xfrm>
            <a:off x="731520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Longevity</a:t>
            </a:r>
            <a:endParaRPr lang="en-US" sz="1450" dirty="0"/>
          </a:p>
        </p:txBody>
      </p:sp>
      <p:sp>
        <p:nvSpPr>
          <p:cNvPr id="26" name="bld5_1834"/>
          <p:cNvSpPr txBox="1"/>
          <p:nvPr/>
        </p:nvSpPr>
        <p:spPr>
          <a:xfrm>
            <a:off x="731520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it lasted on strip.</a:t>
            </a:r>
            <a:endParaRPr lang="en-US" sz="1080" dirty="0"/>
          </a:p>
        </p:txBody>
      </p:sp>
      <p:sp>
        <p:nvSpPr>
          <p:cNvPr id="27" name="bld6_1835"/>
          <p:cNvSpPr/>
          <p:nvPr/>
        </p:nvSpPr>
        <p:spPr>
          <a:xfrm>
            <a:off x="3386252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1836"/>
          <p:cNvSpPr/>
          <p:nvPr/>
        </p:nvSpPr>
        <p:spPr>
          <a:xfrm>
            <a:off x="3559988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1837"/>
          <p:cNvSpPr txBox="1"/>
          <p:nvPr/>
        </p:nvSpPr>
        <p:spPr>
          <a:xfrm>
            <a:off x="3569132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</a:t>
            </a:r>
            <a:endParaRPr lang="en-US" sz="1450" dirty="0"/>
          </a:p>
        </p:txBody>
      </p:sp>
      <p:sp>
        <p:nvSpPr>
          <p:cNvPr id="30" name="bld6_1838"/>
          <p:cNvSpPr txBox="1"/>
          <p:nvPr/>
        </p:nvSpPr>
        <p:spPr>
          <a:xfrm>
            <a:off x="3569132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olfactory group it belongs to.</a:t>
            </a:r>
            <a:endParaRPr lang="en-US" sz="1080" dirty="0"/>
          </a:p>
        </p:txBody>
      </p:sp>
      <p:sp>
        <p:nvSpPr>
          <p:cNvPr id="31" name="bld7_1839"/>
          <p:cNvSpPr/>
          <p:nvPr/>
        </p:nvSpPr>
        <p:spPr>
          <a:xfrm>
            <a:off x="6223864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bld7_1840"/>
          <p:cNvSpPr/>
          <p:nvPr/>
        </p:nvSpPr>
        <p:spPr>
          <a:xfrm>
            <a:off x="6397600" y="4135283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3" name="bld7_1841"/>
          <p:cNvSpPr txBox="1"/>
          <p:nvPr/>
        </p:nvSpPr>
        <p:spPr>
          <a:xfrm>
            <a:off x="6406744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usage</a:t>
            </a:r>
            <a:endParaRPr lang="en-US" sz="1450" dirty="0"/>
          </a:p>
        </p:txBody>
      </p:sp>
      <p:sp>
        <p:nvSpPr>
          <p:cNvPr id="34" name="bld7_1842"/>
          <p:cNvSpPr txBox="1"/>
          <p:nvPr/>
        </p:nvSpPr>
        <p:spPr>
          <a:xfrm>
            <a:off x="6406744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formulas it's appeared in.</a:t>
            </a:r>
            <a:endParaRPr lang="en-US" sz="1080" dirty="0"/>
          </a:p>
        </p:txBody>
      </p:sp>
      <p:sp>
        <p:nvSpPr>
          <p:cNvPr id="36" name="trans_fade_11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7" name="Text 3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7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LONG GAME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actually build scent memory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29090" y="4712428"/>
            <a:ext cx="1592750" cy="159275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625465" y="5322982"/>
            <a:ext cx="418097" cy="185821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3562" y="5322982"/>
            <a:ext cx="41809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1043562" y="5555258"/>
            <a:ext cx="418097" cy="37164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46734" y="5926900"/>
            <a:ext cx="696828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346734" y="5508803"/>
            <a:ext cx="278731" cy="41809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14457" y="5276527"/>
            <a:ext cx="511007" cy="232276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51136" y="5434474"/>
            <a:ext cx="148657" cy="14865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90138" y="5269558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408235" y="5501835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90138" y="5873476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93310" y="5873476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61034" y="5223103"/>
            <a:ext cx="106847" cy="106847"/>
          </a:xfrm>
          <a:prstGeom prst="ellipse">
            <a:avLst/>
          </a:prstGeom>
          <a:solidFill>
            <a:srgbClr val="6E7A50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bld1_1843"/>
          <p:cNvSpPr/>
          <p:nvPr/>
        </p:nvSpPr>
        <p:spPr>
          <a:xfrm>
            <a:off x="548640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1844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1_1845"/>
          <p:cNvSpPr txBox="1"/>
          <p:nvPr/>
        </p:nvSpPr>
        <p:spPr>
          <a:xfrm>
            <a:off x="731520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Blind comparisons</a:t>
            </a:r>
            <a:endParaRPr lang="en-US" sz="1450" dirty="0"/>
          </a:p>
        </p:txBody>
      </p:sp>
      <p:sp>
        <p:nvSpPr>
          <p:cNvPr id="24" name="bld1_1846"/>
          <p:cNvSpPr txBox="1"/>
          <p:nvPr/>
        </p:nvSpPr>
        <p:spPr>
          <a:xfrm>
            <a:off x="731520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Smell unlabelled strips, guess the material, then check — this forces active recall instead of passive sniffing.</a:t>
            </a:r>
            <a:endParaRPr lang="en-US" sz="1080" dirty="0"/>
          </a:p>
        </p:txBody>
      </p:sp>
      <p:sp>
        <p:nvSpPr>
          <p:cNvPr id="25" name="bld2_1847"/>
          <p:cNvSpPr/>
          <p:nvPr/>
        </p:nvSpPr>
        <p:spPr>
          <a:xfrm>
            <a:off x="3386252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1848"/>
          <p:cNvSpPr/>
          <p:nvPr/>
        </p:nvSpPr>
        <p:spPr>
          <a:xfrm>
            <a:off x="3559988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7" name="bld2_1849"/>
          <p:cNvSpPr txBox="1"/>
          <p:nvPr/>
        </p:nvSpPr>
        <p:spPr>
          <a:xfrm>
            <a:off x="3569132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Revisit monthly</a:t>
            </a:r>
            <a:endParaRPr lang="en-US" sz="1450" dirty="0"/>
          </a:p>
        </p:txBody>
      </p:sp>
      <p:sp>
        <p:nvSpPr>
          <p:cNvPr id="28" name="bld2_1850"/>
          <p:cNvSpPr txBox="1"/>
          <p:nvPr/>
        </p:nvSpPr>
        <p:spPr>
          <a:xfrm>
            <a:off x="3569132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Re-smell materials you "know" every few weeks. Memory fades faster than confidence does.</a:t>
            </a:r>
            <a:endParaRPr lang="en-US" sz="1080" dirty="0"/>
          </a:p>
        </p:txBody>
      </p:sp>
      <p:sp>
        <p:nvSpPr>
          <p:cNvPr id="29" name="bld3_1851"/>
          <p:cNvSpPr/>
          <p:nvPr/>
        </p:nvSpPr>
        <p:spPr>
          <a:xfrm>
            <a:off x="6223864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1852"/>
          <p:cNvSpPr/>
          <p:nvPr/>
        </p:nvSpPr>
        <p:spPr>
          <a:xfrm>
            <a:off x="6397600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1853"/>
          <p:cNvSpPr txBox="1"/>
          <p:nvPr/>
        </p:nvSpPr>
        <p:spPr>
          <a:xfrm>
            <a:off x="6406744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Pair opposites</a:t>
            </a:r>
            <a:endParaRPr lang="en-US" sz="1450" dirty="0"/>
          </a:p>
        </p:txBody>
      </p:sp>
      <p:sp>
        <p:nvSpPr>
          <p:cNvPr id="32" name="bld3_1854"/>
          <p:cNvSpPr txBox="1"/>
          <p:nvPr/>
        </p:nvSpPr>
        <p:spPr>
          <a:xfrm>
            <a:off x="6406744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Smell two contrasting materials back to back — a sharp citrus against a soft musk sharpens perception of both.</a:t>
            </a:r>
            <a:endParaRPr lang="en-US" sz="1080" dirty="0"/>
          </a:p>
        </p:txBody>
      </p:sp>
      <p:sp>
        <p:nvSpPr>
          <p:cNvPr id="33" name="bld4_1855"/>
          <p:cNvSpPr/>
          <p:nvPr/>
        </p:nvSpPr>
        <p:spPr>
          <a:xfrm>
            <a:off x="9061475" y="2330806"/>
            <a:ext cx="25815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bld4_1856"/>
          <p:cNvSpPr/>
          <p:nvPr/>
        </p:nvSpPr>
        <p:spPr>
          <a:xfrm>
            <a:off x="9235211" y="2504542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4_1857"/>
          <p:cNvSpPr txBox="1"/>
          <p:nvPr/>
        </p:nvSpPr>
        <p:spPr>
          <a:xfrm>
            <a:off x="9244355" y="2788006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Anchor with association</a:t>
            </a:r>
            <a:endParaRPr lang="en-US" sz="1450" dirty="0"/>
          </a:p>
        </p:txBody>
      </p:sp>
      <p:sp>
        <p:nvSpPr>
          <p:cNvPr id="36" name="bld4_1858"/>
          <p:cNvSpPr txBox="1"/>
          <p:nvPr/>
        </p:nvSpPr>
        <p:spPr>
          <a:xfrm>
            <a:off x="9244355" y="3117190"/>
            <a:ext cx="22158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a smell to a vivid image or memory of your own — invented associations stick better than technical descriptions.</a:t>
            </a:r>
            <a:endParaRPr lang="en-US" sz="1080" dirty="0"/>
          </a:p>
        </p:txBody>
      </p:sp>
      <p:sp>
        <p:nvSpPr>
          <p:cNvPr id="38" name="trans_fade_11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9" name="Text 3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EFE6D2"/>
          </a:solidFill>
          <a:ln/>
        </p:spPr>
      </p:sp>
      <p:sp>
        <p:nvSpPr>
          <p:cNvPr id="3" name="Shape 1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SAMPLE RECORD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one material evaluation looks like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1436193" y="2075688"/>
            <a:ext cx="9319309" cy="3803904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73937" y="2313432"/>
            <a:ext cx="256032" cy="25603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076273" y="2295144"/>
            <a:ext cx="840490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Absolute — Bulgarian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801953" y="2852928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1801953" y="3072384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095848" y="2852928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095848" y="3072384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in DPG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801953" y="3419856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1801953" y="3639312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Medium–long (8h+)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095848" y="3419856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095848" y="3639312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Honeyed, green, slightly spiced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801953" y="3986784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DRYDOWN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801953" y="4206240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powdery, lightly sweet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095848" y="3986784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USE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095848" y="4206240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of a floral formula, rounds out fruity accords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exact shape of a good digital material card — recreate it for every material you own.</a:t>
            </a:r>
            <a:endParaRPr lang="en-US" sz="1200" dirty="0"/>
          </a:p>
        </p:txBody>
      </p:sp>
      <p:sp>
        <p:nvSpPr>
          <p:cNvPr id="25" name="trans_fade_11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6" name="Text 2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8C3B49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8C3B49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8C3B4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nose is a muscle. Train it daily,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writing — not just in passing sniffs.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05</a:t>
            </a:r>
            <a:endParaRPr lang="en-US" sz="1100" dirty="0"/>
          </a:p>
        </p:txBody>
      </p:sp>
      <p:sp>
        <p:nvSpPr>
          <p:cNvPr id="10" name="trans_fade_11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62772" y="1924812"/>
            <a:ext cx="3008376" cy="3008376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8100000">
            <a:off x="9279331" y="2741371"/>
            <a:ext cx="1375258" cy="1375258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06 · BUILDING ACCORDS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Materials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Accords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where perfumery gets creative — combining individual materials into one recognisable smell.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apple, amber and leather into facets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Jean Carles method, step by step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Iterating an accord until it reads true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  <p:sp>
        <p:nvSpPr>
          <p:cNvPr id="20" name="trans_fade_11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IDEA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an accord?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296266" y="1839115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4320000">
            <a:off x="9758275" y="2174784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8640000">
            <a:off x="9581803" y="271790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2960000">
            <a:off x="9010728" y="271790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7280000">
            <a:off x="8834257" y="2174784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306324" y="2611544"/>
            <a:ext cx="482768" cy="48276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or four materials → one unmistakable rose.</a:t>
            </a:r>
            <a:endParaRPr lang="en-US" sz="1050" dirty="0"/>
          </a:p>
        </p:txBody>
      </p:sp>
      <p:sp>
        <p:nvSpPr>
          <p:cNvPr id="17" name="bld1_1859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8" name="bld1_1860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 materials, one smell</a:t>
            </a:r>
            <a:endParaRPr lang="en-US" sz="1650" dirty="0"/>
          </a:p>
        </p:txBody>
      </p:sp>
      <p:sp>
        <p:nvSpPr>
          <p:cNvPr id="19" name="bld1_1861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accord happens when separate materials blend so completely they read as a single, new impression.</a:t>
            </a:r>
            <a:endParaRPr lang="en-US" sz="1250" dirty="0"/>
          </a:p>
        </p:txBody>
      </p:sp>
      <p:sp>
        <p:nvSpPr>
          <p:cNvPr id="20" name="bld2_1862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bld2_1863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exceeds the parts</a:t>
            </a:r>
            <a:endParaRPr lang="en-US" sz="1650" dirty="0"/>
          </a:p>
        </p:txBody>
      </p:sp>
      <p:sp>
        <p:nvSpPr>
          <p:cNvPr id="22" name="bld2_1864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no longer smell the individual materials — you smell "rose," not "three chemicals."</a:t>
            </a:r>
            <a:endParaRPr lang="en-US" sz="1250" dirty="0"/>
          </a:p>
        </p:txBody>
      </p:sp>
      <p:sp>
        <p:nvSpPr>
          <p:cNvPr id="23" name="bld3_1865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4" name="bld3_1866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building block of formulas</a:t>
            </a:r>
            <a:endParaRPr lang="en-US" sz="1650" dirty="0"/>
          </a:p>
        </p:txBody>
      </p:sp>
      <p:sp>
        <p:nvSpPr>
          <p:cNvPr id="25" name="bld3_1867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complete perfume is really a composition of several accords working together.</a:t>
            </a:r>
            <a:endParaRPr lang="en-US" sz="1250" dirty="0"/>
          </a:p>
        </p:txBody>
      </p:sp>
      <p:sp>
        <p:nvSpPr>
          <p:cNvPr id="27" name="trans_fade_11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FAMILIAR TARGETS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Accords you already know</a:t>
            </a:r>
            <a:endParaRPr lang="en-US" sz="3200" dirty="0"/>
          </a:p>
        </p:txBody>
      </p:sp>
      <p:sp>
        <p:nvSpPr>
          <p:cNvPr id="7" name="bld1_1868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9" name="Shape 7"/>
          <p:cNvSpPr/>
          <p:nvPr/>
        </p:nvSpPr>
        <p:spPr>
          <a:xfrm>
            <a:off x="2113516" y="2041080"/>
            <a:ext cx="397698" cy="397698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306879" y="2031380"/>
            <a:ext cx="914" cy="67900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00">
            <a:off x="2330653" y="2011980"/>
            <a:ext cx="92150" cy="63050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13" name="bld1_1870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Apple</a:t>
            </a:r>
            <a:endParaRPr lang="en-US" sz="1450" dirty="0"/>
          </a:p>
        </p:txBody>
      </p:sp>
      <p:sp>
        <p:nvSpPr>
          <p:cNvPr id="14" name="bld1_1871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Juicy, green, slightly sweet.</a:t>
            </a:r>
            <a:endParaRPr lang="en-US" sz="1080" dirty="0"/>
          </a:p>
        </p:txBody>
      </p:sp>
      <p:sp>
        <p:nvSpPr>
          <p:cNvPr id="15" name="bld2_1872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7" name="Shape 15"/>
          <p:cNvSpPr/>
          <p:nvPr/>
        </p:nvSpPr>
        <p:spPr>
          <a:xfrm>
            <a:off x="6035223" y="1976090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4320000">
            <a:off x="6146617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8640000">
            <a:off x="6104068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2960000">
            <a:off x="5966377" y="2187975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7280000">
            <a:off x="5923829" y="2057023"/>
            <a:ext cx="121249" cy="254624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037648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3" name="Shape 21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4" name="bld2_1874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</a:t>
            </a:r>
            <a:endParaRPr lang="en-US" sz="1450" dirty="0"/>
          </a:p>
        </p:txBody>
      </p:sp>
      <p:sp>
        <p:nvSpPr>
          <p:cNvPr id="25" name="bld2_1875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Honeyed, green, floral.</a:t>
            </a:r>
            <a:endParaRPr lang="en-US" sz="1080" dirty="0"/>
          </a:p>
        </p:txBody>
      </p:sp>
      <p:sp>
        <p:nvSpPr>
          <p:cNvPr id="26" name="bld3_1876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8" name="Shape 26"/>
          <p:cNvSpPr/>
          <p:nvPr/>
        </p:nvSpPr>
        <p:spPr>
          <a:xfrm rot="9000000">
            <a:off x="9758081" y="2108979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6000000">
            <a:off x="9695031" y="2079880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11400000">
            <a:off x="9893880" y="2050780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2" name="bld3_1878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</a:t>
            </a:r>
            <a:endParaRPr lang="en-US" sz="1450" dirty="0"/>
          </a:p>
        </p:txBody>
      </p:sp>
      <p:sp>
        <p:nvSpPr>
          <p:cNvPr id="33" name="bld3_1879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resinous, enveloping.</a:t>
            </a:r>
            <a:endParaRPr lang="en-US" sz="1080" dirty="0"/>
          </a:p>
        </p:txBody>
      </p:sp>
      <p:sp>
        <p:nvSpPr>
          <p:cNvPr id="34" name="bld4_1880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6" name="Shape 34"/>
          <p:cNvSpPr/>
          <p:nvPr/>
        </p:nvSpPr>
        <p:spPr>
          <a:xfrm>
            <a:off x="2069866" y="4337182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2131756" y="4458432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2106733" y="453926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2106733" y="4620097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2131756" y="470093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42" name="bld4_1882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Leather</a:t>
            </a:r>
            <a:endParaRPr lang="en-US" sz="1450" dirty="0"/>
          </a:p>
        </p:txBody>
      </p:sp>
      <p:sp>
        <p:nvSpPr>
          <p:cNvPr id="43" name="bld4_1883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Smoky, dry, animalic.</a:t>
            </a:r>
            <a:endParaRPr lang="en-US" sz="1080" dirty="0"/>
          </a:p>
        </p:txBody>
      </p:sp>
      <p:sp>
        <p:nvSpPr>
          <p:cNvPr id="44" name="bld5_1884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46" name="Shape 44"/>
          <p:cNvSpPr/>
          <p:nvPr/>
        </p:nvSpPr>
        <p:spPr>
          <a:xfrm rot="840000">
            <a:off x="6037648" y="4349307"/>
            <a:ext cx="116399" cy="460748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840000">
            <a:off x="6090361" y="4405082"/>
            <a:ext cx="914" cy="34919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041285" y="441841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9" name="Shape 47"/>
          <p:cNvSpPr/>
          <p:nvPr/>
        </p:nvSpPr>
        <p:spPr>
          <a:xfrm>
            <a:off x="6058745" y="447855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0" name="Shape 48"/>
          <p:cNvSpPr/>
          <p:nvPr/>
        </p:nvSpPr>
        <p:spPr>
          <a:xfrm>
            <a:off x="6076205" y="4538699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1" name="Shape 49"/>
          <p:cNvSpPr/>
          <p:nvPr/>
        </p:nvSpPr>
        <p:spPr>
          <a:xfrm>
            <a:off x="6093665" y="459883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2" name="Shape 50"/>
          <p:cNvSpPr/>
          <p:nvPr/>
        </p:nvSpPr>
        <p:spPr>
          <a:xfrm>
            <a:off x="6111125" y="465897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3" name="Shape 51"/>
          <p:cNvSpPr/>
          <p:nvPr/>
        </p:nvSpPr>
        <p:spPr>
          <a:xfrm>
            <a:off x="6128585" y="4719118"/>
            <a:ext cx="21825" cy="21825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54" name="Shape 52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55" name="bld5_1886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Vanilla</a:t>
            </a:r>
            <a:endParaRPr lang="en-US" sz="1450" dirty="0"/>
          </a:p>
        </p:txBody>
      </p:sp>
      <p:sp>
        <p:nvSpPr>
          <p:cNvPr id="56" name="bld5_1887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warm, gourmand.</a:t>
            </a:r>
            <a:endParaRPr lang="en-US" sz="1080" dirty="0"/>
          </a:p>
        </p:txBody>
      </p:sp>
      <p:sp>
        <p:nvSpPr>
          <p:cNvPr id="57" name="bld6_1888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59" name="Shape 57"/>
          <p:cNvSpPr/>
          <p:nvPr/>
        </p:nvSpPr>
        <p:spPr>
          <a:xfrm rot="15300000">
            <a:off x="9715131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13050000">
            <a:off x="9760603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10800000">
            <a:off x="9838105" y="457968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8550000">
            <a:off x="9915608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 rot="6300000">
            <a:off x="9961079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65" name="bld6_1890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Fresh-cut grass</a:t>
            </a:r>
            <a:endParaRPr lang="en-US" sz="1450" dirty="0"/>
          </a:p>
        </p:txBody>
      </p:sp>
      <p:sp>
        <p:nvSpPr>
          <p:cNvPr id="66" name="bld6_1891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green, sappy.</a:t>
            </a:r>
            <a:endParaRPr lang="en-US" sz="1080" dirty="0"/>
          </a:p>
        </p:txBody>
      </p:sp>
      <p:sp>
        <p:nvSpPr>
          <p:cNvPr id="68" name="trans_fade_11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9" name="Text 6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3" grpId="0"/>
      <p:bldP spid="14" grpId="0"/>
      <p:bldP spid="15" grpId="0"/>
      <p:bldP spid="24" grpId="0"/>
      <p:bldP spid="25" grpId="0"/>
      <p:bldP spid="26" grpId="0"/>
      <p:bldP spid="32" grpId="0"/>
      <p:bldP spid="33" grpId="0"/>
      <p:bldP spid="34" grpId="0"/>
      <p:bldP spid="42" grpId="0"/>
      <p:bldP spid="43" grpId="0"/>
      <p:bldP spid="44" grpId="0"/>
      <p:bldP spid="55" grpId="0"/>
      <p:bldP spid="56" grpId="0"/>
      <p:bldP spid="57" grpId="0"/>
      <p:bldP spid="65" grpId="0"/>
      <p:bldP spid="66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APPLE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actually makes something smell like apple?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8" name="Shape 6"/>
          <p:cNvSpPr/>
          <p:nvPr/>
        </p:nvSpPr>
        <p:spPr>
          <a:xfrm>
            <a:off x="2776612" y="3402281"/>
            <a:ext cx="1579096" cy="1579096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560674" y="3363767"/>
            <a:ext cx="914" cy="269602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2000000">
            <a:off x="3584448" y="3286738"/>
            <a:ext cx="365888" cy="250344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ln w="36576">
            <a:solidFill>
              <a:srgbClr val="C950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03120" y="55138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200" kern="0" dirty="0">
                <a:solidFill>
                  <a:srgbClr val="8A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</a:t>
            </a:r>
            <a:endParaRPr lang="en-US" sz="1350" dirty="0"/>
          </a:p>
        </p:txBody>
      </p:sp>
      <p:sp>
        <p:nvSpPr>
          <p:cNvPr id="13" name="bld1_1892"/>
          <p:cNvSpPr/>
          <p:nvPr/>
        </p:nvSpPr>
        <p:spPr>
          <a:xfrm flipV="1">
            <a:off x="4627778" y="2148840"/>
            <a:ext cx="3173700" cy="1965960"/>
          </a:xfrm>
          <a:prstGeom prst="line">
            <a:avLst/>
          </a:prstGeom>
          <a:noFill/>
          <a:ln w="19050">
            <a:solidFill>
              <a:srgbClr val="8A5A2E">
                <a:alpha val="75000"/>
              </a:srgbClr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7754112" y="1810512"/>
            <a:ext cx="676656" cy="676656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15" name="Shape 13"/>
          <p:cNvSpPr/>
          <p:nvPr/>
        </p:nvSpPr>
        <p:spPr>
          <a:xfrm>
            <a:off x="7828544" y="1884944"/>
            <a:ext cx="527792" cy="527792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902435" y="1958835"/>
            <a:ext cx="380010" cy="380010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007993" y="2064393"/>
            <a:ext cx="168893" cy="168893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7754112" y="1810512"/>
            <a:ext cx="676656" cy="676656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19" name="bld1_1894"/>
          <p:cNvSpPr txBox="1"/>
          <p:nvPr/>
        </p:nvSpPr>
        <p:spPr>
          <a:xfrm>
            <a:off x="8567928" y="197510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Sweetness</a:t>
            </a:r>
            <a:endParaRPr lang="en-US" sz="1350" dirty="0"/>
          </a:p>
        </p:txBody>
      </p:sp>
      <p:sp>
        <p:nvSpPr>
          <p:cNvPr id="20" name="bld2_1895"/>
          <p:cNvSpPr/>
          <p:nvPr/>
        </p:nvSpPr>
        <p:spPr>
          <a:xfrm flipV="1">
            <a:off x="4627778" y="2971800"/>
            <a:ext cx="3173700" cy="1143000"/>
          </a:xfrm>
          <a:prstGeom prst="line">
            <a:avLst/>
          </a:prstGeom>
          <a:noFill/>
          <a:ln w="19050">
            <a:solidFill>
              <a:srgbClr val="5C8A45">
                <a:alpha val="75000"/>
              </a:srgbClr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754112" y="2633472"/>
            <a:ext cx="676656" cy="676656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22" name="Shape 20"/>
          <p:cNvSpPr/>
          <p:nvPr/>
        </p:nvSpPr>
        <p:spPr>
          <a:xfrm rot="15300000">
            <a:off x="7913753" y="2869113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13050000">
            <a:off x="7963237" y="2943170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0800000">
            <a:off x="8047578" y="2971800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8550000">
            <a:off x="8131919" y="2943170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6300000">
            <a:off x="8181402" y="2869113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7754112" y="2633472"/>
            <a:ext cx="676656" cy="676656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28" name="bld2_1897"/>
          <p:cNvSpPr txBox="1"/>
          <p:nvPr/>
        </p:nvSpPr>
        <p:spPr>
          <a:xfrm>
            <a:off x="8567928" y="279806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character</a:t>
            </a:r>
            <a:endParaRPr lang="en-US" sz="1350" dirty="0"/>
          </a:p>
        </p:txBody>
      </p:sp>
      <p:sp>
        <p:nvSpPr>
          <p:cNvPr id="29" name="bld3_1898"/>
          <p:cNvSpPr/>
          <p:nvPr/>
        </p:nvSpPr>
        <p:spPr>
          <a:xfrm flipV="1">
            <a:off x="4627778" y="3794760"/>
            <a:ext cx="3173700" cy="320040"/>
          </a:xfrm>
          <a:prstGeom prst="line">
            <a:avLst/>
          </a:prstGeom>
          <a:noFill/>
          <a:ln w="19050">
            <a:solidFill>
              <a:srgbClr val="C9503E">
                <a:alpha val="75000"/>
              </a:srgbClr>
            </a:solidFill>
            <a:prstDash val="sysDot"/>
          </a:ln>
        </p:spPr>
      </p:sp>
      <p:sp>
        <p:nvSpPr>
          <p:cNvPr id="30" name="Shape 28"/>
          <p:cNvSpPr/>
          <p:nvPr/>
        </p:nvSpPr>
        <p:spPr>
          <a:xfrm>
            <a:off x="7754112" y="3456432"/>
            <a:ext cx="676656" cy="676656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31" name="Shape 29"/>
          <p:cNvSpPr/>
          <p:nvPr/>
        </p:nvSpPr>
        <p:spPr>
          <a:xfrm>
            <a:off x="7876045" y="3599477"/>
            <a:ext cx="432789" cy="432789"/>
          </a:xfrm>
          <a:prstGeom prst="ellipse">
            <a:avLst/>
          </a:prstGeom>
          <a:solidFill>
            <a:srgbClr val="C9503E">
              <a:alpha val="96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8086954" y="3588921"/>
            <a:ext cx="914" cy="73891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2000000">
            <a:off x="8110728" y="3567810"/>
            <a:ext cx="100280" cy="68613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7754112" y="3456432"/>
            <a:ext cx="676656" cy="676656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35" name="bld3_1900"/>
          <p:cNvSpPr txBox="1"/>
          <p:nvPr/>
        </p:nvSpPr>
        <p:spPr>
          <a:xfrm>
            <a:off x="8567928" y="362102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Juiciness</a:t>
            </a:r>
            <a:endParaRPr lang="en-US" sz="1350" dirty="0"/>
          </a:p>
        </p:txBody>
      </p:sp>
      <p:sp>
        <p:nvSpPr>
          <p:cNvPr id="36" name="bld4_1901"/>
          <p:cNvSpPr/>
          <p:nvPr/>
        </p:nvSpPr>
        <p:spPr>
          <a:xfrm>
            <a:off x="4627778" y="4114800"/>
            <a:ext cx="3173700" cy="502920"/>
          </a:xfrm>
          <a:prstGeom prst="line">
            <a:avLst/>
          </a:prstGeom>
          <a:noFill/>
          <a:ln w="19050">
            <a:solidFill>
              <a:srgbClr val="C9503E">
                <a:alpha val="75000"/>
              </a:srgbClr>
            </a:solidFill>
            <a:prstDash val="sysDot"/>
          </a:ln>
        </p:spPr>
      </p:sp>
      <p:sp>
        <p:nvSpPr>
          <p:cNvPr id="37" name="Shape 35"/>
          <p:cNvSpPr/>
          <p:nvPr/>
        </p:nvSpPr>
        <p:spPr>
          <a:xfrm>
            <a:off x="7754112" y="4279392"/>
            <a:ext cx="676656" cy="676656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38" name="Shape 36"/>
          <p:cNvSpPr/>
          <p:nvPr/>
        </p:nvSpPr>
        <p:spPr>
          <a:xfrm>
            <a:off x="7876045" y="4422437"/>
            <a:ext cx="432789" cy="432789"/>
          </a:xfrm>
          <a:prstGeom prst="ellipse">
            <a:avLst/>
          </a:prstGeom>
          <a:solidFill>
            <a:srgbClr val="E8A85E">
              <a:alpha val="96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8086954" y="4411881"/>
            <a:ext cx="914" cy="73891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12000000">
            <a:off x="8110728" y="4390770"/>
            <a:ext cx="100280" cy="68613"/>
          </a:xfrm>
          <a:prstGeom prst="teardrop">
            <a:avLst/>
          </a:prstGeom>
          <a:solidFill>
            <a:srgbClr val="5C8A45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754112" y="4279392"/>
            <a:ext cx="676656" cy="676656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42" name="bld4_1903"/>
          <p:cNvSpPr txBox="1"/>
          <p:nvPr/>
        </p:nvSpPr>
        <p:spPr>
          <a:xfrm>
            <a:off x="8567928" y="444398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Fruitiness</a:t>
            </a:r>
            <a:endParaRPr lang="en-US" sz="1350" dirty="0"/>
          </a:p>
        </p:txBody>
      </p:sp>
      <p:sp>
        <p:nvSpPr>
          <p:cNvPr id="43" name="bld5_1904"/>
          <p:cNvSpPr/>
          <p:nvPr/>
        </p:nvSpPr>
        <p:spPr>
          <a:xfrm>
            <a:off x="4627778" y="4114800"/>
            <a:ext cx="3173700" cy="1325880"/>
          </a:xfrm>
          <a:prstGeom prst="line">
            <a:avLst/>
          </a:prstGeom>
          <a:noFill/>
          <a:ln w="19050">
            <a:solidFill>
              <a:srgbClr val="9EC24C">
                <a:alpha val="75000"/>
              </a:srgbClr>
            </a:solidFill>
            <a:prstDash val="sysDot"/>
          </a:ln>
        </p:spPr>
      </p:sp>
      <p:sp>
        <p:nvSpPr>
          <p:cNvPr id="44" name="Shape 42"/>
          <p:cNvSpPr/>
          <p:nvPr/>
        </p:nvSpPr>
        <p:spPr>
          <a:xfrm>
            <a:off x="7754112" y="5102352"/>
            <a:ext cx="676656" cy="676656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45" name="Shape 43"/>
          <p:cNvSpPr/>
          <p:nvPr/>
        </p:nvSpPr>
        <p:spPr>
          <a:xfrm>
            <a:off x="7828544" y="5176784"/>
            <a:ext cx="527792" cy="527792"/>
          </a:xfrm>
          <a:prstGeom prst="ellipse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865490" y="5213730"/>
            <a:ext cx="453901" cy="453901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47" name="Shape 45"/>
          <p:cNvSpPr/>
          <p:nvPr/>
        </p:nvSpPr>
        <p:spPr>
          <a:xfrm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216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432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648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864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080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296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1512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728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19440000">
            <a:off x="8079245" y="5229563"/>
            <a:ext cx="26390" cy="205839"/>
          </a:xfrm>
          <a:prstGeom prst="ellipse">
            <a:avLst/>
          </a:prstGeom>
          <a:solidFill>
            <a:srgbClr val="8FBF6B">
              <a:alpha val="8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066050" y="5414290"/>
            <a:ext cx="52779" cy="5277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58" name="Shape 56"/>
          <p:cNvSpPr/>
          <p:nvPr/>
        </p:nvSpPr>
        <p:spPr>
          <a:xfrm>
            <a:off x="7754112" y="5102352"/>
            <a:ext cx="676656" cy="676656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59" name="bld5_1906"/>
          <p:cNvSpPr txBox="1"/>
          <p:nvPr/>
        </p:nvSpPr>
        <p:spPr>
          <a:xfrm>
            <a:off x="8567928" y="526694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Freshness</a:t>
            </a:r>
            <a:endParaRPr lang="en-US" sz="1350" dirty="0"/>
          </a:p>
        </p:txBody>
      </p:sp>
      <p:sp>
        <p:nvSpPr>
          <p:cNvPr id="60" name="bld6_1907"/>
          <p:cNvSpPr/>
          <p:nvPr/>
        </p:nvSpPr>
        <p:spPr>
          <a:xfrm>
            <a:off x="4627778" y="4114800"/>
            <a:ext cx="3173700" cy="2148840"/>
          </a:xfrm>
          <a:prstGeom prst="line">
            <a:avLst/>
          </a:prstGeom>
          <a:noFill/>
          <a:ln w="19050">
            <a:solidFill>
              <a:srgbClr val="5C4230">
                <a:alpha val="75000"/>
              </a:srgbClr>
            </a:solidFill>
            <a:prstDash val="sysDot"/>
          </a:ln>
        </p:spPr>
      </p:sp>
      <p:sp>
        <p:nvSpPr>
          <p:cNvPr id="61" name="Shape 59"/>
          <p:cNvSpPr/>
          <p:nvPr/>
        </p:nvSpPr>
        <p:spPr>
          <a:xfrm>
            <a:off x="7754112" y="5925312"/>
            <a:ext cx="676656" cy="676656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62" name="Shape 60"/>
          <p:cNvSpPr/>
          <p:nvPr/>
        </p:nvSpPr>
        <p:spPr>
          <a:xfrm>
            <a:off x="7828544" y="5999744"/>
            <a:ext cx="527792" cy="527792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7895895" y="6131692"/>
            <a:ext cx="39309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7868664" y="6219657"/>
            <a:ext cx="4475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7868664" y="6307623"/>
            <a:ext cx="4475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895895" y="6395588"/>
            <a:ext cx="39309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7754112" y="5925312"/>
            <a:ext cx="676656" cy="676656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68" name="bld6_1909"/>
          <p:cNvSpPr txBox="1"/>
          <p:nvPr/>
        </p:nvSpPr>
        <p:spPr>
          <a:xfrm>
            <a:off x="8567928" y="608990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Skin / peel</a:t>
            </a:r>
            <a:endParaRPr lang="en-US" sz="1350" dirty="0"/>
          </a:p>
        </p:txBody>
      </p:sp>
      <p:sp>
        <p:nvSpPr>
          <p:cNvPr id="70" name="trans_push_l_11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1" name="Text 6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9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9" grpId="0"/>
      <p:bldP spid="20" grpId="0"/>
      <p:bldP spid="28" grpId="0"/>
      <p:bldP spid="29" grpId="0"/>
      <p:bldP spid="35" grpId="0"/>
      <p:bldP spid="36" grpId="0"/>
      <p:bldP spid="42" grpId="0"/>
      <p:bldP spid="43" grpId="0"/>
      <p:bldP spid="59" grpId="0"/>
      <p:bldP spid="60" grpId="0"/>
      <p:bldP spid="68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APPLE, CONTINUED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Mapping materials to each facet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8C3B49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8C3B49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41941" y="2077590"/>
            <a:ext cx="2011534" cy="2011534"/>
          </a:xfrm>
          <a:prstGeom prst="ellipse">
            <a:avLst/>
          </a:prstGeom>
          <a:solidFill>
            <a:srgbClr val="6E7A50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682748" y="2218397"/>
            <a:ext cx="1729919" cy="172991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2" name="Shape 10"/>
          <p:cNvSpPr/>
          <p:nvPr/>
        </p:nvSpPr>
        <p:spPr>
          <a:xfrm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3600000"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7200000"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4400000"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8000000"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447131" y="2982780"/>
            <a:ext cx="201153" cy="20115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the idea into facets — then find one material per facet.</a:t>
            </a:r>
            <a:endParaRPr lang="en-US" sz="1050" dirty="0"/>
          </a:p>
        </p:txBody>
      </p:sp>
      <p:sp>
        <p:nvSpPr>
          <p:cNvPr id="20" name="bld1_191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1" name="bld1_191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Sweetness → a trace of Ethyl Maltol</a:t>
            </a:r>
            <a:endParaRPr lang="en-US" sz="1650" dirty="0"/>
          </a:p>
        </p:txBody>
      </p:sp>
      <p:sp>
        <p:nvSpPr>
          <p:cNvPr id="22" name="bld1_1912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tiny amount adds sugary roundness without tipping into candy.</a:t>
            </a:r>
            <a:endParaRPr lang="en-US" sz="1250" dirty="0"/>
          </a:p>
        </p:txBody>
      </p:sp>
      <p:sp>
        <p:nvSpPr>
          <p:cNvPr id="23" name="bld2_1913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4" name="bld2_1914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character → cis-3-Hexenol (diluted)</a:t>
            </a:r>
            <a:endParaRPr lang="en-US" sz="1650" dirty="0"/>
          </a:p>
        </p:txBody>
      </p:sp>
      <p:sp>
        <p:nvSpPr>
          <p:cNvPr id="25" name="bld2_1915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"green leaf" molecule, used in a whisper.</a:t>
            </a:r>
            <a:endParaRPr lang="en-US" sz="1250" dirty="0"/>
          </a:p>
        </p:txBody>
      </p:sp>
      <p:sp>
        <p:nvSpPr>
          <p:cNvPr id="26" name="bld3_1916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7" name="bld3_1917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Juiciness / fruitiness → fruity esters</a:t>
            </a:r>
            <a:endParaRPr lang="en-US" sz="1650" dirty="0"/>
          </a:p>
        </p:txBody>
      </p:sp>
      <p:sp>
        <p:nvSpPr>
          <p:cNvPr id="28" name="bld3_1918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Allyl amyl glycolate and similar esters carry the juicy fruit body.</a:t>
            </a:r>
            <a:endParaRPr lang="en-US" sz="1250" dirty="0"/>
          </a:p>
        </p:txBody>
      </p:sp>
      <p:sp>
        <p:nvSpPr>
          <p:cNvPr id="29" name="bld4_1919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0" name="bld4_1920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Skin / peel → a natural or aldehyde touch</a:t>
            </a:r>
            <a:endParaRPr lang="en-US" sz="1650" dirty="0"/>
          </a:p>
        </p:txBody>
      </p:sp>
      <p:sp>
        <p:nvSpPr>
          <p:cNvPr id="31" name="bld4_1921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waxy or aldehydic note rounds out the peel character.</a:t>
            </a:r>
            <a:endParaRPr lang="en-US" sz="1250" dirty="0"/>
          </a:p>
        </p:txBody>
      </p:sp>
      <p:sp>
        <p:nvSpPr>
          <p:cNvPr id="33" name="trans_fade_11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4" name="Text 3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ROSE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Breaking rose into its facets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8" name="Shape 6"/>
          <p:cNvSpPr/>
          <p:nvPr/>
        </p:nvSpPr>
        <p:spPr>
          <a:xfrm>
            <a:off x="3325444" y="3144234"/>
            <a:ext cx="481432" cy="101100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4320000">
            <a:off x="3767745" y="3465584"/>
            <a:ext cx="481432" cy="101100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8640000">
            <a:off x="3598801" y="3985541"/>
            <a:ext cx="481432" cy="101100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2960000">
            <a:off x="3052087" y="3985541"/>
            <a:ext cx="481432" cy="101100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7280000">
            <a:off x="2883143" y="3465584"/>
            <a:ext cx="481432" cy="1011006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3335073" y="3883713"/>
            <a:ext cx="462174" cy="462174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4" name="Shape 12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ln w="36576">
            <a:solidFill>
              <a:srgbClr val="C79B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103120" y="55138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200" kern="0" dirty="0">
                <a:solidFill>
                  <a:srgbClr val="8A4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</a:t>
            </a:r>
            <a:endParaRPr lang="en-US" sz="1350" dirty="0"/>
          </a:p>
        </p:txBody>
      </p:sp>
      <p:sp>
        <p:nvSpPr>
          <p:cNvPr id="16" name="bld1_1922"/>
          <p:cNvSpPr/>
          <p:nvPr/>
        </p:nvSpPr>
        <p:spPr>
          <a:xfrm flipV="1">
            <a:off x="4627778" y="2148840"/>
            <a:ext cx="3173700" cy="1965960"/>
          </a:xfrm>
          <a:prstGeom prst="line">
            <a:avLst/>
          </a:prstGeom>
          <a:noFill/>
          <a:ln w="19050">
            <a:solidFill>
              <a:srgbClr val="C79BD9">
                <a:alpha val="75000"/>
              </a:srgbClr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7754112" y="1810512"/>
            <a:ext cx="676656" cy="676656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8" name="Shape 16"/>
          <p:cNvSpPr/>
          <p:nvPr/>
        </p:nvSpPr>
        <p:spPr>
          <a:xfrm>
            <a:off x="8026466" y="1882833"/>
            <a:ext cx="131948" cy="27709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4320000">
            <a:off x="8147689" y="1970907"/>
            <a:ext cx="131948" cy="27709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8640000">
            <a:off x="8101386" y="2113413"/>
            <a:ext cx="131948" cy="27709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2960000">
            <a:off x="7951546" y="2113413"/>
            <a:ext cx="131948" cy="27709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17280000">
            <a:off x="7905243" y="1970907"/>
            <a:ext cx="131948" cy="27709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8029105" y="2085505"/>
            <a:ext cx="126670" cy="12667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4" name="Shape 22"/>
          <p:cNvSpPr/>
          <p:nvPr/>
        </p:nvSpPr>
        <p:spPr>
          <a:xfrm>
            <a:off x="7754112" y="1810512"/>
            <a:ext cx="676656" cy="676656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5" name="bld1_1924"/>
          <p:cNvSpPr txBox="1"/>
          <p:nvPr/>
        </p:nvSpPr>
        <p:spPr>
          <a:xfrm>
            <a:off x="8567928" y="197510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body</a:t>
            </a:r>
            <a:endParaRPr lang="en-US" sz="1350" dirty="0"/>
          </a:p>
        </p:txBody>
      </p:sp>
      <p:sp>
        <p:nvSpPr>
          <p:cNvPr id="26" name="bld2_1925"/>
          <p:cNvSpPr/>
          <p:nvPr/>
        </p:nvSpPr>
        <p:spPr>
          <a:xfrm flipV="1">
            <a:off x="4627778" y="2971800"/>
            <a:ext cx="3173700" cy="1143000"/>
          </a:xfrm>
          <a:prstGeom prst="line">
            <a:avLst/>
          </a:prstGeom>
          <a:noFill/>
          <a:ln w="19050">
            <a:solidFill>
              <a:srgbClr val="C79BD9">
                <a:alpha val="75000"/>
              </a:srgbClr>
            </a:solidFill>
            <a:prstDash val="sysDot"/>
          </a:ln>
        </p:spPr>
      </p:sp>
      <p:sp>
        <p:nvSpPr>
          <p:cNvPr id="27" name="Shape 25"/>
          <p:cNvSpPr/>
          <p:nvPr/>
        </p:nvSpPr>
        <p:spPr>
          <a:xfrm>
            <a:off x="7754112" y="2633472"/>
            <a:ext cx="676656" cy="676656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8" name="Shape 26"/>
          <p:cNvSpPr/>
          <p:nvPr/>
        </p:nvSpPr>
        <p:spPr>
          <a:xfrm>
            <a:off x="8052856" y="2796995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2700000">
            <a:off x="8109284" y="2820369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5400000">
            <a:off x="8132658" y="2876797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8100000">
            <a:off x="8109284" y="2933226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10800000">
            <a:off x="8052856" y="2956600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13500000">
            <a:off x="7996427" y="2933226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6200000">
            <a:off x="7973054" y="2876797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18900000">
            <a:off x="7996427" y="2820369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8050217" y="2929577"/>
            <a:ext cx="84447" cy="84447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7" name="Shape 35"/>
          <p:cNvSpPr/>
          <p:nvPr/>
        </p:nvSpPr>
        <p:spPr>
          <a:xfrm>
            <a:off x="7754112" y="2633472"/>
            <a:ext cx="676656" cy="676656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8" name="bld2_1927"/>
          <p:cNvSpPr txBox="1"/>
          <p:nvPr/>
        </p:nvSpPr>
        <p:spPr>
          <a:xfrm>
            <a:off x="8567928" y="279806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 floral lift</a:t>
            </a:r>
            <a:endParaRPr lang="en-US" sz="1350" dirty="0"/>
          </a:p>
        </p:txBody>
      </p:sp>
      <p:sp>
        <p:nvSpPr>
          <p:cNvPr id="39" name="bld3_1928"/>
          <p:cNvSpPr/>
          <p:nvPr/>
        </p:nvSpPr>
        <p:spPr>
          <a:xfrm flipV="1">
            <a:off x="4627778" y="3794760"/>
            <a:ext cx="3173700" cy="320040"/>
          </a:xfrm>
          <a:prstGeom prst="line">
            <a:avLst/>
          </a:prstGeom>
          <a:noFill/>
          <a:ln w="19050">
            <a:solidFill>
              <a:srgbClr val="C79BD9">
                <a:alpha val="75000"/>
              </a:srgbClr>
            </a:solidFill>
            <a:prstDash val="sysDot"/>
          </a:ln>
        </p:spPr>
      </p:sp>
      <p:sp>
        <p:nvSpPr>
          <p:cNvPr id="40" name="Shape 38"/>
          <p:cNvSpPr/>
          <p:nvPr/>
        </p:nvSpPr>
        <p:spPr>
          <a:xfrm>
            <a:off x="7754112" y="3456432"/>
            <a:ext cx="676656" cy="676656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1" name="Shape 39"/>
          <p:cNvSpPr/>
          <p:nvPr/>
        </p:nvSpPr>
        <p:spPr>
          <a:xfrm>
            <a:off x="8052856" y="3619955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 rot="2700000">
            <a:off x="8109284" y="3643329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 rot="5400000">
            <a:off x="8132658" y="3699757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8100000">
            <a:off x="8109284" y="3756186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10800000">
            <a:off x="8052856" y="3779560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13500000">
            <a:off x="7996427" y="3756186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6200000">
            <a:off x="7973054" y="3699757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18900000">
            <a:off x="7996427" y="3643329"/>
            <a:ext cx="79169" cy="190005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050217" y="3752537"/>
            <a:ext cx="84447" cy="84447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50" name="Shape 48"/>
          <p:cNvSpPr/>
          <p:nvPr/>
        </p:nvSpPr>
        <p:spPr>
          <a:xfrm>
            <a:off x="7754112" y="3456432"/>
            <a:ext cx="676656" cy="676656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51" name="bld3_1930"/>
          <p:cNvSpPr txBox="1"/>
          <p:nvPr/>
        </p:nvSpPr>
        <p:spPr>
          <a:xfrm>
            <a:off x="8567928" y="362102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 / geranium facet</a:t>
            </a:r>
            <a:endParaRPr lang="en-US" sz="1350" dirty="0"/>
          </a:p>
        </p:txBody>
      </p:sp>
      <p:sp>
        <p:nvSpPr>
          <p:cNvPr id="52" name="bld4_1931"/>
          <p:cNvSpPr/>
          <p:nvPr/>
        </p:nvSpPr>
        <p:spPr>
          <a:xfrm>
            <a:off x="4627778" y="4114800"/>
            <a:ext cx="3173700" cy="502920"/>
          </a:xfrm>
          <a:prstGeom prst="line">
            <a:avLst/>
          </a:prstGeom>
          <a:noFill/>
          <a:ln w="19050">
            <a:solidFill>
              <a:srgbClr val="5C8A45">
                <a:alpha val="75000"/>
              </a:srgbClr>
            </a:solidFill>
            <a:prstDash val="sysDot"/>
          </a:ln>
        </p:spPr>
      </p:sp>
      <p:sp>
        <p:nvSpPr>
          <p:cNvPr id="53" name="Shape 51"/>
          <p:cNvSpPr/>
          <p:nvPr/>
        </p:nvSpPr>
        <p:spPr>
          <a:xfrm>
            <a:off x="7754112" y="4279392"/>
            <a:ext cx="676656" cy="676656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54" name="Shape 52"/>
          <p:cNvSpPr/>
          <p:nvPr/>
        </p:nvSpPr>
        <p:spPr>
          <a:xfrm rot="15300000">
            <a:off x="7913753" y="4515033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13050000">
            <a:off x="7963237" y="4589090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 rot="10800000">
            <a:off x="8047578" y="4617720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 rot="8550000">
            <a:off x="8131919" y="4589090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 rot="6300000">
            <a:off x="8181402" y="4515033"/>
            <a:ext cx="89725" cy="277091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7754112" y="4279392"/>
            <a:ext cx="676656" cy="676656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60" name="bld4_1933"/>
          <p:cNvSpPr txBox="1"/>
          <p:nvPr/>
        </p:nvSpPr>
        <p:spPr>
          <a:xfrm>
            <a:off x="8567928" y="444398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stem</a:t>
            </a:r>
            <a:endParaRPr lang="en-US" sz="1350" dirty="0"/>
          </a:p>
        </p:txBody>
      </p:sp>
      <p:sp>
        <p:nvSpPr>
          <p:cNvPr id="61" name="bld5_1934"/>
          <p:cNvSpPr/>
          <p:nvPr/>
        </p:nvSpPr>
        <p:spPr>
          <a:xfrm>
            <a:off x="4627778" y="4114800"/>
            <a:ext cx="3173700" cy="1325880"/>
          </a:xfrm>
          <a:prstGeom prst="line">
            <a:avLst/>
          </a:prstGeom>
          <a:noFill/>
          <a:ln w="19050">
            <a:solidFill>
              <a:srgbClr val="A6402A">
                <a:alpha val="75000"/>
              </a:srgbClr>
            </a:solidFill>
            <a:prstDash val="sysDot"/>
          </a:ln>
        </p:spPr>
      </p:sp>
      <p:sp>
        <p:nvSpPr>
          <p:cNvPr id="62" name="Shape 60"/>
          <p:cNvSpPr/>
          <p:nvPr/>
        </p:nvSpPr>
        <p:spPr>
          <a:xfrm>
            <a:off x="7754112" y="5102352"/>
            <a:ext cx="676656" cy="676656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63" name="Shape 61"/>
          <p:cNvSpPr/>
          <p:nvPr/>
        </p:nvSpPr>
        <p:spPr>
          <a:xfrm rot="9000000">
            <a:off x="7960492" y="5319288"/>
            <a:ext cx="306119" cy="306119"/>
          </a:xfrm>
          <a:prstGeom prst="teardrop">
            <a:avLst/>
          </a:prstGeom>
          <a:solidFill>
            <a:srgbClr val="A6402A">
              <a:alpha val="94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 rot="6000000">
            <a:off x="7891879" y="5287620"/>
            <a:ext cx="190005" cy="190005"/>
          </a:xfrm>
          <a:prstGeom prst="teardrop">
            <a:avLst/>
          </a:prstGeom>
          <a:solidFill>
            <a:srgbClr val="E07A46">
              <a:alpha val="94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 rot="11400000">
            <a:off x="8108274" y="5255953"/>
            <a:ext cx="158338" cy="158338"/>
          </a:xfrm>
          <a:prstGeom prst="teardrop">
            <a:avLst/>
          </a:prstGeom>
          <a:solidFill>
            <a:srgbClr val="6B2A1A">
              <a:alpha val="94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7754112" y="5102352"/>
            <a:ext cx="676656" cy="676656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67" name="bld5_1936"/>
          <p:cNvSpPr txBox="1"/>
          <p:nvPr/>
        </p:nvSpPr>
        <p:spPr>
          <a:xfrm>
            <a:off x="8567928" y="526694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350" dirty="0"/>
          </a:p>
        </p:txBody>
      </p:sp>
      <p:sp>
        <p:nvSpPr>
          <p:cNvPr id="68" name="bld6_1937"/>
          <p:cNvSpPr/>
          <p:nvPr/>
        </p:nvSpPr>
        <p:spPr>
          <a:xfrm>
            <a:off x="4627778" y="4114800"/>
            <a:ext cx="3173700" cy="2148840"/>
          </a:xfrm>
          <a:prstGeom prst="line">
            <a:avLst/>
          </a:prstGeom>
          <a:noFill/>
          <a:ln w="19050">
            <a:solidFill>
              <a:srgbClr val="AFA495">
                <a:alpha val="75000"/>
              </a:srgbClr>
            </a:solidFill>
            <a:prstDash val="sysDot"/>
          </a:ln>
        </p:spPr>
      </p:sp>
      <p:sp>
        <p:nvSpPr>
          <p:cNvPr id="69" name="Shape 67"/>
          <p:cNvSpPr/>
          <p:nvPr/>
        </p:nvSpPr>
        <p:spPr>
          <a:xfrm>
            <a:off x="7754112" y="5925312"/>
            <a:ext cx="676656" cy="676656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70" name="Shape 68"/>
          <p:cNvSpPr/>
          <p:nvPr/>
        </p:nvSpPr>
        <p:spPr>
          <a:xfrm>
            <a:off x="7849656" y="6100025"/>
            <a:ext cx="485568" cy="327231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754112" y="5925312"/>
            <a:ext cx="676656" cy="676656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72" name="bld6_1939"/>
          <p:cNvSpPr txBox="1"/>
          <p:nvPr/>
        </p:nvSpPr>
        <p:spPr>
          <a:xfrm>
            <a:off x="8567928" y="6089904"/>
            <a:ext cx="30751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 &amp; musk support</a:t>
            </a:r>
            <a:endParaRPr lang="en-US" sz="1350" dirty="0"/>
          </a:p>
        </p:txBody>
      </p:sp>
      <p:sp>
        <p:nvSpPr>
          <p:cNvPr id="74" name="trans_push_l_12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5" name="Text 7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9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6" grpId="0"/>
      <p:bldP spid="25" grpId="0"/>
      <p:bldP spid="26" grpId="0"/>
      <p:bldP spid="38" grpId="0"/>
      <p:bldP spid="39" grpId="0"/>
      <p:bldP spid="51" grpId="0"/>
      <p:bldP spid="52" grpId="0"/>
      <p:bldP spid="60" grpId="0"/>
      <p:bldP spid="61" grpId="0"/>
      <p:bldP spid="67" grpId="0"/>
      <p:bldP spid="68" grpId="0"/>
      <p:bldP spid="72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IN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with materials vs. starting with a base</a:t>
            </a:r>
            <a:endParaRPr lang="en-US" sz="3200" dirty="0"/>
          </a:p>
        </p:txBody>
      </p:sp>
      <p:sp>
        <p:nvSpPr>
          <p:cNvPr id="7" name="bld1_1940"/>
          <p:cNvSpPr/>
          <p:nvPr/>
        </p:nvSpPr>
        <p:spPr>
          <a:xfrm>
            <a:off x="548640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0E4DA"/>
          </a:solidFill>
          <a:ln/>
        </p:spPr>
      </p:sp>
      <p:sp>
        <p:nvSpPr>
          <p:cNvPr id="8" name="bld1_1941"/>
          <p:cNvSpPr/>
          <p:nvPr/>
        </p:nvSpPr>
        <p:spPr>
          <a:xfrm>
            <a:off x="777240" y="2011680"/>
            <a:ext cx="274320" cy="274320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9" name="bld1_1942"/>
          <p:cNvSpPr txBox="1"/>
          <p:nvPr/>
        </p:nvSpPr>
        <p:spPr>
          <a:xfrm>
            <a:off x="1188720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Individual materials</a:t>
            </a:r>
            <a:endParaRPr lang="en-US" sz="1800" dirty="0"/>
          </a:p>
        </p:txBody>
      </p:sp>
      <p:sp>
        <p:nvSpPr>
          <p:cNvPr id="10" name="bld1_1943"/>
          <p:cNvSpPr txBox="1"/>
          <p:nvPr/>
        </p:nvSpPr>
        <p:spPr>
          <a:xfrm>
            <a:off x="914400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Phenylethyl alcohol, citronellol, geraniol and rose oxide, balanced by hand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 over every facet from the very first drop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— each facet is tuned material by material</a:t>
            </a:r>
            <a:endParaRPr lang="en-US" sz="1300" dirty="0"/>
          </a:p>
        </p:txBody>
      </p:sp>
      <p:sp>
        <p:nvSpPr>
          <p:cNvPr id="11" name="bld1_1944"/>
          <p:cNvSpPr/>
          <p:nvPr/>
        </p:nvSpPr>
        <p:spPr>
          <a:xfrm>
            <a:off x="5099152" y="5586984"/>
            <a:ext cx="621792" cy="621792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2" name="bld1_1945"/>
          <p:cNvSpPr/>
          <p:nvPr/>
        </p:nvSpPr>
        <p:spPr>
          <a:xfrm rot="8100000">
            <a:off x="5291176" y="5779008"/>
            <a:ext cx="237744" cy="237744"/>
          </a:xfrm>
          <a:prstGeom prst="teardrop">
            <a:avLst/>
          </a:prstGeom>
          <a:solidFill>
            <a:srgbClr val="B5652D">
              <a:alpha val="92000"/>
            </a:srgbClr>
          </a:solidFill>
          <a:ln/>
        </p:spPr>
      </p:sp>
      <p:sp>
        <p:nvSpPr>
          <p:cNvPr id="13" name="bld2_1946"/>
          <p:cNvSpPr/>
          <p:nvPr/>
        </p:nvSpPr>
        <p:spPr>
          <a:xfrm>
            <a:off x="6278728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FE4EC"/>
          </a:solidFill>
          <a:ln/>
        </p:spPr>
      </p:sp>
      <p:sp>
        <p:nvSpPr>
          <p:cNvPr id="14" name="bld2_1947"/>
          <p:cNvSpPr/>
          <p:nvPr/>
        </p:nvSpPr>
        <p:spPr>
          <a:xfrm>
            <a:off x="6507328" y="2011680"/>
            <a:ext cx="274320" cy="274320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5" name="bld2_1948"/>
          <p:cNvSpPr txBox="1"/>
          <p:nvPr/>
        </p:nvSpPr>
        <p:spPr>
          <a:xfrm>
            <a:off x="6918808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commercial rose base</a:t>
            </a:r>
            <a:endParaRPr lang="en-US" sz="1800" dirty="0"/>
          </a:p>
        </p:txBody>
      </p:sp>
      <p:sp>
        <p:nvSpPr>
          <p:cNvPr id="16" name="bld2_1949"/>
          <p:cNvSpPr txBox="1"/>
          <p:nvPr/>
        </p:nvSpPr>
        <p:spPr>
          <a:xfrm>
            <a:off x="6644488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like Rose Givco arrives with the rose body already built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starting point — you modify it, rather than construct from zero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needs shaping with modifiers before it reads as a finished accord</a:t>
            </a:r>
            <a:endParaRPr lang="en-US" sz="1300" dirty="0"/>
          </a:p>
        </p:txBody>
      </p:sp>
      <p:sp>
        <p:nvSpPr>
          <p:cNvPr id="17" name="bld2_1950"/>
          <p:cNvSpPr/>
          <p:nvPr/>
        </p:nvSpPr>
        <p:spPr>
          <a:xfrm>
            <a:off x="10829239" y="5586984"/>
            <a:ext cx="621792" cy="621792"/>
          </a:xfrm>
          <a:prstGeom prst="ellipse">
            <a:avLst/>
          </a:prstGeom>
          <a:ln w="12802">
            <a:solidFill>
              <a:srgbClr val="5B3A52"/>
            </a:solidFill>
            <a:prstDash val="solid"/>
          </a:ln>
        </p:spPr>
      </p:sp>
      <p:sp>
        <p:nvSpPr>
          <p:cNvPr id="18" name="bld2_1951"/>
          <p:cNvSpPr/>
          <p:nvPr/>
        </p:nvSpPr>
        <p:spPr>
          <a:xfrm rot="8100000">
            <a:off x="11021263" y="5779008"/>
            <a:ext cx="237744" cy="237744"/>
          </a:xfrm>
          <a:prstGeom prst="teardrop">
            <a:avLst/>
          </a:prstGeom>
          <a:solidFill>
            <a:srgbClr val="5B3A52">
              <a:alpha val="92000"/>
            </a:srgbClr>
          </a:solidFill>
          <a:ln/>
        </p:spPr>
      </p:sp>
      <p:sp>
        <p:nvSpPr>
          <p:cNvPr id="20" name="trans_wipe_l_12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</a:t>
            </a:r>
            <a:endParaRPr lang="en-US" sz="100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31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AMBER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convincing amber from scratch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8" name="Shape 6"/>
          <p:cNvSpPr/>
          <p:nvPr/>
        </p:nvSpPr>
        <p:spPr>
          <a:xfrm rot="9000000">
            <a:off x="3084728" y="3671883"/>
            <a:ext cx="1116921" cy="1116921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6000000">
            <a:off x="2834384" y="3556339"/>
            <a:ext cx="693262" cy="693262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1400000">
            <a:off x="3623932" y="3440796"/>
            <a:ext cx="577718" cy="577718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ln w="36576">
            <a:solidFill>
              <a:srgbClr val="C1752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03120" y="55138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200" kern="0" dirty="0">
                <a:solidFill>
                  <a:srgbClr val="7A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</a:t>
            </a:r>
            <a:endParaRPr lang="en-US" sz="1350" dirty="0"/>
          </a:p>
        </p:txBody>
      </p:sp>
      <p:sp>
        <p:nvSpPr>
          <p:cNvPr id="13" name="bld1_1952"/>
          <p:cNvSpPr/>
          <p:nvPr/>
        </p:nvSpPr>
        <p:spPr>
          <a:xfrm flipV="1">
            <a:off x="4627778" y="2148840"/>
            <a:ext cx="3085231" cy="1965960"/>
          </a:xfrm>
          <a:prstGeom prst="line">
            <a:avLst/>
          </a:prstGeom>
          <a:noFill/>
          <a:ln w="19050">
            <a:solidFill>
              <a:srgbClr val="C1752F">
                <a:alpha val="75000"/>
              </a:srgbClr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7651242" y="1707642"/>
            <a:ext cx="882396" cy="882396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5" name="Shape 13"/>
          <p:cNvSpPr/>
          <p:nvPr/>
        </p:nvSpPr>
        <p:spPr>
          <a:xfrm rot="9000000">
            <a:off x="7920373" y="1990538"/>
            <a:ext cx="399196" cy="399196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6000000">
            <a:off x="7830898" y="1949242"/>
            <a:ext cx="247777" cy="247777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1400000">
            <a:off x="8113088" y="1907946"/>
            <a:ext cx="206481" cy="206481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7651242" y="1707642"/>
            <a:ext cx="882396" cy="882396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9" name="bld1_1954"/>
          <p:cNvSpPr txBox="1"/>
          <p:nvPr/>
        </p:nvSpPr>
        <p:spPr>
          <a:xfrm>
            <a:off x="8670798" y="1975104"/>
            <a:ext cx="29722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Resinous depth</a:t>
            </a:r>
            <a:endParaRPr lang="en-US" sz="1350" dirty="0"/>
          </a:p>
        </p:txBody>
      </p:sp>
      <p:sp>
        <p:nvSpPr>
          <p:cNvPr id="20" name="bld2_1955"/>
          <p:cNvSpPr/>
          <p:nvPr/>
        </p:nvSpPr>
        <p:spPr>
          <a:xfrm flipV="1">
            <a:off x="4627778" y="3177540"/>
            <a:ext cx="3085231" cy="937260"/>
          </a:xfrm>
          <a:prstGeom prst="line">
            <a:avLst/>
          </a:prstGeom>
          <a:noFill/>
          <a:ln w="19050">
            <a:solidFill>
              <a:srgbClr val="C1752F">
                <a:alpha val="75000"/>
              </a:srgbClr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651242" y="2736342"/>
            <a:ext cx="882396" cy="882396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2" name="Shape 20"/>
          <p:cNvSpPr/>
          <p:nvPr/>
        </p:nvSpPr>
        <p:spPr>
          <a:xfrm rot="9000000">
            <a:off x="7920373" y="3019238"/>
            <a:ext cx="399196" cy="399196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6000000">
            <a:off x="7830898" y="2977942"/>
            <a:ext cx="247777" cy="247777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1400000">
            <a:off x="8113088" y="2936646"/>
            <a:ext cx="206481" cy="206481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7651242" y="2736342"/>
            <a:ext cx="882396" cy="882396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26" name="bld2_1957"/>
          <p:cNvSpPr txBox="1"/>
          <p:nvPr/>
        </p:nvSpPr>
        <p:spPr>
          <a:xfrm>
            <a:off x="8670798" y="3003804"/>
            <a:ext cx="29722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Sweetness</a:t>
            </a:r>
            <a:endParaRPr lang="en-US" sz="1350" dirty="0"/>
          </a:p>
        </p:txBody>
      </p:sp>
      <p:sp>
        <p:nvSpPr>
          <p:cNvPr id="27" name="bld3_1958"/>
          <p:cNvSpPr/>
          <p:nvPr/>
        </p:nvSpPr>
        <p:spPr>
          <a:xfrm>
            <a:off x="4627778" y="4114800"/>
            <a:ext cx="3085231" cy="91440"/>
          </a:xfrm>
          <a:prstGeom prst="line">
            <a:avLst/>
          </a:prstGeom>
          <a:noFill/>
          <a:ln w="19050">
            <a:solidFill>
              <a:srgbClr val="C1752F">
                <a:alpha val="75000"/>
              </a:srgbClr>
            </a:solidFill>
            <a:prstDash val="sysDot"/>
          </a:ln>
        </p:spPr>
      </p:sp>
      <p:sp>
        <p:nvSpPr>
          <p:cNvPr id="28" name="Shape 26"/>
          <p:cNvSpPr/>
          <p:nvPr/>
        </p:nvSpPr>
        <p:spPr>
          <a:xfrm>
            <a:off x="7651242" y="3765042"/>
            <a:ext cx="882396" cy="882396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9" name="Shape 27"/>
          <p:cNvSpPr/>
          <p:nvPr/>
        </p:nvSpPr>
        <p:spPr>
          <a:xfrm rot="9000000">
            <a:off x="7920373" y="4047938"/>
            <a:ext cx="399196" cy="399196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6000000">
            <a:off x="7830898" y="4006642"/>
            <a:ext cx="247777" cy="247777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11400000">
            <a:off x="8113088" y="3965346"/>
            <a:ext cx="206481" cy="206481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7651242" y="3765042"/>
            <a:ext cx="882396" cy="882396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3" name="bld3_1960"/>
          <p:cNvSpPr txBox="1"/>
          <p:nvPr/>
        </p:nvSpPr>
        <p:spPr>
          <a:xfrm>
            <a:off x="8670798" y="4032504"/>
            <a:ext cx="29722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Radiance</a:t>
            </a:r>
            <a:endParaRPr lang="en-US" sz="1350" dirty="0"/>
          </a:p>
        </p:txBody>
      </p:sp>
      <p:sp>
        <p:nvSpPr>
          <p:cNvPr id="34" name="bld4_1961"/>
          <p:cNvSpPr/>
          <p:nvPr/>
        </p:nvSpPr>
        <p:spPr>
          <a:xfrm>
            <a:off x="4627778" y="4114800"/>
            <a:ext cx="3085231" cy="1120140"/>
          </a:xfrm>
          <a:prstGeom prst="line">
            <a:avLst/>
          </a:prstGeom>
          <a:noFill/>
          <a:ln w="19050">
            <a:solidFill>
              <a:srgbClr val="8A5A2E">
                <a:alpha val="75000"/>
              </a:srgbClr>
            </a:solidFill>
            <a:prstDash val="sysDot"/>
          </a:ln>
        </p:spPr>
      </p:sp>
      <p:sp>
        <p:nvSpPr>
          <p:cNvPr id="35" name="Shape 33"/>
          <p:cNvSpPr/>
          <p:nvPr/>
        </p:nvSpPr>
        <p:spPr>
          <a:xfrm>
            <a:off x="7651242" y="4793742"/>
            <a:ext cx="882396" cy="882396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6" name="Shape 34"/>
          <p:cNvSpPr/>
          <p:nvPr/>
        </p:nvSpPr>
        <p:spPr>
          <a:xfrm rot="840000">
            <a:off x="8009848" y="4908012"/>
            <a:ext cx="165185" cy="653855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840000">
            <a:off x="8086954" y="4987163"/>
            <a:ext cx="914" cy="495554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015010" y="5006091"/>
            <a:ext cx="30972" cy="3097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9" name="Shape 37"/>
          <p:cNvSpPr/>
          <p:nvPr/>
        </p:nvSpPr>
        <p:spPr>
          <a:xfrm>
            <a:off x="8039787" y="5091436"/>
            <a:ext cx="30972" cy="3097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0" name="Shape 38"/>
          <p:cNvSpPr/>
          <p:nvPr/>
        </p:nvSpPr>
        <p:spPr>
          <a:xfrm>
            <a:off x="8064565" y="5176781"/>
            <a:ext cx="30972" cy="3097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1" name="Shape 39"/>
          <p:cNvSpPr/>
          <p:nvPr/>
        </p:nvSpPr>
        <p:spPr>
          <a:xfrm>
            <a:off x="8089343" y="5262127"/>
            <a:ext cx="30972" cy="3097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2" name="Shape 40"/>
          <p:cNvSpPr/>
          <p:nvPr/>
        </p:nvSpPr>
        <p:spPr>
          <a:xfrm>
            <a:off x="8114120" y="5347472"/>
            <a:ext cx="30972" cy="3097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3" name="Shape 41"/>
          <p:cNvSpPr/>
          <p:nvPr/>
        </p:nvSpPr>
        <p:spPr>
          <a:xfrm>
            <a:off x="8138898" y="5432817"/>
            <a:ext cx="30972" cy="30972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4" name="Shape 42"/>
          <p:cNvSpPr/>
          <p:nvPr/>
        </p:nvSpPr>
        <p:spPr>
          <a:xfrm>
            <a:off x="7651242" y="4793742"/>
            <a:ext cx="882396" cy="882396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45" name="bld4_1963"/>
          <p:cNvSpPr txBox="1"/>
          <p:nvPr/>
        </p:nvSpPr>
        <p:spPr>
          <a:xfrm>
            <a:off x="8670798" y="5061204"/>
            <a:ext cx="29722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Powdery warmth</a:t>
            </a:r>
            <a:endParaRPr lang="en-US" sz="1350" dirty="0"/>
          </a:p>
        </p:txBody>
      </p:sp>
      <p:sp>
        <p:nvSpPr>
          <p:cNvPr id="46" name="bld5_1964"/>
          <p:cNvSpPr/>
          <p:nvPr/>
        </p:nvSpPr>
        <p:spPr>
          <a:xfrm>
            <a:off x="4627778" y="4114800"/>
            <a:ext cx="3085231" cy="2148840"/>
          </a:xfrm>
          <a:prstGeom prst="line">
            <a:avLst/>
          </a:prstGeom>
          <a:noFill/>
          <a:ln w="19050">
            <a:solidFill>
              <a:srgbClr val="8A6339">
                <a:alpha val="75000"/>
              </a:srgbClr>
            </a:solidFill>
            <a:prstDash val="sysDot"/>
          </a:ln>
        </p:spPr>
      </p:sp>
      <p:sp>
        <p:nvSpPr>
          <p:cNvPr id="47" name="Shape 45"/>
          <p:cNvSpPr/>
          <p:nvPr/>
        </p:nvSpPr>
        <p:spPr>
          <a:xfrm>
            <a:off x="7651242" y="5822442"/>
            <a:ext cx="882396" cy="882396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8" name="Shape 46"/>
          <p:cNvSpPr/>
          <p:nvPr/>
        </p:nvSpPr>
        <p:spPr>
          <a:xfrm rot="18900000">
            <a:off x="7879077" y="5953919"/>
            <a:ext cx="426727" cy="619442"/>
          </a:xfrm>
          <a:prstGeom prst="teardrop">
            <a:avLst/>
          </a:prstGeom>
          <a:solidFill>
            <a:srgbClr val="8A6339">
              <a:alpha val="94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086954" y="6057159"/>
            <a:ext cx="914" cy="378548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651242" y="5822442"/>
            <a:ext cx="882396" cy="882396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1" name="bld5_1966"/>
          <p:cNvSpPr txBox="1"/>
          <p:nvPr/>
        </p:nvSpPr>
        <p:spPr>
          <a:xfrm>
            <a:off x="8670798" y="6089904"/>
            <a:ext cx="29722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 grip</a:t>
            </a:r>
            <a:endParaRPr lang="en-US" sz="1350" dirty="0"/>
          </a:p>
        </p:txBody>
      </p:sp>
      <p:sp>
        <p:nvSpPr>
          <p:cNvPr id="53" name="trans_push_l_12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4" name="Text 5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9" grpId="0"/>
      <p:bldP spid="20" grpId="0"/>
      <p:bldP spid="26" grpId="0"/>
      <p:bldP spid="27" grpId="0"/>
      <p:bldP spid="33" grpId="0"/>
      <p:bldP spid="34" grpId="0"/>
      <p:bldP spid="45" grpId="0"/>
      <p:bldP spid="46" grpId="0"/>
      <p:bldP spid="51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AMBER TRADITIONS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amber vs. modern woody amber</a:t>
            </a:r>
            <a:endParaRPr lang="en-US" sz="3200" dirty="0"/>
          </a:p>
        </p:txBody>
      </p:sp>
      <p:sp>
        <p:nvSpPr>
          <p:cNvPr id="7" name="bld1_1967"/>
          <p:cNvSpPr/>
          <p:nvPr/>
        </p:nvSpPr>
        <p:spPr>
          <a:xfrm>
            <a:off x="548640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0E4DA"/>
          </a:solidFill>
          <a:ln/>
        </p:spPr>
      </p:sp>
      <p:sp>
        <p:nvSpPr>
          <p:cNvPr id="8" name="bld1_1968"/>
          <p:cNvSpPr/>
          <p:nvPr/>
        </p:nvSpPr>
        <p:spPr>
          <a:xfrm>
            <a:off x="777240" y="2011680"/>
            <a:ext cx="274320" cy="274320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9" name="bld1_1969"/>
          <p:cNvSpPr txBox="1"/>
          <p:nvPr/>
        </p:nvSpPr>
        <p:spPr>
          <a:xfrm>
            <a:off x="1188720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amber</a:t>
            </a:r>
            <a:endParaRPr lang="en-US" sz="1800" dirty="0"/>
          </a:p>
        </p:txBody>
      </p:sp>
      <p:sp>
        <p:nvSpPr>
          <p:cNvPr id="10" name="bld1_1970"/>
          <p:cNvSpPr txBox="1"/>
          <p:nvPr/>
        </p:nvSpPr>
        <p:spPr>
          <a:xfrm>
            <a:off x="914400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labdanum, vanillin and balsamic sweetness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Dense, resinous, old-world warmth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sweeter and darker on the strip</a:t>
            </a:r>
            <a:endParaRPr lang="en-US" sz="1300" dirty="0"/>
          </a:p>
        </p:txBody>
      </p:sp>
      <p:sp>
        <p:nvSpPr>
          <p:cNvPr id="11" name="bld1_1971"/>
          <p:cNvSpPr/>
          <p:nvPr/>
        </p:nvSpPr>
        <p:spPr>
          <a:xfrm>
            <a:off x="5099152" y="5586984"/>
            <a:ext cx="621792" cy="621792"/>
          </a:xfrm>
          <a:prstGeom prst="ellipse">
            <a:avLst/>
          </a:prstGeom>
          <a:ln w="12802">
            <a:solidFill>
              <a:srgbClr val="9C7A34"/>
            </a:solidFill>
            <a:prstDash val="solid"/>
          </a:ln>
        </p:spPr>
      </p:sp>
      <p:sp>
        <p:nvSpPr>
          <p:cNvPr id="12" name="bld1_1972"/>
          <p:cNvSpPr/>
          <p:nvPr/>
        </p:nvSpPr>
        <p:spPr>
          <a:xfrm rot="8100000">
            <a:off x="5291176" y="5779008"/>
            <a:ext cx="237744" cy="237744"/>
          </a:xfrm>
          <a:prstGeom prst="teardrop">
            <a:avLst/>
          </a:prstGeom>
          <a:solidFill>
            <a:srgbClr val="9C7A34">
              <a:alpha val="92000"/>
            </a:srgbClr>
          </a:solidFill>
          <a:ln/>
        </p:spPr>
      </p:sp>
      <p:sp>
        <p:nvSpPr>
          <p:cNvPr id="13" name="bld2_1973"/>
          <p:cNvSpPr/>
          <p:nvPr/>
        </p:nvSpPr>
        <p:spPr>
          <a:xfrm>
            <a:off x="6278728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9EDE0"/>
          </a:solidFill>
          <a:ln/>
        </p:spPr>
      </p:sp>
      <p:sp>
        <p:nvSpPr>
          <p:cNvPr id="14" name="bld2_1974"/>
          <p:cNvSpPr/>
          <p:nvPr/>
        </p:nvSpPr>
        <p:spPr>
          <a:xfrm>
            <a:off x="6507328" y="2011680"/>
            <a:ext cx="274320" cy="274320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bld2_1975"/>
          <p:cNvSpPr txBox="1"/>
          <p:nvPr/>
        </p:nvSpPr>
        <p:spPr>
          <a:xfrm>
            <a:off x="6918808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 woody amber</a:t>
            </a:r>
            <a:endParaRPr lang="en-US" sz="1800" dirty="0"/>
          </a:p>
        </p:txBody>
      </p:sp>
      <p:sp>
        <p:nvSpPr>
          <p:cNvPr id="16" name="bld2_1976"/>
          <p:cNvSpPr txBox="1"/>
          <p:nvPr/>
        </p:nvSpPr>
        <p:spPr>
          <a:xfrm>
            <a:off x="6644488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ambroxan-family materials and clean, transparent woods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Lighter, drier, more radiant and diffusive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dominant amber style in contemporary fragrance</a:t>
            </a:r>
            <a:endParaRPr lang="en-US" sz="1300" dirty="0"/>
          </a:p>
        </p:txBody>
      </p:sp>
      <p:sp>
        <p:nvSpPr>
          <p:cNvPr id="17" name="bld2_1977"/>
          <p:cNvSpPr/>
          <p:nvPr/>
        </p:nvSpPr>
        <p:spPr>
          <a:xfrm>
            <a:off x="10829239" y="5586984"/>
            <a:ext cx="621792" cy="621792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18" name="bld2_1978"/>
          <p:cNvSpPr/>
          <p:nvPr/>
        </p:nvSpPr>
        <p:spPr>
          <a:xfrm rot="8100000">
            <a:off x="11021263" y="5779008"/>
            <a:ext cx="237744" cy="237744"/>
          </a:xfrm>
          <a:prstGeom prst="teardrop">
            <a:avLst/>
          </a:prstGeom>
          <a:solidFill>
            <a:srgbClr val="6E7A50">
              <a:alpha val="92000"/>
            </a:srgbClr>
          </a:solidFill>
          <a:ln/>
        </p:spPr>
      </p:sp>
      <p:sp>
        <p:nvSpPr>
          <p:cNvPr id="20" name="trans_wipe_l_12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</a:t>
            </a:r>
            <a:endParaRPr lang="en-US" sz="100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31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SANDALWOOD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Creamy, milky, woody — one facet at a time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8" name="Shape 6"/>
          <p:cNvSpPr/>
          <p:nvPr/>
        </p:nvSpPr>
        <p:spPr>
          <a:xfrm>
            <a:off x="2603297" y="3151937"/>
            <a:ext cx="1925726" cy="1925726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9" name="Shape 7"/>
          <p:cNvSpPr/>
          <p:nvPr/>
        </p:nvSpPr>
        <p:spPr>
          <a:xfrm>
            <a:off x="3084728" y="3633368"/>
            <a:ext cx="962863" cy="962863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450616" y="3999256"/>
            <a:ext cx="231087" cy="231087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1" name="Shape 9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ln w="36576">
            <a:solidFill>
              <a:srgbClr val="8A633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03120" y="55138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200" kern="0" dirty="0">
                <a:solidFill>
                  <a:srgbClr val="5C4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SANDALWOOD</a:t>
            </a:r>
            <a:endParaRPr lang="en-US" sz="1350" dirty="0"/>
          </a:p>
        </p:txBody>
      </p:sp>
      <p:sp>
        <p:nvSpPr>
          <p:cNvPr id="13" name="bld1_1979"/>
          <p:cNvSpPr/>
          <p:nvPr/>
        </p:nvSpPr>
        <p:spPr>
          <a:xfrm flipV="1">
            <a:off x="4627778" y="2148840"/>
            <a:ext cx="2977104" cy="1965960"/>
          </a:xfrm>
          <a:prstGeom prst="line">
            <a:avLst/>
          </a:prstGeom>
          <a:noFill/>
          <a:ln w="19050">
            <a:solidFill>
              <a:srgbClr val="8A6339">
                <a:alpha val="75000"/>
              </a:srgbClr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7525512" y="1581912"/>
            <a:ext cx="1133856" cy="1133856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5" name="Shape 13"/>
          <p:cNvSpPr/>
          <p:nvPr/>
        </p:nvSpPr>
        <p:spPr>
          <a:xfrm>
            <a:off x="7650236" y="1706636"/>
            <a:ext cx="884408" cy="884408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16" name="Shape 14"/>
          <p:cNvSpPr/>
          <p:nvPr/>
        </p:nvSpPr>
        <p:spPr>
          <a:xfrm>
            <a:off x="7871338" y="1927738"/>
            <a:ext cx="442204" cy="442204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039376" y="2095776"/>
            <a:ext cx="106129" cy="106129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18" name="Shape 16"/>
          <p:cNvSpPr/>
          <p:nvPr/>
        </p:nvSpPr>
        <p:spPr>
          <a:xfrm>
            <a:off x="7525512" y="1581912"/>
            <a:ext cx="1133856" cy="1133856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9" name="bld1_1981"/>
          <p:cNvSpPr txBox="1"/>
          <p:nvPr/>
        </p:nvSpPr>
        <p:spPr>
          <a:xfrm>
            <a:off x="8796528" y="1975104"/>
            <a:ext cx="28465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Creamy body</a:t>
            </a:r>
            <a:endParaRPr lang="en-US" sz="1350" dirty="0"/>
          </a:p>
        </p:txBody>
      </p:sp>
      <p:sp>
        <p:nvSpPr>
          <p:cNvPr id="20" name="bld2_1982"/>
          <p:cNvSpPr/>
          <p:nvPr/>
        </p:nvSpPr>
        <p:spPr>
          <a:xfrm flipV="1">
            <a:off x="4627778" y="3520440"/>
            <a:ext cx="2977104" cy="594360"/>
          </a:xfrm>
          <a:prstGeom prst="line">
            <a:avLst/>
          </a:prstGeom>
          <a:noFill/>
          <a:ln w="19050">
            <a:solidFill>
              <a:srgbClr val="AFA495">
                <a:alpha val="75000"/>
              </a:srgbClr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525512" y="2953512"/>
            <a:ext cx="1133856" cy="1133856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22" name="Shape 20"/>
          <p:cNvSpPr/>
          <p:nvPr/>
        </p:nvSpPr>
        <p:spPr>
          <a:xfrm>
            <a:off x="7685612" y="3246274"/>
            <a:ext cx="813655" cy="548333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25512" y="2953512"/>
            <a:ext cx="1133856" cy="1133856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24" name="bld2_1984"/>
          <p:cNvSpPr txBox="1"/>
          <p:nvPr/>
        </p:nvSpPr>
        <p:spPr>
          <a:xfrm>
            <a:off x="8796528" y="3346704"/>
            <a:ext cx="28465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Milky softness</a:t>
            </a:r>
            <a:endParaRPr lang="en-US" sz="1350" dirty="0"/>
          </a:p>
        </p:txBody>
      </p:sp>
      <p:sp>
        <p:nvSpPr>
          <p:cNvPr id="25" name="bld3_1985"/>
          <p:cNvSpPr/>
          <p:nvPr/>
        </p:nvSpPr>
        <p:spPr>
          <a:xfrm>
            <a:off x="4627778" y="4114800"/>
            <a:ext cx="2977104" cy="777240"/>
          </a:xfrm>
          <a:prstGeom prst="line">
            <a:avLst/>
          </a:prstGeom>
          <a:noFill/>
          <a:ln w="19050">
            <a:solidFill>
              <a:srgbClr val="8A6339">
                <a:alpha val="75000"/>
              </a:srgbClr>
            </a:solidFill>
            <a:prstDash val="sysDot"/>
          </a:ln>
        </p:spPr>
      </p:sp>
      <p:sp>
        <p:nvSpPr>
          <p:cNvPr id="26" name="Shape 24"/>
          <p:cNvSpPr/>
          <p:nvPr/>
        </p:nvSpPr>
        <p:spPr>
          <a:xfrm>
            <a:off x="7525512" y="4325112"/>
            <a:ext cx="1133856" cy="1133856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27" name="Shape 25"/>
          <p:cNvSpPr/>
          <p:nvPr/>
        </p:nvSpPr>
        <p:spPr>
          <a:xfrm>
            <a:off x="7650236" y="4449836"/>
            <a:ext cx="884408" cy="884408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7797637" y="4597237"/>
            <a:ext cx="589605" cy="589605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29" name="Shape 27"/>
          <p:cNvSpPr/>
          <p:nvPr/>
        </p:nvSpPr>
        <p:spPr>
          <a:xfrm>
            <a:off x="7945039" y="4744639"/>
            <a:ext cx="294803" cy="294803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8039376" y="4838976"/>
            <a:ext cx="106129" cy="106129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31" name="Shape 29"/>
          <p:cNvSpPr/>
          <p:nvPr/>
        </p:nvSpPr>
        <p:spPr>
          <a:xfrm>
            <a:off x="7525512" y="4325112"/>
            <a:ext cx="1133856" cy="1133856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2" name="bld3_1987"/>
          <p:cNvSpPr txBox="1"/>
          <p:nvPr/>
        </p:nvSpPr>
        <p:spPr>
          <a:xfrm>
            <a:off x="8796528" y="4718304"/>
            <a:ext cx="28465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 structure</a:t>
            </a:r>
            <a:endParaRPr lang="en-US" sz="1350" dirty="0"/>
          </a:p>
        </p:txBody>
      </p:sp>
      <p:sp>
        <p:nvSpPr>
          <p:cNvPr id="33" name="bld4_1988"/>
          <p:cNvSpPr/>
          <p:nvPr/>
        </p:nvSpPr>
        <p:spPr>
          <a:xfrm>
            <a:off x="4627778" y="4114800"/>
            <a:ext cx="2977104" cy="2148840"/>
          </a:xfrm>
          <a:prstGeom prst="line">
            <a:avLst/>
          </a:prstGeom>
          <a:noFill/>
          <a:ln w="19050">
            <a:solidFill>
              <a:srgbClr val="8A5A2E">
                <a:alpha val="75000"/>
              </a:srgbClr>
            </a:solidFill>
            <a:prstDash val="sysDot"/>
          </a:ln>
        </p:spPr>
      </p:sp>
      <p:sp>
        <p:nvSpPr>
          <p:cNvPr id="34" name="Shape 32"/>
          <p:cNvSpPr/>
          <p:nvPr/>
        </p:nvSpPr>
        <p:spPr>
          <a:xfrm>
            <a:off x="7525512" y="5696712"/>
            <a:ext cx="1133856" cy="1133856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5" name="Shape 33"/>
          <p:cNvSpPr/>
          <p:nvPr/>
        </p:nvSpPr>
        <p:spPr>
          <a:xfrm rot="840000">
            <a:off x="7986311" y="5843546"/>
            <a:ext cx="212258" cy="840187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840000">
            <a:off x="8086954" y="5945253"/>
            <a:ext cx="914" cy="636774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992944" y="5969574"/>
            <a:ext cx="39798" cy="39798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8" name="Shape 36"/>
          <p:cNvSpPr/>
          <p:nvPr/>
        </p:nvSpPr>
        <p:spPr>
          <a:xfrm>
            <a:off x="8024783" y="6079241"/>
            <a:ext cx="39798" cy="39798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9" name="Shape 37"/>
          <p:cNvSpPr/>
          <p:nvPr/>
        </p:nvSpPr>
        <p:spPr>
          <a:xfrm>
            <a:off x="8056621" y="6188908"/>
            <a:ext cx="39798" cy="39798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0" name="Shape 38"/>
          <p:cNvSpPr/>
          <p:nvPr/>
        </p:nvSpPr>
        <p:spPr>
          <a:xfrm>
            <a:off x="8088460" y="6298574"/>
            <a:ext cx="39798" cy="39798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1" name="Shape 39"/>
          <p:cNvSpPr/>
          <p:nvPr/>
        </p:nvSpPr>
        <p:spPr>
          <a:xfrm>
            <a:off x="8120299" y="6408241"/>
            <a:ext cx="39798" cy="39798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2" name="Shape 40"/>
          <p:cNvSpPr/>
          <p:nvPr/>
        </p:nvSpPr>
        <p:spPr>
          <a:xfrm>
            <a:off x="8152138" y="6517907"/>
            <a:ext cx="39798" cy="39798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43" name="Shape 41"/>
          <p:cNvSpPr/>
          <p:nvPr/>
        </p:nvSpPr>
        <p:spPr>
          <a:xfrm>
            <a:off x="7525512" y="5696712"/>
            <a:ext cx="1133856" cy="1133856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44" name="bld4_1990"/>
          <p:cNvSpPr txBox="1"/>
          <p:nvPr/>
        </p:nvSpPr>
        <p:spPr>
          <a:xfrm>
            <a:off x="8796528" y="6089904"/>
            <a:ext cx="28465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Warmth</a:t>
            </a:r>
            <a:endParaRPr lang="en-US" sz="1350" dirty="0"/>
          </a:p>
        </p:txBody>
      </p:sp>
      <p:sp>
        <p:nvSpPr>
          <p:cNvPr id="46" name="trans_push_l_12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7" name="Text 4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116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9" grpId="0"/>
      <p:bldP spid="20" grpId="0"/>
      <p:bldP spid="24" grpId="0"/>
      <p:bldP spid="25" grpId="0"/>
      <p:bldP spid="32" grpId="0"/>
      <p:bldP spid="33" grpId="0"/>
      <p:bldP spid="44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LEATHER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Dry, smoky, animalic — one facet at a time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8" name="Shape 6"/>
          <p:cNvSpPr/>
          <p:nvPr/>
        </p:nvSpPr>
        <p:spPr>
          <a:xfrm>
            <a:off x="2603297" y="3151937"/>
            <a:ext cx="1925726" cy="192572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849037" y="3633368"/>
            <a:ext cx="1434246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2749680" y="3954323"/>
            <a:ext cx="163296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2749680" y="4275277"/>
            <a:ext cx="163296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2849037" y="4596232"/>
            <a:ext cx="1434246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2331720" y="2880360"/>
            <a:ext cx="2468880" cy="2468880"/>
          </a:xfrm>
          <a:prstGeom prst="ellipse">
            <a:avLst/>
          </a:prstGeom>
          <a:ln w="36576">
            <a:solidFill>
              <a:srgbClr val="5C42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03120" y="55138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200" kern="0" dirty="0">
                <a:solidFill>
                  <a:srgbClr val="3A2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LEATHER</a:t>
            </a:r>
            <a:endParaRPr lang="en-US" sz="1350" dirty="0"/>
          </a:p>
        </p:txBody>
      </p:sp>
      <p:sp>
        <p:nvSpPr>
          <p:cNvPr id="15" name="bld1_1991"/>
          <p:cNvSpPr/>
          <p:nvPr/>
        </p:nvSpPr>
        <p:spPr>
          <a:xfrm flipV="1">
            <a:off x="4627778" y="2148840"/>
            <a:ext cx="2977104" cy="1965960"/>
          </a:xfrm>
          <a:prstGeom prst="line">
            <a:avLst/>
          </a:prstGeom>
          <a:noFill/>
          <a:ln w="19050">
            <a:solidFill>
              <a:srgbClr val="5C4230">
                <a:alpha val="75000"/>
              </a:srgbClr>
            </a:solidFill>
            <a:prstDash val="sysDot"/>
          </a:ln>
        </p:spPr>
      </p:sp>
      <p:sp>
        <p:nvSpPr>
          <p:cNvPr id="16" name="Shape 14"/>
          <p:cNvSpPr/>
          <p:nvPr/>
        </p:nvSpPr>
        <p:spPr>
          <a:xfrm>
            <a:off x="7525512" y="1581912"/>
            <a:ext cx="1133856" cy="1133856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7" name="Shape 15"/>
          <p:cNvSpPr/>
          <p:nvPr/>
        </p:nvSpPr>
        <p:spPr>
          <a:xfrm>
            <a:off x="7650236" y="1706636"/>
            <a:ext cx="884408" cy="88440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7763095" y="1927738"/>
            <a:ext cx="65869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717464" y="2075139"/>
            <a:ext cx="7499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717464" y="2222541"/>
            <a:ext cx="7499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763095" y="2369942"/>
            <a:ext cx="65869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7525512" y="1581912"/>
            <a:ext cx="1133856" cy="1133856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3" name="bld1_1993"/>
          <p:cNvSpPr txBox="1"/>
          <p:nvPr/>
        </p:nvSpPr>
        <p:spPr>
          <a:xfrm>
            <a:off x="8796528" y="1975104"/>
            <a:ext cx="28465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 bitterness</a:t>
            </a:r>
            <a:endParaRPr lang="en-US" sz="1350" dirty="0"/>
          </a:p>
        </p:txBody>
      </p:sp>
      <p:sp>
        <p:nvSpPr>
          <p:cNvPr id="24" name="bld2_1994"/>
          <p:cNvSpPr/>
          <p:nvPr/>
        </p:nvSpPr>
        <p:spPr>
          <a:xfrm flipV="1">
            <a:off x="4627778" y="3520440"/>
            <a:ext cx="2977104" cy="594360"/>
          </a:xfrm>
          <a:prstGeom prst="line">
            <a:avLst/>
          </a:prstGeom>
          <a:noFill/>
          <a:ln w="19050">
            <a:solidFill>
              <a:srgbClr val="5C4230">
                <a:alpha val="75000"/>
              </a:srgbClr>
            </a:solidFill>
            <a:prstDash val="sysDot"/>
          </a:ln>
        </p:spPr>
      </p:sp>
      <p:sp>
        <p:nvSpPr>
          <p:cNvPr id="25" name="Shape 23"/>
          <p:cNvSpPr/>
          <p:nvPr/>
        </p:nvSpPr>
        <p:spPr>
          <a:xfrm>
            <a:off x="7525512" y="2953512"/>
            <a:ext cx="1133856" cy="1133856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6" name="Shape 24"/>
          <p:cNvSpPr/>
          <p:nvPr/>
        </p:nvSpPr>
        <p:spPr>
          <a:xfrm rot="5400000">
            <a:off x="7809430" y="3210897"/>
            <a:ext cx="194570" cy="574865"/>
          </a:xfrm>
          <a:prstGeom prst="wave">
            <a:avLst/>
          </a:prstGeom>
          <a:solidFill>
            <a:srgbClr val="5C4230">
              <a:alpha val="7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5400000">
            <a:off x="7995155" y="3277228"/>
            <a:ext cx="194570" cy="574865"/>
          </a:xfrm>
          <a:prstGeom prst="wave">
            <a:avLst/>
          </a:prstGeom>
          <a:solidFill>
            <a:srgbClr val="5C4230">
              <a:alpha val="66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5400000">
            <a:off x="8180881" y="3343558"/>
            <a:ext cx="194570" cy="574865"/>
          </a:xfrm>
          <a:prstGeom prst="wave">
            <a:avLst/>
          </a:prstGeom>
          <a:solidFill>
            <a:srgbClr val="5C4230">
              <a:alpha val="5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7525512" y="2953512"/>
            <a:ext cx="1133856" cy="1133856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30" name="bld2_1996"/>
          <p:cNvSpPr txBox="1"/>
          <p:nvPr/>
        </p:nvSpPr>
        <p:spPr>
          <a:xfrm>
            <a:off x="8796528" y="3346704"/>
            <a:ext cx="28465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Smokiness</a:t>
            </a:r>
            <a:endParaRPr lang="en-US" sz="1350" dirty="0"/>
          </a:p>
        </p:txBody>
      </p:sp>
      <p:sp>
        <p:nvSpPr>
          <p:cNvPr id="31" name="bld3_1997"/>
          <p:cNvSpPr/>
          <p:nvPr/>
        </p:nvSpPr>
        <p:spPr>
          <a:xfrm>
            <a:off x="4627778" y="4114800"/>
            <a:ext cx="2977104" cy="777240"/>
          </a:xfrm>
          <a:prstGeom prst="line">
            <a:avLst/>
          </a:prstGeom>
          <a:noFill/>
          <a:ln w="19050">
            <a:solidFill>
              <a:srgbClr val="5C4230">
                <a:alpha val="75000"/>
              </a:srgbClr>
            </a:solidFill>
            <a:prstDash val="sysDot"/>
          </a:ln>
        </p:spPr>
      </p:sp>
      <p:sp>
        <p:nvSpPr>
          <p:cNvPr id="32" name="Shape 30"/>
          <p:cNvSpPr/>
          <p:nvPr/>
        </p:nvSpPr>
        <p:spPr>
          <a:xfrm>
            <a:off x="7525512" y="4325112"/>
            <a:ext cx="1133856" cy="1133856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3" name="Shape 31"/>
          <p:cNvSpPr/>
          <p:nvPr/>
        </p:nvSpPr>
        <p:spPr>
          <a:xfrm>
            <a:off x="7650236" y="4449836"/>
            <a:ext cx="884408" cy="88440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7763095" y="4670938"/>
            <a:ext cx="65869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7717464" y="4818339"/>
            <a:ext cx="7499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7717464" y="4965741"/>
            <a:ext cx="7499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7763095" y="5113142"/>
            <a:ext cx="65869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7525512" y="4325112"/>
            <a:ext cx="1133856" cy="1133856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39" name="bld3_1999"/>
          <p:cNvSpPr txBox="1"/>
          <p:nvPr/>
        </p:nvSpPr>
        <p:spPr>
          <a:xfrm>
            <a:off x="8796528" y="4718304"/>
            <a:ext cx="28465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Suede softness</a:t>
            </a:r>
            <a:endParaRPr lang="en-US" sz="1350" dirty="0"/>
          </a:p>
        </p:txBody>
      </p:sp>
      <p:sp>
        <p:nvSpPr>
          <p:cNvPr id="40" name="bld4_2000"/>
          <p:cNvSpPr/>
          <p:nvPr/>
        </p:nvSpPr>
        <p:spPr>
          <a:xfrm>
            <a:off x="4627778" y="4114800"/>
            <a:ext cx="2977104" cy="2148840"/>
          </a:xfrm>
          <a:prstGeom prst="line">
            <a:avLst/>
          </a:prstGeom>
          <a:noFill/>
          <a:ln w="19050">
            <a:solidFill>
              <a:srgbClr val="5C4230">
                <a:alpha val="75000"/>
              </a:srgbClr>
            </a:solidFill>
            <a:prstDash val="sysDot"/>
          </a:ln>
        </p:spPr>
      </p:sp>
      <p:sp>
        <p:nvSpPr>
          <p:cNvPr id="41" name="Shape 39"/>
          <p:cNvSpPr/>
          <p:nvPr/>
        </p:nvSpPr>
        <p:spPr>
          <a:xfrm>
            <a:off x="7525512" y="5696712"/>
            <a:ext cx="1133856" cy="1133856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42" name="Shape 40"/>
          <p:cNvSpPr/>
          <p:nvPr/>
        </p:nvSpPr>
        <p:spPr>
          <a:xfrm>
            <a:off x="7650236" y="5821436"/>
            <a:ext cx="884408" cy="88440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763095" y="6042538"/>
            <a:ext cx="65869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7717464" y="6189939"/>
            <a:ext cx="7499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7717464" y="6337341"/>
            <a:ext cx="74995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7763095" y="6484742"/>
            <a:ext cx="658691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7525512" y="5696712"/>
            <a:ext cx="1133856" cy="1133856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48" name="bld4_2002"/>
          <p:cNvSpPr txBox="1"/>
          <p:nvPr/>
        </p:nvSpPr>
        <p:spPr>
          <a:xfrm>
            <a:off x="8796528" y="6089904"/>
            <a:ext cx="284652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Animalic warmth</a:t>
            </a:r>
            <a:endParaRPr lang="en-US" sz="1350" dirty="0"/>
          </a:p>
        </p:txBody>
      </p:sp>
      <p:sp>
        <p:nvSpPr>
          <p:cNvPr id="50" name="trans_push_l_12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1" name="Text 4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117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23" grpId="0"/>
      <p:bldP spid="24" grpId="0"/>
      <p:bldP spid="30" grpId="0"/>
      <p:bldP spid="31" grpId="0"/>
      <p:bldP spid="39" grpId="0"/>
      <p:bldP spid="40" grpId="0"/>
      <p:bldP spid="48" grpId="0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DIRECTIONS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Suede vs. dark leather vs. smoky leather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20967" y="4986731"/>
            <a:ext cx="1293775" cy="1293775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72724" y="5538488"/>
            <a:ext cx="190261" cy="190261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2003"/>
          <p:cNvSpPr/>
          <p:nvPr/>
        </p:nvSpPr>
        <p:spPr>
          <a:xfrm>
            <a:off x="548640" y="2260397"/>
            <a:ext cx="352745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946605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2" name="Shape 10"/>
          <p:cNvSpPr/>
          <p:nvPr/>
        </p:nvSpPr>
        <p:spPr>
          <a:xfrm>
            <a:off x="2027072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099884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2070445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070445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2099884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946605" y="2388413"/>
            <a:ext cx="731520" cy="731520"/>
          </a:xfrm>
          <a:prstGeom prst="ellipse">
            <a:avLst/>
          </a:prstGeom>
          <a:ln w="25603">
            <a:solidFill>
              <a:srgbClr val="AD8862"/>
            </a:solidFill>
            <a:prstDash val="solid"/>
          </a:ln>
        </p:spPr>
      </p:sp>
      <p:sp>
        <p:nvSpPr>
          <p:cNvPr id="18" name="bld1_2005"/>
          <p:cNvSpPr txBox="1"/>
          <p:nvPr/>
        </p:nvSpPr>
        <p:spPr>
          <a:xfrm>
            <a:off x="731520" y="3211373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Suede</a:t>
            </a:r>
            <a:endParaRPr lang="en-US" sz="1450" dirty="0"/>
          </a:p>
        </p:txBody>
      </p:sp>
      <p:sp>
        <p:nvSpPr>
          <p:cNvPr id="19" name="bld1_2006"/>
          <p:cNvSpPr txBox="1"/>
          <p:nvPr/>
        </p:nvSpPr>
        <p:spPr>
          <a:xfrm>
            <a:off x="731520" y="3522269"/>
            <a:ext cx="316169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powdery, close to skin — lean on suederal-type materials with minimal smoke or animalic weight.</a:t>
            </a:r>
            <a:endParaRPr lang="en-US" sz="1080" dirty="0"/>
          </a:p>
        </p:txBody>
      </p:sp>
      <p:sp>
        <p:nvSpPr>
          <p:cNvPr id="20" name="bld2_2007"/>
          <p:cNvSpPr/>
          <p:nvPr/>
        </p:nvSpPr>
        <p:spPr>
          <a:xfrm>
            <a:off x="4332122" y="2260397"/>
            <a:ext cx="352745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2" name="Shape 20"/>
          <p:cNvSpPr/>
          <p:nvPr/>
        </p:nvSpPr>
        <p:spPr>
          <a:xfrm>
            <a:off x="5810555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5883367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853927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853927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883367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8" name="bld2_2009"/>
          <p:cNvSpPr txBox="1"/>
          <p:nvPr/>
        </p:nvSpPr>
        <p:spPr>
          <a:xfrm>
            <a:off x="4515002" y="3211373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Dark leather</a:t>
            </a:r>
            <a:endParaRPr lang="en-US" sz="1450" dirty="0"/>
          </a:p>
        </p:txBody>
      </p:sp>
      <p:sp>
        <p:nvSpPr>
          <p:cNvPr id="29" name="bld2_2010"/>
          <p:cNvSpPr txBox="1"/>
          <p:nvPr/>
        </p:nvSpPr>
        <p:spPr>
          <a:xfrm>
            <a:off x="4515002" y="3522269"/>
            <a:ext cx="316169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Denser and more bitter — isobutyl quinoline plus woods, with animalic warmth for depth.</a:t>
            </a:r>
            <a:endParaRPr lang="en-US" sz="1080" dirty="0"/>
          </a:p>
        </p:txBody>
      </p:sp>
      <p:sp>
        <p:nvSpPr>
          <p:cNvPr id="30" name="bld3_2011"/>
          <p:cNvSpPr/>
          <p:nvPr/>
        </p:nvSpPr>
        <p:spPr>
          <a:xfrm>
            <a:off x="8115605" y="2260397"/>
            <a:ext cx="352745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9513570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2" name="Shape 30"/>
          <p:cNvSpPr/>
          <p:nvPr/>
        </p:nvSpPr>
        <p:spPr>
          <a:xfrm rot="5400000">
            <a:off x="9696743" y="2554468"/>
            <a:ext cx="125529" cy="370881"/>
          </a:xfrm>
          <a:prstGeom prst="wave">
            <a:avLst/>
          </a:prstGeom>
          <a:solidFill>
            <a:srgbClr val="5C4230">
              <a:alpha val="7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5400000">
            <a:off x="9816566" y="2597262"/>
            <a:ext cx="125529" cy="370881"/>
          </a:xfrm>
          <a:prstGeom prst="wave">
            <a:avLst/>
          </a:prstGeom>
          <a:solidFill>
            <a:srgbClr val="5C4230">
              <a:alpha val="66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5400000">
            <a:off x="9936389" y="2640056"/>
            <a:ext cx="125529" cy="370881"/>
          </a:xfrm>
          <a:prstGeom prst="wave">
            <a:avLst/>
          </a:prstGeom>
          <a:solidFill>
            <a:srgbClr val="5C4230">
              <a:alpha val="5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9513570" y="2388413"/>
            <a:ext cx="731520" cy="731520"/>
          </a:xfrm>
          <a:prstGeom prst="ellipse">
            <a:avLst/>
          </a:prstGeom>
          <a:ln w="25603">
            <a:solidFill>
              <a:srgbClr val="3A281C"/>
            </a:solidFill>
            <a:prstDash val="solid"/>
          </a:ln>
        </p:spPr>
      </p:sp>
      <p:sp>
        <p:nvSpPr>
          <p:cNvPr id="36" name="bld3_2013"/>
          <p:cNvSpPr txBox="1"/>
          <p:nvPr/>
        </p:nvSpPr>
        <p:spPr>
          <a:xfrm>
            <a:off x="8298485" y="3211373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Smoky leather</a:t>
            </a:r>
            <a:endParaRPr lang="en-US" sz="1450" dirty="0"/>
          </a:p>
        </p:txBody>
      </p:sp>
      <p:sp>
        <p:nvSpPr>
          <p:cNvPr id="37" name="bld3_2014"/>
          <p:cNvSpPr txBox="1"/>
          <p:nvPr/>
        </p:nvSpPr>
        <p:spPr>
          <a:xfrm>
            <a:off x="8298485" y="3522269"/>
            <a:ext cx="316169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the birch tar and smoky facets forward — the driest, most industrial of the three.</a:t>
            </a:r>
            <a:endParaRPr lang="en-US" sz="1080" dirty="0"/>
          </a:p>
        </p:txBody>
      </p:sp>
      <p:sp>
        <p:nvSpPr>
          <p:cNvPr id="39" name="trans_fade_12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0" name="Text 3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8" grpId="0"/>
      <p:bldP spid="19" grpId="0"/>
      <p:bldP spid="20" grpId="0"/>
      <p:bldP spid="28" grpId="0"/>
      <p:bldP spid="29" grpId="0"/>
      <p:bldP spid="30" grpId="0"/>
      <p:bldP spid="36" grpId="0"/>
      <p:bldP spid="37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TO TRY AT HOME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more accords worth building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9993" y="5005757"/>
            <a:ext cx="1255723" cy="1255723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227894" y="5093658"/>
            <a:ext cx="1079922" cy="107992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705068" y="5570832"/>
            <a:ext cx="125572" cy="12557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bld1_2015"/>
          <p:cNvSpPr/>
          <p:nvPr/>
        </p:nvSpPr>
        <p:spPr>
          <a:xfrm>
            <a:off x="548640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23" name="Shape 21"/>
          <p:cNvSpPr/>
          <p:nvPr/>
        </p:nvSpPr>
        <p:spPr>
          <a:xfrm>
            <a:off x="1576961" y="2577291"/>
            <a:ext cx="524939" cy="353763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25" name="bld1_2017"/>
          <p:cNvSpPr txBox="1"/>
          <p:nvPr/>
        </p:nvSpPr>
        <p:spPr>
          <a:xfrm>
            <a:off x="731520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</a:t>
            </a:r>
            <a:endParaRPr lang="en-US" sz="1450" dirty="0"/>
          </a:p>
        </p:txBody>
      </p:sp>
      <p:sp>
        <p:nvSpPr>
          <p:cNvPr id="26" name="bld1_2018"/>
          <p:cNvSpPr txBox="1"/>
          <p:nvPr/>
        </p:nvSpPr>
        <p:spPr>
          <a:xfrm>
            <a:off x="731520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Galaxolide as the clean base, softened with a touch of ethylene brassylate for skin-warmth.</a:t>
            </a:r>
            <a:endParaRPr lang="en-US" sz="1080" dirty="0"/>
          </a:p>
        </p:txBody>
      </p:sp>
      <p:sp>
        <p:nvSpPr>
          <p:cNvPr id="27" name="bld2_2019"/>
          <p:cNvSpPr/>
          <p:nvPr/>
        </p:nvSpPr>
        <p:spPr>
          <a:xfrm>
            <a:off x="3386252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29" name="Shape 27"/>
          <p:cNvSpPr/>
          <p:nvPr/>
        </p:nvSpPr>
        <p:spPr>
          <a:xfrm rot="840000">
            <a:off x="4608571" y="2483145"/>
            <a:ext cx="136941" cy="542056"/>
          </a:xfrm>
          <a:prstGeom prst="roundRect">
            <a:avLst>
              <a:gd name="adj" fmla="val 50000"/>
            </a:avLst>
          </a:prstGeom>
          <a:solidFill>
            <a:srgbClr val="8A5A2E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840000">
            <a:off x="4671555" y="2548762"/>
            <a:ext cx="914" cy="410822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12851" y="2564453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392" y="2635206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3" name="Shape 31"/>
          <p:cNvSpPr/>
          <p:nvPr/>
        </p:nvSpPr>
        <p:spPr>
          <a:xfrm>
            <a:off x="4653933" y="2705958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4" name="Shape 32"/>
          <p:cNvSpPr/>
          <p:nvPr/>
        </p:nvSpPr>
        <p:spPr>
          <a:xfrm>
            <a:off x="4674474" y="2776711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5" name="Shape 33"/>
          <p:cNvSpPr/>
          <p:nvPr/>
        </p:nvSpPr>
        <p:spPr>
          <a:xfrm>
            <a:off x="4695015" y="2847464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6" name="Shape 34"/>
          <p:cNvSpPr/>
          <p:nvPr/>
        </p:nvSpPr>
        <p:spPr>
          <a:xfrm>
            <a:off x="4715556" y="2918216"/>
            <a:ext cx="25676" cy="25676"/>
          </a:xfrm>
          <a:prstGeom prst="ellipse">
            <a:avLst/>
          </a:prstGeom>
          <a:solidFill>
            <a:srgbClr val="5C3A1E"/>
          </a:solidFill>
          <a:ln/>
        </p:spPr>
      </p:sp>
      <p:sp>
        <p:nvSpPr>
          <p:cNvPr id="37" name="Shape 35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38" name="bld2_2021"/>
          <p:cNvSpPr txBox="1"/>
          <p:nvPr/>
        </p:nvSpPr>
        <p:spPr>
          <a:xfrm>
            <a:off x="3569132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Vanilla</a:t>
            </a:r>
            <a:endParaRPr lang="en-US" sz="1450" dirty="0"/>
          </a:p>
        </p:txBody>
      </p:sp>
      <p:sp>
        <p:nvSpPr>
          <p:cNvPr id="39" name="bld2_2022"/>
          <p:cNvSpPr txBox="1"/>
          <p:nvPr/>
        </p:nvSpPr>
        <p:spPr>
          <a:xfrm>
            <a:off x="3569132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Vanillin as the core, softened with coumarin and rounded with a trace of benzoin.</a:t>
            </a:r>
            <a:endParaRPr lang="en-US" sz="1080" dirty="0"/>
          </a:p>
        </p:txBody>
      </p:sp>
      <p:sp>
        <p:nvSpPr>
          <p:cNvPr id="40" name="bld3_2023"/>
          <p:cNvSpPr/>
          <p:nvPr/>
        </p:nvSpPr>
        <p:spPr>
          <a:xfrm>
            <a:off x="6223864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2" name="Shape 40"/>
          <p:cNvSpPr/>
          <p:nvPr/>
        </p:nvSpPr>
        <p:spPr>
          <a:xfrm>
            <a:off x="7229361" y="2468880"/>
            <a:ext cx="570586" cy="570586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324458" y="2563978"/>
            <a:ext cx="380390" cy="380390"/>
          </a:xfrm>
          <a:prstGeom prst="donut">
            <a:avLst/>
          </a:prstGeom>
          <a:solidFill>
            <a:srgbClr val="BE9A66"/>
          </a:solidFill>
          <a:ln/>
        </p:spPr>
      </p:sp>
      <p:sp>
        <p:nvSpPr>
          <p:cNvPr id="44" name="Shape 42"/>
          <p:cNvSpPr/>
          <p:nvPr/>
        </p:nvSpPr>
        <p:spPr>
          <a:xfrm>
            <a:off x="7419556" y="2659075"/>
            <a:ext cx="190195" cy="190195"/>
          </a:xfrm>
          <a:prstGeom prst="donut">
            <a:avLst/>
          </a:prstGeom>
          <a:solidFill>
            <a:srgbClr val="8A6339">
              <a:alpha val="90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480418" y="2719938"/>
            <a:ext cx="68470" cy="68470"/>
          </a:xfrm>
          <a:prstGeom prst="ellipse">
            <a:avLst/>
          </a:prstGeom>
          <a:solidFill>
            <a:srgbClr val="8A6339"/>
          </a:solidFill>
          <a:ln/>
        </p:spPr>
      </p:sp>
      <p:sp>
        <p:nvSpPr>
          <p:cNvPr id="46" name="Shape 44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7" name="bld3_2025"/>
          <p:cNvSpPr txBox="1"/>
          <p:nvPr/>
        </p:nvSpPr>
        <p:spPr>
          <a:xfrm>
            <a:off x="6406744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Woods</a:t>
            </a:r>
            <a:endParaRPr lang="en-US" sz="1450" dirty="0"/>
          </a:p>
        </p:txBody>
      </p:sp>
      <p:sp>
        <p:nvSpPr>
          <p:cNvPr id="48" name="bld3_2026"/>
          <p:cNvSpPr txBox="1"/>
          <p:nvPr/>
        </p:nvSpPr>
        <p:spPr>
          <a:xfrm>
            <a:off x="6406744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E Super for volume, sandalwood or Javanol for cream, cedarwood for dry structure.</a:t>
            </a:r>
            <a:endParaRPr lang="en-US" sz="1080" dirty="0"/>
          </a:p>
        </p:txBody>
      </p:sp>
      <p:sp>
        <p:nvSpPr>
          <p:cNvPr id="49" name="bld4_2027"/>
          <p:cNvSpPr/>
          <p:nvPr/>
        </p:nvSpPr>
        <p:spPr>
          <a:xfrm>
            <a:off x="9061475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51" name="Shape 49"/>
          <p:cNvSpPr/>
          <p:nvPr/>
        </p:nvSpPr>
        <p:spPr>
          <a:xfrm rot="15300000">
            <a:off x="10159090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3050000">
            <a:off x="10212586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0800000">
            <a:off x="10303766" y="2754173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 rot="8550000">
            <a:off x="10394945" y="2723222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 rot="6300000">
            <a:off x="10448441" y="2643160"/>
            <a:ext cx="97000" cy="29955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57" name="bld4_2029"/>
          <p:cNvSpPr txBox="1"/>
          <p:nvPr/>
        </p:nvSpPr>
        <p:spPr>
          <a:xfrm>
            <a:off x="9244355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Fresh-cut grass</a:t>
            </a:r>
            <a:endParaRPr lang="en-US" sz="1450" dirty="0"/>
          </a:p>
        </p:txBody>
      </p:sp>
      <p:sp>
        <p:nvSpPr>
          <p:cNvPr id="58" name="bld4_2030"/>
          <p:cNvSpPr txBox="1"/>
          <p:nvPr/>
        </p:nvSpPr>
        <p:spPr>
          <a:xfrm>
            <a:off x="9244355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Cis-3-hexenol for the cut-leaf bite, stemone for green freshness, a trace of galbanum for bitterness.</a:t>
            </a:r>
            <a:endParaRPr lang="en-US" sz="1080" dirty="0"/>
          </a:p>
        </p:txBody>
      </p:sp>
      <p:sp>
        <p:nvSpPr>
          <p:cNvPr id="60" name="trans_fade_12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1" name="Text 5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5" grpId="0"/>
      <p:bldP spid="26" grpId="0"/>
      <p:bldP spid="27" grpId="0"/>
      <p:bldP spid="38" grpId="0"/>
      <p:bldP spid="39" grpId="0"/>
      <p:bldP spid="40" grpId="0"/>
      <p:bldP spid="47" grpId="0"/>
      <p:bldP spid="48" grpId="0"/>
      <p:bldP spid="49" grpId="0"/>
      <p:bldP spid="57" grpId="0"/>
      <p:bldP spid="58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6E7A50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6E7A50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6E7A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 formulas are starting structures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build upon — not finished perfumes.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DISTINCTION</a:t>
            </a:r>
            <a:endParaRPr lang="en-US" sz="1100" dirty="0"/>
          </a:p>
        </p:txBody>
      </p:sp>
      <p:sp>
        <p:nvSpPr>
          <p:cNvPr id="10" name="trans_fade_12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SYSTEMATIC METHOD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Jean Carles method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09569" y="2549073"/>
            <a:ext cx="838139" cy="838139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Shape 9"/>
          <p:cNvSpPr/>
          <p:nvPr/>
        </p:nvSpPr>
        <p:spPr>
          <a:xfrm>
            <a:off x="9547708" y="2549073"/>
            <a:ext cx="838139" cy="838139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systematic, repeatable way to explore a relationship between materials.</a:t>
            </a:r>
            <a:endParaRPr lang="en-US" sz="1050" dirty="0"/>
          </a:p>
        </p:txBody>
      </p:sp>
      <p:sp>
        <p:nvSpPr>
          <p:cNvPr id="13" name="bld1_2031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4" name="bld1_2032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two materials, A and B</a:t>
            </a:r>
            <a:endParaRPr lang="en-US" sz="1650" dirty="0"/>
          </a:p>
        </p:txBody>
      </p:sp>
      <p:sp>
        <p:nvSpPr>
          <p:cNvPr id="15" name="bld1_2033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just two — nothing more — so you can see their interaction clearly.</a:t>
            </a:r>
            <a:endParaRPr lang="en-US" sz="1250" dirty="0"/>
          </a:p>
        </p:txBody>
      </p:sp>
      <p:sp>
        <p:nvSpPr>
          <p:cNvPr id="16" name="bld2_2034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7" name="bld2_2035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ratios methodically</a:t>
            </a:r>
            <a:endParaRPr lang="en-US" sz="1650" dirty="0"/>
          </a:p>
        </p:txBody>
      </p:sp>
      <p:sp>
        <p:nvSpPr>
          <p:cNvPr id="18" name="bld2_2036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them at different proportions and evaluate each one on its own strip.</a:t>
            </a:r>
            <a:endParaRPr lang="en-US" sz="1250" dirty="0"/>
          </a:p>
        </p:txBody>
      </p:sp>
      <p:sp>
        <p:nvSpPr>
          <p:cNvPr id="19" name="bld3_2037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0" name="bld3_2038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 how they behave together</a:t>
            </a:r>
            <a:endParaRPr lang="en-US" sz="1650" dirty="0"/>
          </a:p>
        </p:txBody>
      </p:sp>
      <p:sp>
        <p:nvSpPr>
          <p:cNvPr id="21" name="bld3_2039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mapping the relationship between A and B before adding any complexity.</a:t>
            </a:r>
            <a:endParaRPr lang="en-US" sz="1250" dirty="0"/>
          </a:p>
        </p:txBody>
      </p:sp>
      <p:sp>
        <p:nvSpPr>
          <p:cNvPr id="23" name="trans_fade_12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EXPERIMENTS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: B, explored step by step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73333" y="4756671"/>
            <a:ext cx="1504264" cy="1504264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4857" y="5398195"/>
            <a:ext cx="221215" cy="221215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2040"/>
          <p:cNvSpPr/>
          <p:nvPr/>
        </p:nvSpPr>
        <p:spPr>
          <a:xfrm>
            <a:off x="548640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bld1_2041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2" name="bld1_2042"/>
          <p:cNvSpPr txBox="1"/>
          <p:nvPr/>
        </p:nvSpPr>
        <p:spPr>
          <a:xfrm>
            <a:off x="731520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: 10</a:t>
            </a:r>
            <a:endParaRPr lang="en-US" sz="1450" dirty="0"/>
          </a:p>
        </p:txBody>
      </p:sp>
      <p:sp>
        <p:nvSpPr>
          <p:cNvPr id="13" name="bld1_2043"/>
          <p:cNvSpPr txBox="1"/>
          <p:nvPr/>
        </p:nvSpPr>
        <p:spPr>
          <a:xfrm>
            <a:off x="731520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A</a:t>
            </a:r>
            <a:endParaRPr lang="en-US" sz="1080" dirty="0"/>
          </a:p>
        </p:txBody>
      </p:sp>
      <p:sp>
        <p:nvSpPr>
          <p:cNvPr id="14" name="bld2_2044"/>
          <p:cNvSpPr/>
          <p:nvPr/>
        </p:nvSpPr>
        <p:spPr>
          <a:xfrm>
            <a:off x="281872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bld2_2045"/>
          <p:cNvSpPr/>
          <p:nvPr/>
        </p:nvSpPr>
        <p:spPr>
          <a:xfrm>
            <a:off x="2992465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bld2_2046"/>
          <p:cNvSpPr txBox="1"/>
          <p:nvPr/>
        </p:nvSpPr>
        <p:spPr>
          <a:xfrm>
            <a:off x="300160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 : 20</a:t>
            </a:r>
            <a:endParaRPr lang="en-US" sz="1450" dirty="0"/>
          </a:p>
        </p:txBody>
      </p:sp>
      <p:sp>
        <p:nvSpPr>
          <p:cNvPr id="17" name="bld2_2047"/>
          <p:cNvSpPr txBox="1"/>
          <p:nvPr/>
        </p:nvSpPr>
        <p:spPr>
          <a:xfrm>
            <a:off x="300160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A lean</a:t>
            </a:r>
            <a:endParaRPr lang="en-US" sz="1080" dirty="0"/>
          </a:p>
        </p:txBody>
      </p:sp>
      <p:sp>
        <p:nvSpPr>
          <p:cNvPr id="18" name="bld3_2048"/>
          <p:cNvSpPr/>
          <p:nvPr/>
        </p:nvSpPr>
        <p:spPr>
          <a:xfrm>
            <a:off x="5088819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bld3_2049"/>
          <p:cNvSpPr/>
          <p:nvPr/>
        </p:nvSpPr>
        <p:spPr>
          <a:xfrm>
            <a:off x="5262555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bld3_2050"/>
          <p:cNvSpPr txBox="1"/>
          <p:nvPr/>
        </p:nvSpPr>
        <p:spPr>
          <a:xfrm>
            <a:off x="5271699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 : 30</a:t>
            </a:r>
            <a:endParaRPr lang="en-US" sz="1450" dirty="0"/>
          </a:p>
        </p:txBody>
      </p:sp>
      <p:sp>
        <p:nvSpPr>
          <p:cNvPr id="21" name="bld3_2051"/>
          <p:cNvSpPr txBox="1"/>
          <p:nvPr/>
        </p:nvSpPr>
        <p:spPr>
          <a:xfrm>
            <a:off x="5271699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dominant</a:t>
            </a:r>
            <a:endParaRPr lang="en-US" sz="1080" dirty="0"/>
          </a:p>
        </p:txBody>
      </p:sp>
      <p:sp>
        <p:nvSpPr>
          <p:cNvPr id="22" name="bld4_2052"/>
          <p:cNvSpPr/>
          <p:nvPr/>
        </p:nvSpPr>
        <p:spPr>
          <a:xfrm>
            <a:off x="735890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2053"/>
          <p:cNvSpPr/>
          <p:nvPr/>
        </p:nvSpPr>
        <p:spPr>
          <a:xfrm>
            <a:off x="7532644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4" name="bld4_2054"/>
          <p:cNvSpPr txBox="1"/>
          <p:nvPr/>
        </p:nvSpPr>
        <p:spPr>
          <a:xfrm>
            <a:off x="754178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: 40</a:t>
            </a:r>
            <a:endParaRPr lang="en-US" sz="1450" dirty="0"/>
          </a:p>
        </p:txBody>
      </p:sp>
      <p:sp>
        <p:nvSpPr>
          <p:cNvPr id="25" name="bld4_2055"/>
          <p:cNvSpPr txBox="1"/>
          <p:nvPr/>
        </p:nvSpPr>
        <p:spPr>
          <a:xfrm>
            <a:off x="754178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Balancing</a:t>
            </a:r>
            <a:endParaRPr lang="en-US" sz="1080" dirty="0"/>
          </a:p>
        </p:txBody>
      </p:sp>
      <p:sp>
        <p:nvSpPr>
          <p:cNvPr id="26" name="bld5_2056"/>
          <p:cNvSpPr/>
          <p:nvPr/>
        </p:nvSpPr>
        <p:spPr>
          <a:xfrm>
            <a:off x="9628998" y="2330806"/>
            <a:ext cx="201405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bld5_2057"/>
          <p:cNvSpPr/>
          <p:nvPr/>
        </p:nvSpPr>
        <p:spPr>
          <a:xfrm>
            <a:off x="9802734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8" name="bld5_2058"/>
          <p:cNvSpPr txBox="1"/>
          <p:nvPr/>
        </p:nvSpPr>
        <p:spPr>
          <a:xfrm>
            <a:off x="9811878" y="2788006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 : 50</a:t>
            </a:r>
            <a:endParaRPr lang="en-US" sz="1450" dirty="0"/>
          </a:p>
        </p:txBody>
      </p:sp>
      <p:sp>
        <p:nvSpPr>
          <p:cNvPr id="29" name="bld5_2059"/>
          <p:cNvSpPr txBox="1"/>
          <p:nvPr/>
        </p:nvSpPr>
        <p:spPr>
          <a:xfrm>
            <a:off x="9811878" y="3117190"/>
            <a:ext cx="1648297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midpoint</a:t>
            </a:r>
            <a:endParaRPr lang="en-US" sz="1080" dirty="0"/>
          </a:p>
        </p:txBody>
      </p:sp>
      <p:sp>
        <p:nvSpPr>
          <p:cNvPr id="31" name="trans_fade_13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ITERATING AN ACCORD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accord development loop</a:t>
            </a:r>
            <a:endParaRPr lang="en-US" sz="3200" dirty="0"/>
          </a:p>
        </p:txBody>
      </p:sp>
      <p:sp>
        <p:nvSpPr>
          <p:cNvPr id="7" name="bld1_2060"/>
          <p:cNvSpPr/>
          <p:nvPr/>
        </p:nvSpPr>
        <p:spPr>
          <a:xfrm>
            <a:off x="548640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061"/>
          <p:cNvSpPr txBox="1"/>
          <p:nvPr/>
        </p:nvSpPr>
        <p:spPr>
          <a:xfrm>
            <a:off x="713232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bld1_2062"/>
          <p:cNvSpPr txBox="1"/>
          <p:nvPr/>
        </p:nvSpPr>
        <p:spPr>
          <a:xfrm>
            <a:off x="713232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 1</a:t>
            </a:r>
            <a:endParaRPr lang="en-US" sz="1450" dirty="0"/>
          </a:p>
        </p:txBody>
      </p:sp>
      <p:sp>
        <p:nvSpPr>
          <p:cNvPr id="10" name="bld1_2063"/>
          <p:cNvSpPr txBox="1"/>
          <p:nvPr/>
        </p:nvSpPr>
        <p:spPr>
          <a:xfrm>
            <a:off x="713232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first pass at the accord.</a:t>
            </a:r>
            <a:endParaRPr lang="en-US" sz="1000" dirty="0"/>
          </a:p>
        </p:txBody>
      </p:sp>
      <p:sp>
        <p:nvSpPr>
          <p:cNvPr id="11" name="bld1_2064"/>
          <p:cNvSpPr txBox="1"/>
          <p:nvPr/>
        </p:nvSpPr>
        <p:spPr>
          <a:xfrm>
            <a:off x="2511491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bld2_2065"/>
          <p:cNvSpPr/>
          <p:nvPr/>
        </p:nvSpPr>
        <p:spPr>
          <a:xfrm>
            <a:off x="2831531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2066"/>
          <p:cNvSpPr txBox="1"/>
          <p:nvPr/>
        </p:nvSpPr>
        <p:spPr>
          <a:xfrm>
            <a:off x="2996123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bld2_2067"/>
          <p:cNvSpPr txBox="1"/>
          <p:nvPr/>
        </p:nvSpPr>
        <p:spPr>
          <a:xfrm>
            <a:off x="2996123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it</a:t>
            </a:r>
            <a:endParaRPr lang="en-US" sz="1450" dirty="0"/>
          </a:p>
        </p:txBody>
      </p:sp>
      <p:sp>
        <p:nvSpPr>
          <p:cNvPr id="15" name="bld2_2068"/>
          <p:cNvSpPr txBox="1"/>
          <p:nvPr/>
        </p:nvSpPr>
        <p:spPr>
          <a:xfrm>
            <a:off x="2996123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on a fresh scent strip.</a:t>
            </a:r>
            <a:endParaRPr lang="en-US" sz="1000" dirty="0"/>
          </a:p>
        </p:txBody>
      </p:sp>
      <p:sp>
        <p:nvSpPr>
          <p:cNvPr id="16" name="bld2_2069"/>
          <p:cNvSpPr txBox="1"/>
          <p:nvPr/>
        </p:nvSpPr>
        <p:spPr>
          <a:xfrm>
            <a:off x="4794382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bld3_2070"/>
          <p:cNvSpPr/>
          <p:nvPr/>
        </p:nvSpPr>
        <p:spPr>
          <a:xfrm>
            <a:off x="5114422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2071"/>
          <p:cNvSpPr txBox="1"/>
          <p:nvPr/>
        </p:nvSpPr>
        <p:spPr>
          <a:xfrm>
            <a:off x="5279014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bld3_2072"/>
          <p:cNvSpPr txBox="1"/>
          <p:nvPr/>
        </p:nvSpPr>
        <p:spPr>
          <a:xfrm>
            <a:off x="5279014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Identify the problem</a:t>
            </a:r>
            <a:endParaRPr lang="en-US" sz="1450" dirty="0"/>
          </a:p>
        </p:txBody>
      </p:sp>
      <p:sp>
        <p:nvSpPr>
          <p:cNvPr id="20" name="bld3_2073"/>
          <p:cNvSpPr txBox="1"/>
          <p:nvPr/>
        </p:nvSpPr>
        <p:spPr>
          <a:xfrm>
            <a:off x="5279014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missing, dominant, or off?</a:t>
            </a:r>
            <a:endParaRPr lang="en-US" sz="1000" dirty="0"/>
          </a:p>
        </p:txBody>
      </p:sp>
      <p:sp>
        <p:nvSpPr>
          <p:cNvPr id="21" name="bld3_2074"/>
          <p:cNvSpPr txBox="1"/>
          <p:nvPr/>
        </p:nvSpPr>
        <p:spPr>
          <a:xfrm>
            <a:off x="7077273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bld4_2075"/>
          <p:cNvSpPr/>
          <p:nvPr/>
        </p:nvSpPr>
        <p:spPr>
          <a:xfrm>
            <a:off x="7397313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2076"/>
          <p:cNvSpPr txBox="1"/>
          <p:nvPr/>
        </p:nvSpPr>
        <p:spPr>
          <a:xfrm>
            <a:off x="7561905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bld4_2077"/>
          <p:cNvSpPr txBox="1"/>
          <p:nvPr/>
        </p:nvSpPr>
        <p:spPr>
          <a:xfrm>
            <a:off x="7561905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one variable</a:t>
            </a:r>
            <a:endParaRPr lang="en-US" sz="1450" dirty="0"/>
          </a:p>
        </p:txBody>
      </p:sp>
      <p:sp>
        <p:nvSpPr>
          <p:cNvPr id="25" name="bld4_2078"/>
          <p:cNvSpPr txBox="1"/>
          <p:nvPr/>
        </p:nvSpPr>
        <p:spPr>
          <a:xfrm>
            <a:off x="7561905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a single material or ratio.</a:t>
            </a:r>
            <a:endParaRPr lang="en-US" sz="1000" dirty="0"/>
          </a:p>
        </p:txBody>
      </p:sp>
      <p:sp>
        <p:nvSpPr>
          <p:cNvPr id="26" name="bld4_2079"/>
          <p:cNvSpPr txBox="1"/>
          <p:nvPr/>
        </p:nvSpPr>
        <p:spPr>
          <a:xfrm>
            <a:off x="9360164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bld5_2080"/>
          <p:cNvSpPr/>
          <p:nvPr/>
        </p:nvSpPr>
        <p:spPr>
          <a:xfrm>
            <a:off x="9680204" y="2922422"/>
            <a:ext cx="1962851" cy="2148840"/>
          </a:xfrm>
          <a:prstGeom prst="roundRect">
            <a:avLst>
              <a:gd name="adj" fmla="val 4659"/>
            </a:avLst>
          </a:prstGeom>
          <a:solidFill>
            <a:srgbClr val="FFFFFF"/>
          </a:solidFill>
          <a:ln w="19050">
            <a:solidFill>
              <a:srgbClr val="8C3B4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2081"/>
          <p:cNvSpPr txBox="1"/>
          <p:nvPr/>
        </p:nvSpPr>
        <p:spPr>
          <a:xfrm>
            <a:off x="9844796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3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9" name="bld5_2082"/>
          <p:cNvSpPr txBox="1"/>
          <p:nvPr/>
        </p:nvSpPr>
        <p:spPr>
          <a:xfrm>
            <a:off x="9844796" y="3452774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again</a:t>
            </a:r>
            <a:endParaRPr lang="en-US" sz="1450" dirty="0"/>
          </a:p>
        </p:txBody>
      </p:sp>
      <p:sp>
        <p:nvSpPr>
          <p:cNvPr id="30" name="bld5_2083"/>
          <p:cNvSpPr txBox="1"/>
          <p:nvPr/>
        </p:nvSpPr>
        <p:spPr>
          <a:xfrm>
            <a:off x="9844796" y="3946550"/>
            <a:ext cx="16336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until the accord reads true.</a:t>
            </a:r>
            <a:endParaRPr lang="en-US" sz="1000" dirty="0"/>
          </a:p>
        </p:txBody>
      </p:sp>
      <p:sp>
        <p:nvSpPr>
          <p:cNvPr id="32" name="trans_push_l_13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61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B3A52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B3A52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B3A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one variable at a time. Change three,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you'll never know which one mattered.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06</a:t>
            </a:r>
            <a:endParaRPr lang="en-US" sz="1100" dirty="0"/>
          </a:p>
        </p:txBody>
      </p:sp>
      <p:sp>
        <p:nvSpPr>
          <p:cNvPr id="10" name="trans_fade_13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5B3A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1702" y="2053742"/>
            <a:ext cx="2750515" cy="2750515"/>
          </a:xfrm>
          <a:prstGeom prst="ellipse">
            <a:avLst/>
          </a:prstGeom>
          <a:solidFill>
            <a:srgbClr val="5B3A52">
              <a:alpha val="2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150401" y="2612441"/>
            <a:ext cx="1633118" cy="1633118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08262" y="2870302"/>
            <a:ext cx="1117397" cy="1117397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66122" y="3128162"/>
            <a:ext cx="601675" cy="601675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08262" y="2870302"/>
            <a:ext cx="1117397" cy="1117397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50401" y="2612441"/>
            <a:ext cx="1633118" cy="1633118"/>
          </a:xfrm>
          <a:prstGeom prst="ellipse">
            <a:avLst/>
          </a:prstGeom>
          <a:ln w="10973">
            <a:solidFill>
              <a:srgbClr val="5B3A5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07 · FORMULA CONSTRUCTION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Accords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A Full Formula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individual materials and accords come together into a complete, structured perfume.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formula's anatomy, from idea to base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Balancing contrast, volume and diffusion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full example formulas, built and explained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  <p:sp>
        <p:nvSpPr>
          <p:cNvPr id="24" name="trans_fade_13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 ARCHITECTURE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formula has the same basic anatomy</a:t>
            </a:r>
            <a:endParaRPr lang="en-US" sz="3200" dirty="0"/>
          </a:p>
        </p:txBody>
      </p:sp>
      <p:sp>
        <p:nvSpPr>
          <p:cNvPr id="7" name="bld1_2084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085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2086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idea</a:t>
            </a:r>
            <a:endParaRPr lang="en-US" sz="1450" dirty="0"/>
          </a:p>
        </p:txBody>
      </p:sp>
      <p:sp>
        <p:nvSpPr>
          <p:cNvPr id="10" name="bld1_2087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concept the whole formula serves.</a:t>
            </a:r>
            <a:endParaRPr lang="en-US" sz="1080" dirty="0"/>
          </a:p>
        </p:txBody>
      </p:sp>
      <p:sp>
        <p:nvSpPr>
          <p:cNvPr id="11" name="bld2_2088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2089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2090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Supporting accord</a:t>
            </a:r>
            <a:endParaRPr lang="en-US" sz="1450" dirty="0"/>
          </a:p>
        </p:txBody>
      </p:sp>
      <p:sp>
        <p:nvSpPr>
          <p:cNvPr id="14" name="bld2_2091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structure that carries the main idea.</a:t>
            </a:r>
            <a:endParaRPr lang="en-US" sz="1080" dirty="0"/>
          </a:p>
        </p:txBody>
      </p:sp>
      <p:sp>
        <p:nvSpPr>
          <p:cNvPr id="15" name="bld3_2092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2093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2094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Modifiers</a:t>
            </a:r>
            <a:endParaRPr lang="en-US" sz="1450" dirty="0"/>
          </a:p>
        </p:txBody>
      </p:sp>
      <p:sp>
        <p:nvSpPr>
          <p:cNvPr id="18" name="bld3_2095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adjustments that shape character.</a:t>
            </a:r>
            <a:endParaRPr lang="en-US" sz="1080" dirty="0"/>
          </a:p>
        </p:txBody>
      </p:sp>
      <p:sp>
        <p:nvSpPr>
          <p:cNvPr id="19" name="bld4_2096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2097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2098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 materials</a:t>
            </a:r>
            <a:endParaRPr lang="en-US" sz="1450" dirty="0"/>
          </a:p>
        </p:txBody>
      </p:sp>
      <p:sp>
        <p:nvSpPr>
          <p:cNvPr id="22" name="bld4_2099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the formula project and spread.</a:t>
            </a:r>
            <a:endParaRPr lang="en-US" sz="1080" dirty="0"/>
          </a:p>
        </p:txBody>
      </p:sp>
      <p:sp>
        <p:nvSpPr>
          <p:cNvPr id="23" name="bld5_2100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2101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2102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structure</a:t>
            </a:r>
            <a:endParaRPr lang="en-US" sz="1450" dirty="0"/>
          </a:p>
        </p:txBody>
      </p:sp>
      <p:sp>
        <p:nvSpPr>
          <p:cNvPr id="26" name="bld5_2103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 that anchors the drydown.</a:t>
            </a:r>
            <a:endParaRPr lang="en-US" sz="1080" dirty="0"/>
          </a:p>
        </p:txBody>
      </p:sp>
      <p:sp>
        <p:nvSpPr>
          <p:cNvPr id="27" name="bld6_2104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2105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2106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 materials</a:t>
            </a:r>
            <a:endParaRPr lang="en-US" sz="1450" dirty="0"/>
          </a:p>
        </p:txBody>
      </p:sp>
      <p:sp>
        <p:nvSpPr>
          <p:cNvPr id="30" name="bld6_2107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doses with outsized influence.</a:t>
            </a:r>
            <a:endParaRPr lang="en-US" sz="1080" dirty="0"/>
          </a:p>
        </p:txBody>
      </p:sp>
      <p:sp>
        <p:nvSpPr>
          <p:cNvPr id="32" name="trans_fade_13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POINT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formula starts as a sentence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B3A52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B3A52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41941" y="1962376"/>
            <a:ext cx="2011534" cy="2011534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682748" y="2103183"/>
            <a:ext cx="1729919" cy="172991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2" name="Shape 10"/>
          <p:cNvSpPr/>
          <p:nvPr/>
        </p:nvSpPr>
        <p:spPr>
          <a:xfrm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27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54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81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35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62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89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447131" y="2867566"/>
            <a:ext cx="201153" cy="20115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sentence, broken into buildable pieces.</a:t>
            </a:r>
            <a:endParaRPr lang="en-US" sz="1050" dirty="0"/>
          </a:p>
        </p:txBody>
      </p:sp>
      <p:sp>
        <p:nvSpPr>
          <p:cNvPr id="22" name="bld1_2108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3" name="bld1_2109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"Cold mineral citrus with smoky woods"</a:t>
            </a:r>
            <a:endParaRPr lang="en-US" sz="1650" dirty="0"/>
          </a:p>
        </p:txBody>
      </p:sp>
      <p:sp>
        <p:nvSpPr>
          <p:cNvPr id="24" name="bld1_2110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starting idea — vivid, specific, and evocative rather than technical.</a:t>
            </a:r>
            <a:endParaRPr lang="en-US" sz="1250" dirty="0"/>
          </a:p>
        </p:txBody>
      </p:sp>
      <p:sp>
        <p:nvSpPr>
          <p:cNvPr id="25" name="bld2_2111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6" name="bld2_2112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it into olfactory components</a:t>
            </a:r>
            <a:endParaRPr lang="en-US" sz="1650" dirty="0"/>
          </a:p>
        </p:txBody>
      </p:sp>
      <p:sp>
        <p:nvSpPr>
          <p:cNvPr id="27" name="bld2_2113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/ mineral. Citrus. Smoky. Woods. Four distinct pieces to build separately.</a:t>
            </a:r>
            <a:endParaRPr lang="en-US" sz="1250" dirty="0"/>
          </a:p>
        </p:txBody>
      </p:sp>
      <p:sp>
        <p:nvSpPr>
          <p:cNvPr id="28" name="bld3_2114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9" name="bld3_2115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piece becomes its own accord</a:t>
            </a:r>
            <a:endParaRPr lang="en-US" sz="1650" dirty="0"/>
          </a:p>
        </p:txBody>
      </p:sp>
      <p:sp>
        <p:nvSpPr>
          <p:cNvPr id="30" name="bld3_2116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construct a small accord for each component, then combine them.</a:t>
            </a:r>
            <a:endParaRPr lang="en-US" sz="1250" dirty="0"/>
          </a:p>
        </p:txBody>
      </p:sp>
      <p:sp>
        <p:nvSpPr>
          <p:cNvPr id="32" name="trans_fade_13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ASSEMBLING THE IDEA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Accords combine into a fragrance</a:t>
            </a:r>
            <a:endParaRPr lang="en-US" sz="3200" dirty="0"/>
          </a:p>
        </p:txBody>
      </p:sp>
      <p:sp>
        <p:nvSpPr>
          <p:cNvPr id="7" name="bld1_2117"/>
          <p:cNvSpPr/>
          <p:nvPr/>
        </p:nvSpPr>
        <p:spPr>
          <a:xfrm>
            <a:off x="548640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118"/>
          <p:cNvSpPr txBox="1"/>
          <p:nvPr/>
        </p:nvSpPr>
        <p:spPr>
          <a:xfrm>
            <a:off x="713232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bld1_2119"/>
          <p:cNvSpPr txBox="1"/>
          <p:nvPr/>
        </p:nvSpPr>
        <p:spPr>
          <a:xfrm>
            <a:off x="713232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 accord</a:t>
            </a:r>
            <a:endParaRPr lang="en-US" sz="1450" dirty="0"/>
          </a:p>
        </p:txBody>
      </p:sp>
      <p:sp>
        <p:nvSpPr>
          <p:cNvPr id="10" name="bld1_2120"/>
          <p:cNvSpPr txBox="1"/>
          <p:nvPr/>
        </p:nvSpPr>
        <p:spPr>
          <a:xfrm>
            <a:off x="713232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cold, bright opening.</a:t>
            </a:r>
            <a:endParaRPr lang="en-US" sz="1000" dirty="0"/>
          </a:p>
        </p:txBody>
      </p:sp>
      <p:sp>
        <p:nvSpPr>
          <p:cNvPr id="11" name="bld1_2121"/>
          <p:cNvSpPr txBox="1"/>
          <p:nvPr/>
        </p:nvSpPr>
        <p:spPr>
          <a:xfrm>
            <a:off x="3082214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bld2_2122"/>
          <p:cNvSpPr/>
          <p:nvPr/>
        </p:nvSpPr>
        <p:spPr>
          <a:xfrm>
            <a:off x="3402254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2123"/>
          <p:cNvSpPr txBox="1"/>
          <p:nvPr/>
        </p:nvSpPr>
        <p:spPr>
          <a:xfrm>
            <a:off x="3566846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bld2_2124"/>
          <p:cNvSpPr txBox="1"/>
          <p:nvPr/>
        </p:nvSpPr>
        <p:spPr>
          <a:xfrm>
            <a:off x="3566846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Mineral accord</a:t>
            </a:r>
            <a:endParaRPr lang="en-US" sz="1450" dirty="0"/>
          </a:p>
        </p:txBody>
      </p:sp>
      <p:sp>
        <p:nvSpPr>
          <p:cNvPr id="15" name="bld2_2125"/>
          <p:cNvSpPr txBox="1"/>
          <p:nvPr/>
        </p:nvSpPr>
        <p:spPr>
          <a:xfrm>
            <a:off x="3566846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cool, stony transparency.</a:t>
            </a:r>
            <a:endParaRPr lang="en-US" sz="1000" dirty="0"/>
          </a:p>
        </p:txBody>
      </p:sp>
      <p:sp>
        <p:nvSpPr>
          <p:cNvPr id="16" name="bld2_2126"/>
          <p:cNvSpPr txBox="1"/>
          <p:nvPr/>
        </p:nvSpPr>
        <p:spPr>
          <a:xfrm>
            <a:off x="5935828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bld3_2127"/>
          <p:cNvSpPr/>
          <p:nvPr/>
        </p:nvSpPr>
        <p:spPr>
          <a:xfrm>
            <a:off x="6255868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2128"/>
          <p:cNvSpPr txBox="1"/>
          <p:nvPr/>
        </p:nvSpPr>
        <p:spPr>
          <a:xfrm>
            <a:off x="6420460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bld3_2129"/>
          <p:cNvSpPr txBox="1"/>
          <p:nvPr/>
        </p:nvSpPr>
        <p:spPr>
          <a:xfrm>
            <a:off x="6420460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 base</a:t>
            </a:r>
            <a:endParaRPr lang="en-US" sz="1450" dirty="0"/>
          </a:p>
        </p:txBody>
      </p:sp>
      <p:sp>
        <p:nvSpPr>
          <p:cNvPr id="20" name="bld3_2130"/>
          <p:cNvSpPr txBox="1"/>
          <p:nvPr/>
        </p:nvSpPr>
        <p:spPr>
          <a:xfrm>
            <a:off x="6420460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dry, structural foundation.</a:t>
            </a:r>
            <a:endParaRPr lang="en-US" sz="1000" dirty="0"/>
          </a:p>
        </p:txBody>
      </p:sp>
      <p:sp>
        <p:nvSpPr>
          <p:cNvPr id="21" name="bld3_2131"/>
          <p:cNvSpPr txBox="1"/>
          <p:nvPr/>
        </p:nvSpPr>
        <p:spPr>
          <a:xfrm>
            <a:off x="8789441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bld4_2132"/>
          <p:cNvSpPr/>
          <p:nvPr/>
        </p:nvSpPr>
        <p:spPr>
          <a:xfrm>
            <a:off x="9109481" y="2922422"/>
            <a:ext cx="2533574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2133"/>
          <p:cNvSpPr txBox="1"/>
          <p:nvPr/>
        </p:nvSpPr>
        <p:spPr>
          <a:xfrm>
            <a:off x="9274073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bld4_2134"/>
          <p:cNvSpPr txBox="1"/>
          <p:nvPr/>
        </p:nvSpPr>
        <p:spPr>
          <a:xfrm>
            <a:off x="9274073" y="3452774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 structure</a:t>
            </a:r>
            <a:endParaRPr lang="en-US" sz="1450" dirty="0"/>
          </a:p>
        </p:txBody>
      </p:sp>
      <p:sp>
        <p:nvSpPr>
          <p:cNvPr id="25" name="bld4_2135"/>
          <p:cNvSpPr txBox="1"/>
          <p:nvPr/>
        </p:nvSpPr>
        <p:spPr>
          <a:xfrm>
            <a:off x="9274073" y="3946550"/>
            <a:ext cx="22043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skin-like glue holding it together.</a:t>
            </a:r>
            <a:endParaRPr lang="en-US" sz="1000" dirty="0"/>
          </a:p>
        </p:txBody>
      </p:sp>
      <p:sp>
        <p:nvSpPr>
          <p:cNvPr id="27" name="trans_push_l_13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49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METHOD, BIGGER SCALE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Jean Carles at the formula level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72429" y="2758608"/>
            <a:ext cx="419070" cy="419070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Shape 9"/>
          <p:cNvSpPr/>
          <p:nvPr/>
        </p:nvSpPr>
        <p:spPr>
          <a:xfrm>
            <a:off x="9149592" y="2758608"/>
            <a:ext cx="419070" cy="419070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2" name="Shape 10"/>
          <p:cNvSpPr/>
          <p:nvPr/>
        </p:nvSpPr>
        <p:spPr>
          <a:xfrm>
            <a:off x="9526754" y="2758608"/>
            <a:ext cx="419070" cy="419070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Shape 11"/>
          <p:cNvSpPr/>
          <p:nvPr/>
        </p:nvSpPr>
        <p:spPr>
          <a:xfrm>
            <a:off x="9903917" y="2758608"/>
            <a:ext cx="419070" cy="419070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systematic ratio testing, scaled from materials to full accords.</a:t>
            </a:r>
            <a:endParaRPr lang="en-US" sz="1050" dirty="0"/>
          </a:p>
        </p:txBody>
      </p:sp>
      <p:sp>
        <p:nvSpPr>
          <p:cNvPr id="15" name="bld1_2136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6" name="bld1_2137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accord-to-accord ratios</a:t>
            </a:r>
            <a:endParaRPr lang="en-US" sz="1650" dirty="0"/>
          </a:p>
        </p:txBody>
      </p:sp>
      <p:sp>
        <p:nvSpPr>
          <p:cNvPr id="17" name="bld1_2138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each accord exists individually, blend pairs of them systematically, just like material A:B testing.</a:t>
            </a:r>
            <a:endParaRPr lang="en-US" sz="1250" dirty="0"/>
          </a:p>
        </p:txBody>
      </p:sp>
      <p:sp>
        <p:nvSpPr>
          <p:cNvPr id="18" name="bld2_2139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9" name="bld2_2140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right balance point</a:t>
            </a:r>
            <a:endParaRPr lang="en-US" sz="1650" dirty="0"/>
          </a:p>
        </p:txBody>
      </p:sp>
      <p:sp>
        <p:nvSpPr>
          <p:cNvPr id="20" name="bld2_2141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citrus and the woods disappear; too much wood and the opening feels dull.</a:t>
            </a:r>
            <a:endParaRPr lang="en-US" sz="1250" dirty="0"/>
          </a:p>
        </p:txBody>
      </p:sp>
      <p:sp>
        <p:nvSpPr>
          <p:cNvPr id="21" name="bld3_2142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2" name="bld3_2143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up, don't dump in</a:t>
            </a:r>
            <a:endParaRPr lang="en-US" sz="1650" dirty="0"/>
          </a:p>
        </p:txBody>
      </p:sp>
      <p:sp>
        <p:nvSpPr>
          <p:cNvPr id="23" name="bld3_2144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one accord at a time, evaluating after each addition — never combine everything at once.</a:t>
            </a:r>
            <a:endParaRPr lang="en-US" sz="1250" dirty="0"/>
          </a:p>
        </p:txBody>
      </p:sp>
      <p:sp>
        <p:nvSpPr>
          <p:cNvPr id="25" name="trans_fade_13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6" name="Text 2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formula must total 100%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41941" y="1962376"/>
            <a:ext cx="2011534" cy="2011534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41941" y="2766974"/>
            <a:ext cx="20115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percentages of every formula always sum to 100%.</a:t>
            </a:r>
            <a:endParaRPr lang="en-US" sz="1050" dirty="0"/>
          </a:p>
        </p:txBody>
      </p:sp>
      <p:sp>
        <p:nvSpPr>
          <p:cNvPr id="13" name="bld1_2145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4" name="bld1_2146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material gets a percentage</a:t>
            </a:r>
            <a:endParaRPr lang="en-US" sz="1650" dirty="0"/>
          </a:p>
        </p:txBody>
      </p:sp>
      <p:sp>
        <p:nvSpPr>
          <p:cNvPr id="15" name="bld1_2147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total concentrate, before dilution — every material's share must be tracked.</a:t>
            </a:r>
            <a:endParaRPr lang="en-US" sz="1250" dirty="0"/>
          </a:p>
        </p:txBody>
      </p:sp>
      <p:sp>
        <p:nvSpPr>
          <p:cNvPr id="16" name="bld2_2148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bld2_2149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percentages always sum to 100</a:t>
            </a:r>
            <a:endParaRPr lang="en-US" sz="1650" dirty="0"/>
          </a:p>
        </p:txBody>
      </p:sp>
      <p:sp>
        <p:nvSpPr>
          <p:cNvPr id="18" name="bld2_2150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isn't optional — it's how you know your formula sheet is complete and correct.</a:t>
            </a:r>
            <a:endParaRPr lang="en-US" sz="1250" dirty="0"/>
          </a:p>
        </p:txBody>
      </p:sp>
      <p:sp>
        <p:nvSpPr>
          <p:cNvPr id="19" name="bld3_2151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0" name="bld3_2152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 makes this effortless</a:t>
            </a:r>
            <a:endParaRPr lang="en-US" sz="1650" dirty="0"/>
          </a:p>
        </p:txBody>
      </p:sp>
      <p:sp>
        <p:nvSpPr>
          <p:cNvPr id="21" name="bld3_2153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spreadsheet with a running total column catches errors instantly.</a:t>
            </a:r>
            <a:endParaRPr lang="en-US" sz="1250" dirty="0"/>
          </a:p>
        </p:txBody>
      </p:sp>
      <p:sp>
        <p:nvSpPr>
          <p:cNvPr id="23" name="trans_fade_13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CRAFT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Balancing a formula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83848" y="2590980"/>
            <a:ext cx="754325" cy="754325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Shape 9"/>
          <p:cNvSpPr/>
          <p:nvPr/>
        </p:nvSpPr>
        <p:spPr>
          <a:xfrm>
            <a:off x="9547708" y="2381445"/>
            <a:ext cx="1173395" cy="1173395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small, loud material balanced against a larger, quiet one — not equal size, equal impact.</a:t>
            </a:r>
            <a:endParaRPr lang="en-US" sz="1050" dirty="0"/>
          </a:p>
        </p:txBody>
      </p:sp>
      <p:sp>
        <p:nvSpPr>
          <p:cNvPr id="13" name="bld1_2154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bld1_2155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Contrast, not sameness</a:t>
            </a:r>
            <a:endParaRPr lang="en-US" sz="1650" dirty="0"/>
          </a:p>
        </p:txBody>
      </p:sp>
      <p:sp>
        <p:nvSpPr>
          <p:cNvPr id="15" name="bld1_2156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opposing textures — a bright citrus against heavy woods, a sharp green against a soft musk. Contrast is what keeps a formula interesting.</a:t>
            </a:r>
            <a:endParaRPr lang="en-US" sz="1250" dirty="0"/>
          </a:p>
        </p:txBody>
      </p:sp>
      <p:sp>
        <p:nvSpPr>
          <p:cNvPr id="16" name="bld2_2157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bld2_2158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 volume to intention</a:t>
            </a:r>
            <a:endParaRPr lang="en-US" sz="1650" dirty="0"/>
          </a:p>
        </p:txBody>
      </p:sp>
      <p:sp>
        <p:nvSpPr>
          <p:cNvPr id="18" name="bld2_2159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loud, diffusive material earns a small percentage; a quiet fixative can carry a much larger share without overwhelming anything.</a:t>
            </a:r>
            <a:endParaRPr lang="en-US" sz="1250" dirty="0"/>
          </a:p>
        </p:txBody>
      </p:sp>
      <p:sp>
        <p:nvSpPr>
          <p:cNvPr id="19" name="bld3_2160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0" name="bld3_2161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diffusive and fixative roles deliberately</a:t>
            </a:r>
            <a:endParaRPr lang="en-US" sz="1650" dirty="0"/>
          </a:p>
        </p:txBody>
      </p:sp>
      <p:sp>
        <p:nvSpPr>
          <p:cNvPr id="21" name="bld3_2162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Diffusive materials (Hedione, citrus) carry the formula outward; fixatives (musks, resins, heavy woods) slow evaporation and anchor the base. Every formula needs both.</a:t>
            </a:r>
            <a:endParaRPr lang="en-US" sz="1250" dirty="0"/>
          </a:p>
        </p:txBody>
      </p:sp>
      <p:sp>
        <p:nvSpPr>
          <p:cNvPr id="22" name="bld4_2163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3" name="bld4_2164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around one central idea</a:t>
            </a:r>
            <a:endParaRPr lang="en-US" sz="1650" dirty="0"/>
          </a:p>
        </p:txBody>
      </p:sp>
      <p:sp>
        <p:nvSpPr>
          <p:cNvPr id="24" name="bld4_2165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material should serve the one-sentence idea from the previous slide — if it doesn't, it's a candidate for removal.</a:t>
            </a:r>
            <a:endParaRPr lang="en-US" sz="1250" dirty="0"/>
          </a:p>
        </p:txBody>
      </p:sp>
      <p:sp>
        <p:nvSpPr>
          <p:cNvPr id="26" name="trans_fade_13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FORMULA IS MADE OF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you've learned, in one equation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393192" y="2953512"/>
            <a:ext cx="1499616" cy="1499616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8" name="Shape 6"/>
          <p:cNvSpPr/>
          <p:nvPr/>
        </p:nvSpPr>
        <p:spPr>
          <a:xfrm flipV="1">
            <a:off x="1143000" y="3574653"/>
            <a:ext cx="289501" cy="12866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32501" y="3574653"/>
            <a:ext cx="289501" cy="16083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432501" y="3735487"/>
            <a:ext cx="289501" cy="25733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9999" y="3992821"/>
            <a:ext cx="482501" cy="914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949999" y="3703320"/>
            <a:ext cx="193001" cy="289501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9166" y="3542486"/>
            <a:ext cx="353834" cy="16083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91533" y="3651853"/>
            <a:ext cx="102934" cy="10293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95509" y="3537661"/>
            <a:ext cx="73984" cy="7398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85010" y="3698495"/>
            <a:ext cx="73984" cy="7398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95509" y="3955829"/>
            <a:ext cx="73984" cy="7398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3008" y="3955829"/>
            <a:ext cx="73984" cy="7398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2174" y="3505494"/>
            <a:ext cx="73984" cy="73984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3192" y="2953512"/>
            <a:ext cx="1499616" cy="1499616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1" name="bld1_2167"/>
          <p:cNvSpPr txBox="1"/>
          <p:nvPr/>
        </p:nvSpPr>
        <p:spPr>
          <a:xfrm>
            <a:off x="3845" y="4599432"/>
            <a:ext cx="2278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materials</a:t>
            </a:r>
            <a:endParaRPr lang="en-US" sz="1250" dirty="0"/>
          </a:p>
        </p:txBody>
      </p:sp>
      <p:sp>
        <p:nvSpPr>
          <p:cNvPr id="22" name="bld2_2168"/>
          <p:cNvSpPr txBox="1"/>
          <p:nvPr/>
        </p:nvSpPr>
        <p:spPr>
          <a:xfrm>
            <a:off x="1938528" y="3410712"/>
            <a:ext cx="885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C7A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2869616" y="2953512"/>
            <a:ext cx="1499616" cy="1499616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4" name="Shape 22"/>
          <p:cNvSpPr/>
          <p:nvPr/>
        </p:nvSpPr>
        <p:spPr>
          <a:xfrm>
            <a:off x="3473211" y="3113791"/>
            <a:ext cx="292425" cy="61409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4320000">
            <a:off x="3741868" y="3308982"/>
            <a:ext cx="292425" cy="61409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 rot="8640000">
            <a:off x="3639250" y="3624807"/>
            <a:ext cx="292425" cy="61409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 rot="12960000">
            <a:off x="3307172" y="3624807"/>
            <a:ext cx="292425" cy="61409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17280000">
            <a:off x="3204554" y="3308982"/>
            <a:ext cx="292425" cy="614093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479060" y="3562956"/>
            <a:ext cx="280728" cy="280728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0" name="Shape 28"/>
          <p:cNvSpPr/>
          <p:nvPr/>
        </p:nvSpPr>
        <p:spPr>
          <a:xfrm>
            <a:off x="2869616" y="2953512"/>
            <a:ext cx="1499616" cy="1499616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1" name="bld2_2170"/>
          <p:cNvSpPr txBox="1"/>
          <p:nvPr/>
        </p:nvSpPr>
        <p:spPr>
          <a:xfrm>
            <a:off x="2480269" y="4599432"/>
            <a:ext cx="2278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Accords</a:t>
            </a:r>
            <a:endParaRPr lang="en-US" sz="1250" dirty="0"/>
          </a:p>
        </p:txBody>
      </p:sp>
      <p:sp>
        <p:nvSpPr>
          <p:cNvPr id="32" name="bld3_2171"/>
          <p:cNvSpPr txBox="1"/>
          <p:nvPr/>
        </p:nvSpPr>
        <p:spPr>
          <a:xfrm>
            <a:off x="4414952" y="3410712"/>
            <a:ext cx="885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C7A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600" dirty="0"/>
          </a:p>
        </p:txBody>
      </p:sp>
      <p:sp>
        <p:nvSpPr>
          <p:cNvPr id="33" name="Shape 31"/>
          <p:cNvSpPr/>
          <p:nvPr/>
        </p:nvSpPr>
        <p:spPr>
          <a:xfrm>
            <a:off x="5346040" y="2953512"/>
            <a:ext cx="1499616" cy="1499616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34" name="Shape 32"/>
          <p:cNvSpPr/>
          <p:nvPr/>
        </p:nvSpPr>
        <p:spPr>
          <a:xfrm>
            <a:off x="6044381" y="3293925"/>
            <a:ext cx="102934" cy="229261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861908" y="3457683"/>
            <a:ext cx="467880" cy="655032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36768" y="3719696"/>
            <a:ext cx="318159" cy="376644"/>
          </a:xfrm>
          <a:prstGeom prst="triangle">
            <a:avLst/>
          </a:prstGeom>
          <a:solidFill>
            <a:srgbClr val="5C8A45">
              <a:alpha val="90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346040" y="2953512"/>
            <a:ext cx="1499616" cy="1499616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38" name="bld3_2173"/>
          <p:cNvSpPr txBox="1"/>
          <p:nvPr/>
        </p:nvSpPr>
        <p:spPr>
          <a:xfrm>
            <a:off x="4956693" y="4599432"/>
            <a:ext cx="2278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Bases</a:t>
            </a:r>
            <a:endParaRPr lang="en-US" sz="1250" dirty="0"/>
          </a:p>
        </p:txBody>
      </p:sp>
      <p:sp>
        <p:nvSpPr>
          <p:cNvPr id="39" name="bld4_2174"/>
          <p:cNvSpPr txBox="1"/>
          <p:nvPr/>
        </p:nvSpPr>
        <p:spPr>
          <a:xfrm>
            <a:off x="6891376" y="3410712"/>
            <a:ext cx="885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C7A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600" dirty="0"/>
          </a:p>
        </p:txBody>
      </p:sp>
      <p:sp>
        <p:nvSpPr>
          <p:cNvPr id="40" name="Shape 38"/>
          <p:cNvSpPr/>
          <p:nvPr/>
        </p:nvSpPr>
        <p:spPr>
          <a:xfrm>
            <a:off x="7822463" y="2953512"/>
            <a:ext cx="1499616" cy="1499616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1" name="Shape 39"/>
          <p:cNvSpPr/>
          <p:nvPr/>
        </p:nvSpPr>
        <p:spPr>
          <a:xfrm rot="8100000">
            <a:off x="8279846" y="3410895"/>
            <a:ext cx="584850" cy="584850"/>
          </a:xfrm>
          <a:prstGeom prst="teardrop">
            <a:avLst/>
          </a:prstGeom>
          <a:solidFill>
            <a:srgbClr val="C1752F">
              <a:alpha val="9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822463" y="2953512"/>
            <a:ext cx="1499616" cy="1499616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3" name="bld4_2176"/>
          <p:cNvSpPr txBox="1"/>
          <p:nvPr/>
        </p:nvSpPr>
        <p:spPr>
          <a:xfrm>
            <a:off x="7433116" y="4599432"/>
            <a:ext cx="2278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Modifiers</a:t>
            </a:r>
            <a:endParaRPr lang="en-US" sz="1250" dirty="0"/>
          </a:p>
        </p:txBody>
      </p:sp>
      <p:sp>
        <p:nvSpPr>
          <p:cNvPr id="44" name="bld5_2177"/>
          <p:cNvSpPr txBox="1"/>
          <p:nvPr/>
        </p:nvSpPr>
        <p:spPr>
          <a:xfrm>
            <a:off x="9367799" y="3410712"/>
            <a:ext cx="885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C7A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600" dirty="0"/>
          </a:p>
        </p:txBody>
      </p:sp>
      <p:sp>
        <p:nvSpPr>
          <p:cNvPr id="45" name="Shape 43"/>
          <p:cNvSpPr/>
          <p:nvPr/>
        </p:nvSpPr>
        <p:spPr>
          <a:xfrm>
            <a:off x="10298887" y="2953512"/>
            <a:ext cx="1499616" cy="1499616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6" name="Shape 44"/>
          <p:cNvSpPr/>
          <p:nvPr/>
        </p:nvSpPr>
        <p:spPr>
          <a:xfrm>
            <a:off x="10988432" y="3223743"/>
            <a:ext cx="120526" cy="95915"/>
          </a:xfrm>
          <a:prstGeom prst="roundRect">
            <a:avLst>
              <a:gd name="adj" fmla="val 38134"/>
            </a:avLst>
          </a:prstGeom>
          <a:solidFill>
            <a:srgbClr val="0E0D0B"/>
          </a:solidFill>
          <a:ln/>
        </p:spPr>
      </p:sp>
      <p:sp>
        <p:nvSpPr>
          <p:cNvPr id="47" name="Shape 45"/>
          <p:cNvSpPr/>
          <p:nvPr/>
        </p:nvSpPr>
        <p:spPr>
          <a:xfrm>
            <a:off x="10996293" y="3319658"/>
            <a:ext cx="104805" cy="153465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861543" y="3473123"/>
            <a:ext cx="374304" cy="709774"/>
          </a:xfrm>
          <a:prstGeom prst="roundRect">
            <a:avLst>
              <a:gd name="adj" fmla="val 29315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898119" y="3792521"/>
            <a:ext cx="301152" cy="353800"/>
          </a:xfrm>
          <a:prstGeom prst="roundRect">
            <a:avLst>
              <a:gd name="adj" fmla="val 30363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0298887" y="2953512"/>
            <a:ext cx="1499616" cy="1499616"/>
          </a:xfrm>
          <a:prstGeom prst="ellipse">
            <a:avLst/>
          </a:prstGeom>
          <a:ln w="41148">
            <a:solidFill>
              <a:srgbClr val="C1752F"/>
            </a:solidFill>
            <a:prstDash val="solid"/>
          </a:ln>
        </p:spPr>
      </p:sp>
      <p:sp>
        <p:nvSpPr>
          <p:cNvPr id="51" name="bld5_2179"/>
          <p:cNvSpPr txBox="1"/>
          <p:nvPr/>
        </p:nvSpPr>
        <p:spPr>
          <a:xfrm>
            <a:off x="9909540" y="4599432"/>
            <a:ext cx="2278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Perfume</a:t>
            </a:r>
            <a:endParaRPr lang="en-US" sz="1500" dirty="0"/>
          </a:p>
        </p:txBody>
      </p:sp>
      <p:sp>
        <p:nvSpPr>
          <p:cNvPr id="53" name="trans_push_l_14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4" name="Text 5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1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31" grpId="0"/>
      <p:bldP spid="32" grpId="0"/>
      <p:bldP spid="38" grpId="0"/>
      <p:bldP spid="39" grpId="0"/>
      <p:bldP spid="43" grpId="0"/>
      <p:bldP spid="44" grpId="0"/>
      <p:bldP spid="51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B3A52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B3A52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B3A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base is a starting point, not a finished formula.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Rose Givco doesn't mean the work is done.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MAJOR LESSON</a:t>
            </a:r>
            <a:endParaRPr lang="en-US" sz="1100" dirty="0"/>
          </a:p>
        </p:txBody>
      </p:sp>
      <p:sp>
        <p:nvSpPr>
          <p:cNvPr id="10" name="trans_fade_14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 BASE GET BUILT 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rose base, four different directions</a:t>
            </a:r>
            <a:endParaRPr lang="en-US" sz="3200" dirty="0"/>
          </a:p>
        </p:txBody>
      </p:sp>
      <p:sp>
        <p:nvSpPr>
          <p:cNvPr id="7" name="bld1_2180"/>
          <p:cNvSpPr txBox="1"/>
          <p:nvPr/>
        </p:nvSpPr>
        <p:spPr>
          <a:xfrm>
            <a:off x="1901419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30885" y="3136925"/>
            <a:ext cx="1315669" cy="1315669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9" name="Shape 7"/>
          <p:cNvSpPr/>
          <p:nvPr/>
        </p:nvSpPr>
        <p:spPr>
          <a:xfrm>
            <a:off x="1060442" y="3277544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4320000">
            <a:off x="1296145" y="3448792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8640000">
            <a:off x="1206115" y="3725878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2960000">
            <a:off x="914770" y="3725878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7280000">
            <a:off x="824739" y="3448792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65573" y="3671613"/>
            <a:ext cx="246293" cy="246293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15" name="Shape 13"/>
          <p:cNvSpPr/>
          <p:nvPr/>
        </p:nvSpPr>
        <p:spPr>
          <a:xfrm>
            <a:off x="530885" y="3136925"/>
            <a:ext cx="1315669" cy="1315669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6" name="bld1_2182"/>
          <p:cNvSpPr txBox="1"/>
          <p:nvPr/>
        </p:nvSpPr>
        <p:spPr>
          <a:xfrm>
            <a:off x="416585" y="4617187"/>
            <a:ext cx="154426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BASE</a:t>
            </a:r>
            <a:endParaRPr lang="en-US" sz="1400" dirty="0"/>
          </a:p>
        </p:txBody>
      </p:sp>
      <p:sp>
        <p:nvSpPr>
          <p:cNvPr id="17" name="bld2_2183"/>
          <p:cNvSpPr txBox="1"/>
          <p:nvPr/>
        </p:nvSpPr>
        <p:spPr>
          <a:xfrm>
            <a:off x="3537128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2166595" y="3136925"/>
            <a:ext cx="1315669" cy="1315669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19" name="Shape 17"/>
          <p:cNvSpPr/>
          <p:nvPr/>
        </p:nvSpPr>
        <p:spPr>
          <a:xfrm rot="15300000">
            <a:off x="2476996" y="3595098"/>
            <a:ext cx="174458" cy="53876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13050000">
            <a:off x="2573210" y="3739093"/>
            <a:ext cx="174458" cy="53876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10800000">
            <a:off x="2737200" y="3794760"/>
            <a:ext cx="174458" cy="53876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8550000">
            <a:off x="2901190" y="3739093"/>
            <a:ext cx="174458" cy="53876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6300000">
            <a:off x="2997405" y="3595098"/>
            <a:ext cx="174458" cy="538767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166595" y="3136925"/>
            <a:ext cx="1315669" cy="1315669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25" name="bld2_2185"/>
          <p:cNvSpPr txBox="1"/>
          <p:nvPr/>
        </p:nvSpPr>
        <p:spPr>
          <a:xfrm>
            <a:off x="2052295" y="4617187"/>
            <a:ext cx="154426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GREEN</a:t>
            </a:r>
            <a:endParaRPr lang="en-US" sz="1400" dirty="0"/>
          </a:p>
        </p:txBody>
      </p:sp>
      <p:sp>
        <p:nvSpPr>
          <p:cNvPr id="26" name="bld3_2186"/>
          <p:cNvSpPr txBox="1"/>
          <p:nvPr/>
        </p:nvSpPr>
        <p:spPr>
          <a:xfrm>
            <a:off x="5172837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3802304" y="3136925"/>
            <a:ext cx="1315669" cy="1315669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8" name="Shape 26"/>
          <p:cNvSpPr/>
          <p:nvPr/>
        </p:nvSpPr>
        <p:spPr>
          <a:xfrm>
            <a:off x="4331861" y="3277544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4320000">
            <a:off x="4567563" y="3448792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8640000">
            <a:off x="4477533" y="3725878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12960000">
            <a:off x="4186188" y="3725878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17280000">
            <a:off x="4096158" y="3448792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336992" y="3671613"/>
            <a:ext cx="246293" cy="246293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4" name="Shape 32"/>
          <p:cNvSpPr/>
          <p:nvPr/>
        </p:nvSpPr>
        <p:spPr>
          <a:xfrm>
            <a:off x="3802304" y="3136925"/>
            <a:ext cx="1315669" cy="1315669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35" name="bld3_2188"/>
          <p:cNvSpPr txBox="1"/>
          <p:nvPr/>
        </p:nvSpPr>
        <p:spPr>
          <a:xfrm>
            <a:off x="3688004" y="4617187"/>
            <a:ext cx="154426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ROSE</a:t>
            </a:r>
            <a:endParaRPr lang="en-US" sz="1400" dirty="0"/>
          </a:p>
        </p:txBody>
      </p:sp>
      <p:sp>
        <p:nvSpPr>
          <p:cNvPr id="36" name="bld4_2189"/>
          <p:cNvSpPr txBox="1"/>
          <p:nvPr/>
        </p:nvSpPr>
        <p:spPr>
          <a:xfrm>
            <a:off x="6808546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5438013" y="3136925"/>
            <a:ext cx="1315669" cy="1315669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38" name="Shape 36"/>
          <p:cNvSpPr/>
          <p:nvPr/>
        </p:nvSpPr>
        <p:spPr>
          <a:xfrm>
            <a:off x="5623785" y="3476631"/>
            <a:ext cx="944124" cy="636258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38013" y="3136925"/>
            <a:ext cx="1315669" cy="1315669"/>
          </a:xfrm>
          <a:prstGeom prst="ellipse">
            <a:avLst/>
          </a:prstGeom>
          <a:ln w="25603">
            <a:solidFill>
              <a:srgbClr val="AFA495"/>
            </a:solidFill>
            <a:prstDash val="solid"/>
          </a:ln>
        </p:spPr>
      </p:sp>
      <p:sp>
        <p:nvSpPr>
          <p:cNvPr id="40" name="bld4_2191"/>
          <p:cNvSpPr txBox="1"/>
          <p:nvPr/>
        </p:nvSpPr>
        <p:spPr>
          <a:xfrm>
            <a:off x="5323713" y="4617187"/>
            <a:ext cx="154426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MUSK + HEDIONE</a:t>
            </a:r>
            <a:endParaRPr lang="en-US" sz="1400" dirty="0"/>
          </a:p>
        </p:txBody>
      </p:sp>
      <p:sp>
        <p:nvSpPr>
          <p:cNvPr id="41" name="bld5_2192"/>
          <p:cNvSpPr txBox="1"/>
          <p:nvPr/>
        </p:nvSpPr>
        <p:spPr>
          <a:xfrm>
            <a:off x="8444255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2" name="Shape 40"/>
          <p:cNvSpPr/>
          <p:nvPr/>
        </p:nvSpPr>
        <p:spPr>
          <a:xfrm>
            <a:off x="7073722" y="3136925"/>
            <a:ext cx="1315669" cy="1315669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3" name="Shape 41"/>
          <p:cNvSpPr/>
          <p:nvPr/>
        </p:nvSpPr>
        <p:spPr>
          <a:xfrm>
            <a:off x="7603279" y="3277544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 rot="4320000">
            <a:off x="7838982" y="3448792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 rot="8640000">
            <a:off x="7748951" y="3725878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 rot="12960000">
            <a:off x="7457607" y="3725878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17280000">
            <a:off x="7367576" y="3448792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608410" y="3671613"/>
            <a:ext cx="246293" cy="246293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49" name="Shape 47"/>
          <p:cNvSpPr/>
          <p:nvPr/>
        </p:nvSpPr>
        <p:spPr>
          <a:xfrm>
            <a:off x="7073722" y="3136925"/>
            <a:ext cx="1315669" cy="1315669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50" name="bld5_2194"/>
          <p:cNvSpPr txBox="1"/>
          <p:nvPr/>
        </p:nvSpPr>
        <p:spPr>
          <a:xfrm>
            <a:off x="6959422" y="4617187"/>
            <a:ext cx="154426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 MODERN ROSE</a:t>
            </a:r>
            <a:endParaRPr lang="en-US" sz="1400" dirty="0"/>
          </a:p>
        </p:txBody>
      </p:sp>
      <p:sp>
        <p:nvSpPr>
          <p:cNvPr id="51" name="bld6_2195"/>
          <p:cNvSpPr txBox="1"/>
          <p:nvPr/>
        </p:nvSpPr>
        <p:spPr>
          <a:xfrm>
            <a:off x="10079965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52" name="Shape 50"/>
          <p:cNvSpPr/>
          <p:nvPr/>
        </p:nvSpPr>
        <p:spPr>
          <a:xfrm>
            <a:off x="8709431" y="3136925"/>
            <a:ext cx="1315669" cy="1315669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53" name="Shape 51"/>
          <p:cNvSpPr/>
          <p:nvPr/>
        </p:nvSpPr>
        <p:spPr>
          <a:xfrm rot="18900000">
            <a:off x="9049137" y="3332960"/>
            <a:ext cx="636258" cy="923600"/>
          </a:xfrm>
          <a:prstGeom prst="teardrop">
            <a:avLst/>
          </a:prstGeom>
          <a:solidFill>
            <a:srgbClr val="8A6339">
              <a:alpha val="94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9361780" y="3486893"/>
            <a:ext cx="914" cy="564422"/>
          </a:xfrm>
          <a:prstGeom prst="line">
            <a:avLst/>
          </a:prstGeom>
          <a:noFill/>
          <a:ln w="15875">
            <a:solidFill>
              <a:srgbClr val="FAF6EC">
                <a:alpha val="6500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709431" y="3136925"/>
            <a:ext cx="1315669" cy="1315669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56" name="bld6_2197"/>
          <p:cNvSpPr txBox="1"/>
          <p:nvPr/>
        </p:nvSpPr>
        <p:spPr>
          <a:xfrm>
            <a:off x="8595131" y="4617187"/>
            <a:ext cx="154426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PATCHOULI + WOODS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10345141" y="3136925"/>
            <a:ext cx="1315669" cy="1315669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58" name="Shape 56"/>
          <p:cNvSpPr/>
          <p:nvPr/>
        </p:nvSpPr>
        <p:spPr>
          <a:xfrm>
            <a:off x="10874697" y="3277544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 rot="4320000">
            <a:off x="11110400" y="3448792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 rot="8640000">
            <a:off x="11020370" y="3725878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 rot="12960000">
            <a:off x="10729025" y="3725878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 rot="17280000">
            <a:off x="10638995" y="3448792"/>
            <a:ext cx="256555" cy="538767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10879829" y="3671613"/>
            <a:ext cx="246293" cy="246293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64" name="Shape 62"/>
          <p:cNvSpPr/>
          <p:nvPr/>
        </p:nvSpPr>
        <p:spPr>
          <a:xfrm>
            <a:off x="10345141" y="3136925"/>
            <a:ext cx="1315669" cy="1315669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65" name="bld7_2199"/>
          <p:cNvSpPr txBox="1"/>
          <p:nvPr/>
        </p:nvSpPr>
        <p:spPr>
          <a:xfrm>
            <a:off x="10230841" y="4617187"/>
            <a:ext cx="154426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DARK WOODY ROSE</a:t>
            </a:r>
            <a:endParaRPr lang="en-US" sz="1400" dirty="0"/>
          </a:p>
        </p:txBody>
      </p:sp>
      <p:sp>
        <p:nvSpPr>
          <p:cNvPr id="67" name="trans_push_l_14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8" name="Text 6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6" grpId="0"/>
      <p:bldP spid="17" grpId="0"/>
      <p:bldP spid="25" grpId="0"/>
      <p:bldP spid="26" grpId="0"/>
      <p:bldP spid="35" grpId="0"/>
      <p:bldP spid="36" grpId="0"/>
      <p:bldP spid="40" grpId="0"/>
      <p:bldP spid="41" grpId="0"/>
      <p:bldP spid="50" grpId="0"/>
      <p:bldP spid="51" grpId="0"/>
      <p:bldP spid="56" grpId="0"/>
      <p:bldP spid="65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EFFICIENTLY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 personal base library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8C3B49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8C3B49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90499" y="1710934"/>
            <a:ext cx="2514417" cy="2514417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12452" y="2632887"/>
            <a:ext cx="670511" cy="670511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shelf of reliable accords, ready whenever a new idea needs one.</a:t>
            </a:r>
            <a:endParaRPr lang="en-US" sz="1050" dirty="0"/>
          </a:p>
        </p:txBody>
      </p:sp>
      <p:sp>
        <p:nvSpPr>
          <p:cNvPr id="13" name="bld1_220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bld1_220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your own reusable accords</a:t>
            </a:r>
            <a:endParaRPr lang="en-US" sz="1650" dirty="0"/>
          </a:p>
        </p:txBody>
      </p:sp>
      <p:sp>
        <p:nvSpPr>
          <p:cNvPr id="15" name="bld1_2202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Rose, amber, musk, sandalwood, citrus, leather, vanilla — build each once, then reach for it in any formula.</a:t>
            </a:r>
            <a:endParaRPr lang="en-US" sz="1250" dirty="0"/>
          </a:p>
        </p:txBody>
      </p:sp>
      <p:sp>
        <p:nvSpPr>
          <p:cNvPr id="16" name="bld2_2203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2_2204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Combine with commercial bases</a:t>
            </a:r>
            <a:endParaRPr lang="en-US" sz="1650" dirty="0"/>
          </a:p>
        </p:txBody>
      </p:sp>
      <p:sp>
        <p:nvSpPr>
          <p:cNvPr id="18" name="bld2_2205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accords sit alongside bases like Rose Givco in the same formula sheet — there's no rule against mixing them.</a:t>
            </a:r>
            <a:endParaRPr lang="en-US" sz="1250" dirty="0"/>
          </a:p>
        </p:txBody>
      </p:sp>
      <p:sp>
        <p:nvSpPr>
          <p:cNvPr id="19" name="bld3_2206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0" name="bld3_2207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Formulas get faster, not lazier</a:t>
            </a:r>
            <a:endParaRPr lang="en-US" sz="1650" dirty="0"/>
          </a:p>
        </p:txBody>
      </p:sp>
      <p:sp>
        <p:nvSpPr>
          <p:cNvPr id="21" name="bld3_2208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library speeds up construction — it doesn't replace the judgement of balancing and modifying each formula.</a:t>
            </a:r>
            <a:endParaRPr lang="en-US" sz="1250" dirty="0"/>
          </a:p>
        </p:txBody>
      </p:sp>
      <p:sp>
        <p:nvSpPr>
          <p:cNvPr id="23" name="trans_fade_14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FORMULA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fresh fragrance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"Bright, clean citrus that lasts."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12441"/>
            <a:ext cx="1996995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12441"/>
            <a:ext cx="19969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45635" y="2612441"/>
            <a:ext cx="1331330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545635" y="2612441"/>
            <a:ext cx="13313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876965" y="2612441"/>
            <a:ext cx="1664162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76965" y="2612441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541127" y="2612441"/>
            <a:ext cx="332832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73959" y="2612441"/>
            <a:ext cx="2440771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873959" y="2612441"/>
            <a:ext cx="244077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314731" y="2612441"/>
            <a:ext cx="2218883" cy="566928"/>
          </a:xfrm>
          <a:prstGeom prst="rect">
            <a:avLst/>
          </a:prstGeom>
          <a:solidFill>
            <a:srgbClr val="9C7A3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14731" y="2612441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533614" y="2612441"/>
            <a:ext cx="1109442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533614" y="2612441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21" name="bld1_2209"/>
          <p:cNvSpPr/>
          <p:nvPr/>
        </p:nvSpPr>
        <p:spPr>
          <a:xfrm>
            <a:off x="566928" y="3654857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2" name="bld1_2210"/>
          <p:cNvSpPr txBox="1"/>
          <p:nvPr/>
        </p:nvSpPr>
        <p:spPr>
          <a:xfrm>
            <a:off x="841248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  —  18%</a:t>
            </a:r>
            <a:endParaRPr lang="en-US" sz="1250" dirty="0"/>
          </a:p>
        </p:txBody>
      </p:sp>
      <p:sp>
        <p:nvSpPr>
          <p:cNvPr id="23" name="bld1_2211"/>
          <p:cNvSpPr txBox="1"/>
          <p:nvPr/>
        </p:nvSpPr>
        <p:spPr>
          <a:xfrm>
            <a:off x="841248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lift</a:t>
            </a:r>
            <a:endParaRPr lang="en-US" sz="1000" dirty="0"/>
          </a:p>
        </p:txBody>
      </p:sp>
      <p:sp>
        <p:nvSpPr>
          <p:cNvPr id="24" name="bld2_2212"/>
          <p:cNvSpPr/>
          <p:nvPr/>
        </p:nvSpPr>
        <p:spPr>
          <a:xfrm>
            <a:off x="6297016" y="3654857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5" name="bld2_2213"/>
          <p:cNvSpPr txBox="1"/>
          <p:nvPr/>
        </p:nvSpPr>
        <p:spPr>
          <a:xfrm>
            <a:off x="6571336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Dihydromyrcenol  —  12%</a:t>
            </a:r>
            <a:endParaRPr lang="en-US" sz="1250" dirty="0"/>
          </a:p>
        </p:txBody>
      </p:sp>
      <p:sp>
        <p:nvSpPr>
          <p:cNvPr id="26" name="bld2_2214"/>
          <p:cNvSpPr txBox="1"/>
          <p:nvPr/>
        </p:nvSpPr>
        <p:spPr>
          <a:xfrm>
            <a:off x="6571336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Explosive freshness</a:t>
            </a:r>
            <a:endParaRPr lang="en-US" sz="1000" dirty="0"/>
          </a:p>
        </p:txBody>
      </p:sp>
      <p:sp>
        <p:nvSpPr>
          <p:cNvPr id="27" name="bld3_2215"/>
          <p:cNvSpPr/>
          <p:nvPr/>
        </p:nvSpPr>
        <p:spPr>
          <a:xfrm>
            <a:off x="566928" y="4221785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28" name="bld3_2216"/>
          <p:cNvSpPr txBox="1"/>
          <p:nvPr/>
        </p:nvSpPr>
        <p:spPr>
          <a:xfrm>
            <a:off x="841248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Hedione  —  15%</a:t>
            </a:r>
            <a:endParaRPr lang="en-US" sz="1250" dirty="0"/>
          </a:p>
        </p:txBody>
      </p:sp>
      <p:sp>
        <p:nvSpPr>
          <p:cNvPr id="29" name="bld3_2217"/>
          <p:cNvSpPr txBox="1"/>
          <p:nvPr/>
        </p:nvSpPr>
        <p:spPr>
          <a:xfrm>
            <a:off x="841248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Airy diffusion</a:t>
            </a:r>
            <a:endParaRPr lang="en-US" sz="1000" dirty="0"/>
          </a:p>
        </p:txBody>
      </p:sp>
      <p:sp>
        <p:nvSpPr>
          <p:cNvPr id="30" name="bld4_2218"/>
          <p:cNvSpPr/>
          <p:nvPr/>
        </p:nvSpPr>
        <p:spPr>
          <a:xfrm>
            <a:off x="6297016" y="4221785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4_2219"/>
          <p:cNvSpPr txBox="1"/>
          <p:nvPr/>
        </p:nvSpPr>
        <p:spPr>
          <a:xfrm>
            <a:off x="6571336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Cis-3-hexenol (10%)  —  3%</a:t>
            </a:r>
            <a:endParaRPr lang="en-US" sz="1250" dirty="0"/>
          </a:p>
        </p:txBody>
      </p:sp>
      <p:sp>
        <p:nvSpPr>
          <p:cNvPr id="32" name="bld4_2220"/>
          <p:cNvSpPr txBox="1"/>
          <p:nvPr/>
        </p:nvSpPr>
        <p:spPr>
          <a:xfrm>
            <a:off x="6571336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edge</a:t>
            </a:r>
            <a:endParaRPr lang="en-US" sz="1000" dirty="0"/>
          </a:p>
        </p:txBody>
      </p:sp>
      <p:sp>
        <p:nvSpPr>
          <p:cNvPr id="33" name="bld5_2221"/>
          <p:cNvSpPr/>
          <p:nvPr/>
        </p:nvSpPr>
        <p:spPr>
          <a:xfrm>
            <a:off x="566928" y="4788713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34" name="bld5_2222"/>
          <p:cNvSpPr txBox="1"/>
          <p:nvPr/>
        </p:nvSpPr>
        <p:spPr>
          <a:xfrm>
            <a:off x="841248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Galaxolide  —  22%</a:t>
            </a:r>
            <a:endParaRPr lang="en-US" sz="1250" dirty="0"/>
          </a:p>
        </p:txBody>
      </p:sp>
      <p:sp>
        <p:nvSpPr>
          <p:cNvPr id="35" name="bld5_2223"/>
          <p:cNvSpPr txBox="1"/>
          <p:nvPr/>
        </p:nvSpPr>
        <p:spPr>
          <a:xfrm>
            <a:off x="841248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musk body</a:t>
            </a:r>
            <a:endParaRPr lang="en-US" sz="1000" dirty="0"/>
          </a:p>
        </p:txBody>
      </p:sp>
      <p:sp>
        <p:nvSpPr>
          <p:cNvPr id="36" name="bld6_2224"/>
          <p:cNvSpPr/>
          <p:nvPr/>
        </p:nvSpPr>
        <p:spPr>
          <a:xfrm>
            <a:off x="6297016" y="4788713"/>
            <a:ext cx="164592" cy="164592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37" name="bld6_2225"/>
          <p:cNvSpPr txBox="1"/>
          <p:nvPr/>
        </p:nvSpPr>
        <p:spPr>
          <a:xfrm>
            <a:off x="6571336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E Super  —  20%</a:t>
            </a:r>
            <a:endParaRPr lang="en-US" sz="1250" dirty="0"/>
          </a:p>
        </p:txBody>
      </p:sp>
      <p:sp>
        <p:nvSpPr>
          <p:cNvPr id="38" name="bld6_2226"/>
          <p:cNvSpPr txBox="1"/>
          <p:nvPr/>
        </p:nvSpPr>
        <p:spPr>
          <a:xfrm>
            <a:off x="6571336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woody base</a:t>
            </a:r>
            <a:endParaRPr lang="en-US" sz="1000" dirty="0"/>
          </a:p>
        </p:txBody>
      </p:sp>
      <p:sp>
        <p:nvSpPr>
          <p:cNvPr id="39" name="bld7_2227"/>
          <p:cNvSpPr/>
          <p:nvPr/>
        </p:nvSpPr>
        <p:spPr>
          <a:xfrm>
            <a:off x="566928" y="5355641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40" name="bld7_2228"/>
          <p:cNvSpPr txBox="1"/>
          <p:nvPr/>
        </p:nvSpPr>
        <p:spPr>
          <a:xfrm>
            <a:off x="841248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Ambroxan  —  10%</a:t>
            </a:r>
            <a:endParaRPr lang="en-US" sz="1250" dirty="0"/>
          </a:p>
        </p:txBody>
      </p:sp>
      <p:sp>
        <p:nvSpPr>
          <p:cNvPr id="41" name="bld7_2229"/>
          <p:cNvSpPr txBox="1"/>
          <p:nvPr/>
        </p:nvSpPr>
        <p:spPr>
          <a:xfrm>
            <a:off x="841248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Radiance &amp; lasting power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9631375" y="222839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44" name="trans_push_l_14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5" name="Text 4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5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FORMULA 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woody fragrance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"Warm, dry sandalwood with a soft amber glow."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12441"/>
            <a:ext cx="2218883" cy="566928"/>
          </a:xfrm>
          <a:prstGeom prst="rect">
            <a:avLst/>
          </a:prstGeom>
          <a:solidFill>
            <a:srgbClr val="9C7A3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12441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67523" y="2612441"/>
            <a:ext cx="1664162" cy="566928"/>
          </a:xfrm>
          <a:prstGeom prst="rect">
            <a:avLst/>
          </a:prstGeom>
          <a:solidFill>
            <a:srgbClr val="B5652D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67523" y="2612441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31685" y="2612441"/>
            <a:ext cx="2773604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31685" y="2612441"/>
            <a:ext cx="27736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205289" y="2612441"/>
            <a:ext cx="1664162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205289" y="2612441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869451" y="2612441"/>
            <a:ext cx="1109442" cy="566928"/>
          </a:xfrm>
          <a:prstGeom prst="rect">
            <a:avLst/>
          </a:prstGeom>
          <a:solidFill>
            <a:srgbClr val="5B3A52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869451" y="2612441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978893" y="2612441"/>
            <a:ext cx="887553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978893" y="2612441"/>
            <a:ext cx="88755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866446" y="2612441"/>
            <a:ext cx="776609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866446" y="2612441"/>
            <a:ext cx="7766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1100" dirty="0"/>
          </a:p>
        </p:txBody>
      </p:sp>
      <p:sp>
        <p:nvSpPr>
          <p:cNvPr id="22" name="bld1_2230"/>
          <p:cNvSpPr/>
          <p:nvPr/>
        </p:nvSpPr>
        <p:spPr>
          <a:xfrm>
            <a:off x="566928" y="3654857"/>
            <a:ext cx="164592" cy="164592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3" name="bld1_2231"/>
          <p:cNvSpPr txBox="1"/>
          <p:nvPr/>
        </p:nvSpPr>
        <p:spPr>
          <a:xfrm>
            <a:off x="841248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Cedarwood  —  20%</a:t>
            </a:r>
            <a:endParaRPr lang="en-US" sz="1250" dirty="0"/>
          </a:p>
        </p:txBody>
      </p:sp>
      <p:sp>
        <p:nvSpPr>
          <p:cNvPr id="24" name="bld1_2232"/>
          <p:cNvSpPr txBox="1"/>
          <p:nvPr/>
        </p:nvSpPr>
        <p:spPr>
          <a:xfrm>
            <a:off x="841248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 structural wood</a:t>
            </a:r>
            <a:endParaRPr lang="en-US" sz="1000" dirty="0"/>
          </a:p>
        </p:txBody>
      </p:sp>
      <p:sp>
        <p:nvSpPr>
          <p:cNvPr id="25" name="bld2_2233"/>
          <p:cNvSpPr/>
          <p:nvPr/>
        </p:nvSpPr>
        <p:spPr>
          <a:xfrm>
            <a:off x="6297016" y="3654857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6" name="bld2_2234"/>
          <p:cNvSpPr txBox="1"/>
          <p:nvPr/>
        </p:nvSpPr>
        <p:spPr>
          <a:xfrm>
            <a:off x="6571336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Sandalwood (natural)  —  15%</a:t>
            </a:r>
            <a:endParaRPr lang="en-US" sz="1250" dirty="0"/>
          </a:p>
        </p:txBody>
      </p:sp>
      <p:sp>
        <p:nvSpPr>
          <p:cNvPr id="27" name="bld2_2235"/>
          <p:cNvSpPr txBox="1"/>
          <p:nvPr/>
        </p:nvSpPr>
        <p:spPr>
          <a:xfrm>
            <a:off x="6571336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 woody heart</a:t>
            </a:r>
            <a:endParaRPr lang="en-US" sz="1000" dirty="0"/>
          </a:p>
        </p:txBody>
      </p:sp>
      <p:sp>
        <p:nvSpPr>
          <p:cNvPr id="28" name="bld3_2236"/>
          <p:cNvSpPr/>
          <p:nvPr/>
        </p:nvSpPr>
        <p:spPr>
          <a:xfrm>
            <a:off x="566928" y="4221785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9" name="bld3_2237"/>
          <p:cNvSpPr txBox="1"/>
          <p:nvPr/>
        </p:nvSpPr>
        <p:spPr>
          <a:xfrm>
            <a:off x="841248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E Super  —  25%</a:t>
            </a:r>
            <a:endParaRPr lang="en-US" sz="1250" dirty="0"/>
          </a:p>
        </p:txBody>
      </p:sp>
      <p:sp>
        <p:nvSpPr>
          <p:cNvPr id="30" name="bld3_2238"/>
          <p:cNvSpPr txBox="1"/>
          <p:nvPr/>
        </p:nvSpPr>
        <p:spPr>
          <a:xfrm>
            <a:off x="841248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&amp; transparency</a:t>
            </a:r>
            <a:endParaRPr lang="en-US" sz="1000" dirty="0"/>
          </a:p>
        </p:txBody>
      </p:sp>
      <p:sp>
        <p:nvSpPr>
          <p:cNvPr id="31" name="bld4_2239"/>
          <p:cNvSpPr/>
          <p:nvPr/>
        </p:nvSpPr>
        <p:spPr>
          <a:xfrm>
            <a:off x="6297016" y="4221785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2" name="bld4_2240"/>
          <p:cNvSpPr txBox="1"/>
          <p:nvPr/>
        </p:nvSpPr>
        <p:spPr>
          <a:xfrm>
            <a:off x="6571336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Ambroxan  —  15%</a:t>
            </a:r>
            <a:endParaRPr lang="en-US" sz="1250" dirty="0"/>
          </a:p>
        </p:txBody>
      </p:sp>
      <p:sp>
        <p:nvSpPr>
          <p:cNvPr id="33" name="bld4_2241"/>
          <p:cNvSpPr txBox="1"/>
          <p:nvPr/>
        </p:nvSpPr>
        <p:spPr>
          <a:xfrm>
            <a:off x="6571336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Radiant amber warmth</a:t>
            </a:r>
            <a:endParaRPr lang="en-US" sz="1000" dirty="0"/>
          </a:p>
        </p:txBody>
      </p:sp>
      <p:sp>
        <p:nvSpPr>
          <p:cNvPr id="34" name="bld5_2242"/>
          <p:cNvSpPr/>
          <p:nvPr/>
        </p:nvSpPr>
        <p:spPr>
          <a:xfrm>
            <a:off x="566928" y="4788713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bld5_2243"/>
          <p:cNvSpPr txBox="1"/>
          <p:nvPr/>
        </p:nvSpPr>
        <p:spPr>
          <a:xfrm>
            <a:off x="841248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Labdanum  —  10%</a:t>
            </a:r>
            <a:endParaRPr lang="en-US" sz="1250" dirty="0"/>
          </a:p>
        </p:txBody>
      </p:sp>
      <p:sp>
        <p:nvSpPr>
          <p:cNvPr id="36" name="bld5_2244"/>
          <p:cNvSpPr txBox="1"/>
          <p:nvPr/>
        </p:nvSpPr>
        <p:spPr>
          <a:xfrm>
            <a:off x="841248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Resinous depth</a:t>
            </a:r>
            <a:endParaRPr lang="en-US" sz="1000" dirty="0"/>
          </a:p>
        </p:txBody>
      </p:sp>
      <p:sp>
        <p:nvSpPr>
          <p:cNvPr id="37" name="bld6_2245"/>
          <p:cNvSpPr/>
          <p:nvPr/>
        </p:nvSpPr>
        <p:spPr>
          <a:xfrm>
            <a:off x="6297016" y="4788713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8" name="bld6_2246"/>
          <p:cNvSpPr txBox="1"/>
          <p:nvPr/>
        </p:nvSpPr>
        <p:spPr>
          <a:xfrm>
            <a:off x="6571336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Vetiver  —  8%</a:t>
            </a:r>
            <a:endParaRPr lang="en-US" sz="1250" dirty="0"/>
          </a:p>
        </p:txBody>
      </p:sp>
      <p:sp>
        <p:nvSpPr>
          <p:cNvPr id="39" name="bld6_2247"/>
          <p:cNvSpPr txBox="1"/>
          <p:nvPr/>
        </p:nvSpPr>
        <p:spPr>
          <a:xfrm>
            <a:off x="6571336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Earthy root note</a:t>
            </a:r>
            <a:endParaRPr lang="en-US" sz="1000" dirty="0"/>
          </a:p>
        </p:txBody>
      </p:sp>
      <p:sp>
        <p:nvSpPr>
          <p:cNvPr id="40" name="bld7_2248"/>
          <p:cNvSpPr/>
          <p:nvPr/>
        </p:nvSpPr>
        <p:spPr>
          <a:xfrm>
            <a:off x="566928" y="5355641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41" name="bld7_2249"/>
          <p:cNvSpPr txBox="1"/>
          <p:nvPr/>
        </p:nvSpPr>
        <p:spPr>
          <a:xfrm>
            <a:off x="841248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 blend  —  7%</a:t>
            </a:r>
            <a:endParaRPr lang="en-US" sz="1250" dirty="0"/>
          </a:p>
        </p:txBody>
      </p:sp>
      <p:sp>
        <p:nvSpPr>
          <p:cNvPr id="42" name="bld7_2250"/>
          <p:cNvSpPr txBox="1"/>
          <p:nvPr/>
        </p:nvSpPr>
        <p:spPr>
          <a:xfrm>
            <a:off x="841248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Skin-like fixation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9631375" y="222839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45" name="trans_push_l_14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6" name="Text 4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5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FORMULA 3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gourmand fragrance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"Warm vanilla and caramel, softened with musk."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12441"/>
            <a:ext cx="665665" cy="566928"/>
          </a:xfrm>
          <a:prstGeom prst="rect">
            <a:avLst/>
          </a:prstGeom>
          <a:solidFill>
            <a:srgbClr val="B5652D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12441"/>
            <a:ext cx="6656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214305" y="2612441"/>
            <a:ext cx="1664162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14305" y="2612441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878467" y="2612441"/>
            <a:ext cx="1331330" cy="566928"/>
          </a:xfrm>
          <a:prstGeom prst="rect">
            <a:avLst/>
          </a:prstGeom>
          <a:solidFill>
            <a:srgbClr val="9C7A3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78467" y="2612441"/>
            <a:ext cx="13313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09797" y="2612441"/>
            <a:ext cx="1109442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09797" y="2612441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319239" y="2612441"/>
            <a:ext cx="1331330" cy="566928"/>
          </a:xfrm>
          <a:prstGeom prst="rect">
            <a:avLst/>
          </a:prstGeom>
          <a:solidFill>
            <a:srgbClr val="5B3A52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19239" y="2612441"/>
            <a:ext cx="13313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650568" y="2612441"/>
            <a:ext cx="2218883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50568" y="2612441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869451" y="2612441"/>
            <a:ext cx="1109442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869451" y="2612441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978893" y="2612441"/>
            <a:ext cx="1664162" cy="566928"/>
          </a:xfrm>
          <a:prstGeom prst="rect">
            <a:avLst/>
          </a:prstGeom>
          <a:solidFill>
            <a:srgbClr val="B5652D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978893" y="2612441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24" name="bld1_2251"/>
          <p:cNvSpPr/>
          <p:nvPr/>
        </p:nvSpPr>
        <p:spPr>
          <a:xfrm>
            <a:off x="566928" y="3654857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5" name="bld1_2252"/>
          <p:cNvSpPr txBox="1"/>
          <p:nvPr/>
        </p:nvSpPr>
        <p:spPr>
          <a:xfrm>
            <a:off x="841248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Ethyl Maltol  —  6%</a:t>
            </a:r>
            <a:endParaRPr lang="en-US" sz="1250" dirty="0"/>
          </a:p>
        </p:txBody>
      </p:sp>
      <p:sp>
        <p:nvSpPr>
          <p:cNvPr id="26" name="bld1_2253"/>
          <p:cNvSpPr txBox="1"/>
          <p:nvPr/>
        </p:nvSpPr>
        <p:spPr>
          <a:xfrm>
            <a:off x="841248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Sugary sweetness</a:t>
            </a:r>
            <a:endParaRPr lang="en-US" sz="1000" dirty="0"/>
          </a:p>
        </p:txBody>
      </p:sp>
      <p:sp>
        <p:nvSpPr>
          <p:cNvPr id="27" name="bld2_2254"/>
          <p:cNvSpPr/>
          <p:nvPr/>
        </p:nvSpPr>
        <p:spPr>
          <a:xfrm>
            <a:off x="6297016" y="3654857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8" name="bld2_2255"/>
          <p:cNvSpPr txBox="1"/>
          <p:nvPr/>
        </p:nvSpPr>
        <p:spPr>
          <a:xfrm>
            <a:off x="6571336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Vanillin  —  15%</a:t>
            </a:r>
            <a:endParaRPr lang="en-US" sz="1250" dirty="0"/>
          </a:p>
        </p:txBody>
      </p:sp>
      <p:sp>
        <p:nvSpPr>
          <p:cNvPr id="29" name="bld2_2256"/>
          <p:cNvSpPr txBox="1"/>
          <p:nvPr/>
        </p:nvSpPr>
        <p:spPr>
          <a:xfrm>
            <a:off x="6571336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vanilla warmth</a:t>
            </a:r>
            <a:endParaRPr lang="en-US" sz="1000" dirty="0"/>
          </a:p>
        </p:txBody>
      </p:sp>
      <p:sp>
        <p:nvSpPr>
          <p:cNvPr id="30" name="bld3_2257"/>
          <p:cNvSpPr/>
          <p:nvPr/>
        </p:nvSpPr>
        <p:spPr>
          <a:xfrm>
            <a:off x="566928" y="4221785"/>
            <a:ext cx="164592" cy="164592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31" name="bld3_2258"/>
          <p:cNvSpPr txBox="1"/>
          <p:nvPr/>
        </p:nvSpPr>
        <p:spPr>
          <a:xfrm>
            <a:off x="841248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Coumarin  —  12%</a:t>
            </a:r>
            <a:endParaRPr lang="en-US" sz="1250" dirty="0"/>
          </a:p>
        </p:txBody>
      </p:sp>
      <p:sp>
        <p:nvSpPr>
          <p:cNvPr id="32" name="bld3_2259"/>
          <p:cNvSpPr txBox="1"/>
          <p:nvPr/>
        </p:nvSpPr>
        <p:spPr>
          <a:xfrm>
            <a:off x="841248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hay depth</a:t>
            </a:r>
            <a:endParaRPr lang="en-US" sz="1000" dirty="0"/>
          </a:p>
        </p:txBody>
      </p:sp>
      <p:sp>
        <p:nvSpPr>
          <p:cNvPr id="33" name="bld4_2260"/>
          <p:cNvSpPr/>
          <p:nvPr/>
        </p:nvSpPr>
        <p:spPr>
          <a:xfrm>
            <a:off x="6297016" y="4221785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4" name="bld4_2261"/>
          <p:cNvSpPr txBox="1"/>
          <p:nvPr/>
        </p:nvSpPr>
        <p:spPr>
          <a:xfrm>
            <a:off x="6571336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Hedione  —  10%</a:t>
            </a:r>
            <a:endParaRPr lang="en-US" sz="1250" dirty="0"/>
          </a:p>
        </p:txBody>
      </p:sp>
      <p:sp>
        <p:nvSpPr>
          <p:cNvPr id="35" name="bld4_2262"/>
          <p:cNvSpPr txBox="1"/>
          <p:nvPr/>
        </p:nvSpPr>
        <p:spPr>
          <a:xfrm>
            <a:off x="6571336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Softens the sweetness</a:t>
            </a:r>
            <a:endParaRPr lang="en-US" sz="1000" dirty="0"/>
          </a:p>
        </p:txBody>
      </p:sp>
      <p:sp>
        <p:nvSpPr>
          <p:cNvPr id="36" name="bld5_2263"/>
          <p:cNvSpPr/>
          <p:nvPr/>
        </p:nvSpPr>
        <p:spPr>
          <a:xfrm>
            <a:off x="566928" y="4788713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7" name="bld5_2264"/>
          <p:cNvSpPr txBox="1"/>
          <p:nvPr/>
        </p:nvSpPr>
        <p:spPr>
          <a:xfrm>
            <a:off x="841248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Cashmeran  —  12%</a:t>
            </a:r>
            <a:endParaRPr lang="en-US" sz="1250" dirty="0"/>
          </a:p>
        </p:txBody>
      </p:sp>
      <p:sp>
        <p:nvSpPr>
          <p:cNvPr id="38" name="bld5_2265"/>
          <p:cNvSpPr txBox="1"/>
          <p:nvPr/>
        </p:nvSpPr>
        <p:spPr>
          <a:xfrm>
            <a:off x="841248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Spiced, musky wood</a:t>
            </a:r>
            <a:endParaRPr lang="en-US" sz="1000" dirty="0"/>
          </a:p>
        </p:txBody>
      </p:sp>
      <p:sp>
        <p:nvSpPr>
          <p:cNvPr id="39" name="bld6_2266"/>
          <p:cNvSpPr/>
          <p:nvPr/>
        </p:nvSpPr>
        <p:spPr>
          <a:xfrm>
            <a:off x="6297016" y="4788713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40" name="bld6_2267"/>
          <p:cNvSpPr txBox="1"/>
          <p:nvPr/>
        </p:nvSpPr>
        <p:spPr>
          <a:xfrm>
            <a:off x="6571336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Galaxolide  —  20%</a:t>
            </a:r>
            <a:endParaRPr lang="en-US" sz="1250" dirty="0"/>
          </a:p>
        </p:txBody>
      </p:sp>
      <p:sp>
        <p:nvSpPr>
          <p:cNvPr id="41" name="bld6_2268"/>
          <p:cNvSpPr txBox="1"/>
          <p:nvPr/>
        </p:nvSpPr>
        <p:spPr>
          <a:xfrm>
            <a:off x="6571336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musk body</a:t>
            </a:r>
            <a:endParaRPr lang="en-US" sz="1000" dirty="0"/>
          </a:p>
        </p:txBody>
      </p:sp>
      <p:sp>
        <p:nvSpPr>
          <p:cNvPr id="42" name="bld7_2269"/>
          <p:cNvSpPr/>
          <p:nvPr/>
        </p:nvSpPr>
        <p:spPr>
          <a:xfrm>
            <a:off x="566928" y="5355641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43" name="bld7_2270"/>
          <p:cNvSpPr txBox="1"/>
          <p:nvPr/>
        </p:nvSpPr>
        <p:spPr>
          <a:xfrm>
            <a:off x="841248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  —  10%</a:t>
            </a:r>
            <a:endParaRPr lang="en-US" sz="1250" dirty="0"/>
          </a:p>
        </p:txBody>
      </p:sp>
      <p:sp>
        <p:nvSpPr>
          <p:cNvPr id="44" name="bld7_2271"/>
          <p:cNvSpPr txBox="1"/>
          <p:nvPr/>
        </p:nvSpPr>
        <p:spPr>
          <a:xfrm>
            <a:off x="841248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the sweetness at opening</a:t>
            </a:r>
            <a:endParaRPr lang="en-US" sz="1000" dirty="0"/>
          </a:p>
        </p:txBody>
      </p:sp>
      <p:sp>
        <p:nvSpPr>
          <p:cNvPr id="45" name="bld8_2272"/>
          <p:cNvSpPr/>
          <p:nvPr/>
        </p:nvSpPr>
        <p:spPr>
          <a:xfrm>
            <a:off x="6297016" y="5355641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46" name="bld8_2273"/>
          <p:cNvSpPr txBox="1"/>
          <p:nvPr/>
        </p:nvSpPr>
        <p:spPr>
          <a:xfrm>
            <a:off x="6571336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Patchouli  —  15%</a:t>
            </a:r>
            <a:endParaRPr lang="en-US" sz="1250" dirty="0"/>
          </a:p>
        </p:txBody>
      </p:sp>
      <p:sp>
        <p:nvSpPr>
          <p:cNvPr id="47" name="bld8_2274"/>
          <p:cNvSpPr txBox="1"/>
          <p:nvPr/>
        </p:nvSpPr>
        <p:spPr>
          <a:xfrm>
            <a:off x="6571336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earthy base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9631375" y="222839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50" name="trans_push_l_14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1" name="Text 4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47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FORMULA 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floral fragrance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luminous rose and jasmine heart, on a soft musk base."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12441"/>
            <a:ext cx="887553" cy="566928"/>
          </a:xfrm>
          <a:prstGeom prst="rect">
            <a:avLst/>
          </a:prstGeom>
          <a:solidFill>
            <a:srgbClr val="8C3B49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12441"/>
            <a:ext cx="88755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436193" y="2612441"/>
            <a:ext cx="665665" cy="566928"/>
          </a:xfrm>
          <a:prstGeom prst="rect">
            <a:avLst/>
          </a:prstGeom>
          <a:solidFill>
            <a:srgbClr val="8C3B49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36193" y="2612441"/>
            <a:ext cx="6656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101858" y="2612441"/>
            <a:ext cx="2218883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101858" y="2612441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20741" y="2612441"/>
            <a:ext cx="1109442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20741" y="2612441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30183" y="2612441"/>
            <a:ext cx="1331330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30183" y="2612441"/>
            <a:ext cx="13313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61513" y="2612441"/>
            <a:ext cx="1996995" cy="566928"/>
          </a:xfrm>
          <a:prstGeom prst="rect">
            <a:avLst/>
          </a:prstGeom>
          <a:solidFill>
            <a:srgbClr val="9C7A3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61513" y="2612441"/>
            <a:ext cx="19969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758507" y="2612441"/>
            <a:ext cx="1996995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58507" y="2612441"/>
            <a:ext cx="19969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755502" y="2612441"/>
            <a:ext cx="887553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755502" y="2612441"/>
            <a:ext cx="88755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100" dirty="0"/>
          </a:p>
        </p:txBody>
      </p:sp>
      <p:sp>
        <p:nvSpPr>
          <p:cNvPr id="24" name="bld1_2275"/>
          <p:cNvSpPr/>
          <p:nvPr/>
        </p:nvSpPr>
        <p:spPr>
          <a:xfrm>
            <a:off x="566928" y="3654857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1_2276"/>
          <p:cNvSpPr txBox="1"/>
          <p:nvPr/>
        </p:nvSpPr>
        <p:spPr>
          <a:xfrm>
            <a:off x="841248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 absolute (10%)  —  8%</a:t>
            </a:r>
            <a:endParaRPr lang="en-US" sz="1250" dirty="0"/>
          </a:p>
        </p:txBody>
      </p:sp>
      <p:sp>
        <p:nvSpPr>
          <p:cNvPr id="26" name="bld1_2277"/>
          <p:cNvSpPr txBox="1"/>
          <p:nvPr/>
        </p:nvSpPr>
        <p:spPr>
          <a:xfrm>
            <a:off x="841248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rose truth</a:t>
            </a:r>
            <a:endParaRPr lang="en-US" sz="1000" dirty="0"/>
          </a:p>
        </p:txBody>
      </p:sp>
      <p:sp>
        <p:nvSpPr>
          <p:cNvPr id="27" name="bld2_2278"/>
          <p:cNvSpPr/>
          <p:nvPr/>
        </p:nvSpPr>
        <p:spPr>
          <a:xfrm>
            <a:off x="6297016" y="3654857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8" name="bld2_2279"/>
          <p:cNvSpPr txBox="1"/>
          <p:nvPr/>
        </p:nvSpPr>
        <p:spPr>
          <a:xfrm>
            <a:off x="6571336" y="3572561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Jasmine absolute (10%)  —  6%</a:t>
            </a:r>
            <a:endParaRPr lang="en-US" sz="1250" dirty="0"/>
          </a:p>
        </p:txBody>
      </p:sp>
      <p:sp>
        <p:nvSpPr>
          <p:cNvPr id="29" name="bld2_2280"/>
          <p:cNvSpPr txBox="1"/>
          <p:nvPr/>
        </p:nvSpPr>
        <p:spPr>
          <a:xfrm>
            <a:off x="6571336" y="3846881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Heady floral depth</a:t>
            </a:r>
            <a:endParaRPr lang="en-US" sz="1000" dirty="0"/>
          </a:p>
        </p:txBody>
      </p:sp>
      <p:sp>
        <p:nvSpPr>
          <p:cNvPr id="30" name="bld3_2281"/>
          <p:cNvSpPr/>
          <p:nvPr/>
        </p:nvSpPr>
        <p:spPr>
          <a:xfrm>
            <a:off x="566928" y="4221785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2282"/>
          <p:cNvSpPr txBox="1"/>
          <p:nvPr/>
        </p:nvSpPr>
        <p:spPr>
          <a:xfrm>
            <a:off x="841248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Hedione  —  20%</a:t>
            </a:r>
            <a:endParaRPr lang="en-US" sz="1250" dirty="0"/>
          </a:p>
        </p:txBody>
      </p:sp>
      <p:sp>
        <p:nvSpPr>
          <p:cNvPr id="32" name="bld3_2283"/>
          <p:cNvSpPr txBox="1"/>
          <p:nvPr/>
        </p:nvSpPr>
        <p:spPr>
          <a:xfrm>
            <a:off x="841248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 &amp; radiance</a:t>
            </a:r>
            <a:endParaRPr lang="en-US" sz="1000" dirty="0"/>
          </a:p>
        </p:txBody>
      </p:sp>
      <p:sp>
        <p:nvSpPr>
          <p:cNvPr id="33" name="bld4_2284"/>
          <p:cNvSpPr/>
          <p:nvPr/>
        </p:nvSpPr>
        <p:spPr>
          <a:xfrm>
            <a:off x="6297016" y="4221785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4" name="bld4_2285"/>
          <p:cNvSpPr txBox="1"/>
          <p:nvPr/>
        </p:nvSpPr>
        <p:spPr>
          <a:xfrm>
            <a:off x="6571336" y="4139489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Linalool  —  10%</a:t>
            </a:r>
            <a:endParaRPr lang="en-US" sz="1250" dirty="0"/>
          </a:p>
        </p:txBody>
      </p:sp>
      <p:sp>
        <p:nvSpPr>
          <p:cNvPr id="35" name="bld4_2286"/>
          <p:cNvSpPr txBox="1"/>
          <p:nvPr/>
        </p:nvSpPr>
        <p:spPr>
          <a:xfrm>
            <a:off x="6571336" y="4413809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floral-woody lift</a:t>
            </a:r>
            <a:endParaRPr lang="en-US" sz="1000" dirty="0"/>
          </a:p>
        </p:txBody>
      </p:sp>
      <p:sp>
        <p:nvSpPr>
          <p:cNvPr id="36" name="bld5_2287"/>
          <p:cNvSpPr/>
          <p:nvPr/>
        </p:nvSpPr>
        <p:spPr>
          <a:xfrm>
            <a:off x="566928" y="4788713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7" name="bld5_2288"/>
          <p:cNvSpPr txBox="1"/>
          <p:nvPr/>
        </p:nvSpPr>
        <p:spPr>
          <a:xfrm>
            <a:off x="841248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  —  12%</a:t>
            </a:r>
            <a:endParaRPr lang="en-US" sz="1250" dirty="0"/>
          </a:p>
        </p:txBody>
      </p:sp>
      <p:sp>
        <p:nvSpPr>
          <p:cNvPr id="38" name="bld5_2289"/>
          <p:cNvSpPr txBox="1"/>
          <p:nvPr/>
        </p:nvSpPr>
        <p:spPr>
          <a:xfrm>
            <a:off x="841248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 opening</a:t>
            </a:r>
            <a:endParaRPr lang="en-US" sz="1000" dirty="0"/>
          </a:p>
        </p:txBody>
      </p:sp>
      <p:sp>
        <p:nvSpPr>
          <p:cNvPr id="39" name="bld6_2290"/>
          <p:cNvSpPr/>
          <p:nvPr/>
        </p:nvSpPr>
        <p:spPr>
          <a:xfrm>
            <a:off x="6297016" y="4788713"/>
            <a:ext cx="164592" cy="164592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40" name="bld6_2291"/>
          <p:cNvSpPr txBox="1"/>
          <p:nvPr/>
        </p:nvSpPr>
        <p:spPr>
          <a:xfrm>
            <a:off x="6571336" y="4706417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E Super  —  18%</a:t>
            </a:r>
            <a:endParaRPr lang="en-US" sz="1250" dirty="0"/>
          </a:p>
        </p:txBody>
      </p:sp>
      <p:sp>
        <p:nvSpPr>
          <p:cNvPr id="41" name="bld6_2292"/>
          <p:cNvSpPr txBox="1"/>
          <p:nvPr/>
        </p:nvSpPr>
        <p:spPr>
          <a:xfrm>
            <a:off x="6571336" y="4980737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support</a:t>
            </a:r>
            <a:endParaRPr lang="en-US" sz="1000" dirty="0"/>
          </a:p>
        </p:txBody>
      </p:sp>
      <p:sp>
        <p:nvSpPr>
          <p:cNvPr id="42" name="bld7_2293"/>
          <p:cNvSpPr/>
          <p:nvPr/>
        </p:nvSpPr>
        <p:spPr>
          <a:xfrm>
            <a:off x="566928" y="5355641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43" name="bld7_2294"/>
          <p:cNvSpPr txBox="1"/>
          <p:nvPr/>
        </p:nvSpPr>
        <p:spPr>
          <a:xfrm>
            <a:off x="841248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Galaxolide  —  18%</a:t>
            </a:r>
            <a:endParaRPr lang="en-US" sz="1250" dirty="0"/>
          </a:p>
        </p:txBody>
      </p:sp>
      <p:sp>
        <p:nvSpPr>
          <p:cNvPr id="44" name="bld7_2295"/>
          <p:cNvSpPr txBox="1"/>
          <p:nvPr/>
        </p:nvSpPr>
        <p:spPr>
          <a:xfrm>
            <a:off x="841248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musk fixation</a:t>
            </a:r>
            <a:endParaRPr lang="en-US" sz="1000" dirty="0"/>
          </a:p>
        </p:txBody>
      </p:sp>
      <p:sp>
        <p:nvSpPr>
          <p:cNvPr id="45" name="bld8_2296"/>
          <p:cNvSpPr/>
          <p:nvPr/>
        </p:nvSpPr>
        <p:spPr>
          <a:xfrm>
            <a:off x="6297016" y="5355641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46" name="bld8_2297"/>
          <p:cNvSpPr txBox="1"/>
          <p:nvPr/>
        </p:nvSpPr>
        <p:spPr>
          <a:xfrm>
            <a:off x="6571336" y="5273345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Vanillin  —  8%</a:t>
            </a:r>
            <a:endParaRPr lang="en-US" sz="1250" dirty="0"/>
          </a:p>
        </p:txBody>
      </p:sp>
      <p:sp>
        <p:nvSpPr>
          <p:cNvPr id="47" name="bld8_2298"/>
          <p:cNvSpPr txBox="1"/>
          <p:nvPr/>
        </p:nvSpPr>
        <p:spPr>
          <a:xfrm>
            <a:off x="6571336" y="5547665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warmth in the base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9631375" y="222839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50" name="trans_push_l_14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1" name="Text 4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47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8C3B49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8C3B49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8C3B4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material earns its place. If you can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remove it and nothing changes, remove it.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07</a:t>
            </a:r>
            <a:endParaRPr lang="en-US" sz="1100" dirty="0"/>
          </a:p>
        </p:txBody>
      </p:sp>
      <p:sp>
        <p:nvSpPr>
          <p:cNvPr id="10" name="trans_fade_14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30588" y="2182673"/>
            <a:ext cx="274192" cy="2492654"/>
          </a:xfrm>
          <a:prstGeom prst="roundRect">
            <a:avLst>
              <a:gd name="adj" fmla="val 667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44304" y="3827825"/>
            <a:ext cx="246760" cy="829214"/>
          </a:xfrm>
          <a:prstGeom prst="roundRect">
            <a:avLst>
              <a:gd name="adj" fmla="val 5558"/>
            </a:avLst>
          </a:prstGeom>
          <a:solidFill>
            <a:srgbClr val="6E7A50">
              <a:alpha val="75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08 · EVALUATING &amp; DEVELOPING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Version 1: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&amp; Develop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the formula was the easy part. Now the real work of perfumery begins.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Judging a formula across a real 48-hour timeline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six questions that replace "do I like it?"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troubleshooting guide — symptom to fix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  <p:sp>
        <p:nvSpPr>
          <p:cNvPr id="20" name="trans_fade_14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RULE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evaluate on scent strips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5C5646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5C5646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7738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31454" y="4016593"/>
            <a:ext cx="390796" cy="1122335"/>
          </a:xfrm>
          <a:prstGeom prst="roundRect">
            <a:avLst>
              <a:gd name="adj" fmla="val 3510"/>
            </a:avLst>
          </a:prstGeom>
          <a:solidFill>
            <a:srgbClr val="5C5646">
              <a:alpha val="7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465412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79128" y="4016593"/>
            <a:ext cx="390796" cy="1122335"/>
          </a:xfrm>
          <a:prstGeom prst="roundRect">
            <a:avLst>
              <a:gd name="adj" fmla="val 3510"/>
            </a:avLst>
          </a:prstGeom>
          <a:solidFill>
            <a:srgbClr val="C9A354">
              <a:alpha val="7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13085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26801" y="4016593"/>
            <a:ext cx="390796" cy="1122335"/>
          </a:xfrm>
          <a:prstGeom prst="roundRect">
            <a:avLst>
              <a:gd name="adj" fmla="val 3510"/>
            </a:avLst>
          </a:prstGeom>
          <a:solidFill>
            <a:srgbClr val="B5652D">
              <a:alpha val="75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1, version 2, version 3 — evaluated side by side, not in isolation.</a:t>
            </a:r>
            <a:endParaRPr lang="en-US" sz="1050" dirty="0"/>
          </a:p>
        </p:txBody>
      </p:sp>
      <p:sp>
        <p:nvSpPr>
          <p:cNvPr id="17" name="bld1_2299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8" name="bld1_2300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Immediate smell ≠ finished evaluation</a:t>
            </a:r>
            <a:endParaRPr lang="en-US" sz="1650" dirty="0"/>
          </a:p>
        </p:txBody>
      </p:sp>
      <p:sp>
        <p:nvSpPr>
          <p:cNvPr id="19" name="bld1_2301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smell in the first five minutes is only the opening — never the whole story.</a:t>
            </a:r>
            <a:endParaRPr lang="en-US" sz="1250" dirty="0"/>
          </a:p>
        </p:txBody>
      </p:sp>
      <p:sp>
        <p:nvSpPr>
          <p:cNvPr id="20" name="bld2_2302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2_2303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strip, dated and labelled</a:t>
            </a:r>
            <a:endParaRPr lang="en-US" sz="1650" dirty="0"/>
          </a:p>
        </p:txBody>
      </p:sp>
      <p:sp>
        <p:nvSpPr>
          <p:cNvPr id="22" name="bld2_2304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version of a formula gets its own dedicated, clearly marked strip.</a:t>
            </a:r>
            <a:endParaRPr lang="en-US" sz="1250" dirty="0"/>
          </a:p>
        </p:txBody>
      </p:sp>
      <p:sp>
        <p:nvSpPr>
          <p:cNvPr id="23" name="bld3_2305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4" name="bld3_2306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 strips side by side</a:t>
            </a:r>
            <a:endParaRPr lang="en-US" sz="1650" dirty="0"/>
          </a:p>
        </p:txBody>
      </p:sp>
      <p:sp>
        <p:nvSpPr>
          <p:cNvPr id="25" name="bld3_2307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previous versions to compare directly against the new one at each checkpoint.</a:t>
            </a:r>
            <a:endParaRPr lang="en-US" sz="1250" dirty="0"/>
          </a:p>
        </p:txBody>
      </p:sp>
      <p:sp>
        <p:nvSpPr>
          <p:cNvPr id="27" name="trans_fade_15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EVALUATION TIMELINE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Judge a formula across 48 hours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822960" y="3657600"/>
            <a:ext cx="10545775" cy="91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bld1_2308"/>
          <p:cNvSpPr/>
          <p:nvPr/>
        </p:nvSpPr>
        <p:spPr>
          <a:xfrm>
            <a:off x="740664" y="3575304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9" name="bld1_2309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0" name="bld1_2310"/>
          <p:cNvSpPr txBox="1"/>
          <p:nvPr/>
        </p:nvSpPr>
        <p:spPr>
          <a:xfrm>
            <a:off x="4572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min</a:t>
            </a:r>
            <a:endParaRPr lang="en-US" sz="1200" dirty="0"/>
          </a:p>
        </p:txBody>
      </p:sp>
      <p:sp>
        <p:nvSpPr>
          <p:cNvPr id="11" name="bld1_2311"/>
          <p:cNvSpPr txBox="1"/>
          <p:nvPr/>
        </p:nvSpPr>
        <p:spPr>
          <a:xfrm>
            <a:off x="4572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impression</a:t>
            </a:r>
            <a:endParaRPr lang="en-US" sz="1050" dirty="0"/>
          </a:p>
        </p:txBody>
      </p:sp>
      <p:sp>
        <p:nvSpPr>
          <p:cNvPr id="12" name="bld2_2312"/>
          <p:cNvSpPr/>
          <p:nvPr/>
        </p:nvSpPr>
        <p:spPr>
          <a:xfrm>
            <a:off x="2849819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3" name="bld2_2313"/>
          <p:cNvSpPr/>
          <p:nvPr/>
        </p:nvSpPr>
        <p:spPr>
          <a:xfrm>
            <a:off x="2767523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4" name="bld2_2314"/>
          <p:cNvSpPr txBox="1"/>
          <p:nvPr/>
        </p:nvSpPr>
        <p:spPr>
          <a:xfrm>
            <a:off x="215487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200" dirty="0"/>
          </a:p>
        </p:txBody>
      </p:sp>
      <p:sp>
        <p:nvSpPr>
          <p:cNvPr id="15" name="bld2_2315"/>
          <p:cNvSpPr txBox="1"/>
          <p:nvPr/>
        </p:nvSpPr>
        <p:spPr>
          <a:xfrm>
            <a:off x="215487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notes settling</a:t>
            </a:r>
            <a:endParaRPr lang="en-US" sz="1050" dirty="0"/>
          </a:p>
        </p:txBody>
      </p:sp>
      <p:sp>
        <p:nvSpPr>
          <p:cNvPr id="16" name="bld3_2316"/>
          <p:cNvSpPr/>
          <p:nvPr/>
        </p:nvSpPr>
        <p:spPr>
          <a:xfrm>
            <a:off x="4958974" y="3575304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7" name="bld3_2317"/>
          <p:cNvSpPr/>
          <p:nvPr/>
        </p:nvSpPr>
        <p:spPr>
          <a:xfrm>
            <a:off x="4876678" y="3493008"/>
            <a:ext cx="329184" cy="329184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8" name="bld3_2318"/>
          <p:cNvSpPr txBox="1"/>
          <p:nvPr/>
        </p:nvSpPr>
        <p:spPr>
          <a:xfrm>
            <a:off x="426403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hours</a:t>
            </a:r>
            <a:endParaRPr lang="en-US" sz="1200" dirty="0"/>
          </a:p>
        </p:txBody>
      </p:sp>
      <p:sp>
        <p:nvSpPr>
          <p:cNvPr id="19" name="bld3_2319"/>
          <p:cNvSpPr txBox="1"/>
          <p:nvPr/>
        </p:nvSpPr>
        <p:spPr>
          <a:xfrm>
            <a:off x="426403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taking shape</a:t>
            </a:r>
            <a:endParaRPr lang="en-US" sz="1050" dirty="0"/>
          </a:p>
        </p:txBody>
      </p:sp>
      <p:sp>
        <p:nvSpPr>
          <p:cNvPr id="20" name="bld4_2320"/>
          <p:cNvSpPr/>
          <p:nvPr/>
        </p:nvSpPr>
        <p:spPr>
          <a:xfrm>
            <a:off x="7068129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2321"/>
          <p:cNvSpPr/>
          <p:nvPr/>
        </p:nvSpPr>
        <p:spPr>
          <a:xfrm>
            <a:off x="6985833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22" name="bld4_2322"/>
          <p:cNvSpPr txBox="1"/>
          <p:nvPr/>
        </p:nvSpPr>
        <p:spPr>
          <a:xfrm>
            <a:off x="637318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hours</a:t>
            </a:r>
            <a:endParaRPr lang="en-US" sz="1200" dirty="0"/>
          </a:p>
        </p:txBody>
      </p:sp>
      <p:sp>
        <p:nvSpPr>
          <p:cNvPr id="23" name="bld4_2323"/>
          <p:cNvSpPr txBox="1"/>
          <p:nvPr/>
        </p:nvSpPr>
        <p:spPr>
          <a:xfrm>
            <a:off x="637318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becoming clear</a:t>
            </a:r>
            <a:endParaRPr lang="en-US" sz="1050" dirty="0"/>
          </a:p>
        </p:txBody>
      </p:sp>
      <p:sp>
        <p:nvSpPr>
          <p:cNvPr id="24" name="bld5_2324"/>
          <p:cNvSpPr/>
          <p:nvPr/>
        </p:nvSpPr>
        <p:spPr>
          <a:xfrm>
            <a:off x="9177284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5_2325"/>
          <p:cNvSpPr/>
          <p:nvPr/>
        </p:nvSpPr>
        <p:spPr>
          <a:xfrm>
            <a:off x="9094988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26" name="bld5_2326"/>
          <p:cNvSpPr txBox="1"/>
          <p:nvPr/>
        </p:nvSpPr>
        <p:spPr>
          <a:xfrm>
            <a:off x="848234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hours</a:t>
            </a:r>
            <a:endParaRPr lang="en-US" sz="1200" dirty="0"/>
          </a:p>
        </p:txBody>
      </p:sp>
      <p:sp>
        <p:nvSpPr>
          <p:cNvPr id="27" name="bld5_2327"/>
          <p:cNvSpPr txBox="1"/>
          <p:nvPr/>
        </p:nvSpPr>
        <p:spPr>
          <a:xfrm>
            <a:off x="848234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Drydown forming</a:t>
            </a:r>
            <a:endParaRPr lang="en-US" sz="1050" dirty="0"/>
          </a:p>
        </p:txBody>
      </p:sp>
      <p:sp>
        <p:nvSpPr>
          <p:cNvPr id="28" name="bld6_2328"/>
          <p:cNvSpPr/>
          <p:nvPr/>
        </p:nvSpPr>
        <p:spPr>
          <a:xfrm>
            <a:off x="11286439" y="3575304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9" name="bld6_2329"/>
          <p:cNvSpPr/>
          <p:nvPr/>
        </p:nvSpPr>
        <p:spPr>
          <a:xfrm>
            <a:off x="11204143" y="3493008"/>
            <a:ext cx="329184" cy="329184"/>
          </a:xfrm>
          <a:prstGeom prst="ellipse">
            <a:avLst/>
          </a:prstGeom>
          <a:ln w="12802">
            <a:solidFill>
              <a:srgbClr val="5B3A52"/>
            </a:solidFill>
            <a:prstDash val="solid"/>
          </a:ln>
        </p:spPr>
      </p:sp>
      <p:sp>
        <p:nvSpPr>
          <p:cNvPr id="30" name="bld6_2330"/>
          <p:cNvSpPr txBox="1"/>
          <p:nvPr/>
        </p:nvSpPr>
        <p:spPr>
          <a:xfrm>
            <a:off x="1059149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hours</a:t>
            </a:r>
            <a:endParaRPr lang="en-US" sz="1200" dirty="0"/>
          </a:p>
        </p:txBody>
      </p:sp>
      <p:sp>
        <p:nvSpPr>
          <p:cNvPr id="31" name="bld6_2331"/>
          <p:cNvSpPr txBox="1"/>
          <p:nvPr/>
        </p:nvSpPr>
        <p:spPr>
          <a:xfrm>
            <a:off x="1059149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verdict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formula judged only at 0 minutes has not really been evaluated at all.</a:t>
            </a:r>
            <a:endParaRPr lang="en-US" sz="1250" dirty="0"/>
          </a:p>
        </p:txBody>
      </p:sp>
      <p:sp>
        <p:nvSpPr>
          <p:cNvPr id="34" name="trans_push_l_15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141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QUESTIONS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this, not "do I like it?"</a:t>
            </a:r>
            <a:endParaRPr lang="en-US" sz="3200" dirty="0"/>
          </a:p>
        </p:txBody>
      </p:sp>
      <p:sp>
        <p:nvSpPr>
          <p:cNvPr id="7" name="bld1_2332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333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2334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opening strong enough?</a:t>
            </a:r>
            <a:endParaRPr lang="en-US" sz="1450" dirty="0"/>
          </a:p>
        </p:txBody>
      </p:sp>
      <p:sp>
        <p:nvSpPr>
          <p:cNvPr id="10" name="bld1_2335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announce itself, or vanish immediately?</a:t>
            </a:r>
            <a:endParaRPr lang="en-US" sz="1080" dirty="0"/>
          </a:p>
        </p:txBody>
      </p:sp>
      <p:sp>
        <p:nvSpPr>
          <p:cNvPr id="11" name="bld2_2336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2337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3" name="bld2_2338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heart interesting?</a:t>
            </a:r>
            <a:endParaRPr lang="en-US" sz="1450" dirty="0"/>
          </a:p>
        </p:txBody>
      </p:sp>
      <p:sp>
        <p:nvSpPr>
          <p:cNvPr id="14" name="bld2_2339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hold attention once the top notes fade?</a:t>
            </a:r>
            <a:endParaRPr lang="en-US" sz="1080" dirty="0"/>
          </a:p>
        </p:txBody>
      </p:sp>
      <p:sp>
        <p:nvSpPr>
          <p:cNvPr id="15" name="bld3_2340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2341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7" name="bld3_2342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it too sweet?</a:t>
            </a:r>
            <a:endParaRPr lang="en-US" sz="1450" dirty="0"/>
          </a:p>
        </p:txBody>
      </p:sp>
      <p:sp>
        <p:nvSpPr>
          <p:cNvPr id="18" name="bld3_2343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too dry, too green, too heavy — check for imbalance.</a:t>
            </a:r>
            <a:endParaRPr lang="en-US" sz="1080" dirty="0"/>
          </a:p>
        </p:txBody>
      </p:sp>
      <p:sp>
        <p:nvSpPr>
          <p:cNvPr id="19" name="bld4_2344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2345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4_2346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one material dominating?</a:t>
            </a:r>
            <a:endParaRPr lang="en-US" sz="1450" dirty="0"/>
          </a:p>
        </p:txBody>
      </p:sp>
      <p:sp>
        <p:nvSpPr>
          <p:cNvPr id="22" name="bld4_2347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name a single note that's drowning everything else?</a:t>
            </a:r>
            <a:endParaRPr lang="en-US" sz="1080" dirty="0"/>
          </a:p>
        </p:txBody>
      </p:sp>
      <p:sp>
        <p:nvSpPr>
          <p:cNvPr id="23" name="bld5_2348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2349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5" name="bld5_2350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it collapse?</a:t>
            </a:r>
            <a:endParaRPr lang="en-US" sz="1450" dirty="0"/>
          </a:p>
        </p:txBody>
      </p:sp>
      <p:sp>
        <p:nvSpPr>
          <p:cNvPr id="26" name="bld5_2351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structure fall apart at any point in the timeline?</a:t>
            </a:r>
            <a:endParaRPr lang="en-US" sz="1080" dirty="0"/>
          </a:p>
        </p:txBody>
      </p:sp>
      <p:sp>
        <p:nvSpPr>
          <p:cNvPr id="27" name="bld6_2352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2353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2354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the drydown match the idea?</a:t>
            </a:r>
            <a:endParaRPr lang="en-US" sz="1450" dirty="0"/>
          </a:p>
        </p:txBody>
      </p:sp>
      <p:sp>
        <p:nvSpPr>
          <p:cNvPr id="30" name="bld6_2355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ending still serve your original concept?</a:t>
            </a:r>
            <a:endParaRPr lang="en-US" sz="1080" dirty="0"/>
          </a:p>
        </p:txBody>
      </p:sp>
      <p:sp>
        <p:nvSpPr>
          <p:cNvPr id="32" name="trans_fade_15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→ FIX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Troubleshooting a rough formula</a:t>
            </a:r>
            <a:endParaRPr lang="en-US" sz="3200" dirty="0"/>
          </a:p>
        </p:txBody>
      </p:sp>
      <p:sp>
        <p:nvSpPr>
          <p:cNvPr id="7" name="bld1_2356"/>
          <p:cNvSpPr/>
          <p:nvPr/>
        </p:nvSpPr>
        <p:spPr>
          <a:xfrm>
            <a:off x="548640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357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2358"/>
          <p:cNvSpPr txBox="1"/>
          <p:nvPr/>
        </p:nvSpPr>
        <p:spPr>
          <a:xfrm>
            <a:off x="731520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Feels flat or boring</a:t>
            </a:r>
            <a:endParaRPr lang="en-US" sz="1450" dirty="0"/>
          </a:p>
        </p:txBody>
      </p:sp>
      <p:sp>
        <p:nvSpPr>
          <p:cNvPr id="10" name="bld1_2359"/>
          <p:cNvSpPr txBox="1"/>
          <p:nvPr/>
        </p:nvSpPr>
        <p:spPr>
          <a:xfrm>
            <a:off x="731520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diffusive material — Hedione or a fresh citrus top — to open the formula up and give it lift.</a:t>
            </a:r>
            <a:endParaRPr lang="en-US" sz="1080" dirty="0"/>
          </a:p>
        </p:txBody>
      </p:sp>
      <p:sp>
        <p:nvSpPr>
          <p:cNvPr id="11" name="bld2_2360"/>
          <p:cNvSpPr/>
          <p:nvPr/>
        </p:nvSpPr>
        <p:spPr>
          <a:xfrm>
            <a:off x="4332122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2361"/>
          <p:cNvSpPr/>
          <p:nvPr/>
        </p:nvSpPr>
        <p:spPr>
          <a:xfrm>
            <a:off x="450585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2362"/>
          <p:cNvSpPr txBox="1"/>
          <p:nvPr/>
        </p:nvSpPr>
        <p:spPr>
          <a:xfrm>
            <a:off x="4515002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 sweet or cloying</a:t>
            </a:r>
            <a:endParaRPr lang="en-US" sz="1450" dirty="0"/>
          </a:p>
        </p:txBody>
      </p:sp>
      <p:sp>
        <p:nvSpPr>
          <p:cNvPr id="14" name="bld2_2363"/>
          <p:cNvSpPr txBox="1"/>
          <p:nvPr/>
        </p:nvSpPr>
        <p:spPr>
          <a:xfrm>
            <a:off x="4515002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the gourmand materials, or add a dry, bitter contrast like vetiver or bergamot to cut through it.</a:t>
            </a:r>
            <a:endParaRPr lang="en-US" sz="1080" dirty="0"/>
          </a:p>
        </p:txBody>
      </p:sp>
      <p:sp>
        <p:nvSpPr>
          <p:cNvPr id="15" name="bld3_2364"/>
          <p:cNvSpPr/>
          <p:nvPr/>
        </p:nvSpPr>
        <p:spPr>
          <a:xfrm>
            <a:off x="8115605" y="1922435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2365"/>
          <p:cNvSpPr/>
          <p:nvPr/>
        </p:nvSpPr>
        <p:spPr>
          <a:xfrm>
            <a:off x="8289341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2366"/>
          <p:cNvSpPr txBox="1"/>
          <p:nvPr/>
        </p:nvSpPr>
        <p:spPr>
          <a:xfrm>
            <a:off x="8298485" y="2379635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Doesn't last</a:t>
            </a:r>
            <a:endParaRPr lang="en-US" sz="1450" dirty="0"/>
          </a:p>
        </p:txBody>
      </p:sp>
      <p:sp>
        <p:nvSpPr>
          <p:cNvPr id="18" name="bld3_2367"/>
          <p:cNvSpPr txBox="1"/>
          <p:nvPr/>
        </p:nvSpPr>
        <p:spPr>
          <a:xfrm>
            <a:off x="8298485" y="2708819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fixative or base material — a musk, a resin, a heavier wood — to anchor the drydown.</a:t>
            </a:r>
            <a:endParaRPr lang="en-US" sz="1080" dirty="0"/>
          </a:p>
        </p:txBody>
      </p:sp>
      <p:sp>
        <p:nvSpPr>
          <p:cNvPr id="19" name="bld4_2368"/>
          <p:cNvSpPr/>
          <p:nvPr/>
        </p:nvSpPr>
        <p:spPr>
          <a:xfrm>
            <a:off x="548640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2369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bld4_2370"/>
          <p:cNvSpPr txBox="1"/>
          <p:nvPr/>
        </p:nvSpPr>
        <p:spPr>
          <a:xfrm>
            <a:off x="731520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material dominates</a:t>
            </a:r>
            <a:endParaRPr lang="en-US" sz="1450" dirty="0"/>
          </a:p>
        </p:txBody>
      </p:sp>
      <p:sp>
        <p:nvSpPr>
          <p:cNvPr id="22" name="bld4_2371"/>
          <p:cNvSpPr txBox="1"/>
          <p:nvPr/>
        </p:nvSpPr>
        <p:spPr>
          <a:xfrm>
            <a:off x="731520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that material's percentage in small increments, re-evaluating on a fresh strip after each change.</a:t>
            </a:r>
            <a:endParaRPr lang="en-US" sz="1080" dirty="0"/>
          </a:p>
        </p:txBody>
      </p:sp>
      <p:sp>
        <p:nvSpPr>
          <p:cNvPr id="23" name="bld5_2372"/>
          <p:cNvSpPr/>
          <p:nvPr/>
        </p:nvSpPr>
        <p:spPr>
          <a:xfrm>
            <a:off x="4332122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2373"/>
          <p:cNvSpPr/>
          <p:nvPr/>
        </p:nvSpPr>
        <p:spPr>
          <a:xfrm>
            <a:off x="4505858" y="4135283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bld5_2374"/>
          <p:cNvSpPr txBox="1"/>
          <p:nvPr/>
        </p:nvSpPr>
        <p:spPr>
          <a:xfrm>
            <a:off x="4515002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Feels harsh or rough</a:t>
            </a:r>
            <a:endParaRPr lang="en-US" sz="1450" dirty="0"/>
          </a:p>
        </p:txBody>
      </p:sp>
      <p:sp>
        <p:nvSpPr>
          <p:cNvPr id="26" name="bld5_2375"/>
          <p:cNvSpPr txBox="1"/>
          <p:nvPr/>
        </p:nvSpPr>
        <p:spPr>
          <a:xfrm>
            <a:off x="4515002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the edges with a diffusive floral or a soft musk — they round out sharp, isolated materials.</a:t>
            </a:r>
            <a:endParaRPr lang="en-US" sz="1080" dirty="0"/>
          </a:p>
        </p:txBody>
      </p:sp>
      <p:sp>
        <p:nvSpPr>
          <p:cNvPr id="27" name="bld6_2376"/>
          <p:cNvSpPr/>
          <p:nvPr/>
        </p:nvSpPr>
        <p:spPr>
          <a:xfrm>
            <a:off x="8115605" y="3961547"/>
            <a:ext cx="352745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2377"/>
          <p:cNvSpPr/>
          <p:nvPr/>
        </p:nvSpPr>
        <p:spPr>
          <a:xfrm>
            <a:off x="8289341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2378"/>
          <p:cNvSpPr txBox="1"/>
          <p:nvPr/>
        </p:nvSpPr>
        <p:spPr>
          <a:xfrm>
            <a:off x="8298485" y="4418747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Opening is weak</a:t>
            </a:r>
            <a:endParaRPr lang="en-US" sz="1450" dirty="0"/>
          </a:p>
        </p:txBody>
      </p:sp>
      <p:sp>
        <p:nvSpPr>
          <p:cNvPr id="30" name="bld6_2379"/>
          <p:cNvSpPr txBox="1"/>
          <p:nvPr/>
        </p:nvSpPr>
        <p:spPr>
          <a:xfrm>
            <a:off x="8298485" y="4747931"/>
            <a:ext cx="316169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the top-note percentage, or add a lift material like an aldehyde or citrus booster.</a:t>
            </a:r>
            <a:endParaRPr lang="en-US" sz="1080" dirty="0"/>
          </a:p>
        </p:txBody>
      </p:sp>
      <p:sp>
        <p:nvSpPr>
          <p:cNvPr id="32" name="trans_fade_15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3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development cycle</a:t>
            </a:r>
            <a:endParaRPr lang="en-US" sz="3200" dirty="0"/>
          </a:p>
        </p:txBody>
      </p:sp>
      <p:sp>
        <p:nvSpPr>
          <p:cNvPr id="7" name="bld1_2380"/>
          <p:cNvSpPr/>
          <p:nvPr/>
        </p:nvSpPr>
        <p:spPr>
          <a:xfrm>
            <a:off x="548640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381"/>
          <p:cNvSpPr txBox="1"/>
          <p:nvPr/>
        </p:nvSpPr>
        <p:spPr>
          <a:xfrm>
            <a:off x="713232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bld1_2382"/>
          <p:cNvSpPr txBox="1"/>
          <p:nvPr/>
        </p:nvSpPr>
        <p:spPr>
          <a:xfrm>
            <a:off x="713232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</a:t>
            </a:r>
            <a:endParaRPr lang="en-US" sz="1450" dirty="0"/>
          </a:p>
        </p:txBody>
      </p:sp>
      <p:sp>
        <p:nvSpPr>
          <p:cNvPr id="10" name="bld1_2383"/>
          <p:cNvSpPr txBox="1"/>
          <p:nvPr/>
        </p:nvSpPr>
        <p:spPr>
          <a:xfrm>
            <a:off x="713232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current version.</a:t>
            </a:r>
            <a:endParaRPr lang="en-US" sz="1000" dirty="0"/>
          </a:p>
        </p:txBody>
      </p:sp>
      <p:sp>
        <p:nvSpPr>
          <p:cNvPr id="11" name="bld1_2384"/>
          <p:cNvSpPr txBox="1"/>
          <p:nvPr/>
        </p:nvSpPr>
        <p:spPr>
          <a:xfrm>
            <a:off x="2131009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bld2_2385"/>
          <p:cNvSpPr/>
          <p:nvPr/>
        </p:nvSpPr>
        <p:spPr>
          <a:xfrm>
            <a:off x="2451049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2386"/>
          <p:cNvSpPr txBox="1"/>
          <p:nvPr/>
        </p:nvSpPr>
        <p:spPr>
          <a:xfrm>
            <a:off x="2615641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bld2_2387"/>
          <p:cNvSpPr txBox="1"/>
          <p:nvPr/>
        </p:nvSpPr>
        <p:spPr>
          <a:xfrm>
            <a:off x="2615641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Compound</a:t>
            </a:r>
            <a:endParaRPr lang="en-US" sz="1450" dirty="0"/>
          </a:p>
        </p:txBody>
      </p:sp>
      <p:sp>
        <p:nvSpPr>
          <p:cNvPr id="15" name="bld2_2388"/>
          <p:cNvSpPr txBox="1"/>
          <p:nvPr/>
        </p:nvSpPr>
        <p:spPr>
          <a:xfrm>
            <a:off x="2615641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dilute it.</a:t>
            </a:r>
            <a:endParaRPr lang="en-US" sz="1000" dirty="0"/>
          </a:p>
        </p:txBody>
      </p:sp>
      <p:sp>
        <p:nvSpPr>
          <p:cNvPr id="16" name="bld2_2389"/>
          <p:cNvSpPr txBox="1"/>
          <p:nvPr/>
        </p:nvSpPr>
        <p:spPr>
          <a:xfrm>
            <a:off x="4033418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bld3_2390"/>
          <p:cNvSpPr/>
          <p:nvPr/>
        </p:nvSpPr>
        <p:spPr>
          <a:xfrm>
            <a:off x="4353458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B565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2391"/>
          <p:cNvSpPr txBox="1"/>
          <p:nvPr/>
        </p:nvSpPr>
        <p:spPr>
          <a:xfrm>
            <a:off x="4518050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5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bld3_2392"/>
          <p:cNvSpPr txBox="1"/>
          <p:nvPr/>
        </p:nvSpPr>
        <p:spPr>
          <a:xfrm>
            <a:off x="4518050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</a:t>
            </a:r>
            <a:endParaRPr lang="en-US" sz="1450" dirty="0"/>
          </a:p>
        </p:txBody>
      </p:sp>
      <p:sp>
        <p:nvSpPr>
          <p:cNvPr id="20" name="bld3_2393"/>
          <p:cNvSpPr txBox="1"/>
          <p:nvPr/>
        </p:nvSpPr>
        <p:spPr>
          <a:xfrm>
            <a:off x="4518050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it across 48 hours.</a:t>
            </a:r>
            <a:endParaRPr lang="en-US" sz="1000" dirty="0"/>
          </a:p>
        </p:txBody>
      </p:sp>
      <p:sp>
        <p:nvSpPr>
          <p:cNvPr id="21" name="bld3_2394"/>
          <p:cNvSpPr txBox="1"/>
          <p:nvPr/>
        </p:nvSpPr>
        <p:spPr>
          <a:xfrm>
            <a:off x="5935828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bld4_2395"/>
          <p:cNvSpPr/>
          <p:nvPr/>
        </p:nvSpPr>
        <p:spPr>
          <a:xfrm>
            <a:off x="6255868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2396"/>
          <p:cNvSpPr txBox="1"/>
          <p:nvPr/>
        </p:nvSpPr>
        <p:spPr>
          <a:xfrm>
            <a:off x="6420460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bld4_2397"/>
          <p:cNvSpPr txBox="1"/>
          <p:nvPr/>
        </p:nvSpPr>
        <p:spPr>
          <a:xfrm>
            <a:off x="6420460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Identify issue</a:t>
            </a:r>
            <a:endParaRPr lang="en-US" sz="1450" dirty="0"/>
          </a:p>
        </p:txBody>
      </p:sp>
      <p:sp>
        <p:nvSpPr>
          <p:cNvPr id="25" name="bld4_2398"/>
          <p:cNvSpPr txBox="1"/>
          <p:nvPr/>
        </p:nvSpPr>
        <p:spPr>
          <a:xfrm>
            <a:off x="6420460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specific problem.</a:t>
            </a:r>
            <a:endParaRPr lang="en-US" sz="1000" dirty="0"/>
          </a:p>
        </p:txBody>
      </p:sp>
      <p:sp>
        <p:nvSpPr>
          <p:cNvPr id="26" name="bld4_2399"/>
          <p:cNvSpPr txBox="1"/>
          <p:nvPr/>
        </p:nvSpPr>
        <p:spPr>
          <a:xfrm>
            <a:off x="7838237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bld5_2400"/>
          <p:cNvSpPr/>
          <p:nvPr/>
        </p:nvSpPr>
        <p:spPr>
          <a:xfrm>
            <a:off x="8158277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2401"/>
          <p:cNvSpPr txBox="1"/>
          <p:nvPr/>
        </p:nvSpPr>
        <p:spPr>
          <a:xfrm>
            <a:off x="8322869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9" name="bld5_2402"/>
          <p:cNvSpPr txBox="1"/>
          <p:nvPr/>
        </p:nvSpPr>
        <p:spPr>
          <a:xfrm>
            <a:off x="8322869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Modify</a:t>
            </a:r>
            <a:endParaRPr lang="en-US" sz="1450" dirty="0"/>
          </a:p>
        </p:txBody>
      </p:sp>
      <p:sp>
        <p:nvSpPr>
          <p:cNvPr id="30" name="bld5_2403"/>
          <p:cNvSpPr txBox="1"/>
          <p:nvPr/>
        </p:nvSpPr>
        <p:spPr>
          <a:xfrm>
            <a:off x="8322869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thing.</a:t>
            </a:r>
            <a:endParaRPr lang="en-US" sz="1000" dirty="0"/>
          </a:p>
        </p:txBody>
      </p:sp>
      <p:sp>
        <p:nvSpPr>
          <p:cNvPr id="31" name="bld5_2404"/>
          <p:cNvSpPr txBox="1"/>
          <p:nvPr/>
        </p:nvSpPr>
        <p:spPr>
          <a:xfrm>
            <a:off x="9740646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2" name="bld6_2405"/>
          <p:cNvSpPr/>
          <p:nvPr/>
        </p:nvSpPr>
        <p:spPr>
          <a:xfrm>
            <a:off x="10060686" y="2922422"/>
            <a:ext cx="1582369" cy="214884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5B3A5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bld6_2406"/>
          <p:cNvSpPr txBox="1"/>
          <p:nvPr/>
        </p:nvSpPr>
        <p:spPr>
          <a:xfrm>
            <a:off x="10225278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34" name="bld6_2407"/>
          <p:cNvSpPr txBox="1"/>
          <p:nvPr/>
        </p:nvSpPr>
        <p:spPr>
          <a:xfrm>
            <a:off x="10225278" y="3452774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</a:t>
            </a:r>
            <a:endParaRPr lang="en-US" sz="1450" dirty="0"/>
          </a:p>
        </p:txBody>
      </p:sp>
      <p:sp>
        <p:nvSpPr>
          <p:cNvPr id="35" name="bld6_2408"/>
          <p:cNvSpPr txBox="1"/>
          <p:nvPr/>
        </p:nvSpPr>
        <p:spPr>
          <a:xfrm>
            <a:off x="10225278" y="3946550"/>
            <a:ext cx="125318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the next version.</a:t>
            </a:r>
            <a:endParaRPr lang="en-US" sz="1000" dirty="0"/>
          </a:p>
        </p:txBody>
      </p:sp>
      <p:sp>
        <p:nvSpPr>
          <p:cNvPr id="37" name="trans_push_l_15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8" name="Text 3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73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DISCIPLINE, NOT GUESSWORK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Changing formulas the right way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0E0D0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i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"If something feels off, just add a bit of everything and see if it improves."</a:t>
            </a:r>
            <a:endParaRPr lang="en-US" sz="2100" dirty="0"/>
          </a:p>
        </p:txBody>
      </p:sp>
      <p:sp>
        <p:nvSpPr>
          <p:cNvPr id="10" name="bld1_2409"/>
          <p:cNvSpPr/>
          <p:nvPr/>
        </p:nvSpPr>
        <p:spPr>
          <a:xfrm>
            <a:off x="6278728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EFE6D2"/>
          </a:solidFill>
          <a:ln/>
        </p:spPr>
      </p:sp>
      <p:sp>
        <p:nvSpPr>
          <p:cNvPr id="11" name="bld1_2410"/>
          <p:cNvSpPr txBox="1"/>
          <p:nvPr/>
        </p:nvSpPr>
        <p:spPr>
          <a:xfrm>
            <a:off x="6598768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300" dirty="0"/>
          </a:p>
        </p:txBody>
      </p:sp>
      <p:sp>
        <p:nvSpPr>
          <p:cNvPr id="12" name="bld1_2411"/>
          <p:cNvSpPr txBox="1"/>
          <p:nvPr/>
        </p:nvSpPr>
        <p:spPr>
          <a:xfrm>
            <a:off x="6598768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Random, simultaneous changes destroy your ability to learn anything — if three things change and the formula improves, you'll never know which one mattered. Identify the specific issue, change exactly one variable, and re-evaluate before touching anything else.</a:t>
            </a:r>
            <a:endParaRPr lang="en-US" sz="1450" dirty="0"/>
          </a:p>
        </p:txBody>
      </p:sp>
      <p:sp>
        <p:nvSpPr>
          <p:cNvPr id="14" name="trans_wipe_l_15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5" name="Text 1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</a:t>
            </a:r>
            <a:endParaRPr lang="en-US" sz="100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1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B3A52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B3A52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B3A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version is a data point, not a verdict.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across 48 hours before you judge.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08</a:t>
            </a:r>
            <a:endParaRPr lang="en-US" sz="1100" dirty="0"/>
          </a:p>
        </p:txBody>
      </p:sp>
      <p:sp>
        <p:nvSpPr>
          <p:cNvPr id="10" name="trans_fade_15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06227" y="2096719"/>
            <a:ext cx="321466" cy="746077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36354" y="2629632"/>
            <a:ext cx="1461211" cy="2131649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70148" y="3482291"/>
            <a:ext cx="993624" cy="1225698"/>
          </a:xfrm>
          <a:prstGeom prst="triangle">
            <a:avLst/>
          </a:prstGeom>
          <a:solidFill>
            <a:srgbClr val="B5652D">
              <a:alpha val="90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09 · ALCOHOL &amp; COMPOUNDING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Alcohol, Scaling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Compounding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a finished concentrate into a real, wearable perfume.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Perfumer's alcohol vs. everyday alcohol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a formula up from a small test batch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Compounding, bottling and labelling basics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  <p:sp>
        <p:nvSpPr>
          <p:cNvPr id="21" name="trans_fade_15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A FORMULA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percentages, at any batch size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519388" y="4402726"/>
            <a:ext cx="2212153" cy="2212153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95454" y="4778792"/>
            <a:ext cx="1460021" cy="1460021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997656" y="4880994"/>
            <a:ext cx="1255618" cy="1255618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10588964" y="4924794"/>
            <a:ext cx="73001" cy="56940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52464" y="5435802"/>
            <a:ext cx="146002" cy="14600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bld1_2412"/>
          <p:cNvSpPr/>
          <p:nvPr/>
        </p:nvSpPr>
        <p:spPr>
          <a:xfrm>
            <a:off x="548640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bld1_2413"/>
          <p:cNvSpPr/>
          <p:nvPr/>
        </p:nvSpPr>
        <p:spPr>
          <a:xfrm>
            <a:off x="722376" y="2504542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bld1_2414"/>
          <p:cNvSpPr txBox="1"/>
          <p:nvPr/>
        </p:nvSpPr>
        <p:spPr>
          <a:xfrm>
            <a:off x="731520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10g batch</a:t>
            </a:r>
            <a:endParaRPr lang="en-US" sz="1450" dirty="0"/>
          </a:p>
        </p:txBody>
      </p:sp>
      <p:sp>
        <p:nvSpPr>
          <p:cNvPr id="24" name="bld1_2415"/>
          <p:cNvSpPr txBox="1"/>
          <p:nvPr/>
        </p:nvSpPr>
        <p:spPr>
          <a:xfrm>
            <a:off x="731520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cheap testing size — ideal for early versions.</a:t>
            </a:r>
            <a:endParaRPr lang="en-US" sz="1080" dirty="0"/>
          </a:p>
        </p:txBody>
      </p:sp>
      <p:sp>
        <p:nvSpPr>
          <p:cNvPr id="25" name="bld2_2416"/>
          <p:cNvSpPr/>
          <p:nvPr/>
        </p:nvSpPr>
        <p:spPr>
          <a:xfrm>
            <a:off x="4332122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bld2_2417"/>
          <p:cNvSpPr/>
          <p:nvPr/>
        </p:nvSpPr>
        <p:spPr>
          <a:xfrm>
            <a:off x="4505858" y="2504542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7" name="bld2_2418"/>
          <p:cNvSpPr txBox="1"/>
          <p:nvPr/>
        </p:nvSpPr>
        <p:spPr>
          <a:xfrm>
            <a:off x="4515002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100g batch</a:t>
            </a:r>
            <a:endParaRPr lang="en-US" sz="1450" dirty="0"/>
          </a:p>
        </p:txBody>
      </p:sp>
      <p:sp>
        <p:nvSpPr>
          <p:cNvPr id="28" name="bld2_2419"/>
          <p:cNvSpPr txBox="1"/>
          <p:nvPr/>
        </p:nvSpPr>
        <p:spPr>
          <a:xfrm>
            <a:off x="4515002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comfortable size for refined, near-final formulas.</a:t>
            </a:r>
            <a:endParaRPr lang="en-US" sz="1080" dirty="0"/>
          </a:p>
        </p:txBody>
      </p:sp>
      <p:sp>
        <p:nvSpPr>
          <p:cNvPr id="29" name="bld3_2420"/>
          <p:cNvSpPr/>
          <p:nvPr/>
        </p:nvSpPr>
        <p:spPr>
          <a:xfrm>
            <a:off x="8115605" y="2330806"/>
            <a:ext cx="352745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bld3_2421"/>
          <p:cNvSpPr/>
          <p:nvPr/>
        </p:nvSpPr>
        <p:spPr>
          <a:xfrm>
            <a:off x="8289341" y="2504542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bld3_2422"/>
          <p:cNvSpPr txBox="1"/>
          <p:nvPr/>
        </p:nvSpPr>
        <p:spPr>
          <a:xfrm>
            <a:off x="8298485" y="2788006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1kg batch</a:t>
            </a:r>
            <a:endParaRPr lang="en-US" sz="1450" dirty="0"/>
          </a:p>
        </p:txBody>
      </p:sp>
      <p:sp>
        <p:nvSpPr>
          <p:cNvPr id="32" name="bld3_2423"/>
          <p:cNvSpPr txBox="1"/>
          <p:nvPr/>
        </p:nvSpPr>
        <p:spPr>
          <a:xfrm>
            <a:off x="8298485" y="3117190"/>
            <a:ext cx="316169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scale — once the formula is truly locked.</a:t>
            </a:r>
            <a:endParaRPr lang="en-US" sz="1080" dirty="0"/>
          </a:p>
        </p:txBody>
      </p:sp>
      <p:sp>
        <p:nvSpPr>
          <p:cNvPr id="34" name="trans_fade_15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ALCOHOL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Concentrate + perfumer's alcohol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typical Eau de Parfum ratio, expressed simply.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326770"/>
            <a:ext cx="2218883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326770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67523" y="3326770"/>
            <a:ext cx="8875532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67523" y="3326770"/>
            <a:ext cx="88755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1100" dirty="0"/>
          </a:p>
        </p:txBody>
      </p:sp>
      <p:sp>
        <p:nvSpPr>
          <p:cNvPr id="12" name="bld1_2424"/>
          <p:cNvSpPr/>
          <p:nvPr/>
        </p:nvSpPr>
        <p:spPr>
          <a:xfrm>
            <a:off x="566928" y="4369186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bld1_2425"/>
          <p:cNvSpPr txBox="1"/>
          <p:nvPr/>
        </p:nvSpPr>
        <p:spPr>
          <a:xfrm>
            <a:off x="841248" y="4286890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 concentrate  —  20%</a:t>
            </a:r>
            <a:endParaRPr lang="en-US" sz="1250" dirty="0"/>
          </a:p>
        </p:txBody>
      </p:sp>
      <p:sp>
        <p:nvSpPr>
          <p:cNvPr id="14" name="bld1_2426"/>
          <p:cNvSpPr txBox="1"/>
          <p:nvPr/>
        </p:nvSpPr>
        <p:spPr>
          <a:xfrm>
            <a:off x="841248" y="4561210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finished formula</a:t>
            </a:r>
            <a:endParaRPr lang="en-US" sz="1000" dirty="0"/>
          </a:p>
        </p:txBody>
      </p:sp>
      <p:sp>
        <p:nvSpPr>
          <p:cNvPr id="15" name="bld2_2427"/>
          <p:cNvSpPr/>
          <p:nvPr/>
        </p:nvSpPr>
        <p:spPr>
          <a:xfrm>
            <a:off x="6297016" y="4369186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16" name="bld2_2428"/>
          <p:cNvSpPr txBox="1"/>
          <p:nvPr/>
        </p:nvSpPr>
        <p:spPr>
          <a:xfrm>
            <a:off x="6571336" y="4286890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Perfumer's alcohol  —  80%</a:t>
            </a:r>
            <a:endParaRPr lang="en-US" sz="1250" dirty="0"/>
          </a:p>
        </p:txBody>
      </p:sp>
      <p:sp>
        <p:nvSpPr>
          <p:cNvPr id="17" name="bld2_2429"/>
          <p:cNvSpPr txBox="1"/>
          <p:nvPr/>
        </p:nvSpPr>
        <p:spPr>
          <a:xfrm>
            <a:off x="6571336" y="4561210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carrier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9631375" y="294272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20" name="trans_push_l_15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148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1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WITH CARE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Water in a perfume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B5652D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B5652D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81756" y="1355141"/>
            <a:ext cx="331903" cy="1161361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93382" y="2184684"/>
            <a:ext cx="1508650" cy="3318175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034767" y="3511954"/>
            <a:ext cx="1025882" cy="1907950"/>
          </a:xfrm>
          <a:prstGeom prst="triangle">
            <a:avLst/>
          </a:prstGeom>
          <a:solidFill>
            <a:srgbClr val="CFC5AE">
              <a:alpha val="90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 is a signal — always check your finished compound in good light.</a:t>
            </a:r>
            <a:endParaRPr lang="en-US" sz="1050" dirty="0"/>
          </a:p>
        </p:txBody>
      </p:sp>
      <p:sp>
        <p:nvSpPr>
          <p:cNvPr id="14" name="bld1_243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bld1_243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water is sometimes used</a:t>
            </a:r>
            <a:endParaRPr lang="en-US" sz="1650" dirty="0"/>
          </a:p>
        </p:txBody>
      </p:sp>
      <p:sp>
        <p:nvSpPr>
          <p:cNvPr id="16" name="bld1_2432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amount can soften alcohol's harshness and slightly adjust the final feel.</a:t>
            </a:r>
            <a:endParaRPr lang="en-US" sz="1250" dirty="0"/>
          </a:p>
        </p:txBody>
      </p:sp>
      <p:sp>
        <p:nvSpPr>
          <p:cNvPr id="17" name="bld2_2433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8" name="bld2_2434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excess water is risky</a:t>
            </a:r>
            <a:endParaRPr lang="en-US" sz="1650" dirty="0"/>
          </a:p>
        </p:txBody>
      </p:sp>
      <p:sp>
        <p:nvSpPr>
          <p:cNvPr id="19" name="bld2_2435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materials are not water-soluble — too much water can push them out of solution.</a:t>
            </a:r>
            <a:endParaRPr lang="en-US" sz="1250" dirty="0"/>
          </a:p>
        </p:txBody>
      </p:sp>
      <p:sp>
        <p:nvSpPr>
          <p:cNvPr id="20" name="bld3_2436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1" name="bld3_2437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Cloudiness is a warning sign</a:t>
            </a:r>
            <a:endParaRPr lang="en-US" sz="1650" dirty="0"/>
          </a:p>
        </p:txBody>
      </p:sp>
      <p:sp>
        <p:nvSpPr>
          <p:cNvPr id="22" name="bld3_2438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cloudy or hazy compound usually means something has fallen out of solution.</a:t>
            </a:r>
            <a:endParaRPr lang="en-US" sz="1250" dirty="0"/>
          </a:p>
        </p:txBody>
      </p:sp>
      <p:sp>
        <p:nvSpPr>
          <p:cNvPr id="23" name="bld4_2439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4" name="bld4_2440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Stability over time</a:t>
            </a:r>
            <a:endParaRPr lang="en-US" sz="1650" dirty="0"/>
          </a:p>
        </p:txBody>
      </p:sp>
      <p:sp>
        <p:nvSpPr>
          <p:cNvPr id="25" name="bld4_2441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formula that looks clear today can still separate weeks later if the balance is wrong.</a:t>
            </a:r>
            <a:endParaRPr lang="en-US" sz="1250" dirty="0"/>
          </a:p>
        </p:txBody>
      </p:sp>
      <p:sp>
        <p:nvSpPr>
          <p:cNvPr id="27" name="trans_fade_16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PROTECTING THE FORMULA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Antioxidants — used thoughtfully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36751" y="1518043"/>
            <a:ext cx="3821914" cy="3821914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flipV="1">
            <a:off x="9547708" y="3026693"/>
            <a:ext cx="905190" cy="402307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452898" y="3026693"/>
            <a:ext cx="905190" cy="50288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452898" y="3529577"/>
            <a:ext cx="905190" cy="80461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44247" y="4334190"/>
            <a:ext cx="1508650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8944247" y="3429000"/>
            <a:ext cx="603460" cy="9051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41364" y="2926117"/>
            <a:ext cx="1106344" cy="50288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86785" y="3268077"/>
            <a:ext cx="321845" cy="321845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337235" y="2911030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242425" y="3413913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337235" y="4218527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828584" y="4218527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325701" y="2810453"/>
            <a:ext cx="231326" cy="23132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targeted tool for specific oxidation-sensitive materials — not a blanket additive.</a:t>
            </a:r>
            <a:endParaRPr lang="en-US" sz="1050" dirty="0"/>
          </a:p>
        </p:txBody>
      </p:sp>
      <p:sp>
        <p:nvSpPr>
          <p:cNvPr id="24" name="bld1_2442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5" name="bld1_2443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oxidation happens</a:t>
            </a:r>
            <a:endParaRPr lang="en-US" sz="1650" dirty="0"/>
          </a:p>
        </p:txBody>
      </p:sp>
      <p:sp>
        <p:nvSpPr>
          <p:cNvPr id="26" name="bld1_2444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Light, air and time can degrade certain materials, shifting or dulling their smell.</a:t>
            </a:r>
            <a:endParaRPr lang="en-US" sz="1250" dirty="0"/>
          </a:p>
        </p:txBody>
      </p:sp>
      <p:sp>
        <p:nvSpPr>
          <p:cNvPr id="27" name="bld2_2445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8" name="bld2_2446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materials are sensitive</a:t>
            </a:r>
            <a:endParaRPr lang="en-US" sz="1650" dirty="0"/>
          </a:p>
        </p:txBody>
      </p:sp>
      <p:sp>
        <p:nvSpPr>
          <p:cNvPr id="29" name="bld2_2447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oils and many naturals rich in terpenes oxidise fastest.</a:t>
            </a:r>
            <a:endParaRPr lang="en-US" sz="1250" dirty="0"/>
          </a:p>
        </p:txBody>
      </p:sp>
      <p:sp>
        <p:nvSpPr>
          <p:cNvPr id="30" name="bld3_2448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1" name="bld3_2449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BHT and similar antioxidants</a:t>
            </a:r>
            <a:endParaRPr lang="en-US" sz="1650" dirty="0"/>
          </a:p>
        </p:txBody>
      </p:sp>
      <p:sp>
        <p:nvSpPr>
          <p:cNvPr id="32" name="bld3_2450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doses can meaningfully slow this degradation in vulnerable formulas.</a:t>
            </a:r>
            <a:endParaRPr lang="en-US" sz="1250" dirty="0"/>
          </a:p>
        </p:txBody>
      </p:sp>
      <p:sp>
        <p:nvSpPr>
          <p:cNvPr id="33" name="bld4_2451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4" name="bld4_2452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add it blindly</a:t>
            </a:r>
            <a:endParaRPr lang="en-US" sz="1650" dirty="0"/>
          </a:p>
        </p:txBody>
      </p:sp>
      <p:sp>
        <p:nvSpPr>
          <p:cNvPr id="35" name="bld4_2453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formula needs an antioxidant — add it deliberately, for a specific material at risk, not as a default habit.</a:t>
            </a:r>
            <a:endParaRPr lang="en-US" sz="1250" dirty="0"/>
          </a:p>
        </p:txBody>
      </p:sp>
      <p:sp>
        <p:nvSpPr>
          <p:cNvPr id="37" name="trans_fade_16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8" name="Text 3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PROFESSIONAL WORKFLOW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compounding process</a:t>
            </a:r>
            <a:endParaRPr lang="en-US" sz="3200" dirty="0"/>
          </a:p>
        </p:txBody>
      </p:sp>
      <p:sp>
        <p:nvSpPr>
          <p:cNvPr id="7" name="bld1_2454"/>
          <p:cNvSpPr/>
          <p:nvPr/>
        </p:nvSpPr>
        <p:spPr>
          <a:xfrm>
            <a:off x="548640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455"/>
          <p:cNvSpPr txBox="1"/>
          <p:nvPr/>
        </p:nvSpPr>
        <p:spPr>
          <a:xfrm>
            <a:off x="713232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bld1_2456"/>
          <p:cNvSpPr txBox="1"/>
          <p:nvPr/>
        </p:nvSpPr>
        <p:spPr>
          <a:xfrm>
            <a:off x="713232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</a:t>
            </a:r>
            <a:endParaRPr lang="en-US" sz="1450" dirty="0"/>
          </a:p>
        </p:txBody>
      </p:sp>
      <p:sp>
        <p:nvSpPr>
          <p:cNvPr id="10" name="bld1_2457"/>
          <p:cNvSpPr txBox="1"/>
          <p:nvPr/>
        </p:nvSpPr>
        <p:spPr>
          <a:xfrm>
            <a:off x="713232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the formula sheet.</a:t>
            </a:r>
            <a:endParaRPr lang="en-US" sz="1000" dirty="0"/>
          </a:p>
        </p:txBody>
      </p:sp>
      <p:sp>
        <p:nvSpPr>
          <p:cNvPr id="11" name="bld1_2458"/>
          <p:cNvSpPr txBox="1"/>
          <p:nvPr/>
        </p:nvSpPr>
        <p:spPr>
          <a:xfrm>
            <a:off x="1859236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bld2_2459"/>
          <p:cNvSpPr/>
          <p:nvPr/>
        </p:nvSpPr>
        <p:spPr>
          <a:xfrm>
            <a:off x="2179276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8C3B4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bld2_2460"/>
          <p:cNvSpPr txBox="1"/>
          <p:nvPr/>
        </p:nvSpPr>
        <p:spPr>
          <a:xfrm>
            <a:off x="2343868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3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bld2_2461"/>
          <p:cNvSpPr txBox="1"/>
          <p:nvPr/>
        </p:nvSpPr>
        <p:spPr>
          <a:xfrm>
            <a:off x="2343868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</a:t>
            </a:r>
            <a:endParaRPr lang="en-US" sz="1450" dirty="0"/>
          </a:p>
        </p:txBody>
      </p:sp>
      <p:sp>
        <p:nvSpPr>
          <p:cNvPr id="15" name="bld2_2462"/>
          <p:cNvSpPr txBox="1"/>
          <p:nvPr/>
        </p:nvSpPr>
        <p:spPr>
          <a:xfrm>
            <a:off x="2343868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gently.</a:t>
            </a:r>
            <a:endParaRPr lang="en-US" sz="1000" dirty="0"/>
          </a:p>
        </p:txBody>
      </p:sp>
      <p:sp>
        <p:nvSpPr>
          <p:cNvPr id="16" name="bld2_2463"/>
          <p:cNvSpPr txBox="1"/>
          <p:nvPr/>
        </p:nvSpPr>
        <p:spPr>
          <a:xfrm>
            <a:off x="3489873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bld3_2464"/>
          <p:cNvSpPr/>
          <p:nvPr/>
        </p:nvSpPr>
        <p:spPr>
          <a:xfrm>
            <a:off x="3809913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bld3_2465"/>
          <p:cNvSpPr txBox="1"/>
          <p:nvPr/>
        </p:nvSpPr>
        <p:spPr>
          <a:xfrm>
            <a:off x="3974505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bld3_2466"/>
          <p:cNvSpPr txBox="1"/>
          <p:nvPr/>
        </p:nvSpPr>
        <p:spPr>
          <a:xfrm>
            <a:off x="3974505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</a:t>
            </a:r>
            <a:endParaRPr lang="en-US" sz="1450" dirty="0"/>
          </a:p>
        </p:txBody>
      </p:sp>
      <p:sp>
        <p:nvSpPr>
          <p:cNvPr id="20" name="bld3_2467"/>
          <p:cNvSpPr txBox="1"/>
          <p:nvPr/>
        </p:nvSpPr>
        <p:spPr>
          <a:xfrm>
            <a:off x="3974505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it settle.</a:t>
            </a:r>
            <a:endParaRPr lang="en-US" sz="1000" dirty="0"/>
          </a:p>
        </p:txBody>
      </p:sp>
      <p:sp>
        <p:nvSpPr>
          <p:cNvPr id="21" name="bld3_2468"/>
          <p:cNvSpPr txBox="1"/>
          <p:nvPr/>
        </p:nvSpPr>
        <p:spPr>
          <a:xfrm>
            <a:off x="5120509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bld4_2469"/>
          <p:cNvSpPr/>
          <p:nvPr/>
        </p:nvSpPr>
        <p:spPr>
          <a:xfrm>
            <a:off x="5440549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bld4_2470"/>
          <p:cNvSpPr txBox="1"/>
          <p:nvPr/>
        </p:nvSpPr>
        <p:spPr>
          <a:xfrm>
            <a:off x="5605141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bld4_2471"/>
          <p:cNvSpPr txBox="1"/>
          <p:nvPr/>
        </p:nvSpPr>
        <p:spPr>
          <a:xfrm>
            <a:off x="5605141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Dilute</a:t>
            </a:r>
            <a:endParaRPr lang="en-US" sz="1450" dirty="0"/>
          </a:p>
        </p:txBody>
      </p:sp>
      <p:sp>
        <p:nvSpPr>
          <p:cNvPr id="25" name="bld4_2472"/>
          <p:cNvSpPr txBox="1"/>
          <p:nvPr/>
        </p:nvSpPr>
        <p:spPr>
          <a:xfrm>
            <a:off x="5605141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alcohol.</a:t>
            </a:r>
            <a:endParaRPr lang="en-US" sz="1000" dirty="0"/>
          </a:p>
        </p:txBody>
      </p:sp>
      <p:sp>
        <p:nvSpPr>
          <p:cNvPr id="26" name="bld4_2473"/>
          <p:cNvSpPr txBox="1"/>
          <p:nvPr/>
        </p:nvSpPr>
        <p:spPr>
          <a:xfrm>
            <a:off x="6751146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bld5_2474"/>
          <p:cNvSpPr/>
          <p:nvPr/>
        </p:nvSpPr>
        <p:spPr>
          <a:xfrm>
            <a:off x="7071186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5_2475"/>
          <p:cNvSpPr txBox="1"/>
          <p:nvPr/>
        </p:nvSpPr>
        <p:spPr>
          <a:xfrm>
            <a:off x="7235778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9" name="bld5_2476"/>
          <p:cNvSpPr txBox="1"/>
          <p:nvPr/>
        </p:nvSpPr>
        <p:spPr>
          <a:xfrm>
            <a:off x="7235778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Macerate</a:t>
            </a:r>
            <a:endParaRPr lang="en-US" sz="1450" dirty="0"/>
          </a:p>
        </p:txBody>
      </p:sp>
      <p:sp>
        <p:nvSpPr>
          <p:cNvPr id="30" name="bld5_2477"/>
          <p:cNvSpPr txBox="1"/>
          <p:nvPr/>
        </p:nvSpPr>
        <p:spPr>
          <a:xfrm>
            <a:off x="7235778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Mature over time.</a:t>
            </a:r>
            <a:endParaRPr lang="en-US" sz="1000" dirty="0"/>
          </a:p>
        </p:txBody>
      </p:sp>
      <p:sp>
        <p:nvSpPr>
          <p:cNvPr id="31" name="bld5_2478"/>
          <p:cNvSpPr txBox="1"/>
          <p:nvPr/>
        </p:nvSpPr>
        <p:spPr>
          <a:xfrm>
            <a:off x="8381782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2" name="bld6_2479"/>
          <p:cNvSpPr/>
          <p:nvPr/>
        </p:nvSpPr>
        <p:spPr>
          <a:xfrm>
            <a:off x="8701822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B565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bld6_2480"/>
          <p:cNvSpPr txBox="1"/>
          <p:nvPr/>
        </p:nvSpPr>
        <p:spPr>
          <a:xfrm>
            <a:off x="8866414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5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34" name="bld6_2481"/>
          <p:cNvSpPr txBox="1"/>
          <p:nvPr/>
        </p:nvSpPr>
        <p:spPr>
          <a:xfrm>
            <a:off x="8866414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</a:t>
            </a:r>
            <a:endParaRPr lang="en-US" sz="1450" dirty="0"/>
          </a:p>
        </p:txBody>
      </p:sp>
      <p:sp>
        <p:nvSpPr>
          <p:cNvPr id="35" name="bld6_2482"/>
          <p:cNvSpPr txBox="1"/>
          <p:nvPr/>
        </p:nvSpPr>
        <p:spPr>
          <a:xfrm>
            <a:off x="8866414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needed.</a:t>
            </a:r>
            <a:endParaRPr lang="en-US" sz="1000" dirty="0"/>
          </a:p>
        </p:txBody>
      </p:sp>
      <p:sp>
        <p:nvSpPr>
          <p:cNvPr id="36" name="bld6_2483"/>
          <p:cNvSpPr txBox="1"/>
          <p:nvPr/>
        </p:nvSpPr>
        <p:spPr>
          <a:xfrm>
            <a:off x="10012419" y="376824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7" name="bld7_2484"/>
          <p:cNvSpPr/>
          <p:nvPr/>
        </p:nvSpPr>
        <p:spPr>
          <a:xfrm>
            <a:off x="10332459" y="2922422"/>
            <a:ext cx="1310596" cy="214884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5B3A5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bld7_2485"/>
          <p:cNvSpPr txBox="1"/>
          <p:nvPr/>
        </p:nvSpPr>
        <p:spPr>
          <a:xfrm>
            <a:off x="10497051" y="303215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500" dirty="0"/>
          </a:p>
        </p:txBody>
      </p:sp>
      <p:sp>
        <p:nvSpPr>
          <p:cNvPr id="39" name="bld7_2486"/>
          <p:cNvSpPr txBox="1"/>
          <p:nvPr/>
        </p:nvSpPr>
        <p:spPr>
          <a:xfrm>
            <a:off x="10497051" y="3452774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Bottle</a:t>
            </a:r>
            <a:endParaRPr lang="en-US" sz="1450" dirty="0"/>
          </a:p>
        </p:txBody>
      </p:sp>
      <p:sp>
        <p:nvSpPr>
          <p:cNvPr id="40" name="bld7_2487"/>
          <p:cNvSpPr txBox="1"/>
          <p:nvPr/>
        </p:nvSpPr>
        <p:spPr>
          <a:xfrm>
            <a:off x="10497051" y="3946550"/>
            <a:ext cx="9814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&amp; date.</a:t>
            </a:r>
            <a:endParaRPr lang="en-US" sz="1000" dirty="0"/>
          </a:p>
        </p:txBody>
      </p:sp>
      <p:sp>
        <p:nvSpPr>
          <p:cNvPr id="42" name="trans_push_l_16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3" name="Text 4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151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85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C5646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C5646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C56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Alcohol isn't filler — treat its ratio, its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rest, and its grade with the same care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the concentrate.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09</a:t>
            </a:r>
            <a:endParaRPr lang="en-US" sz="1100" dirty="0"/>
          </a:p>
        </p:txBody>
      </p:sp>
      <p:sp>
        <p:nvSpPr>
          <p:cNvPr id="10" name="trans_fade_16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5B3A52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5B3A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87059" y="1967789"/>
            <a:ext cx="359802" cy="292242"/>
          </a:xfrm>
          <a:prstGeom prst="roundRect">
            <a:avLst>
              <a:gd name="adj" fmla="val 12516"/>
            </a:avLst>
          </a:prstGeom>
          <a:solidFill>
            <a:srgbClr val="0E0D0B"/>
          </a:solidFill>
          <a:ln/>
        </p:spPr>
      </p:sp>
      <p:sp>
        <p:nvSpPr>
          <p:cNvPr id="6" name="Shape 4"/>
          <p:cNvSpPr/>
          <p:nvPr/>
        </p:nvSpPr>
        <p:spPr>
          <a:xfrm>
            <a:off x="9810524" y="2260031"/>
            <a:ext cx="312871" cy="467588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08262" y="2727619"/>
            <a:ext cx="1117397" cy="2162593"/>
          </a:xfrm>
          <a:prstGeom prst="roundRect">
            <a:avLst>
              <a:gd name="adj" fmla="val 9820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44838" y="3592656"/>
            <a:ext cx="1044245" cy="1260980"/>
          </a:xfrm>
          <a:prstGeom prst="roundRect">
            <a:avLst>
              <a:gd name="adj" fmla="val 8757"/>
            </a:avLst>
          </a:prstGeom>
          <a:solidFill>
            <a:srgbClr val="5B3A52">
              <a:alpha val="90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· MATURATION &amp; MACERATION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Perfume Needs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 To Rest</a:t>
            </a:r>
            <a:endParaRPr lang="en-US" sz="4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happens to a compound after it's bottled — and what doesn't.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maceration changes a formula's character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to wait, and how to tell it's ready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conditions that protect — or ruin — a batch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  <p:sp>
        <p:nvSpPr>
          <p:cNvPr id="22" name="trans_fade_16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OVER TIME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real effects of maceration</a:t>
            </a:r>
            <a:endParaRPr lang="en-US" sz="3200" dirty="0"/>
          </a:p>
        </p:txBody>
      </p:sp>
      <p:sp>
        <p:nvSpPr>
          <p:cNvPr id="7" name="bld1_2488"/>
          <p:cNvSpPr/>
          <p:nvPr/>
        </p:nvSpPr>
        <p:spPr>
          <a:xfrm>
            <a:off x="548640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bld1_2489"/>
          <p:cNvSpPr/>
          <p:nvPr/>
        </p:nvSpPr>
        <p:spPr>
          <a:xfrm>
            <a:off x="722376" y="2096171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9" name="bld1_2490"/>
          <p:cNvSpPr txBox="1"/>
          <p:nvPr/>
        </p:nvSpPr>
        <p:spPr>
          <a:xfrm>
            <a:off x="731520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Integration</a:t>
            </a:r>
            <a:endParaRPr lang="en-US" sz="1450" dirty="0"/>
          </a:p>
        </p:txBody>
      </p:sp>
      <p:sp>
        <p:nvSpPr>
          <p:cNvPr id="10" name="bld1_2491"/>
          <p:cNvSpPr txBox="1"/>
          <p:nvPr/>
        </p:nvSpPr>
        <p:spPr>
          <a:xfrm>
            <a:off x="731520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blend and round together.</a:t>
            </a:r>
            <a:endParaRPr lang="en-US" sz="1080" dirty="0"/>
          </a:p>
        </p:txBody>
      </p:sp>
      <p:sp>
        <p:nvSpPr>
          <p:cNvPr id="11" name="bld2_2492"/>
          <p:cNvSpPr/>
          <p:nvPr/>
        </p:nvSpPr>
        <p:spPr>
          <a:xfrm>
            <a:off x="3386252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bld2_2493"/>
          <p:cNvSpPr/>
          <p:nvPr/>
        </p:nvSpPr>
        <p:spPr>
          <a:xfrm>
            <a:off x="3559988" y="2096171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bld2_2494"/>
          <p:cNvSpPr txBox="1"/>
          <p:nvPr/>
        </p:nvSpPr>
        <p:spPr>
          <a:xfrm>
            <a:off x="3569132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Softer alcohol</a:t>
            </a:r>
            <a:endParaRPr lang="en-US" sz="1450" dirty="0"/>
          </a:p>
        </p:txBody>
      </p:sp>
      <p:sp>
        <p:nvSpPr>
          <p:cNvPr id="14" name="bld2_2495"/>
          <p:cNvSpPr txBox="1"/>
          <p:nvPr/>
        </p:nvSpPr>
        <p:spPr>
          <a:xfrm>
            <a:off x="3569132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sharp alcohol bite fades.</a:t>
            </a:r>
            <a:endParaRPr lang="en-US" sz="1080" dirty="0"/>
          </a:p>
        </p:txBody>
      </p:sp>
      <p:sp>
        <p:nvSpPr>
          <p:cNvPr id="15" name="bld3_2496"/>
          <p:cNvSpPr/>
          <p:nvPr/>
        </p:nvSpPr>
        <p:spPr>
          <a:xfrm>
            <a:off x="6223864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bld3_2497"/>
          <p:cNvSpPr/>
          <p:nvPr/>
        </p:nvSpPr>
        <p:spPr>
          <a:xfrm>
            <a:off x="6397600" y="2096171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bld3_2498"/>
          <p:cNvSpPr txBox="1"/>
          <p:nvPr/>
        </p:nvSpPr>
        <p:spPr>
          <a:xfrm>
            <a:off x="6406744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Perceived smoothing</a:t>
            </a:r>
            <a:endParaRPr lang="en-US" sz="1450" dirty="0"/>
          </a:p>
        </p:txBody>
      </p:sp>
      <p:sp>
        <p:nvSpPr>
          <p:cNvPr id="18" name="bld3_2499"/>
          <p:cNvSpPr txBox="1"/>
          <p:nvPr/>
        </p:nvSpPr>
        <p:spPr>
          <a:xfrm>
            <a:off x="6406744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 edges settle down.</a:t>
            </a:r>
            <a:endParaRPr lang="en-US" sz="1080" dirty="0"/>
          </a:p>
        </p:txBody>
      </p:sp>
      <p:sp>
        <p:nvSpPr>
          <p:cNvPr id="19" name="bld4_2500"/>
          <p:cNvSpPr/>
          <p:nvPr/>
        </p:nvSpPr>
        <p:spPr>
          <a:xfrm>
            <a:off x="9061475" y="1922435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bld4_2501"/>
          <p:cNvSpPr/>
          <p:nvPr/>
        </p:nvSpPr>
        <p:spPr>
          <a:xfrm>
            <a:off x="9235211" y="2096171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bld4_2502"/>
          <p:cNvSpPr txBox="1"/>
          <p:nvPr/>
        </p:nvSpPr>
        <p:spPr>
          <a:xfrm>
            <a:off x="9244355" y="2379635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Top-note development</a:t>
            </a:r>
            <a:endParaRPr lang="en-US" sz="1450" dirty="0"/>
          </a:p>
        </p:txBody>
      </p:sp>
      <p:sp>
        <p:nvSpPr>
          <p:cNvPr id="22" name="bld4_2503"/>
          <p:cNvSpPr txBox="1"/>
          <p:nvPr/>
        </p:nvSpPr>
        <p:spPr>
          <a:xfrm>
            <a:off x="9244355" y="2708819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notes can shift slightly.</a:t>
            </a:r>
            <a:endParaRPr lang="en-US" sz="1080" dirty="0"/>
          </a:p>
        </p:txBody>
      </p:sp>
      <p:sp>
        <p:nvSpPr>
          <p:cNvPr id="23" name="bld5_2504"/>
          <p:cNvSpPr/>
          <p:nvPr/>
        </p:nvSpPr>
        <p:spPr>
          <a:xfrm>
            <a:off x="548640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bld5_2505"/>
          <p:cNvSpPr/>
          <p:nvPr/>
        </p:nvSpPr>
        <p:spPr>
          <a:xfrm>
            <a:off x="722376" y="4135283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5_2506"/>
          <p:cNvSpPr txBox="1"/>
          <p:nvPr/>
        </p:nvSpPr>
        <p:spPr>
          <a:xfrm>
            <a:off x="731520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Solubility</a:t>
            </a:r>
            <a:endParaRPr lang="en-US" sz="1450" dirty="0"/>
          </a:p>
        </p:txBody>
      </p:sp>
      <p:sp>
        <p:nvSpPr>
          <p:cNvPr id="26" name="bld5_2507"/>
          <p:cNvSpPr txBox="1"/>
          <p:nvPr/>
        </p:nvSpPr>
        <p:spPr>
          <a:xfrm>
            <a:off x="731520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fully dissolve into solution.</a:t>
            </a:r>
            <a:endParaRPr lang="en-US" sz="1080" dirty="0"/>
          </a:p>
        </p:txBody>
      </p:sp>
      <p:sp>
        <p:nvSpPr>
          <p:cNvPr id="27" name="bld6_2508"/>
          <p:cNvSpPr/>
          <p:nvPr/>
        </p:nvSpPr>
        <p:spPr>
          <a:xfrm>
            <a:off x="3386252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bld6_2509"/>
          <p:cNvSpPr/>
          <p:nvPr/>
        </p:nvSpPr>
        <p:spPr>
          <a:xfrm>
            <a:off x="3559988" y="4135283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bld6_2510"/>
          <p:cNvSpPr txBox="1"/>
          <p:nvPr/>
        </p:nvSpPr>
        <p:spPr>
          <a:xfrm>
            <a:off x="3569132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 changes</a:t>
            </a:r>
            <a:endParaRPr lang="en-US" sz="1450" dirty="0"/>
          </a:p>
        </p:txBody>
      </p:sp>
      <p:sp>
        <p:nvSpPr>
          <p:cNvPr id="30" name="bld6_2511"/>
          <p:cNvSpPr txBox="1"/>
          <p:nvPr/>
        </p:nvSpPr>
        <p:spPr>
          <a:xfrm>
            <a:off x="3569132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formulas darken with age.</a:t>
            </a:r>
            <a:endParaRPr lang="en-US" sz="1080" dirty="0"/>
          </a:p>
        </p:txBody>
      </p:sp>
      <p:sp>
        <p:nvSpPr>
          <p:cNvPr id="31" name="bld7_2512"/>
          <p:cNvSpPr/>
          <p:nvPr/>
        </p:nvSpPr>
        <p:spPr>
          <a:xfrm>
            <a:off x="6223864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bld7_2513"/>
          <p:cNvSpPr/>
          <p:nvPr/>
        </p:nvSpPr>
        <p:spPr>
          <a:xfrm>
            <a:off x="6397600" y="4135283"/>
            <a:ext cx="237744" cy="237744"/>
          </a:xfrm>
          <a:prstGeom prst="ellipse">
            <a:avLst/>
          </a:prstGeom>
          <a:solidFill>
            <a:srgbClr val="3B382F"/>
          </a:solidFill>
          <a:ln/>
        </p:spPr>
      </p:sp>
      <p:sp>
        <p:nvSpPr>
          <p:cNvPr id="33" name="bld7_2514"/>
          <p:cNvSpPr txBox="1"/>
          <p:nvPr/>
        </p:nvSpPr>
        <p:spPr>
          <a:xfrm>
            <a:off x="6406744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Oxidation</a:t>
            </a:r>
            <a:endParaRPr lang="en-US" sz="1450" dirty="0"/>
          </a:p>
        </p:txBody>
      </p:sp>
      <p:sp>
        <p:nvSpPr>
          <p:cNvPr id="34" name="bld7_2515"/>
          <p:cNvSpPr txBox="1"/>
          <p:nvPr/>
        </p:nvSpPr>
        <p:spPr>
          <a:xfrm>
            <a:off x="6406744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chemical change, for better or worse.</a:t>
            </a:r>
            <a:endParaRPr lang="en-US" sz="1080" dirty="0"/>
          </a:p>
        </p:txBody>
      </p:sp>
      <p:sp>
        <p:nvSpPr>
          <p:cNvPr id="35" name="bld8_2516"/>
          <p:cNvSpPr/>
          <p:nvPr/>
        </p:nvSpPr>
        <p:spPr>
          <a:xfrm>
            <a:off x="9061475" y="3961547"/>
            <a:ext cx="25815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bld8_2517"/>
          <p:cNvSpPr/>
          <p:nvPr/>
        </p:nvSpPr>
        <p:spPr>
          <a:xfrm>
            <a:off x="9235211" y="4135283"/>
            <a:ext cx="237744" cy="237744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37" name="bld8_2518"/>
          <p:cNvSpPr txBox="1"/>
          <p:nvPr/>
        </p:nvSpPr>
        <p:spPr>
          <a:xfrm>
            <a:off x="9244355" y="4418747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Precipitation</a:t>
            </a:r>
            <a:endParaRPr lang="en-US" sz="1450" dirty="0"/>
          </a:p>
        </p:txBody>
      </p:sp>
      <p:sp>
        <p:nvSpPr>
          <p:cNvPr id="38" name="bld8_2519"/>
          <p:cNvSpPr txBox="1"/>
          <p:nvPr/>
        </p:nvSpPr>
        <p:spPr>
          <a:xfrm>
            <a:off x="9244355" y="4747931"/>
            <a:ext cx="22158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insoluble can settle out.</a:t>
            </a:r>
            <a:endParaRPr lang="en-US" sz="1080" dirty="0"/>
          </a:p>
        </p:txBody>
      </p:sp>
      <p:sp>
        <p:nvSpPr>
          <p:cNvPr id="40" name="trans_fade_16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1" name="Text 3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8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SCIENCE, BRIEFLY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same liquid smells different later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C9A354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C9A354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77504" y="1358797"/>
            <a:ext cx="4140407" cy="4140407"/>
          </a:xfrm>
          <a:prstGeom prst="ellipse">
            <a:avLst/>
          </a:prstGeom>
          <a:solidFill>
            <a:srgbClr val="5B3A52">
              <a:alpha val="1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flipV="1">
            <a:off x="9547708" y="2993168"/>
            <a:ext cx="980623" cy="435832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28330" y="2993168"/>
            <a:ext cx="980623" cy="5447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528330" y="3537958"/>
            <a:ext cx="980623" cy="871665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93959" y="4409623"/>
            <a:ext cx="1634371" cy="914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8893959" y="3429000"/>
            <a:ext cx="653748" cy="980623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49169" y="2884210"/>
            <a:ext cx="1198539" cy="544790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73375" y="3254667"/>
            <a:ext cx="348666" cy="348666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403028" y="2867866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383651" y="3412656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403028" y="4284321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68657" y="4284321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3867" y="2758908"/>
            <a:ext cx="250604" cy="250604"/>
          </a:xfrm>
          <a:prstGeom prst="ellipse">
            <a:avLst/>
          </a:prstGeom>
          <a:solidFill>
            <a:srgbClr val="C9A354"/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slow, ordinary process — not an unpredictable transformation.</a:t>
            </a:r>
            <a:endParaRPr lang="en-US" sz="1050" dirty="0"/>
          </a:p>
        </p:txBody>
      </p:sp>
      <p:sp>
        <p:nvSpPr>
          <p:cNvPr id="24" name="bld1_252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bld1_252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Molecules keep interacting</a:t>
            </a:r>
            <a:endParaRPr lang="en-US" sz="1650" dirty="0"/>
          </a:p>
        </p:txBody>
      </p:sp>
      <p:sp>
        <p:nvSpPr>
          <p:cNvPr id="26" name="bld1_2522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continue to associate and rearrange in solution long after mixing.</a:t>
            </a:r>
            <a:endParaRPr lang="en-US" sz="1250" dirty="0"/>
          </a:p>
        </p:txBody>
      </p:sp>
      <p:sp>
        <p:nvSpPr>
          <p:cNvPr id="27" name="bld2_2523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8" name="bld2_2524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Alcohol needs time to settle</a:t>
            </a:r>
            <a:endParaRPr lang="en-US" sz="1650" dirty="0"/>
          </a:p>
        </p:txBody>
      </p:sp>
      <p:sp>
        <p:nvSpPr>
          <p:cNvPr id="29" name="bld2_2525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alcohol reads sharp and hot — that fades measurably within days.</a:t>
            </a:r>
            <a:endParaRPr lang="en-US" sz="1250" dirty="0"/>
          </a:p>
        </p:txBody>
      </p:sp>
      <p:sp>
        <p:nvSpPr>
          <p:cNvPr id="30" name="bld3_2526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31" name="bld3_2527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mysterious is happening</a:t>
            </a:r>
            <a:endParaRPr lang="en-US" sz="1650" dirty="0"/>
          </a:p>
        </p:txBody>
      </p:sp>
      <p:sp>
        <p:nvSpPr>
          <p:cNvPr id="32" name="bld3_2528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slow, ordinary physical chemistry — not magic, and it's predictable enough to plan around.</a:t>
            </a:r>
            <a:endParaRPr lang="en-US" sz="1250" dirty="0"/>
          </a:p>
        </p:txBody>
      </p:sp>
      <p:sp>
        <p:nvSpPr>
          <p:cNvPr id="34" name="trans_fade_16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smell shifts, over weeks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822960" y="3657600"/>
            <a:ext cx="10545775" cy="91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8" name="bld1_2529"/>
          <p:cNvSpPr/>
          <p:nvPr/>
        </p:nvSpPr>
        <p:spPr>
          <a:xfrm>
            <a:off x="740664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9" name="bld1_2530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0" name="bld1_2531"/>
          <p:cNvSpPr txBox="1"/>
          <p:nvPr/>
        </p:nvSpPr>
        <p:spPr>
          <a:xfrm>
            <a:off x="4572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Immediately</a:t>
            </a:r>
            <a:endParaRPr lang="en-US" sz="1200" dirty="0"/>
          </a:p>
        </p:txBody>
      </p:sp>
      <p:sp>
        <p:nvSpPr>
          <p:cNvPr id="11" name="bld1_2532"/>
          <p:cNvSpPr txBox="1"/>
          <p:nvPr/>
        </p:nvSpPr>
        <p:spPr>
          <a:xfrm>
            <a:off x="4572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hot, unintegrated</a:t>
            </a:r>
            <a:endParaRPr lang="en-US" sz="1050" dirty="0"/>
          </a:p>
        </p:txBody>
      </p:sp>
      <p:sp>
        <p:nvSpPr>
          <p:cNvPr id="12" name="bld2_2533"/>
          <p:cNvSpPr/>
          <p:nvPr/>
        </p:nvSpPr>
        <p:spPr>
          <a:xfrm>
            <a:off x="3377108" y="3575304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3" name="bld2_2534"/>
          <p:cNvSpPr/>
          <p:nvPr/>
        </p:nvSpPr>
        <p:spPr>
          <a:xfrm>
            <a:off x="3294812" y="3493008"/>
            <a:ext cx="329184" cy="329184"/>
          </a:xfrm>
          <a:prstGeom prst="ellipse">
            <a:avLst/>
          </a:prstGeom>
          <a:ln w="12802">
            <a:solidFill>
              <a:srgbClr val="5B3A52"/>
            </a:solidFill>
            <a:prstDash val="solid"/>
          </a:ln>
        </p:spPr>
      </p:sp>
      <p:sp>
        <p:nvSpPr>
          <p:cNvPr id="14" name="bld2_2535"/>
          <p:cNvSpPr txBox="1"/>
          <p:nvPr/>
        </p:nvSpPr>
        <p:spPr>
          <a:xfrm>
            <a:off x="2682164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hours</a:t>
            </a:r>
            <a:endParaRPr lang="en-US" sz="1200" dirty="0"/>
          </a:p>
        </p:txBody>
      </p:sp>
      <p:sp>
        <p:nvSpPr>
          <p:cNvPr id="15" name="bld2_2536"/>
          <p:cNvSpPr txBox="1"/>
          <p:nvPr/>
        </p:nvSpPr>
        <p:spPr>
          <a:xfrm>
            <a:off x="2682164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bite softening</a:t>
            </a:r>
            <a:endParaRPr lang="en-US" sz="1050" dirty="0"/>
          </a:p>
        </p:txBody>
      </p:sp>
      <p:sp>
        <p:nvSpPr>
          <p:cNvPr id="16" name="bld3_2537"/>
          <p:cNvSpPr/>
          <p:nvPr/>
        </p:nvSpPr>
        <p:spPr>
          <a:xfrm>
            <a:off x="6013552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7" name="bld3_2538"/>
          <p:cNvSpPr/>
          <p:nvPr/>
        </p:nvSpPr>
        <p:spPr>
          <a:xfrm>
            <a:off x="5931256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8" name="bld3_2539"/>
          <p:cNvSpPr txBox="1"/>
          <p:nvPr/>
        </p:nvSpPr>
        <p:spPr>
          <a:xfrm>
            <a:off x="5318608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week</a:t>
            </a:r>
            <a:endParaRPr lang="en-US" sz="1200" dirty="0"/>
          </a:p>
        </p:txBody>
      </p:sp>
      <p:sp>
        <p:nvSpPr>
          <p:cNvPr id="19" name="bld3_2540"/>
          <p:cNvSpPr txBox="1"/>
          <p:nvPr/>
        </p:nvSpPr>
        <p:spPr>
          <a:xfrm>
            <a:off x="5318608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Noticeably smoother</a:t>
            </a:r>
            <a:endParaRPr lang="en-US" sz="1050" dirty="0"/>
          </a:p>
        </p:txBody>
      </p:sp>
      <p:sp>
        <p:nvSpPr>
          <p:cNvPr id="20" name="bld4_2541"/>
          <p:cNvSpPr/>
          <p:nvPr/>
        </p:nvSpPr>
        <p:spPr>
          <a:xfrm>
            <a:off x="8649995" y="3575304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1" name="bld4_2542"/>
          <p:cNvSpPr/>
          <p:nvPr/>
        </p:nvSpPr>
        <p:spPr>
          <a:xfrm>
            <a:off x="8567699" y="3493008"/>
            <a:ext cx="329184" cy="329184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22" name="bld4_2543"/>
          <p:cNvSpPr txBox="1"/>
          <p:nvPr/>
        </p:nvSpPr>
        <p:spPr>
          <a:xfrm>
            <a:off x="7955051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weeks</a:t>
            </a:r>
            <a:endParaRPr lang="en-US" sz="1200" dirty="0"/>
          </a:p>
        </p:txBody>
      </p:sp>
      <p:sp>
        <p:nvSpPr>
          <p:cNvPr id="23" name="bld4_2544"/>
          <p:cNvSpPr txBox="1"/>
          <p:nvPr/>
        </p:nvSpPr>
        <p:spPr>
          <a:xfrm>
            <a:off x="7955051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 integrated</a:t>
            </a:r>
            <a:endParaRPr lang="en-US" sz="1050" dirty="0"/>
          </a:p>
        </p:txBody>
      </p:sp>
      <p:sp>
        <p:nvSpPr>
          <p:cNvPr id="24" name="bld5_2545"/>
          <p:cNvSpPr/>
          <p:nvPr/>
        </p:nvSpPr>
        <p:spPr>
          <a:xfrm>
            <a:off x="11286439" y="3575304"/>
            <a:ext cx="164592" cy="164592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5" name="bld5_2546"/>
          <p:cNvSpPr/>
          <p:nvPr/>
        </p:nvSpPr>
        <p:spPr>
          <a:xfrm>
            <a:off x="11204143" y="3493008"/>
            <a:ext cx="329184" cy="329184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26" name="bld5_2547"/>
          <p:cNvSpPr txBox="1"/>
          <p:nvPr/>
        </p:nvSpPr>
        <p:spPr>
          <a:xfrm>
            <a:off x="10591495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weeks</a:t>
            </a:r>
            <a:endParaRPr lang="en-US" sz="1200" dirty="0"/>
          </a:p>
        </p:txBody>
      </p:sp>
      <p:sp>
        <p:nvSpPr>
          <p:cNvPr id="27" name="bld5_2548"/>
          <p:cNvSpPr txBox="1"/>
          <p:nvPr/>
        </p:nvSpPr>
        <p:spPr>
          <a:xfrm>
            <a:off x="10591495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matured character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 fresh compound gently — it hasn't finished becoming itself yet.</a:t>
            </a:r>
            <a:endParaRPr lang="en-US" sz="1250" dirty="0"/>
          </a:p>
        </p:txBody>
      </p:sp>
      <p:sp>
        <p:nvSpPr>
          <p:cNvPr id="30" name="trans_push_l_16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1" name="Text 2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53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EXPECTATIONS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maceration cannot do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0E0D0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i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"Given enough time, maceration will fix a broken or unbalanced formula."</a:t>
            </a:r>
            <a:endParaRPr lang="en-US" sz="2100" dirty="0"/>
          </a:p>
        </p:txBody>
      </p:sp>
      <p:sp>
        <p:nvSpPr>
          <p:cNvPr id="10" name="bld1_2549"/>
          <p:cNvSpPr/>
          <p:nvPr/>
        </p:nvSpPr>
        <p:spPr>
          <a:xfrm>
            <a:off x="6278728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EFE6D2"/>
          </a:solidFill>
          <a:ln/>
        </p:spPr>
      </p:sp>
      <p:sp>
        <p:nvSpPr>
          <p:cNvPr id="11" name="bld1_2550"/>
          <p:cNvSpPr txBox="1"/>
          <p:nvPr/>
        </p:nvSpPr>
        <p:spPr>
          <a:xfrm>
            <a:off x="6598768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300" dirty="0"/>
          </a:p>
        </p:txBody>
      </p:sp>
      <p:sp>
        <p:nvSpPr>
          <p:cNvPr id="12" name="bld1_2551"/>
          <p:cNvSpPr txBox="1"/>
          <p:nvPr/>
        </p:nvSpPr>
        <p:spPr>
          <a:xfrm>
            <a:off x="6598768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Maturation refines what's already structurally sound — it softens, integrates and rounds. It cannot rescue a formula with the wrong materials, wrong ratios, or a fundamentally broken idea. Fix the structure first; let time do the polishing, not the repairing.</a:t>
            </a:r>
            <a:endParaRPr lang="en-US" sz="1450" dirty="0"/>
          </a:p>
        </p:txBody>
      </p:sp>
      <p:sp>
        <p:nvSpPr>
          <p:cNvPr id="14" name="trans_wipe_l_16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5" name="Text 1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</a:t>
            </a:r>
            <a:endParaRPr lang="en-US" sz="100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1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PROTOCOL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simple maceration routine</a:t>
            </a:r>
            <a:endParaRPr lang="en-US" sz="3200" dirty="0"/>
          </a:p>
        </p:txBody>
      </p:sp>
      <p:sp>
        <p:nvSpPr>
          <p:cNvPr id="7" name="bld1_2552"/>
          <p:cNvSpPr txBox="1"/>
          <p:nvPr/>
        </p:nvSpPr>
        <p:spPr>
          <a:xfrm>
            <a:off x="548640" y="308152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 STAGE</a:t>
            </a:r>
            <a:endParaRPr lang="en-US" sz="1250" dirty="0"/>
          </a:p>
        </p:txBody>
      </p:sp>
      <p:sp>
        <p:nvSpPr>
          <p:cNvPr id="8" name="bld1_2553"/>
          <p:cNvSpPr/>
          <p:nvPr/>
        </p:nvSpPr>
        <p:spPr>
          <a:xfrm>
            <a:off x="548640" y="35387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9" name="bld1_2554"/>
          <p:cNvSpPr txBox="1"/>
          <p:nvPr/>
        </p:nvSpPr>
        <p:spPr>
          <a:xfrm>
            <a:off x="841248" y="34747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the raw concentrate 24–48 hours</a:t>
            </a:r>
            <a:endParaRPr lang="en-US" sz="1200" dirty="0"/>
          </a:p>
        </p:txBody>
      </p:sp>
      <p:sp>
        <p:nvSpPr>
          <p:cNvPr id="10" name="bld1_2555"/>
          <p:cNvSpPr/>
          <p:nvPr/>
        </p:nvSpPr>
        <p:spPr>
          <a:xfrm>
            <a:off x="548640" y="39959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11" name="bld1_2556"/>
          <p:cNvSpPr txBox="1"/>
          <p:nvPr/>
        </p:nvSpPr>
        <p:spPr>
          <a:xfrm>
            <a:off x="841248" y="39319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for clarity before diluting</a:t>
            </a:r>
            <a:endParaRPr lang="en-US" sz="1200" dirty="0"/>
          </a:p>
        </p:txBody>
      </p:sp>
      <p:sp>
        <p:nvSpPr>
          <p:cNvPr id="12" name="bld2_2557"/>
          <p:cNvSpPr txBox="1"/>
          <p:nvPr/>
        </p:nvSpPr>
        <p:spPr>
          <a:xfrm>
            <a:off x="4353458" y="308152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DILUTED STAGE</a:t>
            </a:r>
            <a:endParaRPr lang="en-US" sz="1250" dirty="0"/>
          </a:p>
        </p:txBody>
      </p:sp>
      <p:sp>
        <p:nvSpPr>
          <p:cNvPr id="13" name="bld2_2558"/>
          <p:cNvSpPr/>
          <p:nvPr/>
        </p:nvSpPr>
        <p:spPr>
          <a:xfrm>
            <a:off x="4353458" y="35387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4" name="bld2_2559"/>
          <p:cNvSpPr txBox="1"/>
          <p:nvPr/>
        </p:nvSpPr>
        <p:spPr>
          <a:xfrm>
            <a:off x="4646066" y="34747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Macerate 1–4 weeks in a cool, dark place</a:t>
            </a:r>
            <a:endParaRPr lang="en-US" sz="1200" dirty="0"/>
          </a:p>
        </p:txBody>
      </p:sp>
      <p:sp>
        <p:nvSpPr>
          <p:cNvPr id="15" name="bld2_2560"/>
          <p:cNvSpPr/>
          <p:nvPr/>
        </p:nvSpPr>
        <p:spPr>
          <a:xfrm>
            <a:off x="4353458" y="39959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6" name="bld2_2561"/>
          <p:cNvSpPr txBox="1"/>
          <p:nvPr/>
        </p:nvSpPr>
        <p:spPr>
          <a:xfrm>
            <a:off x="4646066" y="39319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Shake gently every few days</a:t>
            </a:r>
            <a:endParaRPr lang="en-US" sz="1200" dirty="0"/>
          </a:p>
        </p:txBody>
      </p:sp>
      <p:sp>
        <p:nvSpPr>
          <p:cNvPr id="17" name="bld3_2562"/>
          <p:cNvSpPr txBox="1"/>
          <p:nvPr/>
        </p:nvSpPr>
        <p:spPr>
          <a:xfrm>
            <a:off x="8158277" y="3081528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BOTTLING</a:t>
            </a:r>
            <a:endParaRPr lang="en-US" sz="1250" dirty="0"/>
          </a:p>
        </p:txBody>
      </p:sp>
      <p:sp>
        <p:nvSpPr>
          <p:cNvPr id="18" name="bld3_2563"/>
          <p:cNvSpPr/>
          <p:nvPr/>
        </p:nvSpPr>
        <p:spPr>
          <a:xfrm>
            <a:off x="8158277" y="35387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19" name="bld3_2564"/>
          <p:cNvSpPr txBox="1"/>
          <p:nvPr/>
        </p:nvSpPr>
        <p:spPr>
          <a:xfrm>
            <a:off x="8450885" y="34747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Re-evaluate on a fresh strip</a:t>
            </a:r>
            <a:endParaRPr lang="en-US" sz="1200" dirty="0"/>
          </a:p>
        </p:txBody>
      </p:sp>
      <p:sp>
        <p:nvSpPr>
          <p:cNvPr id="20" name="bld3_2565"/>
          <p:cNvSpPr/>
          <p:nvPr/>
        </p:nvSpPr>
        <p:spPr>
          <a:xfrm>
            <a:off x="8158277" y="3995928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1" name="bld3_2566"/>
          <p:cNvSpPr txBox="1"/>
          <p:nvPr/>
        </p:nvSpPr>
        <p:spPr>
          <a:xfrm>
            <a:off x="8450885" y="3931920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if any haze or sediment appears</a:t>
            </a:r>
            <a:endParaRPr lang="en-US" sz="1200" dirty="0"/>
          </a:p>
        </p:txBody>
      </p:sp>
      <p:sp>
        <p:nvSpPr>
          <p:cNvPr id="23" name="trans_fade_16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9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B5652D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B5652D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B5652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Maturation refines what's already good.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cannot rescue a broken structure.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10</a:t>
            </a:r>
            <a:endParaRPr lang="en-US" sz="1100" dirty="0"/>
          </a:p>
        </p:txBody>
      </p:sp>
      <p:sp>
        <p:nvSpPr>
          <p:cNvPr id="10" name="trans_fade_17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5749" y="1967789"/>
            <a:ext cx="2922422" cy="2922422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52076" y="3214116"/>
            <a:ext cx="429768" cy="42976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· COMPLIANCE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Compliance,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Simply Explained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introduction to keeping your formulas safe and legal to sell — not a substitute for professional guidance.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IFRA limits, worked through a real example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SDS and allergen declaration actually cover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look — and what to ignore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  <p:sp>
        <p:nvSpPr>
          <p:cNvPr id="20" name="trans_fade_17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C9A354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C9A354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C9A35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module is an introduction.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are still responsible for the regulations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apply to your country and product.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READ THIS FIRST</a:t>
            </a:r>
            <a:endParaRPr lang="en-US" sz="1100" dirty="0"/>
          </a:p>
        </p:txBody>
      </p:sp>
      <p:sp>
        <p:nvSpPr>
          <p:cNvPr id="10" name="trans_fade_17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GLOBAL STANDARD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IFRA — the industry's safety framework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01941" y="4967705"/>
            <a:ext cx="1331827" cy="1331827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8100000">
            <a:off x="10463437" y="5329201"/>
            <a:ext cx="608835" cy="608835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10" name="bld1_2567"/>
          <p:cNvSpPr/>
          <p:nvPr/>
        </p:nvSpPr>
        <p:spPr>
          <a:xfrm>
            <a:off x="548640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2" name="Shape 10"/>
          <p:cNvSpPr/>
          <p:nvPr/>
        </p:nvSpPr>
        <p:spPr>
          <a:xfrm>
            <a:off x="1554137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626949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597510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597510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1626949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8" name="bld1_2569"/>
          <p:cNvSpPr txBox="1"/>
          <p:nvPr/>
        </p:nvSpPr>
        <p:spPr>
          <a:xfrm>
            <a:off x="731520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IFRA Standards</a:t>
            </a:r>
            <a:endParaRPr lang="en-US" sz="1450" dirty="0"/>
          </a:p>
        </p:txBody>
      </p:sp>
      <p:sp>
        <p:nvSpPr>
          <p:cNvPr id="19" name="bld1_2570"/>
          <p:cNvSpPr txBox="1"/>
          <p:nvPr/>
        </p:nvSpPr>
        <p:spPr>
          <a:xfrm>
            <a:off x="731520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Science-based usage limits for fragrance materials.</a:t>
            </a:r>
            <a:endParaRPr lang="en-US" sz="1080" dirty="0"/>
          </a:p>
        </p:txBody>
      </p:sp>
      <p:sp>
        <p:nvSpPr>
          <p:cNvPr id="20" name="bld2_2571"/>
          <p:cNvSpPr/>
          <p:nvPr/>
        </p:nvSpPr>
        <p:spPr>
          <a:xfrm>
            <a:off x="3386252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22" name="Shape 20"/>
          <p:cNvSpPr/>
          <p:nvPr/>
        </p:nvSpPr>
        <p:spPr>
          <a:xfrm>
            <a:off x="4477337" y="255446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24" name="bld2_2573"/>
          <p:cNvSpPr txBox="1"/>
          <p:nvPr/>
        </p:nvSpPr>
        <p:spPr>
          <a:xfrm>
            <a:off x="3569132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Restricted materials</a:t>
            </a:r>
            <a:endParaRPr lang="en-US" sz="1450" dirty="0"/>
          </a:p>
        </p:txBody>
      </p:sp>
      <p:sp>
        <p:nvSpPr>
          <p:cNvPr id="25" name="bld2_2574"/>
          <p:cNvSpPr txBox="1"/>
          <p:nvPr/>
        </p:nvSpPr>
        <p:spPr>
          <a:xfrm>
            <a:off x="3569132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Allowed, but only up to a defined maximum %.</a:t>
            </a:r>
            <a:endParaRPr lang="en-US" sz="1080" dirty="0"/>
          </a:p>
        </p:txBody>
      </p:sp>
      <p:sp>
        <p:nvSpPr>
          <p:cNvPr id="26" name="bld3_2575"/>
          <p:cNvSpPr/>
          <p:nvPr/>
        </p:nvSpPr>
        <p:spPr>
          <a:xfrm>
            <a:off x="6223864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28" name="Shape 26"/>
          <p:cNvSpPr/>
          <p:nvPr/>
        </p:nvSpPr>
        <p:spPr>
          <a:xfrm>
            <a:off x="7314949" y="255446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ln w="25603">
            <a:solidFill>
              <a:srgbClr val="3B382F"/>
            </a:solidFill>
            <a:prstDash val="solid"/>
          </a:ln>
        </p:spPr>
      </p:sp>
      <p:sp>
        <p:nvSpPr>
          <p:cNvPr id="30" name="bld3_2577"/>
          <p:cNvSpPr txBox="1"/>
          <p:nvPr/>
        </p:nvSpPr>
        <p:spPr>
          <a:xfrm>
            <a:off x="6406744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Prohibited materials</a:t>
            </a:r>
            <a:endParaRPr lang="en-US" sz="1450" dirty="0"/>
          </a:p>
        </p:txBody>
      </p:sp>
      <p:sp>
        <p:nvSpPr>
          <p:cNvPr id="31" name="bld3_2578"/>
          <p:cNvSpPr txBox="1"/>
          <p:nvPr/>
        </p:nvSpPr>
        <p:spPr>
          <a:xfrm>
            <a:off x="6406744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permitted in fragrance at all.</a:t>
            </a:r>
            <a:endParaRPr lang="en-US" sz="1080" dirty="0"/>
          </a:p>
        </p:txBody>
      </p:sp>
      <p:sp>
        <p:nvSpPr>
          <p:cNvPr id="32" name="bld4_2579"/>
          <p:cNvSpPr/>
          <p:nvPr/>
        </p:nvSpPr>
        <p:spPr>
          <a:xfrm>
            <a:off x="9061475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34" name="Shape 32"/>
          <p:cNvSpPr/>
          <p:nvPr/>
        </p:nvSpPr>
        <p:spPr>
          <a:xfrm>
            <a:off x="10066973" y="2468880"/>
            <a:ext cx="570586" cy="570586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0139784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10110345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10110345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10139784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0" name="bld4_2581"/>
          <p:cNvSpPr txBox="1"/>
          <p:nvPr/>
        </p:nvSpPr>
        <p:spPr>
          <a:xfrm>
            <a:off x="9244355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Category limits</a:t>
            </a:r>
            <a:endParaRPr lang="en-US" sz="1450" dirty="0"/>
          </a:p>
        </p:txBody>
      </p:sp>
      <p:sp>
        <p:nvSpPr>
          <p:cNvPr id="41" name="bld4_2582"/>
          <p:cNvSpPr txBox="1"/>
          <p:nvPr/>
        </p:nvSpPr>
        <p:spPr>
          <a:xfrm>
            <a:off x="9244355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vary by how a product is used on the body.</a:t>
            </a:r>
            <a:endParaRPr lang="en-US" sz="1080" dirty="0"/>
          </a:p>
        </p:txBody>
      </p:sp>
      <p:sp>
        <p:nvSpPr>
          <p:cNvPr id="43" name="trans_fade_17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4" name="Text 4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8" grpId="0"/>
      <p:bldP spid="19" grpId="0"/>
      <p:bldP spid="20" grpId="0"/>
      <p:bldP spid="24" grpId="0"/>
      <p:bldP spid="25" grpId="0"/>
      <p:bldP spid="26" grpId="0"/>
      <p:bldP spid="30" grpId="0"/>
      <p:bldP spid="31" grpId="0"/>
      <p:bldP spid="32" grpId="0"/>
      <p:bldP spid="40" grpId="0"/>
      <p:bldP spid="41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6E7A50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6E7A50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Checking a material against its limit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6E7A50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6E7A50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41941" y="1962376"/>
            <a:ext cx="2011534" cy="2011534"/>
          </a:xfrm>
          <a:prstGeom prst="ellipse">
            <a:avLst/>
          </a:prstGeom>
          <a:ln w="27432">
            <a:solidFill>
              <a:srgbClr val="6E7A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41941" y="2766974"/>
            <a:ext cx="20115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0.4%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 % × dilution % = final product %. Always check against the finished product.</a:t>
            </a:r>
            <a:endParaRPr lang="en-US" sz="1050" dirty="0"/>
          </a:p>
        </p:txBody>
      </p:sp>
      <p:sp>
        <p:nvSpPr>
          <p:cNvPr id="13" name="bld1_2583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4" name="bld1_2584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 X, Category 4 (fine fragrance)</a:t>
            </a:r>
            <a:endParaRPr lang="en-US" sz="1650" dirty="0"/>
          </a:p>
        </p:txBody>
      </p:sp>
      <p:sp>
        <p:nvSpPr>
          <p:cNvPr id="15" name="bld1_2585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Suppose its IFRA limit in Category 4 is 0.5% of the finished product.</a:t>
            </a:r>
            <a:endParaRPr lang="en-US" sz="1250" dirty="0"/>
          </a:p>
        </p:txBody>
      </p:sp>
      <p:sp>
        <p:nvSpPr>
          <p:cNvPr id="16" name="bld2_2586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7" name="bld2_2587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Used at 2% of the concentrate</a:t>
            </a:r>
            <a:endParaRPr lang="en-US" sz="1650" dirty="0"/>
          </a:p>
        </p:txBody>
      </p:sp>
      <p:sp>
        <p:nvSpPr>
          <p:cNvPr id="18" name="bld2_2588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formula sheet lists Material X at 2% of the perfume concentrate.</a:t>
            </a:r>
            <a:endParaRPr lang="en-US" sz="1250" dirty="0"/>
          </a:p>
        </p:txBody>
      </p:sp>
      <p:sp>
        <p:nvSpPr>
          <p:cNvPr id="19" name="bld3_2589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0" name="bld3_2590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concentrate is diluted to 20%</a:t>
            </a:r>
            <a:endParaRPr lang="en-US" sz="1650" dirty="0"/>
          </a:p>
        </p:txBody>
      </p:sp>
      <p:sp>
        <p:nvSpPr>
          <p:cNvPr id="21" name="bld3_2591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finished spray, Material X becomes 2% × 20% = 0.4% of the total product.</a:t>
            </a:r>
            <a:endParaRPr lang="en-US" sz="1250" dirty="0"/>
          </a:p>
        </p:txBody>
      </p:sp>
      <p:sp>
        <p:nvSpPr>
          <p:cNvPr id="22" name="bld4_2592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3" name="bld4_2593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0.4% is under the 0.5% limit — compliant</a:t>
            </a:r>
            <a:endParaRPr lang="en-US" sz="1650" dirty="0"/>
          </a:p>
        </p:txBody>
      </p:sp>
      <p:sp>
        <p:nvSpPr>
          <p:cNvPr id="24" name="bld4_2594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calculate the material's share of the finished product, not just the concentrate.</a:t>
            </a:r>
            <a:endParaRPr lang="en-US" sz="1250" dirty="0"/>
          </a:p>
        </p:txBody>
      </p:sp>
      <p:sp>
        <p:nvSpPr>
          <p:cNvPr id="26" name="trans_fade_17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YOUR MATERIALS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an SDS actually tells you</a:t>
            </a:r>
            <a:endParaRPr lang="en-US" sz="3200" dirty="0"/>
          </a:p>
        </p:txBody>
      </p:sp>
      <p:sp>
        <p:nvSpPr>
          <p:cNvPr id="7" name="bld1_2595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9" name="Shape 7"/>
          <p:cNvSpPr/>
          <p:nvPr/>
        </p:nvSpPr>
        <p:spPr>
          <a:xfrm>
            <a:off x="2069866" y="1978030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131756" y="209928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2106733" y="2180112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2106733" y="2260945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2131756" y="2341778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5" name="bld1_2597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Identification &amp; hazards</a:t>
            </a:r>
            <a:endParaRPr lang="en-US" sz="1450" dirty="0"/>
          </a:p>
        </p:txBody>
      </p:sp>
      <p:sp>
        <p:nvSpPr>
          <p:cNvPr id="16" name="bld1_2598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material is and its key risk classifications.</a:t>
            </a:r>
            <a:endParaRPr lang="en-US" sz="1080" dirty="0"/>
          </a:p>
        </p:txBody>
      </p:sp>
      <p:sp>
        <p:nvSpPr>
          <p:cNvPr id="17" name="bld2_2599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9" name="Shape 17"/>
          <p:cNvSpPr/>
          <p:nvPr/>
        </p:nvSpPr>
        <p:spPr>
          <a:xfrm flipV="1">
            <a:off x="6095848" y="2167179"/>
            <a:ext cx="120037" cy="53350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5885" y="2167179"/>
            <a:ext cx="120037" cy="6668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6215885" y="2233866"/>
            <a:ext cx="120037" cy="106700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15823" y="2340566"/>
            <a:ext cx="200062" cy="914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6015823" y="2220529"/>
            <a:ext cx="80025" cy="12003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9136" y="2153842"/>
            <a:ext cx="146712" cy="6668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74508" y="2199189"/>
            <a:ext cx="42680" cy="42680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0546" y="2151841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20583" y="2218528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00546" y="2325228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00485" y="2325228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3798" y="2138504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32" name="bld2_2601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Composition</a:t>
            </a:r>
            <a:endParaRPr lang="en-US" sz="1450" dirty="0"/>
          </a:p>
        </p:txBody>
      </p:sp>
      <p:sp>
        <p:nvSpPr>
          <p:cNvPr id="33" name="bld2_2602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it's made of, including any listed impurities.</a:t>
            </a:r>
            <a:endParaRPr lang="en-US" sz="1080" dirty="0"/>
          </a:p>
        </p:txBody>
      </p:sp>
      <p:sp>
        <p:nvSpPr>
          <p:cNvPr id="34" name="bld3_2603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6" name="Shape 34"/>
          <p:cNvSpPr/>
          <p:nvPr/>
        </p:nvSpPr>
        <p:spPr>
          <a:xfrm>
            <a:off x="9854343" y="2021680"/>
            <a:ext cx="49974" cy="39770"/>
          </a:xfrm>
          <a:prstGeom prst="roundRect">
            <a:avLst>
              <a:gd name="adj" fmla="val 91969"/>
            </a:avLst>
          </a:prstGeom>
          <a:solidFill>
            <a:srgbClr val="0E0D0B"/>
          </a:solidFill>
          <a:ln/>
        </p:spPr>
      </p:sp>
      <p:sp>
        <p:nvSpPr>
          <p:cNvPr id="37" name="Shape 35"/>
          <p:cNvSpPr/>
          <p:nvPr/>
        </p:nvSpPr>
        <p:spPr>
          <a:xfrm>
            <a:off x="9857602" y="2061450"/>
            <a:ext cx="43456" cy="63632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801730" y="2125081"/>
            <a:ext cx="155199" cy="294297"/>
          </a:xfrm>
          <a:prstGeom prst="roundRect">
            <a:avLst>
              <a:gd name="adj" fmla="val 70701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838306" y="2257515"/>
            <a:ext cx="82047" cy="125287"/>
          </a:xfrm>
          <a:prstGeom prst="roundRect">
            <a:avLst>
              <a:gd name="adj" fmla="val 11144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41" name="bld3_2605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Handling &amp; storage</a:t>
            </a:r>
            <a:endParaRPr lang="en-US" sz="1450" dirty="0"/>
          </a:p>
        </p:txBody>
      </p:sp>
      <p:sp>
        <p:nvSpPr>
          <p:cNvPr id="42" name="bld3_2606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store and work with it safely.</a:t>
            </a:r>
            <a:endParaRPr lang="en-US" sz="1080" dirty="0"/>
          </a:p>
        </p:txBody>
      </p:sp>
      <p:sp>
        <p:nvSpPr>
          <p:cNvPr id="43" name="bld4_2607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45" name="Shape 43"/>
          <p:cNvSpPr/>
          <p:nvPr/>
        </p:nvSpPr>
        <p:spPr>
          <a:xfrm>
            <a:off x="2142616" y="4409932"/>
            <a:ext cx="339498" cy="339498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47" name="bld4_2609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aid &amp; fire measures</a:t>
            </a:r>
            <a:endParaRPr lang="en-US" sz="1450" dirty="0"/>
          </a:p>
        </p:txBody>
      </p:sp>
      <p:sp>
        <p:nvSpPr>
          <p:cNvPr id="48" name="bld4_2610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in an exposure or fire incident.</a:t>
            </a:r>
            <a:endParaRPr lang="en-US" sz="1080" dirty="0"/>
          </a:p>
        </p:txBody>
      </p:sp>
      <p:sp>
        <p:nvSpPr>
          <p:cNvPr id="49" name="bld5_2611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51" name="Shape 49"/>
          <p:cNvSpPr/>
          <p:nvPr/>
        </p:nvSpPr>
        <p:spPr>
          <a:xfrm>
            <a:off x="5853349" y="4337182"/>
            <a:ext cx="484998" cy="484998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5906698" y="4577256"/>
            <a:ext cx="378298" cy="7275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5906698" y="4516631"/>
            <a:ext cx="378298" cy="7275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5906698" y="4448732"/>
            <a:ext cx="378298" cy="7275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56" name="bld5_2613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Physical &amp; chemical properties</a:t>
            </a:r>
            <a:endParaRPr lang="en-US" sz="1450" dirty="0"/>
          </a:p>
        </p:txBody>
      </p:sp>
      <p:sp>
        <p:nvSpPr>
          <p:cNvPr id="57" name="bld5_2614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Flashpoint, solubility, appearance and more.</a:t>
            </a:r>
            <a:endParaRPr lang="en-US" sz="1080" dirty="0"/>
          </a:p>
        </p:txBody>
      </p:sp>
      <p:sp>
        <p:nvSpPr>
          <p:cNvPr id="58" name="bld6_2615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60" name="Shape 58"/>
          <p:cNvSpPr/>
          <p:nvPr/>
        </p:nvSpPr>
        <p:spPr>
          <a:xfrm>
            <a:off x="9636831" y="4337182"/>
            <a:ext cx="484998" cy="484998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698721" y="4458432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9673698" y="453926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9673698" y="4620097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9698721" y="470093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3B382F"/>
            </a:solidFill>
            <a:prstDash val="solid"/>
          </a:ln>
        </p:spPr>
      </p:sp>
      <p:sp>
        <p:nvSpPr>
          <p:cNvPr id="66" name="bld6_2617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Regulatory information</a:t>
            </a:r>
            <a:endParaRPr lang="en-US" sz="1450" dirty="0"/>
          </a:p>
        </p:txBody>
      </p:sp>
      <p:sp>
        <p:nvSpPr>
          <p:cNvPr id="67" name="bld6_2618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material is classified under law.</a:t>
            </a:r>
            <a:endParaRPr lang="en-US" sz="1080" dirty="0"/>
          </a:p>
        </p:txBody>
      </p:sp>
      <p:sp>
        <p:nvSpPr>
          <p:cNvPr id="69" name="trans_fade_17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0" name="Text 6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5" grpId="0"/>
      <p:bldP spid="16" grpId="0"/>
      <p:bldP spid="17" grpId="0"/>
      <p:bldP spid="32" grpId="0"/>
      <p:bldP spid="33" grpId="0"/>
      <p:bldP spid="34" grpId="0"/>
      <p:bldP spid="41" grpId="0"/>
      <p:bldP spid="42" grpId="0"/>
      <p:bldP spid="43" grpId="0"/>
      <p:bldP spid="47" grpId="0"/>
      <p:bldP spid="48" grpId="0"/>
      <p:bldP spid="49" grpId="0"/>
      <p:bldP spid="56" grpId="0"/>
      <p:bldP spid="57" grpId="0"/>
      <p:bldP spid="58" grpId="0"/>
      <p:bldP spid="66" grpId="0"/>
      <p:bldP spid="67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RIGHT TO KNOW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Allergen declarations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B5652D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B5652D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17219" y="2038814"/>
            <a:ext cx="460976" cy="968051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4320000">
            <a:off x="9740728" y="2346511"/>
            <a:ext cx="460976" cy="968051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8640000">
            <a:off x="9578962" y="2844375"/>
            <a:ext cx="460976" cy="968051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2960000">
            <a:off x="9055477" y="2844375"/>
            <a:ext cx="460976" cy="968051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7280000">
            <a:off x="8893711" y="2346511"/>
            <a:ext cx="460976" cy="968051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326439" y="2746874"/>
            <a:ext cx="442537" cy="442537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a beautiful rose absolute may carry declarable allergens.</a:t>
            </a:r>
            <a:endParaRPr lang="en-US" sz="1050" dirty="0"/>
          </a:p>
        </p:txBody>
      </p:sp>
      <p:sp>
        <p:nvSpPr>
          <p:cNvPr id="17" name="bld1_2619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8" name="bld1_2620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Certain materials must be declared</a:t>
            </a:r>
            <a:endParaRPr lang="en-US" sz="1650" dirty="0"/>
          </a:p>
        </p:txBody>
      </p:sp>
      <p:sp>
        <p:nvSpPr>
          <p:cNvPr id="19" name="bld1_2621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defined list of fragrance allergens must be listed on packaging above a set concentration threshold.</a:t>
            </a:r>
            <a:endParaRPr lang="en-US" sz="1250" dirty="0"/>
          </a:p>
        </p:txBody>
      </p:sp>
      <p:sp>
        <p:nvSpPr>
          <p:cNvPr id="20" name="bld2_2622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bld2_2623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applies even to natural materials</a:t>
            </a:r>
            <a:endParaRPr lang="en-US" sz="1650" dirty="0"/>
          </a:p>
        </p:txBody>
      </p:sp>
      <p:sp>
        <p:nvSpPr>
          <p:cNvPr id="22" name="bld2_2624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essential oils contain declarable allergens naturally — linalool and limonene among the most common.</a:t>
            </a:r>
            <a:endParaRPr lang="en-US" sz="1250" dirty="0"/>
          </a:p>
        </p:txBody>
      </p:sp>
      <p:sp>
        <p:nvSpPr>
          <p:cNvPr id="23" name="bld3_2625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4" name="bld3_2626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every material's allergen content</a:t>
            </a:r>
            <a:endParaRPr lang="en-US" sz="1650" dirty="0"/>
          </a:p>
        </p:txBody>
      </p:sp>
      <p:sp>
        <p:nvSpPr>
          <p:cNvPr id="25" name="bld3_2627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supplier's documentation should state the relevant allergen composition of each raw material.</a:t>
            </a:r>
            <a:endParaRPr lang="en-US" sz="1250" dirty="0"/>
          </a:p>
        </p:txBody>
      </p:sp>
      <p:sp>
        <p:nvSpPr>
          <p:cNvPr id="27" name="trans_fade_17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LABELLING HAZARDS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CLP — how hazards get communicated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01941" y="4967705"/>
            <a:ext cx="1331827" cy="1331827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8100000">
            <a:off x="10463437" y="5329201"/>
            <a:ext cx="608835" cy="608835"/>
          </a:xfrm>
          <a:prstGeom prst="teardrop">
            <a:avLst/>
          </a:prstGeom>
          <a:solidFill>
            <a:srgbClr val="8C3B49">
              <a:alpha val="92000"/>
            </a:srgbClr>
          </a:solidFill>
          <a:ln/>
        </p:spPr>
      </p:sp>
      <p:sp>
        <p:nvSpPr>
          <p:cNvPr id="10" name="bld1_2628"/>
          <p:cNvSpPr/>
          <p:nvPr/>
        </p:nvSpPr>
        <p:spPr>
          <a:xfrm>
            <a:off x="548640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12" name="Shape 10"/>
          <p:cNvSpPr/>
          <p:nvPr/>
        </p:nvSpPr>
        <p:spPr>
          <a:xfrm>
            <a:off x="1355964" y="255446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14" name="bld1_2630"/>
          <p:cNvSpPr txBox="1"/>
          <p:nvPr/>
        </p:nvSpPr>
        <p:spPr>
          <a:xfrm>
            <a:off x="731520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Hazard classifications</a:t>
            </a:r>
            <a:endParaRPr lang="en-US" sz="1450" dirty="0"/>
          </a:p>
        </p:txBody>
      </p:sp>
      <p:sp>
        <p:nvSpPr>
          <p:cNvPr id="15" name="bld1_2631"/>
          <p:cNvSpPr txBox="1"/>
          <p:nvPr/>
        </p:nvSpPr>
        <p:spPr>
          <a:xfrm>
            <a:off x="731520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formal category a product falls into.</a:t>
            </a:r>
            <a:endParaRPr lang="en-US" sz="1080" dirty="0"/>
          </a:p>
        </p:txBody>
      </p:sp>
      <p:sp>
        <p:nvSpPr>
          <p:cNvPr id="16" name="bld2_2632"/>
          <p:cNvSpPr/>
          <p:nvPr/>
        </p:nvSpPr>
        <p:spPr>
          <a:xfrm>
            <a:off x="281872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18" name="Shape 16"/>
          <p:cNvSpPr/>
          <p:nvPr/>
        </p:nvSpPr>
        <p:spPr>
          <a:xfrm>
            <a:off x="3626053" y="255446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ln w="25603">
            <a:solidFill>
              <a:srgbClr val="6B2A1A"/>
            </a:solidFill>
            <a:prstDash val="solid"/>
          </a:ln>
        </p:spPr>
      </p:sp>
      <p:sp>
        <p:nvSpPr>
          <p:cNvPr id="20" name="bld2_2634"/>
          <p:cNvSpPr txBox="1"/>
          <p:nvPr/>
        </p:nvSpPr>
        <p:spPr>
          <a:xfrm>
            <a:off x="300160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Pictograms</a:t>
            </a:r>
            <a:endParaRPr lang="en-US" sz="1450" dirty="0"/>
          </a:p>
        </p:txBody>
      </p:sp>
      <p:sp>
        <p:nvSpPr>
          <p:cNvPr id="21" name="bld2_2635"/>
          <p:cNvSpPr txBox="1"/>
          <p:nvPr/>
        </p:nvSpPr>
        <p:spPr>
          <a:xfrm>
            <a:off x="300160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symbols shown on packaging.</a:t>
            </a:r>
            <a:endParaRPr lang="en-US" sz="1080" dirty="0"/>
          </a:p>
        </p:txBody>
      </p:sp>
      <p:sp>
        <p:nvSpPr>
          <p:cNvPr id="22" name="bld3_2636"/>
          <p:cNvSpPr/>
          <p:nvPr/>
        </p:nvSpPr>
        <p:spPr>
          <a:xfrm>
            <a:off x="508881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24" name="Shape 22"/>
          <p:cNvSpPr/>
          <p:nvPr/>
        </p:nvSpPr>
        <p:spPr>
          <a:xfrm>
            <a:off x="5896143" y="255446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ln w="25603">
            <a:solidFill>
              <a:srgbClr val="3B382F"/>
            </a:solidFill>
            <a:prstDash val="solid"/>
          </a:ln>
        </p:spPr>
      </p:sp>
      <p:sp>
        <p:nvSpPr>
          <p:cNvPr id="26" name="bld3_2638"/>
          <p:cNvSpPr txBox="1"/>
          <p:nvPr/>
        </p:nvSpPr>
        <p:spPr>
          <a:xfrm>
            <a:off x="527169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Signal words</a:t>
            </a:r>
            <a:endParaRPr lang="en-US" sz="1450" dirty="0"/>
          </a:p>
        </p:txBody>
      </p:sp>
      <p:sp>
        <p:nvSpPr>
          <p:cNvPr id="27" name="bld3_2639"/>
          <p:cNvSpPr txBox="1"/>
          <p:nvPr/>
        </p:nvSpPr>
        <p:spPr>
          <a:xfrm>
            <a:off x="527169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"Warning" or "Danger," indicating severity.</a:t>
            </a:r>
            <a:endParaRPr lang="en-US" sz="1080" dirty="0"/>
          </a:p>
        </p:txBody>
      </p:sp>
      <p:sp>
        <p:nvSpPr>
          <p:cNvPr id="28" name="bld4_2640"/>
          <p:cNvSpPr/>
          <p:nvPr/>
        </p:nvSpPr>
        <p:spPr>
          <a:xfrm>
            <a:off x="735890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0" name="Shape 28"/>
          <p:cNvSpPr/>
          <p:nvPr/>
        </p:nvSpPr>
        <p:spPr>
          <a:xfrm>
            <a:off x="8080644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153456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8124017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8124017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8153456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36" name="bld4_2642"/>
          <p:cNvSpPr txBox="1"/>
          <p:nvPr/>
        </p:nvSpPr>
        <p:spPr>
          <a:xfrm>
            <a:off x="754178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Hazard statements</a:t>
            </a:r>
            <a:endParaRPr lang="en-US" sz="1450" dirty="0"/>
          </a:p>
        </p:txBody>
      </p:sp>
      <p:sp>
        <p:nvSpPr>
          <p:cNvPr id="37" name="bld4_2643"/>
          <p:cNvSpPr txBox="1"/>
          <p:nvPr/>
        </p:nvSpPr>
        <p:spPr>
          <a:xfrm>
            <a:off x="754178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phrases describing the specific risk.</a:t>
            </a:r>
            <a:endParaRPr lang="en-US" sz="1080" dirty="0"/>
          </a:p>
        </p:txBody>
      </p:sp>
      <p:sp>
        <p:nvSpPr>
          <p:cNvPr id="38" name="bld5_2644"/>
          <p:cNvSpPr/>
          <p:nvPr/>
        </p:nvSpPr>
        <p:spPr>
          <a:xfrm>
            <a:off x="962899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40" name="Shape 38"/>
          <p:cNvSpPr/>
          <p:nvPr/>
        </p:nvSpPr>
        <p:spPr>
          <a:xfrm>
            <a:off x="10373557" y="2577291"/>
            <a:ext cx="524939" cy="353763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42" name="bld5_2646"/>
          <p:cNvSpPr txBox="1"/>
          <p:nvPr/>
        </p:nvSpPr>
        <p:spPr>
          <a:xfrm>
            <a:off x="981187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Precautionary statements</a:t>
            </a:r>
            <a:endParaRPr lang="en-US" sz="1450" dirty="0"/>
          </a:p>
        </p:txBody>
      </p:sp>
      <p:sp>
        <p:nvSpPr>
          <p:cNvPr id="43" name="bld5_2647"/>
          <p:cNvSpPr txBox="1"/>
          <p:nvPr/>
        </p:nvSpPr>
        <p:spPr>
          <a:xfrm>
            <a:off x="981187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user should do to stay safe.</a:t>
            </a:r>
            <a:endParaRPr lang="en-US" sz="1080" dirty="0"/>
          </a:p>
        </p:txBody>
      </p:sp>
      <p:sp>
        <p:nvSpPr>
          <p:cNvPr id="45" name="trans_fade_17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6" name="Text 4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4" grpId="0"/>
      <p:bldP spid="15" grpId="0"/>
      <p:bldP spid="16" grpId="0"/>
      <p:bldP spid="20" grpId="0"/>
      <p:bldP spid="21" grpId="0"/>
      <p:bldP spid="22" grpId="0"/>
      <p:bldP spid="26" grpId="0"/>
      <p:bldP spid="27" grpId="0"/>
      <p:bldP spid="28" grpId="0"/>
      <p:bldP spid="36" grpId="0"/>
      <p:bldP spid="37" grpId="0"/>
      <p:bldP spid="38" grpId="0"/>
      <p:bldP spid="42" grpId="0"/>
      <p:bldP spid="43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USEFUL TOOL, NOT AN AUTHORITY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Good Scents Company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0E0D0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i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"If a material is listed on The Good Scents Company, it's approved and safe to use as I like."</a:t>
            </a:r>
            <a:endParaRPr lang="en-US" sz="2100" dirty="0"/>
          </a:p>
        </p:txBody>
      </p:sp>
      <p:sp>
        <p:nvSpPr>
          <p:cNvPr id="10" name="bld1_2648"/>
          <p:cNvSpPr/>
          <p:nvPr/>
        </p:nvSpPr>
        <p:spPr>
          <a:xfrm>
            <a:off x="6278728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EFE6D2"/>
          </a:solidFill>
          <a:ln/>
        </p:spPr>
      </p:sp>
      <p:sp>
        <p:nvSpPr>
          <p:cNvPr id="11" name="bld1_2649"/>
          <p:cNvSpPr txBox="1"/>
          <p:nvPr/>
        </p:nvSpPr>
        <p:spPr>
          <a:xfrm>
            <a:off x="6598768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300" dirty="0"/>
          </a:p>
        </p:txBody>
      </p:sp>
      <p:sp>
        <p:nvSpPr>
          <p:cNvPr id="12" name="bld1_2650"/>
          <p:cNvSpPr txBox="1"/>
          <p:nvPr/>
        </p:nvSpPr>
        <p:spPr>
          <a:xfrm>
            <a:off x="6598768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Scents is a fantastic research and reference tool for material properties — but it is not a regulatory authority. Always confirm safety and legal usage limits through your supplier's documentation, IFRA, the SDS, and official regulatory databases.</a:t>
            </a:r>
            <a:endParaRPr lang="en-US" sz="1450" dirty="0"/>
          </a:p>
        </p:txBody>
      </p:sp>
      <p:sp>
        <p:nvSpPr>
          <p:cNvPr id="14" name="trans_wipe_l_17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5" name="Text 1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165</a:t>
            </a:r>
            <a:endParaRPr lang="en-US" sz="1000" dirty="0"/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1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ACTUALLY LOOK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Reliable sources for compliance information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9993" y="5005757"/>
            <a:ext cx="1255723" cy="1255723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227894" y="5093658"/>
            <a:ext cx="1079922" cy="107992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0" name="Shape 8"/>
          <p:cNvSpPr/>
          <p:nvPr/>
        </p:nvSpPr>
        <p:spPr>
          <a:xfrm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216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432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648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864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296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512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728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19440000">
            <a:off x="10736461" y="5131329"/>
            <a:ext cx="62786" cy="489732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705068" y="5570832"/>
            <a:ext cx="125572" cy="125572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21" name="bld1_2651"/>
          <p:cNvSpPr/>
          <p:nvPr/>
        </p:nvSpPr>
        <p:spPr>
          <a:xfrm>
            <a:off x="548640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3" name="Shape 21"/>
          <p:cNvSpPr/>
          <p:nvPr/>
        </p:nvSpPr>
        <p:spPr>
          <a:xfrm>
            <a:off x="1270376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343188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1313749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1313749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1343188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9" name="bld1_2653"/>
          <p:cNvSpPr txBox="1"/>
          <p:nvPr/>
        </p:nvSpPr>
        <p:spPr>
          <a:xfrm>
            <a:off x="731520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Supplier documentation</a:t>
            </a:r>
            <a:endParaRPr lang="en-US" sz="1450" dirty="0"/>
          </a:p>
        </p:txBody>
      </p:sp>
      <p:sp>
        <p:nvSpPr>
          <p:cNvPr id="30" name="bld1_2654"/>
          <p:cNvSpPr txBox="1"/>
          <p:nvPr/>
        </p:nvSpPr>
        <p:spPr>
          <a:xfrm>
            <a:off x="731520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stop for every material.</a:t>
            </a:r>
            <a:endParaRPr lang="en-US" sz="1080" dirty="0"/>
          </a:p>
        </p:txBody>
      </p:sp>
      <p:sp>
        <p:nvSpPr>
          <p:cNvPr id="31" name="bld2_2655"/>
          <p:cNvSpPr/>
          <p:nvPr/>
        </p:nvSpPr>
        <p:spPr>
          <a:xfrm>
            <a:off x="281872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3" name="Shape 31"/>
          <p:cNvSpPr/>
          <p:nvPr/>
        </p:nvSpPr>
        <p:spPr>
          <a:xfrm>
            <a:off x="3540465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613277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3583838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3583838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3613277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ln w="25603">
            <a:solidFill>
              <a:srgbClr val="3A281C"/>
            </a:solidFill>
            <a:prstDash val="solid"/>
          </a:ln>
        </p:spPr>
      </p:sp>
      <p:sp>
        <p:nvSpPr>
          <p:cNvPr id="39" name="bld2_2657"/>
          <p:cNvSpPr txBox="1"/>
          <p:nvPr/>
        </p:nvSpPr>
        <p:spPr>
          <a:xfrm>
            <a:off x="300160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IFRA</a:t>
            </a:r>
            <a:endParaRPr lang="en-US" sz="1450" dirty="0"/>
          </a:p>
        </p:txBody>
      </p:sp>
      <p:sp>
        <p:nvSpPr>
          <p:cNvPr id="40" name="bld2_2658"/>
          <p:cNvSpPr txBox="1"/>
          <p:nvPr/>
        </p:nvSpPr>
        <p:spPr>
          <a:xfrm>
            <a:off x="300160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industry safety standard.</a:t>
            </a:r>
            <a:endParaRPr lang="en-US" sz="1080" dirty="0"/>
          </a:p>
        </p:txBody>
      </p:sp>
      <p:sp>
        <p:nvSpPr>
          <p:cNvPr id="41" name="bld3_2659"/>
          <p:cNvSpPr/>
          <p:nvPr/>
        </p:nvSpPr>
        <p:spPr>
          <a:xfrm>
            <a:off x="508881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43" name="Shape 41"/>
          <p:cNvSpPr/>
          <p:nvPr/>
        </p:nvSpPr>
        <p:spPr>
          <a:xfrm>
            <a:off x="5810555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883367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5853927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5853927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5883367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49" name="bld3_2661"/>
          <p:cNvSpPr txBox="1"/>
          <p:nvPr/>
        </p:nvSpPr>
        <p:spPr>
          <a:xfrm>
            <a:off x="527169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SDS</a:t>
            </a:r>
            <a:endParaRPr lang="en-US" sz="1450" dirty="0"/>
          </a:p>
        </p:txBody>
      </p:sp>
      <p:sp>
        <p:nvSpPr>
          <p:cNvPr id="50" name="bld3_2662"/>
          <p:cNvSpPr txBox="1"/>
          <p:nvPr/>
        </p:nvSpPr>
        <p:spPr>
          <a:xfrm>
            <a:off x="527169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Material-specific safety data.</a:t>
            </a:r>
            <a:endParaRPr lang="en-US" sz="1080" dirty="0"/>
          </a:p>
        </p:txBody>
      </p:sp>
      <p:sp>
        <p:nvSpPr>
          <p:cNvPr id="51" name="bld4_2663"/>
          <p:cNvSpPr/>
          <p:nvPr/>
        </p:nvSpPr>
        <p:spPr>
          <a:xfrm>
            <a:off x="735890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53" name="Shape 51"/>
          <p:cNvSpPr/>
          <p:nvPr/>
        </p:nvSpPr>
        <p:spPr>
          <a:xfrm>
            <a:off x="8080644" y="2468880"/>
            <a:ext cx="570586" cy="570586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153456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>
            <a:off x="8124017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8124017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8153456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59" name="bld4_2665"/>
          <p:cNvSpPr txBox="1"/>
          <p:nvPr/>
        </p:nvSpPr>
        <p:spPr>
          <a:xfrm>
            <a:off x="754178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Regulatory databases</a:t>
            </a:r>
            <a:endParaRPr lang="en-US" sz="1450" dirty="0"/>
          </a:p>
        </p:txBody>
      </p:sp>
      <p:sp>
        <p:nvSpPr>
          <p:cNvPr id="60" name="bld4_2666"/>
          <p:cNvSpPr txBox="1"/>
          <p:nvPr/>
        </p:nvSpPr>
        <p:spPr>
          <a:xfrm>
            <a:off x="754178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government sources.</a:t>
            </a:r>
            <a:endParaRPr lang="en-US" sz="1080" dirty="0"/>
          </a:p>
        </p:txBody>
      </p:sp>
      <p:sp>
        <p:nvSpPr>
          <p:cNvPr id="61" name="bld5_2667"/>
          <p:cNvSpPr/>
          <p:nvPr/>
        </p:nvSpPr>
        <p:spPr>
          <a:xfrm>
            <a:off x="962899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63" name="Shape 61"/>
          <p:cNvSpPr/>
          <p:nvPr/>
        </p:nvSpPr>
        <p:spPr>
          <a:xfrm>
            <a:off x="10350734" y="2468880"/>
            <a:ext cx="570586" cy="570586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10423546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10394106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10394106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10423546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69" name="bld5_2669"/>
          <p:cNvSpPr txBox="1"/>
          <p:nvPr/>
        </p:nvSpPr>
        <p:spPr>
          <a:xfrm>
            <a:off x="981187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Professional assessors</a:t>
            </a:r>
            <a:endParaRPr lang="en-US" sz="1450" dirty="0"/>
          </a:p>
        </p:txBody>
      </p:sp>
      <p:sp>
        <p:nvSpPr>
          <p:cNvPr id="70" name="bld5_2670"/>
          <p:cNvSpPr txBox="1"/>
          <p:nvPr/>
        </p:nvSpPr>
        <p:spPr>
          <a:xfrm>
            <a:off x="981187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required by your market.</a:t>
            </a:r>
            <a:endParaRPr lang="en-US" sz="1080" dirty="0"/>
          </a:p>
        </p:txBody>
      </p:sp>
      <p:sp>
        <p:nvSpPr>
          <p:cNvPr id="72" name="trans_fade_17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3" name="Text 7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21" grpId="0"/>
      <p:bldP spid="29" grpId="0"/>
      <p:bldP spid="30" grpId="0"/>
      <p:bldP spid="31" grpId="0"/>
      <p:bldP spid="39" grpId="0"/>
      <p:bldP spid="40" grpId="0"/>
      <p:bldP spid="41" grpId="0"/>
      <p:bldP spid="49" grpId="0"/>
      <p:bldP spid="50" grpId="0"/>
      <p:bldP spid="51" grpId="0"/>
      <p:bldP spid="59" grpId="0"/>
      <p:bldP spid="60" grpId="0"/>
      <p:bldP spid="61" grpId="0"/>
      <p:bldP spid="69" grpId="0"/>
      <p:bldP spid="70" grpId="0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COMPLIANCE PATH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formula to sellable label</a:t>
            </a:r>
            <a:endParaRPr lang="en-US" sz="3200" dirty="0"/>
          </a:p>
        </p:txBody>
      </p:sp>
      <p:sp>
        <p:nvSpPr>
          <p:cNvPr id="7" name="bld1_2671"/>
          <p:cNvSpPr txBox="1"/>
          <p:nvPr/>
        </p:nvSpPr>
        <p:spPr>
          <a:xfrm>
            <a:off x="2064990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7314" y="2973354"/>
            <a:ext cx="1642811" cy="164281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188720" y="3653807"/>
            <a:ext cx="317145" cy="140953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05865" y="3653807"/>
            <a:ext cx="317145" cy="176191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505865" y="3829998"/>
            <a:ext cx="317145" cy="281906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7290" y="4111905"/>
            <a:ext cx="528574" cy="914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977290" y="3794760"/>
            <a:ext cx="211430" cy="317145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1099" y="3618569"/>
            <a:ext cx="387621" cy="176191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32339" y="3738379"/>
            <a:ext cx="112763" cy="112763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65341" y="3613283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782485" y="3789474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65341" y="4071381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6766" y="4071381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60575" y="3578044"/>
            <a:ext cx="81048" cy="81048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7314" y="2973354"/>
            <a:ext cx="1642811" cy="164281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2" name="bld1_2673"/>
          <p:cNvSpPr txBox="1"/>
          <p:nvPr/>
        </p:nvSpPr>
        <p:spPr>
          <a:xfrm>
            <a:off x="253014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</a:t>
            </a:r>
            <a:endParaRPr lang="en-US" sz="1400" dirty="0"/>
          </a:p>
        </p:txBody>
      </p:sp>
      <p:sp>
        <p:nvSpPr>
          <p:cNvPr id="23" name="bld1_2674"/>
          <p:cNvSpPr txBox="1"/>
          <p:nvPr/>
        </p:nvSpPr>
        <p:spPr>
          <a:xfrm>
            <a:off x="253014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Finalised composition</a:t>
            </a:r>
            <a:endParaRPr lang="en-US" sz="1050" dirty="0"/>
          </a:p>
        </p:txBody>
      </p:sp>
      <p:sp>
        <p:nvSpPr>
          <p:cNvPr id="24" name="bld2_2675"/>
          <p:cNvSpPr txBox="1"/>
          <p:nvPr/>
        </p:nvSpPr>
        <p:spPr>
          <a:xfrm>
            <a:off x="4027841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2330166" y="2973354"/>
            <a:ext cx="1642811" cy="1642811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6" name="Shape 24"/>
          <p:cNvSpPr/>
          <p:nvPr/>
        </p:nvSpPr>
        <p:spPr>
          <a:xfrm>
            <a:off x="2510875" y="3154064"/>
            <a:ext cx="1281393" cy="1281393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674392" y="3474412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2608279" y="3687977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2608279" y="3901543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2674392" y="4115108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2330166" y="2973354"/>
            <a:ext cx="1642811" cy="1642811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32" name="bld2_2677"/>
          <p:cNvSpPr txBox="1"/>
          <p:nvPr/>
        </p:nvSpPr>
        <p:spPr>
          <a:xfrm>
            <a:off x="2215866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IFRA check</a:t>
            </a:r>
            <a:endParaRPr lang="en-US" sz="1400" dirty="0"/>
          </a:p>
        </p:txBody>
      </p:sp>
      <p:sp>
        <p:nvSpPr>
          <p:cNvPr id="33" name="bld2_2678"/>
          <p:cNvSpPr txBox="1"/>
          <p:nvPr/>
        </p:nvSpPr>
        <p:spPr>
          <a:xfrm>
            <a:off x="2215866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limits met</a:t>
            </a:r>
            <a:endParaRPr lang="en-US" sz="1050" dirty="0"/>
          </a:p>
        </p:txBody>
      </p:sp>
      <p:sp>
        <p:nvSpPr>
          <p:cNvPr id="34" name="bld3_2679"/>
          <p:cNvSpPr txBox="1"/>
          <p:nvPr/>
        </p:nvSpPr>
        <p:spPr>
          <a:xfrm>
            <a:off x="5990692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4293017" y="2973354"/>
            <a:ext cx="1642811" cy="1642811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6" name="Shape 34"/>
          <p:cNvSpPr/>
          <p:nvPr/>
        </p:nvSpPr>
        <p:spPr>
          <a:xfrm>
            <a:off x="4473726" y="3154064"/>
            <a:ext cx="1281393" cy="1281393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637243" y="3474412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571130" y="3687977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571130" y="3901543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637243" y="4115108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293017" y="2973354"/>
            <a:ext cx="1642811" cy="1642811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42" name="bld3_2681"/>
          <p:cNvSpPr txBox="1"/>
          <p:nvPr/>
        </p:nvSpPr>
        <p:spPr>
          <a:xfrm>
            <a:off x="4178717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data</a:t>
            </a:r>
            <a:endParaRPr lang="en-US" sz="1400" dirty="0"/>
          </a:p>
        </p:txBody>
      </p:sp>
      <p:sp>
        <p:nvSpPr>
          <p:cNvPr id="43" name="bld3_2682"/>
          <p:cNvSpPr txBox="1"/>
          <p:nvPr/>
        </p:nvSpPr>
        <p:spPr>
          <a:xfrm>
            <a:off x="4178717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each SDS</a:t>
            </a:r>
            <a:endParaRPr lang="en-US" sz="1050" dirty="0"/>
          </a:p>
        </p:txBody>
      </p:sp>
      <p:sp>
        <p:nvSpPr>
          <p:cNvPr id="44" name="bld4_2683"/>
          <p:cNvSpPr txBox="1"/>
          <p:nvPr/>
        </p:nvSpPr>
        <p:spPr>
          <a:xfrm>
            <a:off x="7953543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5" name="Shape 43"/>
          <p:cNvSpPr/>
          <p:nvPr/>
        </p:nvSpPr>
        <p:spPr>
          <a:xfrm>
            <a:off x="6255868" y="2973354"/>
            <a:ext cx="1642811" cy="1642811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46" name="Shape 44"/>
          <p:cNvSpPr/>
          <p:nvPr/>
        </p:nvSpPr>
        <p:spPr>
          <a:xfrm>
            <a:off x="6981169" y="3370363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 rot="2700000">
            <a:off x="7118168" y="3427110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 rot="5400000">
            <a:off x="7174915" y="3564109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 rot="8100000">
            <a:off x="7118168" y="3701109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 rot="10800000">
            <a:off x="6981169" y="3757856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 rot="13500000">
            <a:off x="6844169" y="3701109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 rot="16200000">
            <a:off x="6787422" y="3564109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 rot="18900000">
            <a:off x="6844169" y="3427110"/>
            <a:ext cx="192209" cy="461301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974762" y="3692249"/>
            <a:ext cx="205023" cy="205023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55" name="Shape 53"/>
          <p:cNvSpPr/>
          <p:nvPr/>
        </p:nvSpPr>
        <p:spPr>
          <a:xfrm>
            <a:off x="6255868" y="2973354"/>
            <a:ext cx="1642811" cy="1642811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56" name="bld4_2685"/>
          <p:cNvSpPr txBox="1"/>
          <p:nvPr/>
        </p:nvSpPr>
        <p:spPr>
          <a:xfrm>
            <a:off x="6141568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Allergen info</a:t>
            </a:r>
            <a:endParaRPr lang="en-US" sz="1400" dirty="0"/>
          </a:p>
        </p:txBody>
      </p:sp>
      <p:sp>
        <p:nvSpPr>
          <p:cNvPr id="57" name="bld4_2686"/>
          <p:cNvSpPr txBox="1"/>
          <p:nvPr/>
        </p:nvSpPr>
        <p:spPr>
          <a:xfrm>
            <a:off x="6141568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as required</a:t>
            </a:r>
            <a:endParaRPr lang="en-US" sz="1050" dirty="0"/>
          </a:p>
        </p:txBody>
      </p:sp>
      <p:sp>
        <p:nvSpPr>
          <p:cNvPr id="58" name="bld5_2687"/>
          <p:cNvSpPr txBox="1"/>
          <p:nvPr/>
        </p:nvSpPr>
        <p:spPr>
          <a:xfrm>
            <a:off x="9916394" y="3538728"/>
            <a:ext cx="210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59" name="Shape 57"/>
          <p:cNvSpPr/>
          <p:nvPr/>
        </p:nvSpPr>
        <p:spPr>
          <a:xfrm>
            <a:off x="8218719" y="2973354"/>
            <a:ext cx="1642811" cy="1642811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60" name="Shape 58"/>
          <p:cNvSpPr/>
          <p:nvPr/>
        </p:nvSpPr>
        <p:spPr>
          <a:xfrm>
            <a:off x="8399428" y="3154064"/>
            <a:ext cx="1281393" cy="1281393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562945" y="3474412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8496832" y="3687977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8496832" y="3901543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8562945" y="4115108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8218719" y="2973354"/>
            <a:ext cx="1642811" cy="1642811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66" name="bld5_2689"/>
          <p:cNvSpPr txBox="1"/>
          <p:nvPr/>
        </p:nvSpPr>
        <p:spPr>
          <a:xfrm>
            <a:off x="8104419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assessment</a:t>
            </a:r>
            <a:endParaRPr lang="en-US" sz="1400" dirty="0"/>
          </a:p>
        </p:txBody>
      </p:sp>
      <p:sp>
        <p:nvSpPr>
          <p:cNvPr id="67" name="bld5_2690"/>
          <p:cNvSpPr txBox="1"/>
          <p:nvPr/>
        </p:nvSpPr>
        <p:spPr>
          <a:xfrm>
            <a:off x="8104419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your market's rules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10181570" y="2973354"/>
            <a:ext cx="1642811" cy="1642811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69" name="Shape 67"/>
          <p:cNvSpPr/>
          <p:nvPr/>
        </p:nvSpPr>
        <p:spPr>
          <a:xfrm>
            <a:off x="10362279" y="3154064"/>
            <a:ext cx="1281393" cy="1281393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10525796" y="3474412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>
            <a:off x="10459683" y="3687977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0459683" y="3901543"/>
            <a:ext cx="108658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10525796" y="4115108"/>
            <a:ext cx="95435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0181570" y="2973354"/>
            <a:ext cx="1642811" cy="1642811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75" name="bld6_2692"/>
          <p:cNvSpPr txBox="1"/>
          <p:nvPr/>
        </p:nvSpPr>
        <p:spPr>
          <a:xfrm>
            <a:off x="10067270" y="4780758"/>
            <a:ext cx="18714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</a:t>
            </a:r>
            <a:endParaRPr lang="en-US" sz="1400" dirty="0"/>
          </a:p>
        </p:txBody>
      </p:sp>
      <p:sp>
        <p:nvSpPr>
          <p:cNvPr id="76" name="bld6_2693"/>
          <p:cNvSpPr txBox="1"/>
          <p:nvPr/>
        </p:nvSpPr>
        <p:spPr>
          <a:xfrm>
            <a:off x="10067270" y="5128230"/>
            <a:ext cx="18714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Print, compliant &amp; ready</a:t>
            </a:r>
            <a:endParaRPr lang="en-US" sz="1050" dirty="0"/>
          </a:p>
        </p:txBody>
      </p:sp>
      <p:sp>
        <p:nvSpPr>
          <p:cNvPr id="78" name="trans_push_l_18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9" name="Text 7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49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22" grpId="0"/>
      <p:bldP spid="23" grpId="0"/>
      <p:bldP spid="24" grpId="0"/>
      <p:bldP spid="32" grpId="0"/>
      <p:bldP spid="33" grpId="0"/>
      <p:bldP spid="34" grpId="0"/>
      <p:bldP spid="42" grpId="0"/>
      <p:bldP spid="43" grpId="0"/>
      <p:bldP spid="44" grpId="0"/>
      <p:bldP spid="56" grpId="0"/>
      <p:bldP spid="57" grpId="0"/>
      <p:bldP spid="58" grpId="0"/>
      <p:bldP spid="66" grpId="0"/>
      <p:bldP spid="67" grpId="0"/>
      <p:bldP spid="75" grpId="0"/>
      <p:bldP spid="76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C9A354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C9A354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C9A35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isn't optional paperwork —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the difference between a hobby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a business you can legally sell.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11</a:t>
            </a:r>
            <a:endParaRPr lang="en-US" sz="1100" dirty="0"/>
          </a:p>
        </p:txBody>
      </p:sp>
      <p:sp>
        <p:nvSpPr>
          <p:cNvPr id="10" name="trans_fade_18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-9052560"/>
            <a:ext cx="13716000" cy="1371600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34295" y="-6446520"/>
            <a:ext cx="8503920" cy="8503920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87059" y="1967789"/>
            <a:ext cx="359802" cy="292242"/>
          </a:xfrm>
          <a:prstGeom prst="roundRect">
            <a:avLst>
              <a:gd name="adj" fmla="val 12516"/>
            </a:avLst>
          </a:prstGeom>
          <a:solidFill>
            <a:srgbClr val="0E0D0B"/>
          </a:solidFill>
          <a:ln/>
        </p:spPr>
      </p:sp>
      <p:sp>
        <p:nvSpPr>
          <p:cNvPr id="6" name="Shape 4"/>
          <p:cNvSpPr/>
          <p:nvPr/>
        </p:nvSpPr>
        <p:spPr>
          <a:xfrm>
            <a:off x="9810524" y="2260031"/>
            <a:ext cx="312871" cy="467588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08262" y="2727619"/>
            <a:ext cx="1117397" cy="2162593"/>
          </a:xfrm>
          <a:prstGeom prst="roundRect">
            <a:avLst>
              <a:gd name="adj" fmla="val 9820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44838" y="3592656"/>
            <a:ext cx="1044245" cy="1260980"/>
          </a:xfrm>
          <a:prstGeom prst="roundRect">
            <a:avLst>
              <a:gd name="adj" fmla="val 8757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12 · STARTING A BRAND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 + KRISTAN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1417320"/>
            <a:ext cx="8503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Formula</a:t>
            </a:r>
            <a:endParaRPr lang="en-US" sz="6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Brand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you've learned, now aimed at building something the world can actually buy.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71500" y="4604004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" y="44988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Bottles, labels and packaging that actually work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1500" y="5024628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49194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your lane and telling a real story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71500" y="5445252"/>
            <a:ext cx="82296" cy="8229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534009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fragrance brands actually sell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 + KRISTAN</a:t>
            </a:r>
            <a:endParaRPr lang="en-US" sz="1250" dirty="0"/>
          </a:p>
        </p:txBody>
      </p:sp>
      <p:sp>
        <p:nvSpPr>
          <p:cNvPr id="22" name="trans_fade_182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</p:spTree>
  </p:cSld>
  <p:clrMapOvr>
    <a:masterClrMapping/>
  </p:clrMapOvr>
  <p:transition spd="med">
    <p:fade/>
  </p:transition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fragrance comes first</a:t>
            </a:r>
            <a:endParaRPr lang="en-US" sz="3200" dirty="0"/>
          </a:p>
        </p:txBody>
      </p:sp>
      <p:sp>
        <p:nvSpPr>
          <p:cNvPr id="7" name="bld1_2694"/>
          <p:cNvSpPr/>
          <p:nvPr/>
        </p:nvSpPr>
        <p:spPr>
          <a:xfrm>
            <a:off x="548640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9" name="Shape 7"/>
          <p:cNvSpPr/>
          <p:nvPr/>
        </p:nvSpPr>
        <p:spPr>
          <a:xfrm>
            <a:off x="2142616" y="2050780"/>
            <a:ext cx="339498" cy="339498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001469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11" name="bld1_2696"/>
          <p:cNvSpPr txBox="1"/>
          <p:nvPr/>
        </p:nvSpPr>
        <p:spPr>
          <a:xfrm>
            <a:off x="731520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</a:t>
            </a:r>
            <a:endParaRPr lang="en-US" sz="1450" dirty="0"/>
          </a:p>
        </p:txBody>
      </p:sp>
      <p:sp>
        <p:nvSpPr>
          <p:cNvPr id="12" name="bld1_2697"/>
          <p:cNvSpPr txBox="1"/>
          <p:nvPr/>
        </p:nvSpPr>
        <p:spPr>
          <a:xfrm>
            <a:off x="731520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 the fragrance is built around.</a:t>
            </a:r>
            <a:endParaRPr lang="en-US" sz="1080" dirty="0"/>
          </a:p>
        </p:txBody>
      </p:sp>
      <p:sp>
        <p:nvSpPr>
          <p:cNvPr id="13" name="bld2_2698"/>
          <p:cNvSpPr/>
          <p:nvPr/>
        </p:nvSpPr>
        <p:spPr>
          <a:xfrm>
            <a:off x="4332122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15" name="Shape 13"/>
          <p:cNvSpPr/>
          <p:nvPr/>
        </p:nvSpPr>
        <p:spPr>
          <a:xfrm flipV="1">
            <a:off x="6095848" y="2167179"/>
            <a:ext cx="120037" cy="53350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5885" y="2167179"/>
            <a:ext cx="120037" cy="6668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6215885" y="2233866"/>
            <a:ext cx="120037" cy="106700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15823" y="2340566"/>
            <a:ext cx="200062" cy="914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015823" y="2220529"/>
            <a:ext cx="80025" cy="12003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9136" y="2153842"/>
            <a:ext cx="146712" cy="6668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74508" y="2199189"/>
            <a:ext cx="42680" cy="42680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00546" y="2151841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20583" y="2218528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00546" y="2325228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0485" y="2325228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33798" y="2138504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84952" y="1909633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28" name="bld2_2700"/>
          <p:cNvSpPr txBox="1"/>
          <p:nvPr/>
        </p:nvSpPr>
        <p:spPr>
          <a:xfrm>
            <a:off x="4515002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</a:t>
            </a:r>
            <a:endParaRPr lang="en-US" sz="1450" dirty="0"/>
          </a:p>
        </p:txBody>
      </p:sp>
      <p:sp>
        <p:nvSpPr>
          <p:cNvPr id="29" name="bld2_2701"/>
          <p:cNvSpPr txBox="1"/>
          <p:nvPr/>
        </p:nvSpPr>
        <p:spPr>
          <a:xfrm>
            <a:off x="4515002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composition itself, fully developed.</a:t>
            </a:r>
            <a:endParaRPr lang="en-US" sz="1080" dirty="0"/>
          </a:p>
        </p:txBody>
      </p:sp>
      <p:sp>
        <p:nvSpPr>
          <p:cNvPr id="30" name="bld3_2702"/>
          <p:cNvSpPr/>
          <p:nvPr/>
        </p:nvSpPr>
        <p:spPr>
          <a:xfrm>
            <a:off x="8115605" y="1781617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32" name="Shape 30"/>
          <p:cNvSpPr/>
          <p:nvPr/>
        </p:nvSpPr>
        <p:spPr>
          <a:xfrm>
            <a:off x="9862355" y="2055630"/>
            <a:ext cx="36278" cy="329798"/>
          </a:xfrm>
          <a:prstGeom prst="roundRect">
            <a:avLst>
              <a:gd name="adj" fmla="val 50411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876071" y="2279893"/>
            <a:ext cx="8846" cy="87248"/>
          </a:xfrm>
          <a:prstGeom prst="roundRect">
            <a:avLst>
              <a:gd name="adj" fmla="val 155053"/>
            </a:avLst>
          </a:prstGeom>
          <a:solidFill>
            <a:srgbClr val="5C4230">
              <a:alpha val="7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9568434" y="1909633"/>
            <a:ext cx="621792" cy="621792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35" name="bld3_2704"/>
          <p:cNvSpPr txBox="1"/>
          <p:nvPr/>
        </p:nvSpPr>
        <p:spPr>
          <a:xfrm>
            <a:off x="8298485" y="2622865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</a:t>
            </a:r>
            <a:endParaRPr lang="en-US" sz="1450" dirty="0"/>
          </a:p>
        </p:txBody>
      </p:sp>
      <p:sp>
        <p:nvSpPr>
          <p:cNvPr id="36" name="bld3_2705"/>
          <p:cNvSpPr txBox="1"/>
          <p:nvPr/>
        </p:nvSpPr>
        <p:spPr>
          <a:xfrm>
            <a:off x="8298485" y="3080065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wear testing, not just strips.</a:t>
            </a:r>
            <a:endParaRPr lang="en-US" sz="1080" dirty="0"/>
          </a:p>
        </p:txBody>
      </p:sp>
      <p:sp>
        <p:nvSpPr>
          <p:cNvPr id="37" name="bld4_2706"/>
          <p:cNvSpPr/>
          <p:nvPr/>
        </p:nvSpPr>
        <p:spPr>
          <a:xfrm>
            <a:off x="548640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39" name="Shape 37"/>
          <p:cNvSpPr/>
          <p:nvPr/>
        </p:nvSpPr>
        <p:spPr>
          <a:xfrm>
            <a:off x="2069866" y="4337182"/>
            <a:ext cx="484998" cy="484998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2123216" y="4577256"/>
            <a:ext cx="378298" cy="7275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2123216" y="4516631"/>
            <a:ext cx="378298" cy="7275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2123216" y="4448732"/>
            <a:ext cx="378298" cy="7275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2001469" y="4268785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44" name="bld4_2708"/>
          <p:cNvSpPr txBox="1"/>
          <p:nvPr/>
        </p:nvSpPr>
        <p:spPr>
          <a:xfrm>
            <a:off x="731520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Stability</a:t>
            </a:r>
            <a:endParaRPr lang="en-US" sz="1450" dirty="0"/>
          </a:p>
        </p:txBody>
      </p:sp>
      <p:sp>
        <p:nvSpPr>
          <p:cNvPr id="45" name="bld4_2709"/>
          <p:cNvSpPr txBox="1"/>
          <p:nvPr/>
        </p:nvSpPr>
        <p:spPr>
          <a:xfrm>
            <a:off x="731520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clarity and consistency over time.</a:t>
            </a:r>
            <a:endParaRPr lang="en-US" sz="1080" dirty="0"/>
          </a:p>
        </p:txBody>
      </p:sp>
      <p:sp>
        <p:nvSpPr>
          <p:cNvPr id="46" name="bld5_2710"/>
          <p:cNvSpPr/>
          <p:nvPr/>
        </p:nvSpPr>
        <p:spPr>
          <a:xfrm>
            <a:off x="4332122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48" name="Shape 46"/>
          <p:cNvSpPr/>
          <p:nvPr/>
        </p:nvSpPr>
        <p:spPr>
          <a:xfrm>
            <a:off x="5853349" y="4337182"/>
            <a:ext cx="484998" cy="484998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915239" y="4458432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5890215" y="4539264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5890215" y="4620097"/>
            <a:ext cx="411264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5915239" y="4700930"/>
            <a:ext cx="361218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5784952" y="4268785"/>
            <a:ext cx="621792" cy="621792"/>
          </a:xfrm>
          <a:prstGeom prst="ellipse">
            <a:avLst/>
          </a:prstGeom>
          <a:ln w="25603">
            <a:solidFill>
              <a:srgbClr val="3A281C"/>
            </a:solidFill>
            <a:prstDash val="solid"/>
          </a:ln>
        </p:spPr>
      </p:sp>
      <p:sp>
        <p:nvSpPr>
          <p:cNvPr id="54" name="bld5_2712"/>
          <p:cNvSpPr txBox="1"/>
          <p:nvPr/>
        </p:nvSpPr>
        <p:spPr>
          <a:xfrm>
            <a:off x="4515002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450" dirty="0"/>
          </a:p>
        </p:txBody>
      </p:sp>
      <p:sp>
        <p:nvSpPr>
          <p:cNvPr id="55" name="bld5_2713"/>
          <p:cNvSpPr txBox="1"/>
          <p:nvPr/>
        </p:nvSpPr>
        <p:spPr>
          <a:xfrm>
            <a:off x="4515002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IFRA, SDS, allergens — all checked.</a:t>
            </a:r>
            <a:endParaRPr lang="en-US" sz="1080" dirty="0"/>
          </a:p>
        </p:txBody>
      </p:sp>
      <p:sp>
        <p:nvSpPr>
          <p:cNvPr id="56" name="bld6_2714"/>
          <p:cNvSpPr/>
          <p:nvPr/>
        </p:nvSpPr>
        <p:spPr>
          <a:xfrm>
            <a:off x="8115605" y="4140769"/>
            <a:ext cx="352745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58" name="Shape 56"/>
          <p:cNvSpPr/>
          <p:nvPr/>
        </p:nvSpPr>
        <p:spPr>
          <a:xfrm>
            <a:off x="9854343" y="4380832"/>
            <a:ext cx="49974" cy="39770"/>
          </a:xfrm>
          <a:prstGeom prst="roundRect">
            <a:avLst>
              <a:gd name="adj" fmla="val 91969"/>
            </a:avLst>
          </a:prstGeom>
          <a:solidFill>
            <a:srgbClr val="0E0D0B"/>
          </a:solidFill>
          <a:ln/>
        </p:spPr>
      </p:sp>
      <p:sp>
        <p:nvSpPr>
          <p:cNvPr id="59" name="Shape 57"/>
          <p:cNvSpPr/>
          <p:nvPr/>
        </p:nvSpPr>
        <p:spPr>
          <a:xfrm>
            <a:off x="9857602" y="4420602"/>
            <a:ext cx="43456" cy="63632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801730" y="4484233"/>
            <a:ext cx="155199" cy="294297"/>
          </a:xfrm>
          <a:prstGeom prst="roundRect">
            <a:avLst>
              <a:gd name="adj" fmla="val 70701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838306" y="4616667"/>
            <a:ext cx="82047" cy="125287"/>
          </a:xfrm>
          <a:prstGeom prst="roundRect">
            <a:avLst>
              <a:gd name="adj" fmla="val 11144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568434" y="4268785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63" name="bld6_2716"/>
          <p:cNvSpPr txBox="1"/>
          <p:nvPr/>
        </p:nvSpPr>
        <p:spPr>
          <a:xfrm>
            <a:off x="8298485" y="4982017"/>
            <a:ext cx="3161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</a:t>
            </a:r>
            <a:endParaRPr lang="en-US" sz="1450" dirty="0"/>
          </a:p>
        </p:txBody>
      </p:sp>
      <p:sp>
        <p:nvSpPr>
          <p:cNvPr id="64" name="bld6_2717"/>
          <p:cNvSpPr txBox="1"/>
          <p:nvPr/>
        </p:nvSpPr>
        <p:spPr>
          <a:xfrm>
            <a:off x="8298485" y="5439217"/>
            <a:ext cx="316169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compound and bottle at scale.</a:t>
            </a:r>
            <a:endParaRPr lang="en-US" sz="1080" dirty="0"/>
          </a:p>
        </p:txBody>
      </p:sp>
      <p:sp>
        <p:nvSpPr>
          <p:cNvPr id="66" name="trans_fade_183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67" name="Text 6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51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1" grpId="0"/>
      <p:bldP spid="12" grpId="0"/>
      <p:bldP spid="13" grpId="0"/>
      <p:bldP spid="28" grpId="0"/>
      <p:bldP spid="29" grpId="0"/>
      <p:bldP spid="30" grpId="0"/>
      <p:bldP spid="35" grpId="0"/>
      <p:bldP spid="36" grpId="0"/>
      <p:bldP spid="37" grpId="0"/>
      <p:bldP spid="44" grpId="0"/>
      <p:bldP spid="45" grpId="0"/>
      <p:bldP spid="46" grpId="0"/>
      <p:bldP spid="54" grpId="0"/>
      <p:bldP spid="55" grpId="0"/>
      <p:bldP spid="56" grpId="0"/>
      <p:bldP spid="63" grpId="0"/>
      <p:bldP spid="64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8C3B49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8C3B49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VESSEL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your bottle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8C3B49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8C3B49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39057" y="1689921"/>
            <a:ext cx="3017301" cy="3017301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1" name="Shape 9"/>
          <p:cNvSpPr/>
          <p:nvPr/>
        </p:nvSpPr>
        <p:spPr>
          <a:xfrm>
            <a:off x="9426456" y="2233638"/>
            <a:ext cx="242504" cy="192987"/>
          </a:xfrm>
          <a:prstGeom prst="roundRect">
            <a:avLst>
              <a:gd name="adj" fmla="val 18953"/>
            </a:avLst>
          </a:prstGeom>
          <a:solidFill>
            <a:srgbClr val="0E0D0B"/>
          </a:solidFill>
          <a:ln/>
        </p:spPr>
      </p:sp>
      <p:sp>
        <p:nvSpPr>
          <p:cNvPr id="12" name="Shape 10"/>
          <p:cNvSpPr/>
          <p:nvPr/>
        </p:nvSpPr>
        <p:spPr>
          <a:xfrm>
            <a:off x="9442271" y="2426625"/>
            <a:ext cx="210873" cy="308778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71148" y="2735403"/>
            <a:ext cx="753118" cy="1428100"/>
          </a:xfrm>
          <a:prstGeom prst="roundRect">
            <a:avLst>
              <a:gd name="adj" fmla="val 14570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07724" y="3378049"/>
            <a:ext cx="679966" cy="748879"/>
          </a:xfrm>
          <a:prstGeom prst="roundRect">
            <a:avLst>
              <a:gd name="adj" fmla="val 13448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039057" y="1689921"/>
            <a:ext cx="3017301" cy="3017301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 is the first thing a customer touches — it earns real design attention.</a:t>
            </a:r>
            <a:endParaRPr lang="en-US" sz="1050" dirty="0"/>
          </a:p>
        </p:txBody>
      </p:sp>
      <p:sp>
        <p:nvSpPr>
          <p:cNvPr id="17" name="bld1_2718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8" name="bld1_2719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 vs. custom bottles</a:t>
            </a:r>
            <a:endParaRPr lang="en-US" sz="1650" dirty="0"/>
          </a:p>
        </p:txBody>
      </p:sp>
      <p:sp>
        <p:nvSpPr>
          <p:cNvPr id="19" name="bld1_2720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bottles are fast and cheap to start; custom moulds are expensive but build real brand identity.</a:t>
            </a:r>
            <a:endParaRPr lang="en-US" sz="1250" dirty="0"/>
          </a:p>
        </p:txBody>
      </p:sp>
      <p:sp>
        <p:nvSpPr>
          <p:cNvPr id="20" name="bld2_2721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1" name="bld2_2722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Minimum order quantities</a:t>
            </a:r>
            <a:endParaRPr lang="en-US" sz="1650" dirty="0"/>
          </a:p>
        </p:txBody>
      </p:sp>
      <p:sp>
        <p:nvSpPr>
          <p:cNvPr id="22" name="bld2_2723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glass often requires large MOQs — budget and plan inventory accordingly.</a:t>
            </a:r>
            <a:endParaRPr lang="en-US" sz="1250" dirty="0"/>
          </a:p>
        </p:txBody>
      </p:sp>
      <p:sp>
        <p:nvSpPr>
          <p:cNvPr id="23" name="bld3_2724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4" name="bld3_2725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Pumps, collars &amp; caps</a:t>
            </a:r>
            <a:endParaRPr lang="en-US" sz="1650" dirty="0"/>
          </a:p>
        </p:txBody>
      </p:sp>
      <p:sp>
        <p:nvSpPr>
          <p:cNvPr id="25" name="bld3_2726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small components define the feel of a bottle as much as the glass itself.</a:t>
            </a:r>
            <a:endParaRPr lang="en-US" sz="1250" dirty="0"/>
          </a:p>
        </p:txBody>
      </p:sp>
      <p:sp>
        <p:nvSpPr>
          <p:cNvPr id="27" name="trans_fade_184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ON THE BOTTLE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Labels — more technical than they look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20967" y="4986731"/>
            <a:ext cx="1293775" cy="1293775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72724" y="5538488"/>
            <a:ext cx="190261" cy="190261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2727"/>
          <p:cNvSpPr/>
          <p:nvPr/>
        </p:nvSpPr>
        <p:spPr>
          <a:xfrm>
            <a:off x="548640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12" name="Shape 10"/>
          <p:cNvSpPr/>
          <p:nvPr/>
        </p:nvSpPr>
        <p:spPr>
          <a:xfrm>
            <a:off x="1270376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343188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313749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313749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1343188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189909" y="2388413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18" name="bld1_2729"/>
          <p:cNvSpPr txBox="1"/>
          <p:nvPr/>
        </p:nvSpPr>
        <p:spPr>
          <a:xfrm>
            <a:off x="731520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</a:t>
            </a:r>
            <a:endParaRPr lang="en-US" sz="1450" dirty="0"/>
          </a:p>
        </p:txBody>
      </p:sp>
      <p:sp>
        <p:nvSpPr>
          <p:cNvPr id="19" name="bld1_2730"/>
          <p:cNvSpPr txBox="1"/>
          <p:nvPr/>
        </p:nvSpPr>
        <p:spPr>
          <a:xfrm>
            <a:off x="731520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Paper, vinyl or foil — each behaves differently.</a:t>
            </a:r>
            <a:endParaRPr lang="en-US" sz="1080" dirty="0"/>
          </a:p>
        </p:txBody>
      </p:sp>
      <p:sp>
        <p:nvSpPr>
          <p:cNvPr id="20" name="bld2_2731"/>
          <p:cNvSpPr/>
          <p:nvPr/>
        </p:nvSpPr>
        <p:spPr>
          <a:xfrm>
            <a:off x="281872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22" name="Shape 20"/>
          <p:cNvSpPr/>
          <p:nvPr/>
        </p:nvSpPr>
        <p:spPr>
          <a:xfrm>
            <a:off x="3626053" y="2554468"/>
            <a:ext cx="399410" cy="399410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459998" y="2388413"/>
            <a:ext cx="731520" cy="731520"/>
          </a:xfrm>
          <a:prstGeom prst="ellipse">
            <a:avLst/>
          </a:prstGeom>
          <a:ln w="25603">
            <a:solidFill>
              <a:srgbClr val="A6402A"/>
            </a:solidFill>
            <a:prstDash val="solid"/>
          </a:ln>
        </p:spPr>
      </p:sp>
      <p:sp>
        <p:nvSpPr>
          <p:cNvPr id="24" name="bld2_2733"/>
          <p:cNvSpPr txBox="1"/>
          <p:nvPr/>
        </p:nvSpPr>
        <p:spPr>
          <a:xfrm>
            <a:off x="300160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Printing</a:t>
            </a:r>
            <a:endParaRPr lang="en-US" sz="1450" dirty="0"/>
          </a:p>
        </p:txBody>
      </p:sp>
      <p:sp>
        <p:nvSpPr>
          <p:cNvPr id="25" name="bld2_2734"/>
          <p:cNvSpPr txBox="1"/>
          <p:nvPr/>
        </p:nvSpPr>
        <p:spPr>
          <a:xfrm>
            <a:off x="300160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vs. letterpress vs. foil stamping.</a:t>
            </a:r>
            <a:endParaRPr lang="en-US" sz="1080" dirty="0"/>
          </a:p>
        </p:txBody>
      </p:sp>
      <p:sp>
        <p:nvSpPr>
          <p:cNvPr id="26" name="bld3_2735"/>
          <p:cNvSpPr/>
          <p:nvPr/>
        </p:nvSpPr>
        <p:spPr>
          <a:xfrm>
            <a:off x="5088819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28" name="Shape 26"/>
          <p:cNvSpPr/>
          <p:nvPr/>
        </p:nvSpPr>
        <p:spPr>
          <a:xfrm>
            <a:off x="6066451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29" name="Shape 27"/>
          <p:cNvSpPr/>
          <p:nvPr/>
        </p:nvSpPr>
        <p:spPr>
          <a:xfrm>
            <a:off x="6070285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04554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41130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730088" y="238841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3" name="bld3_2737"/>
          <p:cNvSpPr txBox="1"/>
          <p:nvPr/>
        </p:nvSpPr>
        <p:spPr>
          <a:xfrm>
            <a:off x="5271699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Adhesion</a:t>
            </a:r>
            <a:endParaRPr lang="en-US" sz="1450" dirty="0"/>
          </a:p>
        </p:txBody>
      </p:sp>
      <p:sp>
        <p:nvSpPr>
          <p:cNvPr id="34" name="bld3_2738"/>
          <p:cNvSpPr txBox="1"/>
          <p:nvPr/>
        </p:nvSpPr>
        <p:spPr>
          <a:xfrm>
            <a:off x="5271699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bond securely to glass long-term.</a:t>
            </a:r>
            <a:endParaRPr lang="en-US" sz="1080" dirty="0"/>
          </a:p>
        </p:txBody>
      </p:sp>
      <p:sp>
        <p:nvSpPr>
          <p:cNvPr id="35" name="bld4_2739"/>
          <p:cNvSpPr/>
          <p:nvPr/>
        </p:nvSpPr>
        <p:spPr>
          <a:xfrm>
            <a:off x="735890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37" name="Shape 35"/>
          <p:cNvSpPr/>
          <p:nvPr/>
        </p:nvSpPr>
        <p:spPr>
          <a:xfrm>
            <a:off x="8080644" y="2468880"/>
            <a:ext cx="570586" cy="570586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8143409" y="2751320"/>
            <a:ext cx="445057" cy="85588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8143409" y="2679997"/>
            <a:ext cx="445057" cy="85588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143409" y="2600115"/>
            <a:ext cx="445057" cy="85588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8000177" y="2388413"/>
            <a:ext cx="731520" cy="731520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42" name="bld4_2741"/>
          <p:cNvSpPr txBox="1"/>
          <p:nvPr/>
        </p:nvSpPr>
        <p:spPr>
          <a:xfrm>
            <a:off x="754178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Oil / alcohol resistance</a:t>
            </a:r>
            <a:endParaRPr lang="en-US" sz="1450" dirty="0"/>
          </a:p>
        </p:txBody>
      </p:sp>
      <p:sp>
        <p:nvSpPr>
          <p:cNvPr id="43" name="bld4_2742"/>
          <p:cNvSpPr txBox="1"/>
          <p:nvPr/>
        </p:nvSpPr>
        <p:spPr>
          <a:xfrm>
            <a:off x="754178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survive spills without smearing or lifting.</a:t>
            </a:r>
            <a:endParaRPr lang="en-US" sz="1080" dirty="0"/>
          </a:p>
        </p:txBody>
      </p:sp>
      <p:sp>
        <p:nvSpPr>
          <p:cNvPr id="44" name="bld5_2743"/>
          <p:cNvSpPr/>
          <p:nvPr/>
        </p:nvSpPr>
        <p:spPr>
          <a:xfrm>
            <a:off x="9628998" y="2260397"/>
            <a:ext cx="2014057" cy="2286000"/>
          </a:xfrm>
          <a:prstGeom prst="roundRect">
            <a:avLst>
              <a:gd name="adj" fmla="val 454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46" name="Shape 44"/>
          <p:cNvSpPr/>
          <p:nvPr/>
        </p:nvSpPr>
        <p:spPr>
          <a:xfrm>
            <a:off x="10350734" y="2468880"/>
            <a:ext cx="570586" cy="570586"/>
          </a:xfrm>
          <a:prstGeom prst="ellipse">
            <a:avLst/>
          </a:prstGeom>
          <a:solidFill>
            <a:srgbClr val="8A6339">
              <a:alpha val="96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0423546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0394106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0394106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10423546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10270266" y="2388413"/>
            <a:ext cx="731520" cy="731520"/>
          </a:xfrm>
          <a:prstGeom prst="ellipse">
            <a:avLst/>
          </a:prstGeom>
          <a:ln w="25603">
            <a:solidFill>
              <a:srgbClr val="5C4326"/>
            </a:solidFill>
            <a:prstDash val="solid"/>
          </a:ln>
        </p:spPr>
      </p:sp>
      <p:sp>
        <p:nvSpPr>
          <p:cNvPr id="52" name="bld5_2745"/>
          <p:cNvSpPr txBox="1"/>
          <p:nvPr/>
        </p:nvSpPr>
        <p:spPr>
          <a:xfrm>
            <a:off x="9811878" y="3211373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Regulatory info</a:t>
            </a:r>
            <a:endParaRPr lang="en-US" sz="1450" dirty="0"/>
          </a:p>
        </p:txBody>
      </p:sp>
      <p:sp>
        <p:nvSpPr>
          <p:cNvPr id="53" name="bld5_2746"/>
          <p:cNvSpPr txBox="1"/>
          <p:nvPr/>
        </p:nvSpPr>
        <p:spPr>
          <a:xfrm>
            <a:off x="9811878" y="3522269"/>
            <a:ext cx="164829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Ingredients, allergens, volume, batch code.</a:t>
            </a:r>
            <a:endParaRPr lang="en-US" sz="1080" dirty="0"/>
          </a:p>
        </p:txBody>
      </p:sp>
      <p:sp>
        <p:nvSpPr>
          <p:cNvPr id="55" name="trans_fade_185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56" name="Text 5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3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8" grpId="0"/>
      <p:bldP spid="19" grpId="0"/>
      <p:bldP spid="20" grpId="0"/>
      <p:bldP spid="24" grpId="0"/>
      <p:bldP spid="25" grpId="0"/>
      <p:bldP spid="26" grpId="0"/>
      <p:bldP spid="33" grpId="0"/>
      <p:bldP spid="34" grpId="0"/>
      <p:bldP spid="35" grpId="0"/>
      <p:bldP spid="42" grpId="0"/>
      <p:bldP spid="43" grpId="0"/>
      <p:bldP spid="44" grpId="0"/>
      <p:bldP spid="52" grpId="0"/>
      <p:bldP spid="53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PRESENTATION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Packaging tells the story too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9816549" y="4682313"/>
            <a:ext cx="1902610" cy="1902610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20967" y="4986731"/>
            <a:ext cx="1293775" cy="1293775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72724" y="5538488"/>
            <a:ext cx="190261" cy="190261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bld1_2747"/>
          <p:cNvSpPr/>
          <p:nvPr/>
        </p:nvSpPr>
        <p:spPr>
          <a:xfrm>
            <a:off x="548640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12" name="Shape 10"/>
          <p:cNvSpPr/>
          <p:nvPr/>
        </p:nvSpPr>
        <p:spPr>
          <a:xfrm>
            <a:off x="1810033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13" name="Shape 11"/>
          <p:cNvSpPr/>
          <p:nvPr/>
        </p:nvSpPr>
        <p:spPr>
          <a:xfrm>
            <a:off x="1813868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48136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84712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473670" y="2388413"/>
            <a:ext cx="731520" cy="731520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17" name="bld1_2749"/>
          <p:cNvSpPr txBox="1"/>
          <p:nvPr/>
        </p:nvSpPr>
        <p:spPr>
          <a:xfrm>
            <a:off x="731520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Boxes</a:t>
            </a:r>
            <a:endParaRPr lang="en-US" sz="1450" dirty="0"/>
          </a:p>
        </p:txBody>
      </p:sp>
      <p:sp>
        <p:nvSpPr>
          <p:cNvPr id="18" name="bld1_2750"/>
          <p:cNvSpPr txBox="1"/>
          <p:nvPr/>
        </p:nvSpPr>
        <p:spPr>
          <a:xfrm>
            <a:off x="731520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and unboxing experience.</a:t>
            </a:r>
            <a:endParaRPr lang="en-US" sz="1080" dirty="0"/>
          </a:p>
        </p:txBody>
      </p:sp>
      <p:sp>
        <p:nvSpPr>
          <p:cNvPr id="19" name="bld2_2751"/>
          <p:cNvSpPr/>
          <p:nvPr/>
        </p:nvSpPr>
        <p:spPr>
          <a:xfrm>
            <a:off x="3386252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solidFill>
            <a:srgbClr val="EFE2D0"/>
          </a:solidFill>
          <a:ln/>
        </p:spPr>
      </p:sp>
      <p:sp>
        <p:nvSpPr>
          <p:cNvPr id="21" name="Shape 19"/>
          <p:cNvSpPr/>
          <p:nvPr/>
        </p:nvSpPr>
        <p:spPr>
          <a:xfrm>
            <a:off x="4391749" y="2468880"/>
            <a:ext cx="570586" cy="570586"/>
          </a:xfrm>
          <a:prstGeom prst="ellipse">
            <a:avLst/>
          </a:prstGeom>
          <a:solidFill>
            <a:srgbClr val="5C4230">
              <a:alpha val="9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464561" y="2611526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4435122" y="2706624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4435122" y="2801722"/>
            <a:ext cx="483840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464561" y="2896819"/>
            <a:ext cx="424962" cy="914"/>
          </a:xfrm>
          <a:prstGeom prst="line">
            <a:avLst/>
          </a:prstGeom>
          <a:noFill/>
          <a:ln w="12700">
            <a:solidFill>
              <a:srgbClr val="FAF6EC">
                <a:alpha val="55000"/>
              </a:srgbClr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311282" y="2388413"/>
            <a:ext cx="731520" cy="731520"/>
          </a:xfrm>
          <a:prstGeom prst="ellipse">
            <a:avLst/>
          </a:prstGeom>
          <a:ln w="25603">
            <a:solidFill>
              <a:srgbClr val="5C4230"/>
            </a:solidFill>
            <a:prstDash val="solid"/>
          </a:ln>
        </p:spPr>
      </p:sp>
      <p:sp>
        <p:nvSpPr>
          <p:cNvPr id="27" name="bld2_2753"/>
          <p:cNvSpPr txBox="1"/>
          <p:nvPr/>
        </p:nvSpPr>
        <p:spPr>
          <a:xfrm>
            <a:off x="3569132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Labels</a:t>
            </a:r>
            <a:endParaRPr lang="en-US" sz="1450" dirty="0"/>
          </a:p>
        </p:txBody>
      </p:sp>
      <p:sp>
        <p:nvSpPr>
          <p:cNvPr id="28" name="bld2_2754"/>
          <p:cNvSpPr txBox="1"/>
          <p:nvPr/>
        </p:nvSpPr>
        <p:spPr>
          <a:xfrm>
            <a:off x="3569132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and brand identity.</a:t>
            </a:r>
            <a:endParaRPr lang="en-US" sz="1080" dirty="0"/>
          </a:p>
        </p:txBody>
      </p:sp>
      <p:sp>
        <p:nvSpPr>
          <p:cNvPr id="29" name="bld3_2755"/>
          <p:cNvSpPr/>
          <p:nvPr/>
        </p:nvSpPr>
        <p:spPr>
          <a:xfrm>
            <a:off x="6223864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1" name="Shape 29"/>
          <p:cNvSpPr/>
          <p:nvPr/>
        </p:nvSpPr>
        <p:spPr>
          <a:xfrm>
            <a:off x="7485257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32" name="Shape 30"/>
          <p:cNvSpPr/>
          <p:nvPr/>
        </p:nvSpPr>
        <p:spPr>
          <a:xfrm>
            <a:off x="7489091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423360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459936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148894" y="2388413"/>
            <a:ext cx="731520" cy="731520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6" name="bld3_2757"/>
          <p:cNvSpPr txBox="1"/>
          <p:nvPr/>
        </p:nvSpPr>
        <p:spPr>
          <a:xfrm>
            <a:off x="6406744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Bottle presentation</a:t>
            </a:r>
            <a:endParaRPr lang="en-US" sz="1450" dirty="0"/>
          </a:p>
        </p:txBody>
      </p:sp>
      <p:sp>
        <p:nvSpPr>
          <p:cNvPr id="37" name="bld3_2758"/>
          <p:cNvSpPr txBox="1"/>
          <p:nvPr/>
        </p:nvSpPr>
        <p:spPr>
          <a:xfrm>
            <a:off x="6406744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looks and feels in hand.</a:t>
            </a:r>
            <a:endParaRPr lang="en-US" sz="1080" dirty="0"/>
          </a:p>
        </p:txBody>
      </p:sp>
      <p:sp>
        <p:nvSpPr>
          <p:cNvPr id="38" name="bld4_2759"/>
          <p:cNvSpPr/>
          <p:nvPr/>
        </p:nvSpPr>
        <p:spPr>
          <a:xfrm>
            <a:off x="9061475" y="2260397"/>
            <a:ext cx="25815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0" name="Shape 38"/>
          <p:cNvSpPr/>
          <p:nvPr/>
        </p:nvSpPr>
        <p:spPr>
          <a:xfrm>
            <a:off x="10322869" y="2520233"/>
            <a:ext cx="58793" cy="46788"/>
          </a:xfrm>
          <a:prstGeom prst="roundRect">
            <a:avLst>
              <a:gd name="adj" fmla="val 78174"/>
            </a:avLst>
          </a:prstGeom>
          <a:solidFill>
            <a:srgbClr val="0E0D0B"/>
          </a:solidFill>
          <a:ln/>
        </p:spPr>
      </p:sp>
      <p:sp>
        <p:nvSpPr>
          <p:cNvPr id="41" name="Shape 39"/>
          <p:cNvSpPr/>
          <p:nvPr/>
        </p:nvSpPr>
        <p:spPr>
          <a:xfrm>
            <a:off x="10326703" y="2567021"/>
            <a:ext cx="51124" cy="74861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260972" y="2641882"/>
            <a:ext cx="182587" cy="346231"/>
          </a:xfrm>
          <a:prstGeom prst="roundRect">
            <a:avLst>
              <a:gd name="adj" fmla="val 60096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297548" y="2797686"/>
            <a:ext cx="109435" cy="153851"/>
          </a:xfrm>
          <a:prstGeom prst="roundRect">
            <a:avLst>
              <a:gd name="adj" fmla="val 83556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9986505" y="2388413"/>
            <a:ext cx="731520" cy="731520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45" name="bld4_2761"/>
          <p:cNvSpPr txBox="1"/>
          <p:nvPr/>
        </p:nvSpPr>
        <p:spPr>
          <a:xfrm>
            <a:off x="9244355" y="3211373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Samples</a:t>
            </a:r>
            <a:endParaRPr lang="en-US" sz="1450" dirty="0"/>
          </a:p>
        </p:txBody>
      </p:sp>
      <p:sp>
        <p:nvSpPr>
          <p:cNvPr id="46" name="bld4_2762"/>
          <p:cNvSpPr txBox="1"/>
          <p:nvPr/>
        </p:nvSpPr>
        <p:spPr>
          <a:xfrm>
            <a:off x="9244355" y="3522269"/>
            <a:ext cx="22158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Low-cost trial for new customers.</a:t>
            </a:r>
            <a:endParaRPr lang="en-US" sz="1080" dirty="0"/>
          </a:p>
        </p:txBody>
      </p:sp>
      <p:sp>
        <p:nvSpPr>
          <p:cNvPr id="48" name="trans_fade_186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49" name="Text 4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0" grpId="0"/>
      <p:bldP spid="17" grpId="0"/>
      <p:bldP spid="18" grpId="0"/>
      <p:bldP spid="19" grpId="0"/>
      <p:bldP spid="27" grpId="0"/>
      <p:bldP spid="28" grpId="0"/>
      <p:bldP spid="29" grpId="0"/>
      <p:bldP spid="36" grpId="0"/>
      <p:bldP spid="37" grpId="0"/>
      <p:bldP spid="38" grpId="0"/>
      <p:bldP spid="45" grpId="0"/>
      <p:bldP spid="46" grpId="0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B565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B5652D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LOGO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brand is not just a logo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B5652D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B5652D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58127" y="1878562"/>
            <a:ext cx="2179162" cy="2179162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835289" y="2255724"/>
            <a:ext cx="1424836" cy="1424836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logo is one layer. A brand is every layer together.</a:t>
            </a:r>
            <a:endParaRPr lang="en-US" sz="1050" dirty="0"/>
          </a:p>
        </p:txBody>
      </p:sp>
      <p:sp>
        <p:nvSpPr>
          <p:cNvPr id="13" name="bld1_2763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4" name="bld1_2764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Story</a:t>
            </a:r>
            <a:endParaRPr lang="en-US" sz="1650" dirty="0"/>
          </a:p>
        </p:txBody>
      </p:sp>
      <p:sp>
        <p:nvSpPr>
          <p:cNvPr id="15" name="bld1_2765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fragrance, why now, why you.</a:t>
            </a:r>
            <a:endParaRPr lang="en-US" sz="1250" dirty="0"/>
          </a:p>
        </p:txBody>
      </p:sp>
      <p:sp>
        <p:nvSpPr>
          <p:cNvPr id="16" name="bld2_2766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7" name="bld2_2767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1650" dirty="0"/>
          </a:p>
        </p:txBody>
      </p:sp>
      <p:sp>
        <p:nvSpPr>
          <p:cNvPr id="18" name="bld2_2768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consistent point of view across everything you make.</a:t>
            </a:r>
            <a:endParaRPr lang="en-US" sz="1250" dirty="0"/>
          </a:p>
        </p:txBody>
      </p:sp>
      <p:sp>
        <p:nvSpPr>
          <p:cNvPr id="19" name="bld3_2769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0" name="bld3_2770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</a:t>
            </a:r>
            <a:endParaRPr lang="en-US" sz="1650" dirty="0"/>
          </a:p>
        </p:txBody>
      </p:sp>
      <p:sp>
        <p:nvSpPr>
          <p:cNvPr id="21" name="bld3_2771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specific person you're speaking to, not "everyone."</a:t>
            </a:r>
            <a:endParaRPr lang="en-US" sz="1250" dirty="0"/>
          </a:p>
        </p:txBody>
      </p:sp>
      <p:sp>
        <p:nvSpPr>
          <p:cNvPr id="22" name="bld4_2772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3" name="bld4_2773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 language, positioning &amp; tone</a:t>
            </a:r>
            <a:endParaRPr lang="en-US" sz="1650" dirty="0"/>
          </a:p>
        </p:txBody>
      </p:sp>
      <p:sp>
        <p:nvSpPr>
          <p:cNvPr id="24" name="bld4_2774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looks, where it sits in the market, and how it talks to people.</a:t>
            </a:r>
            <a:endParaRPr lang="en-US" sz="1250" dirty="0"/>
          </a:p>
        </p:txBody>
      </p:sp>
      <p:sp>
        <p:nvSpPr>
          <p:cNvPr id="26" name="trans_fade_187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5C564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5C5646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YOUR LANE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positioning — pick a lane</a:t>
            </a:r>
            <a:endParaRPr lang="en-US" sz="3200" dirty="0"/>
          </a:p>
        </p:txBody>
      </p:sp>
      <p:sp>
        <p:nvSpPr>
          <p:cNvPr id="7" name="bld1_2775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F9DFCF"/>
          </a:solidFill>
          <a:ln/>
        </p:spPr>
      </p:sp>
      <p:sp>
        <p:nvSpPr>
          <p:cNvPr id="9" name="Shape 7"/>
          <p:cNvSpPr/>
          <p:nvPr/>
        </p:nvSpPr>
        <p:spPr>
          <a:xfrm>
            <a:off x="1669681" y="2050780"/>
            <a:ext cx="339498" cy="339498"/>
          </a:xfrm>
          <a:prstGeom prst="star5">
            <a:avLst/>
          </a:prstGeom>
          <a:solidFill>
            <a:srgbClr val="A6402A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11" name="bld1_2777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Luxury</a:t>
            </a:r>
            <a:endParaRPr lang="en-US" sz="1450" dirty="0"/>
          </a:p>
        </p:txBody>
      </p:sp>
      <p:sp>
        <p:nvSpPr>
          <p:cNvPr id="12" name="bld1_2778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pricing, premium everything.</a:t>
            </a:r>
            <a:endParaRPr lang="en-US" sz="1080" dirty="0"/>
          </a:p>
        </p:txBody>
      </p:sp>
      <p:sp>
        <p:nvSpPr>
          <p:cNvPr id="13" name="bld2_2779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5" name="Shape 13"/>
          <p:cNvSpPr/>
          <p:nvPr/>
        </p:nvSpPr>
        <p:spPr>
          <a:xfrm rot="10800000">
            <a:off x="4643092" y="1978030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4400000">
            <a:off x="4748097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8000000">
            <a:off x="4748097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4643092" y="2220529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 rot="3600000">
            <a:off x="4538087" y="2159904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 rot="7200000">
            <a:off x="4538087" y="2038655"/>
            <a:ext cx="67900" cy="242499"/>
          </a:xfrm>
          <a:prstGeom prst="teardrop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618842" y="2162329"/>
            <a:ext cx="116399" cy="116399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22" name="Shape 20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3" name="bld2_2781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Niche</a:t>
            </a:r>
            <a:endParaRPr lang="en-US" sz="1450" dirty="0"/>
          </a:p>
        </p:txBody>
      </p:sp>
      <p:sp>
        <p:nvSpPr>
          <p:cNvPr id="24" name="bld2_2782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Distinctive, less mainstream, expressive.</a:t>
            </a:r>
            <a:endParaRPr lang="en-US" sz="1080" dirty="0"/>
          </a:p>
        </p:txBody>
      </p:sp>
      <p:sp>
        <p:nvSpPr>
          <p:cNvPr id="25" name="bld3_2783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7478279" y="2059898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 rot="2700000">
            <a:off x="7530132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 rot="5400000">
            <a:off x="7551610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8100000">
            <a:off x="7530132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 rot="10800000">
            <a:off x="7478279" y="2206561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13500000">
            <a:off x="7426425" y="2185083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16200000">
            <a:off x="7404947" y="2133229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8900000">
            <a:off x="7426425" y="2081376"/>
            <a:ext cx="72750" cy="174599"/>
          </a:xfrm>
          <a:prstGeom prst="ellipse">
            <a:avLst/>
          </a:prstGeom>
          <a:solidFill>
            <a:srgbClr val="C79BD9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475854" y="2181729"/>
            <a:ext cx="77600" cy="77600"/>
          </a:xfrm>
          <a:prstGeom prst="ellipse">
            <a:avLst/>
          </a:prstGeom>
          <a:solidFill>
            <a:srgbClr val="EFB0C8"/>
          </a:solidFill>
          <a:ln/>
        </p:spPr>
      </p:sp>
      <p:sp>
        <p:nvSpPr>
          <p:cNvPr id="36" name="Shape 34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37" name="bld3_2785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Affordable niche</a:t>
            </a:r>
            <a:endParaRPr lang="en-US" sz="1450" dirty="0"/>
          </a:p>
        </p:txBody>
      </p:sp>
      <p:sp>
        <p:nvSpPr>
          <p:cNvPr id="38" name="bld3_2786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Niche character, accessible pricing.</a:t>
            </a:r>
            <a:endParaRPr lang="en-US" sz="1080" dirty="0"/>
          </a:p>
        </p:txBody>
      </p:sp>
      <p:sp>
        <p:nvSpPr>
          <p:cNvPr id="39" name="bld4_2787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1" name="Shape 39"/>
          <p:cNvSpPr/>
          <p:nvPr/>
        </p:nvSpPr>
        <p:spPr>
          <a:xfrm>
            <a:off x="10327278" y="2021680"/>
            <a:ext cx="49974" cy="39770"/>
          </a:xfrm>
          <a:prstGeom prst="roundRect">
            <a:avLst>
              <a:gd name="adj" fmla="val 91969"/>
            </a:avLst>
          </a:prstGeom>
          <a:solidFill>
            <a:srgbClr val="0E0D0B"/>
          </a:solidFill>
          <a:ln/>
        </p:spPr>
      </p:sp>
      <p:sp>
        <p:nvSpPr>
          <p:cNvPr id="42" name="Shape 40"/>
          <p:cNvSpPr/>
          <p:nvPr/>
        </p:nvSpPr>
        <p:spPr>
          <a:xfrm>
            <a:off x="10330537" y="2061450"/>
            <a:ext cx="43456" cy="63632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274666" y="2125081"/>
            <a:ext cx="155199" cy="294297"/>
          </a:xfrm>
          <a:prstGeom prst="roundRect">
            <a:avLst>
              <a:gd name="adj" fmla="val 70701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311242" y="2257515"/>
            <a:ext cx="82047" cy="125287"/>
          </a:xfrm>
          <a:prstGeom prst="roundRect">
            <a:avLst>
              <a:gd name="adj" fmla="val 11144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46" name="bld4_2789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Mass market</a:t>
            </a:r>
            <a:endParaRPr lang="en-US" sz="1450" dirty="0"/>
          </a:p>
        </p:txBody>
      </p:sp>
      <p:sp>
        <p:nvSpPr>
          <p:cNvPr id="47" name="bld4_2790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appeal, widest distribution.</a:t>
            </a:r>
            <a:endParaRPr lang="en-US" sz="1080" dirty="0"/>
          </a:p>
        </p:txBody>
      </p:sp>
      <p:sp>
        <p:nvSpPr>
          <p:cNvPr id="48" name="bld5_2791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1E7D6"/>
          </a:solidFill>
          <a:ln/>
        </p:spPr>
      </p:sp>
      <p:sp>
        <p:nvSpPr>
          <p:cNvPr id="50" name="Shape 48"/>
          <p:cNvSpPr/>
          <p:nvPr/>
        </p:nvSpPr>
        <p:spPr>
          <a:xfrm flipV="1">
            <a:off x="1839430" y="4526331"/>
            <a:ext cx="120037" cy="53350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959467" y="4526331"/>
            <a:ext cx="120037" cy="6668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1959467" y="4593018"/>
            <a:ext cx="120037" cy="106700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759405" y="4699718"/>
            <a:ext cx="200062" cy="9144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1759405" y="4579681"/>
            <a:ext cx="80025" cy="12003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692718" y="4512994"/>
            <a:ext cx="146712" cy="66687"/>
          </a:xfrm>
          <a:prstGeom prst="line">
            <a:avLst/>
          </a:prstGeom>
          <a:noFill/>
          <a:ln w="25400">
            <a:solidFill>
              <a:srgbClr val="5C432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818090" y="4558341"/>
            <a:ext cx="42680" cy="42680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944129" y="4510993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064166" y="4577680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944129" y="4684380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744067" y="4684380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677380" y="4497656"/>
            <a:ext cx="30676" cy="30676"/>
          </a:xfrm>
          <a:prstGeom prst="ellipse">
            <a:avLst/>
          </a:prstGeom>
          <a:solidFill>
            <a:srgbClr val="8A6339"/>
          </a:solidFill>
          <a:ln w="19050">
            <a:solidFill>
              <a:srgbClr val="F1E7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63" name="bld5_2793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</a:t>
            </a:r>
            <a:endParaRPr lang="en-US" sz="1450" dirty="0"/>
          </a:p>
        </p:txBody>
      </p:sp>
      <p:sp>
        <p:nvSpPr>
          <p:cNvPr id="64" name="bld5_2794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Boundary-pushing, art-forward.</a:t>
            </a:r>
            <a:endParaRPr lang="en-US" sz="1080" dirty="0"/>
          </a:p>
        </p:txBody>
      </p:sp>
      <p:sp>
        <p:nvSpPr>
          <p:cNvPr id="65" name="bld6_2795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67" name="Shape 65"/>
          <p:cNvSpPr/>
          <p:nvPr/>
        </p:nvSpPr>
        <p:spPr>
          <a:xfrm rot="9000000">
            <a:off x="4555792" y="4468131"/>
            <a:ext cx="281299" cy="281299"/>
          </a:xfrm>
          <a:prstGeom prst="teardrop">
            <a:avLst/>
          </a:prstGeom>
          <a:solidFill>
            <a:srgbClr val="C1752F">
              <a:alpha val="94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 rot="6000000">
            <a:off x="4492743" y="4439032"/>
            <a:ext cx="174599" cy="174599"/>
          </a:xfrm>
          <a:prstGeom prst="teardrop">
            <a:avLst/>
          </a:prstGeom>
          <a:solidFill>
            <a:srgbClr val="E7AC55">
              <a:alpha val="94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 rot="11400000">
            <a:off x="4691592" y="4409932"/>
            <a:ext cx="145499" cy="145499"/>
          </a:xfrm>
          <a:prstGeom prst="teardrop">
            <a:avLst/>
          </a:prstGeom>
          <a:solidFill>
            <a:srgbClr val="7A4A1E">
              <a:alpha val="94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71" name="bld6_2797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Middle Eastern inspired</a:t>
            </a:r>
            <a:endParaRPr lang="en-US" sz="1450" dirty="0"/>
          </a:p>
        </p:txBody>
      </p:sp>
      <p:sp>
        <p:nvSpPr>
          <p:cNvPr id="72" name="bld6_2798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Rich, oud- and amber-forward.</a:t>
            </a:r>
            <a:endParaRPr lang="en-US" sz="1080" dirty="0"/>
          </a:p>
        </p:txBody>
      </p:sp>
      <p:sp>
        <p:nvSpPr>
          <p:cNvPr id="73" name="bld7_2799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4" name="Shape 72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0EBE3"/>
          </a:solidFill>
          <a:ln/>
        </p:spPr>
      </p:sp>
      <p:sp>
        <p:nvSpPr>
          <p:cNvPr id="75" name="Shape 73"/>
          <p:cNvSpPr/>
          <p:nvPr/>
        </p:nvSpPr>
        <p:spPr>
          <a:xfrm>
            <a:off x="7291555" y="4429332"/>
            <a:ext cx="446198" cy="300699"/>
          </a:xfrm>
          <a:prstGeom prst="cloud">
            <a:avLst/>
          </a:prstGeom>
          <a:solidFill>
            <a:srgbClr val="E8E2DC">
              <a:alpha val="97000"/>
            </a:srgbClr>
          </a:solidFill>
          <a:ln w="19050">
            <a:solidFill>
              <a:srgbClr val="6B6255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6B6255"/>
            </a:solidFill>
            <a:prstDash val="solid"/>
          </a:ln>
        </p:spPr>
      </p:sp>
      <p:sp>
        <p:nvSpPr>
          <p:cNvPr id="77" name="bld7_2801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Minimalist</a:t>
            </a:r>
            <a:endParaRPr lang="en-US" sz="1450" dirty="0"/>
          </a:p>
        </p:txBody>
      </p:sp>
      <p:sp>
        <p:nvSpPr>
          <p:cNvPr id="78" name="bld7_2802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restrained, understated.</a:t>
            </a:r>
            <a:endParaRPr lang="en-US" sz="1080" dirty="0"/>
          </a:p>
        </p:txBody>
      </p:sp>
      <p:sp>
        <p:nvSpPr>
          <p:cNvPr id="79" name="bld8_2803"/>
          <p:cNvSpPr/>
          <p:nvPr/>
        </p:nvSpPr>
        <p:spPr>
          <a:xfrm>
            <a:off x="9061475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solidFill>
            <a:srgbClr val="EBF3E1"/>
          </a:solidFill>
          <a:ln/>
        </p:spPr>
      </p:sp>
      <p:sp>
        <p:nvSpPr>
          <p:cNvPr id="81" name="Shape 79"/>
          <p:cNvSpPr/>
          <p:nvPr/>
        </p:nvSpPr>
        <p:spPr>
          <a:xfrm rot="15300000">
            <a:off x="10188067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 rot="13050000">
            <a:off x="10233538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 rot="10800000">
            <a:off x="10311040" y="4579681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 rot="8550000">
            <a:off x="10388543" y="4553372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 rot="6300000">
            <a:off x="10434014" y="4485320"/>
            <a:ext cx="82450" cy="254624"/>
          </a:xfrm>
          <a:prstGeom prst="teardrop">
            <a:avLst/>
          </a:prstGeom>
          <a:solidFill>
            <a:srgbClr val="5C8A45">
              <a:alpha val="92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ln w="25603">
            <a:solidFill>
              <a:srgbClr val="5C8A45"/>
            </a:solidFill>
            <a:prstDash val="solid"/>
          </a:ln>
        </p:spPr>
      </p:sp>
      <p:sp>
        <p:nvSpPr>
          <p:cNvPr id="87" name="bld8_2805"/>
          <p:cNvSpPr txBox="1"/>
          <p:nvPr/>
        </p:nvSpPr>
        <p:spPr>
          <a:xfrm>
            <a:off x="9244355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Natural-focused</a:t>
            </a:r>
            <a:endParaRPr lang="en-US" sz="1450" dirty="0"/>
          </a:p>
        </p:txBody>
      </p:sp>
      <p:sp>
        <p:nvSpPr>
          <p:cNvPr id="88" name="bld8_2806"/>
          <p:cNvSpPr txBox="1"/>
          <p:nvPr/>
        </p:nvSpPr>
        <p:spPr>
          <a:xfrm>
            <a:off x="9244355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Naturals-led, ingredient transparency.</a:t>
            </a:r>
            <a:endParaRPr lang="en-US" sz="1080" dirty="0"/>
          </a:p>
        </p:txBody>
      </p:sp>
      <p:sp>
        <p:nvSpPr>
          <p:cNvPr id="90" name="trans_fade_188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91" name="Text 8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1" grpId="0"/>
      <p:bldP spid="12" grpId="0"/>
      <p:bldP spid="13" grpId="0"/>
      <p:bldP spid="23" grpId="0"/>
      <p:bldP spid="24" grpId="0"/>
      <p:bldP spid="25" grpId="0"/>
      <p:bldP spid="37" grpId="0"/>
      <p:bldP spid="38" grpId="0"/>
      <p:bldP spid="39" grpId="0"/>
      <p:bldP spid="46" grpId="0"/>
      <p:bldP spid="47" grpId="0"/>
      <p:bldP spid="48" grpId="0"/>
      <p:bldP spid="63" grpId="0"/>
      <p:bldP spid="64" grpId="0"/>
      <p:bldP spid="65" grpId="0"/>
      <p:bldP spid="71" grpId="0"/>
      <p:bldP spid="72" grpId="0"/>
      <p:bldP spid="73" grpId="0"/>
      <p:bldP spid="77" grpId="0"/>
      <p:bldP spid="78" grpId="0"/>
      <p:bldP spid="79" grpId="0"/>
      <p:bldP spid="87" grpId="0"/>
      <p:bldP spid="88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12226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36047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REACHING CUSTOMERS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perfume brands actually sell</a:t>
            </a:r>
            <a:endParaRPr lang="en-US" sz="3200" dirty="0"/>
          </a:p>
        </p:txBody>
      </p:sp>
      <p:sp>
        <p:nvSpPr>
          <p:cNvPr id="7" name="bld1_2807"/>
          <p:cNvSpPr/>
          <p:nvPr/>
        </p:nvSpPr>
        <p:spPr>
          <a:xfrm>
            <a:off x="548640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solidFill>
            <a:srgbClr val="E4F3F8"/>
          </a:solidFill>
          <a:ln/>
        </p:spPr>
      </p:sp>
      <p:sp>
        <p:nvSpPr>
          <p:cNvPr id="9" name="Shape 7"/>
          <p:cNvSpPr/>
          <p:nvPr/>
        </p:nvSpPr>
        <p:spPr>
          <a:xfrm>
            <a:off x="1596931" y="1978030"/>
            <a:ext cx="484998" cy="484998"/>
          </a:xfrm>
          <a:prstGeom prst="ellipse">
            <a:avLst/>
          </a:prstGeom>
          <a:solidFill>
            <a:srgbClr val="8AC6E0">
              <a:alpha val="3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50281" y="2218104"/>
            <a:ext cx="378298" cy="72750"/>
          </a:xfrm>
          <a:prstGeom prst="wave">
            <a:avLst/>
          </a:prstGeom>
          <a:solidFill>
            <a:srgbClr val="4090AF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650281" y="2157479"/>
            <a:ext cx="378298" cy="72750"/>
          </a:xfrm>
          <a:prstGeom prst="wave">
            <a:avLst/>
          </a:prstGeom>
          <a:solidFill>
            <a:srgbClr val="4090AF">
              <a:alpha val="7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650281" y="2089580"/>
            <a:ext cx="378298" cy="72750"/>
          </a:xfrm>
          <a:prstGeom prst="wave">
            <a:avLst/>
          </a:prstGeom>
          <a:solidFill>
            <a:srgbClr val="4090AF">
              <a:alpha val="5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528534" y="1909633"/>
            <a:ext cx="621792" cy="621792"/>
          </a:xfrm>
          <a:prstGeom prst="ellipse">
            <a:avLst/>
          </a:prstGeom>
          <a:ln w="25603">
            <a:solidFill>
              <a:srgbClr val="4090AF"/>
            </a:solidFill>
            <a:prstDash val="solid"/>
          </a:ln>
        </p:spPr>
      </p:sp>
      <p:sp>
        <p:nvSpPr>
          <p:cNvPr id="14" name="bld1_2809"/>
          <p:cNvSpPr txBox="1"/>
          <p:nvPr/>
        </p:nvSpPr>
        <p:spPr>
          <a:xfrm>
            <a:off x="731520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 website</a:t>
            </a:r>
            <a:endParaRPr lang="en-US" sz="1450" dirty="0"/>
          </a:p>
        </p:txBody>
      </p:sp>
      <p:sp>
        <p:nvSpPr>
          <p:cNvPr id="15" name="bld1_2810"/>
          <p:cNvSpPr txBox="1"/>
          <p:nvPr/>
        </p:nvSpPr>
        <p:spPr>
          <a:xfrm>
            <a:off x="731520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control, full margin.</a:t>
            </a:r>
            <a:endParaRPr lang="en-US" sz="1080" dirty="0"/>
          </a:p>
        </p:txBody>
      </p:sp>
      <p:sp>
        <p:nvSpPr>
          <p:cNvPr id="16" name="bld2_2811"/>
          <p:cNvSpPr/>
          <p:nvPr/>
        </p:nvSpPr>
        <p:spPr>
          <a:xfrm>
            <a:off x="3386252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18" name="Shape 16"/>
          <p:cNvSpPr/>
          <p:nvPr/>
        </p:nvSpPr>
        <p:spPr>
          <a:xfrm>
            <a:off x="4507292" y="2050780"/>
            <a:ext cx="339498" cy="339498"/>
          </a:xfrm>
          <a:prstGeom prst="star5">
            <a:avLst/>
          </a:prstGeom>
          <a:solidFill>
            <a:srgbClr val="C79BD9">
              <a:alpha val="9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4366146" y="1909633"/>
            <a:ext cx="621792" cy="621792"/>
          </a:xfrm>
          <a:prstGeom prst="ellipse">
            <a:avLst/>
          </a:prstGeom>
          <a:ln w="25603">
            <a:solidFill>
              <a:srgbClr val="C79BD9"/>
            </a:solidFill>
            <a:prstDash val="solid"/>
          </a:ln>
        </p:spPr>
      </p:sp>
      <p:sp>
        <p:nvSpPr>
          <p:cNvPr id="20" name="bld2_2813"/>
          <p:cNvSpPr txBox="1"/>
          <p:nvPr/>
        </p:nvSpPr>
        <p:spPr>
          <a:xfrm>
            <a:off x="3569132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TikTok</a:t>
            </a:r>
            <a:endParaRPr lang="en-US" sz="1450" dirty="0"/>
          </a:p>
        </p:txBody>
      </p:sp>
      <p:sp>
        <p:nvSpPr>
          <p:cNvPr id="21" name="bld2_2814"/>
          <p:cNvSpPr txBox="1"/>
          <p:nvPr/>
        </p:nvSpPr>
        <p:spPr>
          <a:xfrm>
            <a:off x="3569132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and storytelling at scale.</a:t>
            </a:r>
            <a:endParaRPr lang="en-US" sz="1080" dirty="0"/>
          </a:p>
        </p:txBody>
      </p:sp>
      <p:sp>
        <p:nvSpPr>
          <p:cNvPr id="22" name="bld3_2815"/>
          <p:cNvSpPr/>
          <p:nvPr/>
        </p:nvSpPr>
        <p:spPr>
          <a:xfrm>
            <a:off x="6223864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solidFill>
            <a:srgbClr val="FAECF2"/>
          </a:solidFill>
          <a:ln/>
        </p:spPr>
      </p:sp>
      <p:sp>
        <p:nvSpPr>
          <p:cNvPr id="24" name="Shape 22"/>
          <p:cNvSpPr/>
          <p:nvPr/>
        </p:nvSpPr>
        <p:spPr>
          <a:xfrm>
            <a:off x="7344904" y="2050780"/>
            <a:ext cx="339498" cy="339498"/>
          </a:xfrm>
          <a:prstGeom prst="star5">
            <a:avLst/>
          </a:prstGeom>
          <a:solidFill>
            <a:srgbClr val="C79BD9">
              <a:alpha val="9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7203758" y="1909633"/>
            <a:ext cx="621792" cy="621792"/>
          </a:xfrm>
          <a:prstGeom prst="ellipse">
            <a:avLst/>
          </a:prstGeom>
          <a:ln w="25603">
            <a:solidFill>
              <a:srgbClr val="EFB0C8"/>
            </a:solidFill>
            <a:prstDash val="solid"/>
          </a:ln>
        </p:spPr>
      </p:sp>
      <p:sp>
        <p:nvSpPr>
          <p:cNvPr id="26" name="bld3_2817"/>
          <p:cNvSpPr txBox="1"/>
          <p:nvPr/>
        </p:nvSpPr>
        <p:spPr>
          <a:xfrm>
            <a:off x="6406744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Instagram</a:t>
            </a:r>
            <a:endParaRPr lang="en-US" sz="1450" dirty="0"/>
          </a:p>
        </p:txBody>
      </p:sp>
      <p:sp>
        <p:nvSpPr>
          <p:cNvPr id="27" name="bld3_2818"/>
          <p:cNvSpPr txBox="1"/>
          <p:nvPr/>
        </p:nvSpPr>
        <p:spPr>
          <a:xfrm>
            <a:off x="6406744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brand-building and community.</a:t>
            </a:r>
            <a:endParaRPr lang="en-US" sz="1080" dirty="0"/>
          </a:p>
        </p:txBody>
      </p:sp>
      <p:sp>
        <p:nvSpPr>
          <p:cNvPr id="28" name="bld4_2819"/>
          <p:cNvSpPr/>
          <p:nvPr/>
        </p:nvSpPr>
        <p:spPr>
          <a:xfrm>
            <a:off x="9061475" y="1781617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30" name="Shape 28"/>
          <p:cNvSpPr/>
          <p:nvPr/>
        </p:nvSpPr>
        <p:spPr>
          <a:xfrm>
            <a:off x="10327278" y="2021680"/>
            <a:ext cx="49974" cy="39770"/>
          </a:xfrm>
          <a:prstGeom prst="roundRect">
            <a:avLst>
              <a:gd name="adj" fmla="val 91969"/>
            </a:avLst>
          </a:prstGeom>
          <a:solidFill>
            <a:srgbClr val="0E0D0B"/>
          </a:solidFill>
          <a:ln/>
        </p:spPr>
      </p:sp>
      <p:sp>
        <p:nvSpPr>
          <p:cNvPr id="31" name="Shape 29"/>
          <p:cNvSpPr/>
          <p:nvPr/>
        </p:nvSpPr>
        <p:spPr>
          <a:xfrm>
            <a:off x="10330537" y="2061450"/>
            <a:ext cx="43456" cy="63632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274666" y="2125081"/>
            <a:ext cx="155199" cy="294297"/>
          </a:xfrm>
          <a:prstGeom prst="roundRect">
            <a:avLst>
              <a:gd name="adj" fmla="val 70701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311242" y="2257515"/>
            <a:ext cx="82047" cy="125287"/>
          </a:xfrm>
          <a:prstGeom prst="roundRect">
            <a:avLst>
              <a:gd name="adj" fmla="val 11144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0041369" y="1909633"/>
            <a:ext cx="621792" cy="621792"/>
          </a:xfrm>
          <a:prstGeom prst="ellipse">
            <a:avLst/>
          </a:prstGeom>
          <a:ln w="25603">
            <a:solidFill>
              <a:srgbClr val="C1752F"/>
            </a:solidFill>
            <a:prstDash val="solid"/>
          </a:ln>
        </p:spPr>
      </p:sp>
      <p:sp>
        <p:nvSpPr>
          <p:cNvPr id="35" name="bld4_2821"/>
          <p:cNvSpPr txBox="1"/>
          <p:nvPr/>
        </p:nvSpPr>
        <p:spPr>
          <a:xfrm>
            <a:off x="9244355" y="2622865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Pop-ups</a:t>
            </a:r>
            <a:endParaRPr lang="en-US" sz="1450" dirty="0"/>
          </a:p>
        </p:txBody>
      </p:sp>
      <p:sp>
        <p:nvSpPr>
          <p:cNvPr id="36" name="bld4_2822"/>
          <p:cNvSpPr txBox="1"/>
          <p:nvPr/>
        </p:nvSpPr>
        <p:spPr>
          <a:xfrm>
            <a:off x="9244355" y="3080065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sampling and connection.</a:t>
            </a:r>
            <a:endParaRPr lang="en-US" sz="1080" dirty="0"/>
          </a:p>
        </p:txBody>
      </p:sp>
      <p:sp>
        <p:nvSpPr>
          <p:cNvPr id="37" name="bld5_2823"/>
          <p:cNvSpPr/>
          <p:nvPr/>
        </p:nvSpPr>
        <p:spPr>
          <a:xfrm>
            <a:off x="548640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solidFill>
            <a:srgbClr val="F3E4CC"/>
          </a:solidFill>
          <a:ln/>
        </p:spPr>
      </p:sp>
      <p:sp>
        <p:nvSpPr>
          <p:cNvPr id="39" name="Shape 37"/>
          <p:cNvSpPr/>
          <p:nvPr/>
        </p:nvSpPr>
        <p:spPr>
          <a:xfrm>
            <a:off x="1596931" y="4337182"/>
            <a:ext cx="484998" cy="484998"/>
          </a:xfrm>
          <a:prstGeom prst="ellipse">
            <a:avLst/>
          </a:prstGeom>
          <a:solidFill>
            <a:srgbClr val="8A5A2E">
              <a:alpha val="96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664831" y="4405082"/>
            <a:ext cx="349198" cy="349198"/>
          </a:xfrm>
          <a:prstGeom prst="donut">
            <a:avLst/>
          </a:prstGeom>
          <a:solidFill>
            <a:srgbClr val="D9A05B">
              <a:alpha val="4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761830" y="4502081"/>
            <a:ext cx="155199" cy="155199"/>
          </a:xfrm>
          <a:prstGeom prst="ellipse">
            <a:avLst/>
          </a:prstGeom>
          <a:solidFill>
            <a:srgbClr val="D9A05B">
              <a:alpha val="90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528534" y="4268785"/>
            <a:ext cx="621792" cy="621792"/>
          </a:xfrm>
          <a:prstGeom prst="ellipse">
            <a:avLst/>
          </a:prstGeom>
          <a:ln w="25603">
            <a:solidFill>
              <a:srgbClr val="8A5A2E"/>
            </a:solidFill>
            <a:prstDash val="solid"/>
          </a:ln>
        </p:spPr>
      </p:sp>
      <p:sp>
        <p:nvSpPr>
          <p:cNvPr id="43" name="bld5_2825"/>
          <p:cNvSpPr txBox="1"/>
          <p:nvPr/>
        </p:nvSpPr>
        <p:spPr>
          <a:xfrm>
            <a:off x="731520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Markets</a:t>
            </a:r>
            <a:endParaRPr lang="en-US" sz="1450" dirty="0"/>
          </a:p>
        </p:txBody>
      </p:sp>
      <p:sp>
        <p:nvSpPr>
          <p:cNvPr id="44" name="bld5_2826"/>
          <p:cNvSpPr txBox="1"/>
          <p:nvPr/>
        </p:nvSpPr>
        <p:spPr>
          <a:xfrm>
            <a:off x="731520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Low-cost, direct customer feedback.</a:t>
            </a:r>
            <a:endParaRPr lang="en-US" sz="1080" dirty="0"/>
          </a:p>
        </p:txBody>
      </p:sp>
      <p:sp>
        <p:nvSpPr>
          <p:cNvPr id="45" name="bld6_2827"/>
          <p:cNvSpPr/>
          <p:nvPr/>
        </p:nvSpPr>
        <p:spPr>
          <a:xfrm>
            <a:off x="3386252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47" name="Shape 45"/>
          <p:cNvSpPr/>
          <p:nvPr/>
        </p:nvSpPr>
        <p:spPr>
          <a:xfrm>
            <a:off x="4652055" y="4380832"/>
            <a:ext cx="49974" cy="39770"/>
          </a:xfrm>
          <a:prstGeom prst="roundRect">
            <a:avLst>
              <a:gd name="adj" fmla="val 91969"/>
            </a:avLst>
          </a:prstGeom>
          <a:solidFill>
            <a:srgbClr val="0E0D0B"/>
          </a:solidFill>
          <a:ln/>
        </p:spPr>
      </p:sp>
      <p:sp>
        <p:nvSpPr>
          <p:cNvPr id="48" name="Shape 46"/>
          <p:cNvSpPr/>
          <p:nvPr/>
        </p:nvSpPr>
        <p:spPr>
          <a:xfrm>
            <a:off x="4655314" y="4420602"/>
            <a:ext cx="43456" cy="63632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99442" y="4484233"/>
            <a:ext cx="155199" cy="294297"/>
          </a:xfrm>
          <a:prstGeom prst="roundRect">
            <a:avLst>
              <a:gd name="adj" fmla="val 70701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636018" y="4616667"/>
            <a:ext cx="82047" cy="125287"/>
          </a:xfrm>
          <a:prstGeom prst="roundRect">
            <a:avLst>
              <a:gd name="adj" fmla="val 11144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4366146" y="4268785"/>
            <a:ext cx="621792" cy="621792"/>
          </a:xfrm>
          <a:prstGeom prst="ellipse">
            <a:avLst/>
          </a:prstGeom>
          <a:ln w="25603">
            <a:solidFill>
              <a:srgbClr val="7A4A1E"/>
            </a:solidFill>
            <a:prstDash val="solid"/>
          </a:ln>
        </p:spPr>
      </p:sp>
      <p:sp>
        <p:nvSpPr>
          <p:cNvPr id="52" name="bld6_2829"/>
          <p:cNvSpPr txBox="1"/>
          <p:nvPr/>
        </p:nvSpPr>
        <p:spPr>
          <a:xfrm>
            <a:off x="3569132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Retail</a:t>
            </a:r>
            <a:endParaRPr lang="en-US" sz="1450" dirty="0"/>
          </a:p>
        </p:txBody>
      </p:sp>
      <p:sp>
        <p:nvSpPr>
          <p:cNvPr id="53" name="bld6_2830"/>
          <p:cNvSpPr txBox="1"/>
          <p:nvPr/>
        </p:nvSpPr>
        <p:spPr>
          <a:xfrm>
            <a:off x="3569132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shelf presence.</a:t>
            </a:r>
            <a:endParaRPr lang="en-US" sz="1080" dirty="0"/>
          </a:p>
        </p:txBody>
      </p:sp>
      <p:sp>
        <p:nvSpPr>
          <p:cNvPr id="54" name="bld7_2831"/>
          <p:cNvSpPr/>
          <p:nvPr/>
        </p:nvSpPr>
        <p:spPr>
          <a:xfrm>
            <a:off x="6223864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solidFill>
            <a:srgbClr val="FBEBD4"/>
          </a:solidFill>
          <a:ln/>
        </p:spPr>
      </p:sp>
      <p:sp>
        <p:nvSpPr>
          <p:cNvPr id="56" name="Shape 54"/>
          <p:cNvSpPr/>
          <p:nvPr/>
        </p:nvSpPr>
        <p:spPr>
          <a:xfrm>
            <a:off x="7489666" y="4380832"/>
            <a:ext cx="49974" cy="39770"/>
          </a:xfrm>
          <a:prstGeom prst="roundRect">
            <a:avLst>
              <a:gd name="adj" fmla="val 91969"/>
            </a:avLst>
          </a:prstGeom>
          <a:solidFill>
            <a:srgbClr val="0E0D0B"/>
          </a:solidFill>
          <a:ln/>
        </p:spPr>
      </p:sp>
      <p:sp>
        <p:nvSpPr>
          <p:cNvPr id="57" name="Shape 55"/>
          <p:cNvSpPr/>
          <p:nvPr/>
        </p:nvSpPr>
        <p:spPr>
          <a:xfrm>
            <a:off x="7492926" y="4420602"/>
            <a:ext cx="43456" cy="63632"/>
          </a:xfrm>
          <a:prstGeom prst="rect">
            <a:avLst/>
          </a:prstGeom>
          <a:solidFill>
            <a:srgbClr val="E7AC55">
              <a:alpha val="75000"/>
            </a:srgbClr>
          </a:solidFill>
          <a:ln w="12700">
            <a:solidFill>
              <a:srgbClr val="E7AC5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37054" y="4484233"/>
            <a:ext cx="155199" cy="294297"/>
          </a:xfrm>
          <a:prstGeom prst="roundRect">
            <a:avLst>
              <a:gd name="adj" fmla="val 70701"/>
            </a:avLst>
          </a:prstGeom>
          <a:solidFill>
            <a:srgbClr val="E7AC55">
              <a:alpha val="45000"/>
            </a:srgbClr>
          </a:solidFill>
          <a:ln w="15875">
            <a:solidFill>
              <a:srgbClr val="E7AC55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473630" y="4616667"/>
            <a:ext cx="82047" cy="125287"/>
          </a:xfrm>
          <a:prstGeom prst="roundRect">
            <a:avLst>
              <a:gd name="adj" fmla="val 111448"/>
            </a:avLst>
          </a:prstGeom>
          <a:solidFill>
            <a:srgbClr val="C1752F">
              <a:alpha val="90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7203758" y="4268785"/>
            <a:ext cx="621792" cy="621792"/>
          </a:xfrm>
          <a:prstGeom prst="ellipse">
            <a:avLst/>
          </a:prstGeom>
          <a:ln w="25603">
            <a:solidFill>
              <a:srgbClr val="8A6339"/>
            </a:solidFill>
            <a:prstDash val="solid"/>
          </a:ln>
        </p:spPr>
      </p:sp>
      <p:sp>
        <p:nvSpPr>
          <p:cNvPr id="61" name="bld7_2833"/>
          <p:cNvSpPr txBox="1"/>
          <p:nvPr/>
        </p:nvSpPr>
        <p:spPr>
          <a:xfrm>
            <a:off x="6406744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Wholesale</a:t>
            </a:r>
            <a:endParaRPr lang="en-US" sz="1450" dirty="0"/>
          </a:p>
        </p:txBody>
      </p:sp>
      <p:sp>
        <p:nvSpPr>
          <p:cNvPr id="62" name="bld7_2834"/>
          <p:cNvSpPr txBox="1"/>
          <p:nvPr/>
        </p:nvSpPr>
        <p:spPr>
          <a:xfrm>
            <a:off x="6406744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through other retailers.</a:t>
            </a:r>
            <a:endParaRPr lang="en-US" sz="1080" dirty="0"/>
          </a:p>
        </p:txBody>
      </p:sp>
      <p:sp>
        <p:nvSpPr>
          <p:cNvPr id="63" name="bld8_2835"/>
          <p:cNvSpPr/>
          <p:nvPr/>
        </p:nvSpPr>
        <p:spPr>
          <a:xfrm>
            <a:off x="9061475" y="4140769"/>
            <a:ext cx="25815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solidFill>
            <a:srgbClr val="FBE4DB"/>
          </a:solidFill>
          <a:ln/>
        </p:spPr>
      </p:sp>
      <p:sp>
        <p:nvSpPr>
          <p:cNvPr id="65" name="Shape 63"/>
          <p:cNvSpPr/>
          <p:nvPr/>
        </p:nvSpPr>
        <p:spPr>
          <a:xfrm>
            <a:off x="10182516" y="4409932"/>
            <a:ext cx="339498" cy="339498"/>
          </a:xfrm>
          <a:prstGeom prst="star5">
            <a:avLst/>
          </a:prstGeom>
          <a:solidFill>
            <a:srgbClr val="C9503E">
              <a:alpha val="90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10041369" y="4268785"/>
            <a:ext cx="621792" cy="621792"/>
          </a:xfrm>
          <a:prstGeom prst="ellipse">
            <a:avLst/>
          </a:prstGeom>
          <a:ln w="25603">
            <a:solidFill>
              <a:srgbClr val="C9503E"/>
            </a:solidFill>
            <a:prstDash val="solid"/>
          </a:ln>
        </p:spPr>
      </p:sp>
      <p:sp>
        <p:nvSpPr>
          <p:cNvPr id="67" name="bld8_2837"/>
          <p:cNvSpPr txBox="1"/>
          <p:nvPr/>
        </p:nvSpPr>
        <p:spPr>
          <a:xfrm>
            <a:off x="9244355" y="4982017"/>
            <a:ext cx="22158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Influencers &amp; sampling</a:t>
            </a:r>
            <a:endParaRPr lang="en-US" sz="1450" dirty="0"/>
          </a:p>
        </p:txBody>
      </p:sp>
      <p:sp>
        <p:nvSpPr>
          <p:cNvPr id="68" name="bld8_2838"/>
          <p:cNvSpPr txBox="1"/>
          <p:nvPr/>
        </p:nvSpPr>
        <p:spPr>
          <a:xfrm>
            <a:off x="9244355" y="5439217"/>
            <a:ext cx="22158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voices driving discovery.</a:t>
            </a:r>
            <a:endParaRPr lang="en-US" sz="1080" dirty="0"/>
          </a:p>
        </p:txBody>
      </p:sp>
      <p:sp>
        <p:nvSpPr>
          <p:cNvPr id="70" name="trans_fade_189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71" name="Text 6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67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5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7" grpId="0"/>
      <p:bldP spid="14" grpId="0"/>
      <p:bldP spid="15" grpId="0"/>
      <p:bldP spid="16" grpId="0"/>
      <p:bldP spid="20" grpId="0"/>
      <p:bldP spid="21" grpId="0"/>
      <p:bldP spid="22" grpId="0"/>
      <p:bldP spid="26" grpId="0"/>
      <p:bldP spid="27" grpId="0"/>
      <p:bldP spid="28" grpId="0"/>
      <p:bldP spid="35" grpId="0"/>
      <p:bldP spid="36" grpId="0"/>
      <p:bldP spid="37" grpId="0"/>
      <p:bldP spid="43" grpId="0"/>
      <p:bldP spid="44" grpId="0"/>
      <p:bldP spid="45" grpId="0"/>
      <p:bldP spid="52" grpId="0"/>
      <p:bldP spid="53" grpId="0"/>
      <p:bldP spid="54" grpId="0"/>
      <p:bldP spid="61" grpId="0"/>
      <p:bldP spid="62" grpId="0"/>
      <p:bldP spid="63" grpId="0"/>
      <p:bldP spid="67" grpId="0"/>
      <p:bldP spid="68" grpId="0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-7724851" y="2878531"/>
            <a:ext cx="11704320" cy="11704320"/>
          </a:xfrm>
          <a:prstGeom prst="ellipse">
            <a:avLst/>
          </a:prstGeom>
          <a:solidFill>
            <a:srgbClr val="C9A354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5501030" y="5102352"/>
            <a:ext cx="7256678" cy="7256678"/>
          </a:xfrm>
          <a:prstGeom prst="ellipse">
            <a:avLst/>
          </a:prstGeom>
          <a:solidFill>
            <a:srgbClr val="C9A354">
              <a:alpha val="16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SELLS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 the story, not the note list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578081" y="1175909"/>
            <a:ext cx="3939253" cy="3939253"/>
          </a:xfrm>
          <a:prstGeom prst="ellipse">
            <a:avLst/>
          </a:prstGeom>
          <a:ln w="18288">
            <a:solidFill>
              <a:srgbClr val="C9A354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08361" y="1806190"/>
            <a:ext cx="2678692" cy="2678692"/>
          </a:xfrm>
          <a:prstGeom prst="ellipse">
            <a:avLst/>
          </a:prstGeom>
          <a:ln w="13716">
            <a:solidFill>
              <a:srgbClr val="C9A354">
                <a:alpha val="2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296266" y="195432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4320000">
            <a:off x="9758275" y="228999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8640000">
            <a:off x="9581803" y="2833123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2960000">
            <a:off x="9010728" y="2833123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7280000">
            <a:off x="8834257" y="2289999"/>
            <a:ext cx="502883" cy="1056055"/>
          </a:xfrm>
          <a:prstGeom prst="ellipse">
            <a:avLst/>
          </a:prstGeom>
          <a:solidFill>
            <a:srgbClr val="8C3B49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306324" y="2726758"/>
            <a:ext cx="482768" cy="48276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"Rose, amber, musk" is a list. A story is what makes someone actually buy.</a:t>
            </a:r>
            <a:endParaRPr lang="en-US" sz="1050" dirty="0"/>
          </a:p>
        </p:txBody>
      </p:sp>
      <p:sp>
        <p:nvSpPr>
          <p:cNvPr id="17" name="bld1_2839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8" name="bld1_2840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Emotion</a:t>
            </a:r>
            <a:endParaRPr lang="en-US" sz="1650" dirty="0"/>
          </a:p>
        </p:txBody>
      </p:sp>
      <p:sp>
        <p:nvSpPr>
          <p:cNvPr id="19" name="bld1_2841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it make someone feel, not just what's inside it.</a:t>
            </a:r>
            <a:endParaRPr lang="en-US" sz="1250" dirty="0"/>
          </a:p>
        </p:txBody>
      </p:sp>
      <p:sp>
        <p:nvSpPr>
          <p:cNvPr id="20" name="bld2_2842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1" name="bld2_2843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World-building</a:t>
            </a:r>
            <a:endParaRPr lang="en-US" sz="1650" dirty="0"/>
          </a:p>
        </p:txBody>
      </p:sp>
      <p:sp>
        <p:nvSpPr>
          <p:cNvPr id="22" name="bld2_2844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whole aesthetic universe around the fragrance.</a:t>
            </a:r>
            <a:endParaRPr lang="en-US" sz="1250" dirty="0"/>
          </a:p>
        </p:txBody>
      </p:sp>
      <p:sp>
        <p:nvSpPr>
          <p:cNvPr id="23" name="bld3_2845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4" name="bld3_2846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1650" dirty="0"/>
          </a:p>
        </p:txBody>
      </p:sp>
      <p:sp>
        <p:nvSpPr>
          <p:cNvPr id="25" name="bld3_2847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does this make the wearer feel like?</a:t>
            </a:r>
            <a:endParaRPr lang="en-US" sz="1250" dirty="0"/>
          </a:p>
        </p:txBody>
      </p:sp>
      <p:sp>
        <p:nvSpPr>
          <p:cNvPr id="26" name="bld4_2848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7" name="bld4_2849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Experience</a:t>
            </a:r>
            <a:endParaRPr lang="en-US" sz="1650" dirty="0"/>
          </a:p>
        </p:txBody>
      </p:sp>
      <p:sp>
        <p:nvSpPr>
          <p:cNvPr id="28" name="bld4_2850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unboxing, the sampling, the ritual — not just the liquid.</a:t>
            </a:r>
            <a:endParaRPr lang="en-US" sz="1250" dirty="0"/>
          </a:p>
        </p:txBody>
      </p:sp>
      <p:sp>
        <p:nvSpPr>
          <p:cNvPr id="30" name="trans_fade_190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31" name="Text 2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176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5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ROADMAP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 to growth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3657600"/>
            <a:ext cx="10728655" cy="914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3584448"/>
            <a:ext cx="146304" cy="146304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6" name="Shape 4"/>
          <p:cNvSpPr/>
          <p:nvPr/>
        </p:nvSpPr>
        <p:spPr>
          <a:xfrm>
            <a:off x="585216" y="3511296"/>
            <a:ext cx="292608" cy="292608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999450" y="3584448"/>
            <a:ext cx="146304" cy="14630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9" name="Shape 7"/>
          <p:cNvSpPr/>
          <p:nvPr/>
        </p:nvSpPr>
        <p:spPr>
          <a:xfrm>
            <a:off x="1926298" y="3511296"/>
            <a:ext cx="292608" cy="292608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78242" y="38587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0532" y="3584448"/>
            <a:ext cx="146304" cy="14630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2" name="Shape 10"/>
          <p:cNvSpPr/>
          <p:nvPr/>
        </p:nvSpPr>
        <p:spPr>
          <a:xfrm>
            <a:off x="3267380" y="3511296"/>
            <a:ext cx="292608" cy="292608"/>
          </a:xfrm>
          <a:prstGeom prst="ellipse">
            <a:avLst/>
          </a:prstGeom>
          <a:ln w="12802">
            <a:solidFill>
              <a:srgbClr val="C9A35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19324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81614" y="3584448"/>
            <a:ext cx="146304" cy="14630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Shape 13"/>
          <p:cNvSpPr/>
          <p:nvPr/>
        </p:nvSpPr>
        <p:spPr>
          <a:xfrm>
            <a:off x="4608462" y="3511296"/>
            <a:ext cx="292608" cy="292608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60406" y="38587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22696" y="3584448"/>
            <a:ext cx="146304" cy="14630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9544" y="3511296"/>
            <a:ext cx="292608" cy="292608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501488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63778" y="3584448"/>
            <a:ext cx="146304" cy="14630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Shape 19"/>
          <p:cNvSpPr/>
          <p:nvPr/>
        </p:nvSpPr>
        <p:spPr>
          <a:xfrm>
            <a:off x="7290626" y="3511296"/>
            <a:ext cx="292608" cy="292608"/>
          </a:xfrm>
          <a:prstGeom prst="ellipse">
            <a:avLst/>
          </a:prstGeom>
          <a:ln w="12802">
            <a:solidFill>
              <a:srgbClr val="C9A35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42570" y="38587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704859" y="3584448"/>
            <a:ext cx="146304" cy="14630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4" name="Shape 22"/>
          <p:cNvSpPr/>
          <p:nvPr/>
        </p:nvSpPr>
        <p:spPr>
          <a:xfrm>
            <a:off x="8631707" y="3511296"/>
            <a:ext cx="292608" cy="292608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183651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0045941" y="3584448"/>
            <a:ext cx="146304" cy="146304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7" name="Shape 25"/>
          <p:cNvSpPr/>
          <p:nvPr/>
        </p:nvSpPr>
        <p:spPr>
          <a:xfrm>
            <a:off x="9972789" y="3511296"/>
            <a:ext cx="292608" cy="292608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524733" y="38587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1387023" y="3584448"/>
            <a:ext cx="146304" cy="14630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30" name="Shape 28"/>
          <p:cNvSpPr/>
          <p:nvPr/>
        </p:nvSpPr>
        <p:spPr>
          <a:xfrm>
            <a:off x="11313871" y="3511296"/>
            <a:ext cx="292608" cy="292608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865815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9436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in this course lives somewhere on this line. Now go build.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10820095" y="-320040"/>
            <a:ext cx="1645920" cy="1645920"/>
          </a:xfrm>
          <a:prstGeom prst="ellipse">
            <a:avLst/>
          </a:prstGeom>
          <a:ln w="16459">
            <a:solidFill>
              <a:srgbClr val="C9A354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845552" y="2816352"/>
            <a:ext cx="11887200" cy="11887200"/>
          </a:xfrm>
          <a:prstGeom prst="ellipse">
            <a:avLst/>
          </a:prstGeom>
          <a:solidFill>
            <a:srgbClr val="5C5646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5586984" y="5074920"/>
            <a:ext cx="7370064" cy="7370064"/>
          </a:xfrm>
          <a:prstGeom prst="ellipse">
            <a:avLst/>
          </a:prstGeom>
          <a:solidFill>
            <a:srgbClr val="5C5646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64128" y="1097280"/>
            <a:ext cx="4663440" cy="4663440"/>
          </a:xfrm>
          <a:prstGeom prst="ellipse">
            <a:avLst/>
          </a:prstGeom>
          <a:ln w="9144">
            <a:solidFill>
              <a:srgbClr val="5C56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great perfume deserves a story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worth remembering. Build both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the same care.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COURSE</a:t>
            </a:r>
            <a:endParaRPr lang="en-US" sz="1100" dirty="0"/>
          </a:p>
        </p:txBody>
      </p:sp>
      <p:sp>
        <p:nvSpPr>
          <p:cNvPr id="10" name="trans_fade_191"/>
          <p:cNvSpPr txBox="1"/>
          <p:nvPr/>
        </p:nvSpPr>
        <p:spPr>
          <a:xfrm>
            <a:off x="-914400" y="-91440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 </a:t>
            </a:r>
            <a:endParaRPr lang="en-US" sz="10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193</Slides>
  <Notes>193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193</vt:i4>
      </vt:variant>
    </vt:vector>
  </HeadingPairs>
  <TitlesOfParts>
    <vt:vector size="19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Art &amp; Science of Perfumery</dc:title>
  <dc:subject>Beginner-to-intermediate perfumery course companion deck</dc:subject>
  <dc:creator>YEVFUMES</dc:creator>
  <cp:lastModifiedBy>YEVFUMES</cp:lastModifiedBy>
  <cp:revision>1</cp:revision>
  <dcterms:created xsi:type="dcterms:W3CDTF">2026-09-02T00:38:21Z</dcterms:created>
  <dcterms:modified xsi:type="dcterms:W3CDTF">2026-09-02T00:38:21Z</dcterms:modified>
</cp:coreProperties>
</file>