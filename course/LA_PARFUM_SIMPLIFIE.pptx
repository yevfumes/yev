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</p:sldIdLst>
  <p:notesMasterIdLst>
    <p:notesMasterId r:id="rId2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notesMaster" Target="notesMasters/notesMaster1.xml"/><Relationship Id="rId237" Type="http://schemas.openxmlformats.org/officeDocument/2006/relationships/presProps" Target="presProps.xml"/><Relationship Id="rId238" Type="http://schemas.openxmlformats.org/officeDocument/2006/relationships/viewProps" Target="viewProps.xml"/><Relationship Id="rId239" Type="http://schemas.openxmlformats.org/officeDocument/2006/relationships/theme" Target="theme/theme1.xml"/><Relationship Id="rId2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structured like a reference library with discussion channels attached, not an unstructured chatroom — walk through the actual channel list on screen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examples make these words stick far better than definitions alone — pair each with a live smell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 This module now runs long — take it one topic per 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half of the whole kit at a glance. Reveal one card at a time as you name each tool — every one of these gets its own proper explanation over the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kit. Same treatment — one card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on the specification (0.001g / ~200g), not a specific brand or model — any scale meeting that spec works. Walk through the 10g / 0.1% math slowly — this is the single idea that justifies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two real scales here if you have them — this is a great physical demonstration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Airflow is the beginner mistake nobody warns you about — a scale near an open window or a fan will drift and never settle.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— disposables are genuinely all a beginner needs. Only plastic transfer pipettes, never glass, in this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chain. Make sure students see that the pipette never does the measuring — only the transferring.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misconception derails more beginner formulas than almost anything else — never assume one drop always weighs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the solids counterpart to the liquids workflow — same discipline, different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brisk — beakers and funnels are the least conceptually demanding items in the whole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one running on camera if possible — watching a stir bar spin makes the point instantly, far better than describing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example label format should become second nature — use it consistently across every dilution bottle in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same labelled strip and revisit it at each stage — this single habit teaches drydown faster than anything else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both items are simple and don't need much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Organisation is the quiet skill that determines whether a growing material library stays useful or turns into chaos.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Either system is genuinely fine — the only rule is to pick one and stay consistent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short habits, easy to state quickly on camera — don't over-explain any single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whichever specific tool you personally use here, live on camera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introductory — don't go deep into compounding ratios here, that's the entire subject of module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Which solvent to choose depends on the material, the purpose, solubility, and how you plan to evaluate it — deeper solvent theory belongs in later modules, keep this a simple introduction.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the essential column is genuinely enough to begin every remaining module. Nothing on the nice-to-have list is required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light and reassuring, not preachy — the goal is permission to start small, not shame about wanting nice equipment eventually.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memorable line to close the equipment conversation on — everything else in this module supports one of these three things.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scale as the physical and visual centre of the bench — everything else is arranged around it, always within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 Today we go deep on four of them, natural-side.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examples: bergamot projects instantly but fades fast; sandalwood projects little but lasts for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Bright, inviting, easy to remember — this moodboard format repeats for every family across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side-by-side smelling — citrus oils are the easiest family to tell apart when compared directly, and the hardest to tell apart from memory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show the range within one family — bergamot for lift, grapefruit for sparkle, petitgrain for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Wood-ring icons for the cross-section woods, a root icon for vetiver, a single leaf for patchouli.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Woods are the load-bearing walls of a formula — almost every finished perfume rests on one or two of these at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naturals are the backbone naturals used across almost every genre, from fresh to oriental.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the flower icon shape itself changes — round for rose, star for jasmine, small for softer florals — a visual cue for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Florals are where naturals matter most — synthetics can approximate a rose, but rarely replace it entirely. This is the most expensive category to shop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smell all four side by side — the differences between rose, jasmine, neroli and ylang-ylang are the clearest floral lesson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Resins are the warm, sticky, ancient heart of perfumery — most predate synthetic chemistry by thousands of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resin is a natural fixative — this is exactly why they anchor base notes and slow the evaporation of everything above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Labdanum, benzoin and frankincense together roughly define the natural "amber" space long before Ambroxan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Mints are a small but useful family on their own — sharp, cooling top notes that show up in fresh and gourmand-fresh formulas alike.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common beginner misconception worth stating plainly — 'natural' is not a safety claim, it's a source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shopping horizon, not a requirement — the core families already covered are genuinely enough to start. Add from this list once you've worked through the essentials.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deep-dive sections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Musks are the skin of a formula — they don't announce themselves, but everything else leans on them. Not one smell — teach the differences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teach 'musk' as one generic smell — these four chemical families genuinely read differently on a strip, and choosing between them changes the whole texture of a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Macrocyclic musks are where perfumers reach for a warm, intimate, 'skin' effect — think of them as the family closest to how real musk deer secretion actually smells.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Polycyclic musks (Galaxolide, Tonalide) are the workhorse 'clean' layer in most modern formulas. Alicyclic musks (Helvetolide, Romandolide) are newer, even more transparent — useful when you want musk presence without any obvious musk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historical-literacy slide, not a shopping recommendation — nitro musks are here so students recognise the term, not so they go source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define the modern musk palette — clean, voluminous, and natural-feeling, respectively.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single-handedly defines the last twenty-five years of mainstream perfumery.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teach these as interchangeable — 'Ambroxan' names the effect, while Ambrofix and Cetalox are specific supplier grades of it, each with its own dryness, warmth and radiance. Cedramber is a related but genuinely different material, not another Ambroxan grade — always confirm on a fresh strip.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dose Ambroxan at 0.1% and then 3% in two strips — the difference is a genuinely eye-opening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and most-used synthetic family — almost every modern base note leans on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E Super, Javanol and Cashmeran alone can define three completely different "woody" moods — transparent, creamy, and cosy. Each earns its place by what it contributes to a formula's structure, not just its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Comparing Javanol against Sandalore against natural sandalwood on three strips is one of the best exercises in the whole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Isolated floral facets — each one is a single true note pulled out of a whole flower's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biggest synthetic family in raw material count — most "natural-smelling" florals are actually built from several of these stacked together. Visual association + proper explanation, every time: Hedione shown with jasmine, but explained through space and diffusion, not just a note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isn't precise technical specification — it's teaching students not to treat named variants as interchangeable without smelling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build a five-second "rose" from phenylethyl alcohol, citronellol, geraniol and a trace of rose oxide — it's a genuinely convincing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Freshness is not one effect — citrus, green, metallic, aldehydic and watery freshness all feel completely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 slide by naming the exact type of freshness each material delivers — citrus, green, metallic, aldehydic, watery — so students stop treating "fresh" as one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Dose cis-3-hexenol extremely lightly first — at full strength it reads as more "lawnmower" than most students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between "juicy and realistic" and "candy" is entirely a question of dose — this family teaches restraint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realism-versus-candy line is entirely about dose — the same material that reads as "ripe peach" at 0.5% reads as "bubblegum" at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Smell gamma undecalactone at three different dilutions side by side — realism versus candy is the whole lesson in one strip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family that built an entire modern genre — without it, the last decade of gourmand perfumery doesn't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Heliotropin and Piperonal are the same material under two names — flag that explicitly, it trips up a lot of self-taught beginners. Guaiacol is easy to mis-file as 'vanilla' because it turns up in vanilla and whisky-barrel accords — but its own character is smoke and phenol, not sweetness.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rewards restraint more than almost any other — a little goes further here than beginners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firmly before introducing Rose Givco — it reframes everything that follows as professional practice, not a shortcut.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honest: we teach how to recognise and use a base, not exact proprietary recipes.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Rose Givco as one well-known example of a category — the modification slide that follows is the more universally useful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clearly on camera: these are educational examples of direction, not fixed formulas — the same four moves work on almost any floral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an exact commercial product name isn't certain, describe the category honestly rather than guessing at a name — that's a deliberate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Woods, amber and musk together form the load-bearing base of almost every formula — this is where a beginner's budget is best spent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Floral, citrus, green and gourmand round out the first 30 — by the end of this list, every major family has at least one representative.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15 materials, alphabetised — useful once you're actually placing an order and working from a supplier's own listing.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Beginners often treat EDT/EDP/extrait as strict legal categories — correct that gently here before it becomes a bad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process at a glance — every worked example on the next few slides fills in one of these four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"stock of a stock" technique is the single most useful trick in this module — it turns an impossible 0.1g weighing into two easy 1g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directly to module 11's IFRA discussion — a well-chosen low dilution is a compliance tool as much as a workflow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built from these nine questions, answered every single evaluation —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hobbyist who plateaus and a nose that keeps improving for years — treat it as a daily habit, not a one-time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matters far less than the consistency — pick one of these three and actually use it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general recipe behind every accord in this module — Rose is used here as the running example, but the steps apply to any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is exactly the Jean Carles method and the development loop later in this module — the same discipline at every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 is the clearest teaching example for facet-mapping — every viewer already knows what real rose smells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point of the modification exercise — let students predict the effect before you confirm it on a strip.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are legitimate approaches. Module 03.2 introduces commercial bases; module 07 shows how to extend one into a finished accord.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sandalwood naturals (soft, milky, genuinely creamy) against sandalwood aroma chemicals like Javanol or Sandalore (sharper, more radiant, more linear) — both belong in this accord, in different proportions.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predict the effect of each increase before confirming on a strip — same exercise as the rose slide, different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the deep commercial-bases lesson already lives in module 03.2. This slide just names a few more real examples in accord-building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 one of these five as homework, or check the Discord accord library for more worked examples — building even a rough version from the facet list teaches the method faster than watching another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conceptual bridge between the architecture checklist and the four worked examples that follow — point back to it while walking through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formula can mix all four freely — individual synthetics, naturals, your own accords, and commercial bases like Rose Givco, all in one formula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idea about bases — students who skip this step end up with unfinished, generic-smelling formulas.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starting base, three completely different final characters — the base only decided the starting point, not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it's a working habit to mention, not a new module. The four worked examples that follow are the real payoff.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eight-step process is the spine of the whole module — everything before this slide was preparation, everything after it is the examples that prove it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08 goes deep on the evaluation step specifically — this is the overview of where it sits in the whole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Beginners often over-plan the pyramid and under-plan the actual character — remind them the idea from the brief always outranks the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pattern worth repeating for every formula students analyse: find the loud materials, then ask what the quiet ones are actually doing.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exercise as the floral formula — students should be able to do this unprompted by the end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with students: this is a widely-circulated educational approximation, not a leak of MFK's real formula — the goal is to learn how a professional formula is put together, not to clone a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DPG appearing inside the formula sheet itself means this compound is already a working dilution, not a neat concentrate — a direct callback to module 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of the whole module — students should leave this slide understanding that a famous formula's genius is usually in the proportions, not in secret ingredients.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apply this same four-question checklist to any formula they encounter from now on, published or their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This twelve-question framework applies to a single accord or a full formula alike — each answer points to a fix on the troubleshooting slide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companion to the six questions on the previous slide — every "yes, this is a problem" answer points here for the actual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a common beginner assumption here: water is not a required ingredient in a formula — many students add it out of habit rather than need. This sets up module 10's discussion of maceration and solubility.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 for the whole module here — IFRA exists to protect real people, not to create paperwork for its own sake.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memorise category numbers or definitions from any single source, including this course — always confirm the current category structure directly from IFRA's own published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calculation students actually need before writing a formula, not just after — run it for every restricted material before finalising percentages.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common beginner compliance mistake — an IFRA limit always refers to the third number, never the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bookmark the Standards Library and check it as a habit, not just when something feels risky.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SDS has 16 standardised sections in total — these seven are the ones a perfumer actually uses day to day. Every raw material supplier should provide one; if they don't, that's a red flag about the supplier.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correction genuinely matters — many beginners assume one document covers everything, and it doesn't.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requesting this paperwork part of your ordering routine — most established suppliers provide it automatically or on request, and hesitation to provide it is itself a warning 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honest caveat to close the technical content on — nothing in this module replaces checking the specific rules for your own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high energy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&amp; SCIENCE OF PERFUMERY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PARFUM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SIMPLIFIE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deck, the videos and Discord fit together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course is hands-on, not passive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roadmap through all 13 modules</a:t>
            </a:r>
            <a:endParaRPr lang="en-US" sz="1300" dirty="0"/>
          </a:p>
        </p:txBody>
      </p:sp>
      <p:sp>
        <p:nvSpPr>
          <p:cNvPr id="18" name="trans_fade_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6" name="bld1_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8" name="bld1_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what's being explained out loud — not a script. Watch, listen, and use the slide to stay oriented.</a:t>
            </a:r>
            <a:endParaRPr lang="en-US" sz="1250" dirty="0"/>
          </a:p>
        </p:txBody>
      </p:sp>
      <p:sp>
        <p:nvSpPr>
          <p:cNvPr id="19" name="bld2_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21" name="bld2_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22" name="bld3_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4" name="bld3_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6" name="trans_fade_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7" name="bld1_9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0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10" name="bld1_12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11" name="bld2_13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4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5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4" name="bld2_16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5" name="bld3_17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8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9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8" name="bld3_20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9" name="bld4_21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3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2" name="bld4_24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3" name="bld5_25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6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7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6" name="bld5_28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7" name="bld6_29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30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31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30" name="bld6_32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2" name="trans_fade_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13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65" name="trans_push_l_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6" name="Text 6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4" name="bld1_3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3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6" name="bld1_3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7" name="bld2_3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2_3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alongside every module</a:t>
            </a:r>
            <a:endParaRPr lang="en-US" sz="1650" dirty="0"/>
          </a:p>
        </p:txBody>
      </p:sp>
      <p:sp>
        <p:nvSpPr>
          <p:cNvPr id="19" name="bld2_3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smell and log the materials each module covers, at your own pace — this is where the learning actually happens.</a:t>
            </a:r>
            <a:endParaRPr lang="en-US" sz="1250" dirty="0"/>
          </a:p>
        </p:txBody>
      </p:sp>
      <p:sp>
        <p:nvSpPr>
          <p:cNvPr id="20" name="bld3_3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4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22" name="bld3_4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the group.</a:t>
            </a:r>
            <a:endParaRPr lang="en-US" sz="1250" dirty="0"/>
          </a:p>
        </p:txBody>
      </p:sp>
      <p:sp>
        <p:nvSpPr>
          <p:cNvPr id="23" name="bld4_4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4_4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5" name="bld4_4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7" name="trans_fade_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COMMUNITY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Discord is organised</a:t>
            </a:r>
            <a:endParaRPr lang="en-US" sz="3200" dirty="0"/>
          </a:p>
        </p:txBody>
      </p:sp>
      <p:sp>
        <p:nvSpPr>
          <p:cNvPr id="7" name="bld1_45"/>
          <p:cNvSpPr txBox="1"/>
          <p:nvPr/>
        </p:nvSpPr>
        <p:spPr>
          <a:xfrm>
            <a:off x="548640" y="271576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&amp; LIBRARY</a:t>
            </a:r>
            <a:endParaRPr lang="en-US" sz="1250" dirty="0"/>
          </a:p>
        </p:txBody>
      </p:sp>
      <p:sp>
        <p:nvSpPr>
          <p:cNvPr id="8" name="bld1_46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47"/>
          <p:cNvSpPr txBox="1"/>
          <p:nvPr/>
        </p:nvSpPr>
        <p:spPr>
          <a:xfrm>
            <a:off x="841248" y="31089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&amp; software page</a:t>
            </a:r>
            <a:endParaRPr lang="en-US" sz="1200" dirty="0"/>
          </a:p>
        </p:txBody>
      </p:sp>
      <p:sp>
        <p:nvSpPr>
          <p:cNvPr id="10" name="bld1_48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49"/>
          <p:cNvSpPr txBox="1"/>
          <p:nvPr/>
        </p:nvSpPr>
        <p:spPr>
          <a:xfrm>
            <a:off x="841248" y="35661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page</a:t>
            </a:r>
            <a:endParaRPr lang="en-US" sz="1200" dirty="0"/>
          </a:p>
        </p:txBody>
      </p:sp>
      <p:sp>
        <p:nvSpPr>
          <p:cNvPr id="12" name="bld1_50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51"/>
          <p:cNvSpPr txBox="1"/>
          <p:nvPr/>
        </p:nvSpPr>
        <p:spPr>
          <a:xfrm>
            <a:off x="841248" y="40233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library</a:t>
            </a:r>
            <a:endParaRPr lang="en-US" sz="1200" dirty="0"/>
          </a:p>
        </p:txBody>
      </p:sp>
      <p:sp>
        <p:nvSpPr>
          <p:cNvPr id="14" name="bld1_52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5" name="bld1_53"/>
          <p:cNvSpPr txBox="1"/>
          <p:nvPr/>
        </p:nvSpPr>
        <p:spPr>
          <a:xfrm>
            <a:off x="841248" y="44805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updates</a:t>
            </a:r>
            <a:endParaRPr lang="en-US" sz="1200" dirty="0"/>
          </a:p>
        </p:txBody>
      </p:sp>
      <p:sp>
        <p:nvSpPr>
          <p:cNvPr id="16" name="bld2_54"/>
          <p:cNvSpPr txBox="1"/>
          <p:nvPr/>
        </p:nvSpPr>
        <p:spPr>
          <a:xfrm>
            <a:off x="6255868" y="271576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&amp; GROW</a:t>
            </a:r>
            <a:endParaRPr lang="en-US" sz="1250" dirty="0"/>
          </a:p>
        </p:txBody>
      </p:sp>
      <p:sp>
        <p:nvSpPr>
          <p:cNvPr id="17" name="bld2_55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8" name="bld2_56"/>
          <p:cNvSpPr txBox="1"/>
          <p:nvPr/>
        </p:nvSpPr>
        <p:spPr>
          <a:xfrm>
            <a:off x="6548476" y="31089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 discussions</a:t>
            </a:r>
            <a:endParaRPr lang="en-US" sz="1200" dirty="0"/>
          </a:p>
        </p:txBody>
      </p:sp>
      <p:sp>
        <p:nvSpPr>
          <p:cNvPr id="19" name="bld2_57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0" name="bld2_58"/>
          <p:cNvSpPr txBox="1"/>
          <p:nvPr/>
        </p:nvSpPr>
        <p:spPr>
          <a:xfrm>
            <a:off x="6548476" y="35661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questions</a:t>
            </a:r>
            <a:endParaRPr lang="en-US" sz="1200" dirty="0"/>
          </a:p>
        </p:txBody>
      </p:sp>
      <p:sp>
        <p:nvSpPr>
          <p:cNvPr id="21" name="bld2_59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2" name="bld2_60"/>
          <p:cNvSpPr txBox="1"/>
          <p:nvPr/>
        </p:nvSpPr>
        <p:spPr>
          <a:xfrm>
            <a:off x="6548476" y="40233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classes &amp; resources</a:t>
            </a:r>
            <a:endParaRPr lang="en-US" sz="1200" dirty="0"/>
          </a:p>
        </p:txBody>
      </p:sp>
      <p:sp>
        <p:nvSpPr>
          <p:cNvPr id="23" name="bld2_61"/>
          <p:cNvSpPr/>
          <p:nvPr/>
        </p:nvSpPr>
        <p:spPr>
          <a:xfrm>
            <a:off x="6255868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4" name="bld2_62"/>
          <p:cNvSpPr txBox="1"/>
          <p:nvPr/>
        </p:nvSpPr>
        <p:spPr>
          <a:xfrm>
            <a:off x="6548476" y="44805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 schedule</a:t>
            </a:r>
            <a:endParaRPr lang="en-US" sz="1200" dirty="0"/>
          </a:p>
        </p:txBody>
      </p:sp>
      <p:sp>
        <p:nvSpPr>
          <p:cNvPr id="26" name="trans_fade_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7" name="bld1_6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6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6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10" name="bld1_6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11" name="bld2_6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4" name="bld2_7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5" name="bld3_7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7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7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8" name="bld3_7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9" name="bld4_7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7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7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2" name="bld4_7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3" name="bld5_7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8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8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6" name="bld5_8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7" name="bld6_8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8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8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30" name="bld6_8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2" name="trans_fade_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20" name="trans_fade_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CFC5AE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4" name="bld1_8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8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6" name="bld1_8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7" name="bld2_9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9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9" name="bld2_9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30" name="bld3_9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9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32" name="bld3_9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33" name="bld4_9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4" name="bld4_9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5" name="bld4_9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7" name="trans_fade_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10" name="trans_fade_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key terms, with real-world examples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fragrance pyramid and concentration tiers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vs. synthetics, and the myths around both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30" name="trans_fade_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7" name="bld1_99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00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01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10" name="bld1_102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11" name="bld2_103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04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05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4" name="bld2_106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5" name="bld3_107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8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9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10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9" name="bld4_111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1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13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2" name="bld4_114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3" name="bld5_115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6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7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6" name="bld5_118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7" name="bld6_119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20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21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30" name="bld6_122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2" name="trans_fade_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7" name="bld1_12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2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2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10" name="bld1_12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11" name="bld2_12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4" name="bld2_13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5" name="bld3_13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3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3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8" name="bld3_13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9" name="bld4_13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2" name="bld4_13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3" name="bld5_13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4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4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6" name="bld5_14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7" name="bld6_14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4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4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4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2" name="trans_fade_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SIX WORDS, WITH REAL EXAMPLES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accord, base and modifier actually look like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383310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4803619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47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48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bld1_149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accord, in practice</a:t>
            </a:r>
            <a:endParaRPr lang="en-US" sz="1450" dirty="0"/>
          </a:p>
        </p:txBody>
      </p:sp>
      <p:sp>
        <p:nvSpPr>
          <p:cNvPr id="13" name="bld1_150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+ geranium + a trace of clove — three materials that read as one unmistakable flower, not three chemicals.</a:t>
            </a:r>
            <a:endParaRPr lang="en-US" sz="1080" dirty="0"/>
          </a:p>
        </p:txBody>
      </p:sp>
      <p:sp>
        <p:nvSpPr>
          <p:cNvPr id="14" name="bld2_151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52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2_153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base, in practice</a:t>
            </a:r>
            <a:endParaRPr lang="en-US" sz="1450" dirty="0"/>
          </a:p>
        </p:txBody>
      </p:sp>
      <p:sp>
        <p:nvSpPr>
          <p:cNvPr id="17" name="bld2_154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pre-blended "musk base" bought ready-made and dropped straight into a formula for instant skin-like depth.</a:t>
            </a:r>
            <a:endParaRPr lang="en-US" sz="1080" dirty="0"/>
          </a:p>
        </p:txBody>
      </p:sp>
      <p:sp>
        <p:nvSpPr>
          <p:cNvPr id="18" name="bld3_155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6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0" name="bld3_157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modifier, in practice</a:t>
            </a:r>
            <a:endParaRPr lang="en-US" sz="1450" dirty="0"/>
          </a:p>
        </p:txBody>
      </p:sp>
      <p:sp>
        <p:nvSpPr>
          <p:cNvPr id="21" name="bld3_158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whisper of black pepper added to a vanilla accord — the vanilla is still the star, but it now reads spiced, not flat.</a:t>
            </a:r>
            <a:endParaRPr lang="en-US" sz="1080" dirty="0"/>
          </a:p>
        </p:txBody>
      </p:sp>
      <p:sp>
        <p:nvSpPr>
          <p:cNvPr id="23" name="trans_fade_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383310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4803619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59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6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161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13" name="bld1_162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14" name="bld2_163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64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65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7" name="bld2_166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8" name="bld3_167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68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69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21" name="bld3_170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22" name="bld4_171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72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73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5" name="bld4_174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7" name="trans_fade_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10" name="bld1_175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76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77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4" name="trans_wipe_l_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7" name="bld1_178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bld1_179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bld1_180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bld1_181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bld1_182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bld1_183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bld1_184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bld1_185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bld1_186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bld1_187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bld1_188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bld1_189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bld1_190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bld1_191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bld1_192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bld1_193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bld1_194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4" name="bld1_195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5" name="bld1_196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6" name="bld1_197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7" name="bld2_198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bld2_199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bld2_200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bld2_201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bld2_202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bld2_203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bld2_204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bld2_205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bld2_206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bld2_207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bld2_208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bld2_209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bld2_210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bld2_211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bld2_212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bld2_213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bld2_214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4" name="bld2_215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5" name="bld2_216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6" name="bld2_217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7" name="bld3_218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bld3_219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bld3_220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bld3_221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bld3_222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bld3_223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bld3_224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bld3_225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bld3_226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bld3_227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bld3_228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bld3_229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bld3_230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bld3_231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bld3_232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bld3_233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bld3_234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4" name="bld3_235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5" name="bld3_236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6" name="bld3_237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9" name="trans_fade_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29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427553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52975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08456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38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39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40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24" name="bld1_241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25" name="bld2_242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43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44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8" name="bld2_245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29" name="bld3_246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7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48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2" name="bld3_249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33" name="bld4_250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51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52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36" name="bld4_253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38" name="trans_fade_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21167" y="2850551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32111" y="2850551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87583" y="2850551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bld1_254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55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7" name="bld1_256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8" name="bld2_257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bld2_258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20" name="bld2_259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21" name="bld3_260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61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3" name="bld3_262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4" name="bld4_263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4_264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6" name="bld4_265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7" name="bld5_266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267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9" name="bld5_268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2" name="trans_push_l_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7" name="bld1_269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8" name="bld1_270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271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10" name="bld1_272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11" name="bld1_273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bld1_274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3" name="bld2_275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76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77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6" name="bld2_278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7" name="bld2_279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80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rans_wipe_l_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7" name="bld1_281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283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284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25" name="bld2_285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287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288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36" name="bld3_289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804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509167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7532942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3_291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43" name="bld3_292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44" name="bld4_293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10188067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10233538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10311040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10388543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10434014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2" name="bld4_295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53" name="bld4_296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54" name="bld5_297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6" name="Shape 54"/>
          <p:cNvSpPr/>
          <p:nvPr/>
        </p:nvSpPr>
        <p:spPr>
          <a:xfrm>
            <a:off x="1803055" y="365546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2700000">
            <a:off x="1854908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5400000">
            <a:off x="1876387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100000">
            <a:off x="1854908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0800000">
            <a:off x="1803055" y="38021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1751202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6200000">
            <a:off x="1729723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8900000">
            <a:off x="1751202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800630" y="3777296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65" name="Shape 6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6" name="bld5_299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67" name="bld5_300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68" name="bld6_301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0" name="Shape 68"/>
          <p:cNvSpPr/>
          <p:nvPr/>
        </p:nvSpPr>
        <p:spPr>
          <a:xfrm>
            <a:off x="4434543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515376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2" name="Shape 70"/>
          <p:cNvSpPr/>
          <p:nvPr/>
        </p:nvSpPr>
        <p:spPr>
          <a:xfrm>
            <a:off x="4596209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47942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4" name="Shape 7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5" name="bld6_303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76" name="bld6_304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77" name="bld7_305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79" name="Shape 77"/>
          <p:cNvSpPr/>
          <p:nvPr/>
        </p:nvSpPr>
        <p:spPr>
          <a:xfrm rot="9000000">
            <a:off x="7393404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6000000">
            <a:off x="7330354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1400000">
            <a:off x="7529203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83" name="bld7_307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84" name="bld7_308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85" name="bld8_309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29166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9" name="bld8_311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90" name="bld8_312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91" name="bld9_313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3" name="Shape 91"/>
          <p:cNvSpPr/>
          <p:nvPr/>
        </p:nvSpPr>
        <p:spPr>
          <a:xfrm rot="840000">
            <a:off x="1781230" y="5225546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840000">
            <a:off x="1833944" y="5281321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784868" y="529465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1802328" y="535479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7" name="Shape 95"/>
          <p:cNvSpPr/>
          <p:nvPr/>
        </p:nvSpPr>
        <p:spPr>
          <a:xfrm>
            <a:off x="1819787" y="54149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8" name="Shape 96"/>
          <p:cNvSpPr/>
          <p:nvPr/>
        </p:nvSpPr>
        <p:spPr>
          <a:xfrm>
            <a:off x="1837247" y="547507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9" name="Shape 97"/>
          <p:cNvSpPr/>
          <p:nvPr/>
        </p:nvSpPr>
        <p:spPr>
          <a:xfrm>
            <a:off x="1854707" y="553521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0" name="Shape 98"/>
          <p:cNvSpPr/>
          <p:nvPr/>
        </p:nvSpPr>
        <p:spPr>
          <a:xfrm>
            <a:off x="1872167" y="559535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02" name="bld9_315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103" name="bld9_316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104" name="bld10_317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5" name="Shape 103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434543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4496433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4471410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4471410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4496433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12" name="bld10_319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13" name="bld10_320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114" name="bld11_321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7325504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25504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325504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1" name="bld11_323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122" name="bld11_324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123" name="bld12_325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5" name="Shape 123"/>
          <p:cNvSpPr/>
          <p:nvPr/>
        </p:nvSpPr>
        <p:spPr>
          <a:xfrm rot="9000000">
            <a:off x="10231016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6000000">
            <a:off x="10167966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1400000">
            <a:off x="10366815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9" name="bld12_327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130" name="bld12_328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132" name="trans_fade_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134" name="Text 1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2" grpId="0"/>
      <p:bldP spid="43" grpId="0"/>
      <p:bldP spid="44" grpId="0"/>
      <p:bldP spid="52" grpId="0"/>
      <p:bldP spid="53" grpId="0"/>
      <p:bldP spid="54" grpId="0"/>
      <p:bldP spid="66" grpId="0"/>
      <p:bldP spid="67" grpId="0"/>
      <p:bldP spid="68" grpId="0"/>
      <p:bldP spid="75" grpId="0"/>
      <p:bldP spid="76" grpId="0"/>
      <p:bldP spid="77" grpId="0"/>
      <p:bldP spid="83" grpId="0"/>
      <p:bldP spid="84" grpId="0"/>
      <p:bldP spid="85" grpId="0"/>
      <p:bldP spid="89" grpId="0"/>
      <p:bldP spid="90" grpId="0"/>
      <p:bldP spid="91" grpId="0"/>
      <p:bldP spid="102" grpId="0"/>
      <p:bldP spid="103" grpId="0"/>
      <p:bldP spid="104" grpId="0"/>
      <p:bldP spid="112" grpId="0"/>
      <p:bldP spid="113" grpId="0"/>
      <p:bldP spid="114" grpId="0"/>
      <p:bldP spid="121" grpId="0"/>
      <p:bldP spid="122" grpId="0"/>
      <p:bldP spid="123" grpId="0"/>
      <p:bldP spid="129" grpId="0"/>
      <p:bldP spid="13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7" name="bld1_329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30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331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10" name="bld1_332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333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2" name="bld2_334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35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336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5" name="bld2_337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338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7" name="bld3_339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40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341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20" name="bld3_342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343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2" name="bld4_344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45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346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5" name="bld4_347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348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7" name="bld5_349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50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351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30" name="bld5_352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353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2" name="bld6_354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55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4" name="bld6_356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5" name="bld6_357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6" name="bld6_358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8" name="trans_fade_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10" name="trans_fade_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64447" y="3824387"/>
            <a:ext cx="1805026" cy="593080"/>
          </a:xfrm>
          <a:prstGeom prst="roundRect">
            <a:avLst>
              <a:gd name="adj" fmla="val 9251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9854" y="2737074"/>
            <a:ext cx="794211" cy="1146621"/>
          </a:xfrm>
          <a:prstGeom prst="roundRect">
            <a:avLst>
              <a:gd name="adj" fmla="val 3454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2388" y="2440534"/>
            <a:ext cx="914" cy="316309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Bench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accuracy, and you need to know exactly what each one is for.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0.001g scale is non-negotiable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on the bench, one at a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starter checklist, and what to skip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0" name="trans_fade_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you actually need?</a:t>
            </a:r>
            <a:endParaRPr lang="en-US" sz="3200" dirty="0"/>
          </a:p>
        </p:txBody>
      </p:sp>
      <p:sp>
        <p:nvSpPr>
          <p:cNvPr id="7" name="bld1_359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839430" y="2167179"/>
            <a:ext cx="120037" cy="5335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59467" y="2167179"/>
            <a:ext cx="120037" cy="666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959467" y="2233866"/>
            <a:ext cx="120037" cy="10670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59405" y="2340566"/>
            <a:ext cx="200062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59405" y="2220529"/>
            <a:ext cx="80025" cy="12003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92718" y="2153842"/>
            <a:ext cx="146712" cy="666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18090" y="2199189"/>
            <a:ext cx="42680" cy="42680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4129" y="2151841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64166" y="2218528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4129" y="2325228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44067" y="2325228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77380" y="2138504"/>
            <a:ext cx="30676" cy="30676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361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450" dirty="0"/>
          </a:p>
        </p:txBody>
      </p:sp>
      <p:sp>
        <p:nvSpPr>
          <p:cNvPr id="23" name="bld1_362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— your single most important tool.</a:t>
            </a:r>
            <a:endParaRPr lang="en-US" sz="1080" dirty="0"/>
          </a:p>
        </p:txBody>
      </p:sp>
      <p:sp>
        <p:nvSpPr>
          <p:cNvPr id="24" name="bld2_363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>
            <a:off x="4655702" y="2050780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0042" y="2118679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11082" y="2227319"/>
            <a:ext cx="131919" cy="156169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2A5266"/>
            </a:solidFill>
            <a:prstDash val="solid"/>
          </a:ln>
        </p:spPr>
      </p:sp>
      <p:sp>
        <p:nvSpPr>
          <p:cNvPr id="30" name="bld2_365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Magnetic stirrer</a:t>
            </a:r>
            <a:endParaRPr lang="en-US" sz="1450" dirty="0"/>
          </a:p>
        </p:txBody>
      </p:sp>
      <p:sp>
        <p:nvSpPr>
          <p:cNvPr id="31" name="bld2_366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mixing for dilutions and bases.</a:t>
            </a:r>
            <a:endParaRPr lang="en-US" sz="1080" dirty="0"/>
          </a:p>
        </p:txBody>
      </p:sp>
      <p:sp>
        <p:nvSpPr>
          <p:cNvPr id="32" name="bld3_367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474641" y="2031380"/>
            <a:ext cx="80025" cy="84026"/>
          </a:xfrm>
          <a:prstGeom prst="ellipse">
            <a:avLst/>
          </a:prstGeom>
          <a:solidFill>
            <a:srgbClr val="4090AF">
              <a:alpha val="85000"/>
            </a:srgbClr>
          </a:solidFill>
          <a:ln w="12700">
            <a:solidFill>
              <a:srgbClr val="4090A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03681" y="2111404"/>
            <a:ext cx="914" cy="225524"/>
          </a:xfrm>
          <a:prstGeom prst="line">
            <a:avLst/>
          </a:prstGeom>
          <a:noFill/>
          <a:ln w="28575">
            <a:solidFill>
              <a:srgbClr val="4090A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10800000">
            <a:off x="7503741" y="2336928"/>
            <a:ext cx="21825" cy="58200"/>
          </a:xfrm>
          <a:prstGeom prst="triangle">
            <a:avLst/>
          </a:prstGeom>
          <a:solidFill>
            <a:srgbClr val="4090AF">
              <a:alpha val="8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8" name="bld3_369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Pipettes</a:t>
            </a:r>
            <a:endParaRPr lang="en-US" sz="1450" dirty="0"/>
          </a:p>
        </p:txBody>
      </p:sp>
      <p:sp>
        <p:nvSpPr>
          <p:cNvPr id="39" name="bld3_370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Disposable, one per material.</a:t>
            </a:r>
            <a:endParaRPr lang="en-US" sz="1080" dirty="0"/>
          </a:p>
        </p:txBody>
      </p:sp>
      <p:sp>
        <p:nvSpPr>
          <p:cNvPr id="40" name="bld4_371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7" name="bld4_373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bottles</a:t>
            </a:r>
            <a:endParaRPr lang="en-US" sz="1450" dirty="0"/>
          </a:p>
        </p:txBody>
      </p:sp>
      <p:sp>
        <p:nvSpPr>
          <p:cNvPr id="48" name="bld4_374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that keeps light out.</a:t>
            </a:r>
            <a:endParaRPr lang="en-US" sz="1080" dirty="0"/>
          </a:p>
        </p:txBody>
      </p:sp>
      <p:sp>
        <p:nvSpPr>
          <p:cNvPr id="49" name="bld5_375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1" name="Shape 49"/>
          <p:cNvSpPr/>
          <p:nvPr/>
        </p:nvSpPr>
        <p:spPr>
          <a:xfrm>
            <a:off x="1814443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2" name="Shape 50"/>
          <p:cNvSpPr/>
          <p:nvPr/>
        </p:nvSpPr>
        <p:spPr>
          <a:xfrm>
            <a:off x="1817702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61830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798406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56" name="bld5_377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57" name="bld5_378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material, clearly labelled.</a:t>
            </a:r>
            <a:endParaRPr lang="en-US" sz="1080" dirty="0"/>
          </a:p>
        </p:txBody>
      </p:sp>
      <p:sp>
        <p:nvSpPr>
          <p:cNvPr id="58" name="bld6_379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0" name="Shape 58"/>
          <p:cNvSpPr/>
          <p:nvPr/>
        </p:nvSpPr>
        <p:spPr>
          <a:xfrm>
            <a:off x="4660067" y="4414782"/>
            <a:ext cx="36278" cy="329798"/>
          </a:xfrm>
          <a:prstGeom prst="roundRect">
            <a:avLst>
              <a:gd name="adj" fmla="val 5041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673783" y="4639045"/>
            <a:ext cx="8846" cy="87248"/>
          </a:xfrm>
          <a:prstGeom prst="roundRect">
            <a:avLst>
              <a:gd name="adj" fmla="val 1550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63" name="bld6_381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</a:t>
            </a:r>
            <a:endParaRPr lang="en-US" sz="1450" dirty="0"/>
          </a:p>
        </p:txBody>
      </p:sp>
      <p:sp>
        <p:nvSpPr>
          <p:cNvPr id="64" name="bld6_382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primary evaluation instrument.</a:t>
            </a:r>
            <a:endParaRPr lang="en-US" sz="1080" dirty="0"/>
          </a:p>
        </p:txBody>
      </p:sp>
      <p:sp>
        <p:nvSpPr>
          <p:cNvPr id="65" name="bld7_383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7" name="Shape 6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334045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7309021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7309021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7334045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AD8862"/>
            </a:solidFill>
            <a:prstDash val="solid"/>
          </a:ln>
        </p:spPr>
      </p:sp>
      <p:sp>
        <p:nvSpPr>
          <p:cNvPr id="73" name="bld7_385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vessels</a:t>
            </a:r>
            <a:endParaRPr lang="en-US" sz="1450" dirty="0"/>
          </a:p>
        </p:txBody>
      </p:sp>
      <p:sp>
        <p:nvSpPr>
          <p:cNvPr id="74" name="bld7_386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Boats and small cups for solids.</a:t>
            </a:r>
            <a:endParaRPr lang="en-US" sz="1080" dirty="0"/>
          </a:p>
        </p:txBody>
      </p:sp>
      <p:sp>
        <p:nvSpPr>
          <p:cNvPr id="76" name="trans_fade_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7" name="Text 7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0" grpId="0"/>
      <p:bldP spid="31" grpId="0"/>
      <p:bldP spid="32" grpId="0"/>
      <p:bldP spid="38" grpId="0"/>
      <p:bldP spid="39" grpId="0"/>
      <p:bldP spid="40" grpId="0"/>
      <p:bldP spid="47" grpId="0"/>
      <p:bldP spid="48" grpId="0"/>
      <p:bldP spid="49" grpId="0"/>
      <p:bldP spid="56" grpId="0"/>
      <p:bldP spid="57" grpId="0"/>
      <p:bldP spid="58" grpId="0"/>
      <p:bldP spid="63" grpId="0"/>
      <p:bldP spid="64" grpId="0"/>
      <p:bldP spid="65" grpId="0"/>
      <p:bldP spid="73" grpId="0"/>
      <p:bldP spid="7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...and the rest of the bench</a:t>
            </a:r>
            <a:endParaRPr lang="en-US" sz="3200" dirty="0"/>
          </a:p>
        </p:txBody>
      </p:sp>
      <p:sp>
        <p:nvSpPr>
          <p:cNvPr id="7" name="bld1_387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>
            <a:off x="2291025" y="2050780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15366" y="2118679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6406" y="2227319"/>
            <a:ext cx="131919" cy="156169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3" name="bld1_389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</a:t>
            </a:r>
            <a:endParaRPr lang="en-US" sz="1450" dirty="0"/>
          </a:p>
        </p:txBody>
      </p:sp>
      <p:sp>
        <p:nvSpPr>
          <p:cNvPr id="14" name="bld1_390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larger trial batches.</a:t>
            </a:r>
            <a:endParaRPr lang="en-US" sz="1080" dirty="0"/>
          </a:p>
        </p:txBody>
      </p:sp>
      <p:sp>
        <p:nvSpPr>
          <p:cNvPr id="15" name="bld2_391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074508" y="2050780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98848" y="2118679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29888" y="2227319"/>
            <a:ext cx="131919" cy="156169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1" name="bld2_393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22" name="bld2_394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spill-free transfers.</a:t>
            </a:r>
            <a:endParaRPr lang="en-US" sz="1080" dirty="0"/>
          </a:p>
        </p:txBody>
      </p:sp>
      <p:sp>
        <p:nvSpPr>
          <p:cNvPr id="23" name="bld3_395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5" name="Shape 23"/>
          <p:cNvSpPr/>
          <p:nvPr/>
        </p:nvSpPr>
        <p:spPr>
          <a:xfrm rot="8100000">
            <a:off x="9758081" y="2099280"/>
            <a:ext cx="242499" cy="242499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7" name="bld3_397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28" name="bld3_398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solids and crystalline materials.</a:t>
            </a:r>
            <a:endParaRPr lang="en-US" sz="1080" dirty="0"/>
          </a:p>
        </p:txBody>
      </p:sp>
      <p:sp>
        <p:nvSpPr>
          <p:cNvPr id="29" name="bld4_399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3" name="bld4_401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34" name="bld4_402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Nitrile, for clean handling.</a:t>
            </a:r>
            <a:endParaRPr lang="en-US" sz="1080" dirty="0"/>
          </a:p>
        </p:txBody>
      </p:sp>
      <p:sp>
        <p:nvSpPr>
          <p:cNvPr id="35" name="bld5_403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7" name="Shape 35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3" name="bld5_405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marker</a:t>
            </a:r>
            <a:endParaRPr lang="en-US" sz="1450" dirty="0"/>
          </a:p>
        </p:txBody>
      </p:sp>
      <p:sp>
        <p:nvSpPr>
          <p:cNvPr id="44" name="bld5_406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Alcohol-resistant, always.</a:t>
            </a:r>
            <a:endParaRPr lang="en-US" sz="1080" dirty="0"/>
          </a:p>
        </p:txBody>
      </p:sp>
      <p:sp>
        <p:nvSpPr>
          <p:cNvPr id="45" name="bld6_407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3" name="bld6_409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</a:t>
            </a:r>
            <a:endParaRPr lang="en-US" sz="1450" dirty="0"/>
          </a:p>
        </p:txBody>
      </p:sp>
      <p:sp>
        <p:nvSpPr>
          <p:cNvPr id="54" name="bld6_410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dark, consistent.</a:t>
            </a:r>
            <a:endParaRPr lang="en-US" sz="1080" dirty="0"/>
          </a:p>
        </p:txBody>
      </p:sp>
      <p:sp>
        <p:nvSpPr>
          <p:cNvPr id="56" name="trans_fade_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7" grpId="0"/>
      <p:bldP spid="28" grpId="0"/>
      <p:bldP spid="29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39687"/>
            <a:ext cx="582490" cy="25888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30197" y="2939687"/>
            <a:ext cx="582490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130197" y="3263292"/>
            <a:ext cx="582490" cy="51776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59381" y="3781061"/>
            <a:ext cx="97081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59381" y="3198571"/>
            <a:ext cx="388327" cy="58249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35776" y="2874966"/>
            <a:ext cx="711932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44154" y="3095017"/>
            <a:ext cx="207108" cy="207108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5768" y="2865258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38258" y="3188863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5768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84952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1346" y="2800536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25" name="bld1_41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1_41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27" name="bld1_41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28" name="bld2_41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2_41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30" name="bld2_41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you're making a 10g concentrate. 0.01g is 0.1% of the whole formula — with powerful materials, that's already too coarse to develop precisely. A 0.001g scale lets you make adjustments ten times smaller.</a:t>
            </a:r>
            <a:endParaRPr lang="en-US" sz="1250" dirty="0"/>
          </a:p>
        </p:txBody>
      </p:sp>
      <p:sp>
        <p:nvSpPr>
          <p:cNvPr id="31" name="bld3_41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bld3_41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33" name="bld3_41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34" name="bld4_42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42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36" name="bld4_42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38" name="trans_fade_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DIFFERENCE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0.01g scale vs. 0.001g scale</a:t>
            </a:r>
            <a:endParaRPr lang="en-US" sz="3200" dirty="0"/>
          </a:p>
        </p:txBody>
      </p:sp>
      <p:sp>
        <p:nvSpPr>
          <p:cNvPr id="7" name="bld1_423"/>
          <p:cNvSpPr/>
          <p:nvPr/>
        </p:nvSpPr>
        <p:spPr>
          <a:xfrm>
            <a:off x="548640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424"/>
          <p:cNvSpPr txBox="1"/>
          <p:nvPr/>
        </p:nvSpPr>
        <p:spPr>
          <a:xfrm>
            <a:off x="841248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0.01G SCALE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17572" y="3035808"/>
            <a:ext cx="1426464" cy="1426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3230804" y="3626649"/>
            <a:ext cx="275379" cy="12239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6183" y="3626649"/>
            <a:ext cx="275379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506183" y="3779638"/>
            <a:ext cx="275379" cy="24478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47218" y="4024419"/>
            <a:ext cx="458965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047218" y="3749040"/>
            <a:ext cx="183586" cy="27537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4230" y="3596052"/>
            <a:ext cx="336574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81848" y="3700084"/>
            <a:ext cx="97912" cy="9791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0995" y="359146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46374" y="3744450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0995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12031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9042" y="3560864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7572" y="3035808"/>
            <a:ext cx="1426464" cy="1426464"/>
          </a:xfrm>
          <a:prstGeom prst="ellipse">
            <a:avLst/>
          </a:prstGeom>
          <a:ln w="25603">
            <a:solidFill>
              <a:srgbClr val="8C827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709160"/>
            <a:ext cx="490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larger, rough measurements</a:t>
            </a:r>
            <a:endParaRPr lang="en-US" sz="1250" dirty="0"/>
          </a:p>
        </p:txBody>
      </p:sp>
      <p:sp>
        <p:nvSpPr>
          <p:cNvPr id="24" name="bld2_425"/>
          <p:cNvSpPr/>
          <p:nvPr/>
        </p:nvSpPr>
        <p:spPr>
          <a:xfrm>
            <a:off x="6278728" y="1874520"/>
            <a:ext cx="5364328" cy="4023360"/>
          </a:xfrm>
          <a:prstGeom prst="roundRect">
            <a:avLst>
              <a:gd name="adj" fmla="val 3182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bld2_426"/>
          <p:cNvSpPr txBox="1"/>
          <p:nvPr/>
        </p:nvSpPr>
        <p:spPr>
          <a:xfrm>
            <a:off x="6571336" y="2093976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47659" y="3035808"/>
            <a:ext cx="1426464" cy="1426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960891" y="3626649"/>
            <a:ext cx="275379" cy="12239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36270" y="3626649"/>
            <a:ext cx="275379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236270" y="3779638"/>
            <a:ext cx="275379" cy="24478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7305" y="4024419"/>
            <a:ext cx="458965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8777305" y="3749040"/>
            <a:ext cx="183586" cy="27537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4317" y="3596052"/>
            <a:ext cx="336574" cy="152988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11935" y="3700084"/>
            <a:ext cx="97912" cy="9791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01083" y="359146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76462" y="3744450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01083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42118" y="3989232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89130" y="3560864"/>
            <a:ext cx="70375" cy="70375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47659" y="3035808"/>
            <a:ext cx="1426464" cy="1426464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07328" y="4709160"/>
            <a:ext cx="490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formula development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real scales. Only one of them can see the doses you'll actually be working with.</a:t>
            </a:r>
            <a:endParaRPr lang="en-US" sz="1250" dirty="0"/>
          </a:p>
        </p:txBody>
      </p:sp>
      <p:sp>
        <p:nvSpPr>
          <p:cNvPr id="43" name="trans_wipe_l_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5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24" grpId="0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ONE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look for in a scale</a:t>
            </a:r>
            <a:endParaRPr lang="en-US" sz="3200" dirty="0"/>
          </a:p>
        </p:txBody>
      </p:sp>
      <p:sp>
        <p:nvSpPr>
          <p:cNvPr id="7" name="bld1_427"/>
          <p:cNvSpPr txBox="1"/>
          <p:nvPr/>
        </p:nvSpPr>
        <p:spPr>
          <a:xfrm>
            <a:off x="548640" y="198424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SPECIFICATIONS</a:t>
            </a:r>
            <a:endParaRPr lang="en-US" sz="1250" dirty="0"/>
          </a:p>
        </p:txBody>
      </p:sp>
      <p:sp>
        <p:nvSpPr>
          <p:cNvPr id="8" name="bld1_428"/>
          <p:cNvSpPr/>
          <p:nvPr/>
        </p:nvSpPr>
        <p:spPr>
          <a:xfrm>
            <a:off x="548640" y="24414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9" name="bld1_429"/>
          <p:cNvSpPr txBox="1"/>
          <p:nvPr/>
        </p:nvSpPr>
        <p:spPr>
          <a:xfrm>
            <a:off x="841248" y="23774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readability</a:t>
            </a:r>
            <a:endParaRPr lang="en-US" sz="1200" dirty="0"/>
          </a:p>
        </p:txBody>
      </p:sp>
      <p:sp>
        <p:nvSpPr>
          <p:cNvPr id="10" name="bld1_430"/>
          <p:cNvSpPr/>
          <p:nvPr/>
        </p:nvSpPr>
        <p:spPr>
          <a:xfrm>
            <a:off x="548640" y="28986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1" name="bld1_431"/>
          <p:cNvSpPr txBox="1"/>
          <p:nvPr/>
        </p:nvSpPr>
        <p:spPr>
          <a:xfrm>
            <a:off x="841248" y="28346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~100–300g maximum capacity</a:t>
            </a:r>
            <a:endParaRPr lang="en-US" sz="1200" dirty="0"/>
          </a:p>
        </p:txBody>
      </p:sp>
      <p:sp>
        <p:nvSpPr>
          <p:cNvPr id="12" name="bld1_432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3" name="bld1_433"/>
          <p:cNvSpPr txBox="1"/>
          <p:nvPr/>
        </p:nvSpPr>
        <p:spPr>
          <a:xfrm>
            <a:off x="841248" y="3291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function</a:t>
            </a:r>
            <a:endParaRPr lang="en-US" sz="1200" dirty="0"/>
          </a:p>
        </p:txBody>
      </p:sp>
      <p:sp>
        <p:nvSpPr>
          <p:cNvPr id="14" name="bld1_434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5" name="bld1_435"/>
          <p:cNvSpPr txBox="1"/>
          <p:nvPr/>
        </p:nvSpPr>
        <p:spPr>
          <a:xfrm>
            <a:off x="841248" y="37490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weight included</a:t>
            </a:r>
            <a:endParaRPr lang="en-US" sz="1200" dirty="0"/>
          </a:p>
        </p:txBody>
      </p:sp>
      <p:sp>
        <p:nvSpPr>
          <p:cNvPr id="16" name="bld1_436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7" name="bld1_437"/>
          <p:cNvSpPr txBox="1"/>
          <p:nvPr/>
        </p:nvSpPr>
        <p:spPr>
          <a:xfrm>
            <a:off x="841248" y="42062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weighing platform</a:t>
            </a:r>
            <a:endParaRPr lang="en-US" sz="1200" dirty="0"/>
          </a:p>
        </p:txBody>
      </p:sp>
      <p:sp>
        <p:nvSpPr>
          <p:cNvPr id="18" name="bld1_438"/>
          <p:cNvSpPr/>
          <p:nvPr/>
        </p:nvSpPr>
        <p:spPr>
          <a:xfrm>
            <a:off x="548640" y="47274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9" name="bld1_439"/>
          <p:cNvSpPr txBox="1"/>
          <p:nvPr/>
        </p:nvSpPr>
        <p:spPr>
          <a:xfrm>
            <a:off x="841248" y="46634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 function</a:t>
            </a:r>
            <a:endParaRPr lang="en-US" sz="1200" dirty="0"/>
          </a:p>
        </p:txBody>
      </p:sp>
      <p:sp>
        <p:nvSpPr>
          <p:cNvPr id="20" name="bld1_440"/>
          <p:cNvSpPr/>
          <p:nvPr/>
        </p:nvSpPr>
        <p:spPr>
          <a:xfrm>
            <a:off x="548640" y="51846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1" name="bld1_441"/>
          <p:cNvSpPr txBox="1"/>
          <p:nvPr/>
        </p:nvSpPr>
        <p:spPr>
          <a:xfrm>
            <a:off x="841248" y="51206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display</a:t>
            </a:r>
            <a:endParaRPr lang="en-US" sz="1200" dirty="0"/>
          </a:p>
        </p:txBody>
      </p:sp>
      <p:sp>
        <p:nvSpPr>
          <p:cNvPr id="22" name="bld1_442"/>
          <p:cNvSpPr/>
          <p:nvPr/>
        </p:nvSpPr>
        <p:spPr>
          <a:xfrm>
            <a:off x="548640" y="5641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3" name="bld1_443"/>
          <p:cNvSpPr txBox="1"/>
          <p:nvPr/>
        </p:nvSpPr>
        <p:spPr>
          <a:xfrm>
            <a:off x="841248" y="5577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readings</a:t>
            </a:r>
            <a:endParaRPr lang="en-US" sz="1200" dirty="0"/>
          </a:p>
        </p:txBody>
      </p:sp>
      <p:sp>
        <p:nvSpPr>
          <p:cNvPr id="24" name="bld2_444"/>
          <p:cNvSpPr txBox="1"/>
          <p:nvPr/>
        </p:nvSpPr>
        <p:spPr>
          <a:xfrm>
            <a:off x="6255868" y="198424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PUT IT</a:t>
            </a:r>
            <a:endParaRPr lang="en-US" sz="1250" dirty="0"/>
          </a:p>
        </p:txBody>
      </p:sp>
      <p:sp>
        <p:nvSpPr>
          <p:cNvPr id="25" name="bld2_445"/>
          <p:cNvSpPr/>
          <p:nvPr/>
        </p:nvSpPr>
        <p:spPr>
          <a:xfrm>
            <a:off x="6255868" y="24414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6" name="bld2_446"/>
          <p:cNvSpPr txBox="1"/>
          <p:nvPr/>
        </p:nvSpPr>
        <p:spPr>
          <a:xfrm>
            <a:off x="6548476" y="23774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solid, stable surface</a:t>
            </a:r>
            <a:endParaRPr lang="en-US" sz="1200" dirty="0"/>
          </a:p>
        </p:txBody>
      </p:sp>
      <p:sp>
        <p:nvSpPr>
          <p:cNvPr id="27" name="bld2_447"/>
          <p:cNvSpPr/>
          <p:nvPr/>
        </p:nvSpPr>
        <p:spPr>
          <a:xfrm>
            <a:off x="6255868" y="28986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8" name="bld2_448"/>
          <p:cNvSpPr txBox="1"/>
          <p:nvPr/>
        </p:nvSpPr>
        <p:spPr>
          <a:xfrm>
            <a:off x="6548476" y="28346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vibration</a:t>
            </a:r>
            <a:endParaRPr lang="en-US" sz="1200" dirty="0"/>
          </a:p>
        </p:txBody>
      </p:sp>
      <p:sp>
        <p:nvSpPr>
          <p:cNvPr id="29" name="bld2_449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0" name="bld2_450"/>
          <p:cNvSpPr txBox="1"/>
          <p:nvPr/>
        </p:nvSpPr>
        <p:spPr>
          <a:xfrm>
            <a:off x="6548476" y="3291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fans</a:t>
            </a:r>
            <a:endParaRPr lang="en-US" sz="1200" dirty="0"/>
          </a:p>
        </p:txBody>
      </p:sp>
      <p:sp>
        <p:nvSpPr>
          <p:cNvPr id="31" name="bld2_451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2" name="bld2_452"/>
          <p:cNvSpPr txBox="1"/>
          <p:nvPr/>
        </p:nvSpPr>
        <p:spPr>
          <a:xfrm>
            <a:off x="6548476" y="37490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open windows</a:t>
            </a:r>
            <a:endParaRPr lang="en-US" sz="1200" dirty="0"/>
          </a:p>
        </p:txBody>
      </p:sp>
      <p:sp>
        <p:nvSpPr>
          <p:cNvPr id="33" name="bld2_453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4" name="bld2_454"/>
          <p:cNvSpPr txBox="1"/>
          <p:nvPr/>
        </p:nvSpPr>
        <p:spPr>
          <a:xfrm>
            <a:off x="6548476" y="42062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 strong airflow</a:t>
            </a:r>
            <a:endParaRPr lang="en-US" sz="1200" dirty="0"/>
          </a:p>
        </p:txBody>
      </p:sp>
      <p:sp>
        <p:nvSpPr>
          <p:cNvPr id="36" name="trans_fade_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pipettes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9385905" y="2433686"/>
            <a:ext cx="323605" cy="339786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36735" y="2757291"/>
            <a:ext cx="914" cy="911979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9503580" y="3669270"/>
            <a:ext cx="88256" cy="235349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cheap, and it solves the one problem that actually matters: no cross-contamination.</a:t>
            </a:r>
            <a:endParaRPr lang="en-US" sz="1050" dirty="0"/>
          </a:p>
        </p:txBody>
      </p:sp>
      <p:sp>
        <p:nvSpPr>
          <p:cNvPr id="16" name="bld1_45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45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Cheap, fast, zero cleanup</a:t>
            </a:r>
            <a:endParaRPr lang="en-US" sz="1650" dirty="0"/>
          </a:p>
        </p:txBody>
      </p:sp>
      <p:sp>
        <p:nvSpPr>
          <p:cNvPr id="18" name="bld1_45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of disposable plastic pipettes is all you need to transfer materials and add them gradually while you weigh.</a:t>
            </a:r>
            <a:endParaRPr lang="en-US" sz="1250" dirty="0"/>
          </a:p>
        </p:txBody>
      </p:sp>
      <p:sp>
        <p:nvSpPr>
          <p:cNvPr id="19" name="bld2_45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45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pipette per material</a:t>
            </a:r>
            <a:endParaRPr lang="en-US" sz="1650" dirty="0"/>
          </a:p>
        </p:txBody>
      </p:sp>
      <p:sp>
        <p:nvSpPr>
          <p:cNvPr id="21" name="bld2_46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reusing the same pipette across unrelated materials — even a trace of cross-contamination ruins a reading.</a:t>
            </a:r>
            <a:endParaRPr lang="en-US" sz="1250" dirty="0"/>
          </a:p>
        </p:txBody>
      </p:sp>
      <p:sp>
        <p:nvSpPr>
          <p:cNvPr id="22" name="bld3_46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3_46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Throw it away, don't rinse it</a:t>
            </a:r>
            <a:endParaRPr lang="en-US" sz="1650" dirty="0"/>
          </a:p>
        </p:txBody>
      </p:sp>
      <p:sp>
        <p:nvSpPr>
          <p:cNvPr id="24" name="bld3_46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Rinsing costs more time and solvent than a fresh pipette costs — that's the entire point of disposables.</a:t>
            </a:r>
            <a:endParaRPr lang="en-US" sz="1250" dirty="0"/>
          </a:p>
        </p:txBody>
      </p:sp>
      <p:sp>
        <p:nvSpPr>
          <p:cNvPr id="26" name="trans_fade_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bottle to weighing vessel</a:t>
            </a:r>
            <a:endParaRPr lang="en-US" sz="3200" dirty="0"/>
          </a:p>
        </p:txBody>
      </p:sp>
      <p:sp>
        <p:nvSpPr>
          <p:cNvPr id="7" name="bld1_464"/>
          <p:cNvSpPr/>
          <p:nvPr/>
        </p:nvSpPr>
        <p:spPr>
          <a:xfrm>
            <a:off x="548640" y="2922422"/>
            <a:ext cx="348477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46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466"/>
          <p:cNvSpPr txBox="1"/>
          <p:nvPr/>
        </p:nvSpPr>
        <p:spPr>
          <a:xfrm>
            <a:off x="713232" y="3452774"/>
            <a:ext cx="31555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bottle</a:t>
            </a:r>
            <a:endParaRPr lang="en-US" sz="1450" dirty="0"/>
          </a:p>
        </p:txBody>
      </p:sp>
      <p:sp>
        <p:nvSpPr>
          <p:cNvPr id="10" name="bld1_467"/>
          <p:cNvSpPr txBox="1"/>
          <p:nvPr/>
        </p:nvSpPr>
        <p:spPr>
          <a:xfrm>
            <a:off x="713232" y="3946550"/>
            <a:ext cx="31555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material lives, capped and labelled.</a:t>
            </a:r>
            <a:endParaRPr lang="en-US" sz="1000" dirty="0"/>
          </a:p>
        </p:txBody>
      </p:sp>
      <p:sp>
        <p:nvSpPr>
          <p:cNvPr id="11" name="bld1_468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469"/>
          <p:cNvSpPr/>
          <p:nvPr/>
        </p:nvSpPr>
        <p:spPr>
          <a:xfrm>
            <a:off x="4353458" y="2922422"/>
            <a:ext cx="348477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470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471"/>
          <p:cNvSpPr txBox="1"/>
          <p:nvPr/>
        </p:nvSpPr>
        <p:spPr>
          <a:xfrm>
            <a:off x="4518050" y="3452774"/>
            <a:ext cx="31555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</a:t>
            </a:r>
            <a:endParaRPr lang="en-US" sz="1450" dirty="0"/>
          </a:p>
        </p:txBody>
      </p:sp>
      <p:sp>
        <p:nvSpPr>
          <p:cNvPr id="15" name="bld2_472"/>
          <p:cNvSpPr txBox="1"/>
          <p:nvPr/>
        </p:nvSpPr>
        <p:spPr>
          <a:xfrm>
            <a:off x="4518050" y="3946550"/>
            <a:ext cx="31555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the material — nothing more.</a:t>
            </a:r>
            <a:endParaRPr lang="en-US" sz="1000" dirty="0"/>
          </a:p>
        </p:txBody>
      </p:sp>
      <p:sp>
        <p:nvSpPr>
          <p:cNvPr id="16" name="bld2_473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474"/>
          <p:cNvSpPr/>
          <p:nvPr/>
        </p:nvSpPr>
        <p:spPr>
          <a:xfrm>
            <a:off x="8158277" y="2922422"/>
            <a:ext cx="348477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475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476"/>
          <p:cNvSpPr txBox="1"/>
          <p:nvPr/>
        </p:nvSpPr>
        <p:spPr>
          <a:xfrm>
            <a:off x="8322869" y="3452774"/>
            <a:ext cx="31555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vessel</a:t>
            </a:r>
            <a:endParaRPr lang="en-US" sz="1450" dirty="0"/>
          </a:p>
        </p:txBody>
      </p:sp>
      <p:sp>
        <p:nvSpPr>
          <p:cNvPr id="20" name="bld3_477"/>
          <p:cNvSpPr txBox="1"/>
          <p:nvPr/>
        </p:nvSpPr>
        <p:spPr>
          <a:xfrm>
            <a:off x="8322869" y="3946550"/>
            <a:ext cx="31555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on the scale, where the real measurement happens.</a:t>
            </a:r>
            <a:endParaRPr lang="en-US" sz="1000" dirty="0"/>
          </a:p>
        </p:txBody>
      </p:sp>
      <p:sp>
        <p:nvSpPr>
          <p:cNvPr id="22" name="trans_push_l_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7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drop is not a unit.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scale decides the amount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pipette is only the transfer tool.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IMPORTANT</a:t>
            </a:r>
            <a:endParaRPr lang="en-US" sz="1100" dirty="0"/>
          </a:p>
        </p:txBody>
      </p:sp>
      <p:sp>
        <p:nvSpPr>
          <p:cNvPr id="10" name="trans_fade_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solids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228477" y="2329929"/>
            <a:ext cx="1045998" cy="1045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361956" y="2591429"/>
            <a:ext cx="7790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307988" y="2765762"/>
            <a:ext cx="88697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307988" y="2940094"/>
            <a:ext cx="88697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361956" y="3114427"/>
            <a:ext cx="7790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8" name="Shape 16"/>
          <p:cNvSpPr/>
          <p:nvPr/>
        </p:nvSpPr>
        <p:spPr>
          <a:xfrm rot="8100000">
            <a:off x="10082440" y="2591429"/>
            <a:ext cx="522999" cy="522999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disposable boat for the material, a dedicated spatula for the scoop.</a:t>
            </a:r>
            <a:endParaRPr lang="en-US" sz="1050" dirty="0"/>
          </a:p>
        </p:txBody>
      </p:sp>
      <p:sp>
        <p:nvSpPr>
          <p:cNvPr id="21" name="bld1_47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47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 &amp; small disposable cups</a:t>
            </a:r>
            <a:endParaRPr lang="en-US" sz="1650" dirty="0"/>
          </a:p>
        </p:txBody>
      </p:sp>
      <p:sp>
        <p:nvSpPr>
          <p:cNvPr id="23" name="bld1_48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weighing solids, sticky materials and small experiments — disposable, so nothing carries over between uses.</a:t>
            </a:r>
            <a:endParaRPr lang="en-US" sz="1250" dirty="0"/>
          </a:p>
        </p:txBody>
      </p:sp>
      <p:sp>
        <p:nvSpPr>
          <p:cNvPr id="24" name="bld2_48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48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the vessel to the material</a:t>
            </a:r>
            <a:endParaRPr lang="en-US" sz="1650" dirty="0"/>
          </a:p>
        </p:txBody>
      </p:sp>
      <p:sp>
        <p:nvSpPr>
          <p:cNvPr id="26" name="bld2_48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attack certain plastics — check that the weighing container is actually compatible with what you're handling.</a:t>
            </a:r>
            <a:endParaRPr lang="en-US" sz="1250" dirty="0"/>
          </a:p>
        </p:txBody>
      </p:sp>
      <p:sp>
        <p:nvSpPr>
          <p:cNvPr id="27" name="bld3_48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3_48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 for solids</a:t>
            </a:r>
            <a:endParaRPr lang="en-US" sz="1650" dirty="0"/>
          </a:p>
        </p:txBody>
      </p:sp>
      <p:sp>
        <p:nvSpPr>
          <p:cNvPr id="29" name="bld3_48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Vanillin, ethyl maltol, coumarin, crystalline materials, and thicker resins all need a spatula, not a pipette.</a:t>
            </a:r>
            <a:endParaRPr lang="en-US" sz="1250" dirty="0"/>
          </a:p>
        </p:txBody>
      </p:sp>
      <p:sp>
        <p:nvSpPr>
          <p:cNvPr id="30" name="bld4_48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1" name="bld4_48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spatula, one material</a:t>
            </a:r>
            <a:endParaRPr lang="en-US" sz="1650" dirty="0"/>
          </a:p>
        </p:txBody>
      </p:sp>
      <p:sp>
        <p:nvSpPr>
          <p:cNvPr id="32" name="bld4_48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like pipettes — never carry a contaminated spatula from one material into another.</a:t>
            </a:r>
            <a:endParaRPr lang="en-US" sz="1250" dirty="0"/>
          </a:p>
        </p:txBody>
      </p:sp>
      <p:sp>
        <p:nvSpPr>
          <p:cNvPr id="34" name="trans_fade_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07 &amp; 08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beakers &amp; funnels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1" name="Shape 9"/>
          <p:cNvSpPr/>
          <p:nvPr/>
        </p:nvSpPr>
        <p:spPr>
          <a:xfrm>
            <a:off x="8705452" y="2486829"/>
            <a:ext cx="92048" cy="205016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2276" y="2633269"/>
            <a:ext cx="418399" cy="58575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09220" y="2867572"/>
            <a:ext cx="284511" cy="336811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97916" y="2486829"/>
            <a:ext cx="92048" cy="205016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34740" y="2633269"/>
            <a:ext cx="418399" cy="58575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01684" y="2867572"/>
            <a:ext cx="284511" cy="336811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 shelf of laboratory glassware — a handful of sizes covers everything.</a:t>
            </a:r>
            <a:endParaRPr lang="en-US" sz="1050" dirty="0"/>
          </a:p>
        </p:txBody>
      </p:sp>
      <p:sp>
        <p:nvSpPr>
          <p:cNvPr id="21" name="bld1_49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49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 for larger batches</a:t>
            </a:r>
            <a:endParaRPr lang="en-US" sz="1650" dirty="0"/>
          </a:p>
        </p:txBody>
      </p:sp>
      <p:sp>
        <p:nvSpPr>
          <p:cNvPr id="23" name="bld1_49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combining trial batches, mixing a finished concentrate, or scaling up a formula. A few sizes are enough — try 25ml, 50ml, 100ml and 250ml.</a:t>
            </a:r>
            <a:endParaRPr lang="en-US" sz="1250" dirty="0"/>
          </a:p>
        </p:txBody>
      </p:sp>
      <p:sp>
        <p:nvSpPr>
          <p:cNvPr id="24" name="bld2_49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49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scale still measures by mass</a:t>
            </a:r>
            <a:endParaRPr lang="en-US" sz="1650" dirty="0"/>
          </a:p>
        </p:txBody>
      </p:sp>
      <p:sp>
        <p:nvSpPr>
          <p:cNvPr id="26" name="bld2_49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Beaker markings are for rough volume, not precision — always weigh, never eyeball a fill line as a formula measurement.</a:t>
            </a:r>
            <a:endParaRPr lang="en-US" sz="1250" dirty="0"/>
          </a:p>
        </p:txBody>
      </p:sp>
      <p:sp>
        <p:nvSpPr>
          <p:cNvPr id="27" name="bld3_49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3_49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 keep transfers clean</a:t>
            </a:r>
            <a:endParaRPr lang="en-US" sz="1650" dirty="0"/>
          </a:p>
        </p:txBody>
      </p:sp>
      <p:sp>
        <p:nvSpPr>
          <p:cNvPr id="29" name="bld3_49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moving concentrate or alcohol into a narrow-neck bottle without spilling. Keep this simple — a couple of small funnels is plenty.</a:t>
            </a:r>
            <a:endParaRPr lang="en-US" sz="1250" dirty="0"/>
          </a:p>
        </p:txBody>
      </p:sp>
      <p:sp>
        <p:nvSpPr>
          <p:cNvPr id="31" name="trans_fade_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Magnetic stirrer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1" name="Shape 9"/>
          <p:cNvSpPr/>
          <p:nvPr/>
        </p:nvSpPr>
        <p:spPr>
          <a:xfrm>
            <a:off x="9455660" y="2466373"/>
            <a:ext cx="184096" cy="41003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29309" y="2759252"/>
            <a:ext cx="836798" cy="1171517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63196" y="3227859"/>
            <a:ext cx="569023" cy="673622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stir bar does the mixing so your hand doesn't have to.</a:t>
            </a:r>
            <a:endParaRPr lang="en-US" sz="1050" dirty="0"/>
          </a:p>
        </p:txBody>
      </p:sp>
      <p:sp>
        <p:nvSpPr>
          <p:cNvPr id="16" name="bld1_49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50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Even, consistent mixing</a:t>
            </a:r>
            <a:endParaRPr lang="en-US" sz="1650" dirty="0"/>
          </a:p>
        </p:txBody>
      </p:sp>
      <p:sp>
        <p:nvSpPr>
          <p:cNvPr id="18" name="bld1_50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stir bar spinning inside the beaker blends a dilution or a base far more evenly than hand-shaking, especially once volumes grow past a few grams.</a:t>
            </a:r>
            <a:endParaRPr lang="en-US" sz="1250" dirty="0"/>
          </a:p>
        </p:txBody>
      </p:sp>
      <p:sp>
        <p:nvSpPr>
          <p:cNvPr id="19" name="bld2_50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50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actually matters</a:t>
            </a:r>
            <a:endParaRPr lang="en-US" sz="1650" dirty="0"/>
          </a:p>
        </p:txBody>
      </p:sp>
      <p:sp>
        <p:nvSpPr>
          <p:cNvPr id="21" name="bld2_50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Bases, larger batches, and any mix that needs to be genuinely homogeneous before you evaluate or bottle it.</a:t>
            </a:r>
            <a:endParaRPr lang="en-US" sz="1250" dirty="0"/>
          </a:p>
        </p:txBody>
      </p:sp>
      <p:sp>
        <p:nvSpPr>
          <p:cNvPr id="22" name="bld3_50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3_50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basic stirrer is enough to start</a:t>
            </a:r>
            <a:endParaRPr lang="en-US" sz="1650" dirty="0"/>
          </a:p>
        </p:txBody>
      </p:sp>
      <p:sp>
        <p:nvSpPr>
          <p:cNvPr id="24" name="bld3_50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the heated version yet — that's a nice-to-have for materials that benefit from gentle warming to dissolve fully.</a:t>
            </a:r>
            <a:endParaRPr lang="en-US" sz="1250" dirty="0"/>
          </a:p>
        </p:txBody>
      </p:sp>
      <p:sp>
        <p:nvSpPr>
          <p:cNvPr id="26" name="trans_fade_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96041" y="3175528"/>
            <a:ext cx="188917" cy="169365"/>
          </a:xfrm>
          <a:prstGeom prst="roundRect">
            <a:avLst>
              <a:gd name="adj" fmla="val 21596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8208361" y="3344893"/>
            <a:ext cx="164275" cy="27098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97150" y="3615878"/>
            <a:ext cx="586697" cy="1253302"/>
          </a:xfrm>
          <a:prstGeom prst="roundRect">
            <a:avLst>
              <a:gd name="adj" fmla="val 1870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33726" y="4117199"/>
            <a:ext cx="513545" cy="715405"/>
          </a:xfrm>
          <a:prstGeom prst="roundRect">
            <a:avLst>
              <a:gd name="adj" fmla="val 17806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0445" y="2570653"/>
            <a:ext cx="256387" cy="229853"/>
          </a:xfrm>
          <a:prstGeom prst="roundRect">
            <a:avLst>
              <a:gd name="adj" fmla="val 15913"/>
            </a:avLst>
          </a:prstGeom>
          <a:solidFill>
            <a:srgbClr val="0E0D0B"/>
          </a:solidFill>
          <a:ln/>
        </p:spPr>
      </p:sp>
      <p:sp>
        <p:nvSpPr>
          <p:cNvPr id="15" name="Shape 13"/>
          <p:cNvSpPr/>
          <p:nvPr/>
        </p:nvSpPr>
        <p:spPr>
          <a:xfrm>
            <a:off x="9017166" y="2800505"/>
            <a:ext cx="222945" cy="36776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30522" y="3168270"/>
            <a:ext cx="796232" cy="1700910"/>
          </a:xfrm>
          <a:prstGeom prst="roundRect">
            <a:avLst>
              <a:gd name="adj" fmla="val 1378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67098" y="3848634"/>
            <a:ext cx="723080" cy="983970"/>
          </a:xfrm>
          <a:prstGeom prst="roundRect">
            <a:avLst>
              <a:gd name="adj" fmla="val 12646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804849" y="1965777"/>
            <a:ext cx="323857" cy="290340"/>
          </a:xfrm>
          <a:prstGeom prst="roundRect">
            <a:avLst>
              <a:gd name="adj" fmla="val 12598"/>
            </a:avLst>
          </a:prstGeom>
          <a:solidFill>
            <a:srgbClr val="0E0D0B"/>
          </a:solidFill>
          <a:ln/>
        </p:spPr>
      </p:sp>
      <p:sp>
        <p:nvSpPr>
          <p:cNvPr id="19" name="Shape 17"/>
          <p:cNvSpPr/>
          <p:nvPr/>
        </p:nvSpPr>
        <p:spPr>
          <a:xfrm>
            <a:off x="9825970" y="2256117"/>
            <a:ext cx="281615" cy="46454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63894" y="2720662"/>
            <a:ext cx="1005767" cy="2148518"/>
          </a:xfrm>
          <a:prstGeom prst="roundRect">
            <a:avLst>
              <a:gd name="adj" fmla="val 1091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0470" y="3580069"/>
            <a:ext cx="932615" cy="1252535"/>
          </a:xfrm>
          <a:prstGeom prst="roundRect">
            <a:avLst>
              <a:gd name="adj" fmla="val 9805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02506" y="1239926"/>
            <a:ext cx="404821" cy="362925"/>
          </a:xfrm>
          <a:prstGeom prst="roundRect">
            <a:avLst>
              <a:gd name="adj" fmla="val 10078"/>
            </a:avLst>
          </a:prstGeom>
          <a:solidFill>
            <a:srgbClr val="0E0D0B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28907" y="1602852"/>
            <a:ext cx="352018" cy="580681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76312" y="2183532"/>
            <a:ext cx="1257209" cy="2685648"/>
          </a:xfrm>
          <a:prstGeom prst="roundRect">
            <a:avLst>
              <a:gd name="adj" fmla="val 8728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12888" y="3257791"/>
            <a:ext cx="1184057" cy="1574813"/>
          </a:xfrm>
          <a:prstGeom prst="roundRect">
            <a:avLst>
              <a:gd name="adj" fmla="val 7723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5ml → 10ml → 30ml → 100ml — small for trials, large for daily use.</a:t>
            </a:r>
            <a:endParaRPr lang="en-US" sz="1050" dirty="0"/>
          </a:p>
        </p:txBody>
      </p:sp>
      <p:sp>
        <p:nvSpPr>
          <p:cNvPr id="27" name="bld1_50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1_50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amber matters</a:t>
            </a:r>
            <a:endParaRPr lang="en-US" sz="1650" dirty="0"/>
          </a:p>
        </p:txBody>
      </p:sp>
      <p:sp>
        <p:nvSpPr>
          <p:cNvPr id="29" name="bld1_51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reduces light exposure — useful for storing raw materials, dilutions, accords and formula trials alike.</a:t>
            </a:r>
            <a:endParaRPr lang="en-US" sz="1250" dirty="0"/>
          </a:p>
        </p:txBody>
      </p:sp>
      <p:sp>
        <p:nvSpPr>
          <p:cNvPr id="30" name="bld2_51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2_51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sizes — 5ml &amp; 10ml</a:t>
            </a:r>
            <a:endParaRPr lang="en-US" sz="1650" dirty="0"/>
          </a:p>
        </p:txBody>
      </p:sp>
      <p:sp>
        <p:nvSpPr>
          <p:cNvPr id="32" name="bld2_51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dilutions, trials and expensive materials you're only using in small amounts.</a:t>
            </a:r>
            <a:endParaRPr lang="en-US" sz="1250" dirty="0"/>
          </a:p>
        </p:txBody>
      </p:sp>
      <p:sp>
        <p:nvSpPr>
          <p:cNvPr id="33" name="bld3_51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4" name="bld3_51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sizes — 30ml, 50ml &amp; 100ml</a:t>
            </a:r>
            <a:endParaRPr lang="en-US" sz="1650" dirty="0"/>
          </a:p>
        </p:txBody>
      </p:sp>
      <p:sp>
        <p:nvSpPr>
          <p:cNvPr id="35" name="bld3_51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frequently used materials, larger bases, alcohol, and dilutions you reach for often.</a:t>
            </a:r>
            <a:endParaRPr lang="en-US" sz="1250" dirty="0"/>
          </a:p>
        </p:txBody>
      </p:sp>
      <p:sp>
        <p:nvSpPr>
          <p:cNvPr id="36" name="bld4_51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4_51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need every size at once</a:t>
            </a:r>
            <a:endParaRPr lang="en-US" sz="1650" dirty="0"/>
          </a:p>
        </p:txBody>
      </p:sp>
      <p:sp>
        <p:nvSpPr>
          <p:cNvPr id="38" name="bld4_51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into sizes as your library actually grows — a handful of each is plenty to begin.</a:t>
            </a:r>
            <a:endParaRPr lang="en-US" sz="1250" dirty="0"/>
          </a:p>
        </p:txBody>
      </p:sp>
      <p:sp>
        <p:nvSpPr>
          <p:cNvPr id="40" name="trans_fade_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every dilution bottle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73170" y="1124712"/>
            <a:ext cx="350845" cy="449336"/>
          </a:xfrm>
          <a:prstGeom prst="roundRect">
            <a:avLst>
              <a:gd name="adj" fmla="val 10425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8096051" y="1574048"/>
            <a:ext cx="305083" cy="71893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03802" y="2292986"/>
            <a:ext cx="1089581" cy="3325088"/>
          </a:xfrm>
          <a:prstGeom prst="roundRect">
            <a:avLst>
              <a:gd name="adj" fmla="val 1007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40378" y="3789275"/>
            <a:ext cx="1016429" cy="1792222"/>
          </a:xfrm>
          <a:prstGeom prst="roundRect">
            <a:avLst>
              <a:gd name="adj" fmla="val 8996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56343" y="3423516"/>
            <a:ext cx="784498" cy="864523"/>
          </a:xfrm>
          <a:prstGeom prst="roundRect">
            <a:avLst>
              <a:gd name="adj" fmla="val 349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452" y="1355141"/>
            <a:ext cx="2095348" cy="3917290"/>
          </a:xfrm>
          <a:prstGeom prst="roundRect">
            <a:avLst>
              <a:gd name="adj" fmla="val 4364"/>
            </a:avLst>
          </a:prstGeom>
          <a:solidFill>
            <a:srgbClr val="FAF6EC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95332" y="1556309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395332" y="2535631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395332" y="3514954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395332" y="4494276"/>
            <a:ext cx="1729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02/09/26 (optional)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percentage, solvent — the date is a nice-to-have, not a requirement.</a:t>
            </a:r>
            <a:endParaRPr lang="en-US" sz="1050" dirty="0"/>
          </a:p>
        </p:txBody>
      </p:sp>
      <p:sp>
        <p:nvSpPr>
          <p:cNvPr id="21" name="bld1_52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1_52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things, every time</a:t>
            </a:r>
            <a:endParaRPr lang="en-US" sz="1650" dirty="0"/>
          </a:p>
        </p:txBody>
      </p:sp>
      <p:sp>
        <p:nvSpPr>
          <p:cNvPr id="23" name="bld1_52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name, dilution percentage, and solvent — with no exceptions. Add the date too if you find it useful, but it's optional.</a:t>
            </a:r>
            <a:endParaRPr lang="en-US" sz="1250" dirty="0"/>
          </a:p>
        </p:txBody>
      </p:sp>
      <p:sp>
        <p:nvSpPr>
          <p:cNvPr id="24" name="bld2_52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52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Poor labelling is the #1 workspace problem</a:t>
            </a:r>
            <a:endParaRPr lang="en-US" sz="1650" dirty="0"/>
          </a:p>
        </p:txBody>
      </p:sp>
      <p:sp>
        <p:nvSpPr>
          <p:cNvPr id="26" name="bld2_52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happens fast: a bottle without this information becomes a mystery liquid within weeks, and mystery liquids get thrown away.</a:t>
            </a:r>
            <a:endParaRPr lang="en-US" sz="1250" dirty="0"/>
          </a:p>
        </p:txBody>
      </p:sp>
      <p:sp>
        <p:nvSpPr>
          <p:cNvPr id="27" name="bld3_52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3_52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before you fill, not after</a:t>
            </a:r>
            <a:endParaRPr lang="en-US" sz="1650" dirty="0"/>
          </a:p>
        </p:txBody>
      </p:sp>
      <p:sp>
        <p:nvSpPr>
          <p:cNvPr id="29" name="bld3_52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on the bottle first — it takes ten seconds and it never gets forgotten.</a:t>
            </a:r>
            <a:endParaRPr lang="en-US" sz="1250" dirty="0"/>
          </a:p>
        </p:txBody>
      </p:sp>
      <p:sp>
        <p:nvSpPr>
          <p:cNvPr id="31" name="trans_fade_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025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60741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5" name="Shape 13"/>
          <p:cNvSpPr/>
          <p:nvPr/>
        </p:nvSpPr>
        <p:spPr>
          <a:xfrm>
            <a:off x="9085164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98880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9" name="Shape 17"/>
          <p:cNvSpPr/>
          <p:nvPr/>
        </p:nvSpPr>
        <p:spPr>
          <a:xfrm>
            <a:off x="9923303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37019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61442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775158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27" name="bld1_52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1_53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29" name="bld1_53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material, an accord or a finished formula.</a:t>
            </a:r>
            <a:endParaRPr lang="en-US" sz="1250" dirty="0"/>
          </a:p>
        </p:txBody>
      </p:sp>
      <p:sp>
        <p:nvSpPr>
          <p:cNvPr id="30" name="bld2_53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2_53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32" name="bld2_53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 name and the time before you dip it — for example: "HEDIONE 10%", "14:30". Add the date too if it's useful for longer evaluations.</a:t>
            </a:r>
            <a:endParaRPr lang="en-US" sz="1250" dirty="0"/>
          </a:p>
        </p:txBody>
      </p:sp>
      <p:sp>
        <p:nvSpPr>
          <p:cNvPr id="33" name="bld3_53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3_53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 alone isn't enough</a:t>
            </a:r>
            <a:endParaRPr lang="en-US" sz="1650" dirty="0"/>
          </a:p>
        </p:txBody>
      </p:sp>
      <p:sp>
        <p:nvSpPr>
          <p:cNvPr id="35" name="bld3_53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Smelling straight from the bottle tells you almost nothing about how a material actually behaves over time on skin or paper.</a:t>
            </a:r>
            <a:endParaRPr lang="en-US" sz="1250" dirty="0"/>
          </a:p>
        </p:txBody>
      </p:sp>
      <p:sp>
        <p:nvSpPr>
          <p:cNvPr id="37" name="trans_fade_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strip actually evolves</a:t>
            </a:r>
            <a:endParaRPr lang="en-US" sz="3200" dirty="0"/>
          </a:p>
        </p:txBody>
      </p:sp>
      <p:sp>
        <p:nvSpPr>
          <p:cNvPr id="7" name="bld1_538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1290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5006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" name="bld1_540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DIPPED</a:t>
            </a:r>
            <a:endParaRPr lang="en-US" sz="1400" dirty="0"/>
          </a:p>
        </p:txBody>
      </p:sp>
      <p:sp>
        <p:nvSpPr>
          <p:cNvPr id="13" name="bld1_541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4" name="bld2_542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6" name="Shape 14"/>
          <p:cNvSpPr/>
          <p:nvPr/>
        </p:nvSpPr>
        <p:spPr>
          <a:xfrm>
            <a:off x="3594854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08570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9" name="bld2_544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MIN</a:t>
            </a:r>
            <a:endParaRPr lang="en-US" sz="1400" dirty="0"/>
          </a:p>
        </p:txBody>
      </p:sp>
      <p:sp>
        <p:nvSpPr>
          <p:cNvPr id="20" name="bld2_545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settle</a:t>
            </a:r>
            <a:endParaRPr lang="en-US" sz="1050" dirty="0"/>
          </a:p>
        </p:txBody>
      </p:sp>
      <p:sp>
        <p:nvSpPr>
          <p:cNvPr id="21" name="bld3_546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6048418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2134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6" name="bld3_548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HOUR</a:t>
            </a:r>
            <a:endParaRPr lang="en-US" sz="1400" dirty="0"/>
          </a:p>
        </p:txBody>
      </p:sp>
      <p:sp>
        <p:nvSpPr>
          <p:cNvPr id="27" name="bld3_549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emerges</a:t>
            </a:r>
            <a:endParaRPr lang="en-US" sz="1050" dirty="0"/>
          </a:p>
        </p:txBody>
      </p:sp>
      <p:sp>
        <p:nvSpPr>
          <p:cNvPr id="28" name="bld4_550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501981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15697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3" name="bld4_552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1400" dirty="0"/>
          </a:p>
        </p:txBody>
      </p:sp>
      <p:sp>
        <p:nvSpPr>
          <p:cNvPr id="34" name="bld4_553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begins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10955545" y="3334012"/>
            <a:ext cx="101365" cy="921496"/>
          </a:xfrm>
          <a:prstGeom prst="roundRect">
            <a:avLst>
              <a:gd name="adj" fmla="val 1804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69261" y="3960629"/>
            <a:ext cx="73933" cy="276591"/>
          </a:xfrm>
          <a:prstGeom prst="roundRect">
            <a:avLst>
              <a:gd name="adj" fmla="val 18552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9" name="bld5_555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HOURS</a:t>
            </a:r>
            <a:endParaRPr lang="en-US" sz="1400" dirty="0"/>
          </a:p>
        </p:txBody>
      </p:sp>
      <p:sp>
        <p:nvSpPr>
          <p:cNvPr id="40" name="bld5_556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base</a:t>
            </a:r>
            <a:endParaRPr lang="en-US" sz="1050" dirty="0"/>
          </a:p>
        </p:txBody>
      </p:sp>
      <p:sp>
        <p:nvSpPr>
          <p:cNvPr id="42" name="trans_push_l_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2" grpId="0"/>
      <p:bldP spid="13" grpId="0"/>
      <p:bldP spid="14" grpId="0"/>
      <p:bldP spid="19" grpId="0"/>
      <p:bldP spid="20" grpId="0"/>
      <p:bldP spid="21" grpId="0"/>
      <p:bldP spid="26" grpId="0"/>
      <p:bldP spid="27" grpId="0"/>
      <p:bldP spid="28" grpId="0"/>
      <p:bldP spid="33" grpId="0"/>
      <p:bldP spid="34" grpId="0"/>
      <p:bldP spid="39" grpId="0"/>
      <p:bldP spid="4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SMALL BUT ESSENTIAL TOOLS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 &amp; a permanent marker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557"/>
          <p:cNvSpPr/>
          <p:nvPr/>
        </p:nvSpPr>
        <p:spPr>
          <a:xfrm>
            <a:off x="548640" y="2260397"/>
            <a:ext cx="541919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9247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2" name="Shape 10"/>
          <p:cNvSpPr/>
          <p:nvPr/>
        </p:nvSpPr>
        <p:spPr>
          <a:xfrm>
            <a:off x="2995766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9247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4" name="bld1_559"/>
          <p:cNvSpPr txBox="1"/>
          <p:nvPr/>
        </p:nvSpPr>
        <p:spPr>
          <a:xfrm>
            <a:off x="731520" y="3211373"/>
            <a:ext cx="505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15" name="bld1_560"/>
          <p:cNvSpPr txBox="1"/>
          <p:nvPr/>
        </p:nvSpPr>
        <p:spPr>
          <a:xfrm>
            <a:off x="731520" y="3522269"/>
            <a:ext cx="505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disposables reduce skin contact, prevent staining, and help with irritating materials. They don't replace correct handling or SDS awareness — just good practice.</a:t>
            </a:r>
            <a:endParaRPr lang="en-US" sz="1080" dirty="0"/>
          </a:p>
        </p:txBody>
      </p:sp>
      <p:sp>
        <p:nvSpPr>
          <p:cNvPr id="16" name="bld2_561"/>
          <p:cNvSpPr/>
          <p:nvPr/>
        </p:nvSpPr>
        <p:spPr>
          <a:xfrm>
            <a:off x="6223864" y="2260397"/>
            <a:ext cx="541919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6769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8" name="Shape 16"/>
          <p:cNvSpPr/>
          <p:nvPr/>
        </p:nvSpPr>
        <p:spPr>
          <a:xfrm>
            <a:off x="864816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2097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69153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69153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872097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856769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4" name="bld2_563"/>
          <p:cNvSpPr txBox="1"/>
          <p:nvPr/>
        </p:nvSpPr>
        <p:spPr>
          <a:xfrm>
            <a:off x="6406744" y="3211373"/>
            <a:ext cx="505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marker</a:t>
            </a:r>
            <a:endParaRPr lang="en-US" sz="1450" dirty="0"/>
          </a:p>
        </p:txBody>
      </p:sp>
      <p:sp>
        <p:nvSpPr>
          <p:cNvPr id="25" name="bld2_564"/>
          <p:cNvSpPr txBox="1"/>
          <p:nvPr/>
        </p:nvSpPr>
        <p:spPr>
          <a:xfrm>
            <a:off x="6406744" y="3522269"/>
            <a:ext cx="505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scent strips, bottle labels, and quick version identification. Alcohol-resistant ink only — standard ink smears the moment it touches a dilution.</a:t>
            </a:r>
            <a:endParaRPr lang="en-US" sz="1080" dirty="0"/>
          </a:p>
        </p:txBody>
      </p:sp>
      <p:sp>
        <p:nvSpPr>
          <p:cNvPr id="27" name="trans_fade_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4" grpId="0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11 · ORGANISATION MATTERS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labelling system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470355"/>
            <a:ext cx="2514417" cy="3571646"/>
          </a:xfrm>
          <a:prstGeom prst="roundRect">
            <a:avLst>
              <a:gd name="adj" fmla="val 3637"/>
            </a:avLst>
          </a:prstGeom>
          <a:solidFill>
            <a:srgbClr val="FAF6EC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73379" y="1708099"/>
            <a:ext cx="21486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 BASE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73379" y="2898648"/>
            <a:ext cx="21486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473379" y="4089197"/>
            <a:ext cx="21486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02/09/26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materials, dilutions, accords, bases, experiments — everything gets one of these three formats.</a:t>
            </a:r>
            <a:endParaRPr lang="en-US" sz="1050" dirty="0"/>
          </a:p>
        </p:txBody>
      </p:sp>
      <p:sp>
        <p:nvSpPr>
          <p:cNvPr id="15" name="bld1_56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56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</a:t>
            </a:r>
            <a:endParaRPr lang="en-US" sz="1650" dirty="0"/>
          </a:p>
        </p:txBody>
      </p:sp>
      <p:sp>
        <p:nvSpPr>
          <p:cNvPr id="17" name="bld1_56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name, supplier if useful, and the date received or opened if you want to track it.</a:t>
            </a:r>
            <a:endParaRPr lang="en-US" sz="1250" dirty="0"/>
          </a:p>
        </p:txBody>
      </p:sp>
      <p:sp>
        <p:nvSpPr>
          <p:cNvPr id="18" name="bld2_56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bld2_56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Dilutions</a:t>
            </a:r>
            <a:endParaRPr lang="en-US" sz="1650" dirty="0"/>
          </a:p>
        </p:txBody>
      </p:sp>
      <p:sp>
        <p:nvSpPr>
          <p:cNvPr id="20" name="bld2_57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percentage and solvent — the same fields from the dilution bottle slide. Date is optional, add it if it helps you.</a:t>
            </a:r>
            <a:endParaRPr lang="en-US" sz="1250" dirty="0"/>
          </a:p>
        </p:txBody>
      </p:sp>
      <p:sp>
        <p:nvSpPr>
          <p:cNvPr id="21" name="bld3_57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3_57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trials</a:t>
            </a:r>
            <a:endParaRPr lang="en-US" sz="1650" dirty="0"/>
          </a:p>
        </p:txBody>
      </p:sp>
      <p:sp>
        <p:nvSpPr>
          <p:cNvPr id="23" name="bld3_57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name, version, and date — for example: "APPLE BASE, V03, 02/09/26".</a:t>
            </a:r>
            <a:endParaRPr lang="en-US" sz="1250" dirty="0"/>
          </a:p>
        </p:txBody>
      </p:sp>
      <p:sp>
        <p:nvSpPr>
          <p:cNvPr id="25" name="trans_fade_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13 · STORAGE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so you can actually find things</a:t>
            </a:r>
            <a:endParaRPr lang="en-US" sz="3200" dirty="0"/>
          </a:p>
        </p:txBody>
      </p:sp>
      <p:sp>
        <p:nvSpPr>
          <p:cNvPr id="7" name="bld1_574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E3E8"/>
          </a:solidFill>
          <a:ln/>
        </p:spPr>
      </p:sp>
      <p:sp>
        <p:nvSpPr>
          <p:cNvPr id="8" name="bld1_575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76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olfactory family</a:t>
            </a:r>
            <a:endParaRPr lang="en-US" sz="1800" dirty="0"/>
          </a:p>
        </p:txBody>
      </p:sp>
      <p:sp>
        <p:nvSpPr>
          <p:cNvPr id="10" name="bld1_577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300" dirty="0"/>
          </a:p>
        </p:txBody>
      </p:sp>
      <p:sp>
        <p:nvSpPr>
          <p:cNvPr id="11" name="bld1_578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2" name="bld1_579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3" name="bld2_580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581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582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Alphabetically</a:t>
            </a:r>
            <a:endParaRPr lang="en-US" sz="1800" dirty="0"/>
          </a:p>
        </p:txBody>
      </p:sp>
      <p:sp>
        <p:nvSpPr>
          <p:cNvPr id="16" name="bld2_583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searchable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family judgement calls needed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well once your library gets large</a:t>
            </a:r>
            <a:endParaRPr lang="en-US" sz="1300" dirty="0"/>
          </a:p>
        </p:txBody>
      </p:sp>
      <p:sp>
        <p:nvSpPr>
          <p:cNvPr id="17" name="bld2_584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585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care, in five habits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58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58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58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Upright</a:t>
            </a:r>
            <a:endParaRPr lang="en-US" sz="1450" dirty="0"/>
          </a:p>
        </p:txBody>
      </p:sp>
      <p:sp>
        <p:nvSpPr>
          <p:cNvPr id="24" name="bld1_589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Always, no exceptions.</a:t>
            </a:r>
            <a:endParaRPr lang="en-US" sz="1080" dirty="0"/>
          </a:p>
        </p:txBody>
      </p:sp>
      <p:sp>
        <p:nvSpPr>
          <p:cNvPr id="25" name="bld2_59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59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59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 tight</a:t>
            </a:r>
            <a:endParaRPr lang="en-US" sz="1450" dirty="0"/>
          </a:p>
        </p:txBody>
      </p:sp>
      <p:sp>
        <p:nvSpPr>
          <p:cNvPr id="28" name="bld2_593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time, not just eventually.</a:t>
            </a:r>
            <a:endParaRPr lang="en-US" sz="1080" dirty="0"/>
          </a:p>
        </p:txBody>
      </p:sp>
      <p:sp>
        <p:nvSpPr>
          <p:cNvPr id="29" name="bld3_59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59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59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sunlight</a:t>
            </a:r>
            <a:endParaRPr lang="en-US" sz="1450" dirty="0"/>
          </a:p>
        </p:txBody>
      </p:sp>
      <p:sp>
        <p:nvSpPr>
          <p:cNvPr id="32" name="bld3_597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light degrades materials fast.</a:t>
            </a:r>
            <a:endParaRPr lang="en-US" sz="1080" dirty="0"/>
          </a:p>
        </p:txBody>
      </p:sp>
      <p:sp>
        <p:nvSpPr>
          <p:cNvPr id="33" name="bld4_59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59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60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Away from heat</a:t>
            </a:r>
            <a:endParaRPr lang="en-US" sz="1450" dirty="0"/>
          </a:p>
        </p:txBody>
      </p:sp>
      <p:sp>
        <p:nvSpPr>
          <p:cNvPr id="36" name="bld4_601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accelerates degradation.</a:t>
            </a:r>
            <a:endParaRPr lang="en-US" sz="1080" dirty="0"/>
          </a:p>
        </p:txBody>
      </p:sp>
      <p:sp>
        <p:nvSpPr>
          <p:cNvPr id="37" name="bld5_60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60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9" name="bld5_60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left open</a:t>
            </a:r>
            <a:endParaRPr lang="en-US" sz="1450" dirty="0"/>
          </a:p>
        </p:txBody>
      </p:sp>
      <p:sp>
        <p:nvSpPr>
          <p:cNvPr id="40" name="bld5_605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starts immediately.</a:t>
            </a:r>
            <a:endParaRPr lang="en-US" sz="1080" dirty="0"/>
          </a:p>
        </p:txBody>
      </p:sp>
      <p:sp>
        <p:nvSpPr>
          <p:cNvPr id="42" name="trans_fade_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or software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48592" y="1988820"/>
            <a:ext cx="921953" cy="1958645"/>
          </a:xfrm>
          <a:prstGeom prst="roundRect">
            <a:avLst>
              <a:gd name="adj" fmla="val 4959"/>
            </a:avLst>
          </a:prstGeom>
          <a:solidFill>
            <a:srgbClr val="F1E7D6"/>
          </a:solidFill>
          <a:ln w="19050">
            <a:solidFill>
              <a:srgbClr val="8A633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4544" y="2615586"/>
            <a:ext cx="590050" cy="914"/>
          </a:xfrm>
          <a:prstGeom prst="line">
            <a:avLst/>
          </a:prstGeom>
          <a:noFill/>
          <a:ln w="12700">
            <a:solidFill>
              <a:srgbClr val="8A63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4544" y="3007315"/>
            <a:ext cx="590050" cy="914"/>
          </a:xfrm>
          <a:prstGeom prst="line">
            <a:avLst/>
          </a:prstGeom>
          <a:noFill/>
          <a:ln w="12700">
            <a:solidFill>
              <a:srgbClr val="8A63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4544" y="3399044"/>
            <a:ext cx="590050" cy="914"/>
          </a:xfrm>
          <a:prstGeom prst="line">
            <a:avLst/>
          </a:prstGeom>
          <a:noFill/>
          <a:ln w="12700">
            <a:solidFill>
              <a:srgbClr val="8A63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1432" y="4038905"/>
            <a:ext cx="1196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924870" y="1988820"/>
            <a:ext cx="921953" cy="1527743"/>
          </a:xfrm>
          <a:prstGeom prst="roundRect">
            <a:avLst>
              <a:gd name="adj" fmla="val 3967"/>
            </a:avLst>
          </a:prstGeom>
          <a:solidFill>
            <a:srgbClr val="E4F3F8"/>
          </a:solidFill>
          <a:ln w="19050">
            <a:solidFill>
              <a:srgbClr val="4090A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63163" y="2419722"/>
            <a:ext cx="645367" cy="914"/>
          </a:xfrm>
          <a:prstGeom prst="line">
            <a:avLst/>
          </a:prstGeom>
          <a:noFill/>
          <a:ln w="12700">
            <a:solidFill>
              <a:srgbClr val="4090A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63163" y="2968142"/>
            <a:ext cx="645367" cy="914"/>
          </a:xfrm>
          <a:prstGeom prst="line">
            <a:avLst/>
          </a:prstGeom>
          <a:noFill/>
          <a:ln w="12700">
            <a:solidFill>
              <a:srgbClr val="4090A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8634" y="3516563"/>
            <a:ext cx="258147" cy="156692"/>
          </a:xfrm>
          <a:prstGeom prst="rect">
            <a:avLst/>
          </a:prstGeom>
          <a:solidFill>
            <a:srgbClr val="4090A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787710" y="4038905"/>
            <a:ext cx="1196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5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73388" y="280355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82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2" name="bld1_60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60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to record</a:t>
            </a:r>
            <a:endParaRPr lang="en-US" sz="1650" dirty="0"/>
          </a:p>
        </p:txBody>
      </p:sp>
      <p:sp>
        <p:nvSpPr>
          <p:cNvPr id="24" name="bld1_60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Formulas, dilutions, material evaluations, accord versions, formula versions, supplier information, and general notes.</a:t>
            </a:r>
            <a:endParaRPr lang="en-US" sz="1250" dirty="0"/>
          </a:p>
        </p:txBody>
      </p:sp>
      <p:sp>
        <p:nvSpPr>
          <p:cNvPr id="25" name="bld2_60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bld2_61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physical notebook works</a:t>
            </a:r>
            <a:endParaRPr lang="en-US" sz="1650" dirty="0"/>
          </a:p>
        </p:txBody>
      </p:sp>
      <p:sp>
        <p:nvSpPr>
          <p:cNvPr id="27" name="bld2_61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tactile, and always available — the tradeoff is no easy search or backup.</a:t>
            </a:r>
            <a:endParaRPr lang="en-US" sz="1250" dirty="0"/>
          </a:p>
        </p:txBody>
      </p:sp>
      <p:sp>
        <p:nvSpPr>
          <p:cNvPr id="28" name="bld3_61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3_61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does software</a:t>
            </a:r>
            <a:endParaRPr lang="en-US" sz="1650" dirty="0"/>
          </a:p>
        </p:txBody>
      </p:sp>
      <p:sp>
        <p:nvSpPr>
          <p:cNvPr id="30" name="bld3_61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or dedicated app makes searching, calculating and backing up far easier.</a:t>
            </a:r>
            <a:endParaRPr lang="en-US" sz="1250" dirty="0"/>
          </a:p>
        </p:txBody>
      </p:sp>
      <p:sp>
        <p:nvSpPr>
          <p:cNvPr id="31" name="bld4_61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2" name="bld4_61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beats the method</a:t>
            </a:r>
            <a:endParaRPr lang="en-US" sz="1650" dirty="0"/>
          </a:p>
        </p:txBody>
      </p:sp>
      <p:sp>
        <p:nvSpPr>
          <p:cNvPr id="33" name="bld4_61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system and stick with it — a half-used notebook and a half-used spreadsheet both fail the same way.</a:t>
            </a:r>
            <a:endParaRPr lang="en-US" sz="1250" dirty="0"/>
          </a:p>
        </p:txBody>
      </p:sp>
      <p:sp>
        <p:nvSpPr>
          <p:cNvPr id="35" name="trans_fade_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Perfumer's alcohol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9958" y="3512185"/>
            <a:ext cx="1435498" cy="2069313"/>
          </a:xfrm>
          <a:prstGeom prst="roundRect">
            <a:avLst>
              <a:gd name="adj" fmla="val 6370"/>
            </a:avLst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essential consumable — the deeper compounding process belongs to Module 09.</a:t>
            </a:r>
            <a:endParaRPr lang="en-US" sz="1050" dirty="0"/>
          </a:p>
        </p:txBody>
      </p:sp>
      <p:sp>
        <p:nvSpPr>
          <p:cNvPr id="16" name="bld1_61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61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main dilution carrier</a:t>
            </a:r>
            <a:endParaRPr lang="en-US" sz="1650" dirty="0"/>
          </a:p>
        </p:txBody>
      </p:sp>
      <p:sp>
        <p:nvSpPr>
          <p:cNvPr id="18" name="bld1_62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make working dilutions of raw materials so they can be measured and evaluated accurately.</a:t>
            </a:r>
            <a:endParaRPr lang="en-US" sz="1250" dirty="0"/>
          </a:p>
        </p:txBody>
      </p:sp>
      <p:sp>
        <p:nvSpPr>
          <p:cNvPr id="19" name="bld2_62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62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 your evaluation medium</a:t>
            </a:r>
            <a:endParaRPr lang="en-US" sz="1650" dirty="0"/>
          </a:p>
        </p:txBody>
      </p:sp>
      <p:sp>
        <p:nvSpPr>
          <p:cNvPr id="21" name="bld2_62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materials on a scent strip are usually cut with perfumer's alcohol first.</a:t>
            </a:r>
            <a:endParaRPr lang="en-US" sz="1250" dirty="0"/>
          </a:p>
        </p:txBody>
      </p:sp>
      <p:sp>
        <p:nvSpPr>
          <p:cNvPr id="22" name="bld3_62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3_62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 of a finished perfume</a:t>
            </a:r>
            <a:endParaRPr lang="en-US" sz="1650" dirty="0"/>
          </a:p>
        </p:txBody>
      </p:sp>
      <p:sp>
        <p:nvSpPr>
          <p:cNvPr id="24" name="bld3_62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Alcohol-based fragrance is simply concentrate diluted into perfumer's alcohol — module 09 covers this in full.</a:t>
            </a:r>
            <a:endParaRPr lang="en-US" sz="1250" dirty="0"/>
          </a:p>
        </p:txBody>
      </p:sp>
      <p:sp>
        <p:nvSpPr>
          <p:cNvPr id="26" name="trans_fade_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Solvents you'll encounter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627"/>
          <p:cNvSpPr/>
          <p:nvPr/>
        </p:nvSpPr>
        <p:spPr>
          <a:xfrm>
            <a:off x="548640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27072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89837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89837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089837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7" name="bld1_629"/>
          <p:cNvSpPr txBox="1"/>
          <p:nvPr/>
        </p:nvSpPr>
        <p:spPr>
          <a:xfrm>
            <a:off x="731520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18" name="bld1_630"/>
          <p:cNvSpPr txBox="1"/>
          <p:nvPr/>
        </p:nvSpPr>
        <p:spPr>
          <a:xfrm>
            <a:off x="731520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perfumer's alcohol carrier for dilutions and finished fragrance.</a:t>
            </a:r>
            <a:endParaRPr lang="en-US" sz="1080" dirty="0"/>
          </a:p>
        </p:txBody>
      </p:sp>
      <p:sp>
        <p:nvSpPr>
          <p:cNvPr id="19" name="bld2_631"/>
          <p:cNvSpPr/>
          <p:nvPr/>
        </p:nvSpPr>
        <p:spPr>
          <a:xfrm>
            <a:off x="4332122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2A5266"/>
            </a:solidFill>
            <a:prstDash val="solid"/>
          </a:ln>
        </p:spPr>
      </p:sp>
      <p:sp>
        <p:nvSpPr>
          <p:cNvPr id="26" name="bld2_633"/>
          <p:cNvSpPr txBox="1"/>
          <p:nvPr/>
        </p:nvSpPr>
        <p:spPr>
          <a:xfrm>
            <a:off x="4515002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7" name="bld2_634"/>
          <p:cNvSpPr txBox="1"/>
          <p:nvPr/>
        </p:nvSpPr>
        <p:spPr>
          <a:xfrm>
            <a:off x="4515002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low-odour carrier often used for oil-based or alcohol-free formats.</a:t>
            </a:r>
            <a:endParaRPr lang="en-US" sz="1080" dirty="0"/>
          </a:p>
        </p:txBody>
      </p:sp>
      <p:sp>
        <p:nvSpPr>
          <p:cNvPr id="28" name="bld3_635"/>
          <p:cNvSpPr/>
          <p:nvPr/>
        </p:nvSpPr>
        <p:spPr>
          <a:xfrm>
            <a:off x="8115605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0" name="Shape 28"/>
          <p:cNvSpPr/>
          <p:nvPr/>
        </p:nvSpPr>
        <p:spPr>
          <a:xfrm>
            <a:off x="9594037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656802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9656802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656802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35" name="bld3_637"/>
          <p:cNvSpPr txBox="1"/>
          <p:nvPr/>
        </p:nvSpPr>
        <p:spPr>
          <a:xfrm>
            <a:off x="8298485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6" name="bld3_638"/>
          <p:cNvSpPr txBox="1"/>
          <p:nvPr/>
        </p:nvSpPr>
        <p:spPr>
          <a:xfrm>
            <a:off x="8298485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common carrier, chosen for specific solubility or format needs.</a:t>
            </a:r>
            <a:endParaRPr lang="en-US" sz="1080" dirty="0"/>
          </a:p>
        </p:txBody>
      </p:sp>
      <p:sp>
        <p:nvSpPr>
          <p:cNvPr id="38" name="trans_fade_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6" grpId="0"/>
      <p:bldP spid="27" grpId="0"/>
      <p:bldP spid="28" grpId="0"/>
      <p:bldP spid="35" grpId="0"/>
      <p:bldP spid="3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equipment checklist</a:t>
            </a:r>
            <a:endParaRPr lang="en-US" sz="3200" dirty="0"/>
          </a:p>
        </p:txBody>
      </p:sp>
      <p:sp>
        <p:nvSpPr>
          <p:cNvPr id="7" name="bld1_639"/>
          <p:cNvSpPr txBox="1"/>
          <p:nvPr/>
        </p:nvSpPr>
        <p:spPr>
          <a:xfrm>
            <a:off x="548640" y="180136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</a:t>
            </a:r>
            <a:endParaRPr lang="en-US" sz="1250" dirty="0"/>
          </a:p>
        </p:txBody>
      </p:sp>
      <p:sp>
        <p:nvSpPr>
          <p:cNvPr id="8" name="bld1_640"/>
          <p:cNvSpPr/>
          <p:nvPr/>
        </p:nvSpPr>
        <p:spPr>
          <a:xfrm>
            <a:off x="548640" y="2258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9" name="bld1_641"/>
          <p:cNvSpPr txBox="1"/>
          <p:nvPr/>
        </p:nvSpPr>
        <p:spPr>
          <a:xfrm>
            <a:off x="841248" y="21945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0" name="bld1_642"/>
          <p:cNvSpPr/>
          <p:nvPr/>
        </p:nvSpPr>
        <p:spPr>
          <a:xfrm>
            <a:off x="548640" y="27157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1" name="bld1_643"/>
          <p:cNvSpPr txBox="1"/>
          <p:nvPr/>
        </p:nvSpPr>
        <p:spPr>
          <a:xfrm>
            <a:off x="841248" y="26517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stirrer</a:t>
            </a:r>
            <a:endParaRPr lang="en-US" sz="1200" dirty="0"/>
          </a:p>
        </p:txBody>
      </p:sp>
      <p:sp>
        <p:nvSpPr>
          <p:cNvPr id="12" name="bld1_644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3" name="bld1_645"/>
          <p:cNvSpPr txBox="1"/>
          <p:nvPr/>
        </p:nvSpPr>
        <p:spPr>
          <a:xfrm>
            <a:off x="841248" y="31089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plastic pipettes</a:t>
            </a:r>
            <a:endParaRPr lang="en-US" sz="1200" dirty="0"/>
          </a:p>
        </p:txBody>
      </p:sp>
      <p:sp>
        <p:nvSpPr>
          <p:cNvPr id="14" name="bld1_646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5" name="bld1_647"/>
          <p:cNvSpPr txBox="1"/>
          <p:nvPr/>
        </p:nvSpPr>
        <p:spPr>
          <a:xfrm>
            <a:off x="841248" y="35661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</a:t>
            </a:r>
            <a:endParaRPr lang="en-US" sz="1200" dirty="0"/>
          </a:p>
        </p:txBody>
      </p:sp>
      <p:sp>
        <p:nvSpPr>
          <p:cNvPr id="16" name="bld1_648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7" name="bld1_649"/>
          <p:cNvSpPr txBox="1"/>
          <p:nvPr/>
        </p:nvSpPr>
        <p:spPr>
          <a:xfrm>
            <a:off x="841248" y="40233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Spatulas</a:t>
            </a:r>
            <a:endParaRPr lang="en-US" sz="1200" dirty="0"/>
          </a:p>
        </p:txBody>
      </p:sp>
      <p:sp>
        <p:nvSpPr>
          <p:cNvPr id="18" name="bld1_650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9" name="bld1_651"/>
          <p:cNvSpPr txBox="1"/>
          <p:nvPr/>
        </p:nvSpPr>
        <p:spPr>
          <a:xfrm>
            <a:off x="841248" y="44805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Beakers</a:t>
            </a:r>
            <a:endParaRPr lang="en-US" sz="1200" dirty="0"/>
          </a:p>
        </p:txBody>
      </p:sp>
      <p:sp>
        <p:nvSpPr>
          <p:cNvPr id="20" name="bld1_652"/>
          <p:cNvSpPr/>
          <p:nvPr/>
        </p:nvSpPr>
        <p:spPr>
          <a:xfrm>
            <a:off x="548640" y="50017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1" name="bld1_653"/>
          <p:cNvSpPr txBox="1"/>
          <p:nvPr/>
        </p:nvSpPr>
        <p:spPr>
          <a:xfrm>
            <a:off x="841248" y="49377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</a:t>
            </a:r>
            <a:endParaRPr lang="en-US" sz="1200" dirty="0"/>
          </a:p>
        </p:txBody>
      </p:sp>
      <p:sp>
        <p:nvSpPr>
          <p:cNvPr id="22" name="bld1_654"/>
          <p:cNvSpPr/>
          <p:nvPr/>
        </p:nvSpPr>
        <p:spPr>
          <a:xfrm>
            <a:off x="548640" y="5458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3" name="bld1_655"/>
          <p:cNvSpPr txBox="1"/>
          <p:nvPr/>
        </p:nvSpPr>
        <p:spPr>
          <a:xfrm>
            <a:off x="841248" y="53949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</a:t>
            </a:r>
            <a:endParaRPr lang="en-US" sz="1200" dirty="0"/>
          </a:p>
        </p:txBody>
      </p:sp>
      <p:sp>
        <p:nvSpPr>
          <p:cNvPr id="24" name="bld1_656"/>
          <p:cNvSpPr/>
          <p:nvPr/>
        </p:nvSpPr>
        <p:spPr>
          <a:xfrm>
            <a:off x="548640" y="5916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5" name="bld1_657"/>
          <p:cNvSpPr txBox="1"/>
          <p:nvPr/>
        </p:nvSpPr>
        <p:spPr>
          <a:xfrm>
            <a:off x="841248" y="58521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</a:t>
            </a:r>
            <a:endParaRPr lang="en-US" sz="1200" dirty="0"/>
          </a:p>
        </p:txBody>
      </p:sp>
      <p:sp>
        <p:nvSpPr>
          <p:cNvPr id="26" name="bld2_658"/>
          <p:cNvSpPr txBox="1"/>
          <p:nvPr/>
        </p:nvSpPr>
        <p:spPr>
          <a:xfrm>
            <a:off x="6255868" y="180136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HAVE</a:t>
            </a:r>
            <a:endParaRPr lang="en-US" sz="1250" dirty="0"/>
          </a:p>
        </p:txBody>
      </p:sp>
      <p:sp>
        <p:nvSpPr>
          <p:cNvPr id="27" name="bld2_659"/>
          <p:cNvSpPr/>
          <p:nvPr/>
        </p:nvSpPr>
        <p:spPr>
          <a:xfrm>
            <a:off x="6255868" y="2258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8" name="bld2_660"/>
          <p:cNvSpPr txBox="1"/>
          <p:nvPr/>
        </p:nvSpPr>
        <p:spPr>
          <a:xfrm>
            <a:off x="6548476" y="21945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printer</a:t>
            </a:r>
            <a:endParaRPr lang="en-US" sz="1200" dirty="0"/>
          </a:p>
        </p:txBody>
      </p:sp>
      <p:sp>
        <p:nvSpPr>
          <p:cNvPr id="29" name="bld2_661"/>
          <p:cNvSpPr/>
          <p:nvPr/>
        </p:nvSpPr>
        <p:spPr>
          <a:xfrm>
            <a:off x="6255868" y="27157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0" name="bld2_662"/>
          <p:cNvSpPr txBox="1"/>
          <p:nvPr/>
        </p:nvSpPr>
        <p:spPr>
          <a:xfrm>
            <a:off x="6548476" y="26517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Heated magnetic stirrer</a:t>
            </a:r>
            <a:endParaRPr lang="en-US" sz="1200" dirty="0"/>
          </a:p>
        </p:txBody>
      </p:sp>
      <p:sp>
        <p:nvSpPr>
          <p:cNvPr id="31" name="bld2_663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2" name="bld2_664"/>
          <p:cNvSpPr txBox="1"/>
          <p:nvPr/>
        </p:nvSpPr>
        <p:spPr>
          <a:xfrm>
            <a:off x="6548476" y="31089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Speciality label stock</a:t>
            </a:r>
            <a:endParaRPr lang="en-US" sz="1200" dirty="0"/>
          </a:p>
        </p:txBody>
      </p:sp>
      <p:sp>
        <p:nvSpPr>
          <p:cNvPr id="33" name="bld2_665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4" name="bld2_666"/>
          <p:cNvSpPr txBox="1"/>
          <p:nvPr/>
        </p:nvSpPr>
        <p:spPr>
          <a:xfrm>
            <a:off x="6548476" y="35661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labels</a:t>
            </a:r>
            <a:endParaRPr lang="en-US" sz="1200" dirty="0"/>
          </a:p>
        </p:txBody>
      </p:sp>
      <p:sp>
        <p:nvSpPr>
          <p:cNvPr id="35" name="bld2_667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6" name="bld2_668"/>
          <p:cNvSpPr txBox="1"/>
          <p:nvPr/>
        </p:nvSpPr>
        <p:spPr>
          <a:xfrm>
            <a:off x="6548476" y="402336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</a:t>
            </a:r>
            <a:endParaRPr lang="en-US" sz="1200" dirty="0"/>
          </a:p>
        </p:txBody>
      </p:sp>
      <p:sp>
        <p:nvSpPr>
          <p:cNvPr id="38" name="trans_fade_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MONEY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not to waste money 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383310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4803619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669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1" name="bld1_67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671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huge lab</a:t>
            </a:r>
            <a:endParaRPr lang="en-US" sz="1450" dirty="0"/>
          </a:p>
        </p:txBody>
      </p:sp>
      <p:sp>
        <p:nvSpPr>
          <p:cNvPr id="13" name="bld1_672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one.</a:t>
            </a:r>
            <a:endParaRPr lang="en-US" sz="1080" dirty="0"/>
          </a:p>
        </p:txBody>
      </p:sp>
      <p:sp>
        <p:nvSpPr>
          <p:cNvPr id="14" name="bld2_673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5" name="bld2_674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675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Bulk bottles</a:t>
            </a:r>
            <a:endParaRPr lang="en-US" sz="1450" dirty="0"/>
          </a:p>
        </p:txBody>
      </p:sp>
      <p:sp>
        <p:nvSpPr>
          <p:cNvPr id="17" name="bld2_676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</a:t>
            </a:r>
            <a:endParaRPr lang="en-US" sz="1080" dirty="0"/>
          </a:p>
        </p:txBody>
      </p:sp>
      <p:sp>
        <p:nvSpPr>
          <p:cNvPr id="18" name="bld3_677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9" name="bld3_678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679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</a:t>
            </a:r>
            <a:endParaRPr lang="en-US" sz="1450" dirty="0"/>
          </a:p>
        </p:txBody>
      </p:sp>
      <p:sp>
        <p:nvSpPr>
          <p:cNvPr id="21" name="bld3_680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unnecessary.</a:t>
            </a:r>
            <a:endParaRPr lang="en-US" sz="1080" dirty="0"/>
          </a:p>
        </p:txBody>
      </p:sp>
      <p:sp>
        <p:nvSpPr>
          <p:cNvPr id="22" name="bld4_681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3" name="bld4_682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683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the glass</a:t>
            </a:r>
            <a:endParaRPr lang="en-US" sz="1450" dirty="0"/>
          </a:p>
        </p:txBody>
      </p:sp>
      <p:sp>
        <p:nvSpPr>
          <p:cNvPr id="25" name="bld4_684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sizes is plenty.</a:t>
            </a:r>
            <a:endParaRPr lang="en-US" sz="1080" dirty="0"/>
          </a:p>
        </p:txBody>
      </p:sp>
      <p:sp>
        <p:nvSpPr>
          <p:cNvPr id="26" name="bld5_685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7" name="bld5_686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8" name="bld5_687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Machinery</a:t>
            </a:r>
            <a:endParaRPr lang="en-US" sz="1450" dirty="0"/>
          </a:p>
        </p:txBody>
      </p:sp>
      <p:sp>
        <p:nvSpPr>
          <p:cNvPr id="29" name="bld5_688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won't teach you anything.</a:t>
            </a:r>
            <a:endParaRPr lang="en-US" sz="1080" dirty="0"/>
          </a:p>
        </p:txBody>
      </p:sp>
      <p:sp>
        <p:nvSpPr>
          <p:cNvPr id="31" name="trans_fade_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INVESTMENT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moves you forward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143000" y="3574653"/>
            <a:ext cx="289501" cy="12866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32501" y="3574653"/>
            <a:ext cx="289501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432501" y="3735487"/>
            <a:ext cx="289501" cy="2573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9999" y="3992821"/>
            <a:ext cx="482501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49999" y="3703320"/>
            <a:ext cx="193001" cy="28950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9166" y="3542486"/>
            <a:ext cx="353834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1533" y="3651853"/>
            <a:ext cx="102934" cy="10293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95509" y="3537661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5010" y="3698495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95509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08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174" y="3505494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1_690"/>
          <p:cNvSpPr txBox="1"/>
          <p:nvPr/>
        </p:nvSpPr>
        <p:spPr>
          <a:xfrm>
            <a:off x="-375873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raw materials</a:t>
            </a:r>
            <a:endParaRPr lang="en-US" sz="1250" dirty="0"/>
          </a:p>
        </p:txBody>
      </p:sp>
      <p:sp>
        <p:nvSpPr>
          <p:cNvPr id="22" name="bld2_691"/>
          <p:cNvSpPr txBox="1"/>
          <p:nvPr/>
        </p:nvSpPr>
        <p:spPr>
          <a:xfrm>
            <a:off x="1938528" y="3410712"/>
            <a:ext cx="171084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3695090" y="2953512"/>
            <a:ext cx="1499616" cy="149961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444898" y="3574653"/>
            <a:ext cx="289501" cy="12866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34399" y="3574653"/>
            <a:ext cx="289501" cy="16083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734399" y="3735487"/>
            <a:ext cx="289501" cy="25733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51898" y="3992821"/>
            <a:ext cx="482501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1898" y="3703320"/>
            <a:ext cx="193001" cy="28950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91064" y="3542486"/>
            <a:ext cx="353834" cy="16083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93432" y="3651853"/>
            <a:ext cx="102934" cy="10293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97407" y="3537661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6908" y="3698495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97407" y="3955829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14906" y="3955829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54072" y="3505494"/>
            <a:ext cx="73984" cy="7398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95090" y="2953512"/>
            <a:ext cx="1499616" cy="149961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7" name="bld2_693"/>
          <p:cNvSpPr txBox="1"/>
          <p:nvPr/>
        </p:nvSpPr>
        <p:spPr>
          <a:xfrm>
            <a:off x="2926025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accurate scale</a:t>
            </a:r>
            <a:endParaRPr lang="en-US" sz="1250" dirty="0"/>
          </a:p>
        </p:txBody>
      </p:sp>
      <p:sp>
        <p:nvSpPr>
          <p:cNvPr id="38" name="bld3_694"/>
          <p:cNvSpPr txBox="1"/>
          <p:nvPr/>
        </p:nvSpPr>
        <p:spPr>
          <a:xfrm>
            <a:off x="5240426" y="3410712"/>
            <a:ext cx="171084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9" name="Shape 37"/>
          <p:cNvSpPr/>
          <p:nvPr/>
        </p:nvSpPr>
        <p:spPr>
          <a:xfrm>
            <a:off x="6996989" y="2953512"/>
            <a:ext cx="1499616" cy="149961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0" name="Shape 38"/>
          <p:cNvSpPr/>
          <p:nvPr/>
        </p:nvSpPr>
        <p:spPr>
          <a:xfrm>
            <a:off x="7705857" y="3305622"/>
            <a:ext cx="87494" cy="795396"/>
          </a:xfrm>
          <a:prstGeom prst="roundRect">
            <a:avLst>
              <a:gd name="adj" fmla="val 20902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19573" y="3846491"/>
            <a:ext cx="60062" cy="236239"/>
          </a:xfrm>
          <a:prstGeom prst="roundRect">
            <a:avLst>
              <a:gd name="adj" fmla="val 22836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996989" y="2953512"/>
            <a:ext cx="1499616" cy="149961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3" name="bld3_696"/>
          <p:cNvSpPr txBox="1"/>
          <p:nvPr/>
        </p:nvSpPr>
        <p:spPr>
          <a:xfrm>
            <a:off x="6227924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training</a:t>
            </a:r>
            <a:endParaRPr lang="en-US" sz="1250" dirty="0"/>
          </a:p>
        </p:txBody>
      </p:sp>
      <p:sp>
        <p:nvSpPr>
          <p:cNvPr id="44" name="bld4_697"/>
          <p:cNvSpPr txBox="1"/>
          <p:nvPr/>
        </p:nvSpPr>
        <p:spPr>
          <a:xfrm>
            <a:off x="8542325" y="3410712"/>
            <a:ext cx="171084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88432" y="3223743"/>
            <a:ext cx="120526" cy="95915"/>
          </a:xfrm>
          <a:prstGeom prst="roundRect">
            <a:avLst>
              <a:gd name="adj" fmla="val 38134"/>
            </a:avLst>
          </a:prstGeom>
          <a:solidFill>
            <a:srgbClr val="0E0D0B"/>
          </a:solidFill>
          <a:ln/>
        </p:spPr>
      </p:sp>
      <p:sp>
        <p:nvSpPr>
          <p:cNvPr id="47" name="Shape 45"/>
          <p:cNvSpPr/>
          <p:nvPr/>
        </p:nvSpPr>
        <p:spPr>
          <a:xfrm>
            <a:off x="10996293" y="3319658"/>
            <a:ext cx="104805" cy="153465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861543" y="3473123"/>
            <a:ext cx="374304" cy="709774"/>
          </a:xfrm>
          <a:prstGeom prst="roundRect">
            <a:avLst>
              <a:gd name="adj" fmla="val 29315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98119" y="3792521"/>
            <a:ext cx="301152" cy="353800"/>
          </a:xfrm>
          <a:prstGeom prst="roundRect">
            <a:avLst>
              <a:gd name="adj" fmla="val 30363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41148">
            <a:solidFill>
              <a:srgbClr val="C1752F"/>
            </a:solidFill>
            <a:prstDash val="solid"/>
          </a:ln>
        </p:spPr>
      </p:sp>
      <p:sp>
        <p:nvSpPr>
          <p:cNvPr id="51" name="bld4_699"/>
          <p:cNvSpPr txBox="1"/>
          <p:nvPr/>
        </p:nvSpPr>
        <p:spPr>
          <a:xfrm>
            <a:off x="9529822" y="4599432"/>
            <a:ext cx="30377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progress</a:t>
            </a:r>
            <a:endParaRPr lang="en-US" sz="1500" dirty="0"/>
          </a:p>
        </p:txBody>
      </p:sp>
      <p:sp>
        <p:nvSpPr>
          <p:cNvPr id="53" name="trans_push_l_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5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37" grpId="0"/>
      <p:bldP spid="38" grpId="0"/>
      <p:bldP spid="43" grpId="0"/>
      <p:bldP spid="44" grpId="0"/>
      <p:bldP spid="5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TOGETHER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beginner workspace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3566160" y="3902970"/>
            <a:ext cx="476617" cy="21183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42777" y="3902970"/>
            <a:ext cx="476617" cy="2647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042777" y="4167757"/>
            <a:ext cx="476617" cy="42366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8415" y="4591417"/>
            <a:ext cx="794362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248415" y="4114800"/>
            <a:ext cx="317745" cy="47661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3628" y="3850013"/>
            <a:ext cx="582532" cy="26478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81428" y="4030068"/>
            <a:ext cx="169464" cy="169464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81876" y="3842069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8493" y="4106856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81876" y="4530516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87514" y="4530516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2727" y="3789112"/>
            <a:ext cx="121802" cy="12180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5C423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BENCH</a:t>
            </a:r>
            <a:endParaRPr lang="en-US" sz="1350" dirty="0"/>
          </a:p>
        </p:txBody>
      </p:sp>
      <p:sp>
        <p:nvSpPr>
          <p:cNvPr id="22" name="bld1_700"/>
          <p:cNvSpPr/>
          <p:nvPr/>
        </p:nvSpPr>
        <p:spPr>
          <a:xfrm flipV="1">
            <a:off x="4627778" y="2148840"/>
            <a:ext cx="3232678" cy="19659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3" name="Shape 21"/>
          <p:cNvSpPr/>
          <p:nvPr/>
        </p:nvSpPr>
        <p:spPr>
          <a:xfrm>
            <a:off x="7822692" y="1879092"/>
            <a:ext cx="539496" cy="5394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>
            <a:off x="8070760" y="1976309"/>
            <a:ext cx="43360" cy="34506"/>
          </a:xfrm>
          <a:prstGeom prst="roundRect">
            <a:avLst>
              <a:gd name="adj" fmla="val 105999"/>
            </a:avLst>
          </a:prstGeom>
          <a:solidFill>
            <a:srgbClr val="0E0D0B"/>
          </a:solidFill>
          <a:ln/>
        </p:spPr>
      </p:sp>
      <p:sp>
        <p:nvSpPr>
          <p:cNvPr id="25" name="Shape 23"/>
          <p:cNvSpPr/>
          <p:nvPr/>
        </p:nvSpPr>
        <p:spPr>
          <a:xfrm>
            <a:off x="8073588" y="2010815"/>
            <a:ext cx="37704" cy="55210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25111" y="2066025"/>
            <a:ext cx="134658" cy="255346"/>
          </a:xfrm>
          <a:prstGeom prst="roundRect">
            <a:avLst>
              <a:gd name="adj" fmla="val 8148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61687" y="2180931"/>
            <a:ext cx="61506" cy="103864"/>
          </a:xfrm>
          <a:prstGeom prst="roundRect">
            <a:avLst>
              <a:gd name="adj" fmla="val 14866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822692" y="1879092"/>
            <a:ext cx="539496" cy="5394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9" name="bld1_702"/>
          <p:cNvSpPr txBox="1"/>
          <p:nvPr/>
        </p:nvSpPr>
        <p:spPr>
          <a:xfrm>
            <a:off x="8499348" y="19751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materials, organised behind</a:t>
            </a:r>
            <a:endParaRPr lang="en-US" sz="1350" dirty="0"/>
          </a:p>
        </p:txBody>
      </p:sp>
      <p:sp>
        <p:nvSpPr>
          <p:cNvPr id="30" name="bld2_703"/>
          <p:cNvSpPr/>
          <p:nvPr/>
        </p:nvSpPr>
        <p:spPr>
          <a:xfrm flipV="1">
            <a:off x="4627778" y="2834640"/>
            <a:ext cx="3232678" cy="128016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31" name="Shape 29"/>
          <p:cNvSpPr/>
          <p:nvPr/>
        </p:nvSpPr>
        <p:spPr>
          <a:xfrm>
            <a:off x="7822692" y="2564892"/>
            <a:ext cx="539496" cy="539496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7723" y="2670525"/>
            <a:ext cx="69433" cy="72905"/>
          </a:xfrm>
          <a:prstGeom prst="ellipse">
            <a:avLst/>
          </a:prstGeom>
          <a:solidFill>
            <a:srgbClr val="4090AF">
              <a:alpha val="85000"/>
            </a:srgbClr>
          </a:solidFill>
          <a:ln w="12700">
            <a:solidFill>
              <a:srgbClr val="4090A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81467" y="2739958"/>
            <a:ext cx="914" cy="195675"/>
          </a:xfrm>
          <a:prstGeom prst="line">
            <a:avLst/>
          </a:prstGeom>
          <a:noFill/>
          <a:ln w="28575">
            <a:solidFill>
              <a:srgbClr val="4090A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0800000">
            <a:off x="8082972" y="2935634"/>
            <a:ext cx="18936" cy="50497"/>
          </a:xfrm>
          <a:prstGeom prst="triangle">
            <a:avLst/>
          </a:prstGeom>
          <a:solidFill>
            <a:srgbClr val="4090AF">
              <a:alpha val="8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822692" y="2564892"/>
            <a:ext cx="539496" cy="539496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6" name="bld2_705"/>
          <p:cNvSpPr txBox="1"/>
          <p:nvPr/>
        </p:nvSpPr>
        <p:spPr>
          <a:xfrm>
            <a:off x="8499348" y="26609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pipettes</a:t>
            </a:r>
            <a:endParaRPr lang="en-US" sz="1350" dirty="0"/>
          </a:p>
        </p:txBody>
      </p:sp>
      <p:sp>
        <p:nvSpPr>
          <p:cNvPr id="37" name="bld3_706"/>
          <p:cNvSpPr/>
          <p:nvPr/>
        </p:nvSpPr>
        <p:spPr>
          <a:xfrm flipV="1">
            <a:off x="4627778" y="3520440"/>
            <a:ext cx="3232678" cy="594360"/>
          </a:xfrm>
          <a:prstGeom prst="line">
            <a:avLst/>
          </a:prstGeom>
          <a:noFill/>
          <a:ln w="19050">
            <a:solidFill>
              <a:srgbClr val="4090AF">
                <a:alpha val="75000"/>
              </a:srgbClr>
            </a:solidFill>
            <a:prstDash val="sysDot"/>
          </a:ln>
        </p:spPr>
      </p:sp>
      <p:sp>
        <p:nvSpPr>
          <p:cNvPr id="38" name="Shape 36"/>
          <p:cNvSpPr/>
          <p:nvPr/>
        </p:nvSpPr>
        <p:spPr>
          <a:xfrm>
            <a:off x="7822692" y="3250692"/>
            <a:ext cx="539496" cy="5394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>
            <a:off x="8070760" y="3347909"/>
            <a:ext cx="43360" cy="34506"/>
          </a:xfrm>
          <a:prstGeom prst="roundRect">
            <a:avLst>
              <a:gd name="adj" fmla="val 105999"/>
            </a:avLst>
          </a:prstGeom>
          <a:solidFill>
            <a:srgbClr val="0E0D0B"/>
          </a:solidFill>
          <a:ln/>
        </p:spPr>
      </p:sp>
      <p:sp>
        <p:nvSpPr>
          <p:cNvPr id="40" name="Shape 38"/>
          <p:cNvSpPr/>
          <p:nvPr/>
        </p:nvSpPr>
        <p:spPr>
          <a:xfrm>
            <a:off x="8073588" y="3382415"/>
            <a:ext cx="37704" cy="55210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25111" y="3437625"/>
            <a:ext cx="134658" cy="255346"/>
          </a:xfrm>
          <a:prstGeom prst="roundRect">
            <a:avLst>
              <a:gd name="adj" fmla="val 8148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61687" y="3552531"/>
            <a:ext cx="61506" cy="103864"/>
          </a:xfrm>
          <a:prstGeom prst="roundRect">
            <a:avLst>
              <a:gd name="adj" fmla="val 14866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22692" y="3250692"/>
            <a:ext cx="539496" cy="5394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708"/>
          <p:cNvSpPr txBox="1"/>
          <p:nvPr/>
        </p:nvSpPr>
        <p:spPr>
          <a:xfrm>
            <a:off x="8499348" y="33467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dilution bottles</a:t>
            </a:r>
            <a:endParaRPr lang="en-US" sz="1350" dirty="0"/>
          </a:p>
        </p:txBody>
      </p:sp>
      <p:sp>
        <p:nvSpPr>
          <p:cNvPr id="45" name="bld4_709"/>
          <p:cNvSpPr/>
          <p:nvPr/>
        </p:nvSpPr>
        <p:spPr>
          <a:xfrm>
            <a:off x="4627778" y="4114800"/>
            <a:ext cx="3232678" cy="914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46" name="Shape 44"/>
          <p:cNvSpPr/>
          <p:nvPr/>
        </p:nvSpPr>
        <p:spPr>
          <a:xfrm>
            <a:off x="7822692" y="3936492"/>
            <a:ext cx="539496" cy="53949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7712" y="4063166"/>
            <a:ext cx="31476" cy="286149"/>
          </a:xfrm>
          <a:prstGeom prst="roundRect">
            <a:avLst>
              <a:gd name="adj" fmla="val 5810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91428" y="4257747"/>
            <a:ext cx="4044" cy="73280"/>
          </a:xfrm>
          <a:prstGeom prst="roundRect">
            <a:avLst>
              <a:gd name="adj" fmla="val 339169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22692" y="3936492"/>
            <a:ext cx="539496" cy="53949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0" name="bld4_711"/>
          <p:cNvSpPr txBox="1"/>
          <p:nvPr/>
        </p:nvSpPr>
        <p:spPr>
          <a:xfrm>
            <a:off x="8499348" y="40325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</a:t>
            </a:r>
            <a:endParaRPr lang="en-US" sz="1350" dirty="0"/>
          </a:p>
        </p:txBody>
      </p:sp>
      <p:sp>
        <p:nvSpPr>
          <p:cNvPr id="51" name="bld5_712"/>
          <p:cNvSpPr/>
          <p:nvPr/>
        </p:nvSpPr>
        <p:spPr>
          <a:xfrm>
            <a:off x="4627778" y="4114800"/>
            <a:ext cx="3232678" cy="7772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52" name="Shape 50"/>
          <p:cNvSpPr/>
          <p:nvPr/>
        </p:nvSpPr>
        <p:spPr>
          <a:xfrm>
            <a:off x="7822692" y="4622292"/>
            <a:ext cx="539496" cy="53949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53" name="Shape 51"/>
          <p:cNvSpPr/>
          <p:nvPr/>
        </p:nvSpPr>
        <p:spPr>
          <a:xfrm>
            <a:off x="7882037" y="4681637"/>
            <a:ext cx="420807" cy="420807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935735" y="4786838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7914024" y="4856973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914024" y="4927107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935735" y="4997242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822692" y="4622292"/>
            <a:ext cx="539496" cy="53949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9" name="bld5_714"/>
          <p:cNvSpPr txBox="1"/>
          <p:nvPr/>
        </p:nvSpPr>
        <p:spPr>
          <a:xfrm>
            <a:off x="8499348" y="47183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vessel</a:t>
            </a:r>
            <a:endParaRPr lang="en-US" sz="1350" dirty="0"/>
          </a:p>
        </p:txBody>
      </p:sp>
      <p:sp>
        <p:nvSpPr>
          <p:cNvPr id="60" name="bld6_715"/>
          <p:cNvSpPr/>
          <p:nvPr/>
        </p:nvSpPr>
        <p:spPr>
          <a:xfrm>
            <a:off x="4627778" y="4114800"/>
            <a:ext cx="3232678" cy="14630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61" name="Shape 59"/>
          <p:cNvSpPr/>
          <p:nvPr/>
        </p:nvSpPr>
        <p:spPr>
          <a:xfrm>
            <a:off x="7822692" y="5308092"/>
            <a:ext cx="539496" cy="5394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2" name="Shape 60"/>
          <p:cNvSpPr/>
          <p:nvPr/>
        </p:nvSpPr>
        <p:spPr>
          <a:xfrm>
            <a:off x="7882037" y="5367437"/>
            <a:ext cx="420807" cy="42080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935735" y="5472638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7914024" y="5542773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7914024" y="5612907"/>
            <a:ext cx="35683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935735" y="5683042"/>
            <a:ext cx="313409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7822692" y="5308092"/>
            <a:ext cx="539496" cy="5394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8" name="bld6_717"/>
          <p:cNvSpPr txBox="1"/>
          <p:nvPr/>
        </p:nvSpPr>
        <p:spPr>
          <a:xfrm>
            <a:off x="8499348" y="54041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or laptop</a:t>
            </a:r>
            <a:endParaRPr lang="en-US" sz="1350" dirty="0"/>
          </a:p>
        </p:txBody>
      </p:sp>
      <p:sp>
        <p:nvSpPr>
          <p:cNvPr id="69" name="bld7_718"/>
          <p:cNvSpPr/>
          <p:nvPr/>
        </p:nvSpPr>
        <p:spPr>
          <a:xfrm>
            <a:off x="4627778" y="4114800"/>
            <a:ext cx="3232678" cy="2148840"/>
          </a:xfrm>
          <a:prstGeom prst="line">
            <a:avLst/>
          </a:prstGeom>
          <a:noFill/>
          <a:ln w="19050">
            <a:solidFill>
              <a:srgbClr val="4090AF">
                <a:alpha val="75000"/>
              </a:srgbClr>
            </a:solidFill>
            <a:prstDash val="sysDot"/>
          </a:ln>
        </p:spPr>
      </p:sp>
      <p:sp>
        <p:nvSpPr>
          <p:cNvPr id="70" name="Shape 68"/>
          <p:cNvSpPr/>
          <p:nvPr/>
        </p:nvSpPr>
        <p:spPr>
          <a:xfrm>
            <a:off x="7822692" y="5993892"/>
            <a:ext cx="539496" cy="539496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1" name="Shape 69"/>
          <p:cNvSpPr/>
          <p:nvPr/>
        </p:nvSpPr>
        <p:spPr>
          <a:xfrm>
            <a:off x="8073924" y="6116358"/>
            <a:ext cx="37031" cy="82478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008279" y="6175271"/>
            <a:ext cx="168323" cy="235652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35210" y="6269531"/>
            <a:ext cx="114459" cy="135500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7822692" y="5993892"/>
            <a:ext cx="539496" cy="539496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75" name="bld7_720"/>
          <p:cNvSpPr txBox="1"/>
          <p:nvPr/>
        </p:nvSpPr>
        <p:spPr>
          <a:xfrm>
            <a:off x="8499348" y="6089904"/>
            <a:ext cx="31437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waste area</a:t>
            </a:r>
            <a:endParaRPr lang="en-US" sz="1350" dirty="0"/>
          </a:p>
        </p:txBody>
      </p:sp>
      <p:sp>
        <p:nvSpPr>
          <p:cNvPr id="77" name="trans_push_l_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8" name="Text 7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79" name="Text 7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5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9" grpId="0"/>
      <p:bldP spid="30" grpId="0"/>
      <p:bldP spid="36" grpId="0"/>
      <p:bldP spid="37" grpId="0"/>
      <p:bldP spid="44" grpId="0"/>
      <p:bldP spid="45" grpId="0"/>
      <p:bldP spid="50" grpId="0"/>
      <p:bldP spid="51" grpId="0"/>
      <p:bldP spid="59" grpId="0"/>
      <p:bldP spid="60" grpId="0"/>
      <p:bldP spid="68" grpId="0"/>
      <p:bldP spid="69" grpId="0"/>
      <p:bldP spid="7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10" name="trans_fade_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33890" y="2086061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4320000">
            <a:off x="10245887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8640000">
            <a:off x="1001212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12960000">
            <a:off x="925565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7280000">
            <a:off x="9021893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47213" y="3109253"/>
            <a:ext cx="639495" cy="63949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vocabulary: volatility, diffusion, tenacity, role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natural material families, in real depth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named materials — not just categories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3" name="trans_fade_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7" name="bld1_721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723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724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25" name="bld2_725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727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728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36" name="bld3_729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7350455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7395926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7473429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550931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596403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4" name="bld3_731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45" name="bld3_732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46" name="bld4_733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53416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46779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2000000">
            <a:off x="10370553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52" name="bld4_735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53" name="bld4_736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54" name="bld5_737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6" name="Shape 54"/>
          <p:cNvSpPr/>
          <p:nvPr/>
        </p:nvSpPr>
        <p:spPr>
          <a:xfrm>
            <a:off x="1596931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77764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758597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810330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5_739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62" name="bld5_740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63" name="bld6_741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5" name="Shape 63"/>
          <p:cNvSpPr/>
          <p:nvPr/>
        </p:nvSpPr>
        <p:spPr>
          <a:xfrm rot="9000000">
            <a:off x="4555792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000000">
            <a:off x="4492743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1400000">
            <a:off x="4691592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6_743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70" name="bld6_744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71" name="bld7_745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3" name="Shape 71"/>
          <p:cNvSpPr/>
          <p:nvPr/>
        </p:nvSpPr>
        <p:spPr>
          <a:xfrm>
            <a:off x="7291555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5" name="bld7_747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76" name="bld7_748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77" name="bld8_749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10294066" y="3585722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10346779" y="3641497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97703" y="365483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315163" y="371497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10332623" y="377511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10350083" y="383525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10367543" y="389539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10385003" y="395553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751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752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90" name="bld9_753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2" name="Shape 90"/>
          <p:cNvSpPr/>
          <p:nvPr/>
        </p:nvSpPr>
        <p:spPr>
          <a:xfrm rot="9000000">
            <a:off x="1718180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6000000">
            <a:off x="1655131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11400000">
            <a:off x="1853980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96" name="bld9_755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97" name="bld9_756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98" name="bld10_757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0" name="Shape 98"/>
          <p:cNvSpPr/>
          <p:nvPr/>
        </p:nvSpPr>
        <p:spPr>
          <a:xfrm>
            <a:off x="4640667" y="529528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4692520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4713999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4692520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4640667" y="5441952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4588814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4567335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4588814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4638242" y="5417120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10" name="bld10_759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111" name="bld10_760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112" name="bld11_761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7334045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7309021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7309021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>
            <a:off x="7334045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0" name="bld11_763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21" name="bld11_764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122" name="bld12_765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3" name="Shape 121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109766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163116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63116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163116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9" name="bld12_767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130" name="bld12_768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132" name="trans_fade_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134" name="Text 1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4" grpId="0"/>
      <p:bldP spid="45" grpId="0"/>
      <p:bldP spid="46" grpId="0"/>
      <p:bldP spid="52" grpId="0"/>
      <p:bldP spid="53" grpId="0"/>
      <p:bldP spid="54" grpId="0"/>
      <p:bldP spid="61" grpId="0"/>
      <p:bldP spid="62" grpId="0"/>
      <p:bldP spid="63" grpId="0"/>
      <p:bldP spid="69" grpId="0"/>
      <p:bldP spid="70" grpId="0"/>
      <p:bldP spid="71" grpId="0"/>
      <p:bldP spid="75" grpId="0"/>
      <p:bldP spid="76" grpId="0"/>
      <p:bldP spid="77" grpId="0"/>
      <p:bldP spid="88" grpId="0"/>
      <p:bldP spid="89" grpId="0"/>
      <p:bldP spid="90" grpId="0"/>
      <p:bldP spid="96" grpId="0"/>
      <p:bldP spid="97" grpId="0"/>
      <p:bldP spid="98" grpId="0"/>
      <p:bldP spid="110" grpId="0"/>
      <p:bldP spid="111" grpId="0"/>
      <p:bldP spid="112" grpId="0"/>
      <p:bldP spid="120" grpId="0"/>
      <p:bldP spid="121" grpId="0"/>
      <p:bldP spid="122" grpId="0"/>
      <p:bldP spid="129" grpId="0"/>
      <p:bldP spid="130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769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9" name="bld1_770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0" name="bld1_771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11" name="bld1_772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2" name="bld2_773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bld2_774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4" name="bld2_775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5" name="bld2_776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6" name="bld3_777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778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779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9" name="bld3_780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2" name="trans_push_l_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44967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473725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4869984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002713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4869984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473725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781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78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783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17" name="bld1_784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projection, an "intimate" material.</a:t>
            </a:r>
            <a:endParaRPr lang="en-US" sz="1080" dirty="0"/>
          </a:p>
        </p:txBody>
      </p:sp>
      <p:sp>
        <p:nvSpPr>
          <p:cNvPr id="18" name="bld2_785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786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787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21" name="bld2_788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 beyond the skin.</a:t>
            </a:r>
            <a:endParaRPr lang="en-US" sz="1080" dirty="0"/>
          </a:p>
        </p:txBody>
      </p:sp>
      <p:sp>
        <p:nvSpPr>
          <p:cNvPr id="22" name="bld3_789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790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791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5" name="bld3_792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 from a small amount.</a:t>
            </a:r>
            <a:endParaRPr lang="en-US" sz="1080" dirty="0"/>
          </a:p>
        </p:txBody>
      </p:sp>
      <p:sp>
        <p:nvSpPr>
          <p:cNvPr id="26" name="bld4_793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794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795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9" name="bld4_796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how strong it is.</a:t>
            </a:r>
            <a:endParaRPr lang="en-US" sz="1080" dirty="0"/>
          </a:p>
        </p:txBody>
      </p:sp>
      <p:sp>
        <p:nvSpPr>
          <p:cNvPr id="31" name="trans_fade_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24" name="bld1_79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79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6" name="bld1_79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7" name="bld2_80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80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9" name="bld2_80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30" name="bld3_80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80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32" name="bld3_80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34" name="trans_fade_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4717807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4914653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23315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23315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4914653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170781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806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8100000">
            <a:off x="1413022" y="2611526"/>
            <a:ext cx="285293" cy="2852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808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19" name="bld1_809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20" name="bld2_810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754435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4320000">
            <a:off x="3885487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640000">
            <a:off x="383543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2960000">
            <a:off x="367344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7280000">
            <a:off x="3623383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57288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9" name="bld2_812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30" name="bld2_813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31" name="bld3_814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8" name="bld3_816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39" name="bld3_817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40" name="bld4_818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 rot="9000000">
            <a:off x="822329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6000000">
            <a:off x="814911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1400000">
            <a:off x="838305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6" name="bld4_820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47" name="bld4_821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48" name="bld5_822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0" name="Shape 48"/>
          <p:cNvSpPr/>
          <p:nvPr/>
        </p:nvSpPr>
        <p:spPr>
          <a:xfrm>
            <a:off x="10606630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1" name="Shape 49"/>
          <p:cNvSpPr/>
          <p:nvPr/>
        </p:nvSpPr>
        <p:spPr>
          <a:xfrm>
            <a:off x="10610464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544733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81309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5" name="bld5_824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56" name="bld5_825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58" name="trans_fade_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60" name="Text 5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29" grpId="0"/>
      <p:bldP spid="30" grpId="0"/>
      <p:bldP spid="31" grpId="0"/>
      <p:bldP spid="38" grpId="0"/>
      <p:bldP spid="39" grpId="0"/>
      <p:bldP spid="40" grpId="0"/>
      <p:bldP spid="46" grpId="0"/>
      <p:bldP spid="47" grpId="0"/>
      <p:bldP spid="48" grpId="0"/>
      <p:bldP spid="55" grpId="0"/>
      <p:bldP spid="5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1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Citrus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4" name="bld1_827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2865793" y="3668974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2099" y="3755280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20617" y="4223798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829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>
            <a:off x="4688095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63213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4" name="Shape 42"/>
          <p:cNvSpPr/>
          <p:nvPr/>
        </p:nvSpPr>
        <p:spPr>
          <a:xfrm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21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43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4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29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51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72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94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170997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5" name="Shape 5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3_831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30484" y="3748887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505602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0" name="Shape 58"/>
          <p:cNvSpPr/>
          <p:nvPr/>
        </p:nvSpPr>
        <p:spPr>
          <a:xfrm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16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432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48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864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080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296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512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728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944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913386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72" name="bld4_833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74" name="Shape 72"/>
          <p:cNvSpPr/>
          <p:nvPr/>
        </p:nvSpPr>
        <p:spPr>
          <a:xfrm>
            <a:off x="8092960" y="3399610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179266" y="3485916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21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43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64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6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080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29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51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72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94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8647784" y="3954434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7" name="Shape 8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88" name="bld5_835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350" dirty="0"/>
          </a:p>
        </p:txBody>
      </p:sp>
      <p:sp>
        <p:nvSpPr>
          <p:cNvPr id="89" name="Shape 8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0" name="Shape 88"/>
          <p:cNvSpPr/>
          <p:nvPr/>
        </p:nvSpPr>
        <p:spPr>
          <a:xfrm>
            <a:off x="9915262" y="3748887"/>
            <a:ext cx="1073117" cy="1073117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9990380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216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432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648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864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1080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296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512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728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944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98165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04" name="bld6_837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350" dirty="0"/>
          </a:p>
        </p:txBody>
      </p:sp>
      <p:sp>
        <p:nvSpPr>
          <p:cNvPr id="106" name="trans_fade_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7" name="Text 10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108" name="Text 10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6" grpId="0"/>
      <p:bldP spid="72" grpId="0"/>
      <p:bldP spid="88" grpId="0"/>
      <p:bldP spid="10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CITRUS,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citrus oils — not one smell</a:t>
            </a:r>
            <a:endParaRPr lang="en-US" sz="3200" dirty="0"/>
          </a:p>
        </p:txBody>
      </p:sp>
      <p:sp>
        <p:nvSpPr>
          <p:cNvPr id="7" name="bld1_838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840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24" name="bld1_841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elegant, floral-citrus, slightly bitter. Very fast top note, gone in under 2 hours.</a:t>
            </a:r>
            <a:endParaRPr lang="en-US" sz="1080" dirty="0"/>
          </a:p>
        </p:txBody>
      </p:sp>
      <p:sp>
        <p:nvSpPr>
          <p:cNvPr id="25" name="bld2_842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34543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468493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16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48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64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512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728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944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52792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0" name="Shape 3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1" name="bld2_844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450" dirty="0"/>
          </a:p>
        </p:txBody>
      </p:sp>
      <p:sp>
        <p:nvSpPr>
          <p:cNvPr id="42" name="bld2_845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sharp, sparkling and immediately recognisable. A fleeting, classic freshness lift.</a:t>
            </a:r>
            <a:endParaRPr lang="en-US" sz="1080" dirty="0"/>
          </a:p>
        </p:txBody>
      </p:sp>
      <p:sp>
        <p:nvSpPr>
          <p:cNvPr id="43" name="bld3_846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06104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90404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59" name="bld3_848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450" dirty="0"/>
          </a:p>
        </p:txBody>
      </p:sp>
      <p:sp>
        <p:nvSpPr>
          <p:cNvPr id="60" name="bld3_849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greener and more tart than lemon. Zesty and short-lived.</a:t>
            </a:r>
            <a:endParaRPr lang="en-US" sz="1080" dirty="0"/>
          </a:p>
        </p:txBody>
      </p:sp>
      <p:sp>
        <p:nvSpPr>
          <p:cNvPr id="61" name="bld4_850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1437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216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432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48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64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296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512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728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1944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3280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77" name="bld4_852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450" dirty="0"/>
          </a:p>
        </p:txBody>
      </p:sp>
      <p:sp>
        <p:nvSpPr>
          <p:cNvPr id="78" name="bld4_853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Softer, sweeter, rounder and more juicy than lemon or lime. A warm, candy-like top note.</a:t>
            </a:r>
            <a:endParaRPr lang="en-US" sz="1080" dirty="0"/>
          </a:p>
        </p:txBody>
      </p:sp>
      <p:sp>
        <p:nvSpPr>
          <p:cNvPr id="79" name="bld5_854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1" name="Shape 7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1630881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3" name="Shape 81"/>
          <p:cNvSpPr/>
          <p:nvPr/>
        </p:nvSpPr>
        <p:spPr>
          <a:xfrm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21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43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64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86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1080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129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51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72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94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1815180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4" name="Shape 9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95" name="bld5_856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450" dirty="0"/>
          </a:p>
        </p:txBody>
      </p:sp>
      <p:sp>
        <p:nvSpPr>
          <p:cNvPr id="96" name="bld5_857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sweet, gentle citrus — a smoother, less acidic alternative to orange.</a:t>
            </a:r>
            <a:endParaRPr lang="en-US" sz="1080" dirty="0"/>
          </a:p>
        </p:txBody>
      </p:sp>
      <p:sp>
        <p:nvSpPr>
          <p:cNvPr id="97" name="bld6_858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9" name="Shape 9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4468493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1" name="Shape 99"/>
          <p:cNvSpPr/>
          <p:nvPr/>
        </p:nvSpPr>
        <p:spPr>
          <a:xfrm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216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432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648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864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080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296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 rot="1512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1728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1944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4652792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13" name="bld6_860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450" dirty="0"/>
          </a:p>
        </p:txBody>
      </p:sp>
      <p:sp>
        <p:nvSpPr>
          <p:cNvPr id="114" name="bld6_861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fresh, slightly sulphurous depending on quality — reads further into the heart than most citrus.</a:t>
            </a:r>
            <a:endParaRPr lang="en-US" sz="1080" dirty="0"/>
          </a:p>
        </p:txBody>
      </p:sp>
      <p:sp>
        <p:nvSpPr>
          <p:cNvPr id="115" name="bld7_862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6" name="Shape 11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06104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216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432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 rot="648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 rot="864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 rot="1080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 rot="1296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1512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728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 rot="1944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0404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131" name="bld7_864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Bitter Orange</a:t>
            </a:r>
            <a:endParaRPr lang="en-US" sz="1450" dirty="0"/>
          </a:p>
        </p:txBody>
      </p:sp>
      <p:sp>
        <p:nvSpPr>
          <p:cNvPr id="132" name="bld7_865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Drier and more tart than sweet orange, with a slightly green, peel-like edge.</a:t>
            </a:r>
            <a:endParaRPr lang="en-US" sz="1080" dirty="0"/>
          </a:p>
        </p:txBody>
      </p:sp>
      <p:sp>
        <p:nvSpPr>
          <p:cNvPr id="133" name="bld8_866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4" name="Shape 13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0109766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10143716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 rot="216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 rot="432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 rot="648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 rot="864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 rot="1080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 rot="1296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 rot="1512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 rot="1728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 rot="1944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10328015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49" name="bld8_868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450" dirty="0"/>
          </a:p>
        </p:txBody>
      </p:sp>
      <p:sp>
        <p:nvSpPr>
          <p:cNvPr id="150" name="bld8_869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twiggy — distilled from leaves and twigs, not fruit. Longer-lived than the peel oils.</a:t>
            </a:r>
            <a:endParaRPr lang="en-US" sz="1080" dirty="0"/>
          </a:p>
        </p:txBody>
      </p:sp>
      <p:sp>
        <p:nvSpPr>
          <p:cNvPr id="152" name="trans_fade_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3" name="Text 1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154" name="Text 15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41" grpId="0"/>
      <p:bldP spid="42" grpId="0"/>
      <p:bldP spid="43" grpId="0"/>
      <p:bldP spid="59" grpId="0"/>
      <p:bldP spid="60" grpId="0"/>
      <p:bldP spid="61" grpId="0"/>
      <p:bldP spid="77" grpId="0"/>
      <p:bldP spid="78" grpId="0"/>
      <p:bldP spid="79" grpId="0"/>
      <p:bldP spid="95" grpId="0"/>
      <p:bldP spid="96" grpId="0"/>
      <p:bldP spid="97" grpId="0"/>
      <p:bldP spid="113" grpId="0"/>
      <p:bldP spid="114" grpId="0"/>
      <p:bldP spid="115" grpId="0"/>
      <p:bldP spid="131" grpId="0"/>
      <p:bldP spid="132" grpId="0"/>
      <p:bldP spid="133" grpId="0"/>
      <p:bldP spid="149" grpId="0"/>
      <p:bldP spid="15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citrus oils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871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800" dirty="0"/>
          </a:p>
        </p:txBody>
      </p:sp>
      <p:sp>
        <p:nvSpPr>
          <p:cNvPr id="23" name="bld1_872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873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elegant, floral-citrus, slightly bitter</a:t>
            </a:r>
            <a:endParaRPr lang="en-US" sz="1100" dirty="0"/>
          </a:p>
        </p:txBody>
      </p:sp>
      <p:sp>
        <p:nvSpPr>
          <p:cNvPr id="25" name="bld1_874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875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fresh opening lift</a:t>
            </a:r>
            <a:endParaRPr lang="en-US" sz="1100" dirty="0"/>
          </a:p>
        </p:txBody>
      </p:sp>
      <p:sp>
        <p:nvSpPr>
          <p:cNvPr id="27" name="bld1_876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877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fleeting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0" name="Shape 28"/>
          <p:cNvSpPr/>
          <p:nvPr/>
        </p:nvSpPr>
        <p:spPr>
          <a:xfrm>
            <a:off x="4818431" y="1694383"/>
            <a:ext cx="1640434" cy="1640434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933261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2" name="Shape 30"/>
          <p:cNvSpPr/>
          <p:nvPr/>
        </p:nvSpPr>
        <p:spPr>
          <a:xfrm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1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43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4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6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080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51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72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94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56626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44" name="bld2_879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800" dirty="0"/>
          </a:p>
        </p:txBody>
      </p:sp>
      <p:sp>
        <p:nvSpPr>
          <p:cNvPr id="45" name="bld2_880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2_881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fresh, radiant</a:t>
            </a:r>
            <a:endParaRPr lang="en-US" sz="1100" dirty="0"/>
          </a:p>
        </p:txBody>
      </p:sp>
      <p:sp>
        <p:nvSpPr>
          <p:cNvPr id="47" name="bld2_882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2_883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sparkling brightness</a:t>
            </a:r>
            <a:endParaRPr lang="en-US" sz="1100" dirty="0"/>
          </a:p>
        </p:txBody>
      </p:sp>
      <p:sp>
        <p:nvSpPr>
          <p:cNvPr id="49" name="bld2_884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2_885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short · diffusive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1769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26600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4" name="Shape 52"/>
          <p:cNvSpPr/>
          <p:nvPr/>
        </p:nvSpPr>
        <p:spPr>
          <a:xfrm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21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4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86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29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51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94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49964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6" name="bld3_887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800" dirty="0"/>
          </a:p>
        </p:txBody>
      </p:sp>
      <p:sp>
        <p:nvSpPr>
          <p:cNvPr id="67" name="bld3_888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8" name="bld3_889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woody-twiggy</a:t>
            </a:r>
            <a:endParaRPr lang="en-US" sz="1100" dirty="0"/>
          </a:p>
        </p:txBody>
      </p:sp>
      <p:sp>
        <p:nvSpPr>
          <p:cNvPr id="69" name="bld3_890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70" name="bld3_891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citrus into the heart</a:t>
            </a:r>
            <a:endParaRPr lang="en-US" sz="1100" dirty="0"/>
          </a:p>
        </p:txBody>
      </p:sp>
      <p:sp>
        <p:nvSpPr>
          <p:cNvPr id="71" name="bld3_892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2" name="bld3_893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intimate</a:t>
            </a:r>
            <a:endParaRPr lang="en-US" sz="1100" dirty="0"/>
          </a:p>
        </p:txBody>
      </p:sp>
      <p:sp>
        <p:nvSpPr>
          <p:cNvPr id="74" name="trans_fade_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6" grpId="0"/>
      <p:bldP spid="67" grpId="0"/>
      <p:bldP spid="68" grpId="0"/>
      <p:bldP spid="69" grpId="0"/>
      <p:bldP spid="70" grpId="0"/>
      <p:bldP spid="71" grpId="0"/>
      <p:bldP spid="7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2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Woods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1595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895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6" name="Shape 14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071283" y="3874465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6773" y="4079955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2_897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106610" y="3511717"/>
            <a:ext cx="236086" cy="2360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819600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920697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082305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4653" y="3629759"/>
            <a:ext cx="9144" cy="788741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24653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24653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24653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899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6634376" y="3802543"/>
            <a:ext cx="665332" cy="965805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1556" y="3963510"/>
            <a:ext cx="914" cy="59021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901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903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0183541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9" name="Shape 4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0" name="bld6_905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350" dirty="0"/>
          </a:p>
        </p:txBody>
      </p:sp>
      <p:sp>
        <p:nvSpPr>
          <p:cNvPr id="52" name="trans_fade_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3" name="Text 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1" grpId="0"/>
      <p:bldP spid="32" grpId="0"/>
      <p:bldP spid="37" grpId="0"/>
      <p:bldP spid="44" grpId="0"/>
      <p:bldP spid="5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WOODS,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base of the formula</a:t>
            </a:r>
            <a:endParaRPr lang="en-US" sz="3200" dirty="0"/>
          </a:p>
        </p:txBody>
      </p:sp>
      <p:sp>
        <p:nvSpPr>
          <p:cNvPr id="7" name="bld1_90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2191116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283265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3" name="bld1_90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450" dirty="0"/>
          </a:p>
        </p:txBody>
      </p:sp>
      <p:sp>
        <p:nvSpPr>
          <p:cNvPr id="14" name="bld1_90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smooth, warm, soft wood. Base note, very long — the gold standard for smooth woods.</a:t>
            </a:r>
            <a:endParaRPr lang="en-US" sz="1080" dirty="0"/>
          </a:p>
        </p:txBody>
      </p:sp>
      <p:sp>
        <p:nvSpPr>
          <p:cNvPr id="15" name="bld2_91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934182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9" name="Shape 17"/>
          <p:cNvSpPr/>
          <p:nvPr/>
        </p:nvSpPr>
        <p:spPr>
          <a:xfrm>
            <a:off x="6015015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1" name="Shape 1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2_91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3" name="bld2_91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pencil-like, structured woodiness — character shifts with origin. Base note, long.</a:t>
            </a:r>
            <a:endParaRPr lang="en-US" sz="1080" dirty="0"/>
          </a:p>
        </p:txBody>
      </p:sp>
      <p:sp>
        <p:nvSpPr>
          <p:cNvPr id="24" name="bld3_91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6" name="Shape 24"/>
          <p:cNvSpPr/>
          <p:nvPr/>
        </p:nvSpPr>
        <p:spPr>
          <a:xfrm>
            <a:off x="9825980" y="1992580"/>
            <a:ext cx="106700" cy="106700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9696265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741956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814996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79330" y="2045930"/>
            <a:ext cx="9144" cy="356473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79330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79330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9330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5" name="bld3_91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450" dirty="0"/>
          </a:p>
        </p:txBody>
      </p:sp>
      <p:sp>
        <p:nvSpPr>
          <p:cNvPr id="36" name="bld3_91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Rooty, earthy, dry, smoky, grassy. Base note, very long, grounding and textured.</a:t>
            </a:r>
            <a:endParaRPr lang="en-US" sz="1080" dirty="0"/>
          </a:p>
        </p:txBody>
      </p:sp>
      <p:sp>
        <p:nvSpPr>
          <p:cNvPr id="37" name="bld4_91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 rot="18900000">
            <a:off x="2162016" y="4361432"/>
            <a:ext cx="300699" cy="436498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306879" y="4434182"/>
            <a:ext cx="914" cy="26674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2" name="bld4_92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450" dirty="0"/>
          </a:p>
        </p:txBody>
      </p:sp>
      <p:sp>
        <p:nvSpPr>
          <p:cNvPr id="43" name="bld4_92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woody, damp, camphoraceous or clean depending on quality. Base note, extremely long.</a:t>
            </a:r>
            <a:endParaRPr lang="en-US" sz="1080" dirty="0"/>
          </a:p>
        </p:txBody>
      </p:sp>
      <p:sp>
        <p:nvSpPr>
          <p:cNvPr id="44" name="bld5_92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934182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6015015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66748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1" name="bld5_92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450" dirty="0"/>
          </a:p>
        </p:txBody>
      </p:sp>
      <p:sp>
        <p:nvSpPr>
          <p:cNvPr id="52" name="bld5_92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sweet, woody, slightly rosy. Base note, long — an underused, characterful wood.</a:t>
            </a:r>
            <a:endParaRPr lang="en-US" sz="1080" dirty="0"/>
          </a:p>
        </p:txBody>
      </p:sp>
      <p:sp>
        <p:nvSpPr>
          <p:cNvPr id="53" name="bld6_92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5" name="Shape 53"/>
          <p:cNvSpPr/>
          <p:nvPr/>
        </p:nvSpPr>
        <p:spPr>
          <a:xfrm>
            <a:off x="96368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9758081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8502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9" name="bld6_92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450" dirty="0"/>
          </a:p>
        </p:txBody>
      </p:sp>
      <p:sp>
        <p:nvSpPr>
          <p:cNvPr id="60" name="bld6_92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slightly oily, budget-friendly sandalwood-adjacent. Base note, long, inexpensive.</a:t>
            </a:r>
            <a:endParaRPr lang="en-US" sz="1080" dirty="0"/>
          </a:p>
        </p:txBody>
      </p:sp>
      <p:sp>
        <p:nvSpPr>
          <p:cNvPr id="62" name="trans_fade_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3" name="Text 6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2" grpId="0"/>
      <p:bldP spid="23" grpId="0"/>
      <p:bldP spid="24" grpId="0"/>
      <p:bldP spid="35" grpId="0"/>
      <p:bldP spid="36" grpId="0"/>
      <p:bldP spid="37" grpId="0"/>
      <p:bldP spid="42" grpId="0"/>
      <p:bldP spid="43" grpId="0"/>
      <p:bldP spid="44" grpId="0"/>
      <p:bldP spid="51" grpId="0"/>
      <p:bldP spid="52" grpId="0"/>
      <p:bldP spid="53" grpId="0"/>
      <p:bldP spid="59" grpId="0"/>
      <p:bldP spid="6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1384802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2" name="bld1_931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800" dirty="0"/>
          </a:p>
        </p:txBody>
      </p:sp>
      <p:sp>
        <p:nvSpPr>
          <p:cNvPr id="13" name="bld1_932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933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smooth, warm, soft wood</a:t>
            </a:r>
            <a:endParaRPr lang="en-US" sz="1100" dirty="0"/>
          </a:p>
        </p:txBody>
      </p:sp>
      <p:sp>
        <p:nvSpPr>
          <p:cNvPr id="15" name="bld1_934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935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Smoothness, comfort</a:t>
            </a:r>
            <a:endParaRPr lang="en-US" sz="1100" dirty="0"/>
          </a:p>
        </p:txBody>
      </p:sp>
      <p:sp>
        <p:nvSpPr>
          <p:cNvPr id="17" name="bld1_936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937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intimate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027852" y="1801723"/>
            <a:ext cx="333687" cy="33368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3622187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765079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993500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4696" y="1968567"/>
            <a:ext cx="9144" cy="1114818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94696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94696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94696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939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800" dirty="0"/>
          </a:p>
        </p:txBody>
      </p:sp>
      <p:sp>
        <p:nvSpPr>
          <p:cNvPr id="30" name="bld2_940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941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Rooty, earthy, dry, smoky</a:t>
            </a:r>
            <a:endParaRPr lang="en-US" sz="1100" dirty="0"/>
          </a:p>
        </p:txBody>
      </p:sp>
      <p:sp>
        <p:nvSpPr>
          <p:cNvPr id="32" name="bld2_942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943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Grounding, texture</a:t>
            </a:r>
            <a:endParaRPr lang="en-US" sz="1100" dirty="0"/>
          </a:p>
        </p:txBody>
      </p:sp>
      <p:sp>
        <p:nvSpPr>
          <p:cNvPr id="34" name="bld2_944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945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moderate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 rot="18900000">
            <a:off x="6155204" y="1832058"/>
            <a:ext cx="940391" cy="1365083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19913" y="2059572"/>
            <a:ext cx="914" cy="83421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0" name="bld3_947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800" dirty="0"/>
          </a:p>
        </p:txBody>
      </p:sp>
      <p:sp>
        <p:nvSpPr>
          <p:cNvPr id="41" name="bld3_948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2" name="bld3_949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woody, damp</a:t>
            </a:r>
            <a:endParaRPr lang="en-US" sz="1100" dirty="0"/>
          </a:p>
        </p:txBody>
      </p:sp>
      <p:sp>
        <p:nvSpPr>
          <p:cNvPr id="43" name="bld3_950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4" name="bld3_951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and grip</a:t>
            </a:r>
            <a:endParaRPr lang="en-US" sz="1100" dirty="0"/>
          </a:p>
        </p:txBody>
      </p:sp>
      <p:sp>
        <p:nvSpPr>
          <p:cNvPr id="45" name="bld3_952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6" name="bld3_953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extremely long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550517" y="2009014"/>
            <a:ext cx="1011173" cy="101117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803310" y="2261807"/>
            <a:ext cx="505586" cy="505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3" name="bld4_955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800" dirty="0"/>
          </a:p>
        </p:txBody>
      </p:sp>
      <p:sp>
        <p:nvSpPr>
          <p:cNvPr id="54" name="bld4_956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957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pencil-like woodiness</a:t>
            </a:r>
            <a:endParaRPr lang="en-US" sz="1100" dirty="0"/>
          </a:p>
        </p:txBody>
      </p:sp>
      <p:sp>
        <p:nvSpPr>
          <p:cNvPr id="56" name="bld4_958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959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Softness, structure</a:t>
            </a:r>
            <a:endParaRPr lang="en-US" sz="1100" dirty="0"/>
          </a:p>
        </p:txBody>
      </p:sp>
      <p:sp>
        <p:nvSpPr>
          <p:cNvPr id="58" name="bld4_960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961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quiet</a:t>
            </a:r>
            <a:endParaRPr lang="en-US" sz="1100" dirty="0"/>
          </a:p>
        </p:txBody>
      </p:sp>
      <p:sp>
        <p:nvSpPr>
          <p:cNvPr id="61" name="trans_fade_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3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Florals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>
            <a:off x="1605735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1852209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175806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1453406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1359261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11101" y="3887307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963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3395958" y="3668974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366289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366289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395958" y="4285445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312901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312901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34311" y="4137492"/>
            <a:ext cx="295906" cy="295906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965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090513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5336987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640000">
            <a:off x="5242842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2960000">
            <a:off x="493818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7280000">
            <a:off x="4844040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95879" y="3887307"/>
            <a:ext cx="257548" cy="25754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6" name="bld3_967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8" name="Shape 36"/>
          <p:cNvSpPr/>
          <p:nvPr/>
        </p:nvSpPr>
        <p:spPr>
          <a:xfrm rot="10800000">
            <a:off x="6891924" y="374888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4400000">
            <a:off x="7124261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8000000">
            <a:off x="7124261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891924" y="4285445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3600000">
            <a:off x="6659587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7200000">
            <a:off x="6659587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38268" y="4156671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6" name="bld4_969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8" name="Shape 46"/>
          <p:cNvSpPr/>
          <p:nvPr/>
        </p:nvSpPr>
        <p:spPr>
          <a:xfrm>
            <a:off x="8616961" y="360773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700000">
            <a:off x="8748780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5400000">
            <a:off x="8803382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100000">
            <a:off x="8748780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16961" y="3980573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3500000">
            <a:off x="8485141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6200000">
            <a:off x="8430540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8900000">
            <a:off x="8485141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10796" y="3917446"/>
            <a:ext cx="197271" cy="19727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971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71337" y="3930029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700000">
            <a:off x="10486069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1053359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8100000">
            <a:off x="10486069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0800000">
            <a:off x="10371337" y="4254540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3500000">
            <a:off x="10256605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6200000">
            <a:off x="1020908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8900000">
            <a:off x="10256605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365971" y="4199596"/>
            <a:ext cx="171699" cy="171699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69" name="Shape 6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70" name="bld6_973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350" dirty="0"/>
          </a:p>
        </p:txBody>
      </p:sp>
      <p:sp>
        <p:nvSpPr>
          <p:cNvPr id="72" name="trans_fade_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7" grpId="0"/>
      <p:bldP spid="36" grpId="0"/>
      <p:bldP spid="46" grpId="0"/>
      <p:bldP spid="58" grpId="0"/>
      <p:bldP spid="70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FLORALS,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heart of nearly every formula</a:t>
            </a:r>
            <a:endParaRPr lang="en-US" sz="3200" dirty="0"/>
          </a:p>
        </p:txBody>
      </p:sp>
      <p:sp>
        <p:nvSpPr>
          <p:cNvPr id="7" name="bld1_97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778805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890200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847651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1709960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1667411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781230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97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7" name="bld1_97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spicy. Heart note, medium-long, moderately diffusive — the archetypal floral.</a:t>
            </a:r>
            <a:endParaRPr lang="en-US" sz="1080" dirty="0"/>
          </a:p>
        </p:txBody>
      </p:sp>
      <p:sp>
        <p:nvSpPr>
          <p:cNvPr id="18" name="bld2_97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bld2_98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29" name="bld2_98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 with an animalic edge. Heart note, long-lasting, very diffusive in tiny amounts.</a:t>
            </a:r>
            <a:endParaRPr lang="en-US" sz="1080" dirty="0"/>
          </a:p>
        </p:txBody>
      </p:sp>
      <p:sp>
        <p:nvSpPr>
          <p:cNvPr id="30" name="bld3_98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7480704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4400000">
            <a:off x="7585709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000000">
            <a:off x="7585709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80704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3600000">
            <a:off x="7375699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7200000">
            <a:off x="7375699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456454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9" name="Shape 37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0" name="bld3_98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450" dirty="0"/>
          </a:p>
        </p:txBody>
      </p:sp>
      <p:sp>
        <p:nvSpPr>
          <p:cNvPr id="41" name="bld3_98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banana-custard, exotic and heavy. Heart note, long, very diffusive — easy to overdose.</a:t>
            </a:r>
            <a:endParaRPr lang="en-US" sz="1080" dirty="0"/>
          </a:p>
        </p:txBody>
      </p:sp>
      <p:sp>
        <p:nvSpPr>
          <p:cNvPr id="42" name="bld4_98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4" name="Shape 42"/>
          <p:cNvSpPr/>
          <p:nvPr/>
        </p:nvSpPr>
        <p:spPr>
          <a:xfrm>
            <a:off x="10291641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4320000">
            <a:off x="104030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8640000">
            <a:off x="103604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2960000">
            <a:off x="102227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7280000">
            <a:off x="101802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294066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0" name="Shape 4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51" name="bld4_98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450" dirty="0"/>
          </a:p>
        </p:txBody>
      </p:sp>
      <p:sp>
        <p:nvSpPr>
          <p:cNvPr id="52" name="bld4_98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bitter-orange-blossom, faintly green. Top-heart note — lighter and fresher than orange blossom absolute.</a:t>
            </a:r>
            <a:endParaRPr lang="en-US" sz="1080" dirty="0"/>
          </a:p>
        </p:txBody>
      </p:sp>
      <p:sp>
        <p:nvSpPr>
          <p:cNvPr id="53" name="bld5_99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1778805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1890200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640000">
            <a:off x="1847651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2960000">
            <a:off x="1709960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7280000">
            <a:off x="1667411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781230" y="4521481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1" name="Shape 59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62" name="bld5_99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</a:t>
            </a:r>
            <a:endParaRPr lang="en-US" sz="1450" dirty="0"/>
          </a:p>
        </p:txBody>
      </p:sp>
      <p:sp>
        <p:nvSpPr>
          <p:cNvPr id="63" name="bld5_99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and more indolic than neroli, from the same flower via solvent extraction. Heart note, warm and lush.</a:t>
            </a:r>
            <a:endParaRPr lang="en-US" sz="1080" dirty="0"/>
          </a:p>
        </p:txBody>
      </p:sp>
      <p:sp>
        <p:nvSpPr>
          <p:cNvPr id="64" name="bld6_99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6" name="Shape 64"/>
          <p:cNvSpPr/>
          <p:nvPr/>
        </p:nvSpPr>
        <p:spPr>
          <a:xfrm>
            <a:off x="4640667" y="44190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2700000">
            <a:off x="4692520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5400000">
            <a:off x="4713999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100000">
            <a:off x="4692520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4640667" y="456571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3500000">
            <a:off x="4588814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6200000">
            <a:off x="4567335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8900000">
            <a:off x="4588814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638242" y="4540881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75" name="Shape 73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76" name="bld6_99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Lavender</a:t>
            </a:r>
            <a:endParaRPr lang="en-US" sz="1450" dirty="0"/>
          </a:p>
        </p:txBody>
      </p:sp>
      <p:sp>
        <p:nvSpPr>
          <p:cNvPr id="77" name="bld6_99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Herbal-floral, camphoraceous, clean. Top-heart, medium tenacity — the bridge between aromatic and floral.</a:t>
            </a:r>
            <a:endParaRPr lang="en-US" sz="1080" dirty="0"/>
          </a:p>
        </p:txBody>
      </p:sp>
      <p:sp>
        <p:nvSpPr>
          <p:cNvPr id="78" name="bld7_99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0" name="Shape 78"/>
          <p:cNvSpPr/>
          <p:nvPr/>
        </p:nvSpPr>
        <p:spPr>
          <a:xfrm>
            <a:off x="7478279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2700000">
            <a:off x="7530132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5400000">
            <a:off x="7551610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8100000">
            <a:off x="7530132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0800000">
            <a:off x="7478279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3500000">
            <a:off x="7426425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16200000">
            <a:off x="7404947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18900000">
            <a:off x="7426425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7475854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9" name="Shape 87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90" name="bld7_100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450" dirty="0"/>
          </a:p>
        </p:txBody>
      </p:sp>
      <p:sp>
        <p:nvSpPr>
          <p:cNvPr id="91" name="bld7_100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 but sharper and greener than rose itself, minty-metallic edge. Heart note, medium — a common rose extender.</a:t>
            </a:r>
            <a:endParaRPr lang="en-US" sz="1080" dirty="0"/>
          </a:p>
        </p:txBody>
      </p:sp>
      <p:sp>
        <p:nvSpPr>
          <p:cNvPr id="92" name="bld8_100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4" name="Shape 92"/>
          <p:cNvSpPr/>
          <p:nvPr/>
        </p:nvSpPr>
        <p:spPr>
          <a:xfrm>
            <a:off x="10315890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2700000">
            <a:off x="10367744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1038922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8100000">
            <a:off x="10367744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0800000">
            <a:off x="10315890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3500000">
            <a:off x="102640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6200000">
            <a:off x="10242559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8900000">
            <a:off x="102640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13465" y="4540881"/>
            <a:ext cx="77600" cy="77600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04" name="bld8_1004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450" dirty="0"/>
          </a:p>
        </p:txBody>
      </p:sp>
      <p:sp>
        <p:nvSpPr>
          <p:cNvPr id="105" name="bld8_1005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Apricot-suede, tea-like, unusual. Heart note, medium-long — a distinctive, less common floral.</a:t>
            </a:r>
            <a:endParaRPr lang="en-US" sz="1080" dirty="0"/>
          </a:p>
        </p:txBody>
      </p:sp>
      <p:sp>
        <p:nvSpPr>
          <p:cNvPr id="107" name="trans_fade_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8" name="Text 10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109" name="Text 10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8" grpId="0"/>
      <p:bldP spid="29" grpId="0"/>
      <p:bldP spid="30" grpId="0"/>
      <p:bldP spid="40" grpId="0"/>
      <p:bldP spid="41" grpId="0"/>
      <p:bldP spid="42" grpId="0"/>
      <p:bldP spid="51" grpId="0"/>
      <p:bldP spid="52" grpId="0"/>
      <p:bldP spid="53" grpId="0"/>
      <p:bldP spid="62" grpId="0"/>
      <p:bldP spid="63" grpId="0"/>
      <p:bldP spid="64" grpId="0"/>
      <p:bldP spid="76" grpId="0"/>
      <p:bldP spid="77" grpId="0"/>
      <p:bldP spid="78" grpId="0"/>
      <p:bldP spid="90" grpId="0"/>
      <p:bldP spid="91" grpId="0"/>
      <p:bldP spid="92" grpId="0"/>
      <p:bldP spid="104" grpId="0"/>
      <p:bldP spid="10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1574397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922766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789701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35909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22602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1007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800" dirty="0"/>
          </a:p>
        </p:txBody>
      </p:sp>
      <p:sp>
        <p:nvSpPr>
          <p:cNvPr id="16" name="bld1_1008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009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</a:t>
            </a:r>
            <a:endParaRPr lang="en-US" sz="1100" dirty="0"/>
          </a:p>
        </p:txBody>
      </p:sp>
      <p:sp>
        <p:nvSpPr>
          <p:cNvPr id="18" name="bld1_1010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011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and romance</a:t>
            </a:r>
            <a:endParaRPr lang="en-US" sz="1100" dirty="0"/>
          </a:p>
        </p:txBody>
      </p:sp>
      <p:sp>
        <p:nvSpPr>
          <p:cNvPr id="20" name="bld1_1012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013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moderate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1015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800" dirty="0"/>
          </a:p>
        </p:txBody>
      </p:sp>
      <p:sp>
        <p:nvSpPr>
          <p:cNvPr id="32" name="bld2_1016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3" name="bld2_1017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sensual</a:t>
            </a:r>
            <a:endParaRPr lang="en-US" sz="1100" dirty="0"/>
          </a:p>
        </p:txBody>
      </p:sp>
      <p:sp>
        <p:nvSpPr>
          <p:cNvPr id="34" name="bld2_1018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5" name="bld2_1019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Radiance, depth</a:t>
            </a:r>
            <a:endParaRPr lang="en-US" sz="1100" dirty="0"/>
          </a:p>
        </p:txBody>
      </p:sp>
      <p:sp>
        <p:nvSpPr>
          <p:cNvPr id="36" name="bld2_1020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7" name="bld2_1021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435805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4320000">
            <a:off x="6784174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640000">
            <a:off x="6651109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2960000">
            <a:off x="6220500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7280000">
            <a:off x="6087435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43388" y="2332589"/>
            <a:ext cx="364022" cy="3640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46" name="bld3_1023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800" dirty="0"/>
          </a:p>
        </p:txBody>
      </p:sp>
      <p:sp>
        <p:nvSpPr>
          <p:cNvPr id="47" name="bld3_1024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1025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bitter-orange blossom</a:t>
            </a:r>
            <a:endParaRPr lang="en-US" sz="1100" dirty="0"/>
          </a:p>
        </p:txBody>
      </p:sp>
      <p:sp>
        <p:nvSpPr>
          <p:cNvPr id="49" name="bld3_1026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1027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and lightens a floral heart</a:t>
            </a:r>
            <a:endParaRPr lang="en-US" sz="1100" dirty="0"/>
          </a:p>
        </p:txBody>
      </p:sp>
      <p:sp>
        <p:nvSpPr>
          <p:cNvPr id="51" name="bld3_1028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1029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diffusive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4" name="Shape 52"/>
          <p:cNvSpPr/>
          <p:nvPr/>
        </p:nvSpPr>
        <p:spPr>
          <a:xfrm rot="10800000">
            <a:off x="8949930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4400000">
            <a:off x="9278318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8000000">
            <a:off x="9278318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9930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3600000">
            <a:off x="8621542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7200000">
            <a:off x="8621542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1" name="Shape 5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2" name="bld4_1031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800" dirty="0"/>
          </a:p>
        </p:txBody>
      </p:sp>
      <p:sp>
        <p:nvSpPr>
          <p:cNvPr id="63" name="bld4_1032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4" name="bld4_1033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exotic, banana-custard</a:t>
            </a:r>
            <a:endParaRPr lang="en-US" sz="1100" dirty="0"/>
          </a:p>
        </p:txBody>
      </p:sp>
      <p:sp>
        <p:nvSpPr>
          <p:cNvPr id="65" name="bld4_1034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6" name="bld4_1035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Lushness, tropical warmth</a:t>
            </a:r>
            <a:endParaRPr lang="en-US" sz="1100" dirty="0"/>
          </a:p>
        </p:txBody>
      </p:sp>
      <p:sp>
        <p:nvSpPr>
          <p:cNvPr id="67" name="bld4_1036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8" name="bld4_1037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70" name="trans_fade_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62" grpId="0"/>
      <p:bldP spid="63" grpId="0"/>
      <p:bldP spid="64" grpId="0"/>
      <p:bldP spid="65" grpId="0"/>
      <p:bldP spid="66" grpId="0"/>
      <p:bldP spid="67" grpId="0"/>
      <p:bldP spid="68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4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Resins &amp; Balsams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RESINS &amp; BALSAMS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471595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332090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772068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1039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174028" y="4001869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013746" y="3927892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3519252" y="3853915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1041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4956374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4816869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5256846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1043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6698763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6559258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999236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1045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 rot="9000000">
            <a:off x="8401196" y="3732505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000000">
            <a:off x="8240913" y="3658528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0">
            <a:off x="8746420" y="3584552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5_1047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10183541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10044036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10484014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6_1049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350" dirty="0"/>
          </a:p>
        </p:txBody>
      </p:sp>
      <p:sp>
        <p:nvSpPr>
          <p:cNvPr id="46" name="trans_fade_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  <p:bldP spid="4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RESINS &amp; BALSAMS,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they differ: sweetness, darkness, smoke</a:t>
            </a:r>
            <a:endParaRPr lang="en-US" sz="3200" dirty="0"/>
          </a:p>
        </p:txBody>
      </p:sp>
      <p:sp>
        <p:nvSpPr>
          <p:cNvPr id="7" name="bld1_1050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2191116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2128066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2326915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1052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14" name="bld1_1053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honeyed. Base note, very long, richly diffusive — the backbone of most amber accords.</a:t>
            </a:r>
            <a:endParaRPr lang="en-US" sz="1080" dirty="0"/>
          </a:p>
        </p:txBody>
      </p:sp>
      <p:sp>
        <p:nvSpPr>
          <p:cNvPr id="15" name="bld2_1054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1" name="bld2_1056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450" dirty="0"/>
          </a:p>
        </p:txBody>
      </p:sp>
      <p:sp>
        <p:nvSpPr>
          <p:cNvPr id="22" name="bld2_1057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vanilla-like, balsamic. Base note, long, warm and softly diffusive — a natural sweetener and fixative.</a:t>
            </a:r>
            <a:endParaRPr lang="en-US" sz="1080" dirty="0"/>
          </a:p>
        </p:txBody>
      </p:sp>
      <p:sp>
        <p:nvSpPr>
          <p:cNvPr id="23" name="bld3_1058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29" name="bld3_1060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450" dirty="0"/>
          </a:p>
        </p:txBody>
      </p:sp>
      <p:sp>
        <p:nvSpPr>
          <p:cNvPr id="30" name="bld3_1061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faintly smoky. Base-heart, long — cooler and fresher than most resins.</a:t>
            </a:r>
            <a:endParaRPr lang="en-US" sz="1080" dirty="0"/>
          </a:p>
        </p:txBody>
      </p:sp>
      <p:sp>
        <p:nvSpPr>
          <p:cNvPr id="31" name="bld4_1062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2191116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2128066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2326915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7" name="bld4_1064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450" dirty="0"/>
          </a:p>
        </p:txBody>
      </p:sp>
      <p:sp>
        <p:nvSpPr>
          <p:cNvPr id="38" name="bld4_1065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medicinal, dark-resinous. Base note, very long, low diffusion — the darkest and most brooding of the resins.</a:t>
            </a:r>
            <a:endParaRPr lang="en-US" sz="1080" dirty="0"/>
          </a:p>
        </p:txBody>
      </p:sp>
      <p:sp>
        <p:nvSpPr>
          <p:cNvPr id="39" name="bld5_1066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5974598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5911548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6110398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5" name="bld5_1068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450" dirty="0"/>
          </a:p>
        </p:txBody>
      </p:sp>
      <p:sp>
        <p:nvSpPr>
          <p:cNvPr id="46" name="bld5_1069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cinnamon-vanilla, slightly spicy. Base note, long — closer to gourmand than most resins.</a:t>
            </a:r>
            <a:endParaRPr lang="en-US" sz="1080" dirty="0"/>
          </a:p>
        </p:txBody>
      </p:sp>
      <p:sp>
        <p:nvSpPr>
          <p:cNvPr id="47" name="bld6_1070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9" name="Shape 47"/>
          <p:cNvSpPr/>
          <p:nvPr/>
        </p:nvSpPr>
        <p:spPr>
          <a:xfrm rot="9000000">
            <a:off x="9758081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000000">
            <a:off x="9695031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1400000">
            <a:off x="9893880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53" name="bld6_1072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450" dirty="0"/>
          </a:p>
        </p:txBody>
      </p:sp>
      <p:sp>
        <p:nvSpPr>
          <p:cNvPr id="54" name="bld6_1073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floral-balsamic, softer than Peru balsam. Base note, long, gentle sweetness and fixation.</a:t>
            </a:r>
            <a:endParaRPr lang="en-US" sz="1080" dirty="0"/>
          </a:p>
        </p:txBody>
      </p:sp>
      <p:sp>
        <p:nvSpPr>
          <p:cNvPr id="56" name="trans_fade_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resins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1075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800" dirty="0"/>
          </a:p>
        </p:txBody>
      </p:sp>
      <p:sp>
        <p:nvSpPr>
          <p:cNvPr id="13" name="bld1_1076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077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</a:t>
            </a:r>
            <a:endParaRPr lang="en-US" sz="1100" dirty="0"/>
          </a:p>
        </p:txBody>
      </p:sp>
      <p:sp>
        <p:nvSpPr>
          <p:cNvPr id="15" name="bld1_1078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079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fixation</a:t>
            </a:r>
            <a:endParaRPr lang="en-US" sz="1100" dirty="0"/>
          </a:p>
        </p:txBody>
      </p:sp>
      <p:sp>
        <p:nvSpPr>
          <p:cNvPr id="17" name="bld1_1080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081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1083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800" dirty="0"/>
          </a:p>
        </p:txBody>
      </p:sp>
      <p:sp>
        <p:nvSpPr>
          <p:cNvPr id="25" name="bld2_1084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085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vanilla-balsamic</a:t>
            </a:r>
            <a:endParaRPr lang="en-US" sz="1100" dirty="0"/>
          </a:p>
        </p:txBody>
      </p:sp>
      <p:sp>
        <p:nvSpPr>
          <p:cNvPr id="27" name="bld2_1086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087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 and sweetness</a:t>
            </a:r>
            <a:endParaRPr lang="en-US" sz="1100" dirty="0"/>
          </a:p>
        </p:txBody>
      </p:sp>
      <p:sp>
        <p:nvSpPr>
          <p:cNvPr id="29" name="bld2_1088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089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gentle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1091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800" dirty="0"/>
          </a:p>
        </p:txBody>
      </p:sp>
      <p:sp>
        <p:nvSpPr>
          <p:cNvPr id="37" name="bld3_1092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093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smoky</a:t>
            </a:r>
            <a:endParaRPr lang="en-US" sz="1100" dirty="0"/>
          </a:p>
        </p:txBody>
      </p:sp>
      <p:sp>
        <p:nvSpPr>
          <p:cNvPr id="39" name="bld3_1094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095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Coolness within warmth</a:t>
            </a:r>
            <a:endParaRPr lang="en-US" sz="1100" dirty="0"/>
          </a:p>
        </p:txBody>
      </p:sp>
      <p:sp>
        <p:nvSpPr>
          <p:cNvPr id="41" name="bld3_1096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097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Base-heart · long</a:t>
            </a:r>
            <a:endParaRPr lang="en-US" sz="1100" dirty="0"/>
          </a:p>
        </p:txBody>
      </p:sp>
      <p:sp>
        <p:nvSpPr>
          <p:cNvPr id="44" name="trans_fade_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FIFTH, SMALLER FAMILY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Minty naturals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665447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217204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098"/>
          <p:cNvSpPr/>
          <p:nvPr/>
        </p:nvSpPr>
        <p:spPr>
          <a:xfrm>
            <a:off x="548640" y="2260397"/>
            <a:ext cx="541919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92476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2" name="Shape 10"/>
          <p:cNvSpPr/>
          <p:nvPr/>
        </p:nvSpPr>
        <p:spPr>
          <a:xfrm rot="15300000">
            <a:off x="306506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3050000">
            <a:off x="3118557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0800000">
            <a:off x="320973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550000">
            <a:off x="330091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300000">
            <a:off x="335441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892476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1100"/>
          <p:cNvSpPr txBox="1"/>
          <p:nvPr/>
        </p:nvSpPr>
        <p:spPr>
          <a:xfrm>
            <a:off x="731520" y="3211373"/>
            <a:ext cx="505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Spearmint</a:t>
            </a:r>
            <a:endParaRPr lang="en-US" sz="1450" dirty="0"/>
          </a:p>
        </p:txBody>
      </p:sp>
      <p:sp>
        <p:nvSpPr>
          <p:cNvPr id="19" name="bld1_1101"/>
          <p:cNvSpPr txBox="1"/>
          <p:nvPr/>
        </p:nvSpPr>
        <p:spPr>
          <a:xfrm>
            <a:off x="731520" y="3522269"/>
            <a:ext cx="505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rounded, slightly fruity mint — softer and less medicinal than peppermint. Top note, short-medium.</a:t>
            </a:r>
            <a:endParaRPr lang="en-US" sz="1080" dirty="0"/>
          </a:p>
        </p:txBody>
      </p:sp>
      <p:sp>
        <p:nvSpPr>
          <p:cNvPr id="20" name="bld2_1102"/>
          <p:cNvSpPr/>
          <p:nvPr/>
        </p:nvSpPr>
        <p:spPr>
          <a:xfrm>
            <a:off x="6223864" y="2260397"/>
            <a:ext cx="541919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567699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8740284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8793780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884960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976139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902963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567699" y="2388413"/>
            <a:ext cx="731520" cy="731520"/>
          </a:xfrm>
          <a:prstGeom prst="ellipse">
            <a:avLst/>
          </a:prstGeom>
          <a:ln w="25603">
            <a:solidFill>
              <a:srgbClr val="3E5C2E"/>
            </a:solidFill>
            <a:prstDash val="solid"/>
          </a:ln>
        </p:spPr>
      </p:sp>
      <p:sp>
        <p:nvSpPr>
          <p:cNvPr id="28" name="bld2_1104"/>
          <p:cNvSpPr txBox="1"/>
          <p:nvPr/>
        </p:nvSpPr>
        <p:spPr>
          <a:xfrm>
            <a:off x="6406744" y="3211373"/>
            <a:ext cx="505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Peppermint</a:t>
            </a:r>
            <a:endParaRPr lang="en-US" sz="1450" dirty="0"/>
          </a:p>
        </p:txBody>
      </p:sp>
      <p:sp>
        <p:nvSpPr>
          <p:cNvPr id="29" name="bld2_1105"/>
          <p:cNvSpPr txBox="1"/>
          <p:nvPr/>
        </p:nvSpPr>
        <p:spPr>
          <a:xfrm>
            <a:off x="6406744" y="3522269"/>
            <a:ext cx="5053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cool, camphoraceous mint with real bite. Top note, short — reads instantly, fades fast.</a:t>
            </a:r>
            <a:endParaRPr lang="en-US" sz="1080" dirty="0"/>
          </a:p>
        </p:txBody>
      </p:sp>
      <p:sp>
        <p:nvSpPr>
          <p:cNvPr id="31" name="trans_fade_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8" grpId="0"/>
      <p:bldP spid="29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IMPORTANT CAVEAT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"Natural" does not mean unrestricted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1" name="Shape 9"/>
          <p:cNvSpPr/>
          <p:nvPr/>
        </p:nvSpPr>
        <p:spPr>
          <a:xfrm>
            <a:off x="8501710" y="2152574"/>
            <a:ext cx="2091995" cy="2091995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648150" y="2299013"/>
            <a:ext cx="1799116" cy="179911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" name="Shape 11"/>
          <p:cNvSpPr/>
          <p:nvPr/>
        </p:nvSpPr>
        <p:spPr>
          <a:xfrm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216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48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864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080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296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512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728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9440000">
            <a:off x="9495408" y="2361773"/>
            <a:ext cx="104600" cy="81587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443108" y="3093971"/>
            <a:ext cx="209200" cy="2092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beautiful natural material is still a material — treat it with the same regulatory diligence as a synthetic.</a:t>
            </a:r>
            <a:endParaRPr lang="en-US" sz="1050" dirty="0"/>
          </a:p>
        </p:txBody>
      </p:sp>
      <p:sp>
        <p:nvSpPr>
          <p:cNvPr id="26" name="bld1_110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1_110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carry real allergens</a:t>
            </a:r>
            <a:endParaRPr lang="en-US" sz="1650" dirty="0"/>
          </a:p>
        </p:txBody>
      </p:sp>
      <p:sp>
        <p:nvSpPr>
          <p:cNvPr id="28" name="bld1_110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oils, for example, naturally contain limonene and linalool — the same allergens declared on synthetic materials that contain them.</a:t>
            </a:r>
            <a:endParaRPr lang="en-US" sz="1250" dirty="0"/>
          </a:p>
        </p:txBody>
      </p:sp>
      <p:sp>
        <p:nvSpPr>
          <p:cNvPr id="29" name="bld2_110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0" name="bld2_111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restricts naturals too</a:t>
            </a:r>
            <a:endParaRPr lang="en-US" sz="1650" dirty="0"/>
          </a:p>
        </p:txBody>
      </p:sp>
      <p:sp>
        <p:nvSpPr>
          <p:cNvPr id="31" name="bld2_111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like oakmoss, treemoss and certain citrus oils carry genuine IFRA usage limits — being natural doesn't exempt a material from Standards.</a:t>
            </a:r>
            <a:endParaRPr lang="en-US" sz="1250" dirty="0"/>
          </a:p>
        </p:txBody>
      </p:sp>
      <p:sp>
        <p:nvSpPr>
          <p:cNvPr id="32" name="bld3_111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3" name="bld3_111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documentation the same way</a:t>
            </a:r>
            <a:endParaRPr lang="en-US" sz="1650" dirty="0"/>
          </a:p>
        </p:txBody>
      </p:sp>
      <p:sp>
        <p:nvSpPr>
          <p:cNvPr id="34" name="bld3_111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natural still deserves an SDS and IFRA check before it goes into a formula — Module 11 covers exactly how.</a:t>
            </a:r>
            <a:endParaRPr lang="en-US" sz="1250" dirty="0"/>
          </a:p>
        </p:txBody>
      </p:sp>
      <p:sp>
        <p:nvSpPr>
          <p:cNvPr id="36" name="trans_fade_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EXPLORING LATER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naturals to consider, by family</a:t>
            </a:r>
            <a:endParaRPr lang="en-US" sz="3200" dirty="0"/>
          </a:p>
        </p:txBody>
      </p:sp>
      <p:sp>
        <p:nvSpPr>
          <p:cNvPr id="7" name="bld1_1115"/>
          <p:cNvSpPr txBox="1"/>
          <p:nvPr/>
        </p:nvSpPr>
        <p:spPr>
          <a:xfrm>
            <a:off x="548640" y="253288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CITRUS</a:t>
            </a:r>
            <a:endParaRPr lang="en-US" sz="1250" dirty="0"/>
          </a:p>
        </p:txBody>
      </p:sp>
      <p:sp>
        <p:nvSpPr>
          <p:cNvPr id="8" name="bld1_1116"/>
          <p:cNvSpPr/>
          <p:nvPr/>
        </p:nvSpPr>
        <p:spPr>
          <a:xfrm>
            <a:off x="548640" y="29900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1117"/>
          <p:cNvSpPr txBox="1"/>
          <p:nvPr/>
        </p:nvSpPr>
        <p:spPr>
          <a:xfrm>
            <a:off x="841248" y="29260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Yuzu</a:t>
            </a:r>
            <a:endParaRPr lang="en-US" sz="1200" dirty="0"/>
          </a:p>
        </p:txBody>
      </p:sp>
      <p:sp>
        <p:nvSpPr>
          <p:cNvPr id="10" name="bld1_1118"/>
          <p:cNvSpPr/>
          <p:nvPr/>
        </p:nvSpPr>
        <p:spPr>
          <a:xfrm>
            <a:off x="548640" y="34472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1119"/>
          <p:cNvSpPr txBox="1"/>
          <p:nvPr/>
        </p:nvSpPr>
        <p:spPr>
          <a:xfrm>
            <a:off x="841248" y="33832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Litsea Cubeba</a:t>
            </a:r>
            <a:endParaRPr lang="en-US" sz="1200" dirty="0"/>
          </a:p>
        </p:txBody>
      </p:sp>
      <p:sp>
        <p:nvSpPr>
          <p:cNvPr id="12" name="bld1_1120"/>
          <p:cNvSpPr/>
          <p:nvPr/>
        </p:nvSpPr>
        <p:spPr>
          <a:xfrm>
            <a:off x="548640" y="39044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1121"/>
          <p:cNvSpPr txBox="1"/>
          <p:nvPr/>
        </p:nvSpPr>
        <p:spPr>
          <a:xfrm>
            <a:off x="841248" y="38404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Tangerine</a:t>
            </a:r>
            <a:endParaRPr lang="en-US" sz="1200" dirty="0"/>
          </a:p>
        </p:txBody>
      </p:sp>
      <p:sp>
        <p:nvSpPr>
          <p:cNvPr id="14" name="bld1_1122"/>
          <p:cNvSpPr/>
          <p:nvPr/>
        </p:nvSpPr>
        <p:spPr>
          <a:xfrm>
            <a:off x="548640" y="43616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5" name="bld1_1123"/>
          <p:cNvSpPr txBox="1"/>
          <p:nvPr/>
        </p:nvSpPr>
        <p:spPr>
          <a:xfrm>
            <a:off x="841248" y="42976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Clementine</a:t>
            </a:r>
            <a:endParaRPr lang="en-US" sz="1200" dirty="0"/>
          </a:p>
        </p:txBody>
      </p:sp>
      <p:sp>
        <p:nvSpPr>
          <p:cNvPr id="16" name="bld2_1124"/>
          <p:cNvSpPr txBox="1"/>
          <p:nvPr/>
        </p:nvSpPr>
        <p:spPr>
          <a:xfrm>
            <a:off x="3402254" y="253288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FLORALS &amp; GREEN</a:t>
            </a:r>
            <a:endParaRPr lang="en-US" sz="1250" dirty="0"/>
          </a:p>
        </p:txBody>
      </p:sp>
      <p:sp>
        <p:nvSpPr>
          <p:cNvPr id="17" name="bld2_1125"/>
          <p:cNvSpPr/>
          <p:nvPr/>
        </p:nvSpPr>
        <p:spPr>
          <a:xfrm>
            <a:off x="3402254" y="29900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8C3B49"/>
            </a:solidFill>
            <a:prstDash val="solid"/>
          </a:ln>
        </p:spPr>
      </p:sp>
      <p:sp>
        <p:nvSpPr>
          <p:cNvPr id="18" name="bld2_1126"/>
          <p:cNvSpPr txBox="1"/>
          <p:nvPr/>
        </p:nvSpPr>
        <p:spPr>
          <a:xfrm>
            <a:off x="3694862" y="29260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Tuberose</a:t>
            </a:r>
            <a:endParaRPr lang="en-US" sz="1200" dirty="0"/>
          </a:p>
        </p:txBody>
      </p:sp>
      <p:sp>
        <p:nvSpPr>
          <p:cNvPr id="19" name="bld2_1127"/>
          <p:cNvSpPr/>
          <p:nvPr/>
        </p:nvSpPr>
        <p:spPr>
          <a:xfrm>
            <a:off x="3402254" y="34472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8C3B49"/>
            </a:solidFill>
            <a:prstDash val="solid"/>
          </a:ln>
        </p:spPr>
      </p:sp>
      <p:sp>
        <p:nvSpPr>
          <p:cNvPr id="20" name="bld2_1128"/>
          <p:cNvSpPr txBox="1"/>
          <p:nvPr/>
        </p:nvSpPr>
        <p:spPr>
          <a:xfrm>
            <a:off x="3694862" y="33832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Mimosa</a:t>
            </a:r>
            <a:endParaRPr lang="en-US" sz="1200" dirty="0"/>
          </a:p>
        </p:txBody>
      </p:sp>
      <p:sp>
        <p:nvSpPr>
          <p:cNvPr id="21" name="bld2_1129"/>
          <p:cNvSpPr/>
          <p:nvPr/>
        </p:nvSpPr>
        <p:spPr>
          <a:xfrm>
            <a:off x="3402254" y="39044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8C3B49"/>
            </a:solidFill>
            <a:prstDash val="solid"/>
          </a:ln>
        </p:spPr>
      </p:sp>
      <p:sp>
        <p:nvSpPr>
          <p:cNvPr id="22" name="bld2_1130"/>
          <p:cNvSpPr txBox="1"/>
          <p:nvPr/>
        </p:nvSpPr>
        <p:spPr>
          <a:xfrm>
            <a:off x="3694862" y="38404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Leaf</a:t>
            </a:r>
            <a:endParaRPr lang="en-US" sz="1200" dirty="0"/>
          </a:p>
        </p:txBody>
      </p:sp>
      <p:sp>
        <p:nvSpPr>
          <p:cNvPr id="23" name="bld2_1131"/>
          <p:cNvSpPr/>
          <p:nvPr/>
        </p:nvSpPr>
        <p:spPr>
          <a:xfrm>
            <a:off x="3402254" y="43616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8C3B49"/>
            </a:solidFill>
            <a:prstDash val="solid"/>
          </a:ln>
        </p:spPr>
      </p:sp>
      <p:sp>
        <p:nvSpPr>
          <p:cNvPr id="24" name="bld2_1132"/>
          <p:cNvSpPr txBox="1"/>
          <p:nvPr/>
        </p:nvSpPr>
        <p:spPr>
          <a:xfrm>
            <a:off x="3694862" y="42976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5" name="bld2_1133"/>
          <p:cNvSpPr/>
          <p:nvPr/>
        </p:nvSpPr>
        <p:spPr>
          <a:xfrm>
            <a:off x="3402254" y="48188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8C3B49"/>
            </a:solidFill>
            <a:prstDash val="solid"/>
          </a:ln>
        </p:spPr>
      </p:sp>
      <p:sp>
        <p:nvSpPr>
          <p:cNvPr id="26" name="bld2_1134"/>
          <p:cNvSpPr txBox="1"/>
          <p:nvPr/>
        </p:nvSpPr>
        <p:spPr>
          <a:xfrm>
            <a:off x="3694862" y="47548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Carnation</a:t>
            </a:r>
            <a:endParaRPr lang="en-US" sz="1200" dirty="0"/>
          </a:p>
        </p:txBody>
      </p:sp>
      <p:sp>
        <p:nvSpPr>
          <p:cNvPr id="27" name="bld3_1135"/>
          <p:cNvSpPr txBox="1"/>
          <p:nvPr/>
        </p:nvSpPr>
        <p:spPr>
          <a:xfrm>
            <a:off x="6255868" y="253288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 &amp; HERB</a:t>
            </a:r>
            <a:endParaRPr lang="en-US" sz="1250" dirty="0"/>
          </a:p>
        </p:txBody>
      </p:sp>
      <p:sp>
        <p:nvSpPr>
          <p:cNvPr id="28" name="bld3_1136"/>
          <p:cNvSpPr/>
          <p:nvPr/>
        </p:nvSpPr>
        <p:spPr>
          <a:xfrm>
            <a:off x="6255868" y="29900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9" name="bld3_1137"/>
          <p:cNvSpPr txBox="1"/>
          <p:nvPr/>
        </p:nvSpPr>
        <p:spPr>
          <a:xfrm>
            <a:off x="6548476" y="29260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Pepper</a:t>
            </a:r>
            <a:endParaRPr lang="en-US" sz="1200" dirty="0"/>
          </a:p>
        </p:txBody>
      </p:sp>
      <p:sp>
        <p:nvSpPr>
          <p:cNvPr id="30" name="bld3_1138"/>
          <p:cNvSpPr/>
          <p:nvPr/>
        </p:nvSpPr>
        <p:spPr>
          <a:xfrm>
            <a:off x="6255868" y="34472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1" name="bld3_1139"/>
          <p:cNvSpPr txBox="1"/>
          <p:nvPr/>
        </p:nvSpPr>
        <p:spPr>
          <a:xfrm>
            <a:off x="6548476" y="33832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Clove</a:t>
            </a:r>
            <a:endParaRPr lang="en-US" sz="1200" dirty="0"/>
          </a:p>
        </p:txBody>
      </p:sp>
      <p:sp>
        <p:nvSpPr>
          <p:cNvPr id="32" name="bld3_1140"/>
          <p:cNvSpPr/>
          <p:nvPr/>
        </p:nvSpPr>
        <p:spPr>
          <a:xfrm>
            <a:off x="6255868" y="39044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3" name="bld3_1141"/>
          <p:cNvSpPr txBox="1"/>
          <p:nvPr/>
        </p:nvSpPr>
        <p:spPr>
          <a:xfrm>
            <a:off x="6548476" y="38404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Cardamom</a:t>
            </a:r>
            <a:endParaRPr lang="en-US" sz="1200" dirty="0"/>
          </a:p>
        </p:txBody>
      </p:sp>
      <p:sp>
        <p:nvSpPr>
          <p:cNvPr id="34" name="bld3_1142"/>
          <p:cNvSpPr/>
          <p:nvPr/>
        </p:nvSpPr>
        <p:spPr>
          <a:xfrm>
            <a:off x="6255868" y="43616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5" name="bld3_1143"/>
          <p:cNvSpPr txBox="1"/>
          <p:nvPr/>
        </p:nvSpPr>
        <p:spPr>
          <a:xfrm>
            <a:off x="6548476" y="42976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Clary Sage</a:t>
            </a:r>
            <a:endParaRPr lang="en-US" sz="1200" dirty="0"/>
          </a:p>
        </p:txBody>
      </p:sp>
      <p:sp>
        <p:nvSpPr>
          <p:cNvPr id="36" name="bld3_1144"/>
          <p:cNvSpPr/>
          <p:nvPr/>
        </p:nvSpPr>
        <p:spPr>
          <a:xfrm>
            <a:off x="6255868" y="48188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7" name="bld3_1145"/>
          <p:cNvSpPr txBox="1"/>
          <p:nvPr/>
        </p:nvSpPr>
        <p:spPr>
          <a:xfrm>
            <a:off x="6548476" y="47548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</a:t>
            </a:r>
            <a:endParaRPr lang="en-US" sz="1200" dirty="0"/>
          </a:p>
        </p:txBody>
      </p:sp>
      <p:sp>
        <p:nvSpPr>
          <p:cNvPr id="38" name="bld4_1146"/>
          <p:cNvSpPr txBox="1"/>
          <p:nvPr/>
        </p:nvSpPr>
        <p:spPr>
          <a:xfrm>
            <a:off x="9109481" y="253288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RESINS</a:t>
            </a:r>
            <a:endParaRPr lang="en-US" sz="1250" dirty="0"/>
          </a:p>
        </p:txBody>
      </p:sp>
      <p:sp>
        <p:nvSpPr>
          <p:cNvPr id="39" name="bld4_1147"/>
          <p:cNvSpPr/>
          <p:nvPr/>
        </p:nvSpPr>
        <p:spPr>
          <a:xfrm>
            <a:off x="9109481" y="29900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5B3A52"/>
            </a:solidFill>
            <a:prstDash val="solid"/>
          </a:ln>
        </p:spPr>
      </p:sp>
      <p:sp>
        <p:nvSpPr>
          <p:cNvPr id="40" name="bld4_1148"/>
          <p:cNvSpPr txBox="1"/>
          <p:nvPr/>
        </p:nvSpPr>
        <p:spPr>
          <a:xfrm>
            <a:off x="9402089" y="29260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Opoponax</a:t>
            </a:r>
            <a:endParaRPr lang="en-US" sz="1200" dirty="0"/>
          </a:p>
        </p:txBody>
      </p:sp>
      <p:sp>
        <p:nvSpPr>
          <p:cNvPr id="41" name="bld4_1149"/>
          <p:cNvSpPr/>
          <p:nvPr/>
        </p:nvSpPr>
        <p:spPr>
          <a:xfrm>
            <a:off x="9109481" y="34472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5B3A52"/>
            </a:solidFill>
            <a:prstDash val="solid"/>
          </a:ln>
        </p:spPr>
      </p:sp>
      <p:sp>
        <p:nvSpPr>
          <p:cNvPr id="42" name="bld4_1150"/>
          <p:cNvSpPr txBox="1"/>
          <p:nvPr/>
        </p:nvSpPr>
        <p:spPr>
          <a:xfrm>
            <a:off x="9402089" y="33832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Elemi</a:t>
            </a:r>
            <a:endParaRPr lang="en-US" sz="1200" dirty="0"/>
          </a:p>
        </p:txBody>
      </p:sp>
      <p:sp>
        <p:nvSpPr>
          <p:cNvPr id="43" name="bld4_1151"/>
          <p:cNvSpPr/>
          <p:nvPr/>
        </p:nvSpPr>
        <p:spPr>
          <a:xfrm>
            <a:off x="9109481" y="39044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5B3A52"/>
            </a:solidFill>
            <a:prstDash val="solid"/>
          </a:ln>
        </p:spPr>
      </p:sp>
      <p:sp>
        <p:nvSpPr>
          <p:cNvPr id="44" name="bld4_1152"/>
          <p:cNvSpPr txBox="1"/>
          <p:nvPr/>
        </p:nvSpPr>
        <p:spPr>
          <a:xfrm>
            <a:off x="9402089" y="384048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Copaiba Balsam</a:t>
            </a:r>
            <a:endParaRPr lang="en-US" sz="1200" dirty="0"/>
          </a:p>
        </p:txBody>
      </p:sp>
      <p:sp>
        <p:nvSpPr>
          <p:cNvPr id="46" name="trans_fade_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7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656579" y="2540562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26813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03454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27861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04501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69892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3015" y="2540562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637457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614098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538505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515145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776328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451" y="2540562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948101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924741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849148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825789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82765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8" name="trans_fade_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10" name="trans_fade_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synthetic families, in real depth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— and why using one isn't cheating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Busting the naturals-vs-synthetics myths for good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30" name="trans_fade_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8258" y="1199550"/>
            <a:ext cx="4458900" cy="44589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59964" y="3241257"/>
            <a:ext cx="375486" cy="375486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8822" y="282470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24878" y="3411399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68822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08730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22033" y="270736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24" name="bld1_115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1_115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6" name="bld1_115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7" name="bld2_115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115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9" name="bld2_115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30" name="bld3_115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16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32" name="bld3_116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33" name="bld4_116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4" name="bld4_116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5" name="bld4_116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7" name="trans_fade_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major synthetic families</a:t>
            </a:r>
            <a:endParaRPr lang="en-US" sz="3200" dirty="0"/>
          </a:p>
        </p:txBody>
      </p:sp>
      <p:sp>
        <p:nvSpPr>
          <p:cNvPr id="7" name="bld1_1165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6163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1167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2" name="bld1_1168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13" name="bld2_1169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4555792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4492743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4691592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2_1171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/ Ambrox</a:t>
            </a:r>
            <a:endParaRPr lang="en-US" sz="1450" dirty="0"/>
          </a:p>
        </p:txBody>
      </p:sp>
      <p:sp>
        <p:nvSpPr>
          <p:cNvPr id="20" name="bld2_1172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21" name="bld3_1173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272155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352988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7433821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485554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3_1175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9" name="bld3_1176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30" name="bld4_1177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10291641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104030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103604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102227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101802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294066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179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40" name="bld4_1180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41" name="bld5_1181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630881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815180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183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green</a:t>
            </a:r>
            <a:endParaRPr lang="en-US" sz="1450" dirty="0"/>
          </a:p>
        </p:txBody>
      </p:sp>
      <p:sp>
        <p:nvSpPr>
          <p:cNvPr id="58" name="bld5_1184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green, metallic and aldehydic lift</a:t>
            </a:r>
            <a:endParaRPr lang="en-US" sz="1080" dirty="0"/>
          </a:p>
        </p:txBody>
      </p:sp>
      <p:sp>
        <p:nvSpPr>
          <p:cNvPr id="59" name="bld6_1185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4478193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671555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4695330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187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188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67" name="bld7_1189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9" name="Shape 67"/>
          <p:cNvSpPr/>
          <p:nvPr/>
        </p:nvSpPr>
        <p:spPr>
          <a:xfrm rot="840000">
            <a:off x="7456454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840000">
            <a:off x="7509167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60091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2" name="Shape 70"/>
          <p:cNvSpPr/>
          <p:nvPr/>
        </p:nvSpPr>
        <p:spPr>
          <a:xfrm>
            <a:off x="7477551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3" name="Shape 71"/>
          <p:cNvSpPr/>
          <p:nvPr/>
        </p:nvSpPr>
        <p:spPr>
          <a:xfrm>
            <a:off x="7495011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4" name="Shape 72"/>
          <p:cNvSpPr/>
          <p:nvPr/>
        </p:nvSpPr>
        <p:spPr>
          <a:xfrm>
            <a:off x="7512471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5" name="Shape 73"/>
          <p:cNvSpPr/>
          <p:nvPr/>
        </p:nvSpPr>
        <p:spPr>
          <a:xfrm>
            <a:off x="7529931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6" name="Shape 74"/>
          <p:cNvSpPr/>
          <p:nvPr/>
        </p:nvSpPr>
        <p:spPr>
          <a:xfrm>
            <a:off x="7547391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7" name="Shape 75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78" name="bld7_1191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79" name="bld7_1192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81" name="trans_fade_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2" name="Text 7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8" grpId="0"/>
      <p:bldP spid="7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194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195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196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</a:t>
            </a:r>
            <a:endParaRPr lang="en-US" sz="1100" dirty="0"/>
          </a:p>
        </p:txBody>
      </p:sp>
      <p:sp>
        <p:nvSpPr>
          <p:cNvPr id="18" name="bld1_1197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198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199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200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almost everywhere,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39173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32" name="bld2_1202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33" name="bld2_1203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204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35" name="bld2_1205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206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up space in a formula</a:t>
            </a:r>
            <a:endParaRPr lang="en-US" sz="1100" dirty="0"/>
          </a:p>
        </p:txBody>
      </p:sp>
      <p:sp>
        <p:nvSpPr>
          <p:cNvPr id="37" name="bld2_1207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208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diffusion superpower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6246210" y="2165745"/>
            <a:ext cx="879720" cy="87972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6049031" y="2074740"/>
            <a:ext cx="546033" cy="546033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6670902" y="1983734"/>
            <a:ext cx="455028" cy="45502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1210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45" name="bld3_1211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3_1212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47" name="bld3_1213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3_1214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49" name="bld3_1215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3_1216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perfumery's signature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2" name="Shape 50"/>
          <p:cNvSpPr/>
          <p:nvPr/>
        </p:nvSpPr>
        <p:spPr>
          <a:xfrm rot="840000">
            <a:off x="8874092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40000">
            <a:off x="9050617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85468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5" name="Shape 53"/>
          <p:cNvSpPr/>
          <p:nvPr/>
        </p:nvSpPr>
        <p:spPr>
          <a:xfrm>
            <a:off x="8940071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6" name="Shape 54"/>
          <p:cNvSpPr/>
          <p:nvPr/>
        </p:nvSpPr>
        <p:spPr>
          <a:xfrm>
            <a:off x="8994675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7" name="Shape 55"/>
          <p:cNvSpPr/>
          <p:nvPr/>
        </p:nvSpPr>
        <p:spPr>
          <a:xfrm>
            <a:off x="9049278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8" name="Shape 56"/>
          <p:cNvSpPr/>
          <p:nvPr/>
        </p:nvSpPr>
        <p:spPr>
          <a:xfrm>
            <a:off x="9103881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9" name="Shape 57"/>
          <p:cNvSpPr/>
          <p:nvPr/>
        </p:nvSpPr>
        <p:spPr>
          <a:xfrm>
            <a:off x="9158485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0" name="Shape 58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61" name="bld4_1218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62" name="bld4_1219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3" name="bld4_1220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64" name="bld4_1221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5" name="bld4_1222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66" name="bld4_1223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7" name="bld4_1224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and base workhorse</a:t>
            </a:r>
            <a:endParaRPr lang="en-US" sz="1100" dirty="0"/>
          </a:p>
        </p:txBody>
      </p:sp>
      <p:sp>
        <p:nvSpPr>
          <p:cNvPr id="69" name="trans_fade_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1" grpId="0"/>
      <p:bldP spid="62" grpId="0"/>
      <p:bldP spid="63" grpId="0"/>
      <p:bldP spid="64" grpId="0"/>
      <p:bldP spid="65" grpId="0"/>
      <p:bldP spid="66" grpId="0"/>
      <p:bldP spid="67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7" name="bld1_1225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226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1227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10" name="bld1_1228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1229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2" name="bld2_1230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231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1232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5" name="bld2_1233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1234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7" name="bld3_1235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236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1237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20" name="bld3_1238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1239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2" name="bld4_1240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241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1242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5" name="bld4_1243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1244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7" name="bld5_1245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246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1247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30" name="bld5_1248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1249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3" name="trans_fade_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1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0EB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0" name="Shape 8"/>
          <p:cNvSpPr/>
          <p:nvPr/>
        </p:nvSpPr>
        <p:spPr>
          <a:xfrm>
            <a:off x="1246241" y="3683415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2" name="bld1_1251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4" name="Shape 12"/>
          <p:cNvSpPr/>
          <p:nvPr/>
        </p:nvSpPr>
        <p:spPr>
          <a:xfrm>
            <a:off x="2915110" y="3903233"/>
            <a:ext cx="1134307" cy="76442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6" name="bld2_1253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731019" y="3683415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0" name="bld3_1255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6473409" y="3952779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4_1257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6" name="Shape 24"/>
          <p:cNvSpPr/>
          <p:nvPr/>
        </p:nvSpPr>
        <p:spPr>
          <a:xfrm>
            <a:off x="8142278" y="3633869"/>
            <a:ext cx="1134307" cy="76442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8" name="bld5_1259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0" name="Shape 28"/>
          <p:cNvSpPr/>
          <p:nvPr/>
        </p:nvSpPr>
        <p:spPr>
          <a:xfrm>
            <a:off x="9958187" y="3952779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2" name="bld6_1261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350" dirty="0"/>
          </a:p>
        </p:txBody>
      </p:sp>
      <p:sp>
        <p:nvSpPr>
          <p:cNvPr id="34" name="trans_fade_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6" grpId="0"/>
      <p:bldP spid="20" grpId="0"/>
      <p:bldP spid="24" grpId="0"/>
      <p:bldP spid="28" grpId="0"/>
      <p:bldP spid="3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CHEMISTRY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musk families, four different textures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4023" y="4466310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769037" y="4695181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648713" y="5065503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259333" y="5065503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139009" y="4695181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60881" y="4992979"/>
            <a:ext cx="329168" cy="3291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126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126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AFA495"/>
          </a:solidFill>
          <a:ln/>
        </p:spPr>
      </p:sp>
      <p:sp>
        <p:nvSpPr>
          <p:cNvPr id="16" name="bld1_126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Macrocyclic</a:t>
            </a:r>
            <a:endParaRPr lang="en-US" sz="1450" dirty="0"/>
          </a:p>
        </p:txBody>
      </p:sp>
      <p:sp>
        <p:nvSpPr>
          <p:cNvPr id="17" name="bld1_126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Large-ring molecules, closest in character to real natural musk. Soft, warm, skin-like.</a:t>
            </a:r>
            <a:endParaRPr lang="en-US" sz="1080" dirty="0"/>
          </a:p>
        </p:txBody>
      </p:sp>
      <p:sp>
        <p:nvSpPr>
          <p:cNvPr id="18" name="bld2_126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126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B6255"/>
          </a:solidFill>
          <a:ln/>
        </p:spPr>
      </p:sp>
      <p:sp>
        <p:nvSpPr>
          <p:cNvPr id="20" name="bld2_126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Polycyclic</a:t>
            </a:r>
            <a:endParaRPr lang="en-US" sz="1450" dirty="0"/>
          </a:p>
        </p:txBody>
      </p:sp>
      <p:sp>
        <p:nvSpPr>
          <p:cNvPr id="21" name="bld2_126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modern class. Clean, "fresh laundry" character, extremely widely used.</a:t>
            </a:r>
            <a:endParaRPr lang="en-US" sz="1080" dirty="0"/>
          </a:p>
        </p:txBody>
      </p:sp>
      <p:sp>
        <p:nvSpPr>
          <p:cNvPr id="22" name="bld3_127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127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E8E2DC"/>
          </a:solidFill>
          <a:ln/>
        </p:spPr>
      </p:sp>
      <p:sp>
        <p:nvSpPr>
          <p:cNvPr id="24" name="bld3_127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Alicyclic</a:t>
            </a:r>
            <a:endParaRPr lang="en-US" sz="1450" dirty="0"/>
          </a:p>
        </p:txBody>
      </p:sp>
      <p:sp>
        <p:nvSpPr>
          <p:cNvPr id="25" name="bld3_127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newer generation of ester musks. Very clean and quiet, whisper-soft diffusion.</a:t>
            </a:r>
            <a:endParaRPr lang="en-US" sz="1080" dirty="0"/>
          </a:p>
        </p:txBody>
      </p:sp>
      <p:sp>
        <p:nvSpPr>
          <p:cNvPr id="26" name="bld4_127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127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8C8272"/>
          </a:solidFill>
          <a:ln/>
        </p:spPr>
      </p:sp>
      <p:sp>
        <p:nvSpPr>
          <p:cNvPr id="28" name="bld4_127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Nitro</a:t>
            </a:r>
            <a:endParaRPr lang="en-US" sz="1450" dirty="0"/>
          </a:p>
        </p:txBody>
      </p:sp>
      <p:sp>
        <p:nvSpPr>
          <p:cNvPr id="29" name="bld4_127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oldest musk class historically. Largely phased out — covered for context, not active use.</a:t>
            </a:r>
            <a:endParaRPr lang="en-US" sz="1080" dirty="0"/>
          </a:p>
        </p:txBody>
      </p:sp>
      <p:sp>
        <p:nvSpPr>
          <p:cNvPr id="31" name="trans_fade_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IN DEPTH · MACROCYCLIC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Macrocyclic musks — the soft, skin-like family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59019" y="4703499"/>
            <a:ext cx="1217671" cy="1217671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06358" y="4950839"/>
            <a:ext cx="722992" cy="722992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20515" y="5064995"/>
            <a:ext cx="494679" cy="494679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34672" y="5179152"/>
            <a:ext cx="266365" cy="26636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0515" y="5064995"/>
            <a:ext cx="494679" cy="494679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06358" y="4950839"/>
            <a:ext cx="722992" cy="722992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1278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6" name="Shape 14"/>
          <p:cNvSpPr/>
          <p:nvPr/>
        </p:nvSpPr>
        <p:spPr>
          <a:xfrm>
            <a:off x="1576961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8" name="bld1_1280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19" name="bld1_1281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elegant, skin-like, slightly fruity ambrette character. Base note, long — closer to real skin than a lab-clean musk.</a:t>
            </a:r>
            <a:endParaRPr lang="en-US" sz="1080" dirty="0"/>
          </a:p>
        </p:txBody>
      </p:sp>
      <p:sp>
        <p:nvSpPr>
          <p:cNvPr id="20" name="bld2_1282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4414572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4" name="bld2_1284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25" name="bld2_1285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and more metallic than Ambrettolide, still macrocyclic in feel. Base note, very long — real diffusion and body.</a:t>
            </a:r>
            <a:endParaRPr lang="en-US" sz="1080" dirty="0"/>
          </a:p>
        </p:txBody>
      </p:sp>
      <p:sp>
        <p:nvSpPr>
          <p:cNvPr id="26" name="bld3_1286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8" name="Shape 26"/>
          <p:cNvSpPr/>
          <p:nvPr/>
        </p:nvSpPr>
        <p:spPr>
          <a:xfrm>
            <a:off x="7252184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0" name="bld3_1288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450" dirty="0"/>
          </a:p>
        </p:txBody>
      </p:sp>
      <p:sp>
        <p:nvSpPr>
          <p:cNvPr id="31" name="bld3_1289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rounded, economical macrocyclic lactone. Base note, long — a dependable, affordable background musk.</a:t>
            </a:r>
            <a:endParaRPr lang="en-US" sz="1080" dirty="0"/>
          </a:p>
        </p:txBody>
      </p:sp>
      <p:sp>
        <p:nvSpPr>
          <p:cNvPr id="32" name="bld4_1290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89796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6" name="bld4_1292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450" dirty="0"/>
          </a:p>
        </p:txBody>
      </p:sp>
      <p:sp>
        <p:nvSpPr>
          <p:cNvPr id="37" name="bld4_1293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naturalistic, very soft diffusion. Base note, long — one of the oldest macrocyclic musks still in use.</a:t>
            </a:r>
            <a:endParaRPr lang="en-US" sz="1080" dirty="0"/>
          </a:p>
        </p:txBody>
      </p:sp>
      <p:sp>
        <p:nvSpPr>
          <p:cNvPr id="39" name="trans_fade_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36" grpId="0"/>
      <p:bldP spid="37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IN DEPTH · POLYCYCLIC &amp; ALICYCLIC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clean, modern generations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4684473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4772374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4810046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249549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129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76961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5" name="bld1_1296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26" name="bld1_1297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laundry-like, soft. Base note, very long, radiant at low % — the polycyclic musk everyone already knows.</a:t>
            </a:r>
            <a:endParaRPr lang="en-US" sz="1080" dirty="0"/>
          </a:p>
        </p:txBody>
      </p:sp>
      <p:sp>
        <p:nvSpPr>
          <p:cNvPr id="27" name="bld2_129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9" name="Shape 27"/>
          <p:cNvSpPr/>
          <p:nvPr/>
        </p:nvSpPr>
        <p:spPr>
          <a:xfrm>
            <a:off x="4414572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1" name="bld2_1300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Tonalide</a:t>
            </a:r>
            <a:endParaRPr lang="en-US" sz="1450" dirty="0"/>
          </a:p>
        </p:txBody>
      </p:sp>
      <p:sp>
        <p:nvSpPr>
          <p:cNvPr id="32" name="bld2_1301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major polycyclic musk, slightly fruitier and warmer than Galaxolide. Base note, very long.</a:t>
            </a:r>
            <a:endParaRPr lang="en-US" sz="1080" dirty="0"/>
          </a:p>
        </p:txBody>
      </p:sp>
      <p:sp>
        <p:nvSpPr>
          <p:cNvPr id="33" name="bld3_130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5" name="Shape 33"/>
          <p:cNvSpPr/>
          <p:nvPr/>
        </p:nvSpPr>
        <p:spPr>
          <a:xfrm>
            <a:off x="7252184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37" name="bld3_1304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450" dirty="0"/>
          </a:p>
        </p:txBody>
      </p:sp>
      <p:sp>
        <p:nvSpPr>
          <p:cNvPr id="38" name="bld3_1305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Fruity, pear-like alicyclic musk. Base note, medium-long, intimate — a gentle, near-invisible effect.</a:t>
            </a:r>
            <a:endParaRPr lang="en-US" sz="1080" dirty="0"/>
          </a:p>
        </p:txBody>
      </p:sp>
      <p:sp>
        <p:nvSpPr>
          <p:cNvPr id="39" name="bld4_130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0089796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43" name="bld4_1308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Romandolide</a:t>
            </a:r>
            <a:endParaRPr lang="en-US" sz="1450" dirty="0"/>
          </a:p>
        </p:txBody>
      </p:sp>
      <p:sp>
        <p:nvSpPr>
          <p:cNvPr id="44" name="bld4_1309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newer alicyclic musk ester valued for its very clean, quiet radiance. Base note, long, understated.</a:t>
            </a:r>
            <a:endParaRPr lang="en-US" sz="1080" dirty="0"/>
          </a:p>
        </p:txBody>
      </p:sp>
      <p:sp>
        <p:nvSpPr>
          <p:cNvPr id="46" name="trans_fade_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5" grpId="0"/>
      <p:bldP spid="26" grpId="0"/>
      <p:bldP spid="27" grpId="0"/>
      <p:bldP spid="31" grpId="0"/>
      <p:bldP spid="32" grpId="0"/>
      <p:bldP spid="33" grpId="0"/>
      <p:bldP spid="37" grpId="0"/>
      <p:bldP spid="38" grpId="0"/>
      <p:bldP spid="39" grpId="0"/>
      <p:bldP spid="43" grpId="0"/>
      <p:bldP spid="44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IN DEPTH · NITRO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Nitro musks — a brief history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1" name="Shape 9"/>
          <p:cNvSpPr/>
          <p:nvPr/>
        </p:nvSpPr>
        <p:spPr>
          <a:xfrm>
            <a:off x="8585390" y="2550053"/>
            <a:ext cx="1924635" cy="1297037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musk family tree starts here — but modern perfumery has largely moved on.</a:t>
            </a:r>
            <a:endParaRPr lang="en-US" sz="1050" dirty="0"/>
          </a:p>
        </p:txBody>
      </p:sp>
      <p:sp>
        <p:nvSpPr>
          <p:cNvPr id="14" name="bld1_13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3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original musk class</a:t>
            </a:r>
            <a:endParaRPr lang="en-US" sz="1650" dirty="0"/>
          </a:p>
        </p:txBody>
      </p:sp>
      <p:sp>
        <p:nvSpPr>
          <p:cNvPr id="16" name="bld1_131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like Musk Ketone and Musk Xylene were the earliest synthetic musks, discovered well over a century ago.</a:t>
            </a:r>
            <a:endParaRPr lang="en-US" sz="1250" dirty="0"/>
          </a:p>
        </p:txBody>
      </p:sp>
      <p:sp>
        <p:nvSpPr>
          <p:cNvPr id="17" name="bld2_131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2_131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Largely phased out today</a:t>
            </a:r>
            <a:endParaRPr lang="en-US" sz="1650" dirty="0"/>
          </a:p>
        </p:txBody>
      </p:sp>
      <p:sp>
        <p:nvSpPr>
          <p:cNvPr id="19" name="bld2_131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and safety concerns have led to heavy restriction or discontinuation of most nitro musks across the industry.</a:t>
            </a:r>
            <a:endParaRPr lang="en-US" sz="1250" dirty="0"/>
          </a:p>
        </p:txBody>
      </p:sp>
      <p:sp>
        <p:nvSpPr>
          <p:cNvPr id="20" name="bld3_131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3_131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Context, not a recommendation</a:t>
            </a:r>
            <a:endParaRPr lang="en-US" sz="1650" dirty="0"/>
          </a:p>
        </p:txBody>
      </p:sp>
      <p:sp>
        <p:nvSpPr>
          <p:cNvPr id="22" name="bld3_131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name and the history — but always check current regulatory status before considering any nitro musk for real use.</a:t>
            </a:r>
            <a:endParaRPr lang="en-US" sz="1250" dirty="0"/>
          </a:p>
        </p:txBody>
      </p:sp>
      <p:sp>
        <p:nvSpPr>
          <p:cNvPr id="24" name="trans_fade_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musks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" name="Shape 6"/>
          <p:cNvSpPr/>
          <p:nvPr/>
        </p:nvSpPr>
        <p:spPr>
          <a:xfrm>
            <a:off x="1490710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0" name="bld1_1320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800" dirty="0"/>
          </a:p>
        </p:txBody>
      </p:sp>
      <p:sp>
        <p:nvSpPr>
          <p:cNvPr id="11" name="bld1_1321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2" name="bld1_1322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</a:t>
            </a:r>
            <a:endParaRPr lang="en-US" sz="1100" dirty="0"/>
          </a:p>
        </p:txBody>
      </p:sp>
      <p:sp>
        <p:nvSpPr>
          <p:cNvPr id="13" name="bld1_1323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4" name="bld1_1324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"fresh clean" signature</a:t>
            </a:r>
            <a:endParaRPr lang="en-US" sz="1100" dirty="0"/>
          </a:p>
        </p:txBody>
      </p:sp>
      <p:sp>
        <p:nvSpPr>
          <p:cNvPr id="15" name="bld1_1325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6" name="bld1_1326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radiant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884048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328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800" dirty="0"/>
          </a:p>
        </p:txBody>
      </p:sp>
      <p:sp>
        <p:nvSpPr>
          <p:cNvPr id="21" name="bld2_1329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2" name="bld2_1330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metallic, modern</a:t>
            </a:r>
            <a:endParaRPr lang="en-US" sz="1100" dirty="0"/>
          </a:p>
        </p:txBody>
      </p:sp>
      <p:sp>
        <p:nvSpPr>
          <p:cNvPr id="23" name="bld2_1331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4" name="bld2_1332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diffusion and body</a:t>
            </a:r>
            <a:endParaRPr lang="en-US" sz="1100" dirty="0"/>
          </a:p>
        </p:txBody>
      </p:sp>
      <p:sp>
        <p:nvSpPr>
          <p:cNvPr id="25" name="bld2_1333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6" name="bld2_1334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7387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0" name="bld3_1336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800" dirty="0"/>
          </a:p>
        </p:txBody>
      </p:sp>
      <p:sp>
        <p:nvSpPr>
          <p:cNvPr id="31" name="bld3_1337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2" name="bld3_1338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elegant, skin-like</a:t>
            </a:r>
            <a:endParaRPr lang="en-US" sz="1100" dirty="0"/>
          </a:p>
        </p:txBody>
      </p:sp>
      <p:sp>
        <p:nvSpPr>
          <p:cNvPr id="33" name="bld3_1339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4" name="bld3_1340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Natural, skin-like feel</a:t>
            </a:r>
            <a:endParaRPr lang="en-US" sz="1100" dirty="0"/>
          </a:p>
        </p:txBody>
      </p:sp>
      <p:sp>
        <p:nvSpPr>
          <p:cNvPr id="35" name="bld3_1341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6" name="bld3_1342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8" name="trans_fade_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2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Amber, Ambrox &amp; Radiant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&amp; AMBROX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857014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691416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2213687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1344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4423168" y="3948828"/>
            <a:ext cx="848860" cy="84886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4232906" y="3861015"/>
            <a:ext cx="526879" cy="52687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4832962" y="3773202"/>
            <a:ext cx="439066" cy="43906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1346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7084181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6918583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7440854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1348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697765" y="3992464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532167" y="3916034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10054438" y="3839604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1350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350" dirty="0"/>
          </a:p>
        </p:txBody>
      </p:sp>
      <p:sp>
        <p:nvSpPr>
          <p:cNvPr id="34" name="trans_fade_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AMBER, AMBROX &amp; RADIANT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Similar, but not identical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82915" y="4627395"/>
            <a:ext cx="1369879" cy="1369879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67854" y="5152516"/>
            <a:ext cx="359593" cy="15981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27448" y="5152516"/>
            <a:ext cx="35959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127448" y="5352290"/>
            <a:ext cx="359593" cy="31963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126" y="5671928"/>
            <a:ext cx="59932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126" y="5312335"/>
            <a:ext cx="239729" cy="35959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28351" y="5112561"/>
            <a:ext cx="43950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3927" y="5248407"/>
            <a:ext cx="127855" cy="127855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81500" y="5106568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41093" y="5306342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81500" y="5625980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82177" y="5625980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82403" y="5066613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351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3" name="Shape 21"/>
          <p:cNvSpPr/>
          <p:nvPr/>
        </p:nvSpPr>
        <p:spPr>
          <a:xfrm rot="9000000">
            <a:off x="1696784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6000000">
            <a:off x="1622607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1400000">
            <a:off x="1856547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7" name="bld1_1353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450" dirty="0"/>
          </a:p>
        </p:txBody>
      </p:sp>
      <p:sp>
        <p:nvSpPr>
          <p:cNvPr id="28" name="bld1_1354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 with real skin-warmth. The generic name for the whole effect — the genre-defining reference point.</a:t>
            </a:r>
            <a:endParaRPr lang="en-US" sz="1080" dirty="0"/>
          </a:p>
        </p:txBody>
      </p:sp>
      <p:sp>
        <p:nvSpPr>
          <p:cNvPr id="29" name="bld2_1355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 rot="9000000">
            <a:off x="4534395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000000">
            <a:off x="4460219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1400000">
            <a:off x="4694159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2_1357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450" dirty="0"/>
          </a:p>
        </p:txBody>
      </p:sp>
      <p:sp>
        <p:nvSpPr>
          <p:cNvPr id="36" name="bld2_1358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Givaudan's version of the Ambroxan effect — cleaner and more consistent batch to batch. Base note, very long.</a:t>
            </a:r>
            <a:endParaRPr lang="en-US" sz="1080" dirty="0"/>
          </a:p>
        </p:txBody>
      </p:sp>
      <p:sp>
        <p:nvSpPr>
          <p:cNvPr id="37" name="bld3_1359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 rot="9000000">
            <a:off x="7372007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6000000">
            <a:off x="7297831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1400000">
            <a:off x="7531771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3" name="bld3_1361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450" dirty="0"/>
          </a:p>
        </p:txBody>
      </p:sp>
      <p:sp>
        <p:nvSpPr>
          <p:cNvPr id="44" name="bld3_1362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Firmenich's version — softer, rounder, more ambery-woody and less sharp or dry than pure Ambroxan. Base note, long.</a:t>
            </a:r>
            <a:endParaRPr lang="en-US" sz="1080" dirty="0"/>
          </a:p>
        </p:txBody>
      </p:sp>
      <p:sp>
        <p:nvSpPr>
          <p:cNvPr id="45" name="bld4_1363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 rot="9000000">
            <a:off x="10209619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000000">
            <a:off x="10135443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1400000">
            <a:off x="10369383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1" name="bld4_1365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450" dirty="0"/>
          </a:p>
        </p:txBody>
      </p:sp>
      <p:sp>
        <p:nvSpPr>
          <p:cNvPr id="52" name="bld4_1366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 woody-amber crossover material, not an Ambroxan variant — bridges the woody and amber families in its own way. Base note, long.</a:t>
            </a:r>
            <a:endParaRPr lang="en-US" sz="1080" dirty="0"/>
          </a:p>
        </p:txBody>
      </p:sp>
      <p:sp>
        <p:nvSpPr>
          <p:cNvPr id="54" name="trans_fade_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7" grpId="0"/>
      <p:bldP spid="28" grpId="0"/>
      <p:bldP spid="29" grpId="0"/>
      <p:bldP spid="35" grpId="0"/>
      <p:bldP spid="36" grpId="0"/>
      <p:bldP spid="37" grpId="0"/>
      <p:bldP spid="43" grpId="0"/>
      <p:bldP spid="44" grpId="0"/>
      <p:bldP spid="45" grpId="0"/>
      <p:bldP spid="51" grpId="0"/>
      <p:bldP spid="5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amber-radiants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1368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13" name="bld1_1369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370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15" name="bld1_1371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372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17" name="bld1_1373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374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extreme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1376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800" dirty="0"/>
          </a:p>
        </p:txBody>
      </p:sp>
      <p:sp>
        <p:nvSpPr>
          <p:cNvPr id="25" name="bld2_1377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378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ambery-woody, musky</a:t>
            </a:r>
            <a:endParaRPr lang="en-US" sz="1100" dirty="0"/>
          </a:p>
        </p:txBody>
      </p:sp>
      <p:sp>
        <p:nvSpPr>
          <p:cNvPr id="27" name="bld2_1379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380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gentler radiant glow</a:t>
            </a:r>
            <a:endParaRPr lang="en-US" sz="1100" dirty="0"/>
          </a:p>
        </p:txBody>
      </p:sp>
      <p:sp>
        <p:nvSpPr>
          <p:cNvPr id="29" name="bld2_1381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382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1384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800" dirty="0"/>
          </a:p>
        </p:txBody>
      </p:sp>
      <p:sp>
        <p:nvSpPr>
          <p:cNvPr id="37" name="bld3_1385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386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</a:t>
            </a:r>
            <a:endParaRPr lang="en-US" sz="1100" dirty="0"/>
          </a:p>
        </p:txBody>
      </p:sp>
      <p:sp>
        <p:nvSpPr>
          <p:cNvPr id="39" name="bld3_1387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388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wood and amber</a:t>
            </a:r>
            <a:endParaRPr lang="en-US" sz="1100" dirty="0"/>
          </a:p>
        </p:txBody>
      </p:sp>
      <p:sp>
        <p:nvSpPr>
          <p:cNvPr id="41" name="bld3_1389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390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diffusive</a:t>
            </a:r>
            <a:endParaRPr lang="en-US" sz="1100" dirty="0"/>
          </a:p>
        </p:txBody>
      </p:sp>
      <p:sp>
        <p:nvSpPr>
          <p:cNvPr id="44" name="trans_fade_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3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10628" y="3586835"/>
            <a:ext cx="858493" cy="8584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417940" y="3694146"/>
            <a:ext cx="643870" cy="64387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5251" y="3801458"/>
            <a:ext cx="429247" cy="42924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4" name="Shape 12"/>
          <p:cNvSpPr/>
          <p:nvPr/>
        </p:nvSpPr>
        <p:spPr>
          <a:xfrm>
            <a:off x="1632563" y="3908770"/>
            <a:ext cx="214623" cy="21462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1392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019910" y="3823092"/>
            <a:ext cx="924707" cy="92470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4028" y="3977210"/>
            <a:ext cx="616471" cy="61647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2" name="Shape 20"/>
          <p:cNvSpPr/>
          <p:nvPr/>
        </p:nvSpPr>
        <p:spPr>
          <a:xfrm>
            <a:off x="3328146" y="4131328"/>
            <a:ext cx="308236" cy="30823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4" name="Shape 22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5" name="bld2_1394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688095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8" name="Shape 26"/>
          <p:cNvSpPr/>
          <p:nvPr/>
        </p:nvSpPr>
        <p:spPr>
          <a:xfrm>
            <a:off x="4956374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160266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0" name="Shape 28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1" name="bld3_1396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0484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4" name="Shape 32"/>
          <p:cNvSpPr/>
          <p:nvPr/>
        </p:nvSpPr>
        <p:spPr>
          <a:xfrm>
            <a:off x="6698763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02655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1398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1400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094115" y="3927740"/>
            <a:ext cx="715411" cy="71541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2968" y="4106593"/>
            <a:ext cx="357706" cy="35770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6_1402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350" dirty="0"/>
          </a:p>
        </p:txBody>
      </p:sp>
      <p:sp>
        <p:nvSpPr>
          <p:cNvPr id="53" name="trans_fade_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5" grpId="0"/>
      <p:bldP spid="31" grpId="0"/>
      <p:bldP spid="37" grpId="0"/>
      <p:bldP spid="44" grpId="0"/>
      <p:bldP spid="5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creamy, transparent, and textured woods</a:t>
            </a:r>
            <a:endParaRPr lang="en-US" sz="3200" dirty="0"/>
          </a:p>
        </p:txBody>
      </p:sp>
      <p:sp>
        <p:nvSpPr>
          <p:cNvPr id="7" name="bld1_1403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45431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693931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42430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1790930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810330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5" name="Shape 13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6" name="bld1_1405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7" name="bld1_1406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volume. Base note, very long — the single most-used woody synthetic in the world. Softens transitions between materials.</a:t>
            </a:r>
            <a:endParaRPr lang="en-US" sz="1080" dirty="0"/>
          </a:p>
        </p:txBody>
      </p:sp>
      <p:sp>
        <p:nvSpPr>
          <p:cNvPr id="18" name="bld2_1407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543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1" name="Shape 19"/>
          <p:cNvSpPr/>
          <p:nvPr/>
        </p:nvSpPr>
        <p:spPr>
          <a:xfrm>
            <a:off x="4495168" y="2038655"/>
            <a:ext cx="363748" cy="3637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555792" y="2099280"/>
            <a:ext cx="242499" cy="2424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4616417" y="2159904"/>
            <a:ext cx="121249" cy="12124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647942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5" name="Shape 23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6" name="bld2_1409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450" dirty="0"/>
          </a:p>
        </p:txBody>
      </p:sp>
      <p:sp>
        <p:nvSpPr>
          <p:cNvPr id="27" name="bld2_1410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woodiness. Base note, very long, cosy — a comfort-wood texture unlike any natural.</a:t>
            </a:r>
            <a:endParaRPr lang="en-US" sz="1080" dirty="0"/>
          </a:p>
        </p:txBody>
      </p:sp>
      <p:sp>
        <p:nvSpPr>
          <p:cNvPr id="28" name="bld3_1411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0" name="Shape 28"/>
          <p:cNvSpPr/>
          <p:nvPr/>
        </p:nvSpPr>
        <p:spPr>
          <a:xfrm>
            <a:off x="7272155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393404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485554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3" name="Shape 3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4" name="bld3_1413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450" dirty="0"/>
          </a:p>
        </p:txBody>
      </p:sp>
      <p:sp>
        <p:nvSpPr>
          <p:cNvPr id="35" name="bld3_1414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creamy, true-to-life sandalwood. Base note, long, intense at tiny doses — a modern sandalwood benchmark.</a:t>
            </a:r>
            <a:endParaRPr lang="en-US" sz="1080" dirty="0"/>
          </a:p>
        </p:txBody>
      </p:sp>
      <p:sp>
        <p:nvSpPr>
          <p:cNvPr id="36" name="bld4_1415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09766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190599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0" name="Shape 38"/>
          <p:cNvSpPr/>
          <p:nvPr/>
        </p:nvSpPr>
        <p:spPr>
          <a:xfrm>
            <a:off x="10271432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0323165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43" name="bld4_1417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450" dirty="0"/>
          </a:p>
        </p:txBody>
      </p:sp>
      <p:sp>
        <p:nvSpPr>
          <p:cNvPr id="44" name="bld4_1418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sandalwood with a drier edge than Javanol. Base note, long — a versatile, affordable sandalwood substitute.</a:t>
            </a:r>
            <a:endParaRPr lang="en-US" sz="1080" dirty="0"/>
          </a:p>
        </p:txBody>
      </p:sp>
      <p:sp>
        <p:nvSpPr>
          <p:cNvPr id="45" name="bld5_1419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69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718180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8103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1" name="bld5_1421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450" dirty="0"/>
          </a:p>
        </p:txBody>
      </p:sp>
      <p:sp>
        <p:nvSpPr>
          <p:cNvPr id="52" name="bld5_1422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milky, gentle sandalwood effect. Base note, medium-long — the mildest of the sandalwood synthetics.</a:t>
            </a:r>
            <a:endParaRPr lang="en-US" sz="1080" dirty="0"/>
          </a:p>
        </p:txBody>
      </p:sp>
      <p:sp>
        <p:nvSpPr>
          <p:cNvPr id="53" name="bld6_1423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5" name="Shape 53"/>
          <p:cNvSpPr/>
          <p:nvPr/>
        </p:nvSpPr>
        <p:spPr>
          <a:xfrm>
            <a:off x="4434543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4555792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4647942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6_1425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Bacdanol</a:t>
            </a:r>
            <a:endParaRPr lang="en-US" sz="1450" dirty="0"/>
          </a:p>
        </p:txBody>
      </p:sp>
      <p:sp>
        <p:nvSpPr>
          <p:cNvPr id="60" name="bld6_1426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woody-balsamic sandalwood facet. Base note, long — adds roundness alongside sharper woods.</a:t>
            </a:r>
            <a:endParaRPr lang="en-US" sz="1080" dirty="0"/>
          </a:p>
        </p:txBody>
      </p:sp>
      <p:sp>
        <p:nvSpPr>
          <p:cNvPr id="61" name="bld7_1427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2155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352988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65" name="Shape 63"/>
          <p:cNvSpPr/>
          <p:nvPr/>
        </p:nvSpPr>
        <p:spPr>
          <a:xfrm>
            <a:off x="7433821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485554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7" name="Shape 65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8" name="bld7_1429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450" dirty="0"/>
          </a:p>
        </p:txBody>
      </p:sp>
      <p:sp>
        <p:nvSpPr>
          <p:cNvPr id="69" name="bld7_1430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Intense, creamy-sweet sandalwood character. Base note, long, potent — used in very small amounts.</a:t>
            </a:r>
            <a:endParaRPr lang="en-US" sz="1080" dirty="0"/>
          </a:p>
        </p:txBody>
      </p:sp>
      <p:sp>
        <p:nvSpPr>
          <p:cNvPr id="70" name="bld8_1431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2" name="Shape 70"/>
          <p:cNvSpPr/>
          <p:nvPr/>
        </p:nvSpPr>
        <p:spPr>
          <a:xfrm>
            <a:off x="10109766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10158266" y="4385682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4" name="Shape 72"/>
          <p:cNvSpPr/>
          <p:nvPr/>
        </p:nvSpPr>
        <p:spPr>
          <a:xfrm>
            <a:off x="10206766" y="4434182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255266" y="4482681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6" name="Shape 74"/>
          <p:cNvSpPr/>
          <p:nvPr/>
        </p:nvSpPr>
        <p:spPr>
          <a:xfrm>
            <a:off x="10303766" y="4531181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10323165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8" name="Shape 76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79" name="bld8_1433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Kephalis</a:t>
            </a:r>
            <a:endParaRPr lang="en-US" sz="1450" dirty="0"/>
          </a:p>
        </p:txBody>
      </p:sp>
      <p:sp>
        <p:nvSpPr>
          <p:cNvPr id="80" name="bld8_1434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vetiver-cedar textured woodiness. Base note, long — adds grain and structure rather than smoothness.</a:t>
            </a:r>
            <a:endParaRPr lang="en-US" sz="1080" dirty="0"/>
          </a:p>
        </p:txBody>
      </p:sp>
      <p:sp>
        <p:nvSpPr>
          <p:cNvPr id="82" name="trans_fade_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3" name="Text 8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84" name="Text 8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6" grpId="0"/>
      <p:bldP spid="27" grpId="0"/>
      <p:bldP spid="28" grpId="0"/>
      <p:bldP spid="34" grpId="0"/>
      <p:bldP spid="35" grpId="0"/>
      <p:bldP spid="36" grpId="0"/>
      <p:bldP spid="43" grpId="0"/>
      <p:bldP spid="44" grpId="0"/>
      <p:bldP spid="45" grpId="0"/>
      <p:bldP spid="51" grpId="0"/>
      <p:bldP spid="52" grpId="0"/>
      <p:bldP spid="53" grpId="0"/>
      <p:bldP spid="59" grpId="0"/>
      <p:bldP spid="60" grpId="0"/>
      <p:bldP spid="61" grpId="0"/>
      <p:bldP spid="68" grpId="0"/>
      <p:bldP spid="69" grpId="0"/>
      <p:bldP spid="70" grpId="0"/>
      <p:bldP spid="79" grpId="0"/>
      <p:bldP spid="80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43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43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43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</a:t>
            </a:r>
            <a:endParaRPr lang="en-US" sz="1100" dirty="0"/>
          </a:p>
        </p:txBody>
      </p:sp>
      <p:sp>
        <p:nvSpPr>
          <p:cNvPr id="18" name="bld1_143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44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44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44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436316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25911" y="1945815"/>
            <a:ext cx="1137569" cy="113756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15506" y="2135410"/>
            <a:ext cx="758380" cy="75838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05101" y="2325005"/>
            <a:ext cx="379190" cy="37919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03690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144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800" dirty="0"/>
          </a:p>
        </p:txBody>
      </p:sp>
      <p:sp>
        <p:nvSpPr>
          <p:cNvPr id="30" name="bld2_144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44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</a:t>
            </a:r>
            <a:endParaRPr lang="en-US" sz="1100" dirty="0"/>
          </a:p>
        </p:txBody>
      </p:sp>
      <p:sp>
        <p:nvSpPr>
          <p:cNvPr id="32" name="bld2_144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44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Cosy, enveloping warmth</a:t>
            </a:r>
            <a:endParaRPr lang="en-US" sz="1100" dirty="0"/>
          </a:p>
        </p:txBody>
      </p:sp>
      <p:sp>
        <p:nvSpPr>
          <p:cNvPr id="34" name="bld2_144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45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8" name="Shape 36"/>
          <p:cNvSpPr/>
          <p:nvPr/>
        </p:nvSpPr>
        <p:spPr>
          <a:xfrm>
            <a:off x="6246210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34394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3_145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800" dirty="0"/>
          </a:p>
        </p:txBody>
      </p:sp>
      <p:sp>
        <p:nvSpPr>
          <p:cNvPr id="42" name="bld3_145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45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 sandalwood</a:t>
            </a:r>
            <a:endParaRPr lang="en-US" sz="1100" dirty="0"/>
          </a:p>
        </p:txBody>
      </p:sp>
      <p:sp>
        <p:nvSpPr>
          <p:cNvPr id="44" name="bld3_145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45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True-to-life sandalwood, intense</a:t>
            </a:r>
            <a:endParaRPr lang="en-US" sz="1100" dirty="0"/>
          </a:p>
        </p:txBody>
      </p:sp>
      <p:sp>
        <p:nvSpPr>
          <p:cNvPr id="46" name="bld3_145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45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tiny dose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676914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3" name="bld4_146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800" dirty="0"/>
          </a:p>
        </p:txBody>
      </p:sp>
      <p:sp>
        <p:nvSpPr>
          <p:cNvPr id="54" name="bld4_146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46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 sandalwood</a:t>
            </a:r>
            <a:endParaRPr lang="en-US" sz="1100" dirty="0"/>
          </a:p>
        </p:txBody>
      </p:sp>
      <p:sp>
        <p:nvSpPr>
          <p:cNvPr id="56" name="bld4_146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46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mildest sandalwood effect</a:t>
            </a:r>
            <a:endParaRPr lang="en-US" sz="1100" dirty="0"/>
          </a:p>
        </p:txBody>
      </p:sp>
      <p:sp>
        <p:nvSpPr>
          <p:cNvPr id="58" name="bld4_146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46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medium-long</a:t>
            </a:r>
            <a:endParaRPr lang="en-US" sz="1100" dirty="0"/>
          </a:p>
        </p:txBody>
      </p:sp>
      <p:sp>
        <p:nvSpPr>
          <p:cNvPr id="61" name="trans_fade_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4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1824945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4400000">
            <a:off x="2100738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2100738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24945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3600000">
            <a:off x="154915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7200000">
            <a:off x="154915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1254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8" name="bld1_1468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22037" y="3547815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4158185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4029788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3614285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3485888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29354" y="4109819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1470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06679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4400000">
            <a:off x="628247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8000000">
            <a:off x="628247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06679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3600000">
            <a:off x="5730887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7200000">
            <a:off x="5730887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42988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7" name="bld3_1472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1177" y="386355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2700000">
            <a:off x="8227368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5400000">
            <a:off x="8283781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8100000">
            <a:off x="8227368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0800000">
            <a:off x="8091177" y="4248759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3500000">
            <a:off x="7954986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6200000">
            <a:off x="7898574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8900000">
            <a:off x="7954986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84808" y="4183539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8" name="Shape 4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9" name="bld4_1474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Ionone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94638" y="3278451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4320000">
            <a:off x="10430787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640000">
            <a:off x="10302389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9886886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9758489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0101955" y="3840455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1476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350" dirty="0"/>
          </a:p>
        </p:txBody>
      </p:sp>
      <p:sp>
        <p:nvSpPr>
          <p:cNvPr id="60" name="trans_fade_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27" grpId="0"/>
      <p:bldP spid="37" grpId="0"/>
      <p:bldP spid="49" grpId="0"/>
      <p:bldP spid="58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Isolated, hyper-true floral facets</a:t>
            </a:r>
            <a:endParaRPr lang="en-US" sz="3200" dirty="0"/>
          </a:p>
        </p:txBody>
      </p:sp>
      <p:sp>
        <p:nvSpPr>
          <p:cNvPr id="7" name="bld1_1477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479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480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jasmine-like material valued for space, diffusion and radiance — not simply "jasmine."</a:t>
            </a:r>
            <a:endParaRPr lang="en-US" sz="1080" dirty="0"/>
          </a:p>
        </p:txBody>
      </p:sp>
      <p:sp>
        <p:nvSpPr>
          <p:cNvPr id="19" name="bld2_1481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483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Hydroxycitronellal</a:t>
            </a:r>
            <a:endParaRPr lang="en-US" sz="1450" dirty="0"/>
          </a:p>
        </p:txBody>
      </p:sp>
      <p:sp>
        <p:nvSpPr>
          <p:cNvPr id="32" name="bld2_1484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muguet (lily-of-the-valley) floral. Heart note, medium — a clean, slightly waxy floral lift.</a:t>
            </a:r>
            <a:endParaRPr lang="en-US" sz="1080" dirty="0"/>
          </a:p>
        </p:txBody>
      </p:sp>
      <p:sp>
        <p:nvSpPr>
          <p:cNvPr id="33" name="bld3_1485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1" name="Shape 3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2" name="bld3_1487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450" dirty="0"/>
          </a:p>
        </p:txBody>
      </p:sp>
      <p:sp>
        <p:nvSpPr>
          <p:cNvPr id="43" name="bld3_1488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slightly honeyed. Heart note, medium — the single most-used rose material in the world.</a:t>
            </a:r>
            <a:endParaRPr lang="en-US" sz="1080" dirty="0"/>
          </a:p>
        </p:txBody>
      </p:sp>
      <p:sp>
        <p:nvSpPr>
          <p:cNvPr id="44" name="bld4_1489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833198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4400000">
            <a:off x="843699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000000">
            <a:off x="843699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3198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3600000">
            <a:off x="82269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7200000">
            <a:off x="82269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3" name="Shape 5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4" name="bld4_1491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450" dirty="0"/>
          </a:p>
        </p:txBody>
      </p:sp>
      <p:sp>
        <p:nvSpPr>
          <p:cNvPr id="55" name="bld4_1492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fruity-jasmine, pear-like. Top-heart, medium — a bright lift inside a jasmine accord.</a:t>
            </a:r>
            <a:endParaRPr lang="en-US" sz="1080" dirty="0"/>
          </a:p>
        </p:txBody>
      </p:sp>
      <p:sp>
        <p:nvSpPr>
          <p:cNvPr id="56" name="bld5_1493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599652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2700000">
            <a:off x="1065150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10672983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8100000">
            <a:off x="1065150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0800000">
            <a:off x="10599652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3500000">
            <a:off x="10547798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6200000">
            <a:off x="1052632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8900000">
            <a:off x="10547798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597227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7" name="Shape 6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8" name="bld5_1495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69" name="bld5_1496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freshness, occurs naturally too. Top-heart, medium — a foundational, near-invisible freshener.</a:t>
            </a:r>
            <a:endParaRPr lang="en-US" sz="1080" dirty="0"/>
          </a:p>
        </p:txBody>
      </p:sp>
      <p:sp>
        <p:nvSpPr>
          <p:cNvPr id="70" name="bld6_1497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2" name="Shape 70"/>
          <p:cNvSpPr/>
          <p:nvPr/>
        </p:nvSpPr>
        <p:spPr>
          <a:xfrm>
            <a:off x="1519294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2700000">
            <a:off x="157114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5400000">
            <a:off x="1592626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8100000">
            <a:off x="157114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1519294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13500000">
            <a:off x="1467441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16200000">
            <a:off x="144596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18900000">
            <a:off x="1467441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1516869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1" name="Shape 7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82" name="bld6_1499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83" name="bld6_1500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lavender-adjacent. Top note, medium — rounds out linalool with a fruity edge.</a:t>
            </a:r>
            <a:endParaRPr lang="en-US" sz="1080" dirty="0"/>
          </a:p>
        </p:txBody>
      </p:sp>
      <p:sp>
        <p:nvSpPr>
          <p:cNvPr id="84" name="bld7_1501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6" name="Shape 84"/>
          <p:cNvSpPr/>
          <p:nvPr/>
        </p:nvSpPr>
        <p:spPr>
          <a:xfrm>
            <a:off x="378938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2700000">
            <a:off x="38412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5400000">
            <a:off x="3862715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100000">
            <a:off x="38412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0800000">
            <a:off x="378938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3500000">
            <a:off x="3737530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6200000">
            <a:off x="371605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18900000">
            <a:off x="3737530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378695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95" name="Shape 9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6" name="bld7_1503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Citronellol</a:t>
            </a:r>
            <a:endParaRPr lang="en-US" sz="1450" dirty="0"/>
          </a:p>
        </p:txBody>
      </p:sp>
      <p:sp>
        <p:nvSpPr>
          <p:cNvPr id="97" name="bld7_1504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rosy-citrus freshness. Top-heart, medium — a common rose extender and freshener.</a:t>
            </a:r>
            <a:endParaRPr lang="en-US" sz="1080" dirty="0"/>
          </a:p>
        </p:txBody>
      </p:sp>
      <p:sp>
        <p:nvSpPr>
          <p:cNvPr id="98" name="bld8_1505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0" name="Shape 98"/>
          <p:cNvSpPr/>
          <p:nvPr/>
        </p:nvSpPr>
        <p:spPr>
          <a:xfrm>
            <a:off x="605947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611132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613280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611132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605947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600761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598614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600761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605704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10" name="bld8_1507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Geraniol</a:t>
            </a:r>
            <a:endParaRPr lang="en-US" sz="1450" dirty="0"/>
          </a:p>
        </p:txBody>
      </p:sp>
      <p:sp>
        <p:nvSpPr>
          <p:cNvPr id="111" name="bld8_1508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Rosy, slightly sweet, geranium-adjacent. Heart note, medium — pairs naturally with citronellol.</a:t>
            </a:r>
            <a:endParaRPr lang="en-US" sz="1080" dirty="0"/>
          </a:p>
        </p:txBody>
      </p:sp>
      <p:sp>
        <p:nvSpPr>
          <p:cNvPr id="112" name="bld9_1509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329562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 rot="2700000">
            <a:off x="838141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 rot="5400000">
            <a:off x="840289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 rot="8100000">
            <a:off x="838141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 rot="10800000">
            <a:off x="8329562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 rot="13500000">
            <a:off x="827770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16200000">
            <a:off x="825623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18900000">
            <a:off x="827770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8327137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24" name="bld9_1511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450" dirty="0"/>
          </a:p>
        </p:txBody>
      </p:sp>
      <p:sp>
        <p:nvSpPr>
          <p:cNvPr id="125" name="bld9_1512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Alpha, beta &amp; methyl ionone — powdery violet-woody-suede. Heart-base, medium-long — the entire "violet" effect comes from this trio.</a:t>
            </a:r>
            <a:endParaRPr lang="en-US" sz="1080" dirty="0"/>
          </a:p>
        </p:txBody>
      </p:sp>
      <p:sp>
        <p:nvSpPr>
          <p:cNvPr id="126" name="bld10_1513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7" name="Shape 125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575402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 rot="4320000">
            <a:off x="10686796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 rot="8640000">
            <a:off x="10644247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 rot="12960000">
            <a:off x="10506556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 rot="17280000">
            <a:off x="10464007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77827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35" name="bld10_1515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450" dirty="0"/>
          </a:p>
        </p:txBody>
      </p:sp>
      <p:sp>
        <p:nvSpPr>
          <p:cNvPr id="136" name="bld10_1516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 top facet. Top note, short — a tiny dose gives rose an unmistakable natural sparkle.</a:t>
            </a:r>
            <a:endParaRPr lang="en-US" sz="1080" dirty="0"/>
          </a:p>
        </p:txBody>
      </p:sp>
      <p:sp>
        <p:nvSpPr>
          <p:cNvPr id="138" name="trans_fade_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9" name="Text 1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140" name="Text 1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2" grpId="0"/>
      <p:bldP spid="43" grpId="0"/>
      <p:bldP spid="44" grpId="0"/>
      <p:bldP spid="54" grpId="0"/>
      <p:bldP spid="55" grpId="0"/>
      <p:bldP spid="56" grpId="0"/>
      <p:bldP spid="68" grpId="0"/>
      <p:bldP spid="69" grpId="0"/>
      <p:bldP spid="70" grpId="0"/>
      <p:bldP spid="82" grpId="0"/>
      <p:bldP spid="83" grpId="0"/>
      <p:bldP spid="84" grpId="0"/>
      <p:bldP spid="96" grpId="0"/>
      <p:bldP spid="97" grpId="0"/>
      <p:bldP spid="98" grpId="0"/>
      <p:bldP spid="110" grpId="0"/>
      <p:bldP spid="111" grpId="0"/>
      <p:bldP spid="112" grpId="0"/>
      <p:bldP spid="124" grpId="0"/>
      <p:bldP spid="125" grpId="0"/>
      <p:bldP spid="126" grpId="0"/>
      <p:bldP spid="135" grpId="0"/>
      <p:bldP spid="136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DISTINCTION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vs. Hedione HC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8887790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4400000">
            <a:off x="9114256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8000000">
            <a:off x="9114256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887790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3600000">
            <a:off x="8661325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7200000">
            <a:off x="8661325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835491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10061185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1028765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1028765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061185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983472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983472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08885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them side by side rather than assuming one simply replaces the other.</a:t>
            </a:r>
            <a:endParaRPr lang="en-US" sz="1050" dirty="0"/>
          </a:p>
        </p:txBody>
      </p:sp>
      <p:sp>
        <p:nvSpPr>
          <p:cNvPr id="29" name="bld1_151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bld1_151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Related, not identical</a:t>
            </a:r>
            <a:endParaRPr lang="en-US" sz="1650" dirty="0"/>
          </a:p>
        </p:txBody>
      </p:sp>
      <p:sp>
        <p:nvSpPr>
          <p:cNvPr id="31" name="bld1_151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HC is a distinct material with its own character — a relative of Hedione, not an interchangeable substitute.</a:t>
            </a:r>
            <a:endParaRPr lang="en-US" sz="1250" dirty="0"/>
          </a:p>
        </p:txBody>
      </p:sp>
      <p:sp>
        <p:nvSpPr>
          <p:cNvPr id="32" name="bld2_152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3" name="bld2_152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reads bright and citrus-dewy</a:t>
            </a:r>
            <a:endParaRPr lang="en-US" sz="1650" dirty="0"/>
          </a:p>
        </p:txBody>
      </p:sp>
      <p:sp>
        <p:nvSpPr>
          <p:cNvPr id="34" name="bld2_152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material — airy, radiant, with a fresh green-citrus edge to its jasmine transparency.</a:t>
            </a:r>
            <a:endParaRPr lang="en-US" sz="1250" dirty="0"/>
          </a:p>
        </p:txBody>
      </p:sp>
      <p:sp>
        <p:nvSpPr>
          <p:cNvPr id="35" name="bld3_152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6" name="bld3_152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HC reads smoother and rounder</a:t>
            </a:r>
            <a:endParaRPr lang="en-US" sz="1650" dirty="0"/>
          </a:p>
        </p:txBody>
      </p:sp>
      <p:sp>
        <p:nvSpPr>
          <p:cNvPr id="37" name="bld3_152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softer and more discreet, with different diffusion behaviour worth evaluating on its own strip.</a:t>
            </a:r>
            <a:endParaRPr lang="en-US" sz="1250" dirty="0"/>
          </a:p>
        </p:txBody>
      </p:sp>
      <p:sp>
        <p:nvSpPr>
          <p:cNvPr id="39" name="trans_fade_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1657819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4400000">
            <a:off x="1986207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8000000">
            <a:off x="1986207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7819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3600000">
            <a:off x="132943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7200000">
            <a:off x="132943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8470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17" name="bld1_1527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18" name="bld1_1528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529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20" name="bld1_1530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531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in a formula</a:t>
            </a:r>
            <a:endParaRPr lang="en-US" sz="1100" dirty="0"/>
          </a:p>
        </p:txBody>
      </p:sp>
      <p:sp>
        <p:nvSpPr>
          <p:cNvPr id="22" name="bld1_1532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533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005101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4320000">
            <a:off x="4353470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8640000">
            <a:off x="4220405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2960000">
            <a:off x="3789797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7280000">
            <a:off x="3656731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1" name="Shape 29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2" name="bld2_1535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800" dirty="0"/>
          </a:p>
        </p:txBody>
      </p:sp>
      <p:sp>
        <p:nvSpPr>
          <p:cNvPr id="33" name="bld2_1536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537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honeyed</a:t>
            </a:r>
            <a:endParaRPr lang="en-US" sz="1100" dirty="0"/>
          </a:p>
        </p:txBody>
      </p:sp>
      <p:sp>
        <p:nvSpPr>
          <p:cNvPr id="35" name="bld2_1538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539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most-used rose note</a:t>
            </a:r>
            <a:endParaRPr lang="en-US" sz="1100" dirty="0"/>
          </a:p>
        </p:txBody>
      </p:sp>
      <p:sp>
        <p:nvSpPr>
          <p:cNvPr id="37" name="bld2_1540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541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511643" y="2012249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2700000">
            <a:off x="6673806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740977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100000">
            <a:off x="6673806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511643" y="247091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500000">
            <a:off x="6349479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6200000">
            <a:off x="6282309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8900000">
            <a:off x="6349479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04059" y="2393259"/>
            <a:ext cx="242681" cy="24268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0" name="bld3_1543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800" dirty="0"/>
          </a:p>
        </p:txBody>
      </p:sp>
      <p:sp>
        <p:nvSpPr>
          <p:cNvPr id="51" name="bld3_1544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2" name="bld3_1545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 violet-woody-suede</a:t>
            </a:r>
            <a:endParaRPr lang="en-US" sz="1100" dirty="0"/>
          </a:p>
        </p:txBody>
      </p:sp>
      <p:sp>
        <p:nvSpPr>
          <p:cNvPr id="53" name="bld3_1546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4" name="bld3_1547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"violet" effect</a:t>
            </a:r>
            <a:endParaRPr lang="en-US" sz="1100" dirty="0"/>
          </a:p>
        </p:txBody>
      </p:sp>
      <p:sp>
        <p:nvSpPr>
          <p:cNvPr id="55" name="bld3_1548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6" name="bld3_1549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8866508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921487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908181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8651204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518139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4_1551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800" dirty="0"/>
          </a:p>
        </p:txBody>
      </p:sp>
      <p:sp>
        <p:nvSpPr>
          <p:cNvPr id="66" name="bld4_1552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7" name="bld4_1553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</a:t>
            </a:r>
            <a:endParaRPr lang="en-US" sz="1100" dirty="0"/>
          </a:p>
        </p:txBody>
      </p:sp>
      <p:sp>
        <p:nvSpPr>
          <p:cNvPr id="68" name="bld4_1554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9" name="bld4_1555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sparkle at a tiny dose</a:t>
            </a:r>
            <a:endParaRPr lang="en-US" sz="1100" dirty="0"/>
          </a:p>
        </p:txBody>
      </p:sp>
      <p:sp>
        <p:nvSpPr>
          <p:cNvPr id="70" name="bld4_1556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1" name="bld4_1557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73" name="trans_fade_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4" name="Text 7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65" grpId="0"/>
      <p:bldP spid="66" grpId="0"/>
      <p:bldP spid="67" grpId="0"/>
      <p:bldP spid="68" grpId="0"/>
      <p:bldP spid="69" grpId="0"/>
      <p:bldP spid="70" grpId="0"/>
      <p:bldP spid="7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5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&amp; Green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3E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5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GREEN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1_1559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3064844" y="4045564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3180440" y="421856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3377464" y="428544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3574488" y="421856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3690083" y="4045564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2" name="bld2_1561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 rot="15300000">
            <a:off x="4861343" y="3807296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3050000">
            <a:off x="4961954" y="395787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0800000">
            <a:off x="5133438" y="4016081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550000">
            <a:off x="5304922" y="395787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6300000">
            <a:off x="5405533" y="3807296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0" name="bld3_1563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 rot="15300000">
            <a:off x="6603733" y="407666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3050000">
            <a:off x="6704343" y="4227234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875827" y="4285445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550000">
            <a:off x="7047311" y="4227234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300000">
            <a:off x="7147922" y="407666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8" name="bld4_1565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0" name="Shape 48"/>
          <p:cNvSpPr/>
          <p:nvPr/>
        </p:nvSpPr>
        <p:spPr>
          <a:xfrm rot="15300000">
            <a:off x="8292012" y="3776200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050000">
            <a:off x="8407607" y="394920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04631" y="401608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550000">
            <a:off x="8801655" y="394920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6300000">
            <a:off x="8917251" y="3776200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5_1567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58" name="Shape 56"/>
          <p:cNvSpPr/>
          <p:nvPr/>
        </p:nvSpPr>
        <p:spPr>
          <a:xfrm>
            <a:off x="10076230" y="3909855"/>
            <a:ext cx="751182" cy="751182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60" name="bld6_1569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350" dirty="0"/>
          </a:p>
        </p:txBody>
      </p:sp>
      <p:sp>
        <p:nvSpPr>
          <p:cNvPr id="62" name="trans_fade_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3" name="Text 6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32" grpId="0"/>
      <p:bldP spid="40" grpId="0"/>
      <p:bldP spid="48" grpId="0"/>
      <p:bldP spid="56" grpId="0"/>
      <p:bldP spid="60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GREEN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kinds of "fresh"</a:t>
            </a:r>
            <a:endParaRPr lang="en-US" sz="3200" dirty="0"/>
          </a:p>
        </p:txBody>
      </p:sp>
      <p:sp>
        <p:nvSpPr>
          <p:cNvPr id="7" name="bld1_1570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038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881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572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4" name="bld1_1573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freshness. Explosive, citrus-aromatic and clean. Top note, medium — the backbone of the 1990s "fresh" trend.</a:t>
            </a:r>
            <a:endParaRPr lang="en-US" sz="1080" dirty="0"/>
          </a:p>
        </p:txBody>
      </p:sp>
      <p:sp>
        <p:nvSpPr>
          <p:cNvPr id="25" name="bld2_1574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7" name="Shape 25"/>
          <p:cNvSpPr/>
          <p:nvPr/>
        </p:nvSpPr>
        <p:spPr>
          <a:xfrm rot="15300000">
            <a:off x="5931649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3050000">
            <a:off x="5977120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54623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550000">
            <a:off x="6132125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300000">
            <a:off x="6177597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3" name="bld2_1576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450" dirty="0"/>
          </a:p>
        </p:txBody>
      </p:sp>
      <p:sp>
        <p:nvSpPr>
          <p:cNvPr id="34" name="bld2_1577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freshness. Sharp, cut-grass green — the exact smell of a freshly mown lawn. Top note, short, dosed carefully.</a:t>
            </a:r>
            <a:endParaRPr lang="en-US" sz="1080" dirty="0"/>
          </a:p>
        </p:txBody>
      </p:sp>
      <p:sp>
        <p:nvSpPr>
          <p:cNvPr id="35" name="bld3_1578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7" name="Shape 35"/>
          <p:cNvSpPr/>
          <p:nvPr/>
        </p:nvSpPr>
        <p:spPr>
          <a:xfrm rot="15300000">
            <a:off x="9715131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3050000">
            <a:off x="9760603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0800000">
            <a:off x="9838105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8550000">
            <a:off x="9915608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300000">
            <a:off x="9961079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43" name="bld3_1580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450" dirty="0"/>
          </a:p>
        </p:txBody>
      </p:sp>
      <p:sp>
        <p:nvSpPr>
          <p:cNvPr id="44" name="bld3_1581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 green freshness. Green-fruity, pear-skin quality — gentler than raw leaf alcohol. Top note, short.</a:t>
            </a:r>
            <a:endParaRPr lang="en-US" sz="1080" dirty="0"/>
          </a:p>
        </p:txBody>
      </p:sp>
      <p:sp>
        <p:nvSpPr>
          <p:cNvPr id="45" name="bld4_1582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7" name="Shape 45"/>
          <p:cNvSpPr/>
          <p:nvPr/>
        </p:nvSpPr>
        <p:spPr>
          <a:xfrm rot="15300000">
            <a:off x="21481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3050000">
            <a:off x="21936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22711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8550000">
            <a:off x="23486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300000">
            <a:off x="23941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53" name="bld4_1584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450" dirty="0"/>
          </a:p>
        </p:txBody>
      </p:sp>
      <p:sp>
        <p:nvSpPr>
          <p:cNvPr id="54" name="bld4_1585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Watery, metallic freshness. Green, faintly melon-stem. Top note, short-medium — an unusual, modern accent.</a:t>
            </a:r>
            <a:endParaRPr lang="en-US" sz="1080" dirty="0"/>
          </a:p>
        </p:txBody>
      </p:sp>
      <p:sp>
        <p:nvSpPr>
          <p:cNvPr id="55" name="bld5_1586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7" name="Shape 55"/>
          <p:cNvSpPr/>
          <p:nvPr/>
        </p:nvSpPr>
        <p:spPr>
          <a:xfrm rot="15300000">
            <a:off x="593164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3050000">
            <a:off x="5977120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605462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550000">
            <a:off x="6132125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6300000">
            <a:off x="617759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3" name="bld5_1588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450" dirty="0"/>
          </a:p>
        </p:txBody>
      </p:sp>
      <p:sp>
        <p:nvSpPr>
          <p:cNvPr id="64" name="bld5_1589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floral-leafy freshness. Top note, medium — more versatile and less bitter than galbanum.</a:t>
            </a:r>
            <a:endParaRPr lang="en-US" sz="1080" dirty="0"/>
          </a:p>
        </p:txBody>
      </p:sp>
      <p:sp>
        <p:nvSpPr>
          <p:cNvPr id="65" name="bld6_1590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7" name="Shape 65"/>
          <p:cNvSpPr/>
          <p:nvPr/>
        </p:nvSpPr>
        <p:spPr>
          <a:xfrm>
            <a:off x="9709581" y="4409932"/>
            <a:ext cx="339498" cy="339498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69" name="bld6_1592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 (C8–C10–C11–C12 MNA)</a:t>
            </a:r>
            <a:endParaRPr lang="en-US" sz="1450" dirty="0"/>
          </a:p>
        </p:txBody>
      </p:sp>
      <p:sp>
        <p:nvSpPr>
          <p:cNvPr id="70" name="bld6_1593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Aldehydic sparkle. Soapy, waxy, metallic lift. Top note, medium — the classic "aldehydic" perfume effect.</a:t>
            </a:r>
            <a:endParaRPr lang="en-US" sz="1080" dirty="0"/>
          </a:p>
        </p:txBody>
      </p:sp>
      <p:sp>
        <p:nvSpPr>
          <p:cNvPr id="72" name="trans_fade_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  <p:bldP spid="55" grpId="0"/>
      <p:bldP spid="63" grpId="0"/>
      <p:bldP spid="64" grpId="0"/>
      <p:bldP spid="65" grpId="0"/>
      <p:bldP spid="69" grpId="0"/>
      <p:bldP spid="70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fresh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1595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800" dirty="0"/>
          </a:p>
        </p:txBody>
      </p:sp>
      <p:sp>
        <p:nvSpPr>
          <p:cNvPr id="23" name="bld1_1596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1597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</a:t>
            </a:r>
            <a:endParaRPr lang="en-US" sz="1100" dirty="0"/>
          </a:p>
        </p:txBody>
      </p:sp>
      <p:sp>
        <p:nvSpPr>
          <p:cNvPr id="25" name="bld1_1598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1599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citrus far past 2 hours</a:t>
            </a:r>
            <a:endParaRPr lang="en-US" sz="1100" dirty="0"/>
          </a:p>
        </p:txBody>
      </p:sp>
      <p:sp>
        <p:nvSpPr>
          <p:cNvPr id="27" name="bld1_1600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1601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0" name="Shape 28"/>
          <p:cNvSpPr/>
          <p:nvPr/>
        </p:nvSpPr>
        <p:spPr>
          <a:xfrm>
            <a:off x="5064496" y="1940448"/>
            <a:ext cx="1148304" cy="1148304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2" name="bld2_1603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800" dirty="0"/>
          </a:p>
        </p:txBody>
      </p:sp>
      <p:sp>
        <p:nvSpPr>
          <p:cNvPr id="33" name="bld2_1604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605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</a:t>
            </a:r>
            <a:endParaRPr lang="en-US" sz="1100" dirty="0"/>
          </a:p>
        </p:txBody>
      </p:sp>
      <p:sp>
        <p:nvSpPr>
          <p:cNvPr id="35" name="bld2_1606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607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"aldehydic" lift</a:t>
            </a:r>
            <a:endParaRPr lang="en-US" sz="1100" dirty="0"/>
          </a:p>
        </p:txBody>
      </p:sp>
      <p:sp>
        <p:nvSpPr>
          <p:cNvPr id="37" name="bld2_1608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609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0" name="Shape 38"/>
          <p:cNvSpPr/>
          <p:nvPr/>
        </p:nvSpPr>
        <p:spPr>
          <a:xfrm rot="15300000">
            <a:off x="8476608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3050000">
            <a:off x="8630408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0800000">
            <a:off x="8892549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550000">
            <a:off x="9154690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6300000">
            <a:off x="9308490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6" name="bld3_1611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800" dirty="0"/>
          </a:p>
        </p:txBody>
      </p:sp>
      <p:sp>
        <p:nvSpPr>
          <p:cNvPr id="47" name="bld3_1612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1613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cut-grass green</a:t>
            </a:r>
            <a:endParaRPr lang="en-US" sz="1100" dirty="0"/>
          </a:p>
        </p:txBody>
      </p:sp>
      <p:sp>
        <p:nvSpPr>
          <p:cNvPr id="49" name="bld3_1614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1615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freshly-mown-lawn effect</a:t>
            </a:r>
            <a:endParaRPr lang="en-US" sz="1100" dirty="0"/>
          </a:p>
        </p:txBody>
      </p:sp>
      <p:sp>
        <p:nvSpPr>
          <p:cNvPr id="51" name="bld3_1616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1617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intimate</a:t>
            </a:r>
            <a:endParaRPr lang="en-US" sz="1100" dirty="0"/>
          </a:p>
        </p:txBody>
      </p:sp>
      <p:sp>
        <p:nvSpPr>
          <p:cNvPr id="54" name="trans_fade_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6" grpId="0"/>
      <p:bldP spid="47" grpId="0"/>
      <p:bldP spid="48" grpId="0"/>
      <p:bldP spid="49" grpId="0"/>
      <p:bldP spid="50" grpId="0"/>
      <p:bldP spid="51" grpId="0"/>
      <p:bldP spid="5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6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4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0" name="Shape 8"/>
          <p:cNvSpPr/>
          <p:nvPr/>
        </p:nvSpPr>
        <p:spPr>
          <a:xfrm>
            <a:off x="1391842" y="3544763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08627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2000000">
            <a:off x="1932402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4" name="bld1_1619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04924" y="3743931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999494" y="3714660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000000">
            <a:off x="4023269" y="3656118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0" name="bld2_1621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2" name="Shape 20"/>
          <p:cNvSpPr/>
          <p:nvPr/>
        </p:nvSpPr>
        <p:spPr>
          <a:xfrm>
            <a:off x="5573576" y="3544763"/>
            <a:ext cx="1044543" cy="1044543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0361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2000000">
            <a:off x="6114136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6" name="bld3_1623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8" name="Shape 26"/>
          <p:cNvSpPr/>
          <p:nvPr/>
        </p:nvSpPr>
        <p:spPr>
          <a:xfrm>
            <a:off x="7664443" y="3814127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181228" y="3788651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12000000">
            <a:off x="8205003" y="3737697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2" name="bld4_1625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4" name="Shape 32"/>
          <p:cNvSpPr/>
          <p:nvPr/>
        </p:nvSpPr>
        <p:spPr>
          <a:xfrm>
            <a:off x="9677525" y="3474567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272095" y="3445296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12000000">
            <a:off x="10295870" y="3386754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8" name="bld5_1627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350" dirty="0"/>
          </a:p>
        </p:txBody>
      </p:sp>
      <p:sp>
        <p:nvSpPr>
          <p:cNvPr id="40" name="trans_fade_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Juicy realism versus candy effect</a:t>
            </a:r>
            <a:endParaRPr lang="en-US" sz="3200" dirty="0"/>
          </a:p>
        </p:txBody>
      </p:sp>
      <p:sp>
        <p:nvSpPr>
          <p:cNvPr id="7" name="bld1_1628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1630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450" dirty="0"/>
          </a:p>
        </p:txBody>
      </p:sp>
      <p:sp>
        <p:nvSpPr>
          <p:cNvPr id="14" name="bld1_1631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sharp-fruity. Top note, short — instantly recognisable, easily tips into "candy" if overdosed.</a:t>
            </a:r>
            <a:endParaRPr lang="en-US" sz="1080" dirty="0"/>
          </a:p>
        </p:txBody>
      </p:sp>
      <p:sp>
        <p:nvSpPr>
          <p:cNvPr id="15" name="bld2_1632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6999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090361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6114136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1" name="bld2_1634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450" dirty="0"/>
          </a:p>
        </p:txBody>
      </p:sp>
      <p:sp>
        <p:nvSpPr>
          <p:cNvPr id="22" name="bld2_1635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apple-like, gentle fruitiness. Top-heart, medium — a rounder, less sharp fruity effect than most esters.</a:t>
            </a:r>
            <a:endParaRPr lang="en-US" sz="1080" dirty="0"/>
          </a:p>
        </p:txBody>
      </p:sp>
      <p:sp>
        <p:nvSpPr>
          <p:cNvPr id="23" name="bld3_1636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680481" y="2041080"/>
            <a:ext cx="397698" cy="397698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873844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2000000">
            <a:off x="9897618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9" name="bld3_1638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450" dirty="0"/>
          </a:p>
        </p:txBody>
      </p:sp>
      <p:sp>
        <p:nvSpPr>
          <p:cNvPr id="30" name="bld3_1639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 — the definitive lactonic peach material. Heart note, medium-long.</a:t>
            </a:r>
            <a:endParaRPr lang="en-US" sz="1080" dirty="0"/>
          </a:p>
        </p:txBody>
      </p:sp>
      <p:sp>
        <p:nvSpPr>
          <p:cNvPr id="31" name="bld4_1640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3" name="Shape 31"/>
          <p:cNvSpPr/>
          <p:nvPr/>
        </p:nvSpPr>
        <p:spPr>
          <a:xfrm>
            <a:off x="2113516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06879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2000000">
            <a:off x="2330653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37" name="bld4_1642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450" dirty="0"/>
          </a:p>
        </p:txBody>
      </p:sp>
      <p:sp>
        <p:nvSpPr>
          <p:cNvPr id="38" name="bld4_1643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coconut-peach, milkier than undecalactone. Heart note, medium-long — softer, more gourmand-adjacent.</a:t>
            </a:r>
            <a:endParaRPr lang="en-US" sz="1080" dirty="0"/>
          </a:p>
        </p:txBody>
      </p:sp>
      <p:sp>
        <p:nvSpPr>
          <p:cNvPr id="39" name="bld5_1644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1" name="Shape 39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5" name="bld5_1646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450" dirty="0"/>
          </a:p>
        </p:txBody>
      </p:sp>
      <p:sp>
        <p:nvSpPr>
          <p:cNvPr id="46" name="bld5_1647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pineapple-tropical. Top note, medium — a distinctive tropical-fruit accent used in small amounts.</a:t>
            </a:r>
            <a:endParaRPr lang="en-US" sz="1080" dirty="0"/>
          </a:p>
        </p:txBody>
      </p:sp>
      <p:sp>
        <p:nvSpPr>
          <p:cNvPr id="47" name="bld6_1648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9" name="Shape 47"/>
          <p:cNvSpPr/>
          <p:nvPr/>
        </p:nvSpPr>
        <p:spPr>
          <a:xfrm>
            <a:off x="9680481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873844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rot="12000000">
            <a:off x="9897618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53" name="bld6_1650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 &amp; apple esters</a:t>
            </a:r>
            <a:endParaRPr lang="en-US" sz="1450" dirty="0"/>
          </a:p>
        </p:txBody>
      </p:sp>
      <p:sp>
        <p:nvSpPr>
          <p:cNvPr id="54" name="bld6_1651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 family of fruity esters behind most crisp pear and apple effects. Top note, short — juicy realism, dose-dependent.</a:t>
            </a:r>
            <a:endParaRPr lang="en-US" sz="1080" dirty="0"/>
          </a:p>
        </p:txBody>
      </p:sp>
      <p:sp>
        <p:nvSpPr>
          <p:cNvPr id="56" name="trans_fade_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fruity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1572731" y="1907640"/>
            <a:ext cx="1345156" cy="1345156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239823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2263597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2" name="bld1_1653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800" dirty="0"/>
          </a:p>
        </p:txBody>
      </p:sp>
      <p:sp>
        <p:nvSpPr>
          <p:cNvPr id="13" name="bld1_1654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655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</a:t>
            </a:r>
            <a:endParaRPr lang="en-US" sz="1100" dirty="0"/>
          </a:p>
        </p:txBody>
      </p:sp>
      <p:sp>
        <p:nvSpPr>
          <p:cNvPr id="15" name="bld1_1656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657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definitive peach note</a:t>
            </a:r>
            <a:endParaRPr lang="en-US" sz="1100" dirty="0"/>
          </a:p>
        </p:txBody>
      </p:sp>
      <p:sp>
        <p:nvSpPr>
          <p:cNvPr id="17" name="bld1_1658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659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0" name="Shape 18"/>
          <p:cNvSpPr/>
          <p:nvPr/>
        </p:nvSpPr>
        <p:spPr>
          <a:xfrm>
            <a:off x="4966070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633161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000000">
            <a:off x="5656936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4" name="bld2_1661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800" dirty="0"/>
          </a:p>
        </p:txBody>
      </p:sp>
      <p:sp>
        <p:nvSpPr>
          <p:cNvPr id="25" name="bld2_1662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663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</a:t>
            </a:r>
            <a:endParaRPr lang="en-US" sz="1100" dirty="0"/>
          </a:p>
        </p:txBody>
      </p:sp>
      <p:sp>
        <p:nvSpPr>
          <p:cNvPr id="27" name="bld2_1664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665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fruity recognition</a:t>
            </a:r>
            <a:endParaRPr lang="en-US" sz="1100" dirty="0"/>
          </a:p>
        </p:txBody>
      </p:sp>
      <p:sp>
        <p:nvSpPr>
          <p:cNvPr id="29" name="bld2_1666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667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9408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026500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2000000">
            <a:off x="9050274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6" name="bld3_1669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800" dirty="0"/>
          </a:p>
        </p:txBody>
      </p:sp>
      <p:sp>
        <p:nvSpPr>
          <p:cNvPr id="37" name="bld3_1670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671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</a:t>
            </a:r>
            <a:endParaRPr lang="en-US" sz="1100" dirty="0"/>
          </a:p>
        </p:txBody>
      </p:sp>
      <p:sp>
        <p:nvSpPr>
          <p:cNvPr id="39" name="bld3_1672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673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distinctive tropical accent</a:t>
            </a:r>
            <a:endParaRPr lang="en-US" sz="1100" dirty="0"/>
          </a:p>
        </p:txBody>
      </p:sp>
      <p:sp>
        <p:nvSpPr>
          <p:cNvPr id="41" name="bld3_1674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675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44" name="trans_fade_1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7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761254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1908627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0807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6665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62523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08381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954239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000097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677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 rot="840000">
            <a:off x="3829354" y="3590258"/>
            <a:ext cx="351252" cy="1390374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3999494" y="3758567"/>
            <a:ext cx="914" cy="105375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331" y="3798814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4" name="Shape 22"/>
          <p:cNvSpPr/>
          <p:nvPr/>
        </p:nvSpPr>
        <p:spPr>
          <a:xfrm>
            <a:off x="3893019" y="398029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3945707" y="416177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8395" y="434325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1082" y="452473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03770" y="4706217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0" name="bld2_1679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2" name="Shape 30"/>
          <p:cNvSpPr/>
          <p:nvPr/>
        </p:nvSpPr>
        <p:spPr>
          <a:xfrm>
            <a:off x="5458931" y="3379165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37268" y="3557502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92034" y="3812268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6" name="bld3_1681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49798" y="3648529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728135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982901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2" name="bld4_1683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4" name="Shape 42"/>
          <p:cNvSpPr/>
          <p:nvPr/>
        </p:nvSpPr>
        <p:spPr>
          <a:xfrm>
            <a:off x="9545806" y="3284305"/>
            <a:ext cx="1463552" cy="146355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750703" y="3489203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3413" y="3781913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8" name="bld5_1685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350" dirty="0"/>
          </a:p>
        </p:txBody>
      </p:sp>
      <p:sp>
        <p:nvSpPr>
          <p:cNvPr id="50" name="trans_fade_1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30" grpId="0"/>
      <p:bldP spid="36" grpId="0"/>
      <p:bldP spid="42" grpId="0"/>
      <p:bldP spid="48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Vanilla, tonka, caramel, candy, powder, almond</a:t>
            </a:r>
            <a:endParaRPr lang="en-US" sz="3200" dirty="0"/>
          </a:p>
        </p:txBody>
      </p:sp>
      <p:sp>
        <p:nvSpPr>
          <p:cNvPr id="7" name="bld1_1686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81230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833944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84868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802328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9787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37247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54707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872167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8" name="bld1_1688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19" name="bld1_1689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isolated. Base note, very long, richly diffusive — the single most-used gourmand material.</a:t>
            </a:r>
            <a:endParaRPr lang="en-US" sz="1080" dirty="0"/>
          </a:p>
        </p:txBody>
      </p:sp>
      <p:sp>
        <p:nvSpPr>
          <p:cNvPr id="20" name="bld2_1690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4618842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840000">
            <a:off x="4671555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479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4639939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4657399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74859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692319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4709779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1" name="bld2_1692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450" dirty="0"/>
          </a:p>
        </p:txBody>
      </p:sp>
      <p:sp>
        <p:nvSpPr>
          <p:cNvPr id="32" name="bld2_1693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several times stronger than vanillin, less "round." Base note, very long — used in tiny amounts for extra lift.</a:t>
            </a:r>
            <a:endParaRPr lang="en-US" sz="1080" dirty="0"/>
          </a:p>
        </p:txBody>
      </p:sp>
      <p:sp>
        <p:nvSpPr>
          <p:cNvPr id="33" name="bld3_1694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40054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37054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9" name="bld3_1696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40" name="bld3_1697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tonka effect: sweet hay, tonka-like warmth. Base note, long — a fougère and gourmand cornerstone, softly powdery.</a:t>
            </a:r>
            <a:endParaRPr lang="en-US" sz="1080" dirty="0"/>
          </a:p>
        </p:txBody>
      </p:sp>
      <p:sp>
        <p:nvSpPr>
          <p:cNvPr id="41" name="bld4_1698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177666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274666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7" name="bld4_1700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48" name="bld4_1701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candy effect: cotton-candy sweetness. Top-heart, medium-long, very diffusive — the defining "sugar trend" material.</a:t>
            </a:r>
            <a:endParaRPr lang="en-US" sz="1080" dirty="0"/>
          </a:p>
        </p:txBody>
      </p:sp>
      <p:sp>
        <p:nvSpPr>
          <p:cNvPr id="49" name="bld5_1702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5" name="bld5_1704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450" dirty="0"/>
          </a:p>
        </p:txBody>
      </p:sp>
      <p:sp>
        <p:nvSpPr>
          <p:cNvPr id="56" name="bld5_1705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caramel effect: softer, breadier sweetness than ethyl maltol. Heart note, medium — a gentler caramelised-sugar effect.</a:t>
            </a:r>
            <a:endParaRPr lang="en-US" sz="1080" dirty="0"/>
          </a:p>
        </p:txBody>
      </p:sp>
      <p:sp>
        <p:nvSpPr>
          <p:cNvPr id="57" name="bld6_1706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9" name="Shape 5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502443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4599442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3" name="bld6_1708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450" dirty="0"/>
          </a:p>
        </p:txBody>
      </p:sp>
      <p:sp>
        <p:nvSpPr>
          <p:cNvPr id="64" name="bld6_1709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called Piperonal — the powder / almond effect. Powdery, sweet almond, faintly floral. Heart-base, medium-long.</a:t>
            </a:r>
            <a:endParaRPr lang="en-US" sz="1080" dirty="0"/>
          </a:p>
        </p:txBody>
      </p:sp>
      <p:sp>
        <p:nvSpPr>
          <p:cNvPr id="65" name="bld7_1710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7" name="Shape 6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340054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437054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71" name="bld7_1712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Furaneol</a:t>
            </a:r>
            <a:endParaRPr lang="en-US" sz="1450" dirty="0"/>
          </a:p>
        </p:txBody>
      </p:sp>
      <p:sp>
        <p:nvSpPr>
          <p:cNvPr id="72" name="bld7_1713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Caramelised, strawberry-like sweetness. Heart note, medium — an unusual, jammy gourmand accent.</a:t>
            </a:r>
            <a:endParaRPr lang="en-US" sz="1080" dirty="0"/>
          </a:p>
        </p:txBody>
      </p:sp>
      <p:sp>
        <p:nvSpPr>
          <p:cNvPr id="73" name="bld8_1714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75" name="Shape 73"/>
          <p:cNvSpPr/>
          <p:nvPr/>
        </p:nvSpPr>
        <p:spPr>
          <a:xfrm rot="5400000">
            <a:off x="10197066" y="4409932"/>
            <a:ext cx="106700" cy="315249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5400000">
            <a:off x="10298916" y="4446307"/>
            <a:ext cx="106700" cy="315249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5400000">
            <a:off x="10400765" y="4482681"/>
            <a:ext cx="106700" cy="315249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9" name="bld8_1716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Guaiacol</a:t>
            </a:r>
            <a:endParaRPr lang="en-US" sz="1450" dirty="0"/>
          </a:p>
        </p:txBody>
      </p:sp>
      <p:sp>
        <p:nvSpPr>
          <p:cNvPr id="80" name="bld8_1717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phenolic, tarry — not a vanilla material. A faint sweet nuance can show in context.</a:t>
            </a:r>
            <a:endParaRPr lang="en-US" sz="1080" dirty="0"/>
          </a:p>
        </p:txBody>
      </p:sp>
      <p:sp>
        <p:nvSpPr>
          <p:cNvPr id="82" name="trans_fade_1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3" name="Text 8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  <p:sp>
        <p:nvSpPr>
          <p:cNvPr id="84" name="Text 8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8" grpId="0"/>
      <p:bldP spid="19" grpId="0"/>
      <p:bldP spid="20" grpId="0"/>
      <p:bldP spid="31" grpId="0"/>
      <p:bldP spid="32" grpId="0"/>
      <p:bldP spid="33" grpId="0"/>
      <p:bldP spid="39" grpId="0"/>
      <p:bldP spid="40" grpId="0"/>
      <p:bldP spid="41" grpId="0"/>
      <p:bldP spid="47" grpId="0"/>
      <p:bldP spid="48" grpId="0"/>
      <p:bldP spid="49" grpId="0"/>
      <p:bldP spid="55" grpId="0"/>
      <p:bldP spid="56" grpId="0"/>
      <p:bldP spid="57" grpId="0"/>
      <p:bldP spid="63" grpId="0"/>
      <p:bldP spid="64" grpId="0"/>
      <p:bldP spid="65" grpId="0"/>
      <p:bldP spid="71" grpId="0"/>
      <p:bldP spid="72" grpId="0"/>
      <p:bldP spid="73" grpId="0"/>
      <p:bldP spid="79" grpId="0"/>
      <p:bldP spid="80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gourmand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" name="Shape 6"/>
          <p:cNvSpPr/>
          <p:nvPr/>
        </p:nvSpPr>
        <p:spPr>
          <a:xfrm rot="840000">
            <a:off x="1581981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58506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3356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1" name="Shape 9"/>
          <p:cNvSpPr/>
          <p:nvPr/>
        </p:nvSpPr>
        <p:spPr>
          <a:xfrm>
            <a:off x="1647960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3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757166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11770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66373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7" name="bld1_1719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18" name="bld1_1720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721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20" name="bld1_1722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723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22" name="bld1_1724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725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5" name="Shape 23"/>
          <p:cNvSpPr/>
          <p:nvPr/>
        </p:nvSpPr>
        <p:spPr>
          <a:xfrm>
            <a:off x="3436316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48662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52014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9" name="bld2_1727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800" dirty="0"/>
          </a:p>
        </p:txBody>
      </p:sp>
      <p:sp>
        <p:nvSpPr>
          <p:cNvPr id="30" name="bld2_1728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729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</a:t>
            </a:r>
            <a:endParaRPr lang="en-US" sz="1100" dirty="0"/>
          </a:p>
        </p:txBody>
      </p:sp>
      <p:sp>
        <p:nvSpPr>
          <p:cNvPr id="32" name="bld2_1730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731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and sweetens</a:t>
            </a:r>
            <a:endParaRPr lang="en-US" sz="1100" dirty="0"/>
          </a:p>
        </p:txBody>
      </p:sp>
      <p:sp>
        <p:nvSpPr>
          <p:cNvPr id="34" name="bld2_1732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733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powdery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79366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82718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1" name="bld3_1735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800" dirty="0"/>
          </a:p>
        </p:txBody>
      </p:sp>
      <p:sp>
        <p:nvSpPr>
          <p:cNvPr id="42" name="bld3_1736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737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</a:t>
            </a:r>
            <a:endParaRPr lang="en-US" sz="1100" dirty="0"/>
          </a:p>
        </p:txBody>
      </p:sp>
      <p:sp>
        <p:nvSpPr>
          <p:cNvPr id="44" name="bld3_1738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739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gourmand lift</a:t>
            </a:r>
            <a:endParaRPr lang="en-US" sz="1100" dirty="0"/>
          </a:p>
        </p:txBody>
      </p:sp>
      <p:sp>
        <p:nvSpPr>
          <p:cNvPr id="46" name="bld3_1740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741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medium-long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510070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3422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3" name="bld4_1743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800" dirty="0"/>
          </a:p>
        </p:txBody>
      </p:sp>
      <p:sp>
        <p:nvSpPr>
          <p:cNvPr id="54" name="bld4_1744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745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 almond</a:t>
            </a:r>
            <a:endParaRPr lang="en-US" sz="1100" dirty="0"/>
          </a:p>
        </p:txBody>
      </p:sp>
      <p:sp>
        <p:nvSpPr>
          <p:cNvPr id="56" name="bld4_1746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747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soft, cosmetic-powder facet</a:t>
            </a:r>
            <a:endParaRPr lang="en-US" sz="1100" dirty="0"/>
          </a:p>
        </p:txBody>
      </p:sp>
      <p:sp>
        <p:nvSpPr>
          <p:cNvPr id="58" name="bld4_1748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749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61" name="trans_fade_1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a formula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your formula.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SINGLE MATERIALS</a:t>
            </a:r>
            <a:endParaRPr lang="en-US" sz="1100" dirty="0"/>
          </a:p>
        </p:txBody>
      </p:sp>
      <p:sp>
        <p:nvSpPr>
          <p:cNvPr id="10" name="trans_fade_1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&amp; SPECIALITIES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base actually is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8567085" y="2102734"/>
            <a:ext cx="1961245" cy="1961245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41659" y="2377308"/>
            <a:ext cx="1412097" cy="1412097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233908" y="2769558"/>
            <a:ext cx="627599" cy="6275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character and use — never confidential internal compositions.</a:t>
            </a:r>
            <a:endParaRPr lang="en-US" sz="1050" dirty="0"/>
          </a:p>
        </p:txBody>
      </p:sp>
      <p:sp>
        <p:nvSpPr>
          <p:cNvPr id="16" name="bld1_175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75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pre-composed mixture that acts like a raw material</a:t>
            </a:r>
            <a:endParaRPr lang="en-US" sz="1650" dirty="0"/>
          </a:p>
        </p:txBody>
      </p:sp>
      <p:sp>
        <p:nvSpPr>
          <p:cNvPr id="18" name="bld1_175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is built in advance to deliver a floral, woody, amber, musk or other effect — and can be dropped into a formula and treated much like one complex ingredient.</a:t>
            </a:r>
            <a:endParaRPr lang="en-US" sz="1250" dirty="0"/>
          </a:p>
        </p:txBody>
      </p:sp>
      <p:sp>
        <p:nvSpPr>
          <p:cNvPr id="19" name="bld2_175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2_175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perfumers reach for one</a:t>
            </a:r>
            <a:endParaRPr lang="en-US" sz="1650" dirty="0"/>
          </a:p>
        </p:txBody>
      </p:sp>
      <p:sp>
        <p:nvSpPr>
          <p:cNvPr id="21" name="bld2_175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Speed, consistency, complexity, structure and polish — plus reconstructing notes that are genuinely difficult to build from single materials alone.</a:t>
            </a:r>
            <a:endParaRPr lang="en-US" sz="1250" dirty="0"/>
          </a:p>
        </p:txBody>
      </p:sp>
      <p:sp>
        <p:nvSpPr>
          <p:cNvPr id="22" name="bld3_175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175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finished perfume</a:t>
            </a:r>
            <a:endParaRPr lang="en-US" sz="1650" dirty="0"/>
          </a:p>
        </p:txBody>
      </p:sp>
      <p:sp>
        <p:nvSpPr>
          <p:cNvPr id="24" name="bld3_175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base doesn't mean the work is finished — it's a highly capable starting point, extended and modified like any other material.</a:t>
            </a:r>
            <a:endParaRPr lang="en-US" sz="1250" dirty="0"/>
          </a:p>
        </p:txBody>
      </p:sp>
      <p:sp>
        <p:nvSpPr>
          <p:cNvPr id="26" name="trans_fade_1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BASES · A NAMED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Givco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783080" y="2331720"/>
            <a:ext cx="2651760" cy="265176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2850413" y="2615140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325478" y="2960294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144019" y="3518766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556808" y="3518766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375349" y="2960294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860755" y="3409395"/>
            <a:ext cx="496409" cy="49640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3080" y="2331720"/>
            <a:ext cx="2651760" cy="2651760"/>
          </a:xfrm>
          <a:prstGeom prst="ellipse">
            <a:avLst/>
          </a:prstGeom>
          <a:ln w="41148">
            <a:solidFill>
              <a:srgbClr val="C79B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52120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8C3B49">
              <a:alpha val="12000"/>
            </a:srgbClr>
          </a:solidFill>
          <a:ln w="12700">
            <a:solidFill>
              <a:srgbClr val="8C3B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68880" y="52120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</a:t>
            </a:r>
            <a:endParaRPr lang="en-US" sz="850" dirty="0"/>
          </a:p>
        </p:txBody>
      </p:sp>
      <p:sp>
        <p:nvSpPr>
          <p:cNvPr id="17" name="bld1_1759"/>
          <p:cNvSpPr txBox="1"/>
          <p:nvPr/>
        </p:nvSpPr>
        <p:spPr>
          <a:xfrm>
            <a:off x="5394960" y="1783080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000" dirty="0"/>
          </a:p>
        </p:txBody>
      </p:sp>
      <p:sp>
        <p:nvSpPr>
          <p:cNvPr id="18" name="bld1_1760"/>
          <p:cNvSpPr txBox="1"/>
          <p:nvPr/>
        </p:nvSpPr>
        <p:spPr>
          <a:xfrm>
            <a:off x="5394960" y="2002536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commercial rose base / speciality — a ready-built rosy floral character, more complex than any single rose chemical used alone.</a:t>
            </a:r>
            <a:endParaRPr lang="en-US" sz="1200" dirty="0"/>
          </a:p>
        </p:txBody>
      </p:sp>
      <p:sp>
        <p:nvSpPr>
          <p:cNvPr id="19" name="bld2_1761"/>
          <p:cNvSpPr txBox="1"/>
          <p:nvPr/>
        </p:nvSpPr>
        <p:spPr>
          <a:xfrm>
            <a:off x="5394960" y="2734056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</a:t>
            </a:r>
            <a:endParaRPr lang="en-US" sz="1000" dirty="0"/>
          </a:p>
        </p:txBody>
      </p:sp>
      <p:sp>
        <p:nvSpPr>
          <p:cNvPr id="20" name="bld2_1762"/>
          <p:cNvSpPr txBox="1"/>
          <p:nvPr/>
        </p:nvSpPr>
        <p:spPr>
          <a:xfrm>
            <a:off x="5394960" y="2953512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Constructing rose effects quickly, and as part of a larger floral structure — not a finished perfume by itself.</a:t>
            </a:r>
            <a:endParaRPr lang="en-US" sz="1200" dirty="0"/>
          </a:p>
        </p:txBody>
      </p:sp>
      <p:sp>
        <p:nvSpPr>
          <p:cNvPr id="21" name="bld3_1763"/>
          <p:cNvSpPr txBox="1"/>
          <p:nvPr/>
        </p:nvSpPr>
        <p:spPr>
          <a:xfrm>
            <a:off x="5394960" y="3685032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ROLE</a:t>
            </a:r>
            <a:endParaRPr lang="en-US" sz="1000" dirty="0"/>
          </a:p>
        </p:txBody>
      </p:sp>
      <p:sp>
        <p:nvSpPr>
          <p:cNvPr id="22" name="bld3_1764"/>
          <p:cNvSpPr txBox="1"/>
          <p:nvPr/>
        </p:nvSpPr>
        <p:spPr>
          <a:xfrm>
            <a:off x="5394960" y="3904488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support or replace parts of a hand-built rose accord, depending on how much of the formula's rose character it's asked to carry.</a:t>
            </a:r>
            <a:endParaRPr lang="en-US" sz="1200" dirty="0"/>
          </a:p>
        </p:txBody>
      </p:sp>
      <p:sp>
        <p:nvSpPr>
          <p:cNvPr id="23" name="bld4_1765"/>
          <p:cNvSpPr txBox="1"/>
          <p:nvPr/>
        </p:nvSpPr>
        <p:spPr>
          <a:xfrm>
            <a:off x="5394960" y="4636008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REMEMBERING</a:t>
            </a:r>
            <a:endParaRPr lang="en-US" sz="1000" dirty="0"/>
          </a:p>
        </p:txBody>
      </p:sp>
      <p:sp>
        <p:nvSpPr>
          <p:cNvPr id="24" name="bld4_1766"/>
          <p:cNvSpPr txBox="1"/>
          <p:nvPr/>
        </p:nvSpPr>
        <p:spPr>
          <a:xfrm>
            <a:off x="5394960" y="4855464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Rose Givco does not automatically make the final fragrance a finished rose perfume — it's a starting body, not the destination.</a:t>
            </a:r>
            <a:endParaRPr lang="en-US" sz="1200" dirty="0"/>
          </a:p>
        </p:txBody>
      </p:sp>
      <p:sp>
        <p:nvSpPr>
          <p:cNvPr id="26" name="trans_fade_1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SKILL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rose base could be modified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996787" y="3113791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265444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162827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830748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728130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02636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1768"/>
          <p:cNvSpPr txBox="1"/>
          <p:nvPr/>
        </p:nvSpPr>
        <p:spPr>
          <a:xfrm>
            <a:off x="3845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Givco</a:t>
            </a:r>
            <a:endParaRPr lang="en-US" sz="1250" dirty="0"/>
          </a:p>
        </p:txBody>
      </p:sp>
      <p:sp>
        <p:nvSpPr>
          <p:cNvPr id="16" name="bld2_1769"/>
          <p:cNvSpPr txBox="1"/>
          <p:nvPr/>
        </p:nvSpPr>
        <p:spPr>
          <a:xfrm>
            <a:off x="1938528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 rot="10800000">
            <a:off x="3537545" y="3118470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4400000">
            <a:off x="3790792" y="3264682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8000000">
            <a:off x="3790792" y="3557107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37545" y="3703320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3600000">
            <a:off x="3284297" y="3557107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7200000">
            <a:off x="3284297" y="3264682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79060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5" name="Shape 23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6" name="bld2_1771"/>
          <p:cNvSpPr txBox="1"/>
          <p:nvPr/>
        </p:nvSpPr>
        <p:spPr>
          <a:xfrm>
            <a:off x="2480269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Hedione → more airy / diffusive</a:t>
            </a:r>
            <a:endParaRPr lang="en-US" sz="1250" dirty="0"/>
          </a:p>
        </p:txBody>
      </p:sp>
      <p:sp>
        <p:nvSpPr>
          <p:cNvPr id="27" name="bld3_1772"/>
          <p:cNvSpPr txBox="1"/>
          <p:nvPr/>
        </p:nvSpPr>
        <p:spPr>
          <a:xfrm>
            <a:off x="4414952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9" name="Shape 27"/>
          <p:cNvSpPr/>
          <p:nvPr/>
        </p:nvSpPr>
        <p:spPr>
          <a:xfrm rot="15300000">
            <a:off x="5699839" y="3475743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3050000">
            <a:off x="5809505" y="363987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5996423" y="370332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550000">
            <a:off x="6183341" y="363987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300000">
            <a:off x="6293007" y="3475743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5" name="bld3_1774"/>
          <p:cNvSpPr txBox="1"/>
          <p:nvPr/>
        </p:nvSpPr>
        <p:spPr>
          <a:xfrm>
            <a:off x="4956693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green materials → greener rose</a:t>
            </a:r>
            <a:endParaRPr lang="en-US" sz="1250" dirty="0"/>
          </a:p>
        </p:txBody>
      </p:sp>
      <p:sp>
        <p:nvSpPr>
          <p:cNvPr id="36" name="bld4_1775"/>
          <p:cNvSpPr txBox="1"/>
          <p:nvPr/>
        </p:nvSpPr>
        <p:spPr>
          <a:xfrm>
            <a:off x="6891376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7" name="Shape 35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8" name="Shape 36"/>
          <p:cNvSpPr/>
          <p:nvPr/>
        </p:nvSpPr>
        <p:spPr>
          <a:xfrm rot="18900000">
            <a:off x="8209664" y="3176955"/>
            <a:ext cx="725214" cy="1052730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566785" y="3352410"/>
            <a:ext cx="914" cy="643335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4_1777"/>
          <p:cNvSpPr txBox="1"/>
          <p:nvPr/>
        </p:nvSpPr>
        <p:spPr>
          <a:xfrm>
            <a:off x="7433116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patchouli → darker rose</a:t>
            </a:r>
            <a:endParaRPr lang="en-US" sz="1250" dirty="0"/>
          </a:p>
        </p:txBody>
      </p:sp>
      <p:sp>
        <p:nvSpPr>
          <p:cNvPr id="42" name="bld5_1778"/>
          <p:cNvSpPr txBox="1"/>
          <p:nvPr/>
        </p:nvSpPr>
        <p:spPr>
          <a:xfrm>
            <a:off x="9367799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3" name="Shape 41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10633" y="3340713"/>
            <a:ext cx="1076124" cy="72521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6" name="bld5_1780"/>
          <p:cNvSpPr txBox="1"/>
          <p:nvPr/>
        </p:nvSpPr>
        <p:spPr>
          <a:xfrm>
            <a:off x="9909540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musks → cleaner, modern rose</a:t>
            </a:r>
            <a:endParaRPr lang="en-US" sz="1250" dirty="0"/>
          </a:p>
        </p:txBody>
      </p:sp>
      <p:sp>
        <p:nvSpPr>
          <p:cNvPr id="48" name="trans_push_l_1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26" grpId="0"/>
      <p:bldP spid="27" grpId="0"/>
      <p:bldP spid="35" grpId="0"/>
      <p:bldP spid="36" grpId="0"/>
      <p:bldP spid="41" grpId="0"/>
      <p:bldP spid="42" grpId="0"/>
      <p:bldP spid="46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base types worth knowing</a:t>
            </a:r>
            <a:endParaRPr lang="en-US" sz="3200" dirty="0"/>
          </a:p>
        </p:txBody>
      </p:sp>
      <p:sp>
        <p:nvSpPr>
          <p:cNvPr id="7" name="bld1_1781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783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bases</a:t>
            </a:r>
            <a:endParaRPr lang="en-US" sz="1450" dirty="0"/>
          </a:p>
        </p:txBody>
      </p:sp>
      <p:sp>
        <p:nvSpPr>
          <p:cNvPr id="18" name="bld1_1784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indolic, heady florals — major houses each keep proprietary jasmine specialities.</a:t>
            </a:r>
            <a:endParaRPr lang="en-US" sz="1080" dirty="0"/>
          </a:p>
        </p:txBody>
      </p:sp>
      <p:sp>
        <p:nvSpPr>
          <p:cNvPr id="19" name="bld2_1785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787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Muguet bases</a:t>
            </a:r>
            <a:endParaRPr lang="en-US" sz="1450" dirty="0"/>
          </a:p>
        </p:txBody>
      </p:sp>
      <p:sp>
        <p:nvSpPr>
          <p:cNvPr id="32" name="bld2_1788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Lily-of-the-valley — always synthetic, since muguet yields no usable natural extract.</a:t>
            </a:r>
            <a:endParaRPr lang="en-US" sz="1080" dirty="0"/>
          </a:p>
        </p:txBody>
      </p:sp>
      <p:sp>
        <p:nvSpPr>
          <p:cNvPr id="33" name="bld3_1789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42498" y="1992580"/>
            <a:ext cx="106700" cy="106700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flipV="1">
            <a:off x="5912783" y="2045930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5958474" y="2045930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6031513" y="2045930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5848" y="2045930"/>
            <a:ext cx="9144" cy="356473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5848" y="2045930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95848" y="2045930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95848" y="2045930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44" name="bld3_1791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Orris / violet bases</a:t>
            </a:r>
            <a:endParaRPr lang="en-US" sz="1450" dirty="0"/>
          </a:p>
        </p:txBody>
      </p:sp>
      <p:sp>
        <p:nvSpPr>
          <p:cNvPr id="45" name="bld3_1792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cool, carroty-woody — built around one of perfumery's costliest naturals.</a:t>
            </a:r>
            <a:endParaRPr lang="en-US" sz="1080" dirty="0"/>
          </a:p>
        </p:txBody>
      </p:sp>
      <p:sp>
        <p:nvSpPr>
          <p:cNvPr id="46" name="bld4_1793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123438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44688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33683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1" name="Shape 4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2" name="bld4_1795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 bases</a:t>
            </a:r>
            <a:endParaRPr lang="en-US" sz="1450" dirty="0"/>
          </a:p>
        </p:txBody>
      </p:sp>
      <p:sp>
        <p:nvSpPr>
          <p:cNvPr id="53" name="bld4_1796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 wood, blended from naturals and woody synthetics.</a:t>
            </a:r>
            <a:endParaRPr lang="en-US" sz="1080" dirty="0"/>
          </a:p>
        </p:txBody>
      </p:sp>
      <p:sp>
        <p:nvSpPr>
          <p:cNvPr id="54" name="bld5_1797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 rot="9000000">
            <a:off x="10514777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000000">
            <a:off x="10451727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1400000">
            <a:off x="10650576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0" name="bld5_1799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bases</a:t>
            </a:r>
            <a:endParaRPr lang="en-US" sz="1450" dirty="0"/>
          </a:p>
        </p:txBody>
      </p:sp>
      <p:sp>
        <p:nvSpPr>
          <p:cNvPr id="61" name="bld5_1800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labdanum-led warmth, or a modern woody-amber build.</a:t>
            </a:r>
            <a:endParaRPr lang="en-US" sz="1080" dirty="0"/>
          </a:p>
        </p:txBody>
      </p:sp>
      <p:sp>
        <p:nvSpPr>
          <p:cNvPr id="62" name="bld6_1801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64" name="Shape 62"/>
          <p:cNvSpPr/>
          <p:nvPr/>
        </p:nvSpPr>
        <p:spPr>
          <a:xfrm>
            <a:off x="1332570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66" name="bld6_1803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bases</a:t>
            </a:r>
            <a:endParaRPr lang="en-US" sz="1450" dirty="0"/>
          </a:p>
        </p:txBody>
      </p:sp>
      <p:sp>
        <p:nvSpPr>
          <p:cNvPr id="67" name="bld6_1804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skin-layer of a formula — clean, soft or animalic depending on the blend.</a:t>
            </a:r>
            <a:endParaRPr lang="en-US" sz="1080" dirty="0"/>
          </a:p>
        </p:txBody>
      </p:sp>
      <p:sp>
        <p:nvSpPr>
          <p:cNvPr id="68" name="bld7_1805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70" name="Shape 68"/>
          <p:cNvSpPr/>
          <p:nvPr/>
        </p:nvSpPr>
        <p:spPr>
          <a:xfrm>
            <a:off x="358325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64514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3620126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3620126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364514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6" name="bld7_1807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bases</a:t>
            </a:r>
            <a:endParaRPr lang="en-US" sz="1450" dirty="0"/>
          </a:p>
        </p:txBody>
      </p:sp>
      <p:sp>
        <p:nvSpPr>
          <p:cNvPr id="77" name="bld7_1808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clean, or smoky leather texture — built for effect, not literal realism.</a:t>
            </a:r>
            <a:endParaRPr lang="en-US" sz="1080" dirty="0"/>
          </a:p>
        </p:txBody>
      </p:sp>
      <p:sp>
        <p:nvSpPr>
          <p:cNvPr id="78" name="bld8_1809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0" name="Shape 78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84" name="bld8_1811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 bases</a:t>
            </a:r>
            <a:endParaRPr lang="en-US" sz="1450" dirty="0"/>
          </a:p>
        </p:txBody>
      </p:sp>
      <p:sp>
        <p:nvSpPr>
          <p:cNvPr id="85" name="bld8_1812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Convincing tropical or stone-fruit character, built from stacked fruity esters and lactones.</a:t>
            </a:r>
            <a:endParaRPr lang="en-US" sz="1080" dirty="0"/>
          </a:p>
        </p:txBody>
      </p:sp>
      <p:sp>
        <p:nvSpPr>
          <p:cNvPr id="86" name="bld9_1813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8" name="Shape 86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191338" y="4405082"/>
            <a:ext cx="349198" cy="349198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8288337" y="4502081"/>
            <a:ext cx="155199" cy="1551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92" name="bld9_1815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Proprietary</a:t>
            </a:r>
            <a:endParaRPr lang="en-US" sz="1450" dirty="0"/>
          </a:p>
        </p:txBody>
      </p:sp>
      <p:sp>
        <p:nvSpPr>
          <p:cNvPr id="93" name="bld9_1816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Givaudan, Firmenich, IFF, Symrise and Robertet each maintain their own bases across these categories.</a:t>
            </a:r>
            <a:endParaRPr lang="en-US" sz="1080" dirty="0"/>
          </a:p>
        </p:txBody>
      </p:sp>
      <p:sp>
        <p:nvSpPr>
          <p:cNvPr id="95" name="trans_fade_1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6" name="Text 9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  <p:sp>
        <p:nvSpPr>
          <p:cNvPr id="97" name="Text 9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4" grpId="0"/>
      <p:bldP spid="45" grpId="0"/>
      <p:bldP spid="46" grpId="0"/>
      <p:bldP spid="52" grpId="0"/>
      <p:bldP spid="53" grpId="0"/>
      <p:bldP spid="54" grpId="0"/>
      <p:bldP spid="60" grpId="0"/>
      <p:bldP spid="61" grpId="0"/>
      <p:bldP spid="62" grpId="0"/>
      <p:bldP spid="66" grpId="0"/>
      <p:bldP spid="67" grpId="0"/>
      <p:bldP spid="68" grpId="0"/>
      <p:bldP spid="76" grpId="0"/>
      <p:bldP spid="77" grpId="0"/>
      <p:bldP spid="78" grpId="0"/>
      <p:bldP spid="84" grpId="0"/>
      <p:bldP spid="85" grpId="0"/>
      <p:bldP spid="86" grpId="0"/>
      <p:bldP spid="92" grpId="0"/>
      <p:bldP spid="9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0" name="Shape 8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321" y="1448113"/>
            <a:ext cx="5059053" cy="5059053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2835" y="3764627"/>
            <a:ext cx="426026" cy="4260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0942" y="3292005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9138" y="3957670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40942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3947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8282" y="3158872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6" name="trans_fade_10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7" name="bld1_1817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2278415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238342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238342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78415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217341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217341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4165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7" name="bld1_1819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820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19" name="bld2_1821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901848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5950348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98848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47348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8" name="bld2_1823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29" name="bld2_1824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30" name="bld3_1825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6" name="bld3_1827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37" name="bld3_1828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38" name="bld4_1829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42" name="bld4_1831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43" name="bld4_1832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44" name="bld5_1833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8729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1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43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4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6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51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72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94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07159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9" name="Shape 5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0" name="bld5_1835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1" name="bld5_1836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62" name="bld6_1837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4" name="Shape 62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047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8017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8" name="bld6_1839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69" name="bld6_1840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71" name="trans_fade_1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2" name="Text 6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  <p:sp>
        <p:nvSpPr>
          <p:cNvPr id="73" name="Text 7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28" grpId="0"/>
      <p:bldP spid="29" grpId="0"/>
      <p:bldP spid="30" grpId="0"/>
      <p:bldP spid="36" grpId="0"/>
      <p:bldP spid="37" grpId="0"/>
      <p:bldP spid="38" grpId="0"/>
      <p:bldP spid="42" grpId="0"/>
      <p:bldP spid="43" grpId="0"/>
      <p:bldP spid="44" grpId="0"/>
      <p:bldP spid="60" grpId="0"/>
      <p:bldP spid="61" grpId="0"/>
      <p:bldP spid="62" grpId="0"/>
      <p:bldP spid="68" grpId="0"/>
      <p:bldP spid="69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10" name="trans_fade_1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8726" y="2010766"/>
            <a:ext cx="2836469" cy="2836469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47278" y="2209318"/>
            <a:ext cx="2439363" cy="243936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" name="Shape 5"/>
          <p:cNvSpPr/>
          <p:nvPr/>
        </p:nvSpPr>
        <p:spPr>
          <a:xfrm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1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4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94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825137" y="3287177"/>
            <a:ext cx="283647" cy="28364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30 materials, then the next 30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by family, not by impulse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starter-perfumer checklist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30" name="trans_fade_1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10" name="trans_fade_1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WOODS, AMBER &amp; MUSK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part 1</a:t>
            </a:r>
            <a:endParaRPr lang="en-US" sz="3200" dirty="0"/>
          </a:p>
        </p:txBody>
      </p:sp>
      <p:sp>
        <p:nvSpPr>
          <p:cNvPr id="7" name="bld1_1841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61670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10169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458669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1507169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6" name="bld1_1843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7" name="bld1_1844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Woody. Nearly impossible to overdose — the safest material to practice with.</a:t>
            </a:r>
            <a:endParaRPr lang="en-US" sz="1080" dirty="0"/>
          </a:p>
        </p:txBody>
      </p:sp>
      <p:sp>
        <p:nvSpPr>
          <p:cNvPr id="18" name="bld2_1845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58325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664092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2" name="Shape 20"/>
          <p:cNvSpPr/>
          <p:nvPr/>
        </p:nvSpPr>
        <p:spPr>
          <a:xfrm>
            <a:off x="3744925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9665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5" name="bld2_1847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6" name="bld2_1848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Woody. An affordable natural that teaches real wood character early.</a:t>
            </a:r>
            <a:endParaRPr lang="en-US" sz="1080" dirty="0"/>
          </a:p>
        </p:txBody>
      </p:sp>
      <p:sp>
        <p:nvSpPr>
          <p:cNvPr id="27" name="bld3_1849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0" name="Shape 28"/>
          <p:cNvSpPr/>
          <p:nvPr/>
        </p:nvSpPr>
        <p:spPr>
          <a:xfrm>
            <a:off x="5974598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2" name="Shape 3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3" name="bld3_1851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450" dirty="0"/>
          </a:p>
        </p:txBody>
      </p:sp>
      <p:sp>
        <p:nvSpPr>
          <p:cNvPr id="34" name="bld3_1852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Woody. The reference point for creamy, smooth wood.</a:t>
            </a:r>
            <a:endParaRPr lang="en-US" sz="1080" dirty="0"/>
          </a:p>
        </p:txBody>
      </p:sp>
      <p:sp>
        <p:nvSpPr>
          <p:cNvPr id="35" name="bld4_1853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7" name="Shape 35"/>
          <p:cNvSpPr/>
          <p:nvPr/>
        </p:nvSpPr>
        <p:spPr>
          <a:xfrm rot="9000000">
            <a:off x="824468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6000000">
            <a:off x="818163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1400000">
            <a:off x="8380487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1" name="bld4_1855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450" dirty="0"/>
          </a:p>
        </p:txBody>
      </p:sp>
      <p:sp>
        <p:nvSpPr>
          <p:cNvPr id="42" name="bld4_1856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Amber. Huge effect at a tiny dose — the single most important modern base material.</a:t>
            </a:r>
            <a:endParaRPr lang="en-US" sz="1080" dirty="0"/>
          </a:p>
        </p:txBody>
      </p:sp>
      <p:sp>
        <p:nvSpPr>
          <p:cNvPr id="43" name="bld5_1857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5" name="Shape 43"/>
          <p:cNvSpPr/>
          <p:nvPr/>
        </p:nvSpPr>
        <p:spPr>
          <a:xfrm rot="9000000">
            <a:off x="10514777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000000">
            <a:off x="10451727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1400000">
            <a:off x="10650576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9" name="bld5_1859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50" name="bld5_1860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Amber. The natural amber backbone — teaches fixation and warmth.</a:t>
            </a:r>
            <a:endParaRPr lang="en-US" sz="1080" dirty="0"/>
          </a:p>
        </p:txBody>
      </p:sp>
      <p:sp>
        <p:nvSpPr>
          <p:cNvPr id="51" name="bld6_1861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332570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55" name="bld6_1863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56" name="bld6_1864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Musk. The cheapest way to learn what a clean base musk actually does.</a:t>
            </a:r>
            <a:endParaRPr lang="en-US" sz="1080" dirty="0"/>
          </a:p>
        </p:txBody>
      </p:sp>
      <p:sp>
        <p:nvSpPr>
          <p:cNvPr id="57" name="bld7_1865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59" name="Shape 57"/>
          <p:cNvSpPr/>
          <p:nvPr/>
        </p:nvSpPr>
        <p:spPr>
          <a:xfrm>
            <a:off x="3602659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61" name="bld7_1867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62" name="bld7_1868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Musk. A modern, more metallic musk to compare directly against Galaxolide.</a:t>
            </a:r>
            <a:endParaRPr lang="en-US" sz="1080" dirty="0"/>
          </a:p>
        </p:txBody>
      </p:sp>
      <p:sp>
        <p:nvSpPr>
          <p:cNvPr id="64" name="trans_fade_1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  <p:sp>
        <p:nvSpPr>
          <p:cNvPr id="66" name="Text 6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5" grpId="0"/>
      <p:bldP spid="26" grpId="0"/>
      <p:bldP spid="27" grpId="0"/>
      <p:bldP spid="33" grpId="0"/>
      <p:bldP spid="34" grpId="0"/>
      <p:bldP spid="35" grpId="0"/>
      <p:bldP spid="41" grpId="0"/>
      <p:bldP spid="42" grpId="0"/>
      <p:bldP spid="43" grpId="0"/>
      <p:bldP spid="49" grpId="0"/>
      <p:bldP spid="50" grpId="0"/>
      <p:bldP spid="51" grpId="0"/>
      <p:bldP spid="55" grpId="0"/>
      <p:bldP spid="56" grpId="0"/>
      <p:bldP spid="57" grpId="0"/>
      <p:bldP spid="61" grpId="0"/>
      <p:bldP spid="62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FLORAL, CITRUS, GREEN &amp; GOURMAND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part 2</a:t>
            </a:r>
            <a:endParaRPr lang="en-US" sz="3200" dirty="0"/>
          </a:p>
        </p:txBody>
      </p:sp>
      <p:sp>
        <p:nvSpPr>
          <p:cNvPr id="7" name="bld1_1869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805480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910485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910485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05480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700475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700475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781230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871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872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Floral. Teaches diffusion and radiance — a genuinely formula-changing material.</a:t>
            </a:r>
            <a:endParaRPr lang="en-US" sz="1080" dirty="0"/>
          </a:p>
        </p:txBody>
      </p:sp>
      <p:sp>
        <p:nvSpPr>
          <p:cNvPr id="19" name="bld2_1873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40667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469252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4713999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469252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4640667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4588814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456733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4588814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38242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875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32" name="bld2_1876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Floral. Gentle, forgiving, very hard to overdose — a safe floral-fresh starting point.</a:t>
            </a:r>
            <a:endParaRPr lang="en-US" sz="1080" dirty="0"/>
          </a:p>
        </p:txBody>
      </p:sp>
      <p:sp>
        <p:nvSpPr>
          <p:cNvPr id="33" name="bld3_1877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5" name="Shape 3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06104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7" name="Shape 35"/>
          <p:cNvSpPr/>
          <p:nvPr/>
        </p:nvSpPr>
        <p:spPr>
          <a:xfrm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216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432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648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64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080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296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512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728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9440000">
            <a:off x="7502529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490404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9" name="bld3_1879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50" name="bld3_1880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Citrus. The classic opening lift — every beginner formula needs a citrus reference.</a:t>
            </a:r>
            <a:endParaRPr lang="en-US" sz="1080" dirty="0"/>
          </a:p>
        </p:txBody>
      </p:sp>
      <p:sp>
        <p:nvSpPr>
          <p:cNvPr id="51" name="bld4_1881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3" name="Shape 5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1437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216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432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48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64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080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512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728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9440000">
            <a:off x="103401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03280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6" name="Shape 6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7" name="bld4_1883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8" name="bld4_1884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Fresh. Explosive citrus-aromatic lift — teaches what "fresh" synthetics do.</a:t>
            </a:r>
            <a:endParaRPr lang="en-US" sz="1080" dirty="0"/>
          </a:p>
        </p:txBody>
      </p:sp>
      <p:sp>
        <p:nvSpPr>
          <p:cNvPr id="69" name="bld5_1885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71" name="Shape 69"/>
          <p:cNvSpPr/>
          <p:nvPr/>
        </p:nvSpPr>
        <p:spPr>
          <a:xfrm rot="15300000">
            <a:off x="16752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3050000">
            <a:off x="17207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0800000">
            <a:off x="17982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8550000">
            <a:off x="18757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6300000">
            <a:off x="19211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7" name="bld5_1887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450" dirty="0"/>
          </a:p>
        </p:txBody>
      </p:sp>
      <p:sp>
        <p:nvSpPr>
          <p:cNvPr id="78" name="bld5_1888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Green. The exact smell of cut grass — dose tiny, it teaches restraint fast.</a:t>
            </a:r>
            <a:endParaRPr lang="en-US" sz="1080" dirty="0"/>
          </a:p>
        </p:txBody>
      </p:sp>
      <p:sp>
        <p:nvSpPr>
          <p:cNvPr id="79" name="bld6_1889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1" name="Shape 79"/>
          <p:cNvSpPr/>
          <p:nvPr/>
        </p:nvSpPr>
        <p:spPr>
          <a:xfrm rot="840000">
            <a:off x="4618842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840000">
            <a:off x="4671555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622479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9939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4657399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4674859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4692319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8" name="Shape 86"/>
          <p:cNvSpPr/>
          <p:nvPr/>
        </p:nvSpPr>
        <p:spPr>
          <a:xfrm>
            <a:off x="4709779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9" name="Shape 87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0" name="bld6_1891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91" name="bld6_1892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Gourmand. Warm, cheap and endlessly useful — the most-used gourmand material.</a:t>
            </a:r>
            <a:endParaRPr lang="en-US" sz="1080" dirty="0"/>
          </a:p>
        </p:txBody>
      </p:sp>
      <p:sp>
        <p:nvSpPr>
          <p:cNvPr id="92" name="bld7_1893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4" name="Shape 92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7340054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7437054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98" name="bld7_1895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99" name="bld7_1896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Gourmand. Instant candy-sweet lift — teaches how little you actually need.</a:t>
            </a:r>
            <a:endParaRPr lang="en-US" sz="1080" dirty="0"/>
          </a:p>
        </p:txBody>
      </p:sp>
      <p:sp>
        <p:nvSpPr>
          <p:cNvPr id="100" name="bld8_1897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1" name="Shape 99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109766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10177666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274666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106" name="bld8_1899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107" name="bld8_1900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Gourmand. Sweet hay warmth — a fougère and gourmand cornerstone.</a:t>
            </a:r>
            <a:endParaRPr lang="en-US" sz="1080" dirty="0"/>
          </a:p>
        </p:txBody>
      </p:sp>
      <p:sp>
        <p:nvSpPr>
          <p:cNvPr id="109" name="trans_fade_1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0" name="Text 10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  <p:sp>
        <p:nvSpPr>
          <p:cNvPr id="111" name="Text 10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9" grpId="0"/>
      <p:bldP spid="50" grpId="0"/>
      <p:bldP spid="51" grpId="0"/>
      <p:bldP spid="67" grpId="0"/>
      <p:bldP spid="68" grpId="0"/>
      <p:bldP spid="69" grpId="0"/>
      <p:bldP spid="77" grpId="0"/>
      <p:bldP spid="78" grpId="0"/>
      <p:bldP spid="79" grpId="0"/>
      <p:bldP spid="90" grpId="0"/>
      <p:bldP spid="91" grpId="0"/>
      <p:bldP spid="92" grpId="0"/>
      <p:bldP spid="98" grpId="0"/>
      <p:bldP spid="99" grpId="0"/>
      <p:bldP spid="100" grpId="0"/>
      <p:bldP spid="106" grpId="0"/>
      <p:bldP spid="107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30, A to Z</a:t>
            </a:r>
            <a:endParaRPr lang="en-US" sz="3200" dirty="0"/>
          </a:p>
        </p:txBody>
      </p:sp>
      <p:sp>
        <p:nvSpPr>
          <p:cNvPr id="7" name="bld1_1901"/>
          <p:cNvSpPr txBox="1"/>
          <p:nvPr/>
        </p:nvSpPr>
        <p:spPr>
          <a:xfrm>
            <a:off x="548640" y="21671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F</a:t>
            </a:r>
            <a:endParaRPr lang="en-US" sz="1250" dirty="0"/>
          </a:p>
        </p:txBody>
      </p:sp>
      <p:sp>
        <p:nvSpPr>
          <p:cNvPr id="8" name="bld1_1902"/>
          <p:cNvSpPr/>
          <p:nvPr/>
        </p:nvSpPr>
        <p:spPr>
          <a:xfrm>
            <a:off x="548640" y="26243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903"/>
          <p:cNvSpPr txBox="1"/>
          <p:nvPr/>
        </p:nvSpPr>
        <p:spPr>
          <a:xfrm>
            <a:off x="841248" y="25603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0" name="bld1_1904"/>
          <p:cNvSpPr/>
          <p:nvPr/>
        </p:nvSpPr>
        <p:spPr>
          <a:xfrm>
            <a:off x="548640" y="30815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905"/>
          <p:cNvSpPr txBox="1"/>
          <p:nvPr/>
        </p:nvSpPr>
        <p:spPr>
          <a:xfrm>
            <a:off x="841248" y="30175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12" name="bld1_1906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907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</a:t>
            </a:r>
            <a:endParaRPr lang="en-US" sz="1200" dirty="0"/>
          </a:p>
        </p:txBody>
      </p:sp>
      <p:sp>
        <p:nvSpPr>
          <p:cNvPr id="14" name="bld1_1908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5" name="bld1_1909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16" name="bld1_1910"/>
          <p:cNvSpPr/>
          <p:nvPr/>
        </p:nvSpPr>
        <p:spPr>
          <a:xfrm>
            <a:off x="548640" y="44531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7" name="bld1_1911"/>
          <p:cNvSpPr txBox="1"/>
          <p:nvPr/>
        </p:nvSpPr>
        <p:spPr>
          <a:xfrm>
            <a:off x="841248" y="43891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18" name="bld1_1912"/>
          <p:cNvSpPr/>
          <p:nvPr/>
        </p:nvSpPr>
        <p:spPr>
          <a:xfrm>
            <a:off x="548640" y="49103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9" name="bld1_1913"/>
          <p:cNvSpPr txBox="1"/>
          <p:nvPr/>
        </p:nvSpPr>
        <p:spPr>
          <a:xfrm>
            <a:off x="841248" y="48463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20" name="bld1_1914"/>
          <p:cNvSpPr/>
          <p:nvPr/>
        </p:nvSpPr>
        <p:spPr>
          <a:xfrm>
            <a:off x="548640" y="53675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21" name="bld1_1915"/>
          <p:cNvSpPr txBox="1"/>
          <p:nvPr/>
        </p:nvSpPr>
        <p:spPr>
          <a:xfrm>
            <a:off x="841248" y="53035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22" name="bld2_1916"/>
          <p:cNvSpPr txBox="1"/>
          <p:nvPr/>
        </p:nvSpPr>
        <p:spPr>
          <a:xfrm>
            <a:off x="4353458" y="21671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– L</a:t>
            </a:r>
            <a:endParaRPr lang="en-US" sz="1250" dirty="0"/>
          </a:p>
        </p:txBody>
      </p:sp>
      <p:sp>
        <p:nvSpPr>
          <p:cNvPr id="23" name="bld2_1917"/>
          <p:cNvSpPr/>
          <p:nvPr/>
        </p:nvSpPr>
        <p:spPr>
          <a:xfrm>
            <a:off x="4353458" y="26243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4" name="bld2_1918"/>
          <p:cNvSpPr txBox="1"/>
          <p:nvPr/>
        </p:nvSpPr>
        <p:spPr>
          <a:xfrm>
            <a:off x="4646066" y="25603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25" name="bld2_1919"/>
          <p:cNvSpPr/>
          <p:nvPr/>
        </p:nvSpPr>
        <p:spPr>
          <a:xfrm>
            <a:off x="4353458" y="30815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6" name="bld2_1920"/>
          <p:cNvSpPr txBox="1"/>
          <p:nvPr/>
        </p:nvSpPr>
        <p:spPr>
          <a:xfrm>
            <a:off x="4646066" y="30175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27" name="bld2_1921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8" name="bld2_1922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9" name="bld2_1923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0" name="bld2_1924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31" name="bld2_1925"/>
          <p:cNvSpPr/>
          <p:nvPr/>
        </p:nvSpPr>
        <p:spPr>
          <a:xfrm>
            <a:off x="4353458" y="44531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2" name="bld2_1926"/>
          <p:cNvSpPr txBox="1"/>
          <p:nvPr/>
        </p:nvSpPr>
        <p:spPr>
          <a:xfrm>
            <a:off x="4646066" y="43891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33" name="bld2_1927"/>
          <p:cNvSpPr/>
          <p:nvPr/>
        </p:nvSpPr>
        <p:spPr>
          <a:xfrm>
            <a:off x="4353458" y="49103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34" name="bld2_1928"/>
          <p:cNvSpPr txBox="1"/>
          <p:nvPr/>
        </p:nvSpPr>
        <p:spPr>
          <a:xfrm>
            <a:off x="4646066" y="48463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35" name="bld3_1929"/>
          <p:cNvSpPr txBox="1"/>
          <p:nvPr/>
        </p:nvSpPr>
        <p:spPr>
          <a:xfrm>
            <a:off x="8158277" y="21671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– V</a:t>
            </a:r>
            <a:endParaRPr lang="en-US" sz="1250" dirty="0"/>
          </a:p>
        </p:txBody>
      </p:sp>
      <p:sp>
        <p:nvSpPr>
          <p:cNvPr id="36" name="bld3_1930"/>
          <p:cNvSpPr/>
          <p:nvPr/>
        </p:nvSpPr>
        <p:spPr>
          <a:xfrm>
            <a:off x="8158277" y="26243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7" name="bld3_1931"/>
          <p:cNvSpPr txBox="1"/>
          <p:nvPr/>
        </p:nvSpPr>
        <p:spPr>
          <a:xfrm>
            <a:off x="8450885" y="25603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</a:t>
            </a:r>
            <a:endParaRPr lang="en-US" sz="1200" dirty="0"/>
          </a:p>
        </p:txBody>
      </p:sp>
      <p:sp>
        <p:nvSpPr>
          <p:cNvPr id="38" name="bld3_1932"/>
          <p:cNvSpPr/>
          <p:nvPr/>
        </p:nvSpPr>
        <p:spPr>
          <a:xfrm>
            <a:off x="8158277" y="30815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9" name="bld3_1933"/>
          <p:cNvSpPr txBox="1"/>
          <p:nvPr/>
        </p:nvSpPr>
        <p:spPr>
          <a:xfrm>
            <a:off x="8450885" y="30175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41" name="trans_fade_1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7" name="bld1_1934"/>
          <p:cNvSpPr txBox="1"/>
          <p:nvPr/>
        </p:nvSpPr>
        <p:spPr>
          <a:xfrm>
            <a:off x="548640" y="2898648"/>
            <a:ext cx="19628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</a:t>
            </a:r>
            <a:endParaRPr lang="en-US" sz="1250" dirty="0"/>
          </a:p>
        </p:txBody>
      </p:sp>
      <p:sp>
        <p:nvSpPr>
          <p:cNvPr id="8" name="bld1_1935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936"/>
          <p:cNvSpPr txBox="1"/>
          <p:nvPr/>
        </p:nvSpPr>
        <p:spPr>
          <a:xfrm>
            <a:off x="841248" y="32918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10" name="bld1_1937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938"/>
          <p:cNvSpPr txBox="1"/>
          <p:nvPr/>
        </p:nvSpPr>
        <p:spPr>
          <a:xfrm>
            <a:off x="841248" y="37490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2" name="bld1_1939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940"/>
          <p:cNvSpPr txBox="1"/>
          <p:nvPr/>
        </p:nvSpPr>
        <p:spPr>
          <a:xfrm>
            <a:off x="841248" y="42062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4" name="bld2_1941"/>
          <p:cNvSpPr txBox="1"/>
          <p:nvPr/>
        </p:nvSpPr>
        <p:spPr>
          <a:xfrm>
            <a:off x="2831531" y="2898648"/>
            <a:ext cx="19628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</a:t>
            </a:r>
            <a:endParaRPr lang="en-US" sz="1250" dirty="0"/>
          </a:p>
        </p:txBody>
      </p:sp>
      <p:sp>
        <p:nvSpPr>
          <p:cNvPr id="15" name="bld2_1942"/>
          <p:cNvSpPr/>
          <p:nvPr/>
        </p:nvSpPr>
        <p:spPr>
          <a:xfrm>
            <a:off x="2831531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bld2_1943"/>
          <p:cNvSpPr txBox="1"/>
          <p:nvPr/>
        </p:nvSpPr>
        <p:spPr>
          <a:xfrm>
            <a:off x="3124139" y="32918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7" name="bld3_1944"/>
          <p:cNvSpPr txBox="1"/>
          <p:nvPr/>
        </p:nvSpPr>
        <p:spPr>
          <a:xfrm>
            <a:off x="5114422" y="2898648"/>
            <a:ext cx="19628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250" dirty="0"/>
          </a:p>
        </p:txBody>
      </p:sp>
      <p:sp>
        <p:nvSpPr>
          <p:cNvPr id="18" name="bld3_1945"/>
          <p:cNvSpPr/>
          <p:nvPr/>
        </p:nvSpPr>
        <p:spPr>
          <a:xfrm>
            <a:off x="5114422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8C3B49"/>
            </a:solidFill>
            <a:prstDash val="solid"/>
          </a:ln>
        </p:spPr>
      </p:sp>
      <p:sp>
        <p:nvSpPr>
          <p:cNvPr id="19" name="bld3_1946"/>
          <p:cNvSpPr txBox="1"/>
          <p:nvPr/>
        </p:nvSpPr>
        <p:spPr>
          <a:xfrm>
            <a:off x="5407030" y="32918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20" name="bld3_1947"/>
          <p:cNvSpPr/>
          <p:nvPr/>
        </p:nvSpPr>
        <p:spPr>
          <a:xfrm>
            <a:off x="5114422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8C3B49"/>
            </a:solidFill>
            <a:prstDash val="solid"/>
          </a:ln>
        </p:spPr>
      </p:sp>
      <p:sp>
        <p:nvSpPr>
          <p:cNvPr id="21" name="bld3_1948"/>
          <p:cNvSpPr txBox="1"/>
          <p:nvPr/>
        </p:nvSpPr>
        <p:spPr>
          <a:xfrm>
            <a:off x="5407030" y="37490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22" name="bld4_1949"/>
          <p:cNvSpPr txBox="1"/>
          <p:nvPr/>
        </p:nvSpPr>
        <p:spPr>
          <a:xfrm>
            <a:off x="7397313" y="2898648"/>
            <a:ext cx="19628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3" name="bld4_1950"/>
          <p:cNvSpPr/>
          <p:nvPr/>
        </p:nvSpPr>
        <p:spPr>
          <a:xfrm>
            <a:off x="7397313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4" name="bld4_1951"/>
          <p:cNvSpPr txBox="1"/>
          <p:nvPr/>
        </p:nvSpPr>
        <p:spPr>
          <a:xfrm>
            <a:off x="7689921" y="32918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5" name="bld4_1952"/>
          <p:cNvSpPr/>
          <p:nvPr/>
        </p:nvSpPr>
        <p:spPr>
          <a:xfrm>
            <a:off x="7397313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6" name="bld4_1953"/>
          <p:cNvSpPr txBox="1"/>
          <p:nvPr/>
        </p:nvSpPr>
        <p:spPr>
          <a:xfrm>
            <a:off x="7689921" y="37490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7" name="bld4_1954"/>
          <p:cNvSpPr/>
          <p:nvPr/>
        </p:nvSpPr>
        <p:spPr>
          <a:xfrm>
            <a:off x="7397313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8" name="bld4_1955"/>
          <p:cNvSpPr txBox="1"/>
          <p:nvPr/>
        </p:nvSpPr>
        <p:spPr>
          <a:xfrm>
            <a:off x="7689921" y="42062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9" name="bld5_1956"/>
          <p:cNvSpPr txBox="1"/>
          <p:nvPr/>
        </p:nvSpPr>
        <p:spPr>
          <a:xfrm>
            <a:off x="9680204" y="2898648"/>
            <a:ext cx="19628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30" name="bld5_1957"/>
          <p:cNvSpPr/>
          <p:nvPr/>
        </p:nvSpPr>
        <p:spPr>
          <a:xfrm>
            <a:off x="9680204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1" name="bld5_1958"/>
          <p:cNvSpPr txBox="1"/>
          <p:nvPr/>
        </p:nvSpPr>
        <p:spPr>
          <a:xfrm>
            <a:off x="9972812" y="32918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32" name="bld5_1959"/>
          <p:cNvSpPr/>
          <p:nvPr/>
        </p:nvSpPr>
        <p:spPr>
          <a:xfrm>
            <a:off x="9680204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3" name="bld5_1960"/>
          <p:cNvSpPr txBox="1"/>
          <p:nvPr/>
        </p:nvSpPr>
        <p:spPr>
          <a:xfrm>
            <a:off x="9972812" y="37490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Heliotropin</a:t>
            </a:r>
            <a:endParaRPr lang="en-US" sz="1200" dirty="0"/>
          </a:p>
        </p:txBody>
      </p:sp>
      <p:sp>
        <p:nvSpPr>
          <p:cNvPr id="34" name="bld5_1961"/>
          <p:cNvSpPr/>
          <p:nvPr/>
        </p:nvSpPr>
        <p:spPr>
          <a:xfrm>
            <a:off x="9680204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5" name="bld5_1962"/>
          <p:cNvSpPr txBox="1"/>
          <p:nvPr/>
        </p:nvSpPr>
        <p:spPr>
          <a:xfrm>
            <a:off x="9972812" y="4206240"/>
            <a:ext cx="16428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7" name="trans_fade_1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7" name="bld1_1963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4003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4836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1965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5" name="bld1_1966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16" name="bld2_1967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360265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969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1" name="bld2_1970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22" name="bld3_1971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8" name="bld3_1973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29" name="bld3_1974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30" name="bld4_1975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977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40" name="bld4_1978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41" name="bld5_1979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981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58" name="bld5_1982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59" name="bld6_1983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56820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985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986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67" name="bld7_1987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6155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707031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8453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2036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0750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1989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1990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77" name="bld8_1991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9" name="Shape 77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84" name="bld8_1993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85" name="bld8_1994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86" name="bld9_1995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8" name="Shape 86"/>
          <p:cNvSpPr/>
          <p:nvPr/>
        </p:nvSpPr>
        <p:spPr>
          <a:xfrm rot="840000">
            <a:off x="8307737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40000">
            <a:off x="836045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137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1" name="Shape 89"/>
          <p:cNvSpPr/>
          <p:nvPr/>
        </p:nvSpPr>
        <p:spPr>
          <a:xfrm>
            <a:off x="832883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2" name="Shape 90"/>
          <p:cNvSpPr/>
          <p:nvPr/>
        </p:nvSpPr>
        <p:spPr>
          <a:xfrm>
            <a:off x="834629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3" name="Shape 91"/>
          <p:cNvSpPr/>
          <p:nvPr/>
        </p:nvSpPr>
        <p:spPr>
          <a:xfrm>
            <a:off x="836375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4" name="Shape 92"/>
          <p:cNvSpPr/>
          <p:nvPr/>
        </p:nvSpPr>
        <p:spPr>
          <a:xfrm>
            <a:off x="8381214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5" name="Shape 93"/>
          <p:cNvSpPr/>
          <p:nvPr/>
        </p:nvSpPr>
        <p:spPr>
          <a:xfrm>
            <a:off x="8398674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7" name="bld9_1997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98" name="bld9_1998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99" name="bld10_1999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1" name="Shape 99"/>
          <p:cNvSpPr/>
          <p:nvPr/>
        </p:nvSpPr>
        <p:spPr>
          <a:xfrm rot="9000000">
            <a:off x="10514777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6000000">
            <a:off x="10451727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11400000">
            <a:off x="10650576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05" name="bld10_2001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106" name="bld10_2002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108" name="trans_fade_1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9" name="Text 10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  <p:sp>
        <p:nvSpPr>
          <p:cNvPr id="110" name="Text 10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4" grpId="0"/>
      <p:bldP spid="85" grpId="0"/>
      <p:bldP spid="86" grpId="0"/>
      <p:bldP spid="97" grpId="0"/>
      <p:bldP spid="98" grpId="0"/>
      <p:bldP spid="99" grpId="0"/>
      <p:bldP spid="105" grpId="0"/>
      <p:bldP spid="106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6" name="bld1_200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1_200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8" name="bld1_200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9" name="bld2_200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200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21" name="bld2_200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22" name="bld3_200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201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4" name="bld3_201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6" name="trans_fade_1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7" name="bld1_2012"/>
          <p:cNvSpPr txBox="1"/>
          <p:nvPr/>
        </p:nvSpPr>
        <p:spPr>
          <a:xfrm>
            <a:off x="548640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8" name="bld1_2013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2014"/>
          <p:cNvSpPr txBox="1"/>
          <p:nvPr/>
        </p:nvSpPr>
        <p:spPr>
          <a:xfrm>
            <a:off x="841248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10" name="bld1_2015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2016"/>
          <p:cNvSpPr txBox="1"/>
          <p:nvPr/>
        </p:nvSpPr>
        <p:spPr>
          <a:xfrm>
            <a:off x="841248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2" name="bld1_2017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2018"/>
          <p:cNvSpPr txBox="1"/>
          <p:nvPr/>
        </p:nvSpPr>
        <p:spPr>
          <a:xfrm>
            <a:off x="841248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4" name="bld2_2019"/>
          <p:cNvSpPr txBox="1"/>
          <p:nvPr/>
        </p:nvSpPr>
        <p:spPr>
          <a:xfrm>
            <a:off x="4353458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5" name="bld2_2020"/>
          <p:cNvSpPr/>
          <p:nvPr/>
        </p:nvSpPr>
        <p:spPr>
          <a:xfrm>
            <a:off x="435345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2021"/>
          <p:cNvSpPr txBox="1"/>
          <p:nvPr/>
        </p:nvSpPr>
        <p:spPr>
          <a:xfrm>
            <a:off x="4646066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7" name="bld2_2022"/>
          <p:cNvSpPr/>
          <p:nvPr/>
        </p:nvSpPr>
        <p:spPr>
          <a:xfrm>
            <a:off x="435345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2023"/>
          <p:cNvSpPr txBox="1"/>
          <p:nvPr/>
        </p:nvSpPr>
        <p:spPr>
          <a:xfrm>
            <a:off x="4646066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pipettes</a:t>
            </a:r>
            <a:endParaRPr lang="en-US" sz="1200" dirty="0"/>
          </a:p>
        </p:txBody>
      </p:sp>
      <p:sp>
        <p:nvSpPr>
          <p:cNvPr id="19" name="bld2_2024"/>
          <p:cNvSpPr/>
          <p:nvPr/>
        </p:nvSpPr>
        <p:spPr>
          <a:xfrm>
            <a:off x="435345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2025"/>
          <p:cNvSpPr txBox="1"/>
          <p:nvPr/>
        </p:nvSpPr>
        <p:spPr>
          <a:xfrm>
            <a:off x="4646066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21" name="bld3_2026"/>
          <p:cNvSpPr txBox="1"/>
          <p:nvPr/>
        </p:nvSpPr>
        <p:spPr>
          <a:xfrm>
            <a:off x="8158277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2" name="bld3_2027"/>
          <p:cNvSpPr/>
          <p:nvPr/>
        </p:nvSpPr>
        <p:spPr>
          <a:xfrm>
            <a:off x="8158277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2028"/>
          <p:cNvSpPr txBox="1"/>
          <p:nvPr/>
        </p:nvSpPr>
        <p:spPr>
          <a:xfrm>
            <a:off x="8450885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4" name="bld3_2029"/>
          <p:cNvSpPr/>
          <p:nvPr/>
        </p:nvSpPr>
        <p:spPr>
          <a:xfrm>
            <a:off x="8158277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2030"/>
          <p:cNvSpPr txBox="1"/>
          <p:nvPr/>
        </p:nvSpPr>
        <p:spPr>
          <a:xfrm>
            <a:off x="8450885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6" name="bld3_2031"/>
          <p:cNvSpPr/>
          <p:nvPr/>
        </p:nvSpPr>
        <p:spPr>
          <a:xfrm>
            <a:off x="8158277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2032"/>
          <p:cNvSpPr txBox="1"/>
          <p:nvPr/>
        </p:nvSpPr>
        <p:spPr>
          <a:xfrm>
            <a:off x="8450885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9" name="trans_fade_1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10" name="trans_fade_1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 at 10%, 1% and 0.1%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Diluting liquids vs. solids, step by step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label a dilution so it's never a mystery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0" name="trans_fade_1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7" name="bld1_203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03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03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bld1_203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11" name="bld2_203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03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03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4" name="bld2_204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5" name="bld3_204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04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04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8" name="bld3_204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9" name="bld4_204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04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04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2" name="bld4_204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3" name="bld5_204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05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205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6" name="bld5_205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7" name="bld6_205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05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205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30" name="bld6_205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2" name="trans_fade_1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057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058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2059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24" name="bld1_2060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25" name="bld2_2061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062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2063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28" name="bld2_2064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29" name="bld3_2065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066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067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32" name="bld3_2068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33" name="bld4_2069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070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071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36" name="bld4_2072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37" name="bld5_2073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2074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2075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40" name="bld5_2076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42" name="trans_fade_1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QUESTION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"Eau de Parfum" actually mean?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9439928" y="2340853"/>
            <a:ext cx="215559" cy="171544"/>
          </a:xfrm>
          <a:prstGeom prst="roundRect">
            <a:avLst>
              <a:gd name="adj" fmla="val 21322"/>
            </a:avLst>
          </a:prstGeom>
          <a:solidFill>
            <a:srgbClr val="0E0D0B"/>
          </a:solidFill>
          <a:ln/>
        </p:spPr>
      </p:sp>
      <p:sp>
        <p:nvSpPr>
          <p:cNvPr id="12" name="Shape 10"/>
          <p:cNvSpPr/>
          <p:nvPr/>
        </p:nvSpPr>
        <p:spPr>
          <a:xfrm>
            <a:off x="9453986" y="2512397"/>
            <a:ext cx="187443" cy="274470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12988" y="2786867"/>
            <a:ext cx="669438" cy="1269423"/>
          </a:xfrm>
          <a:prstGeom prst="roundRect">
            <a:avLst>
              <a:gd name="adj" fmla="val 1639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49564" y="3358107"/>
            <a:ext cx="596286" cy="661606"/>
          </a:xfrm>
          <a:prstGeom prst="roundRect">
            <a:avLst>
              <a:gd name="adj" fmla="val 15335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"EDP" is a useful shorthand, not a precise specification.</a:t>
            </a:r>
            <a:endParaRPr lang="en-US" sz="1050" dirty="0"/>
          </a:p>
        </p:txBody>
      </p:sp>
      <p:sp>
        <p:nvSpPr>
          <p:cNvPr id="17" name="bld1_207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1_207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~20% is commonly associated with EDP</a:t>
            </a:r>
            <a:endParaRPr lang="en-US" sz="1650" dirty="0"/>
          </a:p>
        </p:txBody>
      </p:sp>
      <p:sp>
        <p:nvSpPr>
          <p:cNvPr id="19" name="bld1_207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rough, widely-used reference point, Eau de Parfum concentrate sits around 20% of the finished bottle.</a:t>
            </a:r>
            <a:endParaRPr lang="en-US" sz="1250" dirty="0"/>
          </a:p>
        </p:txBody>
      </p:sp>
      <p:sp>
        <p:nvSpPr>
          <p:cNvPr id="20" name="bld2_208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2_208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there's no single fixed rule</a:t>
            </a:r>
            <a:endParaRPr lang="en-US" sz="1650" dirty="0"/>
          </a:p>
        </p:txBody>
      </p:sp>
      <p:sp>
        <p:nvSpPr>
          <p:cNvPr id="22" name="bld2_208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terminology (EDT, EDP, extrait, and so on) is not governed by one universal, legally fixed percentage — usage varies by brand and region.</a:t>
            </a:r>
            <a:endParaRPr lang="en-US" sz="1250" dirty="0"/>
          </a:p>
        </p:txBody>
      </p:sp>
      <p:sp>
        <p:nvSpPr>
          <p:cNvPr id="23" name="bld3_208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208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strength is what matters, not the label</a:t>
            </a:r>
            <a:endParaRPr lang="en-US" sz="1650" dirty="0"/>
          </a:p>
        </p:txBody>
      </p:sp>
      <p:sp>
        <p:nvSpPr>
          <p:cNvPr id="25" name="bld3_208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 actual concentrate percentage in your formula rather than chasing a specific category name.</a:t>
            </a:r>
            <a:endParaRPr lang="en-US" sz="1250" dirty="0"/>
          </a:p>
        </p:txBody>
      </p:sp>
      <p:sp>
        <p:nvSpPr>
          <p:cNvPr id="27" name="trans_fade_1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material to labelled bottle</a:t>
            </a:r>
            <a:endParaRPr lang="en-US" sz="3200" dirty="0"/>
          </a:p>
        </p:txBody>
      </p:sp>
      <p:sp>
        <p:nvSpPr>
          <p:cNvPr id="7" name="bld1_2086"/>
          <p:cNvSpPr txBox="1"/>
          <p:nvPr/>
        </p:nvSpPr>
        <p:spPr>
          <a:xfrm>
            <a:off x="2112264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511150" y="3117190"/>
            <a:ext cx="1355141" cy="1355141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06009" y="3212049"/>
            <a:ext cx="1165421" cy="116542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0963" y="3727003"/>
            <a:ext cx="135514" cy="13551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2088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</a:t>
            </a:r>
            <a:endParaRPr lang="en-US" sz="1400" dirty="0"/>
          </a:p>
        </p:txBody>
      </p:sp>
      <p:sp>
        <p:nvSpPr>
          <p:cNvPr id="24" name="bld1_2089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 you're diluting</a:t>
            </a:r>
            <a:endParaRPr lang="en-US" sz="1050" dirty="0"/>
          </a:p>
        </p:txBody>
      </p:sp>
      <p:sp>
        <p:nvSpPr>
          <p:cNvPr id="25" name="bld2_2090"/>
          <p:cNvSpPr txBox="1"/>
          <p:nvPr/>
        </p:nvSpPr>
        <p:spPr>
          <a:xfrm>
            <a:off x="5383682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782568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31633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1633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1633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2" name="bld2_2092"/>
          <p:cNvSpPr txBox="1"/>
          <p:nvPr/>
        </p:nvSpPr>
        <p:spPr>
          <a:xfrm>
            <a:off x="350001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00" dirty="0"/>
          </a:p>
        </p:txBody>
      </p:sp>
      <p:sp>
        <p:nvSpPr>
          <p:cNvPr id="33" name="bld2_2093"/>
          <p:cNvSpPr txBox="1"/>
          <p:nvPr/>
        </p:nvSpPr>
        <p:spPr>
          <a:xfrm>
            <a:off x="350001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Ethanol, DPG or similar</a:t>
            </a:r>
            <a:endParaRPr lang="en-US" sz="1050" dirty="0"/>
          </a:p>
        </p:txBody>
      </p:sp>
      <p:sp>
        <p:nvSpPr>
          <p:cNvPr id="34" name="bld3_2094"/>
          <p:cNvSpPr txBox="1"/>
          <p:nvPr/>
        </p:nvSpPr>
        <p:spPr>
          <a:xfrm>
            <a:off x="8655101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7053986" y="3117190"/>
            <a:ext cx="1355141" cy="1355141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43706" y="3306909"/>
            <a:ext cx="975701" cy="975701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14734" y="3577937"/>
            <a:ext cx="433645" cy="433645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0" name="bld3_2096"/>
          <p:cNvSpPr txBox="1"/>
          <p:nvPr/>
        </p:nvSpPr>
        <p:spPr>
          <a:xfrm>
            <a:off x="6771437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dilution</a:t>
            </a:r>
            <a:endParaRPr lang="en-US" sz="1400" dirty="0"/>
          </a:p>
        </p:txBody>
      </p:sp>
      <p:sp>
        <p:nvSpPr>
          <p:cNvPr id="41" name="bld3_2097"/>
          <p:cNvSpPr txBox="1"/>
          <p:nvPr/>
        </p:nvSpPr>
        <p:spPr>
          <a:xfrm>
            <a:off x="6771437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Weighed, combined, stirred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33158" y="3239152"/>
            <a:ext cx="139634" cy="111122"/>
          </a:xfrm>
          <a:prstGeom prst="roundRect">
            <a:avLst>
              <a:gd name="adj" fmla="val 32915"/>
            </a:avLst>
          </a:prstGeom>
          <a:solidFill>
            <a:srgbClr val="0E0D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42265" y="3350274"/>
            <a:ext cx="121421" cy="177794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86153" y="3528068"/>
            <a:ext cx="433645" cy="822299"/>
          </a:xfrm>
          <a:prstGeom prst="roundRect">
            <a:avLst>
              <a:gd name="adj" fmla="val 25304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22729" y="3898103"/>
            <a:ext cx="360493" cy="415689"/>
          </a:xfrm>
          <a:prstGeom prst="roundRect">
            <a:avLst>
              <a:gd name="adj" fmla="val 25365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8" name="bld4_2099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bottle</a:t>
            </a:r>
            <a:endParaRPr lang="en-US" sz="1400" dirty="0"/>
          </a:p>
        </p:txBody>
      </p:sp>
      <p:sp>
        <p:nvSpPr>
          <p:cNvPr id="49" name="bld4_2100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 (date optional)</a:t>
            </a:r>
            <a:endParaRPr lang="en-US" sz="1050" dirty="0"/>
          </a:p>
        </p:txBody>
      </p:sp>
      <p:sp>
        <p:nvSpPr>
          <p:cNvPr id="51" name="trans_push_l_1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2" grpId="0"/>
      <p:bldP spid="33" grpId="0"/>
      <p:bldP spid="34" grpId="0"/>
      <p:bldP spid="40" grpId="0"/>
      <p:bldP spid="41" grpId="0"/>
      <p:bldP spid="48" grpId="0"/>
      <p:bldP spid="49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8992021" y="2642885"/>
            <a:ext cx="1111372" cy="1111372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4" name="bld1_210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210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6" name="bld1_210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7" name="bld2_210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210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9" name="bld2_210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20" name="bld3_210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210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22" name="bld3_210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4" name="trans_fade_1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down to 1% and 0.1%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09569" y="2130003"/>
            <a:ext cx="1676278" cy="1676278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28638" y="2549073"/>
            <a:ext cx="838139" cy="838139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dilution is built from the one before it — a chain, not three separate weighings.</a:t>
            </a:r>
            <a:endParaRPr lang="en-US" sz="1050" dirty="0"/>
          </a:p>
        </p:txBody>
      </p:sp>
      <p:sp>
        <p:nvSpPr>
          <p:cNvPr id="14" name="bld1_21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21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straight from raw material</a:t>
            </a:r>
            <a:endParaRPr lang="en-US" sz="1650" dirty="0"/>
          </a:p>
        </p:txBody>
      </p:sp>
      <p:sp>
        <p:nvSpPr>
          <p:cNvPr id="16" name="bld1_211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0.1g material + 9.9g solvent = 10g total, and the material is 1% of that total.</a:t>
            </a:r>
            <a:endParaRPr lang="en-US" sz="1250" dirty="0"/>
          </a:p>
        </p:txBody>
      </p:sp>
      <p:sp>
        <p:nvSpPr>
          <p:cNvPr id="17" name="bld2_211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211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the easier way — from a 10% stock</a:t>
            </a:r>
            <a:endParaRPr lang="en-US" sz="1650" dirty="0"/>
          </a:p>
        </p:txBody>
      </p:sp>
      <p:sp>
        <p:nvSpPr>
          <p:cNvPr id="19" name="bld2_211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existing 10% stock + 9g solvent = 10g at 1%. No need to weigh a tiny 0.1g amount twice.</a:t>
            </a:r>
            <a:endParaRPr lang="en-US" sz="1250" dirty="0"/>
          </a:p>
        </p:txBody>
      </p:sp>
      <p:sp>
        <p:nvSpPr>
          <p:cNvPr id="20" name="bld3_211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211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0.1%, the same trick again</a:t>
            </a:r>
            <a:endParaRPr lang="en-US" sz="1650" dirty="0"/>
          </a:p>
        </p:txBody>
      </p:sp>
      <p:sp>
        <p:nvSpPr>
          <p:cNvPr id="22" name="bld3_211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1% stock + 9g solvent = 10g at 0.1%. Each stock becomes the starting point for the next.</a:t>
            </a:r>
            <a:endParaRPr lang="en-US" sz="1250" dirty="0"/>
          </a:p>
        </p:txBody>
      </p:sp>
      <p:sp>
        <p:nvSpPr>
          <p:cNvPr id="24" name="trans_fade_1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HOW LOW TO 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some materials need lower dilutions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11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12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12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potency</a:t>
            </a:r>
            <a:endParaRPr lang="en-US" sz="1450" dirty="0"/>
          </a:p>
        </p:txBody>
      </p:sp>
      <p:sp>
        <p:nvSpPr>
          <p:cNvPr id="24" name="bld1_2122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powerful that even 10% overwhelms a scent strip — 1% or lower reveals their real character.</a:t>
            </a:r>
            <a:endParaRPr lang="en-US" sz="1080" dirty="0"/>
          </a:p>
        </p:txBody>
      </p:sp>
      <p:sp>
        <p:nvSpPr>
          <p:cNvPr id="25" name="bld2_212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12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12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dosing in a formula</a:t>
            </a:r>
            <a:endParaRPr lang="en-US" sz="1450" dirty="0"/>
          </a:p>
        </p:txBody>
      </p:sp>
      <p:sp>
        <p:nvSpPr>
          <p:cNvPr id="28" name="bld2_2126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used at 0.05% of a formula needs a dilute stock — otherwise you simply can't weigh a small enough amount of the neat material.</a:t>
            </a:r>
            <a:endParaRPr lang="en-US" sz="1080" dirty="0"/>
          </a:p>
        </p:txBody>
      </p:sp>
      <p:sp>
        <p:nvSpPr>
          <p:cNvPr id="29" name="bld3_212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12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12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usage limits</a:t>
            </a:r>
            <a:endParaRPr lang="en-US" sz="1450" dirty="0"/>
          </a:p>
        </p:txBody>
      </p:sp>
      <p:sp>
        <p:nvSpPr>
          <p:cNvPr id="32" name="bld3_2130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and other guidelines cap some materials at very low percentages — a pre-made low dilution keeps you safely under the limit by default.</a:t>
            </a:r>
            <a:endParaRPr lang="en-US" sz="1080" dirty="0"/>
          </a:p>
        </p:txBody>
      </p:sp>
      <p:sp>
        <p:nvSpPr>
          <p:cNvPr id="34" name="trans_fade_1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7" name="bld1_2131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45695"/>
            <a:ext cx="335397" cy="14906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4117" y="3645695"/>
            <a:ext cx="335397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4117" y="3832026"/>
            <a:ext cx="335397" cy="29813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122" y="4130157"/>
            <a:ext cx="55899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5122" y="3794760"/>
            <a:ext cx="223598" cy="33539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8790" y="3608428"/>
            <a:ext cx="409930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094" y="3735134"/>
            <a:ext cx="119252" cy="11925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1261" y="3602838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6658" y="3789170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1261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265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5934" y="3565572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2133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00" dirty="0"/>
          </a:p>
        </p:txBody>
      </p:sp>
      <p:sp>
        <p:nvSpPr>
          <p:cNvPr id="23" name="bld1_2134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beaker or weighing vessel/paper</a:t>
            </a:r>
            <a:endParaRPr lang="en-US" sz="1050" dirty="0"/>
          </a:p>
        </p:txBody>
      </p:sp>
      <p:sp>
        <p:nvSpPr>
          <p:cNvPr id="24" name="bld2_2135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2964713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13779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13779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13779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1" name="bld2_2137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00" dirty="0"/>
          </a:p>
        </p:txBody>
      </p:sp>
      <p:sp>
        <p:nvSpPr>
          <p:cNvPr id="32" name="bld2_2138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calculated weight</a:t>
            </a:r>
            <a:endParaRPr lang="en-US" sz="1050" dirty="0"/>
          </a:p>
        </p:txBody>
      </p:sp>
      <p:sp>
        <p:nvSpPr>
          <p:cNvPr id="33" name="bld3_2139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100000">
            <a:off x="5757062" y="3455975"/>
            <a:ext cx="677570" cy="677570"/>
          </a:xfrm>
          <a:prstGeom prst="teardrop">
            <a:avLst/>
          </a:prstGeom>
          <a:solidFill>
            <a:srgbClr val="8A5A2E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7" name="bld3_2141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00" dirty="0"/>
          </a:p>
        </p:txBody>
      </p:sp>
      <p:sp>
        <p:nvSpPr>
          <p:cNvPr id="38" name="bld3_2142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needed</a:t>
            </a:r>
            <a:endParaRPr lang="en-US" sz="1050" dirty="0"/>
          </a:p>
        </p:txBody>
      </p:sp>
      <p:sp>
        <p:nvSpPr>
          <p:cNvPr id="39" name="bld4_2143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10626" y="3455975"/>
            <a:ext cx="677570" cy="677570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3" name="bld4_2145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00" dirty="0"/>
          </a:p>
        </p:txBody>
      </p:sp>
      <p:sp>
        <p:nvSpPr>
          <p:cNvPr id="44" name="bld4_2146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fully dissolved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25405" y="3117190"/>
            <a:ext cx="1355141" cy="1355141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98333" y="345597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428415" y="3681832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428415" y="3907688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98333" y="413354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2" name="bld5_2148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53" name="bld5_2149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 (date optional)</a:t>
            </a:r>
            <a:endParaRPr lang="en-US" sz="1050" dirty="0"/>
          </a:p>
        </p:txBody>
      </p:sp>
      <p:sp>
        <p:nvSpPr>
          <p:cNvPr id="55" name="trans_push_l_1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1" grpId="0"/>
      <p:bldP spid="32" grpId="0"/>
      <p:bldP spid="33" grpId="0"/>
      <p:bldP spid="37" grpId="0"/>
      <p:bldP spid="38" grpId="0"/>
      <p:bldP spid="39" grpId="0"/>
      <p:bldP spid="43" grpId="0"/>
      <p:bldP spid="44" grpId="0"/>
      <p:bldP spid="52" grpId="0"/>
      <p:bldP spid="53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40543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046956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150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15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2" name="bld1_2152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13" name="bld1_2153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14" name="bld2_2154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155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2156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7" name="bld2_2157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8" name="bld3_2158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159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160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21" name="bld3_2161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23" name="trans_fade_1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optional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 and solvent — every single bottle, no exceptions. Date is a nice-to-have, not a requirement.</a:t>
            </a:r>
            <a:endParaRPr lang="en-US" sz="1200" dirty="0"/>
          </a:p>
        </p:txBody>
      </p:sp>
      <p:sp>
        <p:nvSpPr>
          <p:cNvPr id="19" name="trans_fade_1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10" name="trans_fade_1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 strip across 48 real hours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record, every single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actually build lasting scent memory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19" name="trans_fade_1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162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2163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2164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2165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2" name="bld2_2166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2167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4" name="bld2_2168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bld2_2169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6" name="bld3_2170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2171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3_2172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9" name="bld3_2173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20" name="bld4_2174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4_2175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2" name="bld4_2176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3" name="bld4_2177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4" name="bld5_2178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179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180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181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18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18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184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185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4" name="trans_push_l_1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EVALUATION, EVERY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to ask when evaluating a material</a:t>
            </a:r>
            <a:endParaRPr lang="en-US" sz="3200" dirty="0"/>
          </a:p>
        </p:txBody>
      </p:sp>
      <p:sp>
        <p:nvSpPr>
          <p:cNvPr id="7" name="bld1_2186"/>
          <p:cNvSpPr txBox="1"/>
          <p:nvPr/>
        </p:nvSpPr>
        <p:spPr>
          <a:xfrm>
            <a:off x="548640" y="253288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MATERIAL</a:t>
            </a:r>
            <a:endParaRPr lang="en-US" sz="1250" dirty="0"/>
          </a:p>
        </p:txBody>
      </p:sp>
      <p:sp>
        <p:nvSpPr>
          <p:cNvPr id="8" name="bld1_2187"/>
          <p:cNvSpPr/>
          <p:nvPr/>
        </p:nvSpPr>
        <p:spPr>
          <a:xfrm>
            <a:off x="548640" y="29900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2188"/>
          <p:cNvSpPr txBox="1"/>
          <p:nvPr/>
        </p:nvSpPr>
        <p:spPr>
          <a:xfrm>
            <a:off x="841248" y="29260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first impression?</a:t>
            </a:r>
            <a:endParaRPr lang="en-US" sz="1200" dirty="0"/>
          </a:p>
        </p:txBody>
      </p:sp>
      <p:sp>
        <p:nvSpPr>
          <p:cNvPr id="10" name="bld1_2189"/>
          <p:cNvSpPr/>
          <p:nvPr/>
        </p:nvSpPr>
        <p:spPr>
          <a:xfrm>
            <a:off x="548640" y="34472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2190"/>
          <p:cNvSpPr txBox="1"/>
          <p:nvPr/>
        </p:nvSpPr>
        <p:spPr>
          <a:xfrm>
            <a:off x="841248" y="33832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olfactory family does it belong to?</a:t>
            </a:r>
            <a:endParaRPr lang="en-US" sz="1200" dirty="0"/>
          </a:p>
        </p:txBody>
      </p:sp>
      <p:sp>
        <p:nvSpPr>
          <p:cNvPr id="12" name="bld1_2191"/>
          <p:cNvSpPr/>
          <p:nvPr/>
        </p:nvSpPr>
        <p:spPr>
          <a:xfrm>
            <a:off x="548640" y="39044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2192"/>
          <p:cNvSpPr txBox="1"/>
          <p:nvPr/>
        </p:nvSpPr>
        <p:spPr>
          <a:xfrm>
            <a:off x="841248" y="38404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 is it?</a:t>
            </a:r>
            <a:endParaRPr lang="en-US" sz="1200" dirty="0"/>
          </a:p>
        </p:txBody>
      </p:sp>
      <p:sp>
        <p:nvSpPr>
          <p:cNvPr id="14" name="bld1_2193"/>
          <p:cNvSpPr/>
          <p:nvPr/>
        </p:nvSpPr>
        <p:spPr>
          <a:xfrm>
            <a:off x="548640" y="43616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5" name="bld1_2194"/>
          <p:cNvSpPr txBox="1"/>
          <p:nvPr/>
        </p:nvSpPr>
        <p:spPr>
          <a:xfrm>
            <a:off x="841248" y="42976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diffusive is it?</a:t>
            </a:r>
            <a:endParaRPr lang="en-US" sz="1200" dirty="0"/>
          </a:p>
        </p:txBody>
      </p:sp>
      <p:sp>
        <p:nvSpPr>
          <p:cNvPr id="16" name="bld2_2195"/>
          <p:cNvSpPr txBox="1"/>
          <p:nvPr/>
        </p:nvSpPr>
        <p:spPr>
          <a:xfrm>
            <a:off x="6255868" y="253288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ITS USE</a:t>
            </a:r>
            <a:endParaRPr lang="en-US" sz="1250" dirty="0"/>
          </a:p>
        </p:txBody>
      </p:sp>
      <p:sp>
        <p:nvSpPr>
          <p:cNvPr id="17" name="bld2_2196"/>
          <p:cNvSpPr/>
          <p:nvPr/>
        </p:nvSpPr>
        <p:spPr>
          <a:xfrm>
            <a:off x="6255868" y="29900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8" name="bld2_2197"/>
          <p:cNvSpPr txBox="1"/>
          <p:nvPr/>
        </p:nvSpPr>
        <p:spPr>
          <a:xfrm>
            <a:off x="6548476" y="29260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change over 15 min, 1 hour, several hours?</a:t>
            </a:r>
            <a:endParaRPr lang="en-US" sz="1200" dirty="0"/>
          </a:p>
        </p:txBody>
      </p:sp>
      <p:sp>
        <p:nvSpPr>
          <p:cNvPr id="19" name="bld2_2198"/>
          <p:cNvSpPr/>
          <p:nvPr/>
        </p:nvSpPr>
        <p:spPr>
          <a:xfrm>
            <a:off x="6255868" y="34472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0" name="bld2_2199"/>
          <p:cNvSpPr txBox="1"/>
          <p:nvPr/>
        </p:nvSpPr>
        <p:spPr>
          <a:xfrm>
            <a:off x="6548476" y="33832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remind you of another material?</a:t>
            </a:r>
            <a:endParaRPr lang="en-US" sz="1200" dirty="0"/>
          </a:p>
        </p:txBody>
      </p:sp>
      <p:sp>
        <p:nvSpPr>
          <p:cNvPr id="21" name="bld2_2200"/>
          <p:cNvSpPr/>
          <p:nvPr/>
        </p:nvSpPr>
        <p:spPr>
          <a:xfrm>
            <a:off x="6255868" y="39044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2" name="bld2_2201"/>
          <p:cNvSpPr txBox="1"/>
          <p:nvPr/>
        </p:nvSpPr>
        <p:spPr>
          <a:xfrm>
            <a:off x="6548476" y="38404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materials might it pair well with?</a:t>
            </a:r>
            <a:endParaRPr lang="en-US" sz="1200" dirty="0"/>
          </a:p>
        </p:txBody>
      </p:sp>
      <p:sp>
        <p:nvSpPr>
          <p:cNvPr id="23" name="bld2_2202"/>
          <p:cNvSpPr/>
          <p:nvPr/>
        </p:nvSpPr>
        <p:spPr>
          <a:xfrm>
            <a:off x="6255868" y="43616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4" name="bld2_2203"/>
          <p:cNvSpPr txBox="1"/>
          <p:nvPr/>
        </p:nvSpPr>
        <p:spPr>
          <a:xfrm>
            <a:off x="6548476" y="42976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Top, heart, base — or several stages at once?</a:t>
            </a:r>
            <a:endParaRPr lang="en-US" sz="1200" dirty="0"/>
          </a:p>
        </p:txBody>
      </p:sp>
      <p:sp>
        <p:nvSpPr>
          <p:cNvPr id="25" name="bld2_2204"/>
          <p:cNvSpPr/>
          <p:nvPr/>
        </p:nvSpPr>
        <p:spPr>
          <a:xfrm>
            <a:off x="6255868" y="481888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6" name="bld2_2205"/>
          <p:cNvSpPr txBox="1"/>
          <p:nvPr/>
        </p:nvSpPr>
        <p:spPr>
          <a:xfrm>
            <a:off x="6548476" y="475488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effect could it create in a formula?</a:t>
            </a:r>
            <a:endParaRPr lang="en-US" sz="1200" dirty="0"/>
          </a:p>
        </p:txBody>
      </p:sp>
      <p:sp>
        <p:nvSpPr>
          <p:cNvPr id="28" name="trans_fade_1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7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7" name="bld1_220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1_220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9" name="bld1_220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20" name="bld2_220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21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22" name="bld2_221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23" name="bld3_221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221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5" name="bld3_221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7" name="trans_fade_1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7" name="bld1_2215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1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217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0" name="bld1_2218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11" name="bld2_2219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220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221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4" name="bld2_2222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5" name="bld3_2223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224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225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2226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9" name="bld4_2227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228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229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2" name="bld4_2230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3" name="bld5_2231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23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233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6" name="bld5_2234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7" name="bld6_2235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236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237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30" name="bld6_2238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31" name="bld7_2239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240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241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4" name="bld7_2242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6" name="trans_fade_1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GAME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actually build scent memory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36118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4971743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4971743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204019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57566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15756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492528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083235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4918319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15059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522237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4871864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243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244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245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relatives</a:t>
            </a:r>
            <a:endParaRPr lang="en-US" sz="1450" dirty="0"/>
          </a:p>
        </p:txBody>
      </p:sp>
      <p:sp>
        <p:nvSpPr>
          <p:cNvPr id="24" name="bld1_2246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close relatives side by side — Ambroxan against Cetalox, or Galaxolide against Ambrettolide — the differences teach far more than either smelled alone.</a:t>
            </a:r>
            <a:endParaRPr lang="en-US" sz="1080" dirty="0"/>
          </a:p>
        </p:txBody>
      </p:sp>
      <p:sp>
        <p:nvSpPr>
          <p:cNvPr id="25" name="bld2_2247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248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249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monthly</a:t>
            </a:r>
            <a:endParaRPr lang="en-US" sz="1450" dirty="0"/>
          </a:p>
        </p:txBody>
      </p:sp>
      <p:sp>
        <p:nvSpPr>
          <p:cNvPr id="28" name="bld2_2250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Re-smell materials you "know" every few weeks. Memory fades faster than confidence does.</a:t>
            </a:r>
            <a:endParaRPr lang="en-US" sz="1080" dirty="0"/>
          </a:p>
        </p:txBody>
      </p:sp>
      <p:sp>
        <p:nvSpPr>
          <p:cNvPr id="29" name="bld3_2251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252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253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 opposites</a:t>
            </a:r>
            <a:endParaRPr lang="en-US" sz="1450" dirty="0"/>
          </a:p>
        </p:txBody>
      </p:sp>
      <p:sp>
        <p:nvSpPr>
          <p:cNvPr id="32" name="bld3_2254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two contrasting materials back to back — a sharp citrus against a soft musk sharpens perception of both.</a:t>
            </a:r>
            <a:endParaRPr lang="en-US" sz="1080" dirty="0"/>
          </a:p>
        </p:txBody>
      </p:sp>
      <p:sp>
        <p:nvSpPr>
          <p:cNvPr id="33" name="bld4_2255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256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257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associations</a:t>
            </a:r>
            <a:endParaRPr lang="en-US" sz="1450" dirty="0"/>
          </a:p>
        </p:txBody>
      </p:sp>
      <p:sp>
        <p:nvSpPr>
          <p:cNvPr id="36" name="bld4_2258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 smell to a vivid image or memory of your own — invented associations stick better than technical descriptions.</a:t>
            </a:r>
            <a:endParaRPr lang="en-US" sz="1080" dirty="0"/>
          </a:p>
        </p:txBody>
      </p:sp>
      <p:sp>
        <p:nvSpPr>
          <p:cNvPr id="38" name="trans_fade_1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RECORD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actually log your evaluations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44967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473725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4869984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002713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4869984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473725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225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226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26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software</a:t>
            </a:r>
            <a:endParaRPr lang="en-US" sz="1450" dirty="0"/>
          </a:p>
        </p:txBody>
      </p:sp>
      <p:sp>
        <p:nvSpPr>
          <p:cNvPr id="17" name="bld1_2262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dedicated perfumery software used throughout this course — built for exactly this.</a:t>
            </a:r>
            <a:endParaRPr lang="en-US" sz="1080" dirty="0"/>
          </a:p>
        </p:txBody>
      </p:sp>
      <p:sp>
        <p:nvSpPr>
          <p:cNvPr id="18" name="bld2_226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226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226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or Google Sheets</a:t>
            </a:r>
            <a:endParaRPr lang="en-US" sz="1450" dirty="0"/>
          </a:p>
        </p:txBody>
      </p:sp>
      <p:sp>
        <p:nvSpPr>
          <p:cNvPr id="21" name="bld2_2266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works perfectly well — searchable, backed up, and free.</a:t>
            </a:r>
            <a:endParaRPr lang="en-US" sz="1080" dirty="0"/>
          </a:p>
        </p:txBody>
      </p:sp>
      <p:sp>
        <p:nvSpPr>
          <p:cNvPr id="22" name="bld3_226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226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226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physical notebook</a:t>
            </a:r>
            <a:endParaRPr lang="en-US" sz="1450" dirty="0"/>
          </a:p>
        </p:txBody>
      </p:sp>
      <p:sp>
        <p:nvSpPr>
          <p:cNvPr id="25" name="bld3_2270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tactile. The trade-off is no easy search — fine if you're consistent about it.</a:t>
            </a:r>
            <a:endParaRPr lang="en-US" sz="1080" dirty="0"/>
          </a:p>
        </p:txBody>
      </p:sp>
      <p:sp>
        <p:nvSpPr>
          <p:cNvPr id="27" name="trans_fade_1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5" name="trans_fade_1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10" name="trans_fade_1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apple, amber and leather into facets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Jean Carles method, step by step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 until it reads true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19" name="trans_fade_1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839115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611544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rose, none of which smell like rose alone.</a:t>
            </a:r>
            <a:endParaRPr lang="en-US" sz="1050" dirty="0"/>
          </a:p>
        </p:txBody>
      </p:sp>
      <p:sp>
        <p:nvSpPr>
          <p:cNvPr id="17" name="bld1_227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1_227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 blend, not a mixture</a:t>
            </a:r>
            <a:endParaRPr lang="en-US" sz="1650" dirty="0"/>
          </a:p>
        </p:txBody>
      </p:sp>
      <p:sp>
        <p:nvSpPr>
          <p:cNvPr id="19" name="bld1_227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is materials chosen and balanced on purpose so they merge into one new, coherent impression — not several smells layered on top of each other.</a:t>
            </a:r>
            <a:endParaRPr lang="en-US" sz="1250" dirty="0"/>
          </a:p>
        </p:txBody>
      </p:sp>
      <p:sp>
        <p:nvSpPr>
          <p:cNvPr id="20" name="bld2_227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2_227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from randomly combining materials</a:t>
            </a:r>
            <a:endParaRPr lang="en-US" sz="1650" dirty="0"/>
          </a:p>
        </p:txBody>
      </p:sp>
      <p:sp>
        <p:nvSpPr>
          <p:cNvPr id="22" name="bld2_227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Throwing materials together usually produces mud. An accord works because each material is given a specific role, so the result reads as intentional.</a:t>
            </a:r>
            <a:endParaRPr lang="en-US" sz="1250" dirty="0"/>
          </a:p>
        </p:txBody>
      </p:sp>
      <p:sp>
        <p:nvSpPr>
          <p:cNvPr id="23" name="bld3_227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227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 smell like something no single material does</a:t>
            </a:r>
            <a:endParaRPr lang="en-US" sz="1650" dirty="0"/>
          </a:p>
        </p:txBody>
      </p:sp>
      <p:sp>
        <p:nvSpPr>
          <p:cNvPr id="25" name="bld3_227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convincing rose or leather accord is built from materials that individually smell nothing like the target — the character only emerges once they're combined correctly.</a:t>
            </a:r>
            <a:endParaRPr lang="en-US" sz="1250" dirty="0"/>
          </a:p>
        </p:txBody>
      </p:sp>
      <p:sp>
        <p:nvSpPr>
          <p:cNvPr id="26" name="bld4_228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4_228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building block for bigger perfumes</a:t>
            </a:r>
            <a:endParaRPr lang="en-US" sz="1650" dirty="0"/>
          </a:p>
        </p:txBody>
      </p:sp>
      <p:sp>
        <p:nvSpPr>
          <p:cNvPr id="28" name="bld4_228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perfume is really a composition of several accords working together, not one long list of raw materials.</a:t>
            </a:r>
            <a:endParaRPr lang="en-US" sz="1250" dirty="0"/>
          </a:p>
        </p:txBody>
      </p:sp>
      <p:sp>
        <p:nvSpPr>
          <p:cNvPr id="30" name="trans_fade_1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AN ACCORD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a target, then build outward</a:t>
            </a:r>
            <a:endParaRPr lang="en-US" sz="3200" dirty="0"/>
          </a:p>
        </p:txBody>
      </p:sp>
      <p:sp>
        <p:nvSpPr>
          <p:cNvPr id="7" name="bld1_2283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84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285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target</a:t>
            </a:r>
            <a:endParaRPr lang="en-US" sz="1450" dirty="0"/>
          </a:p>
        </p:txBody>
      </p:sp>
      <p:sp>
        <p:nvSpPr>
          <p:cNvPr id="10" name="bld1_2286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exactly what you're building — e.g. "a bright, honeyed rose."</a:t>
            </a:r>
            <a:endParaRPr lang="en-US" sz="1000" dirty="0"/>
          </a:p>
        </p:txBody>
      </p:sp>
      <p:sp>
        <p:nvSpPr>
          <p:cNvPr id="11" name="bld1_2287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288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289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290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the lead material</a:t>
            </a:r>
            <a:endParaRPr lang="en-US" sz="1450" dirty="0"/>
          </a:p>
        </p:txBody>
      </p:sp>
      <p:sp>
        <p:nvSpPr>
          <p:cNvPr id="15" name="bld2_2291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carries the core identity — e.g. Phenylethyl Alcohol for rose.</a:t>
            </a:r>
            <a:endParaRPr lang="en-US" sz="1000" dirty="0"/>
          </a:p>
        </p:txBody>
      </p:sp>
      <p:sp>
        <p:nvSpPr>
          <p:cNvPr id="16" name="bld2_2292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293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294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295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supporting materials</a:t>
            </a:r>
            <a:endParaRPr lang="en-US" sz="1450" dirty="0"/>
          </a:p>
        </p:txBody>
      </p:sp>
      <p:sp>
        <p:nvSpPr>
          <p:cNvPr id="20" name="bld3_2296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out the character — e.g. citronellol and geraniol extend the rose body.</a:t>
            </a:r>
            <a:endParaRPr lang="en-US" sz="1000" dirty="0"/>
          </a:p>
        </p:txBody>
      </p:sp>
      <p:sp>
        <p:nvSpPr>
          <p:cNvPr id="21" name="bld3_2297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298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299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00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contrast</a:t>
            </a:r>
            <a:endParaRPr lang="en-US" sz="1450" dirty="0"/>
          </a:p>
        </p:txBody>
      </p:sp>
      <p:sp>
        <p:nvSpPr>
          <p:cNvPr id="25" name="bld4_2301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facet that isn't already there — e.g. a green or spicy edge against the sweetness.</a:t>
            </a:r>
            <a:endParaRPr lang="en-US" sz="1000" dirty="0"/>
          </a:p>
        </p:txBody>
      </p:sp>
      <p:sp>
        <p:nvSpPr>
          <p:cNvPr id="27" name="trans_push_l_1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AN ACCORD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it volume, then refine it</a:t>
            </a:r>
            <a:endParaRPr lang="en-US" sz="3200" dirty="0"/>
          </a:p>
        </p:txBody>
      </p:sp>
      <p:sp>
        <p:nvSpPr>
          <p:cNvPr id="7" name="bld1_2302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03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304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volume &amp; diffusion</a:t>
            </a:r>
            <a:endParaRPr lang="en-US" sz="1450" dirty="0"/>
          </a:p>
        </p:txBody>
      </p:sp>
      <p:sp>
        <p:nvSpPr>
          <p:cNvPr id="10" name="bld1_2305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carry — e.g. Hedione opens space around the rose.</a:t>
            </a:r>
            <a:endParaRPr lang="en-US" sz="1000" dirty="0"/>
          </a:p>
        </p:txBody>
      </p:sp>
      <p:sp>
        <p:nvSpPr>
          <p:cNvPr id="11" name="bld1_2306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307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308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309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fixative / base support</a:t>
            </a:r>
            <a:endParaRPr lang="en-US" sz="1450" dirty="0"/>
          </a:p>
        </p:txBody>
      </p:sp>
      <p:sp>
        <p:nvSpPr>
          <p:cNvPr id="15" name="bld2_2310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it so it lasts — e.g. a soft musk underneath.</a:t>
            </a:r>
            <a:endParaRPr lang="en-US" sz="1000" dirty="0"/>
          </a:p>
        </p:txBody>
      </p:sp>
      <p:sp>
        <p:nvSpPr>
          <p:cNvPr id="16" name="bld2_2311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312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313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314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2315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it on a fresh strip, honestly, against the original target.</a:t>
            </a:r>
            <a:endParaRPr lang="en-US" sz="1000" dirty="0"/>
          </a:p>
        </p:txBody>
      </p:sp>
      <p:sp>
        <p:nvSpPr>
          <p:cNvPr id="21" name="bld3_2316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317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18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19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 proportions</a:t>
            </a:r>
            <a:endParaRPr lang="en-US" sz="1450" dirty="0"/>
          </a:p>
        </p:txBody>
      </p:sp>
      <p:sp>
        <p:nvSpPr>
          <p:cNvPr id="25" name="bld4_2320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one material or ratio based on what's missing or dominating.</a:t>
            </a:r>
            <a:endParaRPr lang="en-US" sz="1000" dirty="0"/>
          </a:p>
        </p:txBody>
      </p:sp>
      <p:sp>
        <p:nvSpPr>
          <p:cNvPr id="26" name="bld4_2321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322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323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324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0" name="bld5_2325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cycling evaluate → modify until it reads true.</a:t>
            </a:r>
            <a:endParaRPr lang="en-US" sz="1000" dirty="0"/>
          </a:p>
        </p:txBody>
      </p:sp>
      <p:sp>
        <p:nvSpPr>
          <p:cNvPr id="32" name="trans_push_l_1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7" name="bld1_232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232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4" name="bld1_232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15" name="bld2_233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4" name="bld2_233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25" name="bld2_233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26" name="bld3_233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3_233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3" name="bld3_233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34" name="bld4_233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131756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106733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2106733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2131756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4_234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3" name="bld4_234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44" name="bld5_234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6" name="Shape 44"/>
          <p:cNvSpPr/>
          <p:nvPr/>
        </p:nvSpPr>
        <p:spPr>
          <a:xfrm rot="840000">
            <a:off x="6037648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840000">
            <a:off x="609036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4128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5874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0" name="Shape 48"/>
          <p:cNvSpPr/>
          <p:nvPr/>
        </p:nvSpPr>
        <p:spPr>
          <a:xfrm>
            <a:off x="607620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1" name="Shape 49"/>
          <p:cNvSpPr/>
          <p:nvPr/>
        </p:nvSpPr>
        <p:spPr>
          <a:xfrm>
            <a:off x="609366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2" name="Shape 50"/>
          <p:cNvSpPr/>
          <p:nvPr/>
        </p:nvSpPr>
        <p:spPr>
          <a:xfrm>
            <a:off x="6111125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3" name="Shape 51"/>
          <p:cNvSpPr/>
          <p:nvPr/>
        </p:nvSpPr>
        <p:spPr>
          <a:xfrm>
            <a:off x="6128585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4" name="Shape 5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55" name="bld5_234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56" name="bld5_234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57" name="bld6_234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9" name="Shape 57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5" name="bld6_234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6" name="bld6_234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68" name="trans_fade_1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4" grpId="0"/>
      <p:bldP spid="25" grpId="0"/>
      <p:bldP spid="26" grpId="0"/>
      <p:bldP spid="32" grpId="0"/>
      <p:bldP spid="33" grpId="0"/>
      <p:bldP spid="34" grpId="0"/>
      <p:bldP spid="42" grpId="0"/>
      <p:bldP spid="43" grpId="0"/>
      <p:bldP spid="44" grpId="0"/>
      <p:bldP spid="55" grpId="0"/>
      <p:bldP spid="56" grpId="0"/>
      <p:bldP spid="57" grpId="0"/>
      <p:bldP spid="65" grpId="0"/>
      <p:bldP spid="66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1 —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rose into its facets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3325444" y="314423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767745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598801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3052087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883143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335073" y="3883713"/>
            <a:ext cx="462174" cy="46217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79B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</a:t>
            </a:r>
            <a:endParaRPr lang="en-US" sz="1350" dirty="0"/>
          </a:p>
        </p:txBody>
      </p:sp>
      <p:sp>
        <p:nvSpPr>
          <p:cNvPr id="16" name="bld1_2350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8026466" y="188283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4320000">
            <a:off x="8147689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8640000">
            <a:off x="810138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2960000">
            <a:off x="795154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7280000">
            <a:off x="7905243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029105" y="2085505"/>
            <a:ext cx="126670" cy="12667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5" name="bld1_2352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body</a:t>
            </a:r>
            <a:endParaRPr lang="en-US" sz="1350" dirty="0"/>
          </a:p>
        </p:txBody>
      </p:sp>
      <p:sp>
        <p:nvSpPr>
          <p:cNvPr id="26" name="bld2_2353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052856" y="279699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700000">
            <a:off x="8109284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5400000">
            <a:off x="8132658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100000">
            <a:off x="8109284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8052856" y="295660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3500000">
            <a:off x="7996427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6200000">
            <a:off x="7973054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8900000">
            <a:off x="7996427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50217" y="292957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8" name="bld2_2355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floral lift</a:t>
            </a:r>
            <a:endParaRPr lang="en-US" sz="1350" dirty="0"/>
          </a:p>
        </p:txBody>
      </p:sp>
      <p:sp>
        <p:nvSpPr>
          <p:cNvPr id="39" name="bld3_2356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1" name="Shape 39"/>
          <p:cNvSpPr/>
          <p:nvPr/>
        </p:nvSpPr>
        <p:spPr>
          <a:xfrm>
            <a:off x="8052856" y="361995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2700000">
            <a:off x="8109284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5400000">
            <a:off x="8132658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8100000">
            <a:off x="8109284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0800000">
            <a:off x="8052856" y="377956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3500000">
            <a:off x="7996427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6200000">
            <a:off x="7973054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996427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50217" y="375253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0" name="Shape 4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1" name="bld3_2358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/ geranium facet</a:t>
            </a:r>
            <a:endParaRPr lang="en-US" sz="1350" dirty="0"/>
          </a:p>
        </p:txBody>
      </p:sp>
      <p:sp>
        <p:nvSpPr>
          <p:cNvPr id="52" name="bld4_2359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53" name="Shape 51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4" name="Shape 52"/>
          <p:cNvSpPr/>
          <p:nvPr/>
        </p:nvSpPr>
        <p:spPr>
          <a:xfrm rot="15300000">
            <a:off x="7913753" y="451503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3050000">
            <a:off x="7963237" y="458909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8047578" y="461772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550000">
            <a:off x="8131919" y="458909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300000">
            <a:off x="8181402" y="451503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0" name="bld4_2361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stem</a:t>
            </a:r>
            <a:endParaRPr lang="en-US" sz="1350" dirty="0"/>
          </a:p>
        </p:txBody>
      </p:sp>
      <p:sp>
        <p:nvSpPr>
          <p:cNvPr id="61" name="bld5_2362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A6402A">
                <a:alpha val="75000"/>
              </a:srgbClr>
            </a:solidFill>
            <a:prstDash val="sysDot"/>
          </a:ln>
        </p:spPr>
      </p:sp>
      <p:sp>
        <p:nvSpPr>
          <p:cNvPr id="62" name="Shape 60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63" name="Shape 61"/>
          <p:cNvSpPr/>
          <p:nvPr/>
        </p:nvSpPr>
        <p:spPr>
          <a:xfrm rot="9000000">
            <a:off x="7960492" y="5319288"/>
            <a:ext cx="306119" cy="30611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6000000">
            <a:off x="7891879" y="5287620"/>
            <a:ext cx="190005" cy="190005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1400000">
            <a:off x="8108274" y="5255953"/>
            <a:ext cx="158338" cy="158338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67" name="bld5_2364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50" dirty="0"/>
          </a:p>
        </p:txBody>
      </p:sp>
      <p:sp>
        <p:nvSpPr>
          <p:cNvPr id="68" name="bld6_2365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69" name="Shape 67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0" name="Shape 68"/>
          <p:cNvSpPr/>
          <p:nvPr/>
        </p:nvSpPr>
        <p:spPr>
          <a:xfrm>
            <a:off x="7849656" y="6100025"/>
            <a:ext cx="485568" cy="327231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72" name="bld6_2367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&amp; musk support</a:t>
            </a:r>
            <a:endParaRPr lang="en-US" sz="1350" dirty="0"/>
          </a:p>
        </p:txBody>
      </p:sp>
      <p:sp>
        <p:nvSpPr>
          <p:cNvPr id="74" name="trans_push_l_1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5" grpId="0"/>
      <p:bldP spid="26" grpId="0"/>
      <p:bldP spid="38" grpId="0"/>
      <p:bldP spid="39" grpId="0"/>
      <p:bldP spid="51" grpId="0"/>
      <p:bldP spid="52" grpId="0"/>
      <p:bldP spid="60" grpId="0"/>
      <p:bldP spid="61" grpId="0"/>
      <p:bldP spid="67" grpId="0"/>
      <p:bldP spid="68" grpId="0"/>
      <p:bldP spid="72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IN DEPTH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accord — structure and how to modify it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206954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40521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948338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948338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40521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841973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increase is a trade — nothing improves for free.</a:t>
            </a:r>
            <a:endParaRPr lang="en-US" sz="1050" dirty="0"/>
          </a:p>
        </p:txBody>
      </p:sp>
      <p:sp>
        <p:nvSpPr>
          <p:cNvPr id="17" name="bld1_236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1_236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Approximate roles, not fixed percentages</a:t>
            </a:r>
            <a:endParaRPr lang="en-US" sz="1650" dirty="0"/>
          </a:p>
        </p:txBody>
      </p:sp>
      <p:sp>
        <p:nvSpPr>
          <p:cNvPr id="19" name="bld1_237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Phenylethyl alcohol carries most of the weight as the rose body; fresh floral lift, citrus/geranium facet, green stem, spice and diffusion/musk support sit around it in smaller amounts.</a:t>
            </a:r>
            <a:endParaRPr lang="en-US" sz="1250" dirty="0"/>
          </a:p>
        </p:txBody>
      </p:sp>
      <p:sp>
        <p:nvSpPr>
          <p:cNvPr id="20" name="bld2_237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237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the rose body → simpler, more linear</a:t>
            </a:r>
            <a:endParaRPr lang="en-US" sz="1650" dirty="0"/>
          </a:p>
        </p:txBody>
      </p:sp>
      <p:sp>
        <p:nvSpPr>
          <p:cNvPr id="22" name="bld2_237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phenylethyl alcohol higher and the accord reads more like a single-note soliflore — less complex, more direct.</a:t>
            </a:r>
            <a:endParaRPr lang="en-US" sz="1250" dirty="0"/>
          </a:p>
        </p:txBody>
      </p:sp>
      <p:sp>
        <p:nvSpPr>
          <p:cNvPr id="23" name="bld3_237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3_237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green stem or spice → sharper, less sweet</a:t>
            </a:r>
            <a:endParaRPr lang="en-US" sz="1650" dirty="0"/>
          </a:p>
        </p:txBody>
      </p:sp>
      <p:sp>
        <p:nvSpPr>
          <p:cNvPr id="25" name="bld3_237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cis-3-hexenol or a clove-type facet cuts the honeyed sweetness and adds edge.</a:t>
            </a:r>
            <a:endParaRPr lang="en-US" sz="1250" dirty="0"/>
          </a:p>
        </p:txBody>
      </p:sp>
      <p:sp>
        <p:nvSpPr>
          <p:cNvPr id="26" name="bld4_237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bld4_237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diffusion &amp; musk support → softer, more wearable</a:t>
            </a:r>
            <a:endParaRPr lang="en-US" sz="1650" dirty="0"/>
          </a:p>
        </p:txBody>
      </p:sp>
      <p:sp>
        <p:nvSpPr>
          <p:cNvPr id="28" name="bld4_237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Hedione or musk makes the rose read further and smoother, at the cost of some precision.</a:t>
            </a:r>
            <a:endParaRPr lang="en-US" sz="1250" dirty="0"/>
          </a:p>
        </p:txBody>
      </p:sp>
      <p:sp>
        <p:nvSpPr>
          <p:cNvPr id="30" name="trans_fade_1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with materials vs. starting with a base</a:t>
            </a:r>
            <a:endParaRPr lang="en-US" sz="3200" dirty="0"/>
          </a:p>
        </p:txBody>
      </p:sp>
      <p:sp>
        <p:nvSpPr>
          <p:cNvPr id="7" name="bld1_2380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2381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2382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materials</a:t>
            </a:r>
            <a:endParaRPr lang="en-US" sz="1800" dirty="0"/>
          </a:p>
        </p:txBody>
      </p:sp>
      <p:sp>
        <p:nvSpPr>
          <p:cNvPr id="10" name="bld1_2383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Phenylethyl alcohol, citronellol, geraniol and rose oxide, balanced by hand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over every facet from the very first drop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— each facet is tuned material by material</a:t>
            </a:r>
            <a:endParaRPr lang="en-US" sz="1300" dirty="0"/>
          </a:p>
        </p:txBody>
      </p:sp>
      <p:sp>
        <p:nvSpPr>
          <p:cNvPr id="11" name="bld1_2384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2385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2386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FE4EC"/>
          </a:solidFill>
          <a:ln/>
        </p:spPr>
      </p:sp>
      <p:sp>
        <p:nvSpPr>
          <p:cNvPr id="14" name="bld2_2387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bld2_2388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commercial rose base</a:t>
            </a:r>
            <a:endParaRPr lang="en-US" sz="1800" dirty="0"/>
          </a:p>
        </p:txBody>
      </p:sp>
      <p:sp>
        <p:nvSpPr>
          <p:cNvPr id="16" name="bld2_2389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like Rose Givco arrives with the rose body already built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starting point — you modify it, rather than construct from zero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shaping with modifiers before it reads as a finished accord</a:t>
            </a:r>
            <a:endParaRPr lang="en-US" sz="1300" dirty="0"/>
          </a:p>
        </p:txBody>
      </p:sp>
      <p:sp>
        <p:nvSpPr>
          <p:cNvPr id="17" name="bld2_2390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2_2391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5B3A52">
              <a:alpha val="92000"/>
            </a:srgbClr>
          </a:solidFill>
          <a:ln/>
        </p:spPr>
      </p:sp>
      <p:sp>
        <p:nvSpPr>
          <p:cNvPr id="20" name="trans_wipe_l_1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2 — SANDALWOOD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Creamy, milky, woody — one facet at a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3084728" y="3633368"/>
            <a:ext cx="962863" cy="96286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450616" y="3999256"/>
            <a:ext cx="231087" cy="231087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8A63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3" name="bld1_2392"/>
          <p:cNvSpPr/>
          <p:nvPr/>
        </p:nvSpPr>
        <p:spPr>
          <a:xfrm flipV="1">
            <a:off x="4627778" y="2148840"/>
            <a:ext cx="2977104" cy="196596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>
            <a:off x="7650236" y="1706636"/>
            <a:ext cx="884408" cy="88440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7871338" y="1927738"/>
            <a:ext cx="442204" cy="442204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39376" y="2095776"/>
            <a:ext cx="106129" cy="106129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8" name="Shape 16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9" name="bld1_2394"/>
          <p:cNvSpPr txBox="1"/>
          <p:nvPr/>
        </p:nvSpPr>
        <p:spPr>
          <a:xfrm>
            <a:off x="8796528" y="19751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Creamy body</a:t>
            </a:r>
            <a:endParaRPr lang="en-US" sz="1350" dirty="0"/>
          </a:p>
        </p:txBody>
      </p:sp>
      <p:sp>
        <p:nvSpPr>
          <p:cNvPr id="20" name="bld2_2395"/>
          <p:cNvSpPr/>
          <p:nvPr/>
        </p:nvSpPr>
        <p:spPr>
          <a:xfrm flipV="1">
            <a:off x="4627778" y="3520440"/>
            <a:ext cx="2977104" cy="59436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5612" y="3246274"/>
            <a:ext cx="813655" cy="54833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2_2397"/>
          <p:cNvSpPr txBox="1"/>
          <p:nvPr/>
        </p:nvSpPr>
        <p:spPr>
          <a:xfrm>
            <a:off x="8796528" y="33467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Milky softness</a:t>
            </a:r>
            <a:endParaRPr lang="en-US" sz="1350" dirty="0"/>
          </a:p>
        </p:txBody>
      </p:sp>
      <p:sp>
        <p:nvSpPr>
          <p:cNvPr id="25" name="bld3_2398"/>
          <p:cNvSpPr/>
          <p:nvPr/>
        </p:nvSpPr>
        <p:spPr>
          <a:xfrm>
            <a:off x="4627778" y="4114800"/>
            <a:ext cx="2977104" cy="7772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26" name="Shape 24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7650236" y="4449836"/>
            <a:ext cx="884408" cy="88440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797637" y="4597237"/>
            <a:ext cx="589605" cy="589605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9" name="Shape 27"/>
          <p:cNvSpPr/>
          <p:nvPr/>
        </p:nvSpPr>
        <p:spPr>
          <a:xfrm>
            <a:off x="7945039" y="4744639"/>
            <a:ext cx="294803" cy="29480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039376" y="4838976"/>
            <a:ext cx="106129" cy="106129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1" name="Shape 29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2400"/>
          <p:cNvSpPr txBox="1"/>
          <p:nvPr/>
        </p:nvSpPr>
        <p:spPr>
          <a:xfrm>
            <a:off x="8796528" y="47183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structure</a:t>
            </a:r>
            <a:endParaRPr lang="en-US" sz="1350" dirty="0"/>
          </a:p>
        </p:txBody>
      </p:sp>
      <p:sp>
        <p:nvSpPr>
          <p:cNvPr id="33" name="bld4_2401"/>
          <p:cNvSpPr/>
          <p:nvPr/>
        </p:nvSpPr>
        <p:spPr>
          <a:xfrm>
            <a:off x="4627778" y="4114800"/>
            <a:ext cx="2977104" cy="214884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40000">
            <a:off x="7986311" y="5843546"/>
            <a:ext cx="212258" cy="840187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40000">
            <a:off x="8086954" y="5945253"/>
            <a:ext cx="914" cy="63677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92944" y="5969574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8" name="Shape 36"/>
          <p:cNvSpPr/>
          <p:nvPr/>
        </p:nvSpPr>
        <p:spPr>
          <a:xfrm>
            <a:off x="8024783" y="6079241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8056621" y="6188908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8088460" y="6298574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8120299" y="6408241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8152138" y="6517907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4" name="bld4_2403"/>
          <p:cNvSpPr txBox="1"/>
          <p:nvPr/>
        </p:nvSpPr>
        <p:spPr>
          <a:xfrm>
            <a:off x="8796528" y="60899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Warmth</a:t>
            </a:r>
            <a:endParaRPr lang="en-US" sz="1350" dirty="0"/>
          </a:p>
        </p:txBody>
      </p:sp>
      <p:sp>
        <p:nvSpPr>
          <p:cNvPr id="46" name="trans_push_l_1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4" grpId="0"/>
      <p:bldP spid="25" grpId="0"/>
      <p:bldP spid="32" grpId="0"/>
      <p:bldP spid="33" grpId="0"/>
      <p:bldP spid="44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SANDALWOOD, IN DEPTH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 — structure and how to modify it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1" name="Shape 9"/>
          <p:cNvSpPr/>
          <p:nvPr/>
        </p:nvSpPr>
        <p:spPr>
          <a:xfrm>
            <a:off x="8567085" y="2217949"/>
            <a:ext cx="1961245" cy="1961245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9057396" y="2708260"/>
            <a:ext cx="980623" cy="98062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430033" y="3080896"/>
            <a:ext cx="235349" cy="235349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four facets, four different directions depending on what you push.</a:t>
            </a:r>
            <a:endParaRPr lang="en-US" sz="1050" dirty="0"/>
          </a:p>
        </p:txBody>
      </p:sp>
      <p:sp>
        <p:nvSpPr>
          <p:cNvPr id="16" name="bld1_240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bld1_240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Approximate roles, not fixed percentages</a:t>
            </a:r>
            <a:endParaRPr lang="en-US" sz="1650" dirty="0"/>
          </a:p>
        </p:txBody>
      </p:sp>
      <p:sp>
        <p:nvSpPr>
          <p:cNvPr id="18" name="bld1_240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body (natural sandalwood or Javanol) is the anchor; milky softness, woody structure and warmth sit around it in smaller amounts.</a:t>
            </a:r>
            <a:endParaRPr lang="en-US" sz="1250" dirty="0"/>
          </a:p>
        </p:txBody>
      </p:sp>
      <p:sp>
        <p:nvSpPr>
          <p:cNvPr id="19" name="bld2_240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240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the creamy body → richer, more indulgent</a:t>
            </a:r>
            <a:endParaRPr lang="en-US" sz="1650" dirty="0"/>
          </a:p>
        </p:txBody>
      </p:sp>
      <p:sp>
        <p:nvSpPr>
          <p:cNvPr id="21" name="bld2_240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Javanol or natural sandalwood makes the accord thicker and more luxurious — but can start to feel heavy.</a:t>
            </a:r>
            <a:endParaRPr lang="en-US" sz="1250" dirty="0"/>
          </a:p>
        </p:txBody>
      </p:sp>
      <p:sp>
        <p:nvSpPr>
          <p:cNvPr id="22" name="bld3_241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241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woody structure → drier, sharper</a:t>
            </a:r>
            <a:endParaRPr lang="en-US" sz="1650" dirty="0"/>
          </a:p>
        </p:txBody>
      </p:sp>
      <p:sp>
        <p:nvSpPr>
          <p:cNvPr id="24" name="bld3_241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cedarwood cuts the creaminess and gives the accord a drier, more structured edge.</a:t>
            </a:r>
            <a:endParaRPr lang="en-US" sz="1250" dirty="0"/>
          </a:p>
        </p:txBody>
      </p:sp>
      <p:sp>
        <p:nvSpPr>
          <p:cNvPr id="25" name="bld4_241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6" name="bld4_241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Increase warmth → sweeter, cosier</a:t>
            </a:r>
            <a:endParaRPr lang="en-US" sz="1650" dirty="0"/>
          </a:p>
        </p:txBody>
      </p:sp>
      <p:sp>
        <p:nvSpPr>
          <p:cNvPr id="27" name="bld4_241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vanillin pulls the whole accord toward gourmand territory.</a:t>
            </a:r>
            <a:endParaRPr lang="en-US" sz="1250" dirty="0"/>
          </a:p>
        </p:txBody>
      </p:sp>
      <p:sp>
        <p:nvSpPr>
          <p:cNvPr id="29" name="trans_fade_1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&amp; SPECIALITIES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 you buy vs. accords you build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1" name="Shape 9"/>
          <p:cNvSpPr/>
          <p:nvPr/>
        </p:nvSpPr>
        <p:spPr>
          <a:xfrm>
            <a:off x="8228477" y="2329929"/>
            <a:ext cx="1045998" cy="1045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59226" y="2460679"/>
            <a:ext cx="784498" cy="7844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489976" y="2591429"/>
            <a:ext cx="522999" cy="522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4" name="Shape 12"/>
          <p:cNvSpPr/>
          <p:nvPr/>
        </p:nvSpPr>
        <p:spPr>
          <a:xfrm>
            <a:off x="8620726" y="2722178"/>
            <a:ext cx="261499" cy="261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88716" y="2790168"/>
            <a:ext cx="125520" cy="12552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0964" y="2182417"/>
            <a:ext cx="1341022" cy="134102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5081" y="2465909"/>
            <a:ext cx="857718" cy="857718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338453" y="2444989"/>
            <a:ext cx="914" cy="14644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2000000">
            <a:off x="10362228" y="2403149"/>
            <a:ext cx="198740" cy="13598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673428" y="2182417"/>
            <a:ext cx="1341022" cy="134102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covers commercial bases like Rose Givco in full — this is the same idea, different names.</a:t>
            </a:r>
            <a:endParaRPr lang="en-US" sz="1050" dirty="0"/>
          </a:p>
        </p:txBody>
      </p:sp>
      <p:sp>
        <p:nvSpPr>
          <p:cNvPr id="23" name="bld1_241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1_241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pre-composed by a supplier</a:t>
            </a:r>
            <a:endParaRPr lang="en-US" sz="1650" dirty="0"/>
          </a:p>
        </p:txBody>
      </p:sp>
      <p:sp>
        <p:nvSpPr>
          <p:cNvPr id="25" name="bld1_241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commercial base or speciality is bought ready-made and used like a single complex raw material — you don't build it yourself.</a:t>
            </a:r>
            <a:endParaRPr lang="en-US" sz="1250" dirty="0"/>
          </a:p>
        </p:txBody>
      </p:sp>
      <p:sp>
        <p:nvSpPr>
          <p:cNvPr id="26" name="bld2_241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7" name="bld2_242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 and consistency, less control</a:t>
            </a:r>
            <a:endParaRPr lang="en-US" sz="1650" dirty="0"/>
          </a:p>
        </p:txBody>
      </p:sp>
      <p:sp>
        <p:nvSpPr>
          <p:cNvPr id="28" name="bld2_242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saves real time and always reads the same batch to batch — but you have less say over each individual facet than building an accord from scratch.</a:t>
            </a:r>
            <a:endParaRPr lang="en-US" sz="1250" dirty="0"/>
          </a:p>
        </p:txBody>
      </p:sp>
      <p:sp>
        <p:nvSpPr>
          <p:cNvPr id="29" name="bld3_242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bld3_242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knowing by name</a:t>
            </a:r>
            <a:endParaRPr lang="en-US" sz="1650" dirty="0"/>
          </a:p>
        </p:txBody>
      </p:sp>
      <p:sp>
        <p:nvSpPr>
          <p:cNvPr id="31" name="bld3_242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Agar (oud-style, smoky-woody-animalic complexity), Cassis Base (tart, blackcurrant-bud character) and Suederal (soft, napped-suede texture) are all real commercial specialities used as single ingredients inside larger perfumes.</a:t>
            </a:r>
            <a:endParaRPr lang="en-US" sz="1250" dirty="0"/>
          </a:p>
        </p:txBody>
      </p:sp>
      <p:sp>
        <p:nvSpPr>
          <p:cNvPr id="33" name="trans_fade_1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 TRY AT HOME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more accords worth building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59019" y="4703499"/>
            <a:ext cx="1217671" cy="1217671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06358" y="4950839"/>
            <a:ext cx="722992" cy="722992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20515" y="5064995"/>
            <a:ext cx="494679" cy="494679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34672" y="5179152"/>
            <a:ext cx="266365" cy="26636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0515" y="5064995"/>
            <a:ext cx="494679" cy="494679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06358" y="4950839"/>
            <a:ext cx="722992" cy="722992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2425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6" name="Shape 14"/>
          <p:cNvSpPr/>
          <p:nvPr/>
        </p:nvSpPr>
        <p:spPr>
          <a:xfrm>
            <a:off x="1293199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8" name="bld1_2427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19" name="bld1_2428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as the clean base, softened with ethylene brassylate for skin-warmth.</a:t>
            </a:r>
            <a:endParaRPr lang="en-US" sz="1080" dirty="0"/>
          </a:p>
        </p:txBody>
      </p:sp>
      <p:sp>
        <p:nvSpPr>
          <p:cNvPr id="20" name="bld2_2429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3757288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840000">
            <a:off x="3820272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61567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3782108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3802649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3823191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3732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64273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1" name="bld2_2431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32" name="bld2_2432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as the core, softened with coumarin, rounded with a trace of benzoin.</a:t>
            </a:r>
            <a:endParaRPr lang="en-US" sz="1080" dirty="0"/>
          </a:p>
        </p:txBody>
      </p:sp>
      <p:sp>
        <p:nvSpPr>
          <p:cNvPr id="33" name="bld3_2433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5" name="Shape 33"/>
          <p:cNvSpPr/>
          <p:nvPr/>
        </p:nvSpPr>
        <p:spPr>
          <a:xfrm>
            <a:off x="5810555" y="246888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05652" y="256397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0750" y="265907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61612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9" name="Shape 37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0" name="bld3_2435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41" name="bld3_2436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for volume, sandalwood for cream, cedarwood for dry structure.</a:t>
            </a:r>
            <a:endParaRPr lang="en-US" sz="1080" dirty="0"/>
          </a:p>
        </p:txBody>
      </p:sp>
      <p:sp>
        <p:nvSpPr>
          <p:cNvPr id="42" name="bld4_2437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4" name="Shape 42"/>
          <p:cNvSpPr/>
          <p:nvPr/>
        </p:nvSpPr>
        <p:spPr>
          <a:xfrm rot="15300000">
            <a:off x="8172762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050000">
            <a:off x="8226258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8317437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8550000">
            <a:off x="8408617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300000">
            <a:off x="8462112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0" name="bld4_2439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51" name="bld4_2440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for the cut-leaf bite, stemone for green freshness.</a:t>
            </a:r>
            <a:endParaRPr lang="en-US" sz="1080" dirty="0"/>
          </a:p>
        </p:txBody>
      </p:sp>
      <p:sp>
        <p:nvSpPr>
          <p:cNvPr id="52" name="bld5_2441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02086" y="2543056"/>
            <a:ext cx="467880" cy="467880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30540" y="2531644"/>
            <a:ext cx="914" cy="7988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12000000">
            <a:off x="10654314" y="2508821"/>
            <a:ext cx="108411" cy="7417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58" name="bld5_2443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59" name="bld5_2444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undecalactone for peach, ethyl butyrate for a sharp juicy top.</a:t>
            </a:r>
            <a:endParaRPr lang="en-US" sz="1080" dirty="0"/>
          </a:p>
        </p:txBody>
      </p:sp>
      <p:sp>
        <p:nvSpPr>
          <p:cNvPr id="61" name="trans_fade_1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31" grpId="0"/>
      <p:bldP spid="32" grpId="0"/>
      <p:bldP spid="33" grpId="0"/>
      <p:bldP spid="40" grpId="0"/>
      <p:bldP spid="41" grpId="0"/>
      <p:bldP spid="42" grpId="0"/>
      <p:bldP spid="50" grpId="0"/>
      <p:bldP spid="51" grpId="0"/>
      <p:bldP spid="52" grpId="0"/>
      <p:bldP spid="58" grpId="0"/>
      <p:bldP spid="5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10" name="trans_fade_1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13" name="bld1_24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bld1_24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5" name="bld1_244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6" name="bld2_244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2_244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8" name="bld2_245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9" name="bld3_245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45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21" name="bld3_245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23" name="trans_fade_1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40543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046956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454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455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2456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13" name="bld1_2457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14" name="bld2_2458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459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2460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7" name="bld2_2461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8" name="bld3_2462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463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2464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21" name="bld3_2465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22" name="bld4_2466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467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2468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5" name="bld4_2469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6" name="bld5_2470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2471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5_2472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9" name="bld5_2473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31" name="trans_fade_1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7" name="bld1_2474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47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476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10" name="bld1_2477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11" name="bld1_2478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479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480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481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5" name="bld2_2482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6" name="bld2_2483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484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485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486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20" name="bld3_2487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21" name="bld3_2488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489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490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491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5" name="bld4_2492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6" name="bld4_2493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494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495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496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30" name="bld5_2497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2" name="trans_push_l_1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10" name="trans_fade_1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1702" y="2053742"/>
            <a:ext cx="2750515" cy="2750515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66122" y="3128162"/>
            <a:ext cx="601675" cy="60167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formula's anatomy, from idea to base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eight-step process for building a full perfume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full worked formulas, plus a professional-style deep dive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3" name="trans_fade_1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7" name="bld1_2498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499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500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10" name="bld1_2501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11" name="bld2_2502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503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504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4" name="bld2_2505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5" name="bld3_2506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507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508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8" name="bld3_2509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9" name="bld4_2510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511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512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2" name="bld4_2513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3" name="bld5_2514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515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516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6" name="bld5_2517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7" name="bld6_2518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519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520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30" name="bld6_2521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2" name="trans_fade_1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22" name="bld1_252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3" name="bld1_252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4" name="bld1_252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5" name="bld2_252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6" name="bld2_252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7" name="bld2_252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8" name="bld3_252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3_252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30" name="bld3_253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32" name="trans_fade_1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7" name="bld1_2531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532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533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10" name="bld1_2534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11" name="bld1_2535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536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537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538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5" name="bld2_2539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6" name="bld2_2540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541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542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543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20" name="bld3_2544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21" name="bld3_2545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546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547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548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5" name="bld4_2549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7" name="trans_push_l_1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5" name="bld1_255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255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7" name="bld1_255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8" name="bld2_255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bld2_255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20" name="bld2_255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21" name="bld3_255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55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23" name="bld3_255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5" name="trans_fade_1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13" name="bld1_255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bld1_256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5" name="bld1_256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6" name="bld2_256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56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8" name="bld2_256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9" name="bld3_256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3_256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21" name="bld3_256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23" name="trans_fade_1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Balancing a formula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83848" y="2590980"/>
            <a:ext cx="754325" cy="75432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381445"/>
            <a:ext cx="1173395" cy="1173395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loud material balanced against a larger, quiet one — not equal size, equal impact.</a:t>
            </a:r>
            <a:endParaRPr lang="en-US" sz="1050" dirty="0"/>
          </a:p>
        </p:txBody>
      </p:sp>
      <p:sp>
        <p:nvSpPr>
          <p:cNvPr id="13" name="bld1_256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56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Contrast, not sameness</a:t>
            </a:r>
            <a:endParaRPr lang="en-US" sz="1650" dirty="0"/>
          </a:p>
        </p:txBody>
      </p:sp>
      <p:sp>
        <p:nvSpPr>
          <p:cNvPr id="15" name="bld1_257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opposing textures — a bright citrus against heavy woods, a sharp green against a soft musk. Contrast is what keeps a formula interesting.</a:t>
            </a:r>
            <a:endParaRPr lang="en-US" sz="1250" dirty="0"/>
          </a:p>
        </p:txBody>
      </p:sp>
      <p:sp>
        <p:nvSpPr>
          <p:cNvPr id="16" name="bld2_257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57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volume to intention</a:t>
            </a:r>
            <a:endParaRPr lang="en-US" sz="1650" dirty="0"/>
          </a:p>
        </p:txBody>
      </p:sp>
      <p:sp>
        <p:nvSpPr>
          <p:cNvPr id="18" name="bld2_257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diffusive material earns a small percentage; a quiet fixative can carry a much larger share without overwhelming anything.</a:t>
            </a:r>
            <a:endParaRPr lang="en-US" sz="1250" dirty="0"/>
          </a:p>
        </p:txBody>
      </p:sp>
      <p:sp>
        <p:nvSpPr>
          <p:cNvPr id="19" name="bld3_257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bld3_257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diffusive and fixative roles deliberately</a:t>
            </a:r>
            <a:endParaRPr lang="en-US" sz="1650" dirty="0"/>
          </a:p>
        </p:txBody>
      </p:sp>
      <p:sp>
        <p:nvSpPr>
          <p:cNvPr id="21" name="bld3_257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Diffusive materials (Hedione, citrus) carry the formula outward; fixatives (musks, resins, heavy woods) slow evaporation and anchor the base. Every formula needs both.</a:t>
            </a:r>
            <a:endParaRPr lang="en-US" sz="1250" dirty="0"/>
          </a:p>
        </p:txBody>
      </p:sp>
      <p:sp>
        <p:nvSpPr>
          <p:cNvPr id="22" name="bld4_257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4_257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around one central idea</a:t>
            </a:r>
            <a:endParaRPr lang="en-US" sz="1650" dirty="0"/>
          </a:p>
        </p:txBody>
      </p:sp>
      <p:sp>
        <p:nvSpPr>
          <p:cNvPr id="24" name="bld4_257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should serve the one-sentence idea from the previous slide — if it doesn't, it's a candidate for removal.</a:t>
            </a:r>
            <a:endParaRPr lang="en-US" sz="1250" dirty="0"/>
          </a:p>
        </p:txBody>
      </p:sp>
      <p:sp>
        <p:nvSpPr>
          <p:cNvPr id="26" name="trans_fade_1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FORMULA IS MADE OF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you've learned, in one equation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143000" y="3574653"/>
            <a:ext cx="289501" cy="12866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32501" y="3574653"/>
            <a:ext cx="289501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432501" y="3735487"/>
            <a:ext cx="289501" cy="2573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9999" y="3992821"/>
            <a:ext cx="482501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49999" y="3703320"/>
            <a:ext cx="193001" cy="28950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9166" y="3542486"/>
            <a:ext cx="353834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1533" y="3651853"/>
            <a:ext cx="102934" cy="10293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95509" y="3537661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5010" y="3698495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95509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08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174" y="3505494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1_2581"/>
          <p:cNvSpPr txBox="1"/>
          <p:nvPr/>
        </p:nvSpPr>
        <p:spPr>
          <a:xfrm>
            <a:off x="3845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</a:t>
            </a:r>
            <a:endParaRPr lang="en-US" sz="1250" dirty="0"/>
          </a:p>
        </p:txBody>
      </p:sp>
      <p:sp>
        <p:nvSpPr>
          <p:cNvPr id="22" name="bld2_2582"/>
          <p:cNvSpPr txBox="1"/>
          <p:nvPr/>
        </p:nvSpPr>
        <p:spPr>
          <a:xfrm>
            <a:off x="1938528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73211" y="3113791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4320000">
            <a:off x="3741868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8640000">
            <a:off x="3639250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2960000">
            <a:off x="3307172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7280000">
            <a:off x="3204554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79060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2584"/>
          <p:cNvSpPr txBox="1"/>
          <p:nvPr/>
        </p:nvSpPr>
        <p:spPr>
          <a:xfrm>
            <a:off x="2480269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</a:t>
            </a:r>
            <a:endParaRPr lang="en-US" sz="1250" dirty="0"/>
          </a:p>
        </p:txBody>
      </p:sp>
      <p:sp>
        <p:nvSpPr>
          <p:cNvPr id="32" name="bld3_2585"/>
          <p:cNvSpPr txBox="1"/>
          <p:nvPr/>
        </p:nvSpPr>
        <p:spPr>
          <a:xfrm>
            <a:off x="4414952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>
            <a:off x="6044381" y="3293925"/>
            <a:ext cx="102934" cy="2292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61908" y="3457683"/>
            <a:ext cx="467880" cy="655032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768" y="3719696"/>
            <a:ext cx="318159" cy="376644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8" name="bld3_2587"/>
          <p:cNvSpPr txBox="1"/>
          <p:nvPr/>
        </p:nvSpPr>
        <p:spPr>
          <a:xfrm>
            <a:off x="4956693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</a:t>
            </a:r>
            <a:endParaRPr lang="en-US" sz="1250" dirty="0"/>
          </a:p>
        </p:txBody>
      </p:sp>
      <p:sp>
        <p:nvSpPr>
          <p:cNvPr id="39" name="bld4_2588"/>
          <p:cNvSpPr txBox="1"/>
          <p:nvPr/>
        </p:nvSpPr>
        <p:spPr>
          <a:xfrm>
            <a:off x="6891376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79846" y="3410895"/>
            <a:ext cx="584850" cy="584850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3" name="bld4_2590"/>
          <p:cNvSpPr txBox="1"/>
          <p:nvPr/>
        </p:nvSpPr>
        <p:spPr>
          <a:xfrm>
            <a:off x="7433116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250" dirty="0"/>
          </a:p>
        </p:txBody>
      </p:sp>
      <p:sp>
        <p:nvSpPr>
          <p:cNvPr id="44" name="bld5_2591"/>
          <p:cNvSpPr txBox="1"/>
          <p:nvPr/>
        </p:nvSpPr>
        <p:spPr>
          <a:xfrm>
            <a:off x="9367799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88432" y="3223743"/>
            <a:ext cx="120526" cy="95915"/>
          </a:xfrm>
          <a:prstGeom prst="roundRect">
            <a:avLst>
              <a:gd name="adj" fmla="val 38134"/>
            </a:avLst>
          </a:prstGeom>
          <a:solidFill>
            <a:srgbClr val="0E0D0B"/>
          </a:solidFill>
          <a:ln/>
        </p:spPr>
      </p:sp>
      <p:sp>
        <p:nvSpPr>
          <p:cNvPr id="47" name="Shape 45"/>
          <p:cNvSpPr/>
          <p:nvPr/>
        </p:nvSpPr>
        <p:spPr>
          <a:xfrm>
            <a:off x="10996293" y="3319658"/>
            <a:ext cx="104805" cy="153465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861543" y="3473123"/>
            <a:ext cx="374304" cy="709774"/>
          </a:xfrm>
          <a:prstGeom prst="roundRect">
            <a:avLst>
              <a:gd name="adj" fmla="val 29315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98119" y="3792521"/>
            <a:ext cx="301152" cy="353800"/>
          </a:xfrm>
          <a:prstGeom prst="roundRect">
            <a:avLst>
              <a:gd name="adj" fmla="val 30363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41148">
            <a:solidFill>
              <a:srgbClr val="C1752F"/>
            </a:solidFill>
            <a:prstDash val="solid"/>
          </a:ln>
        </p:spPr>
      </p:sp>
      <p:sp>
        <p:nvSpPr>
          <p:cNvPr id="51" name="bld5_2593"/>
          <p:cNvSpPr txBox="1"/>
          <p:nvPr/>
        </p:nvSpPr>
        <p:spPr>
          <a:xfrm>
            <a:off x="9909540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</a:t>
            </a:r>
            <a:endParaRPr lang="en-US" sz="1500" dirty="0"/>
          </a:p>
        </p:txBody>
      </p:sp>
      <p:sp>
        <p:nvSpPr>
          <p:cNvPr id="53" name="trans_push_l_1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31" grpId="0"/>
      <p:bldP spid="32" grpId="0"/>
      <p:bldP spid="38" grpId="0"/>
      <p:bldP spid="39" grpId="0"/>
      <p:bldP spid="43" grpId="0"/>
      <p:bldP spid="44" grpId="0"/>
      <p:bldP spid="51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a starting point, not a finished formula.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Rose Givco doesn't mean the work is done.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LESSON</a:t>
            </a:r>
            <a:endParaRPr lang="en-US" sz="1100" dirty="0"/>
          </a:p>
        </p:txBody>
      </p:sp>
      <p:sp>
        <p:nvSpPr>
          <p:cNvPr id="10" name="trans_fade_1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BASE GET BUILT 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rose base, four different directions</a:t>
            </a:r>
            <a:endParaRPr lang="en-US" sz="3200" dirty="0"/>
          </a:p>
        </p:txBody>
      </p:sp>
      <p:sp>
        <p:nvSpPr>
          <p:cNvPr id="7" name="bld1_2594"/>
          <p:cNvSpPr txBox="1"/>
          <p:nvPr/>
        </p:nvSpPr>
        <p:spPr>
          <a:xfrm>
            <a:off x="1901419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30885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060442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296145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206115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914770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824739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65573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530885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2596"/>
          <p:cNvSpPr txBox="1"/>
          <p:nvPr/>
        </p:nvSpPr>
        <p:spPr>
          <a:xfrm>
            <a:off x="416585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BASE</a:t>
            </a:r>
            <a:endParaRPr lang="en-US" sz="1400" dirty="0"/>
          </a:p>
        </p:txBody>
      </p:sp>
      <p:sp>
        <p:nvSpPr>
          <p:cNvPr id="17" name="bld2_2597"/>
          <p:cNvSpPr txBox="1"/>
          <p:nvPr/>
        </p:nvSpPr>
        <p:spPr>
          <a:xfrm>
            <a:off x="3537128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166595" y="3136925"/>
            <a:ext cx="1315669" cy="131566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9" name="Shape 17"/>
          <p:cNvSpPr/>
          <p:nvPr/>
        </p:nvSpPr>
        <p:spPr>
          <a:xfrm rot="15300000">
            <a:off x="2476996" y="3595098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3050000">
            <a:off x="2573210" y="3739093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0800000">
            <a:off x="2737200" y="3794760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550000">
            <a:off x="2901190" y="3739093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300000">
            <a:off x="2997405" y="3595098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6595" y="3136925"/>
            <a:ext cx="1315669" cy="131566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5" name="bld2_2599"/>
          <p:cNvSpPr txBox="1"/>
          <p:nvPr/>
        </p:nvSpPr>
        <p:spPr>
          <a:xfrm>
            <a:off x="2052295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GREEN</a:t>
            </a:r>
            <a:endParaRPr lang="en-US" sz="1400" dirty="0"/>
          </a:p>
        </p:txBody>
      </p:sp>
      <p:sp>
        <p:nvSpPr>
          <p:cNvPr id="26" name="bld3_2600"/>
          <p:cNvSpPr txBox="1"/>
          <p:nvPr/>
        </p:nvSpPr>
        <p:spPr>
          <a:xfrm>
            <a:off x="5172837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802304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4331861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4320000">
            <a:off x="4567563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640000">
            <a:off x="4477533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2960000">
            <a:off x="4186188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7280000">
            <a:off x="4096158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36992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4" name="Shape 32"/>
          <p:cNvSpPr/>
          <p:nvPr/>
        </p:nvSpPr>
        <p:spPr>
          <a:xfrm>
            <a:off x="3802304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5" name="bld3_2602"/>
          <p:cNvSpPr txBox="1"/>
          <p:nvPr/>
        </p:nvSpPr>
        <p:spPr>
          <a:xfrm>
            <a:off x="3688004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ROSE</a:t>
            </a:r>
            <a:endParaRPr lang="en-US" sz="1400" dirty="0"/>
          </a:p>
        </p:txBody>
      </p:sp>
      <p:sp>
        <p:nvSpPr>
          <p:cNvPr id="36" name="bld4_2603"/>
          <p:cNvSpPr txBox="1"/>
          <p:nvPr/>
        </p:nvSpPr>
        <p:spPr>
          <a:xfrm>
            <a:off x="6808546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438013" y="3136925"/>
            <a:ext cx="1315669" cy="1315669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8" name="Shape 36"/>
          <p:cNvSpPr/>
          <p:nvPr/>
        </p:nvSpPr>
        <p:spPr>
          <a:xfrm>
            <a:off x="5623785" y="3476631"/>
            <a:ext cx="944124" cy="63625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38013" y="3136925"/>
            <a:ext cx="1315669" cy="1315669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0" name="bld4_2605"/>
          <p:cNvSpPr txBox="1"/>
          <p:nvPr/>
        </p:nvSpPr>
        <p:spPr>
          <a:xfrm>
            <a:off x="5323713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MUSK + HEDIONE</a:t>
            </a:r>
            <a:endParaRPr lang="en-US" sz="1400" dirty="0"/>
          </a:p>
        </p:txBody>
      </p:sp>
      <p:sp>
        <p:nvSpPr>
          <p:cNvPr id="41" name="bld5_2606"/>
          <p:cNvSpPr txBox="1"/>
          <p:nvPr/>
        </p:nvSpPr>
        <p:spPr>
          <a:xfrm>
            <a:off x="8444255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7073722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03279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4320000">
            <a:off x="7838982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640000">
            <a:off x="7748951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2960000">
            <a:off x="7457607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7280000">
            <a:off x="7367576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08410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7073722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0" name="bld5_2608"/>
          <p:cNvSpPr txBox="1"/>
          <p:nvPr/>
        </p:nvSpPr>
        <p:spPr>
          <a:xfrm>
            <a:off x="6959422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MODERN ROSE</a:t>
            </a:r>
            <a:endParaRPr lang="en-US" sz="1400" dirty="0"/>
          </a:p>
        </p:txBody>
      </p:sp>
      <p:sp>
        <p:nvSpPr>
          <p:cNvPr id="51" name="bld6_2609"/>
          <p:cNvSpPr txBox="1"/>
          <p:nvPr/>
        </p:nvSpPr>
        <p:spPr>
          <a:xfrm>
            <a:off x="10079965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8709431" y="3136925"/>
            <a:ext cx="1315669" cy="1315669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9049137" y="3332960"/>
            <a:ext cx="636258" cy="923600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361780" y="3486893"/>
            <a:ext cx="914" cy="5644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709431" y="3136925"/>
            <a:ext cx="1315669" cy="1315669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6" name="bld6_2611"/>
          <p:cNvSpPr txBox="1"/>
          <p:nvPr/>
        </p:nvSpPr>
        <p:spPr>
          <a:xfrm>
            <a:off x="8595131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PATCHOULI + WOODS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10345141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874697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11110400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11020370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10729025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10638995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10879829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10345141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7_2613"/>
          <p:cNvSpPr txBox="1"/>
          <p:nvPr/>
        </p:nvSpPr>
        <p:spPr>
          <a:xfrm>
            <a:off x="10230841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WOODY ROSE</a:t>
            </a:r>
            <a:endParaRPr lang="en-US" sz="1400" dirty="0"/>
          </a:p>
        </p:txBody>
      </p:sp>
      <p:sp>
        <p:nvSpPr>
          <p:cNvPr id="67" name="trans_push_l_1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8" name="Text 6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25" grpId="0"/>
      <p:bldP spid="26" grpId="0"/>
      <p:bldP spid="35" grpId="0"/>
      <p:bldP spid="36" grpId="0"/>
      <p:bldP spid="40" grpId="0"/>
      <p:bldP spid="41" grpId="0"/>
      <p:bldP spid="50" grpId="0"/>
      <p:bldP spid="51" grpId="0"/>
      <p:bldP spid="56" grpId="0"/>
      <p:bldP spid="6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EFFICIENTLY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personal base library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12452" y="2632887"/>
            <a:ext cx="670511" cy="670511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shelf of reliable accords, ready whenever a new idea needs one.</a:t>
            </a:r>
            <a:endParaRPr lang="en-US" sz="1050" dirty="0"/>
          </a:p>
        </p:txBody>
      </p:sp>
      <p:sp>
        <p:nvSpPr>
          <p:cNvPr id="13" name="bld1_261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61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own reusable accords</a:t>
            </a:r>
            <a:endParaRPr lang="en-US" sz="1650" dirty="0"/>
          </a:p>
        </p:txBody>
      </p:sp>
      <p:sp>
        <p:nvSpPr>
          <p:cNvPr id="15" name="bld1_261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amber, musk, sandalwood, citrus, leather, vanilla — build each once, then reach for it in any formula.</a:t>
            </a:r>
            <a:endParaRPr lang="en-US" sz="1250" dirty="0"/>
          </a:p>
        </p:txBody>
      </p:sp>
      <p:sp>
        <p:nvSpPr>
          <p:cNvPr id="16" name="bld2_261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2_261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with commercial bases</a:t>
            </a:r>
            <a:endParaRPr lang="en-US" sz="1650" dirty="0"/>
          </a:p>
        </p:txBody>
      </p:sp>
      <p:sp>
        <p:nvSpPr>
          <p:cNvPr id="18" name="bld2_261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accords sit alongside bases like Rose Givco in the same formula sheet — there's no rule against mixing them.</a:t>
            </a:r>
            <a:endParaRPr lang="en-US" sz="1250" dirty="0"/>
          </a:p>
        </p:txBody>
      </p:sp>
      <p:sp>
        <p:nvSpPr>
          <p:cNvPr id="19" name="bld3_262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62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get faster, not lazier</a:t>
            </a:r>
            <a:endParaRPr lang="en-US" sz="1650" dirty="0"/>
          </a:p>
        </p:txBody>
      </p:sp>
      <p:sp>
        <p:nvSpPr>
          <p:cNvPr id="21" name="bld3_262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library speeds up construction — it doesn't replace the judgement of balancing and modifying each formula.</a:t>
            </a:r>
            <a:endParaRPr lang="en-US" sz="1250" dirty="0"/>
          </a:p>
        </p:txBody>
      </p:sp>
      <p:sp>
        <p:nvSpPr>
          <p:cNvPr id="23" name="trans_fade_1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PROCESS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Build A Perfume</a:t>
            </a:r>
            <a:endParaRPr lang="en-US" sz="3200" dirty="0"/>
          </a:p>
        </p:txBody>
      </p:sp>
      <p:sp>
        <p:nvSpPr>
          <p:cNvPr id="7" name="bld1_2623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24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625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</a:t>
            </a:r>
            <a:endParaRPr lang="en-US" sz="1450" dirty="0"/>
          </a:p>
        </p:txBody>
      </p:sp>
      <p:sp>
        <p:nvSpPr>
          <p:cNvPr id="10" name="bld1_2626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direction: who it's for, the mood, the occasion, the one thing it needs to do.</a:t>
            </a:r>
            <a:endParaRPr lang="en-US" sz="1000" dirty="0"/>
          </a:p>
        </p:txBody>
      </p:sp>
      <p:sp>
        <p:nvSpPr>
          <p:cNvPr id="11" name="bld1_2627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628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629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630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</a:t>
            </a:r>
            <a:endParaRPr lang="en-US" sz="1450" dirty="0"/>
          </a:p>
        </p:txBody>
      </p:sp>
      <p:sp>
        <p:nvSpPr>
          <p:cNvPr id="15" name="bld2_2631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vivid sentence and a rough palette — the same starting move as building any accord.</a:t>
            </a:r>
            <a:endParaRPr lang="en-US" sz="1000" dirty="0"/>
          </a:p>
        </p:txBody>
      </p:sp>
      <p:sp>
        <p:nvSpPr>
          <p:cNvPr id="16" name="bld2_2632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633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634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635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selection</a:t>
            </a:r>
            <a:endParaRPr lang="en-US" sz="1450" dirty="0"/>
          </a:p>
        </p:txBody>
      </p:sp>
      <p:sp>
        <p:nvSpPr>
          <p:cNvPr id="20" name="bld3_2636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specific materials for each part of the idea, not just families.</a:t>
            </a:r>
            <a:endParaRPr lang="en-US" sz="1000" dirty="0"/>
          </a:p>
        </p:txBody>
      </p:sp>
      <p:sp>
        <p:nvSpPr>
          <p:cNvPr id="21" name="bld3_2637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638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639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640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</a:t>
            </a:r>
            <a:endParaRPr lang="en-US" sz="1450" dirty="0"/>
          </a:p>
        </p:txBody>
      </p:sp>
      <p:sp>
        <p:nvSpPr>
          <p:cNvPr id="25" name="bld4_2641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load-bearing accords separately, tested and balanced, before combining anything.</a:t>
            </a:r>
            <a:endParaRPr lang="en-US" sz="1000" dirty="0"/>
          </a:p>
        </p:txBody>
      </p:sp>
      <p:sp>
        <p:nvSpPr>
          <p:cNvPr id="27" name="trans_push_l_1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PROCESS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Build A Perfume</a:t>
            </a:r>
            <a:endParaRPr lang="en-US" sz="3200" dirty="0"/>
          </a:p>
        </p:txBody>
      </p:sp>
      <p:sp>
        <p:nvSpPr>
          <p:cNvPr id="7" name="bld1_2642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43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644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formula</a:t>
            </a:r>
            <a:endParaRPr lang="en-US" sz="1450" dirty="0"/>
          </a:p>
        </p:txBody>
      </p:sp>
      <p:sp>
        <p:nvSpPr>
          <p:cNvPr id="10" name="bld1_2645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 accords with top, heart and base roles in mind — a guide, not a rigid pyramid.</a:t>
            </a:r>
            <a:endParaRPr lang="en-US" sz="1000" dirty="0"/>
          </a:p>
        </p:txBody>
      </p:sp>
      <p:sp>
        <p:nvSpPr>
          <p:cNvPr id="11" name="bld1_2646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647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648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649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450" dirty="0"/>
          </a:p>
        </p:txBody>
      </p:sp>
      <p:sp>
        <p:nvSpPr>
          <p:cNvPr id="15" name="bld2_2650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it properly: diffusion, longevity, sweetness, freshness, balance, and where it turns muddy.</a:t>
            </a:r>
            <a:endParaRPr lang="en-US" sz="1000" dirty="0"/>
          </a:p>
        </p:txBody>
      </p:sp>
      <p:sp>
        <p:nvSpPr>
          <p:cNvPr id="16" name="bld2_2651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652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653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654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Modification</a:t>
            </a:r>
            <a:endParaRPr lang="en-US" sz="1450" dirty="0"/>
          </a:p>
        </p:txBody>
      </p:sp>
      <p:sp>
        <p:nvSpPr>
          <p:cNvPr id="20" name="bld3_2655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 — tame powerful materials, boost what's missing, fix what's cloudy.</a:t>
            </a:r>
            <a:endParaRPr lang="en-US" sz="1000" dirty="0"/>
          </a:p>
        </p:txBody>
      </p:sp>
      <p:sp>
        <p:nvSpPr>
          <p:cNvPr id="21" name="bld3_2656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657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658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659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formula</a:t>
            </a:r>
            <a:endParaRPr lang="en-US" sz="1450" dirty="0"/>
          </a:p>
        </p:txBody>
      </p:sp>
      <p:sp>
        <p:nvSpPr>
          <p:cNvPr id="25" name="bld4_2660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it in once evaluation stops turning up new problems — then keep the formula sheet as your record.</a:t>
            </a:r>
            <a:endParaRPr lang="en-US" sz="1000" dirty="0"/>
          </a:p>
        </p:txBody>
      </p:sp>
      <p:sp>
        <p:nvSpPr>
          <p:cNvPr id="27" name="trans_push_l_1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 MODEL, NOT A RULEBOOK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Top, heart and base — a guide, not a rulebook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77196" y="1030273"/>
            <a:ext cx="1341022" cy="134102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8961010" y="2381445"/>
            <a:ext cx="1173395" cy="1173395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4824" y="3732617"/>
            <a:ext cx="1005767" cy="1005767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overlapping stages, not three separate rooms.</a:t>
            </a:r>
            <a:endParaRPr lang="en-US" sz="1050" dirty="0"/>
          </a:p>
        </p:txBody>
      </p:sp>
      <p:sp>
        <p:nvSpPr>
          <p:cNvPr id="14" name="bld1_266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bld1_266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describes evaporation, not layers</a:t>
            </a:r>
            <a:endParaRPr lang="en-US" sz="1650" dirty="0"/>
          </a:p>
        </p:txBody>
      </p:sp>
      <p:sp>
        <p:nvSpPr>
          <p:cNvPr id="16" name="bld1_266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don't literally stack in three floors — they evaporate at different rates, and the pyramid is a way of talking about that.</a:t>
            </a:r>
            <a:endParaRPr lang="en-US" sz="1250" dirty="0"/>
          </a:p>
        </p:txBody>
      </p:sp>
      <p:sp>
        <p:nvSpPr>
          <p:cNvPr id="17" name="bld2_266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2_266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Useful for planning, not a rigid recipe</a:t>
            </a:r>
            <a:endParaRPr lang="en-US" sz="1650" dirty="0"/>
          </a:p>
        </p:txBody>
      </p:sp>
      <p:sp>
        <p:nvSpPr>
          <p:cNvPr id="19" name="bld2_266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rough top/heart/base balance while choosing your palette — but real formulas blend across all three constantly.</a:t>
            </a:r>
            <a:endParaRPr lang="en-US" sz="1250" dirty="0"/>
          </a:p>
        </p:txBody>
      </p:sp>
      <p:sp>
        <p:nvSpPr>
          <p:cNvPr id="20" name="bld3_266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266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blends across all three</a:t>
            </a:r>
            <a:endParaRPr lang="en-US" sz="1650" dirty="0"/>
          </a:p>
        </p:txBody>
      </p:sp>
      <p:sp>
        <p:nvSpPr>
          <p:cNvPr id="22" name="bld3_266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contemporary formulas mix fast and slow materials throughout, aiming for one unified character rather than three sequential acts.</a:t>
            </a:r>
            <a:endParaRPr lang="en-US" sz="1250" dirty="0"/>
          </a:p>
        </p:txBody>
      </p:sp>
      <p:sp>
        <p:nvSpPr>
          <p:cNvPr id="24" name="trans_fade_1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4" name="bld1_2670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1_2671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6" name="bld1_2672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7" name="bld2_2673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2_2674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9" name="bld2_2675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30" name="bld3_2676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677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2" name="bld3_2678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3" name="bld4_2679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680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5" name="bld4_2681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6" name="bld5_2682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5_2683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8" name="bld5_2684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9" name="bld6_2685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0" name="bld6_2686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41" name="bld6_2687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2" name="bld7_2688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3" name="bld7_2689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4" name="bld7_2690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5" name="bld8_2691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6" name="bld8_2692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7" name="bld8_2693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LOGIC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floral formula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" name="Shape 9"/>
          <p:cNvSpPr/>
          <p:nvPr/>
        </p:nvSpPr>
        <p:spPr>
          <a:xfrm>
            <a:off x="9286208" y="2144206"/>
            <a:ext cx="522999" cy="109829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9766698" y="2493302"/>
            <a:ext cx="522999" cy="109829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640000">
            <a:off x="9583167" y="3058151"/>
            <a:ext cx="522999" cy="109829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2960000">
            <a:off x="8989249" y="3058151"/>
            <a:ext cx="522999" cy="109829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8805718" y="2493302"/>
            <a:ext cx="522999" cy="109829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296668" y="2947532"/>
            <a:ext cx="502079" cy="50207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7" name="Shape 15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loud materials carry it; the quiet ones hold it together.</a:t>
            </a:r>
            <a:endParaRPr lang="en-US" sz="1050" dirty="0"/>
          </a:p>
        </p:txBody>
      </p:sp>
      <p:sp>
        <p:nvSpPr>
          <p:cNvPr id="19" name="bld1_269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1_269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naturals do the emotional work</a:t>
            </a:r>
            <a:endParaRPr lang="en-US" sz="1650" dirty="0"/>
          </a:p>
        </p:txBody>
      </p:sp>
      <p:sp>
        <p:nvSpPr>
          <p:cNvPr id="21" name="bld1_269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and jasmine absolute sit at just 8% and 6% (already at 10% dilution) — a tiny true contribution that still defines the whole character.</a:t>
            </a:r>
            <a:endParaRPr lang="en-US" sz="1250" dirty="0"/>
          </a:p>
        </p:txBody>
      </p:sp>
      <p:sp>
        <p:nvSpPr>
          <p:cNvPr id="22" name="bld2_269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bld2_269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and linalool carry it outward</a:t>
            </a:r>
            <a:endParaRPr lang="en-US" sz="1650" dirty="0"/>
          </a:p>
        </p:txBody>
      </p:sp>
      <p:sp>
        <p:nvSpPr>
          <p:cNvPr id="24" name="bld2_269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smells strongly "floral" alone — together they diffuse and soften the naturals rather than competing with them.</a:t>
            </a:r>
            <a:endParaRPr lang="en-US" sz="1250" dirty="0"/>
          </a:p>
        </p:txBody>
      </p:sp>
      <p:sp>
        <p:nvSpPr>
          <p:cNvPr id="25" name="bld3_270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bld3_270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 and Galaxolide are silent structure</a:t>
            </a:r>
            <a:endParaRPr lang="en-US" sz="1650" dirty="0"/>
          </a:p>
        </p:txBody>
      </p:sp>
      <p:sp>
        <p:nvSpPr>
          <p:cNvPr id="27" name="bld3_270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formula between them, and barely noticeable individually — they add volume and lasting power without their own smell on top.</a:t>
            </a:r>
            <a:endParaRPr lang="en-US" sz="1250" dirty="0"/>
          </a:p>
        </p:txBody>
      </p:sp>
      <p:sp>
        <p:nvSpPr>
          <p:cNvPr id="28" name="bld4_270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9" name="bld4_270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 closes the base, not the top</a:t>
            </a:r>
            <a:endParaRPr lang="en-US" sz="1650" dirty="0"/>
          </a:p>
        </p:txBody>
      </p:sp>
      <p:sp>
        <p:nvSpPr>
          <p:cNvPr id="30" name="bld4_270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8% at the very end keeps this floral from reading cold or sharp.</a:t>
            </a:r>
            <a:endParaRPr lang="en-US" sz="1250" dirty="0"/>
          </a:p>
        </p:txBody>
      </p:sp>
      <p:sp>
        <p:nvSpPr>
          <p:cNvPr id="32" name="trans_fade_1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bld1_2706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1_2707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6" name="bld1_2708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7" name="bld2_2709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2_2710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9" name="bld2_2711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30" name="bld3_2712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bld3_2713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2" name="bld3_2714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3" name="bld4_2715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716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5" name="bld4_2717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6" name="bld5_2718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5_2719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8" name="bld5_2720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9" name="bld6_2721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0" name="bld6_2722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41" name="bld6_2723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2" name="bld7_2724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3" name="bld7_2725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4" name="bld7_2726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5" name="bld8_2727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6" name="bld8_2728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7" name="bld8_2729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LOGIC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gourmand formula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9296668" y="2204874"/>
            <a:ext cx="502079" cy="1987395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40000">
            <a:off x="9542221" y="2445453"/>
            <a:ext cx="914" cy="1506236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12358" y="2502983"/>
            <a:ext cx="94140" cy="9414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9387670" y="2762390"/>
            <a:ext cx="94140" cy="9414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9462982" y="3021798"/>
            <a:ext cx="94140" cy="9414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9538294" y="3281205"/>
            <a:ext cx="94140" cy="9414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9613605" y="3540612"/>
            <a:ext cx="94140" cy="9414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88917" y="3800020"/>
            <a:ext cx="94140" cy="9414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9" name="Shape 17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sweet note here is balanced by something structural.</a:t>
            </a:r>
            <a:endParaRPr lang="en-US" sz="1050" dirty="0"/>
          </a:p>
        </p:txBody>
      </p:sp>
      <p:sp>
        <p:nvSpPr>
          <p:cNvPr id="21" name="bld1_273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1_273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 is doing defensive work</a:t>
            </a:r>
            <a:endParaRPr lang="en-US" sz="1650" dirty="0"/>
          </a:p>
        </p:txBody>
      </p:sp>
      <p:sp>
        <p:nvSpPr>
          <p:cNvPr id="23" name="bld1_273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10%, but its whole job is stopping the sweetness turning flat — remove it and the formula goes cloying fast.</a:t>
            </a:r>
            <a:endParaRPr lang="en-US" sz="1250" dirty="0"/>
          </a:p>
        </p:txBody>
      </p:sp>
      <p:sp>
        <p:nvSpPr>
          <p:cNvPr id="24" name="bld2_273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2_273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sweeteners, two jobs</a:t>
            </a:r>
            <a:endParaRPr lang="en-US" sz="1650" dirty="0"/>
          </a:p>
        </p:txBody>
      </p:sp>
      <p:sp>
        <p:nvSpPr>
          <p:cNvPr id="26" name="bld2_273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(small, sharp sugar-candy top) and Vanillin (larger, warm, longer-lasting) layer the sweetness instead of relying on one material for everything.</a:t>
            </a:r>
            <a:endParaRPr lang="en-US" sz="1250" dirty="0"/>
          </a:p>
        </p:txBody>
      </p:sp>
      <p:sp>
        <p:nvSpPr>
          <p:cNvPr id="27" name="bld3_273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8" name="bld3_273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 anchors 15% of the base</a:t>
            </a:r>
            <a:endParaRPr lang="en-US" sz="1650" dirty="0"/>
          </a:p>
        </p:txBody>
      </p:sp>
      <p:sp>
        <p:nvSpPr>
          <p:cNvPr id="29" name="bld3_273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contrast stops an all-sweet formula from feeling one-dimensional.</a:t>
            </a:r>
            <a:endParaRPr lang="en-US" sz="1250" dirty="0"/>
          </a:p>
        </p:txBody>
      </p:sp>
      <p:sp>
        <p:nvSpPr>
          <p:cNvPr id="30" name="bld4_273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1" name="bld4_274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 bridges sweet and woody</a:t>
            </a:r>
            <a:endParaRPr lang="en-US" sz="1650" dirty="0"/>
          </a:p>
        </p:txBody>
      </p:sp>
      <p:sp>
        <p:nvSpPr>
          <p:cNvPr id="32" name="bld4_274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spiced, musky wood that keeps the transition from heart to base smooth rather than abrupt.</a:t>
            </a:r>
            <a:endParaRPr lang="en-US" sz="1250" dirty="0"/>
          </a:p>
        </p:txBody>
      </p:sp>
      <p:sp>
        <p:nvSpPr>
          <p:cNvPr id="34" name="trans_fade_1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PROFESSIONAL-STYLE FORMULA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Reverse-engineering a famous structure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 rot="9000000">
            <a:off x="9024709" y="2717412"/>
            <a:ext cx="1213357" cy="121335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6000000">
            <a:off x="8752749" y="2591893"/>
            <a:ext cx="753118" cy="753118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1400000">
            <a:off x="9610467" y="2466373"/>
            <a:ext cx="627599" cy="6275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fragrance, studied as a structure — not copied as a secret.</a:t>
            </a:r>
            <a:endParaRPr lang="en-US" sz="1050" dirty="0"/>
          </a:p>
        </p:txBody>
      </p:sp>
      <p:sp>
        <p:nvSpPr>
          <p:cNvPr id="16" name="bld1_274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1_274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"Type" formulas are educational reconstructions</a:t>
            </a:r>
            <a:endParaRPr lang="en-US" sz="1650" dirty="0"/>
          </a:p>
        </p:txBody>
      </p:sp>
      <p:sp>
        <p:nvSpPr>
          <p:cNvPr id="18" name="bld1_274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 communities publish approximate recreations of famous fragrances for teaching — not the brand's actual proprietary formula.</a:t>
            </a:r>
            <a:endParaRPr lang="en-US" sz="1250" dirty="0"/>
          </a:p>
        </p:txBody>
      </p:sp>
      <p:sp>
        <p:nvSpPr>
          <p:cNvPr id="19" name="bld2_274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2_274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around three named accords</a:t>
            </a:r>
            <a:endParaRPr lang="en-US" sz="1650" dirty="0"/>
          </a:p>
        </p:txBody>
      </p:sp>
      <p:sp>
        <p:nvSpPr>
          <p:cNvPr id="21" name="bld2_274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Maison Francis Kurkdjian has publicly described Baccarat Rouge 540 as built from a mineral accord, a "fire and heat" accord and a savoir-faire accord — a genuinely useful structure to study.</a:t>
            </a:r>
            <a:endParaRPr lang="en-US" sz="1250" dirty="0"/>
          </a:p>
        </p:txBody>
      </p:sp>
      <p:sp>
        <p:nvSpPr>
          <p:cNvPr id="22" name="bld3_274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bld3_274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figures ahead are illustrative</a:t>
            </a:r>
            <a:endParaRPr lang="en-US" sz="1650" dirty="0"/>
          </a:p>
        </p:txBody>
      </p:sp>
      <p:sp>
        <p:nvSpPr>
          <p:cNvPr id="24" name="bld3_275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from published educational analysis, not the brand's confidential formula — treat the proportions as a teaching tool, not a guarantee of what's actually inside the bottle.</a:t>
            </a:r>
            <a:endParaRPr lang="en-US" sz="1250" dirty="0"/>
          </a:p>
        </p:txBody>
      </p:sp>
      <p:sp>
        <p:nvSpPr>
          <p:cNvPr id="26" name="trans_fade_1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AN EDUCATIONAL RECONSTRUCTION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Baccarat Rouge 540-style structure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"Radiant, mineral-clean amber-musk with a warm saffron-jasmine heart." (Educational approximation — not the original formula.)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3883045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38830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1685" y="2850551"/>
            <a:ext cx="299549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31685" y="2850551"/>
            <a:ext cx="2995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27177" y="2850551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7177" y="285055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424172" y="2850551"/>
            <a:ext cx="1996995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24172" y="285055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421167" y="2850551"/>
            <a:ext cx="221888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bld1_2751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1_2752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35%</a:t>
            </a:r>
            <a:endParaRPr lang="en-US" sz="1250" dirty="0"/>
          </a:p>
        </p:txBody>
      </p:sp>
      <p:sp>
        <p:nvSpPr>
          <p:cNvPr id="19" name="bld1_2753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diffusion — the single largest material</a:t>
            </a:r>
            <a:endParaRPr lang="en-US" sz="1000" dirty="0"/>
          </a:p>
        </p:txBody>
      </p:sp>
      <p:sp>
        <p:nvSpPr>
          <p:cNvPr id="20" name="bld2_2754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1" name="bld2_2755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DPG (carrier)  —  27%</a:t>
            </a:r>
            <a:endParaRPr lang="en-US" sz="1250" dirty="0"/>
          </a:p>
        </p:txBody>
      </p:sp>
      <p:sp>
        <p:nvSpPr>
          <p:cNvPr id="22" name="bld2_2756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Dilutes the compound — not part of the scent itself</a:t>
            </a:r>
            <a:endParaRPr lang="en-US" sz="1000" dirty="0"/>
          </a:p>
        </p:txBody>
      </p:sp>
      <p:sp>
        <p:nvSpPr>
          <p:cNvPr id="23" name="bld3_2757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4" name="bld3_2758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Ambroxan-family  —  18%</a:t>
            </a:r>
            <a:endParaRPr lang="en-US" sz="1250" dirty="0"/>
          </a:p>
        </p:txBody>
      </p:sp>
      <p:sp>
        <p:nvSpPr>
          <p:cNvPr id="25" name="bld3_2759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Amber-musk skin-warmth &amp; lasting power</a:t>
            </a:r>
            <a:endParaRPr lang="en-US" sz="1000" dirty="0"/>
          </a:p>
        </p:txBody>
      </p:sp>
      <p:sp>
        <p:nvSpPr>
          <p:cNvPr id="26" name="bld4_2760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7" name="bld4_2761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complexity  —  18%</a:t>
            </a:r>
            <a:endParaRPr lang="en-US" sz="1250" dirty="0"/>
          </a:p>
        </p:txBody>
      </p:sp>
      <p:sp>
        <p:nvSpPr>
          <p:cNvPr id="28" name="bld4_2762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Jasmine, saffron, fir balsam, woods &amp; musks — the mineral/fire/savoir-faire facets</a:t>
            </a:r>
            <a:endParaRPr lang="en-US" sz="1000" dirty="0"/>
          </a:p>
        </p:txBody>
      </p:sp>
      <p:sp>
        <p:nvSpPr>
          <p:cNvPr id="29" name="bld5_2763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0" name="bld5_2764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2%</a:t>
            </a:r>
            <a:endParaRPr lang="en-US" sz="1250" dirty="0"/>
          </a:p>
        </p:txBody>
      </p:sp>
      <p:sp>
        <p:nvSpPr>
          <p:cNvPr id="31" name="bld5_2765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whisper of sugared warmth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4" name="trans_push_l_1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ANALYSING THE STRUCTURE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formula works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377077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2007358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bld1_276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1" name="bld1_276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material carries the diffusion</a:t>
            </a:r>
            <a:endParaRPr lang="en-US" sz="1650" dirty="0"/>
          </a:p>
        </p:txBody>
      </p:sp>
      <p:sp>
        <p:nvSpPr>
          <p:cNvPr id="12" name="bld1_276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around a third of the formula, Hedione does the job usually split across several transparent florals — one very safe, very diffusive material, used boldly.</a:t>
            </a:r>
            <a:endParaRPr lang="en-US" sz="1250" dirty="0"/>
          </a:p>
        </p:txBody>
      </p:sp>
      <p:sp>
        <p:nvSpPr>
          <p:cNvPr id="13" name="bld2_276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bld2_277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"fixative" is nearly a fifth of the formula</a:t>
            </a:r>
            <a:endParaRPr lang="en-US" sz="1650" dirty="0"/>
          </a:p>
        </p:txBody>
      </p:sp>
      <p:sp>
        <p:nvSpPr>
          <p:cNvPr id="15" name="bld2_277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Ambroxan-family materials are usually a supporting player at a few percent — here it's promoted to a lead role, which is exactly what gives the signature skin-radiating effect.</a:t>
            </a:r>
            <a:endParaRPr lang="en-US" sz="1250" dirty="0"/>
          </a:p>
        </p:txBody>
      </p:sp>
      <p:sp>
        <p:nvSpPr>
          <p:cNvPr id="16" name="bld3_277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3_277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tiny dose does real emotional work</a:t>
            </a:r>
            <a:endParaRPr lang="en-US" sz="1650" dirty="0"/>
          </a:p>
        </p:txBody>
      </p:sp>
      <p:sp>
        <p:nvSpPr>
          <p:cNvPr id="18" name="bld3_277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2% ethyl maltol reads as warm and gourmand-adjacent without tipping the whole thing into dessert territory.</a:t>
            </a:r>
            <a:endParaRPr lang="en-US" sz="1250" dirty="0"/>
          </a:p>
        </p:txBody>
      </p:sp>
      <p:sp>
        <p:nvSpPr>
          <p:cNvPr id="19" name="bld4_277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4_277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earn their keep in a small space</a:t>
            </a:r>
            <a:endParaRPr lang="en-US" sz="1650" dirty="0"/>
          </a:p>
        </p:txBody>
      </p:sp>
      <p:sp>
        <p:nvSpPr>
          <p:cNvPr id="21" name="bld4_277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~18% carries jasmine, saffron, fir balsam and supporting musks — proof that complexity doesn't need a large percentage, just the right materials.</a:t>
            </a:r>
            <a:endParaRPr lang="en-US" sz="1250" dirty="0"/>
          </a:p>
        </p:txBody>
      </p:sp>
      <p:sp>
        <p:nvSpPr>
          <p:cNvPr id="23" name="trans_fade_1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TRANSFERABLE SKILL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any professional formula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377077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2007358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bld1_277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1" name="bld1_277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largest percentage first</a:t>
            </a:r>
            <a:endParaRPr lang="en-US" sz="1650" dirty="0"/>
          </a:p>
        </p:txBody>
      </p:sp>
      <p:sp>
        <p:nvSpPr>
          <p:cNvPr id="12" name="bld1_278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usually the material doing the load-bearing work — start analysis there, not with the exotic-sounding trace materials.</a:t>
            </a:r>
            <a:endParaRPr lang="en-US" sz="1250" dirty="0"/>
          </a:p>
        </p:txBody>
      </p:sp>
      <p:sp>
        <p:nvSpPr>
          <p:cNvPr id="13" name="bld2_278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2_278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what role, not just what name</a:t>
            </a:r>
            <a:endParaRPr lang="en-US" sz="1650" dirty="0"/>
          </a:p>
        </p:txBody>
      </p:sp>
      <p:sp>
        <p:nvSpPr>
          <p:cNvPr id="15" name="bld2_278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material: diffusion, fixation, structure or accent? The percentage usually tells you which.</a:t>
            </a:r>
            <a:endParaRPr lang="en-US" sz="1250" dirty="0"/>
          </a:p>
        </p:txBody>
      </p:sp>
      <p:sp>
        <p:nvSpPr>
          <p:cNvPr id="16" name="bld3_278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78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what's surprisingly small</a:t>
            </a:r>
            <a:endParaRPr lang="en-US" sz="1650" dirty="0"/>
          </a:p>
        </p:txBody>
      </p:sp>
      <p:sp>
        <p:nvSpPr>
          <p:cNvPr id="18" name="bld3_278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accord is often built from a tiny amount of an expensive natural, supported by cheap synthetics doing the heavy lifting.</a:t>
            </a:r>
            <a:endParaRPr lang="en-US" sz="1250" dirty="0"/>
          </a:p>
        </p:txBody>
      </p:sp>
      <p:sp>
        <p:nvSpPr>
          <p:cNvPr id="19" name="bld4_278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4_278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 published reconstructions as teaching tools</a:t>
            </a:r>
            <a:endParaRPr lang="en-US" sz="1650" dirty="0"/>
          </a:p>
        </p:txBody>
      </p:sp>
      <p:sp>
        <p:nvSpPr>
          <p:cNvPr id="21" name="bld4_278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learning structure and proportion logic — not a guarantee of the original, confidential formula.</a:t>
            </a:r>
            <a:endParaRPr lang="en-US" sz="1250" dirty="0"/>
          </a:p>
        </p:txBody>
      </p:sp>
      <p:sp>
        <p:nvSpPr>
          <p:cNvPr id="23" name="trans_fade_1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10" name="trans_fade_1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formula across a real 48-hour timeline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framework — opening, heart, drydown, diffusion, balance and more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troubleshooting guide — symptom to fix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19" name="trans_fade_1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7" name="bld1_279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1_279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9" name="bld1_279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20" name="bld2_279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2_279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22" name="bld2_279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23" name="bld3_279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279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5" name="bld3_279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7" name="trans_fade_1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799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2800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bld1_2801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2802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2" name="bld2_2803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804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4" name="bld2_2805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bld2_2806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6" name="bld3_2807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808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3_2809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bld3_2810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20" name="bld4_2811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812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2" name="bld4_2813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3" name="bld4_2814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4" name="bld5_2815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816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817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818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819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820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821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822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4" name="trans_push_l_1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an accord or formula, not "do I like it?"</a:t>
            </a:r>
            <a:endParaRPr lang="en-US" sz="3200" dirty="0"/>
          </a:p>
        </p:txBody>
      </p:sp>
      <p:sp>
        <p:nvSpPr>
          <p:cNvPr id="7" name="bld1_2823"/>
          <p:cNvSpPr txBox="1"/>
          <p:nvPr/>
        </p:nvSpPr>
        <p:spPr>
          <a:xfrm>
            <a:off x="548640" y="271576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STAGES</a:t>
            </a:r>
            <a:endParaRPr lang="en-US" sz="1250" dirty="0"/>
          </a:p>
        </p:txBody>
      </p:sp>
      <p:sp>
        <p:nvSpPr>
          <p:cNvPr id="8" name="bld1_2824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2825"/>
          <p:cNvSpPr txBox="1"/>
          <p:nvPr/>
        </p:nvSpPr>
        <p:spPr>
          <a:xfrm>
            <a:off x="841248" y="31089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— strong enough, or does it vanish?</a:t>
            </a:r>
            <a:endParaRPr lang="en-US" sz="1200" dirty="0"/>
          </a:p>
        </p:txBody>
      </p:sp>
      <p:sp>
        <p:nvSpPr>
          <p:cNvPr id="10" name="bld1_2826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2827"/>
          <p:cNvSpPr txBox="1"/>
          <p:nvPr/>
        </p:nvSpPr>
        <p:spPr>
          <a:xfrm>
            <a:off x="841248" y="35661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— does it hold attention once the top fades?</a:t>
            </a:r>
            <a:endParaRPr lang="en-US" sz="1200" dirty="0"/>
          </a:p>
        </p:txBody>
      </p:sp>
      <p:sp>
        <p:nvSpPr>
          <p:cNvPr id="12" name="bld1_2828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2829"/>
          <p:cNvSpPr txBox="1"/>
          <p:nvPr/>
        </p:nvSpPr>
        <p:spPr>
          <a:xfrm>
            <a:off x="841248" y="40233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— does the ending still serve the idea?</a:t>
            </a:r>
            <a:endParaRPr lang="en-US" sz="1200" dirty="0"/>
          </a:p>
        </p:txBody>
      </p:sp>
      <p:sp>
        <p:nvSpPr>
          <p:cNvPr id="14" name="bld1_2830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5" name="bld1_2831"/>
          <p:cNvSpPr txBox="1"/>
          <p:nvPr/>
        </p:nvSpPr>
        <p:spPr>
          <a:xfrm>
            <a:off x="841248" y="44805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— does it project, or stay too close to the skin?</a:t>
            </a:r>
            <a:endParaRPr lang="en-US" sz="1200" dirty="0"/>
          </a:p>
        </p:txBody>
      </p:sp>
      <p:sp>
        <p:nvSpPr>
          <p:cNvPr id="16" name="bld2_2832"/>
          <p:cNvSpPr txBox="1"/>
          <p:nvPr/>
        </p:nvSpPr>
        <p:spPr>
          <a:xfrm>
            <a:off x="4353458" y="271576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&amp; PERFORMANCE</a:t>
            </a:r>
            <a:endParaRPr lang="en-US" sz="1250" dirty="0"/>
          </a:p>
        </p:txBody>
      </p:sp>
      <p:sp>
        <p:nvSpPr>
          <p:cNvPr id="17" name="bld2_2833"/>
          <p:cNvSpPr/>
          <p:nvPr/>
        </p:nvSpPr>
        <p:spPr>
          <a:xfrm>
            <a:off x="435345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8" name="bld2_2834"/>
          <p:cNvSpPr txBox="1"/>
          <p:nvPr/>
        </p:nvSpPr>
        <p:spPr>
          <a:xfrm>
            <a:off x="4646066" y="31089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— sweet, dry, green or heavy: is anything overdone?</a:t>
            </a:r>
            <a:endParaRPr lang="en-US" sz="1200" dirty="0"/>
          </a:p>
        </p:txBody>
      </p:sp>
      <p:sp>
        <p:nvSpPr>
          <p:cNvPr id="19" name="bld2_2835"/>
          <p:cNvSpPr/>
          <p:nvPr/>
        </p:nvSpPr>
        <p:spPr>
          <a:xfrm>
            <a:off x="435345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0" name="bld2_2836"/>
          <p:cNvSpPr txBox="1"/>
          <p:nvPr/>
        </p:nvSpPr>
        <p:spPr>
          <a:xfrm>
            <a:off x="4646066" y="35661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— does it feel bright, or does it read stale?</a:t>
            </a:r>
            <a:endParaRPr lang="en-US" sz="1200" dirty="0"/>
          </a:p>
        </p:txBody>
      </p:sp>
      <p:sp>
        <p:nvSpPr>
          <p:cNvPr id="21" name="bld2_2837"/>
          <p:cNvSpPr/>
          <p:nvPr/>
        </p:nvSpPr>
        <p:spPr>
          <a:xfrm>
            <a:off x="435345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2" name="bld2_2838"/>
          <p:cNvSpPr txBox="1"/>
          <p:nvPr/>
        </p:nvSpPr>
        <p:spPr>
          <a:xfrm>
            <a:off x="4646066" y="40233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— smooth or rough at each stage?</a:t>
            </a:r>
            <a:endParaRPr lang="en-US" sz="1200" dirty="0"/>
          </a:p>
        </p:txBody>
      </p:sp>
      <p:sp>
        <p:nvSpPr>
          <p:cNvPr id="23" name="bld2_2839"/>
          <p:cNvSpPr/>
          <p:nvPr/>
        </p:nvSpPr>
        <p:spPr>
          <a:xfrm>
            <a:off x="4353458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4" name="bld2_2840"/>
          <p:cNvSpPr txBox="1"/>
          <p:nvPr/>
        </p:nvSpPr>
        <p:spPr>
          <a:xfrm>
            <a:off x="4646066" y="44805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&amp; longevity — how loud is it, and how long does it actually last?</a:t>
            </a:r>
            <a:endParaRPr lang="en-US" sz="1200" dirty="0"/>
          </a:p>
        </p:txBody>
      </p:sp>
      <p:sp>
        <p:nvSpPr>
          <p:cNvPr id="25" name="bld3_2841"/>
          <p:cNvSpPr txBox="1"/>
          <p:nvPr/>
        </p:nvSpPr>
        <p:spPr>
          <a:xfrm>
            <a:off x="8158277" y="271576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DIRECTION</a:t>
            </a:r>
            <a:endParaRPr lang="en-US" sz="1250" dirty="0"/>
          </a:p>
        </p:txBody>
      </p:sp>
      <p:sp>
        <p:nvSpPr>
          <p:cNvPr id="26" name="bld3_2842"/>
          <p:cNvSpPr/>
          <p:nvPr/>
        </p:nvSpPr>
        <p:spPr>
          <a:xfrm>
            <a:off x="8158277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7" name="bld3_2843"/>
          <p:cNvSpPr txBox="1"/>
          <p:nvPr/>
        </p:nvSpPr>
        <p:spPr>
          <a:xfrm>
            <a:off x="8450885" y="31089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dominating the formula?</a:t>
            </a:r>
            <a:endParaRPr lang="en-US" sz="1200" dirty="0"/>
          </a:p>
        </p:txBody>
      </p:sp>
      <p:sp>
        <p:nvSpPr>
          <p:cNvPr id="28" name="bld3_2844"/>
          <p:cNvSpPr/>
          <p:nvPr/>
        </p:nvSpPr>
        <p:spPr>
          <a:xfrm>
            <a:off x="8158277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9" name="bld3_2845"/>
          <p:cNvSpPr txBox="1"/>
          <p:nvPr/>
        </p:nvSpPr>
        <p:spPr>
          <a:xfrm>
            <a:off x="8450885" y="35661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 from it?</a:t>
            </a:r>
            <a:endParaRPr lang="en-US" sz="1200" dirty="0"/>
          </a:p>
        </p:txBody>
      </p:sp>
      <p:sp>
        <p:nvSpPr>
          <p:cNvPr id="30" name="bld3_2846"/>
          <p:cNvSpPr/>
          <p:nvPr/>
        </p:nvSpPr>
        <p:spPr>
          <a:xfrm>
            <a:off x="8158277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1" name="bld3_2847"/>
          <p:cNvSpPr txBox="1"/>
          <p:nvPr/>
        </p:nvSpPr>
        <p:spPr>
          <a:xfrm>
            <a:off x="8450885" y="40233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increase or decrease first?</a:t>
            </a:r>
            <a:endParaRPr lang="en-US" sz="1200" dirty="0"/>
          </a:p>
        </p:txBody>
      </p:sp>
      <p:sp>
        <p:nvSpPr>
          <p:cNvPr id="32" name="bld3_2848"/>
          <p:cNvSpPr/>
          <p:nvPr/>
        </p:nvSpPr>
        <p:spPr>
          <a:xfrm>
            <a:off x="8158277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3" name="bld3_2849"/>
          <p:cNvSpPr txBox="1"/>
          <p:nvPr/>
        </p:nvSpPr>
        <p:spPr>
          <a:xfrm>
            <a:off x="8450885" y="448056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still match the original brief?</a:t>
            </a:r>
            <a:endParaRPr lang="en-US" sz="1200" dirty="0"/>
          </a:p>
        </p:txBody>
      </p:sp>
      <p:sp>
        <p:nvSpPr>
          <p:cNvPr id="35" name="trans_fade_1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FIX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a rough formula</a:t>
            </a:r>
            <a:endParaRPr lang="en-US" sz="3200" dirty="0"/>
          </a:p>
        </p:txBody>
      </p:sp>
      <p:sp>
        <p:nvSpPr>
          <p:cNvPr id="7" name="bld1_2850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85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852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flat or boring</a:t>
            </a:r>
            <a:endParaRPr lang="en-US" sz="1450" dirty="0"/>
          </a:p>
        </p:txBody>
      </p:sp>
      <p:sp>
        <p:nvSpPr>
          <p:cNvPr id="10" name="bld1_2853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diffusive material — Hedione or a fresh citrus top — to open the formula up and give it lift.</a:t>
            </a:r>
            <a:endParaRPr lang="en-US" sz="1080" dirty="0"/>
          </a:p>
        </p:txBody>
      </p:sp>
      <p:sp>
        <p:nvSpPr>
          <p:cNvPr id="11" name="bld2_2854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855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856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sweet or cloying</a:t>
            </a:r>
            <a:endParaRPr lang="en-US" sz="1450" dirty="0"/>
          </a:p>
        </p:txBody>
      </p:sp>
      <p:sp>
        <p:nvSpPr>
          <p:cNvPr id="14" name="bld2_2857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gourmand materials, or add a dry, bitter contrast like vetiver or bergamot to cut through it.</a:t>
            </a:r>
            <a:endParaRPr lang="en-US" sz="1080" dirty="0"/>
          </a:p>
        </p:txBody>
      </p:sp>
      <p:sp>
        <p:nvSpPr>
          <p:cNvPr id="15" name="bld3_2858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859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860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 last</a:t>
            </a:r>
            <a:endParaRPr lang="en-US" sz="1450" dirty="0"/>
          </a:p>
        </p:txBody>
      </p:sp>
      <p:sp>
        <p:nvSpPr>
          <p:cNvPr id="18" name="bld3_2861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fixative or base material — a musk, a resin, a heavier wood — to anchor the drydown.</a:t>
            </a:r>
            <a:endParaRPr lang="en-US" sz="1080" dirty="0"/>
          </a:p>
        </p:txBody>
      </p:sp>
      <p:sp>
        <p:nvSpPr>
          <p:cNvPr id="19" name="bld4_2862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86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864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material dominates</a:t>
            </a:r>
            <a:endParaRPr lang="en-US" sz="1450" dirty="0"/>
          </a:p>
        </p:txBody>
      </p:sp>
      <p:sp>
        <p:nvSpPr>
          <p:cNvPr id="22" name="bld4_2865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that material's percentage in small increments, re-evaluating on a fresh strip after each change.</a:t>
            </a:r>
            <a:endParaRPr lang="en-US" sz="1080" dirty="0"/>
          </a:p>
        </p:txBody>
      </p:sp>
      <p:sp>
        <p:nvSpPr>
          <p:cNvPr id="23" name="bld5_2866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867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868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harsh or rough</a:t>
            </a:r>
            <a:endParaRPr lang="en-US" sz="1450" dirty="0"/>
          </a:p>
        </p:txBody>
      </p:sp>
      <p:sp>
        <p:nvSpPr>
          <p:cNvPr id="26" name="bld5_2869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the edges with a diffusive floral or a soft musk — they round out sharp, isolated materials.</a:t>
            </a:r>
            <a:endParaRPr lang="en-US" sz="1080" dirty="0"/>
          </a:p>
        </p:txBody>
      </p:sp>
      <p:sp>
        <p:nvSpPr>
          <p:cNvPr id="27" name="bld6_2870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871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872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is weak</a:t>
            </a:r>
            <a:endParaRPr lang="en-US" sz="1450" dirty="0"/>
          </a:p>
        </p:txBody>
      </p:sp>
      <p:sp>
        <p:nvSpPr>
          <p:cNvPr id="30" name="bld6_2873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top-note percentage, or add a lift material like an aldehyde or citrus booster.</a:t>
            </a:r>
            <a:endParaRPr lang="en-US" sz="1080" dirty="0"/>
          </a:p>
        </p:txBody>
      </p:sp>
      <p:sp>
        <p:nvSpPr>
          <p:cNvPr id="32" name="trans_fade_1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7" name="bld1_2874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87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876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2877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11" name="bld1_2878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879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880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881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5" name="bld2_2882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6" name="bld2_2883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884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885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886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2887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21" name="bld3_2888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889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890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891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5" name="bld4_2892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6" name="bld4_2893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894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895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896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30" name="bld5_2897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31" name="bld5_2898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899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900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901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5" name="bld6_2902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7" name="trans_push_l_1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10" name="bld1_2903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904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905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4" name="trans_wipe_l_1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10" name="trans_fade_1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vs. everyday alcohol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 up from a small test batch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Compounding, bottling and labelling basics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0" name="trans_fade_1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427553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52975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573555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08456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906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90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908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24" name="bld1_2909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25" name="bld2_2910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911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912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28" name="bld2_2913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29" name="bld3_2914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915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916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32" name="bld3_2917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34" name="trans_fade_1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2" name="bld1_2918"/>
          <p:cNvSpPr/>
          <p:nvPr/>
        </p:nvSpPr>
        <p:spPr>
          <a:xfrm>
            <a:off x="566928" y="436918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2919"/>
          <p:cNvSpPr txBox="1"/>
          <p:nvPr/>
        </p:nvSpPr>
        <p:spPr>
          <a:xfrm>
            <a:off x="841248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4" name="bld1_2920"/>
          <p:cNvSpPr txBox="1"/>
          <p:nvPr/>
        </p:nvSpPr>
        <p:spPr>
          <a:xfrm>
            <a:off x="841248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5" name="bld2_2921"/>
          <p:cNvSpPr/>
          <p:nvPr/>
        </p:nvSpPr>
        <p:spPr>
          <a:xfrm>
            <a:off x="6297016" y="436918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6" name="bld2_2922"/>
          <p:cNvSpPr txBox="1"/>
          <p:nvPr/>
        </p:nvSpPr>
        <p:spPr>
          <a:xfrm>
            <a:off x="6571336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7" name="bld2_2923"/>
          <p:cNvSpPr txBox="1"/>
          <p:nvPr/>
        </p:nvSpPr>
        <p:spPr>
          <a:xfrm>
            <a:off x="6571336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31375" y="294272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20" name="trans_push_l_1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is optional, not required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4" name="bld1_292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5" name="bld1_292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fine fragrances skip it entirely</a:t>
            </a:r>
            <a:endParaRPr lang="en-US" sz="1650" dirty="0"/>
          </a:p>
        </p:txBody>
      </p:sp>
      <p:sp>
        <p:nvSpPr>
          <p:cNvPr id="16" name="bld1_292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alcohol-based EDPs and extraits work perfectly well as concentrate and alcohol alone, with no water added at all.</a:t>
            </a:r>
            <a:endParaRPr lang="en-US" sz="1250" dirty="0"/>
          </a:p>
        </p:txBody>
      </p:sp>
      <p:sp>
        <p:nvSpPr>
          <p:cNvPr id="17" name="bld2_292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2_292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only for a specific reason</a:t>
            </a:r>
            <a:endParaRPr lang="en-US" sz="1650" dirty="0"/>
          </a:p>
        </p:txBody>
      </p:sp>
      <p:sp>
        <p:nvSpPr>
          <p:cNvPr id="19" name="bld2_292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or adjust the final feel — add it deliberately, never as a default step.</a:t>
            </a:r>
            <a:endParaRPr lang="en-US" sz="1250" dirty="0"/>
          </a:p>
        </p:txBody>
      </p:sp>
      <p:sp>
        <p:nvSpPr>
          <p:cNvPr id="20" name="bld3_293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3_293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do use it, use purified water</a:t>
            </a:r>
            <a:endParaRPr lang="en-US" sz="1650" dirty="0"/>
          </a:p>
        </p:txBody>
      </p:sp>
      <p:sp>
        <p:nvSpPr>
          <p:cNvPr id="22" name="bld3_293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Purified, distilled or deionised water only — tap water's minerals and impurities can cloud a compound or shorten its shelf life.</a:t>
            </a:r>
            <a:endParaRPr lang="en-US" sz="1250" dirty="0"/>
          </a:p>
        </p:txBody>
      </p:sp>
      <p:sp>
        <p:nvSpPr>
          <p:cNvPr id="23" name="bld4_293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4_293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25" name="bld4_293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— often added water — has pushed a material out of solution.</a:t>
            </a:r>
            <a:endParaRPr lang="en-US" sz="1250" dirty="0"/>
          </a:p>
        </p:txBody>
      </p:sp>
      <p:sp>
        <p:nvSpPr>
          <p:cNvPr id="27" name="trans_fade_1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24" name="bld1_293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293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6" name="bld1_293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7" name="bld2_293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2_294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9" name="bld2_294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30" name="bld3_294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1" name="bld3_294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32" name="bld3_294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33" name="bld4_294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4" name="bld4_294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5" name="bld4_294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7" name="trans_fade_1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7" name="bld1_2948"/>
          <p:cNvSpPr/>
          <p:nvPr/>
        </p:nvSpPr>
        <p:spPr>
          <a:xfrm>
            <a:off x="548640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949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950"/>
          <p:cNvSpPr txBox="1"/>
          <p:nvPr/>
        </p:nvSpPr>
        <p:spPr>
          <a:xfrm>
            <a:off x="713232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2951"/>
          <p:cNvSpPr txBox="1"/>
          <p:nvPr/>
        </p:nvSpPr>
        <p:spPr>
          <a:xfrm>
            <a:off x="713232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11" name="bld1_2952"/>
          <p:cNvSpPr txBox="1"/>
          <p:nvPr/>
        </p:nvSpPr>
        <p:spPr>
          <a:xfrm>
            <a:off x="185923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953"/>
          <p:cNvSpPr/>
          <p:nvPr/>
        </p:nvSpPr>
        <p:spPr>
          <a:xfrm>
            <a:off x="217927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954"/>
          <p:cNvSpPr txBox="1"/>
          <p:nvPr/>
        </p:nvSpPr>
        <p:spPr>
          <a:xfrm>
            <a:off x="234386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955"/>
          <p:cNvSpPr txBox="1"/>
          <p:nvPr/>
        </p:nvSpPr>
        <p:spPr>
          <a:xfrm>
            <a:off x="234386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5" name="bld2_2956"/>
          <p:cNvSpPr txBox="1"/>
          <p:nvPr/>
        </p:nvSpPr>
        <p:spPr>
          <a:xfrm>
            <a:off x="234386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6" name="bld2_2957"/>
          <p:cNvSpPr txBox="1"/>
          <p:nvPr/>
        </p:nvSpPr>
        <p:spPr>
          <a:xfrm>
            <a:off x="34898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958"/>
          <p:cNvSpPr/>
          <p:nvPr/>
        </p:nvSpPr>
        <p:spPr>
          <a:xfrm>
            <a:off x="3809913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959"/>
          <p:cNvSpPr txBox="1"/>
          <p:nvPr/>
        </p:nvSpPr>
        <p:spPr>
          <a:xfrm>
            <a:off x="39745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960"/>
          <p:cNvSpPr txBox="1"/>
          <p:nvPr/>
        </p:nvSpPr>
        <p:spPr>
          <a:xfrm>
            <a:off x="3974505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20" name="bld3_2961"/>
          <p:cNvSpPr txBox="1"/>
          <p:nvPr/>
        </p:nvSpPr>
        <p:spPr>
          <a:xfrm>
            <a:off x="3974505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21" name="bld3_2962"/>
          <p:cNvSpPr txBox="1"/>
          <p:nvPr/>
        </p:nvSpPr>
        <p:spPr>
          <a:xfrm>
            <a:off x="51205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963"/>
          <p:cNvSpPr/>
          <p:nvPr/>
        </p:nvSpPr>
        <p:spPr>
          <a:xfrm>
            <a:off x="544054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964"/>
          <p:cNvSpPr txBox="1"/>
          <p:nvPr/>
        </p:nvSpPr>
        <p:spPr>
          <a:xfrm>
            <a:off x="56051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965"/>
          <p:cNvSpPr txBox="1"/>
          <p:nvPr/>
        </p:nvSpPr>
        <p:spPr>
          <a:xfrm>
            <a:off x="560514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5" name="bld4_2966"/>
          <p:cNvSpPr txBox="1"/>
          <p:nvPr/>
        </p:nvSpPr>
        <p:spPr>
          <a:xfrm>
            <a:off x="560514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6" name="bld4_2967"/>
          <p:cNvSpPr txBox="1"/>
          <p:nvPr/>
        </p:nvSpPr>
        <p:spPr>
          <a:xfrm>
            <a:off x="67511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968"/>
          <p:cNvSpPr/>
          <p:nvPr/>
        </p:nvSpPr>
        <p:spPr>
          <a:xfrm>
            <a:off x="707118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969"/>
          <p:cNvSpPr txBox="1"/>
          <p:nvPr/>
        </p:nvSpPr>
        <p:spPr>
          <a:xfrm>
            <a:off x="72357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970"/>
          <p:cNvSpPr txBox="1"/>
          <p:nvPr/>
        </p:nvSpPr>
        <p:spPr>
          <a:xfrm>
            <a:off x="723577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30" name="bld5_2971"/>
          <p:cNvSpPr txBox="1"/>
          <p:nvPr/>
        </p:nvSpPr>
        <p:spPr>
          <a:xfrm>
            <a:off x="723577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31" name="bld5_2972"/>
          <p:cNvSpPr txBox="1"/>
          <p:nvPr/>
        </p:nvSpPr>
        <p:spPr>
          <a:xfrm>
            <a:off x="83817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973"/>
          <p:cNvSpPr/>
          <p:nvPr/>
        </p:nvSpPr>
        <p:spPr>
          <a:xfrm>
            <a:off x="8701822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974"/>
          <p:cNvSpPr txBox="1"/>
          <p:nvPr/>
        </p:nvSpPr>
        <p:spPr>
          <a:xfrm>
            <a:off x="88664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975"/>
          <p:cNvSpPr txBox="1"/>
          <p:nvPr/>
        </p:nvSpPr>
        <p:spPr>
          <a:xfrm>
            <a:off x="8866414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5" name="bld6_2976"/>
          <p:cNvSpPr txBox="1"/>
          <p:nvPr/>
        </p:nvSpPr>
        <p:spPr>
          <a:xfrm>
            <a:off x="8866414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6" name="bld6_2977"/>
          <p:cNvSpPr txBox="1"/>
          <p:nvPr/>
        </p:nvSpPr>
        <p:spPr>
          <a:xfrm>
            <a:off x="1001241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bld7_2978"/>
          <p:cNvSpPr/>
          <p:nvPr/>
        </p:nvSpPr>
        <p:spPr>
          <a:xfrm>
            <a:off x="1033245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7_2979"/>
          <p:cNvSpPr txBox="1"/>
          <p:nvPr/>
        </p:nvSpPr>
        <p:spPr>
          <a:xfrm>
            <a:off x="1049705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bld7_2980"/>
          <p:cNvSpPr txBox="1"/>
          <p:nvPr/>
        </p:nvSpPr>
        <p:spPr>
          <a:xfrm>
            <a:off x="1049705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40" name="bld7_2981"/>
          <p:cNvSpPr txBox="1"/>
          <p:nvPr/>
        </p:nvSpPr>
        <p:spPr>
          <a:xfrm>
            <a:off x="1049705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2" name="trans_push_l_1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8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10" name="trans_fade_1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5B3A52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maceration changes a formula's character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to wait, and how to tell it's ready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conditions that protect — or ruin — a batch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1" name="trans_fade_1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7" name="bld1_2982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98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984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10" name="bld1_2985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11" name="bld2_2986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987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988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4" name="bld2_2989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5" name="bld3_2990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991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992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8" name="bld3_2993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9" name="bld4_2994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995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996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shift</a:t>
            </a:r>
            <a:endParaRPr lang="en-US" sz="1450" dirty="0"/>
          </a:p>
        </p:txBody>
      </p:sp>
      <p:sp>
        <p:nvSpPr>
          <p:cNvPr id="22" name="bld4_2997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3" name="bld5_2998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999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000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6" name="bld5_3001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7" name="bld6_3002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3003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3004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30" name="bld6_3005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31" name="bld7_3006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3007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3" name="bld7_3008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4" name="bld7_3009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5" name="bld8_3010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3011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3012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8" name="bld8_3013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40" name="trans_fade_1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24" name="bld1_301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1_301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6" name="bld1_301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7" name="bld2_301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301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9" name="bld2_301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30" name="bld3_302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1" name="bld3_302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32" name="bld3_302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34" name="trans_fade_2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3023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3024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0" name="bld1_3025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11" name="bld1_3026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and hot</a:t>
            </a:r>
            <a:endParaRPr lang="en-US" sz="1050" dirty="0"/>
          </a:p>
        </p:txBody>
      </p:sp>
      <p:sp>
        <p:nvSpPr>
          <p:cNvPr id="12" name="bld2_3027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3028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4" name="bld2_3029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5" name="bld2_3030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6" name="bld3_3031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3032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3033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9" name="bld3_3034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20" name="bld4_3035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3036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2" name="bld4_3037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3" name="bld4_3038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4" name="bld5_3039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5_3040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6" name="bld5_3041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7" name="bld5_3042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30" name="trans_push_l_2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10" name="bld1_3043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3044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3045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4" name="trans_wipe_l_2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7" name="bld1_3046"/>
          <p:cNvSpPr txBox="1"/>
          <p:nvPr/>
        </p:nvSpPr>
        <p:spPr>
          <a:xfrm>
            <a:off x="548640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8" name="bld1_3047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3048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10" name="bld1_3049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3050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2" name="bld2_3051"/>
          <p:cNvSpPr txBox="1"/>
          <p:nvPr/>
        </p:nvSpPr>
        <p:spPr>
          <a:xfrm>
            <a:off x="4353458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3" name="bld2_3052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bld2_3053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5" name="bld2_3054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3055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7" name="bld3_3056"/>
          <p:cNvSpPr txBox="1"/>
          <p:nvPr/>
        </p:nvSpPr>
        <p:spPr>
          <a:xfrm>
            <a:off x="8158277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8" name="bld3_3057"/>
          <p:cNvSpPr/>
          <p:nvPr/>
        </p:nvSpPr>
        <p:spPr>
          <a:xfrm>
            <a:off x="8158277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bld3_3058"/>
          <p:cNvSpPr txBox="1"/>
          <p:nvPr/>
        </p:nvSpPr>
        <p:spPr>
          <a:xfrm>
            <a:off x="8450885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20" name="bld3_3059"/>
          <p:cNvSpPr/>
          <p:nvPr/>
        </p:nvSpPr>
        <p:spPr>
          <a:xfrm>
            <a:off x="8158277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bld3_3060"/>
          <p:cNvSpPr txBox="1"/>
          <p:nvPr/>
        </p:nvSpPr>
        <p:spPr>
          <a:xfrm>
            <a:off x="8450885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3" name="trans_fade_2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10" name="trans_fade_2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IFRA is, and how to use the Standards Library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limits, worked through two real calculations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SDS and allergen declaration actually cover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19" name="trans_fade_2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10" name="trans_fade_2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IFRA, and why does it matter?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501710" y="2152574"/>
            <a:ext cx="2091995" cy="2091995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768668" y="2675572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660732" y="3024238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660732" y="3372904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768668" y="3721570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safety framework, not a bureaucratic obstacle.</a:t>
            </a:r>
            <a:endParaRPr lang="en-US" sz="1050" dirty="0"/>
          </a:p>
        </p:txBody>
      </p:sp>
      <p:sp>
        <p:nvSpPr>
          <p:cNvPr id="18" name="bld1_306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bld1_306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industry self-regulatory body</a:t>
            </a:r>
            <a:endParaRPr lang="en-US" sz="1650" dirty="0"/>
          </a:p>
        </p:txBody>
      </p:sp>
      <p:sp>
        <p:nvSpPr>
          <p:cNvPr id="20" name="bld1_306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International Fragrance Association sets science-based usage standards for fragrance materials, developed with independent safety experts.</a:t>
            </a:r>
            <a:endParaRPr lang="en-US" sz="1250" dirty="0"/>
          </a:p>
        </p:txBody>
      </p:sp>
      <p:sp>
        <p:nvSpPr>
          <p:cNvPr id="21" name="bld2_306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2_306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Prevents real safety issues</a:t>
            </a:r>
            <a:endParaRPr lang="en-US" sz="1650" dirty="0"/>
          </a:p>
        </p:txBody>
      </p:sp>
      <p:sp>
        <p:nvSpPr>
          <p:cNvPr id="23" name="bld2_306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exist to prevent skin sensitisation, allergic reactions and other genuine safety concerns — not to make perfumery difficult.</a:t>
            </a:r>
            <a:endParaRPr lang="en-US" sz="1250" dirty="0"/>
          </a:p>
        </p:txBody>
      </p:sp>
      <p:sp>
        <p:nvSpPr>
          <p:cNvPr id="24" name="bld3_306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3_306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Followed by every reputable supplier and brand</a:t>
            </a:r>
            <a:endParaRPr lang="en-US" sz="1650" dirty="0"/>
          </a:p>
        </p:txBody>
      </p:sp>
      <p:sp>
        <p:nvSpPr>
          <p:cNvPr id="26" name="bld3_306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a fragrance product without checking IFRA compliance is a real legal and safety risk, not just a technicality.</a:t>
            </a:r>
            <a:endParaRPr lang="en-US" sz="1250" dirty="0"/>
          </a:p>
        </p:txBody>
      </p:sp>
      <p:sp>
        <p:nvSpPr>
          <p:cNvPr id="28" name="trans_fade_2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FRAMEWORK, IN FOUR PARTS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3070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2694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597510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597510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2694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3072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19" name="bld1_3073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20" name="bld2_3074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4477337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3076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25" name="bld2_3077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26" name="bld3_3078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4949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30" name="bld3_3080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31" name="bld3_3081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32" name="bld4_3082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1397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1103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103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01397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0" name="bld4_3084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41" name="bld4_3085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43" name="trans_fade_2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40" grpId="0"/>
      <p:bldP spid="41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PRODUCTS ARE EQUAL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Categories, and why Category 4 matters here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383310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4803619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3086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308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3088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Categories track exposure</a:t>
            </a:r>
            <a:endParaRPr lang="en-US" sz="1450" dirty="0"/>
          </a:p>
        </p:txBody>
      </p:sp>
      <p:sp>
        <p:nvSpPr>
          <p:cNvPr id="13" name="bld1_3089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rinse-off soap, a leave-on lotion and a fine fragrance carry different safety margins — each gets its own limit.</a:t>
            </a:r>
            <a:endParaRPr lang="en-US" sz="1080" dirty="0"/>
          </a:p>
        </p:txBody>
      </p:sp>
      <p:sp>
        <p:nvSpPr>
          <p:cNvPr id="14" name="bld2_3090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3091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2_3092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4 = fine fragrance</a:t>
            </a:r>
            <a:endParaRPr lang="en-US" sz="1450" dirty="0"/>
          </a:p>
        </p:txBody>
      </p:sp>
      <p:sp>
        <p:nvSpPr>
          <p:cNvPr id="17" name="bld2_3093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Perfumes, EDPs and extraits fall under Category 4 — the category this course's formulas are built for.</a:t>
            </a:r>
            <a:endParaRPr lang="en-US" sz="1080" dirty="0"/>
          </a:p>
        </p:txBody>
      </p:sp>
      <p:sp>
        <p:nvSpPr>
          <p:cNvPr id="18" name="bld3_3094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3095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3096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 can change</a:t>
            </a:r>
            <a:endParaRPr lang="en-US" sz="1450" dirty="0"/>
          </a:p>
        </p:txBody>
      </p:sp>
      <p:sp>
        <p:nvSpPr>
          <p:cNvPr id="21" name="bld3_3097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updates its Standards in numbered amendments — always confirm you're reading the current version.</a:t>
            </a:r>
            <a:endParaRPr lang="en-US" sz="1080" dirty="0"/>
          </a:p>
        </p:txBody>
      </p:sp>
      <p:sp>
        <p:nvSpPr>
          <p:cNvPr id="23" name="trans_fade_20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13" name="bld1_309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309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5" name="bld1_310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 — an illustrative figure, not a real one.</a:t>
            </a:r>
            <a:endParaRPr lang="en-US" sz="1250" dirty="0"/>
          </a:p>
        </p:txBody>
      </p:sp>
      <p:sp>
        <p:nvSpPr>
          <p:cNvPr id="16" name="bld2_310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bld2_310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8" name="bld2_310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9" name="bld3_310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310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21" name="bld3_310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22" name="bld4_310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4_310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4" name="bld4_310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6" name="trans_fade_2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Calculating the maximum permitted amount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B565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calculation run in reverse — from finished-product limit back to concentrate ceiling.</a:t>
            </a:r>
            <a:endParaRPr lang="en-US" sz="1050" dirty="0"/>
          </a:p>
        </p:txBody>
      </p:sp>
      <p:sp>
        <p:nvSpPr>
          <p:cNvPr id="13" name="bld1_31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bld1_31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from the finished-product limit</a:t>
            </a:r>
            <a:endParaRPr lang="en-US" sz="1650" dirty="0"/>
          </a:p>
        </p:txBody>
      </p:sp>
      <p:sp>
        <p:nvSpPr>
          <p:cNvPr id="15" name="bld1_311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X still has an illustrative Category 4 limit of 0.5% of the finished product.</a:t>
            </a:r>
            <a:endParaRPr lang="en-US" sz="1250" dirty="0"/>
          </a:p>
        </p:txBody>
      </p:sp>
      <p:sp>
        <p:nvSpPr>
          <p:cNvPr id="16" name="bld2_311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311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your dilution</a:t>
            </a:r>
            <a:endParaRPr lang="en-US" sz="1650" dirty="0"/>
          </a:p>
        </p:txBody>
      </p:sp>
      <p:sp>
        <p:nvSpPr>
          <p:cNvPr id="18" name="bld2_311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concentrate is used at 20% in the finished spray — a typical EDP strength.</a:t>
            </a:r>
            <a:endParaRPr lang="en-US" sz="1250" dirty="0"/>
          </a:p>
        </p:txBody>
      </p:sp>
      <p:sp>
        <p:nvSpPr>
          <p:cNvPr id="19" name="bld3_311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311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Divide the limit by the dilution</a:t>
            </a:r>
            <a:endParaRPr lang="en-US" sz="1650" dirty="0"/>
          </a:p>
        </p:txBody>
      </p:sp>
      <p:sp>
        <p:nvSpPr>
          <p:cNvPr id="21" name="bld3_311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concentrate % = 0.5% ÷ 20% = 2.5%. That's the most you could ever use of Material X in your concentrate.</a:t>
            </a:r>
            <a:endParaRPr lang="en-US" sz="1250" dirty="0"/>
          </a:p>
        </p:txBody>
      </p:sp>
      <p:sp>
        <p:nvSpPr>
          <p:cNvPr id="22" name="bld4_311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3" name="bld4_312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a ceiling, not a target</a:t>
            </a:r>
            <a:endParaRPr lang="en-US" sz="1650" dirty="0"/>
          </a:p>
        </p:txBody>
      </p:sp>
      <p:sp>
        <p:nvSpPr>
          <p:cNvPr id="24" name="bld4_312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comfortably under 2.5% leaves room for reformulation and for other materials that might share the same restriction.</a:t>
            </a:r>
            <a:endParaRPr lang="en-US" sz="1250" dirty="0"/>
          </a:p>
        </p:txBody>
      </p:sp>
      <p:sp>
        <p:nvSpPr>
          <p:cNvPr id="26" name="trans_fade_2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THESE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percentages, three different things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051487"/>
            <a:ext cx="2212153" cy="2212153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4023" y="4466310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769037" y="4695181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648713" y="5065503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259333" y="5065503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139009" y="4695181"/>
            <a:ext cx="342884" cy="720056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60881" y="4992979"/>
            <a:ext cx="329168" cy="3291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3122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312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3124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%</a:t>
            </a:r>
            <a:endParaRPr lang="en-US" sz="1450" dirty="0"/>
          </a:p>
        </p:txBody>
      </p:sp>
      <p:sp>
        <p:nvSpPr>
          <p:cNvPr id="17" name="bld1_3125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material is in your pure fragrance oil, before any dilution — e.g. 2% of the concentrate.</a:t>
            </a:r>
            <a:endParaRPr lang="en-US" sz="1080" dirty="0"/>
          </a:p>
        </p:txBody>
      </p:sp>
      <p:sp>
        <p:nvSpPr>
          <p:cNvPr id="18" name="bld2_3126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3127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3128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%</a:t>
            </a:r>
            <a:endParaRPr lang="en-US" sz="1450" dirty="0"/>
          </a:p>
        </p:txBody>
      </p:sp>
      <p:sp>
        <p:nvSpPr>
          <p:cNvPr id="21" name="bld2_3129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your bottle is fragrance oil versus alcohol — e.g. a 20% EDP dilution.</a:t>
            </a:r>
            <a:endParaRPr lang="en-US" sz="1080" dirty="0"/>
          </a:p>
        </p:txBody>
      </p:sp>
      <p:sp>
        <p:nvSpPr>
          <p:cNvPr id="22" name="bld3_3130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3131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3132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%</a:t>
            </a:r>
            <a:endParaRPr lang="en-US" sz="1450" dirty="0"/>
          </a:p>
        </p:txBody>
      </p:sp>
      <p:sp>
        <p:nvSpPr>
          <p:cNvPr id="25" name="bld3_3133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customer's skin is actually exposed to — the number an IFRA limit actually applies to.</a:t>
            </a:r>
            <a:endParaRPr lang="en-US" sz="1080" dirty="0"/>
          </a:p>
        </p:txBody>
      </p:sp>
      <p:sp>
        <p:nvSpPr>
          <p:cNvPr id="27" name="trans_fade_2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CHECK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IFRA Standards Library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1" name="Shape 9"/>
          <p:cNvSpPr/>
          <p:nvPr/>
        </p:nvSpPr>
        <p:spPr>
          <a:xfrm>
            <a:off x="8501710" y="2152574"/>
            <a:ext cx="2091995" cy="2091995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768668" y="2675572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660732" y="3024238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660732" y="3372904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768668" y="3721570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search, one confirmed answer — always from the current Standards, never memorised.</a:t>
            </a:r>
            <a:endParaRPr lang="en-US" sz="1050" dirty="0"/>
          </a:p>
        </p:txBody>
      </p:sp>
      <p:sp>
        <p:nvSpPr>
          <p:cNvPr id="18" name="bld1_313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bld1_313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by material name or CAS number</a:t>
            </a:r>
            <a:endParaRPr lang="en-US" sz="1650" dirty="0"/>
          </a:p>
        </p:txBody>
      </p:sp>
      <p:sp>
        <p:nvSpPr>
          <p:cNvPr id="20" name="bld1_313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IFRA Standards Library lets you look up any regulated material directly.</a:t>
            </a:r>
            <a:endParaRPr lang="en-US" sz="1250" dirty="0"/>
          </a:p>
        </p:txBody>
      </p:sp>
      <p:sp>
        <p:nvSpPr>
          <p:cNvPr id="21" name="bld2_313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bld2_313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category that matches your product</a:t>
            </a:r>
            <a:endParaRPr lang="en-US" sz="1650" dirty="0"/>
          </a:p>
        </p:txBody>
      </p:sp>
      <p:sp>
        <p:nvSpPr>
          <p:cNvPr id="23" name="bld2_313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material's limit can differ hugely between categories — read the one that matches fine fragrance (Category 4) for this course's work.</a:t>
            </a:r>
            <a:endParaRPr lang="en-US" sz="1250" dirty="0"/>
          </a:p>
        </p:txBody>
      </p:sp>
      <p:sp>
        <p:nvSpPr>
          <p:cNvPr id="24" name="bld3_314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3_314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the amendment number</a:t>
            </a:r>
            <a:endParaRPr lang="en-US" sz="1650" dirty="0"/>
          </a:p>
        </p:txBody>
      </p:sp>
      <p:sp>
        <p:nvSpPr>
          <p:cNvPr id="26" name="bld3_314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are updated periodically — always confirm you're reading the current amendment, not an archived one.</a:t>
            </a:r>
            <a:endParaRPr lang="en-US" sz="1250" dirty="0"/>
          </a:p>
        </p:txBody>
      </p:sp>
      <p:sp>
        <p:nvSpPr>
          <p:cNvPr id="27" name="bld4_314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4_314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listing doesn't mean no documentation needed</a:t>
            </a:r>
            <a:endParaRPr lang="en-US" sz="1650" dirty="0"/>
          </a:p>
        </p:txBody>
      </p:sp>
      <p:sp>
        <p:nvSpPr>
          <p:cNvPr id="29" name="bld4_314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unrestricted material still needs supplier paperwork — absence from the library isn't a free pass to skip checking.</a:t>
            </a:r>
            <a:endParaRPr lang="en-US" sz="1250" dirty="0"/>
          </a:p>
        </p:txBody>
      </p:sp>
      <p:sp>
        <p:nvSpPr>
          <p:cNvPr id="31" name="trans_fade_2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7" name="bld1_3146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58821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633798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633798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658821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5" name="bld1_3148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1 — Identification</a:t>
            </a:r>
            <a:endParaRPr lang="en-US" sz="1450" dirty="0"/>
          </a:p>
        </p:txBody>
      </p:sp>
      <p:sp>
        <p:nvSpPr>
          <p:cNvPr id="16" name="bld1_3149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is, and who supplies it.</a:t>
            </a:r>
            <a:endParaRPr lang="en-US" sz="1080" dirty="0"/>
          </a:p>
        </p:txBody>
      </p:sp>
      <p:sp>
        <p:nvSpPr>
          <p:cNvPr id="17" name="bld2_3150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9" name="Shape 17"/>
          <p:cNvSpPr/>
          <p:nvPr/>
        </p:nvSpPr>
        <p:spPr>
          <a:xfrm>
            <a:off x="4507292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1" name="bld2_3152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2 — Hazards</a:t>
            </a:r>
            <a:endParaRPr lang="en-US" sz="1450" dirty="0"/>
          </a:p>
        </p:txBody>
      </p:sp>
      <p:sp>
        <p:nvSpPr>
          <p:cNvPr id="22" name="bld2_3153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hazard classification and key risks.</a:t>
            </a:r>
            <a:endParaRPr lang="en-US" sz="1080" dirty="0"/>
          </a:p>
        </p:txBody>
      </p:sp>
      <p:sp>
        <p:nvSpPr>
          <p:cNvPr id="23" name="bld3_3154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514654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34690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634690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4629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434629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7942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3314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9352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39389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19352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19291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52604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8" name="bld3_3156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3 — Composition</a:t>
            </a:r>
            <a:endParaRPr lang="en-US" sz="1450" dirty="0"/>
          </a:p>
        </p:txBody>
      </p:sp>
      <p:sp>
        <p:nvSpPr>
          <p:cNvPr id="39" name="bld3_3157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listed impurities.</a:t>
            </a:r>
            <a:endParaRPr lang="en-US" sz="1080" dirty="0"/>
          </a:p>
        </p:txBody>
      </p:sp>
      <p:sp>
        <p:nvSpPr>
          <p:cNvPr id="40" name="bld4_3158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7" name="bld4_3160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7 — Handling &amp; Storage</a:t>
            </a:r>
            <a:endParaRPr lang="en-US" sz="1450" dirty="0"/>
          </a:p>
        </p:txBody>
      </p:sp>
      <p:sp>
        <p:nvSpPr>
          <p:cNvPr id="48" name="bld4_3161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49" name="bld5_3162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616331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53" name="bld5_3164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8 — Exposure Controls</a:t>
            </a:r>
            <a:endParaRPr lang="en-US" sz="1450" dirty="0"/>
          </a:p>
        </p:txBody>
      </p:sp>
      <p:sp>
        <p:nvSpPr>
          <p:cNvPr id="54" name="bld5_3165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protective equipment (PPE) to use.</a:t>
            </a:r>
            <a:endParaRPr lang="en-US" sz="1080" dirty="0"/>
          </a:p>
        </p:txBody>
      </p:sp>
      <p:sp>
        <p:nvSpPr>
          <p:cNvPr id="55" name="bld6_3166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57" name="Shape 55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4487893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4487893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487893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62" name="bld6_3168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9 — Physical Properties</a:t>
            </a:r>
            <a:endParaRPr lang="en-US" sz="1450" dirty="0"/>
          </a:p>
        </p:txBody>
      </p:sp>
      <p:sp>
        <p:nvSpPr>
          <p:cNvPr id="63" name="bld6_3169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64" name="bld7_3170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6" name="Shape 64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334045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7309021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7309021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7334045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72" name="bld7_3172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14 — Transport Info</a:t>
            </a:r>
            <a:endParaRPr lang="en-US" sz="1450" dirty="0"/>
          </a:p>
        </p:txBody>
      </p:sp>
      <p:sp>
        <p:nvSpPr>
          <p:cNvPr id="73" name="bld7_3173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for shipping.</a:t>
            </a:r>
            <a:endParaRPr lang="en-US" sz="1080" dirty="0"/>
          </a:p>
        </p:txBody>
      </p:sp>
      <p:sp>
        <p:nvSpPr>
          <p:cNvPr id="75" name="trans_fade_2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6" name="Text 7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21" grpId="0"/>
      <p:bldP spid="22" grpId="0"/>
      <p:bldP spid="23" grpId="0"/>
      <p:bldP spid="38" grpId="0"/>
      <p:bldP spid="39" grpId="0"/>
      <p:bldP spid="40" grpId="0"/>
      <p:bldP spid="47" grpId="0"/>
      <p:bldP spid="48" grpId="0"/>
      <p:bldP spid="49" grpId="0"/>
      <p:bldP spid="53" grpId="0"/>
      <p:bldP spid="54" grpId="0"/>
      <p:bldP spid="55" grpId="0"/>
      <p:bldP spid="62" grpId="0"/>
      <p:bldP spid="63" grpId="0"/>
      <p:bldP spid="64" grpId="0"/>
      <p:bldP spid="72" grpId="0"/>
      <p:bldP spid="73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DOCUMENTS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SDS is not an IFRA certificate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501710" y="2152574"/>
            <a:ext cx="2091995" cy="2091995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768668" y="2675572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660732" y="3024238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660732" y="3372904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768668" y="3721570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documents, two different jobs — both essential, neither a substitute for the other.</a:t>
            </a:r>
            <a:endParaRPr lang="en-US" sz="1050" dirty="0"/>
          </a:p>
        </p:txBody>
      </p:sp>
      <p:sp>
        <p:nvSpPr>
          <p:cNvPr id="18" name="bld1_317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bld1_317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SDS covers safety and handling</a:t>
            </a:r>
            <a:endParaRPr lang="en-US" sz="1650" dirty="0"/>
          </a:p>
        </p:txBody>
      </p:sp>
      <p:sp>
        <p:nvSpPr>
          <p:cNvPr id="20" name="bld1_317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Hazards, storage, PPE, transport — chemical safety information, not fragrance-industry usage limits.</a:t>
            </a:r>
            <a:endParaRPr lang="en-US" sz="1250" dirty="0"/>
          </a:p>
        </p:txBody>
      </p:sp>
      <p:sp>
        <p:nvSpPr>
          <p:cNvPr id="21" name="bld2_317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2" name="bld2_317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IFRA certificate covers usage limits</a:t>
            </a:r>
            <a:endParaRPr lang="en-US" sz="1650" dirty="0"/>
          </a:p>
        </p:txBody>
      </p:sp>
      <p:sp>
        <p:nvSpPr>
          <p:cNvPr id="23" name="bld2_317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 material's IFRA status and any restricted maximum percentage — a completely different purpose.</a:t>
            </a:r>
            <a:endParaRPr lang="en-US" sz="1250" dirty="0"/>
          </a:p>
        </p:txBody>
      </p:sp>
      <p:sp>
        <p:nvSpPr>
          <p:cNvPr id="24" name="bld3_318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3_318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need both, from every supplier</a:t>
            </a:r>
            <a:endParaRPr lang="en-US" sz="1650" dirty="0"/>
          </a:p>
        </p:txBody>
      </p:sp>
      <p:sp>
        <p:nvSpPr>
          <p:cNvPr id="26" name="bld3_318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an SDS and, where relevant, an IFRA certificate or conformity statement for every material you buy.</a:t>
            </a:r>
            <a:endParaRPr lang="en-US" sz="1250" dirty="0"/>
          </a:p>
        </p:txBody>
      </p:sp>
      <p:sp>
        <p:nvSpPr>
          <p:cNvPr id="28" name="trans_fade_2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17219" y="2038814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40728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78962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55477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93711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26439" y="2746874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7" name="bld1_318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1_318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9" name="bld1_318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20" name="bld2_318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318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22" name="bld2_318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3" name="bld3_318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319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5" name="bld3_319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7" name="trans_fade_2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646421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007917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3192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5964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3194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</a:t>
            </a:r>
            <a:endParaRPr lang="en-US" sz="1450" dirty="0"/>
          </a:p>
        </p:txBody>
      </p:sp>
      <p:sp>
        <p:nvSpPr>
          <p:cNvPr id="15" name="bld1_3195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16" name="bld2_3196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0" name="bld2_3198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21" name="bld2_3199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22" name="bld3_3200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4" name="Shape 22"/>
          <p:cNvSpPr/>
          <p:nvPr/>
        </p:nvSpPr>
        <p:spPr>
          <a:xfrm>
            <a:off x="589614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26" name="bld3_3202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27" name="bld3_3203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28" name="bld4_3204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3206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phrases</a:t>
            </a:r>
            <a:endParaRPr lang="en-US" sz="1450" dirty="0"/>
          </a:p>
        </p:txBody>
      </p:sp>
      <p:sp>
        <p:nvSpPr>
          <p:cNvPr id="37" name="bld4_3207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38" name="bld5_3208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73557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2" name="bld5_3210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Precautions</a:t>
            </a:r>
            <a:endParaRPr lang="en-US" sz="1450" dirty="0"/>
          </a:p>
        </p:txBody>
      </p:sp>
      <p:sp>
        <p:nvSpPr>
          <p:cNvPr id="43" name="bld5_3211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45" name="trans_fade_2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6" grpId="0"/>
      <p:bldP spid="37" grpId="0"/>
      <p:bldP spid="38" grpId="0"/>
      <p:bldP spid="42" grpId="0"/>
      <p:bldP spid="43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10" name="bld1_3212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3213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3214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4" name="trans_wipe_l_2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 to request from every supplier</a:t>
            </a:r>
            <a:endParaRPr lang="en-US" sz="3200" dirty="0"/>
          </a:p>
        </p:txBody>
      </p:sp>
      <p:sp>
        <p:nvSpPr>
          <p:cNvPr id="7" name="bld1_3215"/>
          <p:cNvSpPr txBox="1"/>
          <p:nvPr/>
        </p:nvSpPr>
        <p:spPr>
          <a:xfrm>
            <a:off x="548640" y="289864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COMPOSITION</a:t>
            </a:r>
            <a:endParaRPr lang="en-US" sz="1250" dirty="0"/>
          </a:p>
        </p:txBody>
      </p:sp>
      <p:sp>
        <p:nvSpPr>
          <p:cNvPr id="8" name="bld1_3216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3217"/>
          <p:cNvSpPr txBox="1"/>
          <p:nvPr/>
        </p:nvSpPr>
        <p:spPr>
          <a:xfrm>
            <a:off x="841248" y="3291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Data Sheet (SDS)</a:t>
            </a:r>
            <a:endParaRPr lang="en-US" sz="1200" dirty="0"/>
          </a:p>
        </p:txBody>
      </p:sp>
      <p:sp>
        <p:nvSpPr>
          <p:cNvPr id="10" name="bld1_3218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3219"/>
          <p:cNvSpPr txBox="1"/>
          <p:nvPr/>
        </p:nvSpPr>
        <p:spPr>
          <a:xfrm>
            <a:off x="841248" y="37490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sheet / technical data</a:t>
            </a:r>
            <a:endParaRPr lang="en-US" sz="1200" dirty="0"/>
          </a:p>
        </p:txBody>
      </p:sp>
      <p:sp>
        <p:nvSpPr>
          <p:cNvPr id="12" name="bld1_3220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3221"/>
          <p:cNvSpPr txBox="1"/>
          <p:nvPr/>
        </p:nvSpPr>
        <p:spPr>
          <a:xfrm>
            <a:off x="841248" y="42062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&amp; impurity information</a:t>
            </a:r>
            <a:endParaRPr lang="en-US" sz="1200" dirty="0"/>
          </a:p>
        </p:txBody>
      </p:sp>
      <p:sp>
        <p:nvSpPr>
          <p:cNvPr id="14" name="bld2_3222"/>
          <p:cNvSpPr txBox="1"/>
          <p:nvPr/>
        </p:nvSpPr>
        <p:spPr>
          <a:xfrm>
            <a:off x="6255868" y="2898648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STATUS</a:t>
            </a:r>
            <a:endParaRPr lang="en-US" sz="1250" dirty="0"/>
          </a:p>
        </p:txBody>
      </p:sp>
      <p:sp>
        <p:nvSpPr>
          <p:cNvPr id="15" name="bld2_3223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3224"/>
          <p:cNvSpPr txBox="1"/>
          <p:nvPr/>
        </p:nvSpPr>
        <p:spPr>
          <a:xfrm>
            <a:off x="6548476" y="32918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Certificate or conformity statement</a:t>
            </a:r>
            <a:endParaRPr lang="en-US" sz="1200" dirty="0"/>
          </a:p>
        </p:txBody>
      </p:sp>
      <p:sp>
        <p:nvSpPr>
          <p:cNvPr id="17" name="bld2_3225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3226"/>
          <p:cNvSpPr txBox="1"/>
          <p:nvPr/>
        </p:nvSpPr>
        <p:spPr>
          <a:xfrm>
            <a:off x="6548476" y="37490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Allergen declaration</a:t>
            </a:r>
            <a:endParaRPr lang="en-US" sz="1200" dirty="0"/>
          </a:p>
        </p:txBody>
      </p:sp>
      <p:sp>
        <p:nvSpPr>
          <p:cNvPr id="19" name="bld2_3227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3228"/>
          <p:cNvSpPr txBox="1"/>
          <p:nvPr/>
        </p:nvSpPr>
        <p:spPr>
          <a:xfrm>
            <a:off x="6548476" y="4206240"/>
            <a:ext cx="50671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regulatory documentation for your market</a:t>
            </a:r>
            <a:endParaRPr lang="en-US" sz="1200" dirty="0"/>
          </a:p>
        </p:txBody>
      </p:sp>
      <p:sp>
        <p:nvSpPr>
          <p:cNvPr id="22" name="trans_fade_2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VARIABLE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Regulations vary by region and product type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1" name="Shape 9"/>
          <p:cNvSpPr/>
          <p:nvPr/>
        </p:nvSpPr>
        <p:spPr>
          <a:xfrm>
            <a:off x="8501710" y="2152574"/>
            <a:ext cx="2091995" cy="2091995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768668" y="2675572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660732" y="3024238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660732" y="3372904"/>
            <a:ext cx="1773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768668" y="3721570"/>
            <a:ext cx="155808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206685" y="1857549"/>
            <a:ext cx="2682045" cy="268204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global standard, many local rules — check both before you sell anything.</a:t>
            </a:r>
            <a:endParaRPr lang="en-US" sz="1050" dirty="0"/>
          </a:p>
        </p:txBody>
      </p:sp>
      <p:sp>
        <p:nvSpPr>
          <p:cNvPr id="18" name="bld1_322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bld1_323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is global, but law is local</a:t>
            </a:r>
            <a:endParaRPr lang="en-US" sz="1650" dirty="0"/>
          </a:p>
        </p:txBody>
      </p:sp>
      <p:sp>
        <p:nvSpPr>
          <p:cNvPr id="20" name="bld1_323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countries and regions layer their own cosmetic and chemical regulations on top of IFRA — always check what applies where you sell.</a:t>
            </a:r>
            <a:endParaRPr lang="en-US" sz="1250" dirty="0"/>
          </a:p>
        </p:txBody>
      </p:sp>
      <p:sp>
        <p:nvSpPr>
          <p:cNvPr id="21" name="bld2_323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2_323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type changes the rules too</a:t>
            </a:r>
            <a:endParaRPr lang="en-US" sz="1650" dirty="0"/>
          </a:p>
        </p:txBody>
      </p:sp>
      <p:sp>
        <p:nvSpPr>
          <p:cNvPr id="23" name="bld2_323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 fragrance, a candle and a soap can face different regulatory requirements even when built from the same materials.</a:t>
            </a:r>
            <a:endParaRPr lang="en-US" sz="1250" dirty="0"/>
          </a:p>
        </p:txBody>
      </p:sp>
      <p:sp>
        <p:nvSpPr>
          <p:cNvPr id="24" name="bld3_323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3_323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get local advice</a:t>
            </a:r>
            <a:endParaRPr lang="en-US" sz="1650" dirty="0"/>
          </a:p>
        </p:txBody>
      </p:sp>
      <p:sp>
        <p:nvSpPr>
          <p:cNvPr id="26" name="bld3_323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anything beyond a hobby batch, a professional regulatory assessor for your specific market is worth the cost.</a:t>
            </a:r>
            <a:endParaRPr lang="en-US" sz="1250" dirty="0"/>
          </a:p>
        </p:txBody>
      </p:sp>
      <p:sp>
        <p:nvSpPr>
          <p:cNvPr id="28" name="trans_fade_2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7" name="bld1_3238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5865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05865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90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7290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99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2339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5341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82485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5341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766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0575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1_3240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00" dirty="0"/>
          </a:p>
        </p:txBody>
      </p:sp>
      <p:sp>
        <p:nvSpPr>
          <p:cNvPr id="23" name="bld1_3241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</a:t>
            </a:r>
            <a:endParaRPr lang="en-US" sz="1050" dirty="0"/>
          </a:p>
        </p:txBody>
      </p:sp>
      <p:sp>
        <p:nvSpPr>
          <p:cNvPr id="24" name="bld2_3242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>
            <a:off x="2510875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74392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608279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608279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674392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2" name="bld2_3244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00" dirty="0"/>
          </a:p>
        </p:txBody>
      </p:sp>
      <p:sp>
        <p:nvSpPr>
          <p:cNvPr id="33" name="bld2_3245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</a:t>
            </a:r>
            <a:endParaRPr lang="en-US" sz="1050" dirty="0"/>
          </a:p>
        </p:txBody>
      </p:sp>
      <p:sp>
        <p:nvSpPr>
          <p:cNvPr id="34" name="bld3_3246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4473726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37243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1130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1130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637243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3_3248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00" dirty="0"/>
          </a:p>
        </p:txBody>
      </p:sp>
      <p:sp>
        <p:nvSpPr>
          <p:cNvPr id="43" name="bld3_3249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</a:t>
            </a:r>
            <a:endParaRPr lang="en-US" sz="1050" dirty="0"/>
          </a:p>
        </p:txBody>
      </p:sp>
      <p:sp>
        <p:nvSpPr>
          <p:cNvPr id="44" name="bld4_3250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6981169" y="3370363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2700000">
            <a:off x="7118168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5400000">
            <a:off x="7174915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100000">
            <a:off x="7118168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6981169" y="3757856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500000">
            <a:off x="6844169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6200000">
            <a:off x="6787422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6844169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74762" y="3692249"/>
            <a:ext cx="205023" cy="20502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5" name="Shape 5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6" name="bld4_3252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00" dirty="0"/>
          </a:p>
        </p:txBody>
      </p:sp>
      <p:sp>
        <p:nvSpPr>
          <p:cNvPr id="57" name="bld4_3253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</a:t>
            </a:r>
            <a:endParaRPr lang="en-US" sz="1050" dirty="0"/>
          </a:p>
        </p:txBody>
      </p:sp>
      <p:sp>
        <p:nvSpPr>
          <p:cNvPr id="58" name="bld5_3254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9" name="Shape 57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399428" y="3154064"/>
            <a:ext cx="1281393" cy="1281393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62945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496832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496832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562945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6" name="bld5_3256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00" dirty="0"/>
          </a:p>
        </p:txBody>
      </p:sp>
      <p:sp>
        <p:nvSpPr>
          <p:cNvPr id="67" name="bld5_3257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9" name="Shape 67"/>
          <p:cNvSpPr/>
          <p:nvPr/>
        </p:nvSpPr>
        <p:spPr>
          <a:xfrm>
            <a:off x="10362279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525796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0459683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459683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525796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5" name="bld6_3259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76" name="bld6_3260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</a:t>
            </a:r>
            <a:endParaRPr lang="en-US" sz="1050" dirty="0"/>
          </a:p>
        </p:txBody>
      </p:sp>
      <p:sp>
        <p:nvSpPr>
          <p:cNvPr id="78" name="trans_push_l_2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9" name="Text 7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2" grpId="0"/>
      <p:bldP spid="33" grpId="0"/>
      <p:bldP spid="34" grpId="0"/>
      <p:bldP spid="42" grpId="0"/>
      <p:bldP spid="43" grpId="0"/>
      <p:bldP spid="44" grpId="0"/>
      <p:bldP spid="56" grpId="0"/>
      <p:bldP spid="57" grpId="0"/>
      <p:bldP spid="58" grpId="0"/>
      <p:bldP spid="66" grpId="0"/>
      <p:bldP spid="67" grpId="0"/>
      <p:bldP spid="75" grpId="0"/>
      <p:bldP spid="76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10" name="trans_fade_2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Bottles, labels and packaging that actually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your lane and telling a real 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fragrance brands actually sell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42655" y="6309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900" dirty="0"/>
          </a:p>
        </p:txBody>
      </p:sp>
      <p:sp>
        <p:nvSpPr>
          <p:cNvPr id="21" name="trans_fade_2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7" name="bld1_3261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2142616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1" name="bld1_3263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12" name="bld1_3264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13" name="bld2_3265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2_3267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29" name="bld2_3268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30" name="bld3_3269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>
            <a:off x="9862355" y="2055630"/>
            <a:ext cx="36278" cy="329798"/>
          </a:xfrm>
          <a:prstGeom prst="roundRect">
            <a:avLst>
              <a:gd name="adj" fmla="val 5041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6071" y="2279893"/>
            <a:ext cx="8846" cy="87248"/>
          </a:xfrm>
          <a:prstGeom prst="roundRect">
            <a:avLst>
              <a:gd name="adj" fmla="val 1550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5" name="bld3_3271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36" name="bld3_3272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37" name="bld4_3273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9" name="Shape 37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123216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123216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123216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4" name="bld4_3275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45" name="bld4_3276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46" name="bld5_3277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8" name="Shape 46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4" name="bld5_3279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5" name="bld5_3280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56" name="bld6_3281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8" name="Shape 56"/>
          <p:cNvSpPr/>
          <p:nvPr/>
        </p:nvSpPr>
        <p:spPr>
          <a:xfrm>
            <a:off x="9854343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9" name="Shape 57"/>
          <p:cNvSpPr/>
          <p:nvPr/>
        </p:nvSpPr>
        <p:spPr>
          <a:xfrm>
            <a:off x="9857602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01730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838306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3" name="bld6_3283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64" name="bld6_3284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66" name="trans_fade_2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7" name="Text 6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8" grpId="0"/>
      <p:bldP spid="29" grpId="0"/>
      <p:bldP spid="30" grpId="0"/>
      <p:bldP spid="35" grpId="0"/>
      <p:bldP spid="36" grpId="0"/>
      <p:bldP spid="37" grpId="0"/>
      <p:bldP spid="44" grpId="0"/>
      <p:bldP spid="45" grpId="0"/>
      <p:bldP spid="46" grpId="0"/>
      <p:bldP spid="54" grpId="0"/>
      <p:bldP spid="55" grpId="0"/>
      <p:bldP spid="56" grpId="0"/>
      <p:bldP spid="63" grpId="0"/>
      <p:bldP spid="64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9426456" y="2233638"/>
            <a:ext cx="242504" cy="192987"/>
          </a:xfrm>
          <a:prstGeom prst="roundRect">
            <a:avLst>
              <a:gd name="adj" fmla="val 18953"/>
            </a:avLst>
          </a:prstGeom>
          <a:solidFill>
            <a:srgbClr val="0E0D0B"/>
          </a:solidFill>
          <a:ln/>
        </p:spPr>
      </p:sp>
      <p:sp>
        <p:nvSpPr>
          <p:cNvPr id="12" name="Shape 10"/>
          <p:cNvSpPr/>
          <p:nvPr/>
        </p:nvSpPr>
        <p:spPr>
          <a:xfrm>
            <a:off x="9442271" y="2426625"/>
            <a:ext cx="210873" cy="308778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71148" y="2735403"/>
            <a:ext cx="753118" cy="1428100"/>
          </a:xfrm>
          <a:prstGeom prst="roundRect">
            <a:avLst>
              <a:gd name="adj" fmla="val 14570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7724" y="3378049"/>
            <a:ext cx="679966" cy="748879"/>
          </a:xfrm>
          <a:prstGeom prst="roundRect">
            <a:avLst>
              <a:gd name="adj" fmla="val 13448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7" name="bld1_328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328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9" name="bld1_328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20" name="bld2_328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328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22" name="bld2_329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23" name="bld3_329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329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5" name="bld3_329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7" name="trans_fade_2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665447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217204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294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3296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9" name="bld1_3297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20" name="bld2_3298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3300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25" name="bld2_3301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26" name="bld3_3302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>
            <a:off x="6066451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70285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04554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41130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3304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34" name="bld3_3305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35" name="bld4_3306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14340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14340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4340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2" name="bld4_3308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43" name="bld4_3309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44" name="bld5_3310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2" name="bld5_3312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53" name="bld5_3313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55" name="trans_fade_2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3" grpId="0"/>
      <p:bldP spid="34" grpId="0"/>
      <p:bldP spid="35" grpId="0"/>
      <p:bldP spid="42" grpId="0"/>
      <p:bldP spid="43" grpId="0"/>
      <p:bldP spid="44" grpId="0"/>
      <p:bldP spid="52" grpId="0"/>
      <p:bldP spid="53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361030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665447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217204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31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3316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18" name="bld1_3317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19" name="bld2_331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464561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435122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35122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464561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7" name="bld2_3320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28" name="bld2_3321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29" name="bld3_332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2" name="Shape 30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6" name="bld3_3324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37" name="bld3_3325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38" name="bld4_332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4_3328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46" name="bld4_3329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48" name="trans_fade_2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7" grpId="0"/>
      <p:bldP spid="28" grpId="0"/>
      <p:bldP spid="29" grpId="0"/>
      <p:bldP spid="36" grpId="0"/>
      <p:bldP spid="37" grpId="0"/>
      <p:bldP spid="38" grpId="0"/>
      <p:bldP spid="45" grpId="0"/>
      <p:bldP spid="46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13" name="bld1_333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333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5" name="bld1_333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6" name="bld2_333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2_333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8" name="bld2_333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9" name="bld3_333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333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21" name="bld3_333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22" name="bld4_333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bld4_334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4" name="bld4_334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6" name="trans_fade_2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7" name="bld1_3342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1669681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1" name="bld1_3344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12" name="bld1_3345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13" name="bld2_3346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2" name="Shape 20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3" name="bld2_3348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24" name="bld2_3349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25" name="bld3_3350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8279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2700000">
            <a:off x="7530132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5400000">
            <a:off x="755161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100000">
            <a:off x="7530132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7478279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3500000">
            <a:off x="742642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6200000">
            <a:off x="7404947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742642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75854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7" name="bld3_3352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38" name="bld3_3353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39" name="bld4_3354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6" name="bld4_3356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47" name="bld4_3357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48" name="bld5_3358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1839430" y="4526331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9467" y="4526331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59467" y="4593018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59405" y="4699718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759405" y="4579681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92718" y="4512994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818090" y="4558341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44129" y="4510993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64166" y="45776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44129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44067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77380" y="4497656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3" name="bld5_3360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64" name="bld5_3361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65" name="bld6_3362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7" name="Shape 65"/>
          <p:cNvSpPr/>
          <p:nvPr/>
        </p:nvSpPr>
        <p:spPr>
          <a:xfrm rot="9000000">
            <a:off x="4555792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000000">
            <a:off x="4492743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1400000">
            <a:off x="4691592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71" name="bld6_3364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72" name="bld6_3365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73" name="bld7_3366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5" name="Shape 73"/>
          <p:cNvSpPr/>
          <p:nvPr/>
        </p:nvSpPr>
        <p:spPr>
          <a:xfrm>
            <a:off x="7291555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7" name="bld7_3368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78" name="bld7_3369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79" name="bld8_3370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1" name="Shape 79"/>
          <p:cNvSpPr/>
          <p:nvPr/>
        </p:nvSpPr>
        <p:spPr>
          <a:xfrm rot="15300000">
            <a:off x="101880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3050000">
            <a:off x="102335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0800000">
            <a:off x="103110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8550000">
            <a:off x="103885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6300000">
            <a:off x="104340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87" name="bld8_3372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88" name="bld8_3373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90" name="trans_fade_2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1" name="Text 8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</a:t>
            </a:r>
            <a:endParaRPr lang="en-US" sz="1000" dirty="0"/>
          </a:p>
        </p:txBody>
      </p:sp>
      <p:sp>
        <p:nvSpPr>
          <p:cNvPr id="92" name="Text 8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3" grpId="0"/>
      <p:bldP spid="24" grpId="0"/>
      <p:bldP spid="25" grpId="0"/>
      <p:bldP spid="37" grpId="0"/>
      <p:bldP spid="38" grpId="0"/>
      <p:bldP spid="39" grpId="0"/>
      <p:bldP spid="46" grpId="0"/>
      <p:bldP spid="47" grpId="0"/>
      <p:bldP spid="48" grpId="0"/>
      <p:bldP spid="63" grpId="0"/>
      <p:bldP spid="64" grpId="0"/>
      <p:bldP spid="65" grpId="0"/>
      <p:bldP spid="71" grpId="0"/>
      <p:bldP spid="72" grpId="0"/>
      <p:bldP spid="73" grpId="0"/>
      <p:bldP spid="77" grpId="0"/>
      <p:bldP spid="78" grpId="0"/>
      <p:bldP spid="79" grpId="0"/>
      <p:bldP spid="87" grpId="0"/>
      <p:bldP spid="8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7" name="bld1_337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50281" y="2218104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0281" y="2157479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0281" y="2089580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4" name="bld1_337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15" name="bld1_337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16" name="bld2_337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4507292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0" name="bld2_338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21" name="bld2_338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22" name="bld3_338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44904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26" name="bld3_338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27" name="bld3_338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28" name="bld4_338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4_338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36" name="bld4_338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37" name="bld5_339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5_339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44" name="bld5_339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45" name="bld6_339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2055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8" name="Shape 46"/>
          <p:cNvSpPr/>
          <p:nvPr/>
        </p:nvSpPr>
        <p:spPr>
          <a:xfrm>
            <a:off x="4655314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9442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6018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2" name="bld6_339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53" name="bld6_339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54" name="bld7_339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>
            <a:off x="7489666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7" name="Shape 55"/>
          <p:cNvSpPr/>
          <p:nvPr/>
        </p:nvSpPr>
        <p:spPr>
          <a:xfrm>
            <a:off x="7492926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37054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73630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7_340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62" name="bld7_340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63" name="bld8_340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82516" y="4409932"/>
            <a:ext cx="339498" cy="339498"/>
          </a:xfrm>
          <a:prstGeom prst="star5">
            <a:avLst/>
          </a:prstGeom>
          <a:solidFill>
            <a:srgbClr val="C9503E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7" name="bld8_3404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68" name="bld8_3405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70" name="trans_fade_2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5" grpId="0"/>
      <p:bldP spid="36" grpId="0"/>
      <p:bldP spid="37" grpId="0"/>
      <p:bldP spid="43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  <p:bldP spid="67" grpId="0"/>
      <p:bldP spid="68" grpId="0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7" name="bld1_340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1_340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9" name="bld1_340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20" name="bld2_340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341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22" name="bld2_341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3" name="bld3_341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341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5" name="bld3_341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6" name="bld4_341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4_341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8" name="bld4_341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30" name="trans_fade_2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 · END OF COURSE</a:t>
            </a:r>
            <a:endParaRPr lang="en-US" sz="1100" dirty="0"/>
          </a:p>
        </p:txBody>
      </p:sp>
      <p:sp>
        <p:nvSpPr>
          <p:cNvPr id="10" name="trans_fade_2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894015" y="6400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2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PARFUM SIMPLIFIE</a:t>
            </a:r>
            <a:endParaRPr lang="en-US" sz="85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234</Slides>
  <Notes>234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234</vt:i4>
      </vt:variant>
    </vt:vector>
  </HeadingPairs>
  <TitlesOfParts>
    <vt:vector size="2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PARFUM SIMPLIFIE — The Art &amp; Science of Perfumery</dc:title>
  <dc:subject>Beginner-to-intermediate perfumery course companion deck</dc:subject>
  <dc:creator>LA PARFUM SIMPLIFIE</dc:creator>
  <cp:lastModifiedBy>LA PARFUM SIMPLIFIE</cp:lastModifiedBy>
  <cp:revision>1</cp:revision>
  <dcterms:created xsi:type="dcterms:W3CDTF">2026-09-15T22:26:18Z</dcterms:created>
  <dcterms:modified xsi:type="dcterms:W3CDTF">2026-09-15T22:26:18Z</dcterms:modified>
</cp:coreProperties>
</file>