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</p:sldIdLst>
  <p:notesMasterIdLst>
    <p:notesMasterId r:id="rId2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notesMaster" Target="notesMasters/notesMaster1.xml"/><Relationship Id="rId213" Type="http://schemas.openxmlformats.org/officeDocument/2006/relationships/presProps" Target="presProps.xml"/><Relationship Id="rId214" Type="http://schemas.openxmlformats.org/officeDocument/2006/relationships/viewProps" Target="viewProps.xml"/><Relationship Id="rId215" Type="http://schemas.openxmlformats.org/officeDocument/2006/relationships/theme" Target="theme/theme1.xml"/><Relationship Id="rId2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cold open. Set the tone: this is not a corporate course, it's a creative lab. Introduce the energy of the whole program before naming a single ingredient.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philosophy: slides support the video, they never replace it. Encourage students to keep a physical notebook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each teacher a genuine, personal introduction here — background, how you got into perfumery, why you're teaching this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outcomes, not topics — this is what changes for the student, not just what they'll hear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roadmap top to bottom. Give students a sense of pacing — this is a real curriculum, not a random collection of videos.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Discord mechanics concretely: channel names, homework threads, how office hours are scheduled.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philosophical core of the whole course — spend real time here. This is what separates hobbyists who plateau from ones who keep improving.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this hard — the single biggest predictor of student success is whether they actually smell the materials, not whether they watch closely.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specific software/spreadsheet system you use. Show a live example if possible during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on this note. Let it land — it's the thesis statement for the entire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module is foundational vocabulary and concepts. Nothing hands-on yet, but everything after this depends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slow here — these six words will recur in every future module. Use a quick real-world example for each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Diffusion, tenacity and impact get confused constantly — spend extra time distinguishing them, you'll reuse this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examples make these words stick far better than definitions alone — pair each with a live smell if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percentage ranges are industry conventions, not fixed law — brands vary widely. The next point is more important than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important corrections in the whole basics module — students constantly conflate concentration % with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this pyramid is a simplification. Almost every real material has some presence across multiple layers — don't let students take it too literally.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solvents matter: they let you work at safe, evaluable concentrations and match the final product format (spray vs oil vs roll-on).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round numbers, not a fixed rule — the point is proportion, not precision. This is a teaching example, not a formula to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myth-busting that continues in module 03.2 — synthetic does not mean lesser. Both are professional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over-explain each one here — this is a map, not a lesson. Families get their real depth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fun with this slide — deliver it with energy, it's meant to be memorable and a little provocative.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module 01 by reinforcing that everything just taught is a simplified model. Real perfumery is messier and more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is a lean, practical kit, not an expensive lab buildout. Everything shown is realistic for a beginner budget. This module now runs long — take it one topic per 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half of the whole kit at a glance. Reveal one card at a time as you name each tool — every one of these gets its own proper explanation over the next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half of the kit. Same treatment — one card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specific models if you have them, but keep the spec (0.001g / ~200g) as the takeaway regardless of brand. Walk through the 10g / 0.1% math slowly — this is the single idea that justifies the whole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two real scales here if you have them — this is a great physical demonstration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Airflow is the beginner mistake nobody warns you about — a scale near an open window or a fan will drift and never settle.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— disposables are genuinely all a beginner needs. Only plastic transfer pipettes, never glass, in this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chain. Make sure students see that the pipette never does the measuring — only the transferring.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misconception derails more beginner formulas than almost anything else — never assume one drop always weighs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the solids counterpart to the liquids workflow — same discipline, different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brisk — beakers and funnels are the least conceptually demanding items in the whole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glass isn't optional for long-term storage — UV light degrades many raw materials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example label format should become second nature — use it consistently across every dilution bottle in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sets up module 05 (training your nose) — evaluation habits start here with the physical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same labelled strip and revisit it at each stage — this single habit teaches drydown faster than anything else in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— both items are simple and don't need much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Organisation is the quiet skill that determines whether a growing material library stays useful or turns into chaos.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Either system is genuinely fine — the only rule is to pick one and stay consistent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short habits, easy to state quickly on camera — don't over-explain any single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whichever specific tool you personally use here, live on camera if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introductory — don't go deep into compounding ratios here, that's the entire subject of module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Which solvent to choose depends on the material, the purpose, solubility, and how you plan to evaluate it — deeper solvent theory belongs in later modules, keep this a simple introduction.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include expensive or unnecessary specialist equipment. The two essential columns are genuinely enough to begin every remaining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light and reassuring, not preachy — the goal is permission to start small, not shame about wanting nice equipment eventually.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memorable line to close the equipment conversation on — everything else in this module supports one of these three things.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scale as the physical and visual centre of the bench — everything else is arranged around it, always within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reassurance — equipment anxiety stops beginners before they start. Two tools are genuinely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about vocabulary and behaviour, applied specifically to natural materials. Synthetics get their own module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twelve families from module 01, now framed as a sorting tool you'll use to classify every material you smell. Today we go deep on four of them, natural-side.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Longevity is one of the first properties students should log for every material — connect directly to module 05's evaluation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terms get confused constantly — a material can have huge projection but low tenacity, or the reverse. Use concrete examples: bergamot projects instantly but fades fast; sandalwood projects little but lasts for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honest — don't present molecular weight as a deterministic rule, the prompt is explicit about avoiding that oversimplification.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extraction methods of the same plant can smell meaningfully different — e.g. rose absolute vs. rose 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Bright, inviting, easy to remember — this moodboard format repeats for every family across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side-by-side smelling — citrus oils are the easiest family to tell apart when compared directly, and the hardest to tell apart from memory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show the range within one family — bergamot for lift, grapefruit for sparkle, petitgrain for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Wood-ring icons for the cross-section woods, a root icon for vetiver, a single leaf for patchouli.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Woods are the load-bearing walls of a formula — almost every finished perfume rests on one or two of these at the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naturals are the backbone naturals used across almost every genre, from fresh to oriental.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the flower icon shape itself changes — round for rose, star for jasmine, small for softer florals — a visual cue for character.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Florals are where naturals matter most — synthetics can approximate a rose, but rarely replace it entirely. This is the most expensive category to shop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smell all four side by side — the differences between rose, jasmine, neroli and ylang-ylang are the clearest floral lesson in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Resins are the warm, sticky, ancient heart of perfumery — most predate synthetic chemistry by thousands of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resin is a natural fixative — this is exactly why they anchor base notes and slow the evaporation of everything above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Labdanum, benzoin and frankincense together roughly define the natural "amber" space long before Ambroxan existed.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practically: always re-evaluate a new batch of a natural material before trusting an existing formula built on the old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module. Bridge to next: 'now let's look at the other half of the palette — synthetics.'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energy here — this is meant to be one of the most exciting modules. Set up the myth-busting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synthetics as an achievement, not a compromise. This sets the tone for the whole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briskly — this is a map for the deep-dive sections that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one sentence of context per material live, if time allows. These are the highest-value to memorise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playfully but firmly — these myths do real damage to beginners who avoid a huge, useful part of the palette out of misplaced 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Musks are the skin of a formula — they don't announce themselves, but everything else leans on them. Not one smell — teach the differences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compare Galaxolide against Ambrettolide directly — "clean laundry" versus "warm skin" is the clearest musk lesson there is. Musk selection changes the texture of the entire perfume.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define the modern musk palette — clean, voluminous, and natural-feeling, respectively.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single-handedly defines the last twenty-five years of mainstream perfumery.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teach these as interchangeable — they differ in dryness, warmth, radiance, smoothness and projection. Supplier-specific grades can also behave slightly differently, so always confirm on a fresh strip.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dose Ambroxan at 0.1% and then 3% in two strips — the difference is a genuinely eye-opening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and most-used synthetic family — almost every modern base note leans on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 E Super, Javanol and Cashmeran alone can define three completely different "woody" moods — transparent, creamy, and cosy. Each earns its place by what it contributes to a formula's structure, not just its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Comparing Javanol against Sandalore against natural sandalwood on three strips is one of the best exercises in the whole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Isolated floral facets — each one is a single true note pulled out of a whole flower's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biggest synthetic family in raw material count — most "natural-smelling" florals are actually built from several of these stacked together. Visual association + proper explanation, every time: Hedione shown with jasmine, but explained through space and diffusion, not just a note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isn't precise technical specification — it's teaching students not to treat named variants as interchangeable without smelling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build a five-second "rose" from phenylethyl alcohol, citronellol, geraniol and a trace of rose oxide — it's a genuinely convincing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Freshness is not one effect — citrus, green, metallic, aldehydic and watery freshness all feel completely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this slide by naming the exact type of freshness each material delivers — citrus, green, metallic, aldehydic, watery — so students stop treating "fresh" as one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Dose cis-3-hexenol extremely lightly first — at full strength it reads as more "lawnmower" than most students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between "juicy and realistic" and "candy" is entirely a question of dose — this family teaches restraint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realism-versus-candy line is entirely about dose — the same material that reads as "ripe peach" at 0.5% reads as "bubblegum" at 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Smell gamma undecalactone at three different dilutions side by side — realism versus candy is the whole lesson in one strip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family that built an entire modern genre — without it, the last decade of gourmand perfumery doesn't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Heliotropin and Piperonal are the same material under two names — flag that explicitly, it trips up a lot of self-taught beginners.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rewards restraint more than almost any other — a little goes further here than beginners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firmly before introducing Rose Givco — it reframes everything that follows as professional practice, not a shortcut.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honest: we teach how to recognise and use a base, not exact proprietary recipes.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Rose Givco as one well-known example of a category — the modification slide that follows is the more universally useful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clearly on camera: these are educational examples of direction, not fixed formulas — the same four moves work on almost any floral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an exact commercial product name isn't certain, describe the category honestly rather than guessing at a name — that's a deliberate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anticipation for the card grid that follows — this is where students realise how disproportionate a material's impact can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takeaway: percentage and impact are not linear. A 0.3% dose of the right material can outweigh 5% of something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confidence — students should leave excited to experiment with synthetics, not intimidated by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materials theory to a real purchase order — the most actionable module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this warning — it's the single most common beginner mistake and it kills momentum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representative starter set, not gospel — the point is coverage across every major family with ~30 materials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second wave dramatically expands what's possible — but only makes sense once the first 30 are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shopping categories — encourage students to buy at least one or two materials from every category before doubling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back to the mindset module — buying random "interesting" materials is the equivalent of copying formulas without understanding.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wrap-up before module 04 — a student who checks every box here is genuinely ready to begin diluting.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reinforcing patience — this module often produces the most excitement and the most temptation to overbuy.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practical, hands-on modules — encourage students to have their scale out while watching.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dilution as a superpower, not a hurdle — it's what turns raw, unusable materials into a working palette.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ladder will come up repeatedly — most working stocks in this course live at 10% or 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process at a glance — every worked example on the next few slides fills in one of these four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on camera if possible — watching the actual weighing is far more valuable than hearing the ratio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"stock of a stock" technique is the single most useful trick in this module — it turns an impossible 0.1g weighing into two easy 1g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directly to module 11's IFRA discussion — a well-chosen low dilution is a compliance tool as much as a workflow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overheating — gentle warming only, many materials degrade or evaporate unwanted fractions under heat.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this is a starting guideline — always confirm the right dilution by smelling, not just by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habit prevents the single most common lab disaster: an unlabelled bottle of unknown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practical safety reminder as well as a philosophical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this is a discipline, not a talent. Anyone who does this consistently improves.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timeline should feel familiar — it echoes module 02's scent strip introduction, now turned into a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a template — the same eight fields, every single evaluation, so patterns become visible over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directly back to module 04's dilution ladder — reinforce the link between the two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schema we'll show in the sample card next — recommend a spreadsheet or simple database, whichever software you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difference between a hobbyist who plateaus and a nose that keeps improving for years — treat it as a daily habit, not a one-time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your actual software on screen here if possible — this slide is a mock-up standing in for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by reinforcing the daily habit — consistency over intensity.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hands-on, practical module. Encourage students to have a few materials on hand to build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live example if possible — build a two-material accord on camera and let it click for 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viewers to guess how many materials might build each of these before revealing the apple breakdown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class to break down apple before you reveal it — this is a genuinely great teaching exercise on camera.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mental process students should repeat for any accord they want to build — not a formula to copy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Rose is the clearest teaching example for facet-mapping — every viewer already knows what real rose smells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are legitimate approaches. Module 03.2 introduces commercial bases; module 07 shows how to extend one into a finished accord.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a natural pairing exercise after apple — it shows the same facet-mapping method applied to a base-note accord instead of a top-note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distinction matters — students should be able to say which tradition an amber accord is leaning on, not just call everything "amber."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sandalwood naturals (soft, milky, genuinely creamy) against sandalwood aroma chemicals like Javanol or Sandalore (sharper, more radiant, more linear) — both belong in this accord, in different proportions.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Leather is a great contrast to amber — almost entirely one family, showing that an accord doesn't always need materials from many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starting palette, three different balances — a good exercise for showing how proportion changes character more than ingredient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 one of these four as homework — building even a rough version from the facet list teaches the method faster than watching another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 a common mistake: students treating a good accord as a complete, sellable fragrance.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Jean Carles' method is one of the most influential teaching frameworks in perfumery history — worth a short story about him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these five ratios are smelled and logged, introduce material C and repeat the process against the best A:B 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loop repeats throughout the entire course — module 08 revisits it at the full-formula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— this single discipline is what separates methodical perfumers from ones who guess and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module where everything so far converges — terminology, materials, dilution, accords. Frame it as the culmination.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mental checklist students should run through for every formula they build from now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write their own one-sentence idea before building — this becomes the north star for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how these four pieces, each built with the Jean Carles method from module 06, come together into one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bridge from module 06 — reassure students the method they just learned scales up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example formulas that follow will each demonstrate this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conceptual bridge between the architecture checklist and the four worked examples that follow — point back to it while walking through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formula can mix all four freely — individual synthetics, naturals, your own accords, and commercial bases like Rose Givco, all in one formula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idea about bases — students who skip this step end up with unfinished, generic-smelling formulas.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starting base, three completely different final characters — the base only decided the starting point, not the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brief — it's a working habit to mention, not a new module. The four worked examples that follow are the real payoff.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each material earns its place — this is more valuable than the exact percentages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this with the fresh formula — notice how few volatile top notes it needs; woods live in the heart and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how bergamot's job here is purely structural — preventing the gourmand from feeling flat and cloying.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small vanillin at the base — a common technique to add warmth without turning a floral into a gourmand.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 of restraint — the best formulas are edited, not just assembled.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version 1 is never the finished formula. This module is about the iteration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reinforces the habit from module 05, now applied specifically to full formulas rather than single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timeline discipline as module 05, scaled up to the whole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"Do I like it?" is an emotional question with no next action. These six questions each point directly to a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companion to the six questions on the previous slide — every "yes, this is a problem" answer points here for the actual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module 06's accord loop exactly — reinforce that it's the same discipline at every scale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connects to the Jean Carles "change one variable" principle from module 06 — repeat it here at the 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with patience as the core message — most formulas are abandoned too early, before their drydown is even understood.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formula work to an actual finished bottle — a satisfying, tangible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the percentages never change with scale — only the total weight does. This is why percentage-based formula sheets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visual — students already saw a more detailed breakdown in module 01, this is the practical compounding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sets up module 10's discussion of maceration and solubility — the two topics are closely related.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easy default to overuse — stress the 'not blindly' point, it's explicitly called out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seven-step flow is the professional standard — module 10 goes deep on the maceration step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respect for the process — beginners often rush the alcohol and maceration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often gets skipped by impatient beginners — make the case for why patience pays off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real, observable effects — ground the module in what's actually measurable, not folklore.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science accessible — the goal is confidence, not a chemistry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 for how long students should wait before final-judging a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myth causes real wasted time — some students let a broken formula sit for months hoping it will "come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concrete, repeatable routine students can follow for every formula going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module's core lesson — patience matters, but it isn't a substitute for good formula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module calmly and clearly — compliance overwhelms beginners fast. Keep the visual language simple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this disclaimer clearly on camera as well — it protects both students and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IFRA categories cover everything from fine fragrance to household products — explain that the limit depends on end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calculation trips up almost every beginner — walk through it slowly and repeat it for a second material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raw material supplier should provide an SDS — if they don't, that's a red flag about the supplier, not just the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students this isn't a reason to fear naturals — it's simply a labelling requirement to plan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CLP determines what actually has to appear on your finished product's label, based on your formula's hazard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self-taught beginners lean on Good Scents for compliance decisions — this correction genuinely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answer to "where do I actually check?" — a clean reference list students can return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flow is the practical checklist to run through before any formula is offered for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firmly but not scarily — this is manageable with the right habits, not a reason to avoid launching a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closing, exciting module — bring both presenters' energy together for the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above this line has been covered in modules 01–11 — this slide is a checkpoint before moving to brand-building.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start with stock bottles for their first run — custom tooling is a later-stage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beautiful label that dissolves the first time it touches spilled perfume is a real, common beginner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often the deciding factor in a first impression, before a customer has smelled anything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the positioning and storytelling slides that follow — it's the conceptual heart of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There's no wrong lane — the mistake is trying to occupy several at once. Encourage students to commit to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successful independent brands start with 2–3 of these channels, not all nine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a note list against a genuine brand story live — the difference is usually obvious once pointed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entire course on this slide — it's a map of everything taught across all thirteen modules,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slide of the entire course — let this close with warmth. Thank the community and point them back to Discord for their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00 · INTRODUCTION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&amp; SCIENCE OF PERFUMERY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PARFUM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SIMPLIFIE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beginner-to-intermediate perfumery education — built to be watched, smelled, and practiced alongside every lesson.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deck, the videos and Discord fit together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teachers, Yev and Kristan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roadmap through all 13 modules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BY YEV &amp; KRISTAN</a:t>
            </a:r>
            <a:endParaRPr lang="en-US" sz="1250" dirty="0"/>
          </a:p>
        </p:txBody>
      </p:sp>
      <p:sp>
        <p:nvSpPr>
          <p:cNvPr id="20" name="trans_fade_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deck is not the lesson.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your lab notebook.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04815" y="1239926"/>
            <a:ext cx="485785" cy="437815"/>
          </a:xfrm>
          <a:prstGeom prst="roundRect">
            <a:avLst>
              <a:gd name="adj" fmla="val 8354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9336497" y="1677741"/>
            <a:ext cx="422422" cy="70050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93382" y="2378245"/>
            <a:ext cx="1508650" cy="3239829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29958" y="3674176"/>
            <a:ext cx="1435498" cy="1907321"/>
          </a:xfrm>
          <a:prstGeom prst="roundRect">
            <a:avLst>
              <a:gd name="adj" fmla="val 6370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004594" y="3479787"/>
            <a:ext cx="1086228" cy="842356"/>
          </a:xfrm>
          <a:prstGeom prst="roundRect">
            <a:avLst>
              <a:gd name="adj" fmla="val 325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course companion — one bottle, one page, one idea at a time.</a:t>
            </a:r>
            <a:endParaRPr lang="en-US" sz="1050" dirty="0"/>
          </a:p>
        </p:txBody>
      </p:sp>
      <p:sp>
        <p:nvSpPr>
          <p:cNvPr id="16" name="bld1_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video, not for reading</a:t>
            </a:r>
            <a:endParaRPr lang="en-US" sz="1650" dirty="0"/>
          </a:p>
        </p:txBody>
      </p:sp>
      <p:sp>
        <p:nvSpPr>
          <p:cNvPr id="18" name="bld1_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 is a visual anchor for what Yev or Kristan are explaining out loud — not a script. Watch, listen, and use the slide to stay oriented.</a:t>
            </a:r>
            <a:endParaRPr lang="en-US" sz="1250" dirty="0"/>
          </a:p>
        </p:txBody>
      </p:sp>
      <p:sp>
        <p:nvSpPr>
          <p:cNvPr id="19" name="bld2_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 to intermediate</a:t>
            </a:r>
            <a:endParaRPr lang="en-US" sz="1650" dirty="0"/>
          </a:p>
        </p:txBody>
      </p:sp>
      <p:sp>
        <p:nvSpPr>
          <p:cNvPr id="21" name="bld2_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with zero assumptions and build to full formula construction, evaluation, compliance and brand launch.</a:t>
            </a:r>
            <a:endParaRPr lang="en-US" sz="1250" dirty="0"/>
          </a:p>
        </p:txBody>
      </p:sp>
      <p:sp>
        <p:nvSpPr>
          <p:cNvPr id="22" name="bld3_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to be practiced</a:t>
            </a:r>
            <a:endParaRPr lang="en-US" sz="1650" dirty="0"/>
          </a:p>
        </p:txBody>
      </p:sp>
      <p:sp>
        <p:nvSpPr>
          <p:cNvPr id="24" name="bld3_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real smelling, real dilution, and real formula work — not passive watching.</a:t>
            </a:r>
            <a:endParaRPr lang="en-US" sz="1250" dirty="0"/>
          </a:p>
        </p:txBody>
      </p:sp>
      <p:sp>
        <p:nvSpPr>
          <p:cNvPr id="26" name="trans_fade_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 &amp; Kristan</a:t>
            </a:r>
            <a:endParaRPr lang="en-US" sz="3200" dirty="0"/>
          </a:p>
        </p:txBody>
      </p:sp>
      <p:sp>
        <p:nvSpPr>
          <p:cNvPr id="7" name="bld1_9"/>
          <p:cNvSpPr/>
          <p:nvPr/>
        </p:nvSpPr>
        <p:spPr>
          <a:xfrm>
            <a:off x="548640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8" name="bld1_10"/>
          <p:cNvSpPr/>
          <p:nvPr/>
        </p:nvSpPr>
        <p:spPr>
          <a:xfrm>
            <a:off x="2586152" y="2121408"/>
            <a:ext cx="1243584" cy="1243584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9" name="bld1_11"/>
          <p:cNvSpPr txBox="1"/>
          <p:nvPr/>
        </p:nvSpPr>
        <p:spPr>
          <a:xfrm>
            <a:off x="2586152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3000" dirty="0"/>
          </a:p>
        </p:txBody>
      </p:sp>
      <p:sp>
        <p:nvSpPr>
          <p:cNvPr id="10" name="bld1_12"/>
          <p:cNvSpPr txBox="1"/>
          <p:nvPr/>
        </p:nvSpPr>
        <p:spPr>
          <a:xfrm>
            <a:off x="777240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</a:t>
            </a:r>
            <a:endParaRPr lang="en-US" sz="1900" dirty="0"/>
          </a:p>
        </p:txBody>
      </p:sp>
      <p:sp>
        <p:nvSpPr>
          <p:cNvPr id="11" name="bld1_13"/>
          <p:cNvSpPr txBox="1"/>
          <p:nvPr/>
        </p:nvSpPr>
        <p:spPr>
          <a:xfrm>
            <a:off x="777240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 · Lab · Business</a:t>
            </a:r>
            <a:endParaRPr lang="en-US" sz="1150" dirty="0"/>
          </a:p>
        </p:txBody>
      </p:sp>
      <p:sp>
        <p:nvSpPr>
          <p:cNvPr id="12" name="bld1_14"/>
          <p:cNvSpPr txBox="1"/>
          <p:nvPr/>
        </p:nvSpPr>
        <p:spPr>
          <a:xfrm>
            <a:off x="868680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technical side — equipment, dilution, compounding, compliance and building a brand around a formula.</a:t>
            </a:r>
            <a:endParaRPr lang="en-US" sz="1150" dirty="0"/>
          </a:p>
        </p:txBody>
      </p:sp>
      <p:sp>
        <p:nvSpPr>
          <p:cNvPr id="13" name="bld2_15"/>
          <p:cNvSpPr/>
          <p:nvPr/>
        </p:nvSpPr>
        <p:spPr>
          <a:xfrm>
            <a:off x="6324448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14" name="bld2_16"/>
          <p:cNvSpPr/>
          <p:nvPr/>
        </p:nvSpPr>
        <p:spPr>
          <a:xfrm>
            <a:off x="8361959" y="2121408"/>
            <a:ext cx="1243584" cy="1243584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5" name="bld2_17"/>
          <p:cNvSpPr txBox="1"/>
          <p:nvPr/>
        </p:nvSpPr>
        <p:spPr>
          <a:xfrm>
            <a:off x="8361959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3000" dirty="0"/>
          </a:p>
        </p:txBody>
      </p:sp>
      <p:sp>
        <p:nvSpPr>
          <p:cNvPr id="16" name="bld2_18"/>
          <p:cNvSpPr txBox="1"/>
          <p:nvPr/>
        </p:nvSpPr>
        <p:spPr>
          <a:xfrm>
            <a:off x="6553048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Kristan</a:t>
            </a:r>
            <a:endParaRPr lang="en-US" sz="1900" dirty="0"/>
          </a:p>
        </p:txBody>
      </p:sp>
      <p:sp>
        <p:nvSpPr>
          <p:cNvPr id="17" name="bld2_19"/>
          <p:cNvSpPr txBox="1"/>
          <p:nvPr/>
        </p:nvSpPr>
        <p:spPr>
          <a:xfrm>
            <a:off x="6553048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· Nose Training · Composition</a:t>
            </a:r>
            <a:endParaRPr lang="en-US" sz="1150" dirty="0"/>
          </a:p>
        </p:txBody>
      </p:sp>
      <p:sp>
        <p:nvSpPr>
          <p:cNvPr id="18" name="bld2_20"/>
          <p:cNvSpPr txBox="1"/>
          <p:nvPr/>
        </p:nvSpPr>
        <p:spPr>
          <a:xfrm>
            <a:off x="6644488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creative side — raw materials, olfactory training, accord building and formula evaluation.</a:t>
            </a:r>
            <a:endParaRPr lang="en-US" sz="1150" dirty="0"/>
          </a:p>
        </p:txBody>
      </p:sp>
      <p:sp>
        <p:nvSpPr>
          <p:cNvPr id="20" name="trans_fade_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COURSE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actually be able to do</a:t>
            </a:r>
            <a:endParaRPr lang="en-US" sz="3200" dirty="0"/>
          </a:p>
        </p:txBody>
      </p:sp>
      <p:sp>
        <p:nvSpPr>
          <p:cNvPr id="7" name="bld1_2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 material</a:t>
            </a:r>
            <a:endParaRPr lang="en-US" sz="1450" dirty="0"/>
          </a:p>
        </p:txBody>
      </p:sp>
      <p:sp>
        <p:nvSpPr>
          <p:cNvPr id="10" name="bld1_24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family, longevity and role from a single scent strip.</a:t>
            </a:r>
            <a:endParaRPr lang="en-US" sz="1080" dirty="0"/>
          </a:p>
        </p:txBody>
      </p:sp>
      <p:sp>
        <p:nvSpPr>
          <p:cNvPr id="11" name="bld2_2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 with precision</a:t>
            </a:r>
            <a:endParaRPr lang="en-US" sz="1450" dirty="0"/>
          </a:p>
        </p:txBody>
      </p:sp>
      <p:sp>
        <p:nvSpPr>
          <p:cNvPr id="14" name="bld2_28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accurate working dilutions for any raw material.</a:t>
            </a:r>
            <a:endParaRPr lang="en-US" sz="1080" dirty="0"/>
          </a:p>
        </p:txBody>
      </p:sp>
      <p:sp>
        <p:nvSpPr>
          <p:cNvPr id="15" name="bld3_2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3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accord</a:t>
            </a:r>
            <a:endParaRPr lang="en-US" sz="1450" dirty="0"/>
          </a:p>
        </p:txBody>
      </p:sp>
      <p:sp>
        <p:nvSpPr>
          <p:cNvPr id="18" name="bld3_32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recognisable smell from individual materials.</a:t>
            </a:r>
            <a:endParaRPr lang="en-US" sz="1080" dirty="0"/>
          </a:p>
        </p:txBody>
      </p:sp>
      <p:sp>
        <p:nvSpPr>
          <p:cNvPr id="19" name="bld4_3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3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3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 a formula</a:t>
            </a:r>
            <a:endParaRPr lang="en-US" sz="1450" dirty="0"/>
          </a:p>
        </p:txBody>
      </p:sp>
      <p:sp>
        <p:nvSpPr>
          <p:cNvPr id="22" name="bld4_36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 idea into a structured, balanced composition.</a:t>
            </a:r>
            <a:endParaRPr lang="en-US" sz="1080" dirty="0"/>
          </a:p>
        </p:txBody>
      </p:sp>
      <p:sp>
        <p:nvSpPr>
          <p:cNvPr id="23" name="bld5_37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38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39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rigorously</a:t>
            </a:r>
            <a:endParaRPr lang="en-US" sz="1450" dirty="0"/>
          </a:p>
        </p:txBody>
      </p:sp>
      <p:sp>
        <p:nvSpPr>
          <p:cNvPr id="26" name="bld5_40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formula on scent strip over 48 hours, not by instinct alone.</a:t>
            </a:r>
            <a:endParaRPr lang="en-US" sz="1080" dirty="0"/>
          </a:p>
        </p:txBody>
      </p:sp>
      <p:sp>
        <p:nvSpPr>
          <p:cNvPr id="27" name="bld6_41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42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43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responsibly</a:t>
            </a:r>
            <a:endParaRPr lang="en-US" sz="1450" dirty="0"/>
          </a:p>
        </p:txBody>
      </p:sp>
      <p:sp>
        <p:nvSpPr>
          <p:cNvPr id="30" name="bld6_44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IFRA, SDS, compounding and the first steps of a brand.</a:t>
            </a:r>
            <a:endParaRPr lang="en-US" sz="1080" dirty="0"/>
          </a:p>
        </p:txBody>
      </p:sp>
      <p:sp>
        <p:nvSpPr>
          <p:cNvPr id="32" name="trans_fade_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COURSE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roadmap through 13 modules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2650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69000" y="172650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69000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754216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Perfumery Basics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754216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3265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9000" y="232657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9000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54216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Naturals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754216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" y="2926652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Synthetics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9000" y="292665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69000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754216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Order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754216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" y="3526726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207008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69000" y="3526726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9000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754216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6754216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" y="4126801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207008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Accords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207008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169000" y="4126801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69000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754216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Construction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6754216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1792" y="47268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1207008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&amp; Developing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1207008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69000" y="4726877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69000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754216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&amp; Compounding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6754216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1792" y="5326952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1792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207008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&amp; Maceration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1207008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69000" y="532695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69000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6754216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6754216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21792" y="592702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21792" y="59910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207008" y="580815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A Brand</a:t>
            </a:r>
            <a:endParaRPr lang="en-US" sz="1450" dirty="0"/>
          </a:p>
        </p:txBody>
      </p:sp>
      <p:sp>
        <p:nvSpPr>
          <p:cNvPr id="63" name="Text 61"/>
          <p:cNvSpPr txBox="1"/>
          <p:nvPr/>
        </p:nvSpPr>
        <p:spPr>
          <a:xfrm>
            <a:off x="1207008" y="61739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65" name="trans_push_l_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6" name="Text 6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COURSE WORKS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Discord, one rhythm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627120"/>
            <a:ext cx="2682045" cy="2682045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25755" y="2046189"/>
            <a:ext cx="1843906" cy="184390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96266" y="2716701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community built around one shared curriculum.</a:t>
            </a:r>
            <a:endParaRPr lang="en-US" sz="1050" dirty="0"/>
          </a:p>
        </p:txBody>
      </p:sp>
      <p:sp>
        <p:nvSpPr>
          <p:cNvPr id="14" name="bld1_4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4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+ slide, every lesson</a:t>
            </a:r>
            <a:endParaRPr lang="en-US" sz="1650" dirty="0"/>
          </a:p>
        </p:txBody>
      </p:sp>
      <p:sp>
        <p:nvSpPr>
          <p:cNvPr id="16" name="bld1_47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video with this deck open — the slide tells you where you are, the video does the teaching.</a:t>
            </a:r>
            <a:endParaRPr lang="en-US" sz="1250" dirty="0"/>
          </a:p>
        </p:txBody>
      </p:sp>
      <p:sp>
        <p:nvSpPr>
          <p:cNvPr id="17" name="bld2_48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bld2_49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smelling homework</a:t>
            </a:r>
            <a:endParaRPr lang="en-US" sz="1650" dirty="0"/>
          </a:p>
        </p:txBody>
      </p:sp>
      <p:sp>
        <p:nvSpPr>
          <p:cNvPr id="19" name="bld2_50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includes materials to physically smell and log before the next lesson.</a:t>
            </a:r>
            <a:endParaRPr lang="en-US" sz="1250" dirty="0"/>
          </a:p>
        </p:txBody>
      </p:sp>
      <p:sp>
        <p:nvSpPr>
          <p:cNvPr id="20" name="bld3_51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52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threads</a:t>
            </a:r>
            <a:endParaRPr lang="en-US" sz="1650" dirty="0"/>
          </a:p>
        </p:txBody>
      </p:sp>
      <p:sp>
        <p:nvSpPr>
          <p:cNvPr id="22" name="bld3_53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your evaluations, accords and formulas in Discord for feedback from Yev, Kristan and the group.</a:t>
            </a:r>
            <a:endParaRPr lang="en-US" sz="1250" dirty="0"/>
          </a:p>
        </p:txBody>
      </p:sp>
      <p:sp>
        <p:nvSpPr>
          <p:cNvPr id="23" name="bld4_54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4_55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hours</a:t>
            </a:r>
            <a:endParaRPr lang="en-US" sz="1650" dirty="0"/>
          </a:p>
        </p:txBody>
      </p:sp>
      <p:sp>
        <p:nvSpPr>
          <p:cNvPr id="25" name="bld4_56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Q&amp;A sessions to troubleshoot formulas and answer anything the videos didn't cover.</a:t>
            </a:r>
            <a:endParaRPr lang="en-US" sz="1250" dirty="0"/>
          </a:p>
        </p:txBody>
      </p:sp>
      <p:sp>
        <p:nvSpPr>
          <p:cNvPr id="27" name="trans_fade_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LEARN PERFUMERY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mindset that actually works</a:t>
            </a:r>
            <a:endParaRPr lang="en-US" sz="3200" dirty="0"/>
          </a:p>
        </p:txBody>
      </p:sp>
      <p:sp>
        <p:nvSpPr>
          <p:cNvPr id="7" name="bld1_5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5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5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 yourself</a:t>
            </a:r>
            <a:endParaRPr lang="en-US" sz="1450" dirty="0"/>
          </a:p>
        </p:txBody>
      </p:sp>
      <p:sp>
        <p:nvSpPr>
          <p:cNvPr id="10" name="bld1_6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description replaces putting a strip under your nose. Reading about rose is not smelling rose.</a:t>
            </a:r>
            <a:endParaRPr lang="en-US" sz="1080" dirty="0"/>
          </a:p>
        </p:txBody>
      </p:sp>
      <p:sp>
        <p:nvSpPr>
          <p:cNvPr id="11" name="bld2_6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6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2_6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fearlessly</a:t>
            </a:r>
            <a:endParaRPr lang="en-US" sz="1450" dirty="0"/>
          </a:p>
        </p:txBody>
      </p:sp>
      <p:sp>
        <p:nvSpPr>
          <p:cNvPr id="14" name="bld2_6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mistakes on a scent strip are how you learn. Perfect formulas don't come first — reps do.</a:t>
            </a:r>
            <a:endParaRPr lang="en-US" sz="1080" dirty="0"/>
          </a:p>
        </p:txBody>
      </p:sp>
      <p:sp>
        <p:nvSpPr>
          <p:cNvPr id="15" name="bld3_6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6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6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records</a:t>
            </a:r>
            <a:endParaRPr lang="en-US" sz="1450" dirty="0"/>
          </a:p>
        </p:txBody>
      </p:sp>
      <p:sp>
        <p:nvSpPr>
          <p:cNvPr id="18" name="bld3_6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un-logged smell is a lost lesson. Write it down every single time.</a:t>
            </a:r>
            <a:endParaRPr lang="en-US" sz="1080" dirty="0"/>
          </a:p>
        </p:txBody>
      </p:sp>
      <p:sp>
        <p:nvSpPr>
          <p:cNvPr id="19" name="bld4_6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7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7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often</a:t>
            </a:r>
            <a:endParaRPr lang="en-US" sz="1450" dirty="0"/>
          </a:p>
        </p:txBody>
      </p:sp>
      <p:sp>
        <p:nvSpPr>
          <p:cNvPr id="22" name="bld4_7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change on your skin, on a strip, over hours. Smell things more than once.</a:t>
            </a:r>
            <a:endParaRPr lang="en-US" sz="1080" dirty="0"/>
          </a:p>
        </p:txBody>
      </p:sp>
      <p:sp>
        <p:nvSpPr>
          <p:cNvPr id="23" name="bld5_7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7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7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Think, don't copy</a:t>
            </a:r>
            <a:endParaRPr lang="en-US" sz="1450" dirty="0"/>
          </a:p>
        </p:txBody>
      </p:sp>
      <p:sp>
        <p:nvSpPr>
          <p:cNvPr id="26" name="bld5_7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you copy teaches you nothing. A formula you build teaches you everything.</a:t>
            </a:r>
            <a:endParaRPr lang="en-US" sz="1080" dirty="0"/>
          </a:p>
        </p:txBody>
      </p:sp>
      <p:sp>
        <p:nvSpPr>
          <p:cNvPr id="27" name="bld6_7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7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7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patient with your nose</a:t>
            </a:r>
            <a:endParaRPr lang="en-US" sz="1450" dirty="0"/>
          </a:p>
        </p:txBody>
      </p:sp>
      <p:sp>
        <p:nvSpPr>
          <p:cNvPr id="30" name="bld6_8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memory is trained like any other skill — daily, gradually, over months.</a:t>
            </a:r>
            <a:endParaRPr lang="en-US" sz="1080" dirty="0"/>
          </a:p>
        </p:txBody>
      </p:sp>
      <p:sp>
        <p:nvSpPr>
          <p:cNvPr id="32" name="trans_fade_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learn to smell from a screen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315413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9129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16448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7819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01355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2726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62621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76337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11690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25406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physical scent strips. Order your materials before you start.</a:t>
            </a:r>
            <a:endParaRPr lang="en-US" sz="1200" dirty="0"/>
          </a:p>
        </p:txBody>
      </p:sp>
      <p:sp>
        <p:nvSpPr>
          <p:cNvPr id="20" name="trans_fade_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17150F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ORGANISED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systems every perfumer keeps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CFC5AE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the exact software setup used throughout this course.</a:t>
            </a:r>
            <a:endParaRPr lang="en-US" sz="1050" dirty="0"/>
          </a:p>
        </p:txBody>
      </p:sp>
      <p:sp>
        <p:nvSpPr>
          <p:cNvPr id="24" name="bld1_8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8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library</a:t>
            </a:r>
            <a:endParaRPr lang="en-US" sz="1650" dirty="0"/>
          </a:p>
        </p:txBody>
      </p:sp>
      <p:sp>
        <p:nvSpPr>
          <p:cNvPr id="26" name="bld1_8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logged with supplier, dilution, family and notes — your personal reference.</a:t>
            </a:r>
            <a:endParaRPr lang="en-US" sz="1250" dirty="0"/>
          </a:p>
        </p:txBody>
      </p:sp>
      <p:sp>
        <p:nvSpPr>
          <p:cNvPr id="27" name="bld2_8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8" name="bld2_8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library</a:t>
            </a:r>
            <a:endParaRPr lang="en-US" sz="1650" dirty="0"/>
          </a:p>
        </p:txBody>
      </p:sp>
      <p:sp>
        <p:nvSpPr>
          <p:cNvPr id="29" name="bld2_8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building blocks — a rose accord, a woody base — you can drop into future formulas.</a:t>
            </a:r>
            <a:endParaRPr lang="en-US" sz="1250" dirty="0"/>
          </a:p>
        </p:txBody>
      </p:sp>
      <p:sp>
        <p:nvSpPr>
          <p:cNvPr id="30" name="bld3_8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8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sheets</a:t>
            </a:r>
            <a:endParaRPr lang="en-US" sz="1650" dirty="0"/>
          </a:p>
        </p:txBody>
      </p:sp>
      <p:sp>
        <p:nvSpPr>
          <p:cNvPr id="32" name="bld3_8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every formula, with dates, percentages and change notes.</a:t>
            </a:r>
            <a:endParaRPr lang="en-US" sz="1250" dirty="0"/>
          </a:p>
        </p:txBody>
      </p:sp>
      <p:sp>
        <p:nvSpPr>
          <p:cNvPr id="33" name="bld4_9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4" name="bld4_9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Scent-strip evaluation log</a:t>
            </a:r>
            <a:endParaRPr lang="en-US" sz="1650" dirty="0"/>
          </a:p>
        </p:txBody>
      </p:sp>
      <p:sp>
        <p:nvSpPr>
          <p:cNvPr id="35" name="bld4_9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Dated, timestamped notes on how a material or formula evolves over 48 hours.</a:t>
            </a:r>
            <a:endParaRPr lang="en-US" sz="1250" dirty="0"/>
          </a:p>
        </p:txBody>
      </p:sp>
      <p:sp>
        <p:nvSpPr>
          <p:cNvPr id="37" name="trans_fade_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teaching you to copy formulas.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teaching you to think like a perfumer.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00</a:t>
            </a:r>
            <a:endParaRPr lang="en-US" sz="1100" dirty="0"/>
          </a:p>
        </p:txBody>
      </p:sp>
      <p:sp>
        <p:nvSpPr>
          <p:cNvPr id="10" name="trans_fade_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· PERFUMERY BASICS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build a formula, you need the words perfumers actually use to describe one.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key terms, with real-world examples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fragrance pyramid and concentration tiers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vs. synthetics, and the myths around both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32" name="trans_fade_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words you'll hear constantly</a:t>
            </a:r>
            <a:endParaRPr lang="en-US" sz="3200" dirty="0"/>
          </a:p>
        </p:txBody>
      </p:sp>
      <p:sp>
        <p:nvSpPr>
          <p:cNvPr id="7" name="bld1_9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9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9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</a:t>
            </a:r>
            <a:endParaRPr lang="en-US" sz="1450" dirty="0"/>
          </a:p>
        </p:txBody>
      </p:sp>
      <p:sp>
        <p:nvSpPr>
          <p:cNvPr id="10" name="bld1_96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undiluted blend of raw materials before alcohol or solvent is added.</a:t>
            </a:r>
            <a:endParaRPr lang="en-US" sz="1080" dirty="0"/>
          </a:p>
        </p:txBody>
      </p:sp>
      <p:sp>
        <p:nvSpPr>
          <p:cNvPr id="11" name="bld2_9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9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9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4" name="bld2_100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finished, mixed formula — naturals and synthetics combined into one liquid.</a:t>
            </a:r>
            <a:endParaRPr lang="en-US" sz="1080" dirty="0"/>
          </a:p>
        </p:txBody>
      </p:sp>
      <p:sp>
        <p:nvSpPr>
          <p:cNvPr id="15" name="bld3_10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0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0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104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or formula reduced in strength with a solvent, expressed as a %.</a:t>
            </a:r>
            <a:endParaRPr lang="en-US" sz="1080" dirty="0"/>
          </a:p>
        </p:txBody>
      </p:sp>
      <p:sp>
        <p:nvSpPr>
          <p:cNvPr id="19" name="bld4_10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0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0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</a:t>
            </a:r>
            <a:endParaRPr lang="en-US" sz="1450" dirty="0"/>
          </a:p>
        </p:txBody>
      </p:sp>
      <p:sp>
        <p:nvSpPr>
          <p:cNvPr id="22" name="bld4_108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materials blended so they read as one new, unified smell.</a:t>
            </a:r>
            <a:endParaRPr lang="en-US" sz="1080" dirty="0"/>
          </a:p>
        </p:txBody>
      </p:sp>
      <p:sp>
        <p:nvSpPr>
          <p:cNvPr id="23" name="bld5_10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1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50" dirty="0"/>
          </a:p>
        </p:txBody>
      </p:sp>
      <p:sp>
        <p:nvSpPr>
          <p:cNvPr id="26" name="bld5_112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pre-built accord used as a foundation — e.g. a musk base or an amber base.</a:t>
            </a:r>
            <a:endParaRPr lang="en-US" sz="1080" dirty="0"/>
          </a:p>
        </p:txBody>
      </p:sp>
      <p:sp>
        <p:nvSpPr>
          <p:cNvPr id="27" name="bld6_11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1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1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</a:t>
            </a:r>
            <a:endParaRPr lang="en-US" sz="1450" dirty="0"/>
          </a:p>
        </p:txBody>
      </p:sp>
      <p:sp>
        <p:nvSpPr>
          <p:cNvPr id="30" name="bld6_116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added in small amounts to shift the character of an accord.</a:t>
            </a:r>
            <a:endParaRPr lang="en-US" sz="1080" dirty="0"/>
          </a:p>
        </p:txBody>
      </p:sp>
      <p:sp>
        <p:nvSpPr>
          <p:cNvPr id="32" name="trans_fade_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more, about how a scent behaves</a:t>
            </a:r>
            <a:endParaRPr lang="en-US" sz="3200" dirty="0"/>
          </a:p>
        </p:txBody>
      </p:sp>
      <p:sp>
        <p:nvSpPr>
          <p:cNvPr id="7" name="bld1_11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1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50" dirty="0"/>
          </a:p>
        </p:txBody>
      </p:sp>
      <p:sp>
        <p:nvSpPr>
          <p:cNvPr id="10" name="bld1_12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used to carry and dilute materials — ethanol, DPG, TEC and others.</a:t>
            </a:r>
            <a:endParaRPr lang="en-US" sz="1080" dirty="0"/>
          </a:p>
        </p:txBody>
      </p:sp>
      <p:sp>
        <p:nvSpPr>
          <p:cNvPr id="11" name="bld2_12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2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2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Fixative</a:t>
            </a:r>
            <a:endParaRPr lang="en-US" sz="1450" dirty="0"/>
          </a:p>
        </p:txBody>
      </p:sp>
      <p:sp>
        <p:nvSpPr>
          <p:cNvPr id="14" name="bld2_12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slows evaporation of lighter notes and extends overall wear.</a:t>
            </a:r>
            <a:endParaRPr lang="en-US" sz="1080" dirty="0"/>
          </a:p>
        </p:txBody>
      </p:sp>
      <p:sp>
        <p:nvSpPr>
          <p:cNvPr id="15" name="bld3_12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2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2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18" name="bld3_12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and how easily a scent spreads into the surrounding air.</a:t>
            </a:r>
            <a:endParaRPr lang="en-US" sz="1080" dirty="0"/>
          </a:p>
        </p:txBody>
      </p:sp>
      <p:sp>
        <p:nvSpPr>
          <p:cNvPr id="19" name="bld4_12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3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3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2" name="bld4_13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material or formula remains detectable over time.</a:t>
            </a:r>
            <a:endParaRPr lang="en-US" sz="1080" dirty="0"/>
          </a:p>
        </p:txBody>
      </p:sp>
      <p:sp>
        <p:nvSpPr>
          <p:cNvPr id="23" name="bld5_13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3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3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1450" dirty="0"/>
          </a:p>
        </p:txBody>
      </p:sp>
      <p:sp>
        <p:nvSpPr>
          <p:cNvPr id="26" name="bld5_13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a material registers, even at very low doses.</a:t>
            </a:r>
            <a:endParaRPr lang="en-US" sz="1080" dirty="0"/>
          </a:p>
        </p:txBody>
      </p:sp>
      <p:sp>
        <p:nvSpPr>
          <p:cNvPr id="27" name="bld6_13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3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3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14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hours in — the final character once top notes have faded.</a:t>
            </a:r>
            <a:endParaRPr lang="en-US" sz="1080" dirty="0"/>
          </a:p>
        </p:txBody>
      </p:sp>
      <p:sp>
        <p:nvSpPr>
          <p:cNvPr id="32" name="trans_fade_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SIX WORDS, WITH REAL EXAMPLES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accord, base and modifier actually look like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383310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4803619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41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42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bld1_143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accord, in practice</a:t>
            </a:r>
            <a:endParaRPr lang="en-US" sz="1450" dirty="0"/>
          </a:p>
        </p:txBody>
      </p:sp>
      <p:sp>
        <p:nvSpPr>
          <p:cNvPr id="13" name="bld1_144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+ geranium + a trace of clove — three materials that read as one unmistakable flower, not three chemicals.</a:t>
            </a:r>
            <a:endParaRPr lang="en-US" sz="1080" dirty="0"/>
          </a:p>
        </p:txBody>
      </p:sp>
      <p:sp>
        <p:nvSpPr>
          <p:cNvPr id="14" name="bld2_145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46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bld2_147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base, in practice</a:t>
            </a:r>
            <a:endParaRPr lang="en-US" sz="1450" dirty="0"/>
          </a:p>
        </p:txBody>
      </p:sp>
      <p:sp>
        <p:nvSpPr>
          <p:cNvPr id="17" name="bld2_148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pre-blended "musk base" bought ready-made and dropped straight into a formula for instant skin-like depth.</a:t>
            </a:r>
            <a:endParaRPr lang="en-US" sz="1080" dirty="0"/>
          </a:p>
        </p:txBody>
      </p:sp>
      <p:sp>
        <p:nvSpPr>
          <p:cNvPr id="18" name="bld3_149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50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0" name="bld3_151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modifier, in practice</a:t>
            </a:r>
            <a:endParaRPr lang="en-US" sz="1450" dirty="0"/>
          </a:p>
        </p:txBody>
      </p:sp>
      <p:sp>
        <p:nvSpPr>
          <p:cNvPr id="21" name="bld3_152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whisper of black pepper added to a vanilla accord — the vanilla is still the star, but it now reads spiced, not flat.</a:t>
            </a:r>
            <a:endParaRPr lang="en-US" sz="1080" dirty="0"/>
          </a:p>
        </p:txBody>
      </p:sp>
      <p:sp>
        <p:nvSpPr>
          <p:cNvPr id="23" name="trans_fade_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FRAGRANCE CONCENTRATIONS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Extrait, EDP, EDT, EDC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383310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4803619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53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54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bld1_155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</a:t>
            </a:r>
            <a:endParaRPr lang="en-US" sz="1450" dirty="0"/>
          </a:p>
        </p:txBody>
      </p:sp>
      <p:sp>
        <p:nvSpPr>
          <p:cNvPr id="13" name="bld1_156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20–30% concentrate. The richest, most expensive tier — closest to skin, longest wear.</a:t>
            </a:r>
            <a:endParaRPr lang="en-US" sz="1080" dirty="0"/>
          </a:p>
        </p:txBody>
      </p:sp>
      <p:sp>
        <p:nvSpPr>
          <p:cNvPr id="14" name="bld2_157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58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159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Parfum</a:t>
            </a:r>
            <a:endParaRPr lang="en-US" sz="1450" dirty="0"/>
          </a:p>
        </p:txBody>
      </p:sp>
      <p:sp>
        <p:nvSpPr>
          <p:cNvPr id="17" name="bld2_160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15–20% concentrate. The modern default for most fine fragrance releases.</a:t>
            </a:r>
            <a:endParaRPr lang="en-US" sz="1080" dirty="0"/>
          </a:p>
        </p:txBody>
      </p:sp>
      <p:sp>
        <p:nvSpPr>
          <p:cNvPr id="18" name="bld3_161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62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63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Toilette</a:t>
            </a:r>
            <a:endParaRPr lang="en-US" sz="1450" dirty="0"/>
          </a:p>
        </p:txBody>
      </p:sp>
      <p:sp>
        <p:nvSpPr>
          <p:cNvPr id="21" name="bld3_164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5–15% concentrate. Lighter, fresher, common for everyday and citrus formulas.</a:t>
            </a:r>
            <a:endParaRPr lang="en-US" sz="1080" dirty="0"/>
          </a:p>
        </p:txBody>
      </p:sp>
      <p:sp>
        <p:nvSpPr>
          <p:cNvPr id="22" name="bld4_165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66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167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Cologne</a:t>
            </a:r>
            <a:endParaRPr lang="en-US" sz="1450" dirty="0"/>
          </a:p>
        </p:txBody>
      </p:sp>
      <p:sp>
        <p:nvSpPr>
          <p:cNvPr id="25" name="bld4_168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2–5% concentrate. Very light, classic citrus-led, applied liberally.</a:t>
            </a:r>
            <a:endParaRPr lang="en-US" sz="1080" dirty="0"/>
          </a:p>
        </p:txBody>
      </p:sp>
      <p:sp>
        <p:nvSpPr>
          <p:cNvPr id="27" name="trans_fade_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DISTINCTION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is not performance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higher concentration percentage always means a stronger, longer-lasting fragrance."</a:t>
            </a:r>
            <a:endParaRPr lang="en-US" sz="2100" dirty="0"/>
          </a:p>
        </p:txBody>
      </p:sp>
      <p:sp>
        <p:nvSpPr>
          <p:cNvPr id="10" name="bld1_169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70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71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comes from which materials are used — their diffusion, tenacity and fixative structure — far more than from the raw % of concentrate. A well-built 10% EDT can outlast a poorly built 25% extrait. Concentration is a starting ratio, not a guarantee.</a:t>
            </a:r>
            <a:endParaRPr lang="en-US" sz="1450" dirty="0"/>
          </a:p>
        </p:txBody>
      </p:sp>
      <p:sp>
        <p:nvSpPr>
          <p:cNvPr id="14" name="trans_wipe_l_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MODEL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pyramid</a:t>
            </a:r>
            <a:endParaRPr lang="en-US" sz="3200" dirty="0"/>
          </a:p>
        </p:txBody>
      </p:sp>
      <p:sp>
        <p:nvSpPr>
          <p:cNvPr id="7" name="bld1_172"/>
          <p:cNvSpPr/>
          <p:nvPr/>
        </p:nvSpPr>
        <p:spPr>
          <a:xfrm>
            <a:off x="3953933" y="1691640"/>
            <a:ext cx="474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8" name="bld1_173"/>
          <p:cNvSpPr/>
          <p:nvPr/>
        </p:nvSpPr>
        <p:spPr>
          <a:xfrm>
            <a:off x="3906520" y="1771227"/>
            <a:ext cx="1422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9" name="bld1_174"/>
          <p:cNvSpPr/>
          <p:nvPr/>
        </p:nvSpPr>
        <p:spPr>
          <a:xfrm>
            <a:off x="3859107" y="1850813"/>
            <a:ext cx="2370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0" name="bld1_175"/>
          <p:cNvSpPr/>
          <p:nvPr/>
        </p:nvSpPr>
        <p:spPr>
          <a:xfrm>
            <a:off x="3811693" y="1930400"/>
            <a:ext cx="33189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1" name="bld1_176"/>
          <p:cNvSpPr/>
          <p:nvPr/>
        </p:nvSpPr>
        <p:spPr>
          <a:xfrm>
            <a:off x="3764280" y="2009987"/>
            <a:ext cx="42672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2" name="bld1_177"/>
          <p:cNvSpPr/>
          <p:nvPr/>
        </p:nvSpPr>
        <p:spPr>
          <a:xfrm>
            <a:off x="3716867" y="2089573"/>
            <a:ext cx="52154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3" name="bld1_178"/>
          <p:cNvSpPr/>
          <p:nvPr/>
        </p:nvSpPr>
        <p:spPr>
          <a:xfrm>
            <a:off x="3669453" y="2169160"/>
            <a:ext cx="61637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4" name="bld1_179"/>
          <p:cNvSpPr/>
          <p:nvPr/>
        </p:nvSpPr>
        <p:spPr>
          <a:xfrm>
            <a:off x="3622040" y="2248747"/>
            <a:ext cx="71120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5" name="bld1_180"/>
          <p:cNvSpPr/>
          <p:nvPr/>
        </p:nvSpPr>
        <p:spPr>
          <a:xfrm>
            <a:off x="3574627" y="2328333"/>
            <a:ext cx="80602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6" name="bld1_181"/>
          <p:cNvSpPr/>
          <p:nvPr/>
        </p:nvSpPr>
        <p:spPr>
          <a:xfrm>
            <a:off x="3527213" y="2407920"/>
            <a:ext cx="90085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7" name="bld1_182"/>
          <p:cNvSpPr/>
          <p:nvPr/>
        </p:nvSpPr>
        <p:spPr>
          <a:xfrm>
            <a:off x="3479800" y="2487507"/>
            <a:ext cx="99568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8" name="bld1_183"/>
          <p:cNvSpPr/>
          <p:nvPr/>
        </p:nvSpPr>
        <p:spPr>
          <a:xfrm>
            <a:off x="3432387" y="2567093"/>
            <a:ext cx="109050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9" name="bld1_184"/>
          <p:cNvSpPr/>
          <p:nvPr/>
        </p:nvSpPr>
        <p:spPr>
          <a:xfrm>
            <a:off x="3384973" y="2646680"/>
            <a:ext cx="118533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0" name="bld1_185"/>
          <p:cNvSpPr/>
          <p:nvPr/>
        </p:nvSpPr>
        <p:spPr>
          <a:xfrm>
            <a:off x="3337560" y="2726267"/>
            <a:ext cx="128016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1" name="bld1_186"/>
          <p:cNvSpPr/>
          <p:nvPr/>
        </p:nvSpPr>
        <p:spPr>
          <a:xfrm>
            <a:off x="3290147" y="2805853"/>
            <a:ext cx="137498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2" name="bld1_187"/>
          <p:cNvSpPr/>
          <p:nvPr/>
        </p:nvSpPr>
        <p:spPr>
          <a:xfrm>
            <a:off x="3242733" y="2885440"/>
            <a:ext cx="14698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3" name="bld1_188"/>
          <p:cNvSpPr/>
          <p:nvPr/>
        </p:nvSpPr>
        <p:spPr>
          <a:xfrm>
            <a:off x="3195320" y="2965027"/>
            <a:ext cx="15646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4" name="bld1_189"/>
          <p:cNvSpPr/>
          <p:nvPr/>
        </p:nvSpPr>
        <p:spPr>
          <a:xfrm>
            <a:off x="3147907" y="3044613"/>
            <a:ext cx="16594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5" name="bld1_190"/>
          <p:cNvSpPr txBox="1"/>
          <p:nvPr/>
        </p:nvSpPr>
        <p:spPr>
          <a:xfrm>
            <a:off x="-502920" y="211531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300" dirty="0"/>
          </a:p>
        </p:txBody>
      </p:sp>
      <p:sp>
        <p:nvSpPr>
          <p:cNvPr id="26" name="bld1_191"/>
          <p:cNvSpPr txBox="1"/>
          <p:nvPr/>
        </p:nvSpPr>
        <p:spPr>
          <a:xfrm>
            <a:off x="6675120" y="21153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fruits, aldehydes, aromatic herbs — the first impression, 0–30 minutes.</a:t>
            </a:r>
            <a:endParaRPr lang="en-US" sz="1100" dirty="0"/>
          </a:p>
        </p:txBody>
      </p:sp>
      <p:sp>
        <p:nvSpPr>
          <p:cNvPr id="27" name="bld2_192"/>
          <p:cNvSpPr/>
          <p:nvPr/>
        </p:nvSpPr>
        <p:spPr>
          <a:xfrm>
            <a:off x="3100493" y="3124200"/>
            <a:ext cx="17542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8" name="bld2_193"/>
          <p:cNvSpPr/>
          <p:nvPr/>
        </p:nvSpPr>
        <p:spPr>
          <a:xfrm>
            <a:off x="3053080" y="3203787"/>
            <a:ext cx="18491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9" name="bld2_194"/>
          <p:cNvSpPr/>
          <p:nvPr/>
        </p:nvSpPr>
        <p:spPr>
          <a:xfrm>
            <a:off x="3005667" y="3283373"/>
            <a:ext cx="19439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0" name="bld2_195"/>
          <p:cNvSpPr/>
          <p:nvPr/>
        </p:nvSpPr>
        <p:spPr>
          <a:xfrm>
            <a:off x="2958253" y="3362960"/>
            <a:ext cx="203877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1" name="bld2_196"/>
          <p:cNvSpPr/>
          <p:nvPr/>
        </p:nvSpPr>
        <p:spPr>
          <a:xfrm>
            <a:off x="2910840" y="3442547"/>
            <a:ext cx="213360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2" name="bld2_197"/>
          <p:cNvSpPr/>
          <p:nvPr/>
        </p:nvSpPr>
        <p:spPr>
          <a:xfrm>
            <a:off x="2863427" y="3522133"/>
            <a:ext cx="222842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3" name="bld2_198"/>
          <p:cNvSpPr/>
          <p:nvPr/>
        </p:nvSpPr>
        <p:spPr>
          <a:xfrm>
            <a:off x="2816013" y="3601720"/>
            <a:ext cx="232325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4" name="bld2_199"/>
          <p:cNvSpPr/>
          <p:nvPr/>
        </p:nvSpPr>
        <p:spPr>
          <a:xfrm>
            <a:off x="2768600" y="3681307"/>
            <a:ext cx="241808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5" name="bld2_200"/>
          <p:cNvSpPr/>
          <p:nvPr/>
        </p:nvSpPr>
        <p:spPr>
          <a:xfrm>
            <a:off x="2721187" y="3760893"/>
            <a:ext cx="251290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6" name="bld2_201"/>
          <p:cNvSpPr/>
          <p:nvPr/>
        </p:nvSpPr>
        <p:spPr>
          <a:xfrm>
            <a:off x="2673773" y="3840480"/>
            <a:ext cx="260773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7" name="bld2_202"/>
          <p:cNvSpPr/>
          <p:nvPr/>
        </p:nvSpPr>
        <p:spPr>
          <a:xfrm>
            <a:off x="2626360" y="3920067"/>
            <a:ext cx="270256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8" name="bld2_203"/>
          <p:cNvSpPr/>
          <p:nvPr/>
        </p:nvSpPr>
        <p:spPr>
          <a:xfrm>
            <a:off x="2578947" y="3999653"/>
            <a:ext cx="279738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9" name="bld2_204"/>
          <p:cNvSpPr/>
          <p:nvPr/>
        </p:nvSpPr>
        <p:spPr>
          <a:xfrm>
            <a:off x="2531533" y="4079240"/>
            <a:ext cx="289221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0" name="bld2_205"/>
          <p:cNvSpPr/>
          <p:nvPr/>
        </p:nvSpPr>
        <p:spPr>
          <a:xfrm>
            <a:off x="2484120" y="4158827"/>
            <a:ext cx="298704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1" name="bld2_206"/>
          <p:cNvSpPr/>
          <p:nvPr/>
        </p:nvSpPr>
        <p:spPr>
          <a:xfrm>
            <a:off x="2436707" y="4238413"/>
            <a:ext cx="308186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2" name="bld2_207"/>
          <p:cNvSpPr/>
          <p:nvPr/>
        </p:nvSpPr>
        <p:spPr>
          <a:xfrm>
            <a:off x="2389293" y="4318000"/>
            <a:ext cx="31766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3" name="bld2_208"/>
          <p:cNvSpPr/>
          <p:nvPr/>
        </p:nvSpPr>
        <p:spPr>
          <a:xfrm>
            <a:off x="2341880" y="4397587"/>
            <a:ext cx="32715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4" name="bld2_209"/>
          <p:cNvSpPr/>
          <p:nvPr/>
        </p:nvSpPr>
        <p:spPr>
          <a:xfrm>
            <a:off x="2294467" y="4477173"/>
            <a:ext cx="33663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5" name="bld2_210"/>
          <p:cNvSpPr txBox="1"/>
          <p:nvPr/>
        </p:nvSpPr>
        <p:spPr>
          <a:xfrm>
            <a:off x="-502920" y="35478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300" dirty="0"/>
          </a:p>
        </p:txBody>
      </p:sp>
      <p:sp>
        <p:nvSpPr>
          <p:cNvPr id="46" name="bld2_211"/>
          <p:cNvSpPr txBox="1"/>
          <p:nvPr/>
        </p:nvSpPr>
        <p:spPr>
          <a:xfrm>
            <a:off x="6675120" y="35478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Florals, spices, greens — the main character, emerging 30 minutes to a few hours in.</a:t>
            </a:r>
            <a:endParaRPr lang="en-US" sz="1100" dirty="0"/>
          </a:p>
        </p:txBody>
      </p:sp>
      <p:sp>
        <p:nvSpPr>
          <p:cNvPr id="47" name="bld3_212"/>
          <p:cNvSpPr/>
          <p:nvPr/>
        </p:nvSpPr>
        <p:spPr>
          <a:xfrm>
            <a:off x="2247053" y="4556760"/>
            <a:ext cx="34611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8" name="bld3_213"/>
          <p:cNvSpPr/>
          <p:nvPr/>
        </p:nvSpPr>
        <p:spPr>
          <a:xfrm>
            <a:off x="2199640" y="4636347"/>
            <a:ext cx="35560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9" name="bld3_214"/>
          <p:cNvSpPr/>
          <p:nvPr/>
        </p:nvSpPr>
        <p:spPr>
          <a:xfrm>
            <a:off x="2152227" y="4715933"/>
            <a:ext cx="36508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0" name="bld3_215"/>
          <p:cNvSpPr/>
          <p:nvPr/>
        </p:nvSpPr>
        <p:spPr>
          <a:xfrm>
            <a:off x="2104813" y="4795520"/>
            <a:ext cx="374565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1" name="bld3_216"/>
          <p:cNvSpPr/>
          <p:nvPr/>
        </p:nvSpPr>
        <p:spPr>
          <a:xfrm>
            <a:off x="2057400" y="4875107"/>
            <a:ext cx="384048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2" name="bld3_217"/>
          <p:cNvSpPr/>
          <p:nvPr/>
        </p:nvSpPr>
        <p:spPr>
          <a:xfrm>
            <a:off x="2009987" y="4954693"/>
            <a:ext cx="393530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3" name="bld3_218"/>
          <p:cNvSpPr/>
          <p:nvPr/>
        </p:nvSpPr>
        <p:spPr>
          <a:xfrm>
            <a:off x="1962573" y="5034280"/>
            <a:ext cx="403013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4" name="bld3_219"/>
          <p:cNvSpPr/>
          <p:nvPr/>
        </p:nvSpPr>
        <p:spPr>
          <a:xfrm>
            <a:off x="1915160" y="5113867"/>
            <a:ext cx="412496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5" name="bld3_220"/>
          <p:cNvSpPr/>
          <p:nvPr/>
        </p:nvSpPr>
        <p:spPr>
          <a:xfrm>
            <a:off x="1867747" y="5193453"/>
            <a:ext cx="421978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6" name="bld3_221"/>
          <p:cNvSpPr/>
          <p:nvPr/>
        </p:nvSpPr>
        <p:spPr>
          <a:xfrm>
            <a:off x="1820333" y="5273040"/>
            <a:ext cx="431461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7" name="bld3_222"/>
          <p:cNvSpPr/>
          <p:nvPr/>
        </p:nvSpPr>
        <p:spPr>
          <a:xfrm>
            <a:off x="1772920" y="5352627"/>
            <a:ext cx="440944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8" name="bld3_223"/>
          <p:cNvSpPr/>
          <p:nvPr/>
        </p:nvSpPr>
        <p:spPr>
          <a:xfrm>
            <a:off x="1725507" y="5432213"/>
            <a:ext cx="450426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9" name="bld3_224"/>
          <p:cNvSpPr/>
          <p:nvPr/>
        </p:nvSpPr>
        <p:spPr>
          <a:xfrm>
            <a:off x="1678093" y="5511800"/>
            <a:ext cx="459909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0" name="bld3_225"/>
          <p:cNvSpPr/>
          <p:nvPr/>
        </p:nvSpPr>
        <p:spPr>
          <a:xfrm>
            <a:off x="1630680" y="5591387"/>
            <a:ext cx="469392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1" name="bld3_226"/>
          <p:cNvSpPr/>
          <p:nvPr/>
        </p:nvSpPr>
        <p:spPr>
          <a:xfrm>
            <a:off x="1583267" y="5670973"/>
            <a:ext cx="478874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2" name="bld3_227"/>
          <p:cNvSpPr/>
          <p:nvPr/>
        </p:nvSpPr>
        <p:spPr>
          <a:xfrm>
            <a:off x="1535853" y="5750560"/>
            <a:ext cx="48835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3" name="bld3_228"/>
          <p:cNvSpPr/>
          <p:nvPr/>
        </p:nvSpPr>
        <p:spPr>
          <a:xfrm>
            <a:off x="1488440" y="5830147"/>
            <a:ext cx="49784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4" name="bld3_229"/>
          <p:cNvSpPr/>
          <p:nvPr/>
        </p:nvSpPr>
        <p:spPr>
          <a:xfrm>
            <a:off x="1441027" y="5909733"/>
            <a:ext cx="50732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5" name="bld3_230"/>
          <p:cNvSpPr txBox="1"/>
          <p:nvPr/>
        </p:nvSpPr>
        <p:spPr>
          <a:xfrm>
            <a:off x="-502920" y="498043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300" dirty="0"/>
          </a:p>
        </p:txBody>
      </p:sp>
      <p:sp>
        <p:nvSpPr>
          <p:cNvPr id="66" name="bld3_231"/>
          <p:cNvSpPr txBox="1"/>
          <p:nvPr/>
        </p:nvSpPr>
        <p:spPr>
          <a:xfrm>
            <a:off x="6675120" y="49804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musks, ambers, resins — the lasting foundation, hours into the drydown.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as a teaching and marketing model — but real formulas overlap top, heart and base heavily. Few materials sit in only one layer.</a:t>
            </a:r>
            <a:endParaRPr lang="en-US" sz="1150" dirty="0"/>
          </a:p>
        </p:txBody>
      </p:sp>
      <p:sp>
        <p:nvSpPr>
          <p:cNvPr id="69" name="trans_fade_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29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carries a formula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427553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52975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08456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32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3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34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</a:t>
            </a:r>
            <a:endParaRPr lang="en-US" sz="1450" dirty="0"/>
          </a:p>
        </p:txBody>
      </p:sp>
      <p:sp>
        <p:nvSpPr>
          <p:cNvPr id="24" name="bld1_235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alcohol. The standard solvent for finished fine-fragrance sprays.</a:t>
            </a:r>
            <a:endParaRPr lang="en-US" sz="1080" dirty="0"/>
          </a:p>
        </p:txBody>
      </p:sp>
      <p:sp>
        <p:nvSpPr>
          <p:cNvPr id="25" name="bld2_236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37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238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DPG</a:t>
            </a:r>
            <a:endParaRPr lang="en-US" sz="1450" dirty="0"/>
          </a:p>
        </p:txBody>
      </p:sp>
      <p:sp>
        <p:nvSpPr>
          <p:cNvPr id="28" name="bld2_239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Dipropylene glycol. Odourless, non-flammable — common for oils and roll-ons.</a:t>
            </a:r>
            <a:endParaRPr lang="en-US" sz="1080" dirty="0"/>
          </a:p>
        </p:txBody>
      </p:sp>
      <p:sp>
        <p:nvSpPr>
          <p:cNvPr id="29" name="bld3_240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41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42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</a:t>
            </a:r>
            <a:endParaRPr lang="en-US" sz="1450" dirty="0"/>
          </a:p>
        </p:txBody>
      </p:sp>
      <p:sp>
        <p:nvSpPr>
          <p:cNvPr id="32" name="bld3_243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Triethyl citrate. A gentler, skin-friendly solvent often used in oil-based formats.</a:t>
            </a:r>
            <a:endParaRPr lang="en-US" sz="1080" dirty="0"/>
          </a:p>
        </p:txBody>
      </p:sp>
      <p:sp>
        <p:nvSpPr>
          <p:cNvPr id="33" name="bld4_244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45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46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IPM</a:t>
            </a:r>
            <a:endParaRPr lang="en-US" sz="1450" dirty="0"/>
          </a:p>
        </p:txBody>
      </p:sp>
      <p:sp>
        <p:nvSpPr>
          <p:cNvPr id="36" name="bld4_247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Isopropyl myristate. A light, fast-absorbing carrier used where appropriate.</a:t>
            </a:r>
            <a:endParaRPr lang="en-US" sz="1080" dirty="0"/>
          </a:p>
        </p:txBody>
      </p:sp>
      <p:sp>
        <p:nvSpPr>
          <p:cNvPr id="38" name="trans_fade_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GOES INTO A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finished perfume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spray perfume is mostly solvent — not concentrate.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21167" y="2850551"/>
            <a:ext cx="110944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32111" y="2850551"/>
            <a:ext cx="5547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87583" y="2850551"/>
            <a:ext cx="5547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bld1_248"/>
          <p:cNvSpPr/>
          <p:nvPr/>
        </p:nvSpPr>
        <p:spPr>
          <a:xfrm>
            <a:off x="566928" y="389296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249"/>
          <p:cNvSpPr txBox="1"/>
          <p:nvPr/>
        </p:nvSpPr>
        <p:spPr>
          <a:xfrm>
            <a:off x="841248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7" name="bld1_250"/>
          <p:cNvSpPr txBox="1"/>
          <p:nvPr/>
        </p:nvSpPr>
        <p:spPr>
          <a:xfrm>
            <a:off x="841248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itself</a:t>
            </a:r>
            <a:endParaRPr lang="en-US" sz="1000" dirty="0"/>
          </a:p>
        </p:txBody>
      </p:sp>
      <p:sp>
        <p:nvSpPr>
          <p:cNvPr id="18" name="bld2_251"/>
          <p:cNvSpPr/>
          <p:nvPr/>
        </p:nvSpPr>
        <p:spPr>
          <a:xfrm>
            <a:off x="6297016" y="3892967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9" name="bld2_252"/>
          <p:cNvSpPr txBox="1"/>
          <p:nvPr/>
        </p:nvSpPr>
        <p:spPr>
          <a:xfrm>
            <a:off x="6571336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 —  78%</a:t>
            </a:r>
            <a:endParaRPr lang="en-US" sz="1250" dirty="0"/>
          </a:p>
        </p:txBody>
      </p:sp>
      <p:sp>
        <p:nvSpPr>
          <p:cNvPr id="20" name="bld2_253"/>
          <p:cNvSpPr txBox="1"/>
          <p:nvPr/>
        </p:nvSpPr>
        <p:spPr>
          <a:xfrm>
            <a:off x="6571336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21" name="bld3_254"/>
          <p:cNvSpPr/>
          <p:nvPr/>
        </p:nvSpPr>
        <p:spPr>
          <a:xfrm>
            <a:off x="566928" y="445989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55"/>
          <p:cNvSpPr txBox="1"/>
          <p:nvPr/>
        </p:nvSpPr>
        <p:spPr>
          <a:xfrm>
            <a:off x="841248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 —  1%</a:t>
            </a:r>
            <a:endParaRPr lang="en-US" sz="1250" dirty="0"/>
          </a:p>
        </p:txBody>
      </p:sp>
      <p:sp>
        <p:nvSpPr>
          <p:cNvPr id="23" name="bld3_256"/>
          <p:cNvSpPr txBox="1"/>
          <p:nvPr/>
        </p:nvSpPr>
        <p:spPr>
          <a:xfrm>
            <a:off x="841248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softens alcohol bite</a:t>
            </a:r>
            <a:endParaRPr lang="en-US" sz="1000" dirty="0"/>
          </a:p>
        </p:txBody>
      </p:sp>
      <p:sp>
        <p:nvSpPr>
          <p:cNvPr id="24" name="bld4_257"/>
          <p:cNvSpPr/>
          <p:nvPr/>
        </p:nvSpPr>
        <p:spPr>
          <a:xfrm>
            <a:off x="6297016" y="4459895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4_258"/>
          <p:cNvSpPr txBox="1"/>
          <p:nvPr/>
        </p:nvSpPr>
        <p:spPr>
          <a:xfrm>
            <a:off x="6571336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Antioxidants / stabilisers  —  0.5%</a:t>
            </a:r>
            <a:endParaRPr lang="en-US" sz="1250" dirty="0"/>
          </a:p>
        </p:txBody>
      </p:sp>
      <p:sp>
        <p:nvSpPr>
          <p:cNvPr id="26" name="bld4_259"/>
          <p:cNvSpPr txBox="1"/>
          <p:nvPr/>
        </p:nvSpPr>
        <p:spPr>
          <a:xfrm>
            <a:off x="6571336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</a:t>
            </a:r>
            <a:endParaRPr lang="en-US" sz="1000" dirty="0"/>
          </a:p>
        </p:txBody>
      </p:sp>
      <p:sp>
        <p:nvSpPr>
          <p:cNvPr id="27" name="bld5_260"/>
          <p:cNvSpPr/>
          <p:nvPr/>
        </p:nvSpPr>
        <p:spPr>
          <a:xfrm>
            <a:off x="566928" y="502682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5_261"/>
          <p:cNvSpPr txBox="1"/>
          <p:nvPr/>
        </p:nvSpPr>
        <p:spPr>
          <a:xfrm>
            <a:off x="841248" y="494452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 —  0.5%</a:t>
            </a:r>
            <a:endParaRPr lang="en-US" sz="1250" dirty="0"/>
          </a:p>
        </p:txBody>
      </p:sp>
      <p:sp>
        <p:nvSpPr>
          <p:cNvPr id="29" name="bld5_262"/>
          <p:cNvSpPr txBox="1"/>
          <p:nvPr/>
        </p:nvSpPr>
        <p:spPr>
          <a:xfrm>
            <a:off x="841248" y="521884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appropriate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631375" y="246650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32" name="trans_push_l_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SOURCES, ONE PALETTE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vs. synthetics</a:t>
            </a:r>
            <a:endParaRPr lang="en-US" sz="3200" dirty="0"/>
          </a:p>
        </p:txBody>
      </p:sp>
      <p:sp>
        <p:nvSpPr>
          <p:cNvPr id="7" name="bld1_263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8" name="bld1_264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265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800" dirty="0"/>
          </a:p>
        </p:txBody>
      </p:sp>
      <p:sp>
        <p:nvSpPr>
          <p:cNvPr id="10" name="bld1_266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oils — steam or expression distilled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Absolutes — solvent extracted, richer and truer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extracts — extracted under pressure, very clean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Resinoids — extracted from gums and resins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variable, often expensive</a:t>
            </a:r>
            <a:endParaRPr lang="en-US" sz="1300" dirty="0"/>
          </a:p>
        </p:txBody>
      </p:sp>
      <p:sp>
        <p:nvSpPr>
          <p:cNvPr id="11" name="bld1_267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2" name="bld1_268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3" name="bld2_269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14" name="bld2_270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2_271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</a:t>
            </a:r>
            <a:endParaRPr lang="en-US" sz="1800" dirty="0"/>
          </a:p>
        </p:txBody>
      </p:sp>
      <p:sp>
        <p:nvSpPr>
          <p:cNvPr id="16" name="bld2_272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 chemicals — single, isolated molecules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Captives / speciality materials — proprietary, exclusive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— pre-blended synthetic accords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consistent, batch after batch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effects naturals simply cannot achieve</a:t>
            </a:r>
            <a:endParaRPr lang="en-US" sz="1300" dirty="0"/>
          </a:p>
        </p:txBody>
      </p:sp>
      <p:sp>
        <p:nvSpPr>
          <p:cNvPr id="17" name="bld2_273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2_274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20" name="trans_wipe_l_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FAMILIES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twelve families you'll learn to recognise</a:t>
            </a:r>
            <a:endParaRPr lang="en-US" sz="3200" dirty="0"/>
          </a:p>
        </p:txBody>
      </p:sp>
      <p:sp>
        <p:nvSpPr>
          <p:cNvPr id="7" name="bld1_275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33773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1967723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52022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277"/>
          <p:cNvSpPr txBox="1"/>
          <p:nvPr/>
        </p:nvSpPr>
        <p:spPr>
          <a:xfrm>
            <a:off x="731520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278"/>
          <p:cNvSpPr txBox="1"/>
          <p:nvPr/>
        </p:nvSpPr>
        <p:spPr>
          <a:xfrm>
            <a:off x="731520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Bergamot, lemon, mandarin</a:t>
            </a:r>
            <a:endParaRPr lang="en-US" sz="1080" dirty="0"/>
          </a:p>
        </p:txBody>
      </p:sp>
      <p:sp>
        <p:nvSpPr>
          <p:cNvPr id="25" name="bld2_279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6417" y="193183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27811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5262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47571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505023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18842" y="2118072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281"/>
          <p:cNvSpPr txBox="1"/>
          <p:nvPr/>
        </p:nvSpPr>
        <p:spPr>
          <a:xfrm>
            <a:off x="3569132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282"/>
          <p:cNvSpPr txBox="1"/>
          <p:nvPr/>
        </p:nvSpPr>
        <p:spPr>
          <a:xfrm>
            <a:off x="3569132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jasmine, muguet</a:t>
            </a:r>
            <a:endParaRPr lang="en-US" sz="1080" dirty="0"/>
          </a:p>
        </p:txBody>
      </p:sp>
      <p:sp>
        <p:nvSpPr>
          <p:cNvPr id="36" name="bld3_283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315804" y="1996823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509167" y="1987123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7532942" y="1967723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3_285"/>
          <p:cNvSpPr txBox="1"/>
          <p:nvPr/>
        </p:nvSpPr>
        <p:spPr>
          <a:xfrm>
            <a:off x="6406744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43" name="bld3_286"/>
          <p:cNvSpPr txBox="1"/>
          <p:nvPr/>
        </p:nvSpPr>
        <p:spPr>
          <a:xfrm>
            <a:off x="6406744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Peach, apple, blackcurrant</a:t>
            </a:r>
            <a:endParaRPr lang="en-US" sz="1080" dirty="0"/>
          </a:p>
        </p:txBody>
      </p:sp>
      <p:sp>
        <p:nvSpPr>
          <p:cNvPr id="44" name="bld4_287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 rot="15300000">
            <a:off x="10188067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050000">
            <a:off x="10233538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0800000">
            <a:off x="10311040" y="21762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550000">
            <a:off x="10388543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300000">
            <a:off x="10434014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2" name="bld4_289"/>
          <p:cNvSpPr txBox="1"/>
          <p:nvPr/>
        </p:nvSpPr>
        <p:spPr>
          <a:xfrm>
            <a:off x="9244355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53" name="bld4_290"/>
          <p:cNvSpPr txBox="1"/>
          <p:nvPr/>
        </p:nvSpPr>
        <p:spPr>
          <a:xfrm>
            <a:off x="9244355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grass, galbanum, leaves</a:t>
            </a:r>
            <a:endParaRPr lang="en-US" sz="1080" dirty="0"/>
          </a:p>
        </p:txBody>
      </p:sp>
      <p:sp>
        <p:nvSpPr>
          <p:cNvPr id="54" name="bld5_291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56" name="Shape 54"/>
          <p:cNvSpPr/>
          <p:nvPr/>
        </p:nvSpPr>
        <p:spPr>
          <a:xfrm>
            <a:off x="1803055" y="365546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2700000">
            <a:off x="1854908" y="367694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5400000">
            <a:off x="1876387" y="372879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8100000">
            <a:off x="1854908" y="37806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0800000">
            <a:off x="1803055" y="38021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3500000">
            <a:off x="1751202" y="37806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6200000">
            <a:off x="1729723" y="372879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8900000">
            <a:off x="1751202" y="367694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800630" y="3777296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65" name="Shape 6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66" name="bld5_293"/>
          <p:cNvSpPr txBox="1"/>
          <p:nvPr/>
        </p:nvSpPr>
        <p:spPr>
          <a:xfrm>
            <a:off x="731520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67" name="bld5_294"/>
          <p:cNvSpPr txBox="1"/>
          <p:nvPr/>
        </p:nvSpPr>
        <p:spPr>
          <a:xfrm>
            <a:off x="731520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Lavender, rosemary, herbs</a:t>
            </a:r>
            <a:endParaRPr lang="en-US" sz="1080" dirty="0"/>
          </a:p>
        </p:txBody>
      </p:sp>
      <p:sp>
        <p:nvSpPr>
          <p:cNvPr id="68" name="bld6_295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0" name="Shape 68"/>
          <p:cNvSpPr/>
          <p:nvPr/>
        </p:nvSpPr>
        <p:spPr>
          <a:xfrm>
            <a:off x="4434543" y="3573597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515376" y="3654430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2" name="Shape 70"/>
          <p:cNvSpPr/>
          <p:nvPr/>
        </p:nvSpPr>
        <p:spPr>
          <a:xfrm>
            <a:off x="4596209" y="3735263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647942" y="3786996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4" name="Shape 72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75" name="bld6_297"/>
          <p:cNvSpPr txBox="1"/>
          <p:nvPr/>
        </p:nvSpPr>
        <p:spPr>
          <a:xfrm>
            <a:off x="3569132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76" name="bld6_298"/>
          <p:cNvSpPr txBox="1"/>
          <p:nvPr/>
        </p:nvSpPr>
        <p:spPr>
          <a:xfrm>
            <a:off x="3569132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Cedar, sandalwood, vetiver</a:t>
            </a:r>
            <a:endParaRPr lang="en-US" sz="1080" dirty="0"/>
          </a:p>
        </p:txBody>
      </p:sp>
      <p:sp>
        <p:nvSpPr>
          <p:cNvPr id="77" name="bld7_299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79" name="Shape 77"/>
          <p:cNvSpPr/>
          <p:nvPr/>
        </p:nvSpPr>
        <p:spPr>
          <a:xfrm rot="9000000">
            <a:off x="7393404" y="3704547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6000000">
            <a:off x="7330354" y="3675447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1400000">
            <a:off x="7529203" y="3646347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83" name="bld7_301"/>
          <p:cNvSpPr txBox="1"/>
          <p:nvPr/>
        </p:nvSpPr>
        <p:spPr>
          <a:xfrm>
            <a:off x="6406744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84" name="bld7_302"/>
          <p:cNvSpPr txBox="1"/>
          <p:nvPr/>
        </p:nvSpPr>
        <p:spPr>
          <a:xfrm>
            <a:off x="6406744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Labdanum, resins, warmth</a:t>
            </a:r>
            <a:endParaRPr lang="en-US" sz="1080" dirty="0"/>
          </a:p>
        </p:txBody>
      </p:sp>
      <p:sp>
        <p:nvSpPr>
          <p:cNvPr id="85" name="bld8_303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7" name="Shape 85"/>
          <p:cNvSpPr/>
          <p:nvPr/>
        </p:nvSpPr>
        <p:spPr>
          <a:xfrm>
            <a:off x="10129166" y="3665747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89" name="bld8_305"/>
          <p:cNvSpPr txBox="1"/>
          <p:nvPr/>
        </p:nvSpPr>
        <p:spPr>
          <a:xfrm>
            <a:off x="9244355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90" name="bld8_306"/>
          <p:cNvSpPr txBox="1"/>
          <p:nvPr/>
        </p:nvSpPr>
        <p:spPr>
          <a:xfrm>
            <a:off x="9244355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skin, soft, radiant</a:t>
            </a:r>
            <a:endParaRPr lang="en-US" sz="1080" dirty="0"/>
          </a:p>
        </p:txBody>
      </p:sp>
      <p:sp>
        <p:nvSpPr>
          <p:cNvPr id="91" name="bld9_307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3" name="Shape 91"/>
          <p:cNvSpPr/>
          <p:nvPr/>
        </p:nvSpPr>
        <p:spPr>
          <a:xfrm rot="840000">
            <a:off x="1781230" y="5225546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840000">
            <a:off x="1833944" y="5281321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784868" y="529465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1802328" y="535479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7" name="Shape 95"/>
          <p:cNvSpPr/>
          <p:nvPr/>
        </p:nvSpPr>
        <p:spPr>
          <a:xfrm>
            <a:off x="1819787" y="54149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8" name="Shape 96"/>
          <p:cNvSpPr/>
          <p:nvPr/>
        </p:nvSpPr>
        <p:spPr>
          <a:xfrm>
            <a:off x="1837247" y="547507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9" name="Shape 97"/>
          <p:cNvSpPr/>
          <p:nvPr/>
        </p:nvSpPr>
        <p:spPr>
          <a:xfrm>
            <a:off x="1854707" y="553521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0" name="Shape 98"/>
          <p:cNvSpPr/>
          <p:nvPr/>
        </p:nvSpPr>
        <p:spPr>
          <a:xfrm>
            <a:off x="1872167" y="559535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02" name="bld9_309"/>
          <p:cNvSpPr txBox="1"/>
          <p:nvPr/>
        </p:nvSpPr>
        <p:spPr>
          <a:xfrm>
            <a:off x="731520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103" name="bld9_310"/>
          <p:cNvSpPr txBox="1"/>
          <p:nvPr/>
        </p:nvSpPr>
        <p:spPr>
          <a:xfrm>
            <a:off x="731520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Vanilla, caramel, sugar</a:t>
            </a:r>
            <a:endParaRPr lang="en-US" sz="1080" dirty="0"/>
          </a:p>
        </p:txBody>
      </p:sp>
      <p:sp>
        <p:nvSpPr>
          <p:cNvPr id="104" name="bld10_311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5" name="Shape 103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434543" y="5213421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4496433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4471410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4471410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4496433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12" name="bld10_313"/>
          <p:cNvSpPr txBox="1"/>
          <p:nvPr/>
        </p:nvSpPr>
        <p:spPr>
          <a:xfrm>
            <a:off x="3569132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13" name="bld10_314"/>
          <p:cNvSpPr txBox="1"/>
          <p:nvPr/>
        </p:nvSpPr>
        <p:spPr>
          <a:xfrm>
            <a:off x="3569132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birch tar, smoke</a:t>
            </a:r>
            <a:endParaRPr lang="en-US" sz="1080" dirty="0"/>
          </a:p>
        </p:txBody>
      </p:sp>
      <p:sp>
        <p:nvSpPr>
          <p:cNvPr id="114" name="bld11_315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5" name="Shape 113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272155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7325504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7325504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325504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1" name="bld11_317"/>
          <p:cNvSpPr txBox="1"/>
          <p:nvPr/>
        </p:nvSpPr>
        <p:spPr>
          <a:xfrm>
            <a:off x="6406744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</a:t>
            </a:r>
            <a:endParaRPr lang="en-US" sz="1450" dirty="0"/>
          </a:p>
        </p:txBody>
      </p:sp>
      <p:sp>
        <p:nvSpPr>
          <p:cNvPr id="122" name="bld11_318"/>
          <p:cNvSpPr txBox="1"/>
          <p:nvPr/>
        </p:nvSpPr>
        <p:spPr>
          <a:xfrm>
            <a:off x="6406744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air, ozone, melon</a:t>
            </a:r>
            <a:endParaRPr lang="en-US" sz="1080" dirty="0"/>
          </a:p>
        </p:txBody>
      </p:sp>
      <p:sp>
        <p:nvSpPr>
          <p:cNvPr id="123" name="bld12_319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5" name="Shape 123"/>
          <p:cNvSpPr/>
          <p:nvPr/>
        </p:nvSpPr>
        <p:spPr>
          <a:xfrm rot="9000000">
            <a:off x="10231016" y="534437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6000000">
            <a:off x="10167966" y="5315271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1400000">
            <a:off x="10366815" y="5286171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29" name="bld12_321"/>
          <p:cNvSpPr txBox="1"/>
          <p:nvPr/>
        </p:nvSpPr>
        <p:spPr>
          <a:xfrm>
            <a:off x="9244355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130" name="bld12_322"/>
          <p:cNvSpPr txBox="1"/>
          <p:nvPr/>
        </p:nvSpPr>
        <p:spPr>
          <a:xfrm>
            <a:off x="9244355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Pepper, clove, cinnamon</a:t>
            </a:r>
            <a:endParaRPr lang="en-US" sz="1080" dirty="0"/>
          </a:p>
        </p:txBody>
      </p:sp>
      <p:sp>
        <p:nvSpPr>
          <p:cNvPr id="132" name="trans_fade_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3" name="Text 1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134" name="Text 1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2" grpId="0"/>
      <p:bldP spid="43" grpId="0"/>
      <p:bldP spid="44" grpId="0"/>
      <p:bldP spid="52" grpId="0"/>
      <p:bldP spid="53" grpId="0"/>
      <p:bldP spid="54" grpId="0"/>
      <p:bldP spid="66" grpId="0"/>
      <p:bldP spid="67" grpId="0"/>
      <p:bldP spid="68" grpId="0"/>
      <p:bldP spid="75" grpId="0"/>
      <p:bldP spid="76" grpId="0"/>
      <p:bldP spid="77" grpId="0"/>
      <p:bldP spid="83" grpId="0"/>
      <p:bldP spid="84" grpId="0"/>
      <p:bldP spid="85" grpId="0"/>
      <p:bldP spid="89" grpId="0"/>
      <p:bldP spid="90" grpId="0"/>
      <p:bldP spid="91" grpId="0"/>
      <p:bldP spid="102" grpId="0"/>
      <p:bldP spid="103" grpId="0"/>
      <p:bldP spid="104" grpId="0"/>
      <p:bldP spid="112" grpId="0"/>
      <p:bldP spid="113" grpId="0"/>
      <p:bldP spid="114" grpId="0"/>
      <p:bldP spid="121" grpId="0"/>
      <p:bldP spid="122" grpId="0"/>
      <p:bldP spid="123" grpId="0"/>
      <p:bldP spid="129" grpId="0"/>
      <p:bldP spid="13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perfumery myths, busted</a:t>
            </a:r>
            <a:endParaRPr lang="en-US" sz="3200" dirty="0"/>
          </a:p>
        </p:txBody>
      </p:sp>
      <p:sp>
        <p:nvSpPr>
          <p:cNvPr id="7" name="bld1_323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24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325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is always better</a:t>
            </a:r>
            <a:endParaRPr lang="en-US" sz="1350" dirty="0"/>
          </a:p>
        </p:txBody>
      </p:sp>
      <p:sp>
        <p:nvSpPr>
          <p:cNvPr id="10" name="bld1_326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327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bring soul; synthetics bring precision, safety and effects naturals can't. Great perfumery uses both.</a:t>
            </a:r>
            <a:endParaRPr lang="en-US" sz="1080" dirty="0"/>
          </a:p>
        </p:txBody>
      </p:sp>
      <p:sp>
        <p:nvSpPr>
          <p:cNvPr id="12" name="bld2_328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329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330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oil means stronger</a:t>
            </a:r>
            <a:endParaRPr lang="en-US" sz="1350" dirty="0"/>
          </a:p>
        </p:txBody>
      </p:sp>
      <p:sp>
        <p:nvSpPr>
          <p:cNvPr id="15" name="bld2_331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332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choice, not raw %, drives strength. A well-built low-concentrate formula can outperform a poorly built rich one.</a:t>
            </a:r>
            <a:endParaRPr lang="en-US" sz="1080" dirty="0"/>
          </a:p>
        </p:txBody>
      </p:sp>
      <p:sp>
        <p:nvSpPr>
          <p:cNvPr id="17" name="bld3_333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334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335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fake</a:t>
            </a:r>
            <a:endParaRPr lang="en-US" sz="1350" dirty="0"/>
          </a:p>
        </p:txBody>
      </p:sp>
      <p:sp>
        <p:nvSpPr>
          <p:cNvPr id="20" name="bld3_336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337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synthetics smell nothing like an approximation — they're original, beautiful materials with no natural equivalent.</a:t>
            </a:r>
            <a:endParaRPr lang="en-US" sz="1080" dirty="0"/>
          </a:p>
        </p:txBody>
      </p:sp>
      <p:sp>
        <p:nvSpPr>
          <p:cNvPr id="22" name="bld4_338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39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340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Expensive material = better perfume</a:t>
            </a:r>
            <a:endParaRPr lang="en-US" sz="1350" dirty="0"/>
          </a:p>
        </p:txBody>
      </p:sp>
      <p:sp>
        <p:nvSpPr>
          <p:cNvPr id="25" name="bld4_341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342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reflects rarity and extraction cost, not olfactory value. Cheap materials can be the hero of a formula.</a:t>
            </a:r>
            <a:endParaRPr lang="en-US" sz="1080" dirty="0"/>
          </a:p>
        </p:txBody>
      </p:sp>
      <p:sp>
        <p:nvSpPr>
          <p:cNvPr id="27" name="bld5_343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344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345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/ heart / base must separate perfectly</a:t>
            </a:r>
            <a:endParaRPr lang="en-US" sz="1350" dirty="0"/>
          </a:p>
        </p:txBody>
      </p:sp>
      <p:sp>
        <p:nvSpPr>
          <p:cNvPr id="30" name="bld5_346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347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materials span multiple layers at once — the pyramid is a teaching model, not a physical law.</a:t>
            </a:r>
            <a:endParaRPr lang="en-US" sz="1080" dirty="0"/>
          </a:p>
        </p:txBody>
      </p:sp>
      <p:sp>
        <p:nvSpPr>
          <p:cNvPr id="32" name="bld6_348"/>
          <p:cNvSpPr/>
          <p:nvPr/>
        </p:nvSpPr>
        <p:spPr>
          <a:xfrm>
            <a:off x="8115605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349"/>
          <p:cNvSpPr txBox="1"/>
          <p:nvPr/>
        </p:nvSpPr>
        <p:spPr>
          <a:xfrm>
            <a:off x="8316773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34" name="bld6_350"/>
          <p:cNvSpPr txBox="1"/>
          <p:nvPr/>
        </p:nvSpPr>
        <p:spPr>
          <a:xfrm>
            <a:off x="8316773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materials = more complexity</a:t>
            </a:r>
            <a:endParaRPr lang="en-US" sz="1350" dirty="0"/>
          </a:p>
        </p:txBody>
      </p:sp>
      <p:sp>
        <p:nvSpPr>
          <p:cNvPr id="35" name="bld6_351"/>
          <p:cNvSpPr txBox="1"/>
          <p:nvPr/>
        </p:nvSpPr>
        <p:spPr>
          <a:xfrm>
            <a:off x="8316773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6" name="bld6_352"/>
          <p:cNvSpPr txBox="1"/>
          <p:nvPr/>
        </p:nvSpPr>
        <p:spPr>
          <a:xfrm>
            <a:off x="8316773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comes from how materials interact, not how many are in the beaker. Restraint is a skill.</a:t>
            </a:r>
            <a:endParaRPr lang="en-US" sz="1080" dirty="0"/>
          </a:p>
        </p:txBody>
      </p:sp>
      <p:sp>
        <p:nvSpPr>
          <p:cNvPr id="38" name="trans_fade_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pyramid, the percentages, the categories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maps — not the territory. Learn them,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learn when real formulas break them.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01</a:t>
            </a:r>
            <a:endParaRPr lang="en-US" sz="1100" dirty="0"/>
          </a:p>
        </p:txBody>
      </p:sp>
      <p:sp>
        <p:nvSpPr>
          <p:cNvPr id="10" name="trans_fade_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64447" y="3824387"/>
            <a:ext cx="1805026" cy="593080"/>
          </a:xfrm>
          <a:prstGeom prst="roundRect">
            <a:avLst>
              <a:gd name="adj" fmla="val 9251"/>
            </a:avLst>
          </a:prstGeom>
          <a:solidFill>
            <a:srgbClr val="B5652D">
              <a:alpha val="80000"/>
            </a:srgbClr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69854" y="2737074"/>
            <a:ext cx="794211" cy="1146621"/>
          </a:xfrm>
          <a:prstGeom prst="roundRect">
            <a:avLst>
              <a:gd name="adj" fmla="val 3454"/>
            </a:avLst>
          </a:prstGeom>
          <a:solidFill>
            <a:srgbClr val="FAF6EC"/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2388" y="2440534"/>
            <a:ext cx="914" cy="316309"/>
          </a:xfrm>
          <a:prstGeom prst="line">
            <a:avLst/>
          </a:prstGeom>
          <a:noFill/>
          <a:ln w="25400">
            <a:solidFill>
              <a:srgbClr val="B565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· EQUIPMENT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Bench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professional lab to start — you need the right small set of tools, chosen for accuracy, and you need to know exactly what each one is for.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0.001g scale is non-negotiable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on the bench, one at a time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starter checklist, and what to skip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2" name="trans_fade_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OVERVIEW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you actually need?</a:t>
            </a:r>
            <a:endParaRPr lang="en-US" sz="3200" dirty="0"/>
          </a:p>
        </p:txBody>
      </p:sp>
      <p:sp>
        <p:nvSpPr>
          <p:cNvPr id="7" name="bld1_353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2312365" y="2167179"/>
            <a:ext cx="120037" cy="5335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32402" y="2167179"/>
            <a:ext cx="120037" cy="6668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2432402" y="2233866"/>
            <a:ext cx="120037" cy="10670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32341" y="2340566"/>
            <a:ext cx="200062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232341" y="2220529"/>
            <a:ext cx="80025" cy="12003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65653" y="2153842"/>
            <a:ext cx="146712" cy="6668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91025" y="2199189"/>
            <a:ext cx="42680" cy="42680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17064" y="2151841"/>
            <a:ext cx="30676" cy="30676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37101" y="2218528"/>
            <a:ext cx="30676" cy="30676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17064" y="2325228"/>
            <a:ext cx="30676" cy="30676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17003" y="2325228"/>
            <a:ext cx="30676" cy="30676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50315" y="2138504"/>
            <a:ext cx="30676" cy="30676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bld1_355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450" dirty="0"/>
          </a:p>
        </p:txBody>
      </p:sp>
      <p:sp>
        <p:nvSpPr>
          <p:cNvPr id="23" name="bld1_356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precision — your single most important tool.</a:t>
            </a:r>
            <a:endParaRPr lang="en-US" sz="1080" dirty="0"/>
          </a:p>
        </p:txBody>
      </p:sp>
      <p:sp>
        <p:nvSpPr>
          <p:cNvPr id="24" name="bld2_357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55835" y="2031380"/>
            <a:ext cx="80025" cy="84026"/>
          </a:xfrm>
          <a:prstGeom prst="ellipse">
            <a:avLst/>
          </a:prstGeom>
          <a:solidFill>
            <a:srgbClr val="4090AF">
              <a:alpha val="85000"/>
            </a:srgbClr>
          </a:solidFill>
          <a:ln w="12700">
            <a:solidFill>
              <a:srgbClr val="4090A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84875" y="2111404"/>
            <a:ext cx="914" cy="225524"/>
          </a:xfrm>
          <a:prstGeom prst="line">
            <a:avLst/>
          </a:prstGeom>
          <a:noFill/>
          <a:ln w="28575">
            <a:solidFill>
              <a:srgbClr val="4090A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6084935" y="2336928"/>
            <a:ext cx="21825" cy="58200"/>
          </a:xfrm>
          <a:prstGeom prst="triangle">
            <a:avLst/>
          </a:prstGeom>
          <a:solidFill>
            <a:srgbClr val="4090AF">
              <a:alpha val="8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0" name="bld2_359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Pipettes</a:t>
            </a:r>
            <a:endParaRPr lang="en-US" sz="1450" dirty="0"/>
          </a:p>
        </p:txBody>
      </p:sp>
      <p:sp>
        <p:nvSpPr>
          <p:cNvPr id="31" name="bld2_360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Disposable, one per material.</a:t>
            </a:r>
            <a:endParaRPr lang="en-US" sz="1080" dirty="0"/>
          </a:p>
        </p:txBody>
      </p:sp>
      <p:sp>
        <p:nvSpPr>
          <p:cNvPr id="32" name="bld3_361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4" name="Shape 32"/>
          <p:cNvSpPr/>
          <p:nvPr/>
        </p:nvSpPr>
        <p:spPr>
          <a:xfrm>
            <a:off x="9854343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35" name="Shape 33"/>
          <p:cNvSpPr/>
          <p:nvPr/>
        </p:nvSpPr>
        <p:spPr>
          <a:xfrm>
            <a:off x="9857602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01730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38306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9" name="bld3_363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bottles</a:t>
            </a:r>
            <a:endParaRPr lang="en-US" sz="1450" dirty="0"/>
          </a:p>
        </p:txBody>
      </p:sp>
      <p:sp>
        <p:nvSpPr>
          <p:cNvPr id="40" name="bld3_364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that keeps light out.</a:t>
            </a:r>
            <a:endParaRPr lang="en-US" sz="1080" dirty="0"/>
          </a:p>
        </p:txBody>
      </p:sp>
      <p:sp>
        <p:nvSpPr>
          <p:cNvPr id="41" name="bld4_365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3" name="Shape 41"/>
          <p:cNvSpPr/>
          <p:nvPr/>
        </p:nvSpPr>
        <p:spPr>
          <a:xfrm>
            <a:off x="2287378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4" name="Shape 42"/>
          <p:cNvSpPr/>
          <p:nvPr/>
        </p:nvSpPr>
        <p:spPr>
          <a:xfrm>
            <a:off x="2290637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34766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271342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8" name="bld4_367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bottles</a:t>
            </a:r>
            <a:endParaRPr lang="en-US" sz="1450" dirty="0"/>
          </a:p>
        </p:txBody>
      </p:sp>
      <p:sp>
        <p:nvSpPr>
          <p:cNvPr id="49" name="bld4_368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material, clearly labelled.</a:t>
            </a:r>
            <a:endParaRPr lang="en-US" sz="1080" dirty="0"/>
          </a:p>
        </p:txBody>
      </p:sp>
      <p:sp>
        <p:nvSpPr>
          <p:cNvPr id="50" name="bld5_369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52" name="Shape 50"/>
          <p:cNvSpPr/>
          <p:nvPr/>
        </p:nvSpPr>
        <p:spPr>
          <a:xfrm>
            <a:off x="6078873" y="4414782"/>
            <a:ext cx="36278" cy="329798"/>
          </a:xfrm>
          <a:prstGeom prst="roundRect">
            <a:avLst>
              <a:gd name="adj" fmla="val 50411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92589" y="4639045"/>
            <a:ext cx="8846" cy="87248"/>
          </a:xfrm>
          <a:prstGeom prst="roundRect">
            <a:avLst>
              <a:gd name="adj" fmla="val 155053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5" name="bld5_371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</a:t>
            </a:r>
            <a:endParaRPr lang="en-US" sz="1450" dirty="0"/>
          </a:p>
        </p:txBody>
      </p:sp>
      <p:sp>
        <p:nvSpPr>
          <p:cNvPr id="56" name="bld5_372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primary evaluation instrument.</a:t>
            </a:r>
            <a:endParaRPr lang="en-US" sz="1080" dirty="0"/>
          </a:p>
        </p:txBody>
      </p:sp>
      <p:sp>
        <p:nvSpPr>
          <p:cNvPr id="57" name="bld6_373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59" name="Shape 57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698721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9673698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9673698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9698721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AD8862"/>
            </a:solidFill>
            <a:prstDash val="solid"/>
          </a:ln>
        </p:spPr>
      </p:sp>
      <p:sp>
        <p:nvSpPr>
          <p:cNvPr id="65" name="bld6_375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vessels</a:t>
            </a:r>
            <a:endParaRPr lang="en-US" sz="1450" dirty="0"/>
          </a:p>
        </p:txBody>
      </p:sp>
      <p:sp>
        <p:nvSpPr>
          <p:cNvPr id="66" name="bld6_376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Boats and small cups for solids.</a:t>
            </a:r>
            <a:endParaRPr lang="en-US" sz="1080" dirty="0"/>
          </a:p>
        </p:txBody>
      </p:sp>
      <p:sp>
        <p:nvSpPr>
          <p:cNvPr id="68" name="trans_fade_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9" name="Text 6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70" name="Text 6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0" grpId="0"/>
      <p:bldP spid="31" grpId="0"/>
      <p:bldP spid="32" grpId="0"/>
      <p:bldP spid="39" grpId="0"/>
      <p:bldP spid="40" grpId="0"/>
      <p:bldP spid="41" grpId="0"/>
      <p:bldP spid="48" grpId="0"/>
      <p:bldP spid="49" grpId="0"/>
      <p:bldP spid="50" grpId="0"/>
      <p:bldP spid="55" grpId="0"/>
      <p:bldP spid="56" grpId="0"/>
      <p:bldP spid="57" grpId="0"/>
      <p:bldP spid="65" grpId="0"/>
      <p:bldP spid="6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OVERVIEW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...and the rest of the bench</a:t>
            </a:r>
            <a:endParaRPr lang="en-US" sz="3200" dirty="0"/>
          </a:p>
        </p:txBody>
      </p:sp>
      <p:sp>
        <p:nvSpPr>
          <p:cNvPr id="7" name="bld1_377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9" name="Shape 7"/>
          <p:cNvSpPr/>
          <p:nvPr/>
        </p:nvSpPr>
        <p:spPr>
          <a:xfrm>
            <a:off x="2291025" y="2050780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15366" y="2118679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6406" y="2227319"/>
            <a:ext cx="131919" cy="156169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3" name="bld1_379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Beakers</a:t>
            </a:r>
            <a:endParaRPr lang="en-US" sz="1450" dirty="0"/>
          </a:p>
        </p:txBody>
      </p:sp>
      <p:sp>
        <p:nvSpPr>
          <p:cNvPr id="14" name="bld1_380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larger trial batches.</a:t>
            </a:r>
            <a:endParaRPr lang="en-US" sz="1080" dirty="0"/>
          </a:p>
        </p:txBody>
      </p:sp>
      <p:sp>
        <p:nvSpPr>
          <p:cNvPr id="15" name="bld2_381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74508" y="2050780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98848" y="2118679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29888" y="2227319"/>
            <a:ext cx="131919" cy="156169"/>
          </a:xfrm>
          <a:prstGeom prst="triangle">
            <a:avLst/>
          </a:prstGeom>
          <a:solidFill>
            <a:srgbClr val="4090AF">
              <a:alpha val="9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1" name="bld2_383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Funnels</a:t>
            </a:r>
            <a:endParaRPr lang="en-US" sz="1450" dirty="0"/>
          </a:p>
        </p:txBody>
      </p:sp>
      <p:sp>
        <p:nvSpPr>
          <p:cNvPr id="22" name="bld2_384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spill-free transfers.</a:t>
            </a:r>
            <a:endParaRPr lang="en-US" sz="1080" dirty="0"/>
          </a:p>
        </p:txBody>
      </p:sp>
      <p:sp>
        <p:nvSpPr>
          <p:cNvPr id="23" name="bld3_385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5" name="Shape 23"/>
          <p:cNvSpPr/>
          <p:nvPr/>
        </p:nvSpPr>
        <p:spPr>
          <a:xfrm rot="8100000">
            <a:off x="9758081" y="2099280"/>
            <a:ext cx="242499" cy="242499"/>
          </a:xfrm>
          <a:prstGeom prst="teardrop">
            <a:avLst/>
          </a:prstGeom>
          <a:solidFill>
            <a:srgbClr val="8A6339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7" name="bld3_387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Spatulas</a:t>
            </a:r>
            <a:endParaRPr lang="en-US" sz="1450" dirty="0"/>
          </a:p>
        </p:txBody>
      </p:sp>
      <p:sp>
        <p:nvSpPr>
          <p:cNvPr id="28" name="bld3_388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solids and crystalline materials.</a:t>
            </a:r>
            <a:endParaRPr lang="en-US" sz="1080" dirty="0"/>
          </a:p>
        </p:txBody>
      </p:sp>
      <p:sp>
        <p:nvSpPr>
          <p:cNvPr id="29" name="bld4_389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089266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3" name="bld4_391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</a:t>
            </a:r>
            <a:endParaRPr lang="en-US" sz="1450" dirty="0"/>
          </a:p>
        </p:txBody>
      </p:sp>
      <p:sp>
        <p:nvSpPr>
          <p:cNvPr id="34" name="bld4_392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Nitrile, for clean handling.</a:t>
            </a:r>
            <a:endParaRPr lang="en-US" sz="1080" dirty="0"/>
          </a:p>
        </p:txBody>
      </p:sp>
      <p:sp>
        <p:nvSpPr>
          <p:cNvPr id="35" name="bld5_393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7" name="Shape 35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1523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890215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5890215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591523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3" name="bld5_395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&amp; marker</a:t>
            </a:r>
            <a:endParaRPr lang="en-US" sz="1450" dirty="0"/>
          </a:p>
        </p:txBody>
      </p:sp>
      <p:sp>
        <p:nvSpPr>
          <p:cNvPr id="44" name="bld5_396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Alcohol-resistant, always.</a:t>
            </a:r>
            <a:endParaRPr lang="en-US" sz="1080" dirty="0"/>
          </a:p>
        </p:txBody>
      </p:sp>
      <p:sp>
        <p:nvSpPr>
          <p:cNvPr id="45" name="bld6_397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7" name="Shape 45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698721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9673698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9673698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9698721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3" name="bld6_399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</a:t>
            </a:r>
            <a:endParaRPr lang="en-US" sz="1450" dirty="0"/>
          </a:p>
        </p:txBody>
      </p:sp>
      <p:sp>
        <p:nvSpPr>
          <p:cNvPr id="54" name="bld6_400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Organised, dark, consistent.</a:t>
            </a:r>
            <a:endParaRPr lang="en-US" sz="1080" dirty="0"/>
          </a:p>
        </p:txBody>
      </p:sp>
      <p:sp>
        <p:nvSpPr>
          <p:cNvPr id="56" name="trans_fade_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7" name="Text 5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7" grpId="0"/>
      <p:bldP spid="28" grpId="0"/>
      <p:bldP spid="29" grpId="0"/>
      <p:bldP spid="33" grpId="0"/>
      <p:bldP spid="34" grpId="0"/>
      <p:bldP spid="35" grpId="0"/>
      <p:bldP spid="43" grpId="0"/>
      <p:bldP spid="44" grpId="0"/>
      <p:bldP spid="45" grpId="0"/>
      <p:bldP spid="53" grpId="0"/>
      <p:bldP spid="5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01 · THE NON-NEGOTIABLE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scale is your accuracy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39687"/>
            <a:ext cx="582490" cy="25888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30197" y="2939687"/>
            <a:ext cx="582490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130197" y="3263292"/>
            <a:ext cx="582490" cy="517769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59381" y="3781061"/>
            <a:ext cx="97081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59381" y="3198571"/>
            <a:ext cx="388327" cy="58249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35776" y="2874966"/>
            <a:ext cx="711932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44154" y="3095017"/>
            <a:ext cx="207108" cy="207108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5768" y="2865258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38258" y="3188863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5768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84952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1346" y="2800536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B565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0.01g kitchen scale cannot see a 0.05g dose. Don't guess where you can measure.</a:t>
            </a:r>
            <a:endParaRPr lang="en-US" sz="1050" dirty="0"/>
          </a:p>
        </p:txBody>
      </p:sp>
      <p:sp>
        <p:nvSpPr>
          <p:cNvPr id="25" name="bld1_40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1_40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0.001g readability, ~200g capacity</a:t>
            </a:r>
            <a:endParaRPr lang="en-US" sz="1650" dirty="0"/>
          </a:p>
        </p:txBody>
      </p:sp>
      <p:sp>
        <p:nvSpPr>
          <p:cNvPr id="27" name="bld1_40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sweet spot for perfumery — precise enough for trace materials, large enough for real batches.</a:t>
            </a:r>
            <a:endParaRPr lang="en-US" sz="1250" dirty="0"/>
          </a:p>
        </p:txBody>
      </p:sp>
      <p:sp>
        <p:nvSpPr>
          <p:cNvPr id="28" name="bld2_40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2_40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0.001g matters</a:t>
            </a:r>
            <a:endParaRPr lang="en-US" sz="1650" dirty="0"/>
          </a:p>
        </p:txBody>
      </p:sp>
      <p:sp>
        <p:nvSpPr>
          <p:cNvPr id="30" name="bld2_40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you're making a 10g concentrate. 0.01g is 0.1% of the whole formula — with powerful materials, that's already too coarse to develop precisely. A 0.001g scale lets you make adjustments ten times smaller.</a:t>
            </a:r>
            <a:endParaRPr lang="en-US" sz="1250" dirty="0"/>
          </a:p>
        </p:txBody>
      </p:sp>
      <p:sp>
        <p:nvSpPr>
          <p:cNvPr id="31" name="bld3_40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2" name="bld3_40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Repeatability over price</a:t>
            </a:r>
            <a:endParaRPr lang="en-US" sz="1650" dirty="0"/>
          </a:p>
        </p:txBody>
      </p:sp>
      <p:sp>
        <p:nvSpPr>
          <p:cNvPr id="33" name="bld3_40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scale that gives a different reading each time is worse than useless — it teaches you the wrong lesson.</a:t>
            </a:r>
            <a:endParaRPr lang="en-US" sz="1250" dirty="0"/>
          </a:p>
        </p:txBody>
      </p:sp>
      <p:sp>
        <p:nvSpPr>
          <p:cNvPr id="34" name="bld4_41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41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&amp; max capacity</a:t>
            </a:r>
            <a:endParaRPr lang="en-US" sz="1650" dirty="0"/>
          </a:p>
        </p:txBody>
      </p:sp>
      <p:sp>
        <p:nvSpPr>
          <p:cNvPr id="36" name="bld4_41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regularly with a reference weight, and respect the scale's stated capacity — overloading degrades accuracy.</a:t>
            </a:r>
            <a:endParaRPr lang="en-US" sz="1250" dirty="0"/>
          </a:p>
        </p:txBody>
      </p:sp>
      <p:sp>
        <p:nvSpPr>
          <p:cNvPr id="38" name="trans_fade_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DIFFERENCE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0.01g scale vs. 0.001g scale</a:t>
            </a:r>
            <a:endParaRPr lang="en-US" sz="3200" dirty="0"/>
          </a:p>
        </p:txBody>
      </p:sp>
      <p:sp>
        <p:nvSpPr>
          <p:cNvPr id="7" name="bld1_413"/>
          <p:cNvSpPr/>
          <p:nvPr/>
        </p:nvSpPr>
        <p:spPr>
          <a:xfrm>
            <a:off x="548640" y="1874520"/>
            <a:ext cx="5364328" cy="4023360"/>
          </a:xfrm>
          <a:prstGeom prst="roundRect">
            <a:avLst>
              <a:gd name="adj" fmla="val 3182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414"/>
          <p:cNvSpPr txBox="1"/>
          <p:nvPr/>
        </p:nvSpPr>
        <p:spPr>
          <a:xfrm>
            <a:off x="841248" y="2093976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0.01G SCALE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17572" y="3035808"/>
            <a:ext cx="1426464" cy="1426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" name="Shape 8"/>
          <p:cNvSpPr/>
          <p:nvPr/>
        </p:nvSpPr>
        <p:spPr>
          <a:xfrm flipV="1">
            <a:off x="3230804" y="3626649"/>
            <a:ext cx="275379" cy="12239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6183" y="3626649"/>
            <a:ext cx="275379" cy="152988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506183" y="3779638"/>
            <a:ext cx="275379" cy="24478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47218" y="4024419"/>
            <a:ext cx="458965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047218" y="3749040"/>
            <a:ext cx="183586" cy="275379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4230" y="3596052"/>
            <a:ext cx="336574" cy="152988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81848" y="3700084"/>
            <a:ext cx="97912" cy="9791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0995" y="359146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46374" y="3744450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995" y="398923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12031" y="398923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9042" y="3560864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17572" y="3035808"/>
            <a:ext cx="1426464" cy="1426464"/>
          </a:xfrm>
          <a:prstGeom prst="ellipse">
            <a:avLst/>
          </a:prstGeom>
          <a:ln w="25603">
            <a:solidFill>
              <a:srgbClr val="8C827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709160"/>
            <a:ext cx="490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larger, rough measurements</a:t>
            </a:r>
            <a:endParaRPr lang="en-US" sz="1250" dirty="0"/>
          </a:p>
        </p:txBody>
      </p:sp>
      <p:sp>
        <p:nvSpPr>
          <p:cNvPr id="24" name="bld2_415"/>
          <p:cNvSpPr/>
          <p:nvPr/>
        </p:nvSpPr>
        <p:spPr>
          <a:xfrm>
            <a:off x="6278728" y="1874520"/>
            <a:ext cx="5364328" cy="4023360"/>
          </a:xfrm>
          <a:prstGeom prst="roundRect">
            <a:avLst>
              <a:gd name="adj" fmla="val 3182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bld2_416"/>
          <p:cNvSpPr txBox="1"/>
          <p:nvPr/>
        </p:nvSpPr>
        <p:spPr>
          <a:xfrm>
            <a:off x="6571336" y="2093976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47659" y="3035808"/>
            <a:ext cx="1426464" cy="1426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960891" y="3626649"/>
            <a:ext cx="275379" cy="12239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236270" y="3626649"/>
            <a:ext cx="275379" cy="152988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236270" y="3779638"/>
            <a:ext cx="275379" cy="24478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7305" y="4024419"/>
            <a:ext cx="458965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8777305" y="3749040"/>
            <a:ext cx="183586" cy="275379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24317" y="3596052"/>
            <a:ext cx="336574" cy="152988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11935" y="3700084"/>
            <a:ext cx="97912" cy="9791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01083" y="359146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76462" y="3744450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01083" y="398923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42118" y="398923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89130" y="3560864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47659" y="3035808"/>
            <a:ext cx="1426464" cy="1426464"/>
          </a:xfrm>
          <a:prstGeom prst="ellipse">
            <a:avLst/>
          </a:prstGeom>
          <a:ln w="25603">
            <a:solidFill>
              <a:srgbClr val="B5652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07328" y="4709160"/>
            <a:ext cx="490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formula development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real scales. Only one of them can see the doses you'll actually be working with.</a:t>
            </a:r>
            <a:endParaRPr lang="en-US" sz="1250" dirty="0"/>
          </a:p>
        </p:txBody>
      </p:sp>
      <p:sp>
        <p:nvSpPr>
          <p:cNvPr id="43" name="trans_wipe_l_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5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24" grpId="0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BUYING ONE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look for in a scale</a:t>
            </a:r>
            <a:endParaRPr lang="en-US" sz="3200" dirty="0"/>
          </a:p>
        </p:txBody>
      </p:sp>
      <p:sp>
        <p:nvSpPr>
          <p:cNvPr id="7" name="bld1_417"/>
          <p:cNvSpPr txBox="1"/>
          <p:nvPr/>
        </p:nvSpPr>
        <p:spPr>
          <a:xfrm>
            <a:off x="548640" y="198424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SPECIFICATIONS</a:t>
            </a:r>
            <a:endParaRPr lang="en-US" sz="1250" dirty="0"/>
          </a:p>
        </p:txBody>
      </p:sp>
      <p:sp>
        <p:nvSpPr>
          <p:cNvPr id="8" name="bld1_418"/>
          <p:cNvSpPr/>
          <p:nvPr/>
        </p:nvSpPr>
        <p:spPr>
          <a:xfrm>
            <a:off x="548640" y="24414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9" name="bld1_419"/>
          <p:cNvSpPr txBox="1"/>
          <p:nvPr/>
        </p:nvSpPr>
        <p:spPr>
          <a:xfrm>
            <a:off x="841248" y="23774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readability</a:t>
            </a:r>
            <a:endParaRPr lang="en-US" sz="1200" dirty="0"/>
          </a:p>
        </p:txBody>
      </p:sp>
      <p:sp>
        <p:nvSpPr>
          <p:cNvPr id="10" name="bld1_420"/>
          <p:cNvSpPr/>
          <p:nvPr/>
        </p:nvSpPr>
        <p:spPr>
          <a:xfrm>
            <a:off x="548640" y="28986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1" name="bld1_421"/>
          <p:cNvSpPr txBox="1"/>
          <p:nvPr/>
        </p:nvSpPr>
        <p:spPr>
          <a:xfrm>
            <a:off x="841248" y="28346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~100–300g maximum capacity</a:t>
            </a:r>
            <a:endParaRPr lang="en-US" sz="1200" dirty="0"/>
          </a:p>
        </p:txBody>
      </p:sp>
      <p:sp>
        <p:nvSpPr>
          <p:cNvPr id="12" name="bld1_422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3" name="bld1_423"/>
          <p:cNvSpPr txBox="1"/>
          <p:nvPr/>
        </p:nvSpPr>
        <p:spPr>
          <a:xfrm>
            <a:off x="841248" y="32918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function</a:t>
            </a:r>
            <a:endParaRPr lang="en-US" sz="1200" dirty="0"/>
          </a:p>
        </p:txBody>
      </p:sp>
      <p:sp>
        <p:nvSpPr>
          <p:cNvPr id="14" name="bld1_424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5" name="bld1_425"/>
          <p:cNvSpPr txBox="1"/>
          <p:nvPr/>
        </p:nvSpPr>
        <p:spPr>
          <a:xfrm>
            <a:off x="841248" y="37490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weight included</a:t>
            </a:r>
            <a:endParaRPr lang="en-US" sz="1200" dirty="0"/>
          </a:p>
        </p:txBody>
      </p:sp>
      <p:sp>
        <p:nvSpPr>
          <p:cNvPr id="16" name="bld1_426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7" name="bld1_427"/>
          <p:cNvSpPr txBox="1"/>
          <p:nvPr/>
        </p:nvSpPr>
        <p:spPr>
          <a:xfrm>
            <a:off x="841248" y="42062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weighing platform</a:t>
            </a:r>
            <a:endParaRPr lang="en-US" sz="1200" dirty="0"/>
          </a:p>
        </p:txBody>
      </p:sp>
      <p:sp>
        <p:nvSpPr>
          <p:cNvPr id="18" name="bld1_428"/>
          <p:cNvSpPr/>
          <p:nvPr/>
        </p:nvSpPr>
        <p:spPr>
          <a:xfrm>
            <a:off x="548640" y="47274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9" name="bld1_429"/>
          <p:cNvSpPr txBox="1"/>
          <p:nvPr/>
        </p:nvSpPr>
        <p:spPr>
          <a:xfrm>
            <a:off x="841248" y="46634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 function</a:t>
            </a:r>
            <a:endParaRPr lang="en-US" sz="1200" dirty="0"/>
          </a:p>
        </p:txBody>
      </p:sp>
      <p:sp>
        <p:nvSpPr>
          <p:cNvPr id="20" name="bld1_430"/>
          <p:cNvSpPr/>
          <p:nvPr/>
        </p:nvSpPr>
        <p:spPr>
          <a:xfrm>
            <a:off x="548640" y="51846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1" name="bld1_431"/>
          <p:cNvSpPr txBox="1"/>
          <p:nvPr/>
        </p:nvSpPr>
        <p:spPr>
          <a:xfrm>
            <a:off x="841248" y="51206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display</a:t>
            </a:r>
            <a:endParaRPr lang="en-US" sz="1200" dirty="0"/>
          </a:p>
        </p:txBody>
      </p:sp>
      <p:sp>
        <p:nvSpPr>
          <p:cNvPr id="22" name="bld1_432"/>
          <p:cNvSpPr/>
          <p:nvPr/>
        </p:nvSpPr>
        <p:spPr>
          <a:xfrm>
            <a:off x="548640" y="5641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3" name="bld1_433"/>
          <p:cNvSpPr txBox="1"/>
          <p:nvPr/>
        </p:nvSpPr>
        <p:spPr>
          <a:xfrm>
            <a:off x="841248" y="55778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readings</a:t>
            </a:r>
            <a:endParaRPr lang="en-US" sz="1200" dirty="0"/>
          </a:p>
        </p:txBody>
      </p:sp>
      <p:sp>
        <p:nvSpPr>
          <p:cNvPr id="24" name="bld2_434"/>
          <p:cNvSpPr txBox="1"/>
          <p:nvPr/>
        </p:nvSpPr>
        <p:spPr>
          <a:xfrm>
            <a:off x="6255868" y="198424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PUT IT</a:t>
            </a:r>
            <a:endParaRPr lang="en-US" sz="1250" dirty="0"/>
          </a:p>
        </p:txBody>
      </p:sp>
      <p:sp>
        <p:nvSpPr>
          <p:cNvPr id="25" name="bld2_435"/>
          <p:cNvSpPr/>
          <p:nvPr/>
        </p:nvSpPr>
        <p:spPr>
          <a:xfrm>
            <a:off x="6255868" y="24414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6" name="bld2_436"/>
          <p:cNvSpPr txBox="1"/>
          <p:nvPr/>
        </p:nvSpPr>
        <p:spPr>
          <a:xfrm>
            <a:off x="6548476" y="23774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solid, stable surface</a:t>
            </a:r>
            <a:endParaRPr lang="en-US" sz="1200" dirty="0"/>
          </a:p>
        </p:txBody>
      </p:sp>
      <p:sp>
        <p:nvSpPr>
          <p:cNvPr id="27" name="bld2_437"/>
          <p:cNvSpPr/>
          <p:nvPr/>
        </p:nvSpPr>
        <p:spPr>
          <a:xfrm>
            <a:off x="6255868" y="28986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8" name="bld2_438"/>
          <p:cNvSpPr txBox="1"/>
          <p:nvPr/>
        </p:nvSpPr>
        <p:spPr>
          <a:xfrm>
            <a:off x="6548476" y="28346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vibration</a:t>
            </a:r>
            <a:endParaRPr lang="en-US" sz="1200" dirty="0"/>
          </a:p>
        </p:txBody>
      </p:sp>
      <p:sp>
        <p:nvSpPr>
          <p:cNvPr id="29" name="bld2_439"/>
          <p:cNvSpPr/>
          <p:nvPr/>
        </p:nvSpPr>
        <p:spPr>
          <a:xfrm>
            <a:off x="625586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0" name="bld2_440"/>
          <p:cNvSpPr txBox="1"/>
          <p:nvPr/>
        </p:nvSpPr>
        <p:spPr>
          <a:xfrm>
            <a:off x="6548476" y="32918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fans</a:t>
            </a:r>
            <a:endParaRPr lang="en-US" sz="1200" dirty="0"/>
          </a:p>
        </p:txBody>
      </p:sp>
      <p:sp>
        <p:nvSpPr>
          <p:cNvPr id="31" name="bld2_441"/>
          <p:cNvSpPr/>
          <p:nvPr/>
        </p:nvSpPr>
        <p:spPr>
          <a:xfrm>
            <a:off x="625586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2" name="bld2_442"/>
          <p:cNvSpPr txBox="1"/>
          <p:nvPr/>
        </p:nvSpPr>
        <p:spPr>
          <a:xfrm>
            <a:off x="6548476" y="37490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open windows</a:t>
            </a:r>
            <a:endParaRPr lang="en-US" sz="1200" dirty="0"/>
          </a:p>
        </p:txBody>
      </p:sp>
      <p:sp>
        <p:nvSpPr>
          <p:cNvPr id="33" name="bld2_443"/>
          <p:cNvSpPr/>
          <p:nvPr/>
        </p:nvSpPr>
        <p:spPr>
          <a:xfrm>
            <a:off x="625586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4" name="bld2_444"/>
          <p:cNvSpPr txBox="1"/>
          <p:nvPr/>
        </p:nvSpPr>
        <p:spPr>
          <a:xfrm>
            <a:off x="6548476" y="42062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strong airflow</a:t>
            </a:r>
            <a:endParaRPr lang="en-US" sz="1200" dirty="0"/>
          </a:p>
        </p:txBody>
      </p:sp>
      <p:sp>
        <p:nvSpPr>
          <p:cNvPr id="36" name="trans_fade_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Disposable pipettes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941363"/>
            <a:ext cx="2514417" cy="2514417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" name="Shape 9"/>
          <p:cNvSpPr/>
          <p:nvPr/>
        </p:nvSpPr>
        <p:spPr>
          <a:xfrm>
            <a:off x="9385905" y="2433686"/>
            <a:ext cx="323605" cy="339786"/>
          </a:xfrm>
          <a:prstGeom prst="ellipse">
            <a:avLst/>
          </a:prstGeom>
          <a:solidFill>
            <a:srgbClr val="6E7A50">
              <a:alpha val="85000"/>
            </a:srgbClr>
          </a:solidFill>
          <a:ln w="12700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36735" y="2757291"/>
            <a:ext cx="914" cy="911979"/>
          </a:xfrm>
          <a:prstGeom prst="line">
            <a:avLst/>
          </a:prstGeom>
          <a:noFill/>
          <a:ln w="28575">
            <a:solidFill>
              <a:srgbClr val="6E7A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0800000">
            <a:off x="9503580" y="3669270"/>
            <a:ext cx="88256" cy="235349"/>
          </a:xfrm>
          <a:prstGeom prst="triangl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290499" y="1941363"/>
            <a:ext cx="2514417" cy="2514417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cheap, and it solves the one problem that actually matters: no cross-contamination.</a:t>
            </a:r>
            <a:endParaRPr lang="en-US" sz="1050" dirty="0"/>
          </a:p>
        </p:txBody>
      </p:sp>
      <p:sp>
        <p:nvSpPr>
          <p:cNvPr id="16" name="bld1_44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44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Cheap, fast, zero cleanup</a:t>
            </a:r>
            <a:endParaRPr lang="en-US" sz="1650" dirty="0"/>
          </a:p>
        </p:txBody>
      </p:sp>
      <p:sp>
        <p:nvSpPr>
          <p:cNvPr id="18" name="bld1_44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box of disposable plastic pipettes is all you need to transfer materials and add them gradually while you weigh.</a:t>
            </a:r>
            <a:endParaRPr lang="en-US" sz="1250" dirty="0"/>
          </a:p>
        </p:txBody>
      </p:sp>
      <p:sp>
        <p:nvSpPr>
          <p:cNvPr id="19" name="bld2_44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44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pipette per material</a:t>
            </a:r>
            <a:endParaRPr lang="en-US" sz="1650" dirty="0"/>
          </a:p>
        </p:txBody>
      </p:sp>
      <p:sp>
        <p:nvSpPr>
          <p:cNvPr id="21" name="bld2_45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reusing the same pipette across unrelated materials — even a trace of cross-contamination ruins a reading.</a:t>
            </a:r>
            <a:endParaRPr lang="en-US" sz="1250" dirty="0"/>
          </a:p>
        </p:txBody>
      </p:sp>
      <p:sp>
        <p:nvSpPr>
          <p:cNvPr id="22" name="bld3_45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3_45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Throw it away, don't rinse it</a:t>
            </a:r>
            <a:endParaRPr lang="en-US" sz="1650" dirty="0"/>
          </a:p>
        </p:txBody>
      </p:sp>
      <p:sp>
        <p:nvSpPr>
          <p:cNvPr id="24" name="bld3_45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Rinsing costs more time and solvent than a fresh pipette costs — that's the entire point of disposables.</a:t>
            </a:r>
            <a:endParaRPr lang="en-US" sz="1250" dirty="0"/>
          </a:p>
        </p:txBody>
      </p:sp>
      <p:sp>
        <p:nvSpPr>
          <p:cNvPr id="26" name="trans_fade_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WORKFLOW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bottle to weighing vessel</a:t>
            </a:r>
            <a:endParaRPr lang="en-US" sz="3200" dirty="0"/>
          </a:p>
        </p:txBody>
      </p:sp>
      <p:sp>
        <p:nvSpPr>
          <p:cNvPr id="7" name="bld1_454"/>
          <p:cNvSpPr/>
          <p:nvPr/>
        </p:nvSpPr>
        <p:spPr>
          <a:xfrm>
            <a:off x="548640" y="2922422"/>
            <a:ext cx="348477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455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456"/>
          <p:cNvSpPr txBox="1"/>
          <p:nvPr/>
        </p:nvSpPr>
        <p:spPr>
          <a:xfrm>
            <a:off x="713232" y="3452774"/>
            <a:ext cx="31555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bottle</a:t>
            </a:r>
            <a:endParaRPr lang="en-US" sz="1450" dirty="0"/>
          </a:p>
        </p:txBody>
      </p:sp>
      <p:sp>
        <p:nvSpPr>
          <p:cNvPr id="10" name="bld1_457"/>
          <p:cNvSpPr txBox="1"/>
          <p:nvPr/>
        </p:nvSpPr>
        <p:spPr>
          <a:xfrm>
            <a:off x="713232" y="3946550"/>
            <a:ext cx="31555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material lives, capped and labelled.</a:t>
            </a:r>
            <a:endParaRPr lang="en-US" sz="1000" dirty="0"/>
          </a:p>
        </p:txBody>
      </p:sp>
      <p:sp>
        <p:nvSpPr>
          <p:cNvPr id="11" name="bld1_458"/>
          <p:cNvSpPr txBox="1"/>
          <p:nvPr/>
        </p:nvSpPr>
        <p:spPr>
          <a:xfrm>
            <a:off x="403341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459"/>
          <p:cNvSpPr/>
          <p:nvPr/>
        </p:nvSpPr>
        <p:spPr>
          <a:xfrm>
            <a:off x="4353458" y="2922422"/>
            <a:ext cx="348477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460"/>
          <p:cNvSpPr txBox="1"/>
          <p:nvPr/>
        </p:nvSpPr>
        <p:spPr>
          <a:xfrm>
            <a:off x="451805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461"/>
          <p:cNvSpPr txBox="1"/>
          <p:nvPr/>
        </p:nvSpPr>
        <p:spPr>
          <a:xfrm>
            <a:off x="4518050" y="3452774"/>
            <a:ext cx="31555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Pipette</a:t>
            </a:r>
            <a:endParaRPr lang="en-US" sz="1450" dirty="0"/>
          </a:p>
        </p:txBody>
      </p:sp>
      <p:sp>
        <p:nvSpPr>
          <p:cNvPr id="15" name="bld2_462"/>
          <p:cNvSpPr txBox="1"/>
          <p:nvPr/>
        </p:nvSpPr>
        <p:spPr>
          <a:xfrm>
            <a:off x="4518050" y="3946550"/>
            <a:ext cx="31555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the material — nothing more.</a:t>
            </a:r>
            <a:endParaRPr lang="en-US" sz="1000" dirty="0"/>
          </a:p>
        </p:txBody>
      </p:sp>
      <p:sp>
        <p:nvSpPr>
          <p:cNvPr id="16" name="bld2_463"/>
          <p:cNvSpPr txBox="1"/>
          <p:nvPr/>
        </p:nvSpPr>
        <p:spPr>
          <a:xfrm>
            <a:off x="7838237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464"/>
          <p:cNvSpPr/>
          <p:nvPr/>
        </p:nvSpPr>
        <p:spPr>
          <a:xfrm>
            <a:off x="8158277" y="2922422"/>
            <a:ext cx="348477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465"/>
          <p:cNvSpPr txBox="1"/>
          <p:nvPr/>
        </p:nvSpPr>
        <p:spPr>
          <a:xfrm>
            <a:off x="8322869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466"/>
          <p:cNvSpPr txBox="1"/>
          <p:nvPr/>
        </p:nvSpPr>
        <p:spPr>
          <a:xfrm>
            <a:off x="8322869" y="3452774"/>
            <a:ext cx="31555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vessel</a:t>
            </a:r>
            <a:endParaRPr lang="en-US" sz="1450" dirty="0"/>
          </a:p>
        </p:txBody>
      </p:sp>
      <p:sp>
        <p:nvSpPr>
          <p:cNvPr id="20" name="bld3_467"/>
          <p:cNvSpPr txBox="1"/>
          <p:nvPr/>
        </p:nvSpPr>
        <p:spPr>
          <a:xfrm>
            <a:off x="8322869" y="3946550"/>
            <a:ext cx="31555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on the scale, where the real measurement happens.</a:t>
            </a:r>
            <a:endParaRPr lang="en-US" sz="1000" dirty="0"/>
          </a:p>
        </p:txBody>
      </p:sp>
      <p:sp>
        <p:nvSpPr>
          <p:cNvPr id="22" name="trans_push_l_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7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drop is not a unit.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scale decides the amount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pipette is only the transfer tool.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IMPORTANT</a:t>
            </a:r>
            <a:endParaRPr lang="en-US" sz="1100" dirty="0"/>
          </a:p>
        </p:txBody>
      </p:sp>
      <p:sp>
        <p:nvSpPr>
          <p:cNvPr id="10" name="trans_fade_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solids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80964" y="2182417"/>
            <a:ext cx="1341022" cy="134102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8228477" y="2329929"/>
            <a:ext cx="1045998" cy="1045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361956" y="2591429"/>
            <a:ext cx="7790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307988" y="2765762"/>
            <a:ext cx="88697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307988" y="2940094"/>
            <a:ext cx="88697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361956" y="3114427"/>
            <a:ext cx="7790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080964" y="2182417"/>
            <a:ext cx="1341022" cy="134102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73428" y="2182417"/>
            <a:ext cx="1341022" cy="134102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8" name="Shape 16"/>
          <p:cNvSpPr/>
          <p:nvPr/>
        </p:nvSpPr>
        <p:spPr>
          <a:xfrm rot="8100000">
            <a:off x="10082440" y="2591429"/>
            <a:ext cx="522999" cy="522999"/>
          </a:xfrm>
          <a:prstGeom prst="teardrop">
            <a:avLst/>
          </a:prstGeom>
          <a:solidFill>
            <a:srgbClr val="8A6339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73428" y="2182417"/>
            <a:ext cx="1341022" cy="134102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disposable boat for the material, a dedicated spatula for the scoop.</a:t>
            </a:r>
            <a:endParaRPr lang="en-US" sz="1050" dirty="0"/>
          </a:p>
        </p:txBody>
      </p:sp>
      <p:sp>
        <p:nvSpPr>
          <p:cNvPr id="21" name="bld1_46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46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boats &amp; small disposable cups</a:t>
            </a:r>
            <a:endParaRPr lang="en-US" sz="1650" dirty="0"/>
          </a:p>
        </p:txBody>
      </p:sp>
      <p:sp>
        <p:nvSpPr>
          <p:cNvPr id="23" name="bld1_47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weighing solids, sticky materials and small experiments — disposable, so nothing carries over between uses.</a:t>
            </a:r>
            <a:endParaRPr lang="en-US" sz="1250" dirty="0"/>
          </a:p>
        </p:txBody>
      </p:sp>
      <p:sp>
        <p:nvSpPr>
          <p:cNvPr id="24" name="bld2_47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47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the vessel to the material</a:t>
            </a:r>
            <a:endParaRPr lang="en-US" sz="1650" dirty="0"/>
          </a:p>
        </p:txBody>
      </p:sp>
      <p:sp>
        <p:nvSpPr>
          <p:cNvPr id="26" name="bld2_47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attack certain plastics — check that the weighing container is actually compatible with what you're handling.</a:t>
            </a:r>
            <a:endParaRPr lang="en-US" sz="1250" dirty="0"/>
          </a:p>
        </p:txBody>
      </p:sp>
      <p:sp>
        <p:nvSpPr>
          <p:cNvPr id="27" name="bld3_47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3_47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Spatulas for solids</a:t>
            </a:r>
            <a:endParaRPr lang="en-US" sz="1650" dirty="0"/>
          </a:p>
        </p:txBody>
      </p:sp>
      <p:sp>
        <p:nvSpPr>
          <p:cNvPr id="29" name="bld3_47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Vanillin, ethyl maltol, coumarin, crystalline materials, and thicker resins all need a spatula, not a pipette.</a:t>
            </a:r>
            <a:endParaRPr lang="en-US" sz="1250" dirty="0"/>
          </a:p>
        </p:txBody>
      </p:sp>
      <p:sp>
        <p:nvSpPr>
          <p:cNvPr id="30" name="bld4_47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1" name="bld4_47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spatula, one material</a:t>
            </a:r>
            <a:endParaRPr lang="en-US" sz="1650" dirty="0"/>
          </a:p>
        </p:txBody>
      </p:sp>
      <p:sp>
        <p:nvSpPr>
          <p:cNvPr id="32" name="bld4_47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like pipettes — never carry a contaminated spatula from one material into another.</a:t>
            </a:r>
            <a:endParaRPr lang="en-US" sz="1250" dirty="0"/>
          </a:p>
        </p:txBody>
      </p:sp>
      <p:sp>
        <p:nvSpPr>
          <p:cNvPr id="34" name="trans_fade_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07 &amp; 08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beakers &amp; funnels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80964" y="2182417"/>
            <a:ext cx="1341022" cy="134102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1" name="Shape 9"/>
          <p:cNvSpPr/>
          <p:nvPr/>
        </p:nvSpPr>
        <p:spPr>
          <a:xfrm>
            <a:off x="8705452" y="2486829"/>
            <a:ext cx="92048" cy="205016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2276" y="2633269"/>
            <a:ext cx="418399" cy="58575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09220" y="2867572"/>
            <a:ext cx="284511" cy="336811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080964" y="2182417"/>
            <a:ext cx="1341022" cy="134102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3428" y="2182417"/>
            <a:ext cx="1341022" cy="134102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97916" y="2486829"/>
            <a:ext cx="92048" cy="205016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34740" y="2633269"/>
            <a:ext cx="418399" cy="58575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01684" y="2867572"/>
            <a:ext cx="284511" cy="336811"/>
          </a:xfrm>
          <a:prstGeom prst="triangle">
            <a:avLst/>
          </a:prstGeom>
          <a:solidFill>
            <a:srgbClr val="4090AF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73428" y="2182417"/>
            <a:ext cx="1341022" cy="134102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a shelf of laboratory glassware — a handful of sizes covers everything.</a:t>
            </a:r>
            <a:endParaRPr lang="en-US" sz="1050" dirty="0"/>
          </a:p>
        </p:txBody>
      </p:sp>
      <p:sp>
        <p:nvSpPr>
          <p:cNvPr id="21" name="bld1_48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48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Beakers for larger batches</a:t>
            </a:r>
            <a:endParaRPr lang="en-US" sz="1650" dirty="0"/>
          </a:p>
        </p:txBody>
      </p:sp>
      <p:sp>
        <p:nvSpPr>
          <p:cNvPr id="23" name="bld1_48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combining trial batches, mixing a finished concentrate, or scaling up a formula. A few sizes are enough — try 25ml, 50ml, 100ml and 250ml.</a:t>
            </a:r>
            <a:endParaRPr lang="en-US" sz="1250" dirty="0"/>
          </a:p>
        </p:txBody>
      </p:sp>
      <p:sp>
        <p:nvSpPr>
          <p:cNvPr id="24" name="bld2_48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48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scale still measures by mass</a:t>
            </a:r>
            <a:endParaRPr lang="en-US" sz="1650" dirty="0"/>
          </a:p>
        </p:txBody>
      </p:sp>
      <p:sp>
        <p:nvSpPr>
          <p:cNvPr id="26" name="bld2_48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Beaker markings are for rough volume, not precision — always weigh, never eyeball a fill line as a formula measurement.</a:t>
            </a:r>
            <a:endParaRPr lang="en-US" sz="1250" dirty="0"/>
          </a:p>
        </p:txBody>
      </p:sp>
      <p:sp>
        <p:nvSpPr>
          <p:cNvPr id="27" name="bld3_48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3_48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Funnels keep transfers clean</a:t>
            </a:r>
            <a:endParaRPr lang="en-US" sz="1650" dirty="0"/>
          </a:p>
        </p:txBody>
      </p:sp>
      <p:sp>
        <p:nvSpPr>
          <p:cNvPr id="29" name="bld3_48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moving concentrate or alcohol into a narrow-neck bottle without spilling. Keep this simple — a couple of small funnels is plenty.</a:t>
            </a:r>
            <a:endParaRPr lang="en-US" sz="1250" dirty="0"/>
          </a:p>
        </p:txBody>
      </p:sp>
      <p:sp>
        <p:nvSpPr>
          <p:cNvPr id="31" name="trans_fade_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glass bottles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96041" y="3175528"/>
            <a:ext cx="188917" cy="169365"/>
          </a:xfrm>
          <a:prstGeom prst="roundRect">
            <a:avLst>
              <a:gd name="adj" fmla="val 21596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8208361" y="3344893"/>
            <a:ext cx="164275" cy="27098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97150" y="3615878"/>
            <a:ext cx="586697" cy="1253302"/>
          </a:xfrm>
          <a:prstGeom prst="roundRect">
            <a:avLst>
              <a:gd name="adj" fmla="val 1870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33726" y="4117199"/>
            <a:ext cx="513545" cy="715405"/>
          </a:xfrm>
          <a:prstGeom prst="roundRect">
            <a:avLst>
              <a:gd name="adj" fmla="val 17806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000445" y="2570653"/>
            <a:ext cx="256387" cy="229853"/>
          </a:xfrm>
          <a:prstGeom prst="roundRect">
            <a:avLst>
              <a:gd name="adj" fmla="val 15913"/>
            </a:avLst>
          </a:prstGeom>
          <a:solidFill>
            <a:srgbClr val="0E0D0B"/>
          </a:solidFill>
          <a:ln/>
        </p:spPr>
      </p:sp>
      <p:sp>
        <p:nvSpPr>
          <p:cNvPr id="15" name="Shape 13"/>
          <p:cNvSpPr/>
          <p:nvPr/>
        </p:nvSpPr>
        <p:spPr>
          <a:xfrm>
            <a:off x="9017166" y="2800505"/>
            <a:ext cx="222945" cy="36776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30522" y="3168270"/>
            <a:ext cx="796232" cy="1700910"/>
          </a:xfrm>
          <a:prstGeom prst="roundRect">
            <a:avLst>
              <a:gd name="adj" fmla="val 1378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67098" y="3848634"/>
            <a:ext cx="723080" cy="983970"/>
          </a:xfrm>
          <a:prstGeom prst="roundRect">
            <a:avLst>
              <a:gd name="adj" fmla="val 12646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804849" y="1965777"/>
            <a:ext cx="323857" cy="290340"/>
          </a:xfrm>
          <a:prstGeom prst="roundRect">
            <a:avLst>
              <a:gd name="adj" fmla="val 12598"/>
            </a:avLst>
          </a:prstGeom>
          <a:solidFill>
            <a:srgbClr val="0E0D0B"/>
          </a:solidFill>
          <a:ln/>
        </p:spPr>
      </p:sp>
      <p:sp>
        <p:nvSpPr>
          <p:cNvPr id="19" name="Shape 17"/>
          <p:cNvSpPr/>
          <p:nvPr/>
        </p:nvSpPr>
        <p:spPr>
          <a:xfrm>
            <a:off x="9825970" y="2256117"/>
            <a:ext cx="281615" cy="46454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63894" y="2720662"/>
            <a:ext cx="1005767" cy="2148518"/>
          </a:xfrm>
          <a:prstGeom prst="roundRect">
            <a:avLst>
              <a:gd name="adj" fmla="val 1091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0470" y="3580069"/>
            <a:ext cx="932615" cy="1252535"/>
          </a:xfrm>
          <a:prstGeom prst="roundRect">
            <a:avLst>
              <a:gd name="adj" fmla="val 9805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602506" y="1239926"/>
            <a:ext cx="404821" cy="362925"/>
          </a:xfrm>
          <a:prstGeom prst="roundRect">
            <a:avLst>
              <a:gd name="adj" fmla="val 10078"/>
            </a:avLst>
          </a:prstGeom>
          <a:solidFill>
            <a:srgbClr val="0E0D0B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28907" y="1602852"/>
            <a:ext cx="352018" cy="580681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76312" y="2183532"/>
            <a:ext cx="1257209" cy="2685648"/>
          </a:xfrm>
          <a:prstGeom prst="roundRect">
            <a:avLst>
              <a:gd name="adj" fmla="val 8728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212888" y="3257791"/>
            <a:ext cx="1184057" cy="1574813"/>
          </a:xfrm>
          <a:prstGeom prst="roundRect">
            <a:avLst>
              <a:gd name="adj" fmla="val 7723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5ml → 10ml → 30ml → 100ml — small for trials, large for daily use.</a:t>
            </a:r>
            <a:endParaRPr lang="en-US" sz="1050" dirty="0"/>
          </a:p>
        </p:txBody>
      </p:sp>
      <p:sp>
        <p:nvSpPr>
          <p:cNvPr id="27" name="bld1_48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1_49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amber matters</a:t>
            </a:r>
            <a:endParaRPr lang="en-US" sz="1650" dirty="0"/>
          </a:p>
        </p:txBody>
      </p:sp>
      <p:sp>
        <p:nvSpPr>
          <p:cNvPr id="29" name="bld1_491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glass reduces light exposure — useful for storing raw materials, dilutions, accords and formula trials alike.</a:t>
            </a:r>
            <a:endParaRPr lang="en-US" sz="1250" dirty="0"/>
          </a:p>
        </p:txBody>
      </p:sp>
      <p:sp>
        <p:nvSpPr>
          <p:cNvPr id="30" name="bld2_492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2_493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sizes — 5ml &amp; 10ml</a:t>
            </a:r>
            <a:endParaRPr lang="en-US" sz="1650" dirty="0"/>
          </a:p>
        </p:txBody>
      </p:sp>
      <p:sp>
        <p:nvSpPr>
          <p:cNvPr id="32" name="bld2_494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dilutions, trials and expensive materials you're only using in small amounts.</a:t>
            </a:r>
            <a:endParaRPr lang="en-US" sz="1250" dirty="0"/>
          </a:p>
        </p:txBody>
      </p:sp>
      <p:sp>
        <p:nvSpPr>
          <p:cNvPr id="33" name="bld3_495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4" name="bld3_496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sizes — 30ml, 50ml &amp; 100ml</a:t>
            </a:r>
            <a:endParaRPr lang="en-US" sz="1650" dirty="0"/>
          </a:p>
        </p:txBody>
      </p:sp>
      <p:sp>
        <p:nvSpPr>
          <p:cNvPr id="35" name="bld3_497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for frequently used materials, larger bases, alcohol, and dilutions you reach for often.</a:t>
            </a:r>
            <a:endParaRPr lang="en-US" sz="1250" dirty="0"/>
          </a:p>
        </p:txBody>
      </p:sp>
      <p:sp>
        <p:nvSpPr>
          <p:cNvPr id="36" name="bld4_498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4_499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need every size at once</a:t>
            </a:r>
            <a:endParaRPr lang="en-US" sz="1650" dirty="0"/>
          </a:p>
        </p:txBody>
      </p:sp>
      <p:sp>
        <p:nvSpPr>
          <p:cNvPr id="38" name="bld4_500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into sizes as your library actually grows — a handful of each is plenty to begin.</a:t>
            </a:r>
            <a:endParaRPr lang="en-US" sz="1250" dirty="0"/>
          </a:p>
        </p:txBody>
      </p:sp>
      <p:sp>
        <p:nvSpPr>
          <p:cNvPr id="40" name="trans_fade_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every dilution bottle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73170" y="1124712"/>
            <a:ext cx="350845" cy="449336"/>
          </a:xfrm>
          <a:prstGeom prst="roundRect">
            <a:avLst>
              <a:gd name="adj" fmla="val 10425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8096051" y="1574048"/>
            <a:ext cx="305083" cy="71893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03802" y="2292986"/>
            <a:ext cx="1089581" cy="3325088"/>
          </a:xfrm>
          <a:prstGeom prst="roundRect">
            <a:avLst>
              <a:gd name="adj" fmla="val 1007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40378" y="3789275"/>
            <a:ext cx="1016429" cy="1792222"/>
          </a:xfrm>
          <a:prstGeom prst="roundRect">
            <a:avLst>
              <a:gd name="adj" fmla="val 8996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56343" y="3423516"/>
            <a:ext cx="784498" cy="864523"/>
          </a:xfrm>
          <a:prstGeom prst="roundRect">
            <a:avLst>
              <a:gd name="adj" fmla="val 349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452" y="1355141"/>
            <a:ext cx="2095348" cy="3917290"/>
          </a:xfrm>
          <a:prstGeom prst="roundRect">
            <a:avLst>
              <a:gd name="adj" fmla="val 4364"/>
            </a:avLst>
          </a:prstGeom>
          <a:solidFill>
            <a:srgbClr val="FAF6EC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95332" y="1556309"/>
            <a:ext cx="1729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395332" y="2535631"/>
            <a:ext cx="1729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395332" y="3514954"/>
            <a:ext cx="1729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395332" y="4494276"/>
            <a:ext cx="1729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02/09/26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this — material, percentage, solvent, date. Nothing more, nothing less.</a:t>
            </a:r>
            <a:endParaRPr lang="en-US" sz="1050" dirty="0"/>
          </a:p>
        </p:txBody>
      </p:sp>
      <p:sp>
        <p:nvSpPr>
          <p:cNvPr id="21" name="bld1_50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2" name="bld1_50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things, every time</a:t>
            </a:r>
            <a:endParaRPr lang="en-US" sz="1650" dirty="0"/>
          </a:p>
        </p:txBody>
      </p:sp>
      <p:sp>
        <p:nvSpPr>
          <p:cNvPr id="23" name="bld1_50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name, dilution percentage, solvent, and date — with no exceptions.</a:t>
            </a:r>
            <a:endParaRPr lang="en-US" sz="1250" dirty="0"/>
          </a:p>
        </p:txBody>
      </p:sp>
      <p:sp>
        <p:nvSpPr>
          <p:cNvPr id="24" name="bld2_50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50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Poor labelling is the #1 workspace problem</a:t>
            </a:r>
            <a:endParaRPr lang="en-US" sz="1650" dirty="0"/>
          </a:p>
        </p:txBody>
      </p:sp>
      <p:sp>
        <p:nvSpPr>
          <p:cNvPr id="26" name="bld2_50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happens fast: a bottle without this information becomes a mystery liquid within weeks, and mystery liquids get thrown away.</a:t>
            </a:r>
            <a:endParaRPr lang="en-US" sz="1250" dirty="0"/>
          </a:p>
        </p:txBody>
      </p:sp>
      <p:sp>
        <p:nvSpPr>
          <p:cNvPr id="27" name="bld3_50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3_50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before you fill, not after</a:t>
            </a:r>
            <a:endParaRPr lang="en-US" sz="1650" dirty="0"/>
          </a:p>
        </p:txBody>
      </p:sp>
      <p:sp>
        <p:nvSpPr>
          <p:cNvPr id="29" name="bld3_50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on the bottle first — it takes ten seconds and it never gets forgotten.</a:t>
            </a:r>
            <a:endParaRPr lang="en-US" sz="1250" dirty="0"/>
          </a:p>
        </p:txBody>
      </p:sp>
      <p:sp>
        <p:nvSpPr>
          <p:cNvPr id="31" name="trans_fade_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 — your primary instrument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8247025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60741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5" name="Shape 13"/>
          <p:cNvSpPr/>
          <p:nvPr/>
        </p:nvSpPr>
        <p:spPr>
          <a:xfrm>
            <a:off x="9085164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98880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9" name="Shape 17"/>
          <p:cNvSpPr/>
          <p:nvPr/>
        </p:nvSpPr>
        <p:spPr>
          <a:xfrm>
            <a:off x="9923303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37019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61442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775158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strip, one material, one label — every time.</a:t>
            </a:r>
            <a:endParaRPr lang="en-US" sz="1050" dirty="0"/>
          </a:p>
        </p:txBody>
      </p:sp>
      <p:sp>
        <p:nvSpPr>
          <p:cNvPr id="27" name="bld1_51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1_51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blotters matter</a:t>
            </a:r>
            <a:endParaRPr lang="en-US" sz="1650" dirty="0"/>
          </a:p>
        </p:txBody>
      </p:sp>
      <p:sp>
        <p:nvSpPr>
          <p:cNvPr id="29" name="bld1_51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varies too much between evaluations — a blotter is a consistent, repeatable surface for judging a material, an accord or a finished formula.</a:t>
            </a:r>
            <a:endParaRPr lang="en-US" sz="1250" dirty="0"/>
          </a:p>
        </p:txBody>
      </p:sp>
      <p:sp>
        <p:nvSpPr>
          <p:cNvPr id="30" name="bld2_51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2_51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 labelling</a:t>
            </a:r>
            <a:endParaRPr lang="en-US" sz="1650" dirty="0"/>
          </a:p>
        </p:txBody>
      </p:sp>
      <p:sp>
        <p:nvSpPr>
          <p:cNvPr id="32" name="bld2_51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material and dilution on the strip before you dip it — for example: "HEDIONE 10%", with the time you dipped it, e.g. "14:30".</a:t>
            </a:r>
            <a:endParaRPr lang="en-US" sz="1250" dirty="0"/>
          </a:p>
        </p:txBody>
      </p:sp>
      <p:sp>
        <p:nvSpPr>
          <p:cNvPr id="33" name="bld3_51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3_51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bottle alone isn't enough</a:t>
            </a:r>
            <a:endParaRPr lang="en-US" sz="1650" dirty="0"/>
          </a:p>
        </p:txBody>
      </p:sp>
      <p:sp>
        <p:nvSpPr>
          <p:cNvPr id="35" name="bld3_51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Smelling straight from the bottle tells you almost nothing about how a material actually behaves over time on skin or paper.</a:t>
            </a:r>
            <a:endParaRPr lang="en-US" sz="1250" dirty="0"/>
          </a:p>
        </p:txBody>
      </p:sp>
      <p:sp>
        <p:nvSpPr>
          <p:cNvPr id="37" name="trans_fade_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strip actually evolves</a:t>
            </a:r>
            <a:endParaRPr lang="en-US" sz="3200" dirty="0"/>
          </a:p>
        </p:txBody>
      </p:sp>
      <p:sp>
        <p:nvSpPr>
          <p:cNvPr id="7" name="bld1_519"/>
          <p:cNvSpPr txBox="1"/>
          <p:nvPr/>
        </p:nvSpPr>
        <p:spPr>
          <a:xfrm>
            <a:off x="2112264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1290" y="3334012"/>
            <a:ext cx="101365" cy="921496"/>
          </a:xfrm>
          <a:prstGeom prst="roundRect">
            <a:avLst>
              <a:gd name="adj" fmla="val 1804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5006" y="3960629"/>
            <a:ext cx="73933" cy="276591"/>
          </a:xfrm>
          <a:prstGeom prst="roundRect">
            <a:avLst>
              <a:gd name="adj" fmla="val 18552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2" name="bld1_521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DIPPED</a:t>
            </a:r>
            <a:endParaRPr lang="en-US" sz="1400" dirty="0"/>
          </a:p>
        </p:txBody>
      </p:sp>
      <p:sp>
        <p:nvSpPr>
          <p:cNvPr id="13" name="bld1_522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</a:t>
            </a:r>
            <a:endParaRPr lang="en-US" sz="1050" dirty="0"/>
          </a:p>
        </p:txBody>
      </p:sp>
      <p:sp>
        <p:nvSpPr>
          <p:cNvPr id="14" name="bld2_523"/>
          <p:cNvSpPr txBox="1"/>
          <p:nvPr/>
        </p:nvSpPr>
        <p:spPr>
          <a:xfrm>
            <a:off x="4565828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6" name="Shape 14"/>
          <p:cNvSpPr/>
          <p:nvPr/>
        </p:nvSpPr>
        <p:spPr>
          <a:xfrm>
            <a:off x="3594854" y="3334012"/>
            <a:ext cx="101365" cy="921496"/>
          </a:xfrm>
          <a:prstGeom prst="roundRect">
            <a:avLst>
              <a:gd name="adj" fmla="val 1804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08570" y="3960629"/>
            <a:ext cx="73933" cy="276591"/>
          </a:xfrm>
          <a:prstGeom prst="roundRect">
            <a:avLst>
              <a:gd name="adj" fmla="val 18552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9" name="bld2_525"/>
          <p:cNvSpPr txBox="1"/>
          <p:nvPr/>
        </p:nvSpPr>
        <p:spPr>
          <a:xfrm>
            <a:off x="2682164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MIN</a:t>
            </a:r>
            <a:endParaRPr lang="en-US" sz="1400" dirty="0"/>
          </a:p>
        </p:txBody>
      </p:sp>
      <p:sp>
        <p:nvSpPr>
          <p:cNvPr id="20" name="bld2_526"/>
          <p:cNvSpPr txBox="1"/>
          <p:nvPr/>
        </p:nvSpPr>
        <p:spPr>
          <a:xfrm>
            <a:off x="2682164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notes settle</a:t>
            </a:r>
            <a:endParaRPr lang="en-US" sz="1050" dirty="0"/>
          </a:p>
        </p:txBody>
      </p:sp>
      <p:sp>
        <p:nvSpPr>
          <p:cNvPr id="21" name="bld3_527"/>
          <p:cNvSpPr txBox="1"/>
          <p:nvPr/>
        </p:nvSpPr>
        <p:spPr>
          <a:xfrm>
            <a:off x="7019392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6048418" y="3334012"/>
            <a:ext cx="101365" cy="921496"/>
          </a:xfrm>
          <a:prstGeom prst="roundRect">
            <a:avLst>
              <a:gd name="adj" fmla="val 1804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2134" y="3960629"/>
            <a:ext cx="73933" cy="276591"/>
          </a:xfrm>
          <a:prstGeom prst="roundRect">
            <a:avLst>
              <a:gd name="adj" fmla="val 18552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6" name="bld3_529"/>
          <p:cNvSpPr txBox="1"/>
          <p:nvPr/>
        </p:nvSpPr>
        <p:spPr>
          <a:xfrm>
            <a:off x="513572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HOUR</a:t>
            </a:r>
            <a:endParaRPr lang="en-US" sz="1400" dirty="0"/>
          </a:p>
        </p:txBody>
      </p:sp>
      <p:sp>
        <p:nvSpPr>
          <p:cNvPr id="27" name="bld3_530"/>
          <p:cNvSpPr txBox="1"/>
          <p:nvPr/>
        </p:nvSpPr>
        <p:spPr>
          <a:xfrm>
            <a:off x="513572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emerges</a:t>
            </a:r>
            <a:endParaRPr lang="en-US" sz="1050" dirty="0"/>
          </a:p>
        </p:txBody>
      </p:sp>
      <p:sp>
        <p:nvSpPr>
          <p:cNvPr id="28" name="bld4_531"/>
          <p:cNvSpPr txBox="1"/>
          <p:nvPr/>
        </p:nvSpPr>
        <p:spPr>
          <a:xfrm>
            <a:off x="9472955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501981" y="3334012"/>
            <a:ext cx="101365" cy="921496"/>
          </a:xfrm>
          <a:prstGeom prst="roundRect">
            <a:avLst>
              <a:gd name="adj" fmla="val 1804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15697" y="3960629"/>
            <a:ext cx="73933" cy="276591"/>
          </a:xfrm>
          <a:prstGeom prst="roundRect">
            <a:avLst>
              <a:gd name="adj" fmla="val 18552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3" name="bld4_533"/>
          <p:cNvSpPr txBox="1"/>
          <p:nvPr/>
        </p:nvSpPr>
        <p:spPr>
          <a:xfrm>
            <a:off x="7589291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1400" dirty="0"/>
          </a:p>
        </p:txBody>
      </p:sp>
      <p:sp>
        <p:nvSpPr>
          <p:cNvPr id="34" name="bld4_534"/>
          <p:cNvSpPr txBox="1"/>
          <p:nvPr/>
        </p:nvSpPr>
        <p:spPr>
          <a:xfrm>
            <a:off x="7589291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begins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10955545" y="3334012"/>
            <a:ext cx="101365" cy="921496"/>
          </a:xfrm>
          <a:prstGeom prst="roundRect">
            <a:avLst>
              <a:gd name="adj" fmla="val 1804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969261" y="3960629"/>
            <a:ext cx="73933" cy="276591"/>
          </a:xfrm>
          <a:prstGeom prst="roundRect">
            <a:avLst>
              <a:gd name="adj" fmla="val 18552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9" name="bld5_536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HOURS</a:t>
            </a:r>
            <a:endParaRPr lang="en-US" sz="1400" dirty="0"/>
          </a:p>
        </p:txBody>
      </p:sp>
      <p:sp>
        <p:nvSpPr>
          <p:cNvPr id="40" name="bld5_537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base</a:t>
            </a:r>
            <a:endParaRPr lang="en-US" sz="1050" dirty="0"/>
          </a:p>
        </p:txBody>
      </p:sp>
      <p:sp>
        <p:nvSpPr>
          <p:cNvPr id="42" name="trans_push_l_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2" grpId="0"/>
      <p:bldP spid="13" grpId="0"/>
      <p:bldP spid="14" grpId="0"/>
      <p:bldP spid="19" grpId="0"/>
      <p:bldP spid="20" grpId="0"/>
      <p:bldP spid="21" grpId="0"/>
      <p:bldP spid="26" grpId="0"/>
      <p:bldP spid="27" grpId="0"/>
      <p:bldP spid="28" grpId="0"/>
      <p:bldP spid="33" grpId="0"/>
      <p:bldP spid="34" grpId="0"/>
      <p:bldP spid="39" grpId="0"/>
      <p:bldP spid="40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SMALL BUT ESSENTIAL TOOLS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 &amp; a permanent marker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646421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007917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538"/>
          <p:cNvSpPr/>
          <p:nvPr/>
        </p:nvSpPr>
        <p:spPr>
          <a:xfrm>
            <a:off x="548640" y="2260397"/>
            <a:ext cx="541919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92476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2995766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92476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4" name="bld1_540"/>
          <p:cNvSpPr txBox="1"/>
          <p:nvPr/>
        </p:nvSpPr>
        <p:spPr>
          <a:xfrm>
            <a:off x="731520" y="3211373"/>
            <a:ext cx="505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</a:t>
            </a:r>
            <a:endParaRPr lang="en-US" sz="1450" dirty="0"/>
          </a:p>
        </p:txBody>
      </p:sp>
      <p:sp>
        <p:nvSpPr>
          <p:cNvPr id="15" name="bld1_541"/>
          <p:cNvSpPr txBox="1"/>
          <p:nvPr/>
        </p:nvSpPr>
        <p:spPr>
          <a:xfrm>
            <a:off x="731520" y="3522269"/>
            <a:ext cx="505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Nitrile disposables reduce skin contact, prevent staining, and help with irritating materials. They don't replace correct handling or SDS awareness — just good practice.</a:t>
            </a:r>
            <a:endParaRPr lang="en-US" sz="1080" dirty="0"/>
          </a:p>
        </p:txBody>
      </p:sp>
      <p:sp>
        <p:nvSpPr>
          <p:cNvPr id="16" name="bld2_542"/>
          <p:cNvSpPr/>
          <p:nvPr/>
        </p:nvSpPr>
        <p:spPr>
          <a:xfrm>
            <a:off x="6223864" y="2260397"/>
            <a:ext cx="541919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6769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8" name="Shape 16"/>
          <p:cNvSpPr/>
          <p:nvPr/>
        </p:nvSpPr>
        <p:spPr>
          <a:xfrm>
            <a:off x="8648167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720979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69153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69153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8720979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856769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4" name="bld2_544"/>
          <p:cNvSpPr txBox="1"/>
          <p:nvPr/>
        </p:nvSpPr>
        <p:spPr>
          <a:xfrm>
            <a:off x="6406744" y="3211373"/>
            <a:ext cx="505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 marker</a:t>
            </a:r>
            <a:endParaRPr lang="en-US" sz="1450" dirty="0"/>
          </a:p>
        </p:txBody>
      </p:sp>
      <p:sp>
        <p:nvSpPr>
          <p:cNvPr id="25" name="bld2_545"/>
          <p:cNvSpPr txBox="1"/>
          <p:nvPr/>
        </p:nvSpPr>
        <p:spPr>
          <a:xfrm>
            <a:off x="6406744" y="3522269"/>
            <a:ext cx="505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scent strips, bottle labels, and quick version identification. Alcohol-resistant ink only — standard ink smears the moment it touches a dilution.</a:t>
            </a:r>
            <a:endParaRPr lang="en-US" sz="1080" dirty="0"/>
          </a:p>
        </p:txBody>
      </p:sp>
      <p:sp>
        <p:nvSpPr>
          <p:cNvPr id="27" name="trans_fade_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4" grpId="0"/>
      <p:bldP spid="15" grpId="0"/>
      <p:bldP spid="16" grpId="0"/>
      <p:bldP spid="24" grpId="0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11 · ORGANISATION MATTERS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labelling system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470355"/>
            <a:ext cx="2514417" cy="3571646"/>
          </a:xfrm>
          <a:prstGeom prst="roundRect">
            <a:avLst>
              <a:gd name="adj" fmla="val 3637"/>
            </a:avLst>
          </a:prstGeom>
          <a:solidFill>
            <a:srgbClr val="FAF6EC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473379" y="1708099"/>
            <a:ext cx="214865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 BASE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73379" y="2898648"/>
            <a:ext cx="214865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473379" y="4089197"/>
            <a:ext cx="214865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02/09/26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materials, dilutions, accords, bases, experiments — everything gets one of these three formats.</a:t>
            </a:r>
            <a:endParaRPr lang="en-US" sz="1050" dirty="0"/>
          </a:p>
        </p:txBody>
      </p:sp>
      <p:sp>
        <p:nvSpPr>
          <p:cNvPr id="15" name="bld1_54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54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</a:t>
            </a:r>
            <a:endParaRPr lang="en-US" sz="1650" dirty="0"/>
          </a:p>
        </p:txBody>
      </p:sp>
      <p:sp>
        <p:nvSpPr>
          <p:cNvPr id="17" name="bld1_54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name, supplier if useful, and the date received or opened if you want to track it.</a:t>
            </a:r>
            <a:endParaRPr lang="en-US" sz="1250" dirty="0"/>
          </a:p>
        </p:txBody>
      </p:sp>
      <p:sp>
        <p:nvSpPr>
          <p:cNvPr id="18" name="bld2_54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bld2_55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Dilutions</a:t>
            </a:r>
            <a:endParaRPr lang="en-US" sz="1650" dirty="0"/>
          </a:p>
        </p:txBody>
      </p:sp>
      <p:sp>
        <p:nvSpPr>
          <p:cNvPr id="20" name="bld2_55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percentage, solvent, and date — the same four fields from the dilution bottle slide.</a:t>
            </a:r>
            <a:endParaRPr lang="en-US" sz="1250" dirty="0"/>
          </a:p>
        </p:txBody>
      </p:sp>
      <p:sp>
        <p:nvSpPr>
          <p:cNvPr id="21" name="bld3_55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2" name="bld3_55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trials</a:t>
            </a:r>
            <a:endParaRPr lang="en-US" sz="1650" dirty="0"/>
          </a:p>
        </p:txBody>
      </p:sp>
      <p:sp>
        <p:nvSpPr>
          <p:cNvPr id="23" name="bld3_55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name, version, and date — for example: "APPLE BASE, V03, 02/09/26".</a:t>
            </a:r>
            <a:endParaRPr lang="en-US" sz="1250" dirty="0"/>
          </a:p>
        </p:txBody>
      </p:sp>
      <p:sp>
        <p:nvSpPr>
          <p:cNvPr id="25" name="trans_fade_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13 · STORAGE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so you can actually find things</a:t>
            </a:r>
            <a:endParaRPr lang="en-US" sz="3200" dirty="0"/>
          </a:p>
        </p:txBody>
      </p:sp>
      <p:sp>
        <p:nvSpPr>
          <p:cNvPr id="7" name="bld1_555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E3E8"/>
          </a:solidFill>
          <a:ln/>
        </p:spPr>
      </p:sp>
      <p:sp>
        <p:nvSpPr>
          <p:cNvPr id="8" name="bld1_556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557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olfactory family</a:t>
            </a:r>
            <a:endParaRPr lang="en-US" sz="1800" dirty="0"/>
          </a:p>
        </p:txBody>
      </p:sp>
      <p:sp>
        <p:nvSpPr>
          <p:cNvPr id="10" name="bld1_558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</a:t>
            </a:r>
            <a:endParaRPr lang="en-US" sz="1300" dirty="0"/>
          </a:p>
        </p:txBody>
      </p:sp>
      <p:sp>
        <p:nvSpPr>
          <p:cNvPr id="11" name="bld1_559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2" name="bld1_560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3" name="bld2_561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4" name="bld2_562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2_563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Alphabetically</a:t>
            </a:r>
            <a:endParaRPr lang="en-US" sz="1800" dirty="0"/>
          </a:p>
        </p:txBody>
      </p:sp>
      <p:sp>
        <p:nvSpPr>
          <p:cNvPr id="16" name="bld2_564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and searchable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family judgement calls needed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well once your library gets large</a:t>
            </a:r>
            <a:endParaRPr lang="en-US" sz="1300" dirty="0"/>
          </a:p>
        </p:txBody>
      </p:sp>
      <p:sp>
        <p:nvSpPr>
          <p:cNvPr id="17" name="bld2_565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8" name="bld2_566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20" name="trans_wipe_l_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care, in five habits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36118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4971743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4971743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204019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57566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15756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492528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083235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4918319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15059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4871864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567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568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569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Upright</a:t>
            </a:r>
            <a:endParaRPr lang="en-US" sz="1450" dirty="0"/>
          </a:p>
        </p:txBody>
      </p:sp>
      <p:sp>
        <p:nvSpPr>
          <p:cNvPr id="24" name="bld1_570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Always, no exceptions.</a:t>
            </a:r>
            <a:endParaRPr lang="en-US" sz="1080" dirty="0"/>
          </a:p>
        </p:txBody>
      </p:sp>
      <p:sp>
        <p:nvSpPr>
          <p:cNvPr id="25" name="bld2_571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572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573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 tight</a:t>
            </a:r>
            <a:endParaRPr lang="en-US" sz="1450" dirty="0"/>
          </a:p>
        </p:txBody>
      </p:sp>
      <p:sp>
        <p:nvSpPr>
          <p:cNvPr id="28" name="bld2_574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time, not just eventually.</a:t>
            </a:r>
            <a:endParaRPr lang="en-US" sz="1080" dirty="0"/>
          </a:p>
        </p:txBody>
      </p:sp>
      <p:sp>
        <p:nvSpPr>
          <p:cNvPr id="29" name="bld3_575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576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577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 of sunlight</a:t>
            </a:r>
            <a:endParaRPr lang="en-US" sz="1450" dirty="0"/>
          </a:p>
        </p:txBody>
      </p:sp>
      <p:sp>
        <p:nvSpPr>
          <p:cNvPr id="32" name="bld3_578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light degrades materials fast.</a:t>
            </a:r>
            <a:endParaRPr lang="en-US" sz="1080" dirty="0"/>
          </a:p>
        </p:txBody>
      </p:sp>
      <p:sp>
        <p:nvSpPr>
          <p:cNvPr id="33" name="bld4_579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580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581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Away from heat</a:t>
            </a:r>
            <a:endParaRPr lang="en-US" sz="1450" dirty="0"/>
          </a:p>
        </p:txBody>
      </p:sp>
      <p:sp>
        <p:nvSpPr>
          <p:cNvPr id="36" name="bld4_582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accelerates degradation.</a:t>
            </a:r>
            <a:endParaRPr lang="en-US" sz="1080" dirty="0"/>
          </a:p>
        </p:txBody>
      </p:sp>
      <p:sp>
        <p:nvSpPr>
          <p:cNvPr id="37" name="bld5_583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584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9" name="bld5_585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left open</a:t>
            </a:r>
            <a:endParaRPr lang="en-US" sz="1450" dirty="0"/>
          </a:p>
        </p:txBody>
      </p:sp>
      <p:sp>
        <p:nvSpPr>
          <p:cNvPr id="40" name="bld5_586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starts immediately.</a:t>
            </a:r>
            <a:endParaRPr lang="en-US" sz="1080" dirty="0"/>
          </a:p>
        </p:txBody>
      </p:sp>
      <p:sp>
        <p:nvSpPr>
          <p:cNvPr id="42" name="trans_fade_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or software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48592" y="1988820"/>
            <a:ext cx="921953" cy="1958645"/>
          </a:xfrm>
          <a:prstGeom prst="roundRect">
            <a:avLst>
              <a:gd name="adj" fmla="val 4959"/>
            </a:avLst>
          </a:prstGeom>
          <a:solidFill>
            <a:srgbClr val="F1E7D6"/>
          </a:solidFill>
          <a:ln w="19050">
            <a:solidFill>
              <a:srgbClr val="8A633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4544" y="2615586"/>
            <a:ext cx="590050" cy="914"/>
          </a:xfrm>
          <a:prstGeom prst="line">
            <a:avLst/>
          </a:prstGeom>
          <a:noFill/>
          <a:ln w="12700">
            <a:solidFill>
              <a:srgbClr val="8A63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4544" y="3007315"/>
            <a:ext cx="590050" cy="914"/>
          </a:xfrm>
          <a:prstGeom prst="line">
            <a:avLst/>
          </a:prstGeom>
          <a:noFill/>
          <a:ln w="12700">
            <a:solidFill>
              <a:srgbClr val="8A63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4544" y="3399044"/>
            <a:ext cx="590050" cy="914"/>
          </a:xfrm>
          <a:prstGeom prst="line">
            <a:avLst/>
          </a:prstGeom>
          <a:noFill/>
          <a:ln w="12700">
            <a:solidFill>
              <a:srgbClr val="8A63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11432" y="4038905"/>
            <a:ext cx="11962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924870" y="1988820"/>
            <a:ext cx="921953" cy="1527743"/>
          </a:xfrm>
          <a:prstGeom prst="roundRect">
            <a:avLst>
              <a:gd name="adj" fmla="val 3967"/>
            </a:avLst>
          </a:prstGeom>
          <a:solidFill>
            <a:srgbClr val="E4F3F8"/>
          </a:solidFill>
          <a:ln w="19050">
            <a:solidFill>
              <a:srgbClr val="4090A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63163" y="2419722"/>
            <a:ext cx="645367" cy="914"/>
          </a:xfrm>
          <a:prstGeom prst="line">
            <a:avLst/>
          </a:prstGeom>
          <a:noFill/>
          <a:ln w="12700">
            <a:solidFill>
              <a:srgbClr val="4090A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63163" y="2968142"/>
            <a:ext cx="645367" cy="914"/>
          </a:xfrm>
          <a:prstGeom prst="line">
            <a:avLst/>
          </a:prstGeom>
          <a:noFill/>
          <a:ln w="12700">
            <a:solidFill>
              <a:srgbClr val="4090A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634" y="3516563"/>
            <a:ext cx="258147" cy="156692"/>
          </a:xfrm>
          <a:prstGeom prst="rect">
            <a:avLst/>
          </a:prstGeom>
          <a:solidFill>
            <a:srgbClr val="4090A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787710" y="4038905"/>
            <a:ext cx="11962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5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73388" y="280355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82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the exact software setup used throughout this course.</a:t>
            </a:r>
            <a:endParaRPr lang="en-US" sz="1050" dirty="0"/>
          </a:p>
        </p:txBody>
      </p:sp>
      <p:sp>
        <p:nvSpPr>
          <p:cNvPr id="22" name="bld1_58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58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to record</a:t>
            </a:r>
            <a:endParaRPr lang="en-US" sz="1650" dirty="0"/>
          </a:p>
        </p:txBody>
      </p:sp>
      <p:sp>
        <p:nvSpPr>
          <p:cNvPr id="24" name="bld1_58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Formulas, dilutions, material evaluations, accord versions, formula versions, supplier information, and general notes.</a:t>
            </a:r>
            <a:endParaRPr lang="en-US" sz="1250" dirty="0"/>
          </a:p>
        </p:txBody>
      </p:sp>
      <p:sp>
        <p:nvSpPr>
          <p:cNvPr id="25" name="bld2_59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6" name="bld2_59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physical notebook works</a:t>
            </a:r>
            <a:endParaRPr lang="en-US" sz="1650" dirty="0"/>
          </a:p>
        </p:txBody>
      </p:sp>
      <p:sp>
        <p:nvSpPr>
          <p:cNvPr id="27" name="bld2_59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tactile, and always available — the tradeoff is no easy search or backup.</a:t>
            </a:r>
            <a:endParaRPr lang="en-US" sz="1250" dirty="0"/>
          </a:p>
        </p:txBody>
      </p:sp>
      <p:sp>
        <p:nvSpPr>
          <p:cNvPr id="28" name="bld3_59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3_59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does software</a:t>
            </a:r>
            <a:endParaRPr lang="en-US" sz="1650" dirty="0"/>
          </a:p>
        </p:txBody>
      </p:sp>
      <p:sp>
        <p:nvSpPr>
          <p:cNvPr id="30" name="bld3_59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spreadsheet or dedicated app makes searching, calculating and backing up far easier.</a:t>
            </a:r>
            <a:endParaRPr lang="en-US" sz="1250" dirty="0"/>
          </a:p>
        </p:txBody>
      </p:sp>
      <p:sp>
        <p:nvSpPr>
          <p:cNvPr id="31" name="bld4_59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2" name="bld4_59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beats the method</a:t>
            </a:r>
            <a:endParaRPr lang="en-US" sz="1650" dirty="0"/>
          </a:p>
        </p:txBody>
      </p:sp>
      <p:sp>
        <p:nvSpPr>
          <p:cNvPr id="33" name="bld4_59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system and stick with it — a half-used notebook and a half-used spreadsheet both fail the same way.</a:t>
            </a:r>
            <a:endParaRPr lang="en-US" sz="1250" dirty="0"/>
          </a:p>
        </p:txBody>
      </p:sp>
      <p:sp>
        <p:nvSpPr>
          <p:cNvPr id="35" name="trans_fade_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6" name="Text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Perfumer's alcohol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04815" y="1239926"/>
            <a:ext cx="485785" cy="437815"/>
          </a:xfrm>
          <a:prstGeom prst="roundRect">
            <a:avLst>
              <a:gd name="adj" fmla="val 8354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9336497" y="1677741"/>
            <a:ext cx="422422" cy="70050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93382" y="2378245"/>
            <a:ext cx="1508650" cy="3239829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29958" y="3512185"/>
            <a:ext cx="1435498" cy="2069313"/>
          </a:xfrm>
          <a:prstGeom prst="roundRect">
            <a:avLst>
              <a:gd name="adj" fmla="val 6370"/>
            </a:avLst>
          </a:prstGeom>
          <a:solidFill>
            <a:srgbClr val="CFC5AE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004594" y="3479787"/>
            <a:ext cx="1086228" cy="842356"/>
          </a:xfrm>
          <a:prstGeom prst="roundRect">
            <a:avLst>
              <a:gd name="adj" fmla="val 325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essential consumable — the deeper compounding process belongs to Module 09.</a:t>
            </a:r>
            <a:endParaRPr lang="en-US" sz="1050" dirty="0"/>
          </a:p>
        </p:txBody>
      </p:sp>
      <p:sp>
        <p:nvSpPr>
          <p:cNvPr id="16" name="bld1_59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60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main dilution carrier</a:t>
            </a:r>
            <a:endParaRPr lang="en-US" sz="1650" dirty="0"/>
          </a:p>
        </p:txBody>
      </p:sp>
      <p:sp>
        <p:nvSpPr>
          <p:cNvPr id="18" name="bld1_601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make working dilutions of raw materials so they can be measured and evaluated accurately.</a:t>
            </a:r>
            <a:endParaRPr lang="en-US" sz="1250" dirty="0"/>
          </a:p>
        </p:txBody>
      </p:sp>
      <p:sp>
        <p:nvSpPr>
          <p:cNvPr id="19" name="bld2_602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603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 your evaluation medium</a:t>
            </a:r>
            <a:endParaRPr lang="en-US" sz="1650" dirty="0"/>
          </a:p>
        </p:txBody>
      </p:sp>
      <p:sp>
        <p:nvSpPr>
          <p:cNvPr id="21" name="bld2_604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materials on a scent strip are usually cut with perfumer's alcohol first.</a:t>
            </a:r>
            <a:endParaRPr lang="en-US" sz="1250" dirty="0"/>
          </a:p>
        </p:txBody>
      </p:sp>
      <p:sp>
        <p:nvSpPr>
          <p:cNvPr id="22" name="bld3_605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3_606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base of a finished perfume</a:t>
            </a:r>
            <a:endParaRPr lang="en-US" sz="1650" dirty="0"/>
          </a:p>
        </p:txBody>
      </p:sp>
      <p:sp>
        <p:nvSpPr>
          <p:cNvPr id="24" name="bld3_607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Alcohol-based fragrance is simply concentrate diluted into perfumer's alcohol — module 09 covers this in full.</a:t>
            </a:r>
            <a:endParaRPr lang="en-US" sz="1250" dirty="0"/>
          </a:p>
        </p:txBody>
      </p:sp>
      <p:sp>
        <p:nvSpPr>
          <p:cNvPr id="26" name="trans_fade_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Solvents you'll encounter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646421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007917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608"/>
          <p:cNvSpPr/>
          <p:nvPr/>
        </p:nvSpPr>
        <p:spPr>
          <a:xfrm>
            <a:off x="548640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27072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89837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089837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089837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7" name="bld1_610"/>
          <p:cNvSpPr txBox="1"/>
          <p:nvPr/>
        </p:nvSpPr>
        <p:spPr>
          <a:xfrm>
            <a:off x="731520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</a:t>
            </a:r>
            <a:endParaRPr lang="en-US" sz="1450" dirty="0"/>
          </a:p>
        </p:txBody>
      </p:sp>
      <p:sp>
        <p:nvSpPr>
          <p:cNvPr id="18" name="bld1_611"/>
          <p:cNvSpPr txBox="1"/>
          <p:nvPr/>
        </p:nvSpPr>
        <p:spPr>
          <a:xfrm>
            <a:off x="731520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perfumer's alcohol carrier for dilutions and finished fragrance.</a:t>
            </a:r>
            <a:endParaRPr lang="en-US" sz="1080" dirty="0"/>
          </a:p>
        </p:txBody>
      </p:sp>
      <p:sp>
        <p:nvSpPr>
          <p:cNvPr id="19" name="bld2_612"/>
          <p:cNvSpPr/>
          <p:nvPr/>
        </p:nvSpPr>
        <p:spPr>
          <a:xfrm>
            <a:off x="4332122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87331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87331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87331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2A5266"/>
            </a:solidFill>
            <a:prstDash val="solid"/>
          </a:ln>
        </p:spPr>
      </p:sp>
      <p:sp>
        <p:nvSpPr>
          <p:cNvPr id="26" name="bld2_614"/>
          <p:cNvSpPr txBox="1"/>
          <p:nvPr/>
        </p:nvSpPr>
        <p:spPr>
          <a:xfrm>
            <a:off x="4515002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DPG</a:t>
            </a:r>
            <a:endParaRPr lang="en-US" sz="1450" dirty="0"/>
          </a:p>
        </p:txBody>
      </p:sp>
      <p:sp>
        <p:nvSpPr>
          <p:cNvPr id="27" name="bld2_615"/>
          <p:cNvSpPr txBox="1"/>
          <p:nvPr/>
        </p:nvSpPr>
        <p:spPr>
          <a:xfrm>
            <a:off x="4515002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low-odour carrier often used for oil-based or alcohol-free formats.</a:t>
            </a:r>
            <a:endParaRPr lang="en-US" sz="1080" dirty="0"/>
          </a:p>
        </p:txBody>
      </p:sp>
      <p:sp>
        <p:nvSpPr>
          <p:cNvPr id="28" name="bld3_616"/>
          <p:cNvSpPr/>
          <p:nvPr/>
        </p:nvSpPr>
        <p:spPr>
          <a:xfrm>
            <a:off x="8115605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0" name="Shape 28"/>
          <p:cNvSpPr/>
          <p:nvPr/>
        </p:nvSpPr>
        <p:spPr>
          <a:xfrm>
            <a:off x="9594037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656802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9656802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656802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ln w="25603">
            <a:solidFill>
              <a:srgbClr val="8AC6E0"/>
            </a:solidFill>
            <a:prstDash val="solid"/>
          </a:ln>
        </p:spPr>
      </p:sp>
      <p:sp>
        <p:nvSpPr>
          <p:cNvPr id="35" name="bld3_618"/>
          <p:cNvSpPr txBox="1"/>
          <p:nvPr/>
        </p:nvSpPr>
        <p:spPr>
          <a:xfrm>
            <a:off x="8298485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</a:t>
            </a:r>
            <a:endParaRPr lang="en-US" sz="1450" dirty="0"/>
          </a:p>
        </p:txBody>
      </p:sp>
      <p:sp>
        <p:nvSpPr>
          <p:cNvPr id="36" name="bld3_619"/>
          <p:cNvSpPr txBox="1"/>
          <p:nvPr/>
        </p:nvSpPr>
        <p:spPr>
          <a:xfrm>
            <a:off x="8298485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common carrier, chosen for specific solubility or format needs.</a:t>
            </a:r>
            <a:endParaRPr lang="en-US" sz="1080" dirty="0"/>
          </a:p>
        </p:txBody>
      </p:sp>
      <p:sp>
        <p:nvSpPr>
          <p:cNvPr id="38" name="trans_fade_4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6" grpId="0"/>
      <p:bldP spid="27" grpId="0"/>
      <p:bldP spid="28" grpId="0"/>
      <p:bldP spid="35" grpId="0"/>
      <p:bldP spid="3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equipment checklist</a:t>
            </a:r>
            <a:endParaRPr lang="en-US" sz="3200" dirty="0"/>
          </a:p>
        </p:txBody>
      </p:sp>
      <p:sp>
        <p:nvSpPr>
          <p:cNvPr id="7" name="bld1_620"/>
          <p:cNvSpPr txBox="1"/>
          <p:nvPr/>
        </p:nvSpPr>
        <p:spPr>
          <a:xfrm>
            <a:off x="548640" y="235000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· MEASURING</a:t>
            </a:r>
            <a:endParaRPr lang="en-US" sz="1250" dirty="0"/>
          </a:p>
        </p:txBody>
      </p:sp>
      <p:sp>
        <p:nvSpPr>
          <p:cNvPr id="8" name="bld1_621"/>
          <p:cNvSpPr/>
          <p:nvPr/>
        </p:nvSpPr>
        <p:spPr>
          <a:xfrm>
            <a:off x="548640" y="28072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9" name="bld1_622"/>
          <p:cNvSpPr txBox="1"/>
          <p:nvPr/>
        </p:nvSpPr>
        <p:spPr>
          <a:xfrm>
            <a:off x="841248" y="27432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00" dirty="0"/>
          </a:p>
        </p:txBody>
      </p:sp>
      <p:sp>
        <p:nvSpPr>
          <p:cNvPr id="10" name="bld1_623"/>
          <p:cNvSpPr/>
          <p:nvPr/>
        </p:nvSpPr>
        <p:spPr>
          <a:xfrm>
            <a:off x="548640" y="32644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1" name="bld1_624"/>
          <p:cNvSpPr txBox="1"/>
          <p:nvPr/>
        </p:nvSpPr>
        <p:spPr>
          <a:xfrm>
            <a:off x="841248" y="32004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pipettes</a:t>
            </a:r>
            <a:endParaRPr lang="en-US" sz="1200" dirty="0"/>
          </a:p>
        </p:txBody>
      </p:sp>
      <p:sp>
        <p:nvSpPr>
          <p:cNvPr id="12" name="bld1_625"/>
          <p:cNvSpPr/>
          <p:nvPr/>
        </p:nvSpPr>
        <p:spPr>
          <a:xfrm>
            <a:off x="548640" y="37216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3" name="bld1_626"/>
          <p:cNvSpPr txBox="1"/>
          <p:nvPr/>
        </p:nvSpPr>
        <p:spPr>
          <a:xfrm>
            <a:off x="841248" y="36576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weighing vessels</a:t>
            </a:r>
            <a:endParaRPr lang="en-US" sz="1200" dirty="0"/>
          </a:p>
        </p:txBody>
      </p:sp>
      <p:sp>
        <p:nvSpPr>
          <p:cNvPr id="14" name="bld1_627"/>
          <p:cNvSpPr/>
          <p:nvPr/>
        </p:nvSpPr>
        <p:spPr>
          <a:xfrm>
            <a:off x="548640" y="41788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5" name="bld1_628"/>
          <p:cNvSpPr txBox="1"/>
          <p:nvPr/>
        </p:nvSpPr>
        <p:spPr>
          <a:xfrm>
            <a:off x="841248" y="41148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Spatula</a:t>
            </a:r>
            <a:endParaRPr lang="en-US" sz="1200" dirty="0"/>
          </a:p>
        </p:txBody>
      </p:sp>
      <p:sp>
        <p:nvSpPr>
          <p:cNvPr id="16" name="bld1_629"/>
          <p:cNvSpPr/>
          <p:nvPr/>
        </p:nvSpPr>
        <p:spPr>
          <a:xfrm>
            <a:off x="548640" y="46360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7" name="bld1_630"/>
          <p:cNvSpPr txBox="1"/>
          <p:nvPr/>
        </p:nvSpPr>
        <p:spPr>
          <a:xfrm>
            <a:off x="841248" y="45720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bottles</a:t>
            </a:r>
            <a:endParaRPr lang="en-US" sz="1200" dirty="0"/>
          </a:p>
        </p:txBody>
      </p:sp>
      <p:sp>
        <p:nvSpPr>
          <p:cNvPr id="18" name="bld1_631"/>
          <p:cNvSpPr/>
          <p:nvPr/>
        </p:nvSpPr>
        <p:spPr>
          <a:xfrm>
            <a:off x="548640" y="50932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9" name="bld1_632"/>
          <p:cNvSpPr txBox="1"/>
          <p:nvPr/>
        </p:nvSpPr>
        <p:spPr>
          <a:xfrm>
            <a:off x="841248" y="50292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bottles</a:t>
            </a:r>
            <a:endParaRPr lang="en-US" sz="1200" dirty="0"/>
          </a:p>
        </p:txBody>
      </p:sp>
      <p:sp>
        <p:nvSpPr>
          <p:cNvPr id="20" name="bld2_633"/>
          <p:cNvSpPr txBox="1"/>
          <p:nvPr/>
        </p:nvSpPr>
        <p:spPr>
          <a:xfrm>
            <a:off x="4353458" y="235000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· RECORDING</a:t>
            </a:r>
            <a:endParaRPr lang="en-US" sz="1250" dirty="0"/>
          </a:p>
        </p:txBody>
      </p:sp>
      <p:sp>
        <p:nvSpPr>
          <p:cNvPr id="21" name="bld2_634"/>
          <p:cNvSpPr/>
          <p:nvPr/>
        </p:nvSpPr>
        <p:spPr>
          <a:xfrm>
            <a:off x="4353458" y="28072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22" name="bld2_635"/>
          <p:cNvSpPr txBox="1"/>
          <p:nvPr/>
        </p:nvSpPr>
        <p:spPr>
          <a:xfrm>
            <a:off x="4646066" y="27432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 strips</a:t>
            </a:r>
            <a:endParaRPr lang="en-US" sz="1200" dirty="0"/>
          </a:p>
        </p:txBody>
      </p:sp>
      <p:sp>
        <p:nvSpPr>
          <p:cNvPr id="23" name="bld2_636"/>
          <p:cNvSpPr/>
          <p:nvPr/>
        </p:nvSpPr>
        <p:spPr>
          <a:xfrm>
            <a:off x="4353458" y="32644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24" name="bld2_637"/>
          <p:cNvSpPr txBox="1"/>
          <p:nvPr/>
        </p:nvSpPr>
        <p:spPr>
          <a:xfrm>
            <a:off x="4646066" y="32004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</a:t>
            </a:r>
            <a:endParaRPr lang="en-US" sz="1200" dirty="0"/>
          </a:p>
        </p:txBody>
      </p:sp>
      <p:sp>
        <p:nvSpPr>
          <p:cNvPr id="25" name="bld2_638"/>
          <p:cNvSpPr/>
          <p:nvPr/>
        </p:nvSpPr>
        <p:spPr>
          <a:xfrm>
            <a:off x="4353458" y="37216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26" name="bld2_639"/>
          <p:cNvSpPr txBox="1"/>
          <p:nvPr/>
        </p:nvSpPr>
        <p:spPr>
          <a:xfrm>
            <a:off x="4646066" y="36576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marker</a:t>
            </a:r>
            <a:endParaRPr lang="en-US" sz="1200" dirty="0"/>
          </a:p>
        </p:txBody>
      </p:sp>
      <p:sp>
        <p:nvSpPr>
          <p:cNvPr id="27" name="bld2_640"/>
          <p:cNvSpPr/>
          <p:nvPr/>
        </p:nvSpPr>
        <p:spPr>
          <a:xfrm>
            <a:off x="4353458" y="41788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28" name="bld2_641"/>
          <p:cNvSpPr txBox="1"/>
          <p:nvPr/>
        </p:nvSpPr>
        <p:spPr>
          <a:xfrm>
            <a:off x="4646066" y="41148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</a:t>
            </a:r>
            <a:endParaRPr lang="en-US" sz="1200" dirty="0"/>
          </a:p>
        </p:txBody>
      </p:sp>
      <p:sp>
        <p:nvSpPr>
          <p:cNvPr id="29" name="bld2_642"/>
          <p:cNvSpPr/>
          <p:nvPr/>
        </p:nvSpPr>
        <p:spPr>
          <a:xfrm>
            <a:off x="4353458" y="46360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30" name="bld2_643"/>
          <p:cNvSpPr txBox="1"/>
          <p:nvPr/>
        </p:nvSpPr>
        <p:spPr>
          <a:xfrm>
            <a:off x="4646066" y="45720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</a:t>
            </a:r>
            <a:endParaRPr lang="en-US" sz="1200" dirty="0"/>
          </a:p>
        </p:txBody>
      </p:sp>
      <p:sp>
        <p:nvSpPr>
          <p:cNvPr id="31" name="bld2_644"/>
          <p:cNvSpPr/>
          <p:nvPr/>
        </p:nvSpPr>
        <p:spPr>
          <a:xfrm>
            <a:off x="4353458" y="50932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32" name="bld2_645"/>
          <p:cNvSpPr txBox="1"/>
          <p:nvPr/>
        </p:nvSpPr>
        <p:spPr>
          <a:xfrm>
            <a:off x="4646066" y="50292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or software</a:t>
            </a:r>
            <a:endParaRPr lang="en-US" sz="1200" dirty="0"/>
          </a:p>
        </p:txBody>
      </p:sp>
      <p:sp>
        <p:nvSpPr>
          <p:cNvPr id="33" name="bld3_646"/>
          <p:cNvSpPr txBox="1"/>
          <p:nvPr/>
        </p:nvSpPr>
        <p:spPr>
          <a:xfrm>
            <a:off x="8158277" y="235000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AS NEEDED</a:t>
            </a:r>
            <a:endParaRPr lang="en-US" sz="1250" dirty="0"/>
          </a:p>
        </p:txBody>
      </p:sp>
      <p:sp>
        <p:nvSpPr>
          <p:cNvPr id="34" name="bld3_647"/>
          <p:cNvSpPr/>
          <p:nvPr/>
        </p:nvSpPr>
        <p:spPr>
          <a:xfrm>
            <a:off x="8158277" y="28072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5" name="bld3_648"/>
          <p:cNvSpPr txBox="1"/>
          <p:nvPr/>
        </p:nvSpPr>
        <p:spPr>
          <a:xfrm>
            <a:off x="8450885" y="27432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beakers</a:t>
            </a:r>
            <a:endParaRPr lang="en-US" sz="1200" dirty="0"/>
          </a:p>
        </p:txBody>
      </p:sp>
      <p:sp>
        <p:nvSpPr>
          <p:cNvPr id="36" name="bld3_649"/>
          <p:cNvSpPr/>
          <p:nvPr/>
        </p:nvSpPr>
        <p:spPr>
          <a:xfrm>
            <a:off x="8158277" y="32644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7" name="bld3_650"/>
          <p:cNvSpPr txBox="1"/>
          <p:nvPr/>
        </p:nvSpPr>
        <p:spPr>
          <a:xfrm>
            <a:off x="8450885" y="32004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Funnels</a:t>
            </a:r>
            <a:endParaRPr lang="en-US" sz="1200" dirty="0"/>
          </a:p>
        </p:txBody>
      </p:sp>
      <p:sp>
        <p:nvSpPr>
          <p:cNvPr id="38" name="bld3_651"/>
          <p:cNvSpPr/>
          <p:nvPr/>
        </p:nvSpPr>
        <p:spPr>
          <a:xfrm>
            <a:off x="8158277" y="37216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9" name="bld3_652"/>
          <p:cNvSpPr txBox="1"/>
          <p:nvPr/>
        </p:nvSpPr>
        <p:spPr>
          <a:xfrm>
            <a:off x="8450885" y="36576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storage bottles</a:t>
            </a:r>
            <a:endParaRPr lang="en-US" sz="1200" dirty="0"/>
          </a:p>
        </p:txBody>
      </p:sp>
      <p:sp>
        <p:nvSpPr>
          <p:cNvPr id="40" name="bld3_653"/>
          <p:cNvSpPr/>
          <p:nvPr/>
        </p:nvSpPr>
        <p:spPr>
          <a:xfrm>
            <a:off x="8158277" y="417880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41" name="bld3_654"/>
          <p:cNvSpPr txBox="1"/>
          <p:nvPr/>
        </p:nvSpPr>
        <p:spPr>
          <a:xfrm>
            <a:off x="8450885" y="411480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boxes or racks</a:t>
            </a:r>
            <a:endParaRPr lang="en-US" sz="1200" dirty="0"/>
          </a:p>
        </p:txBody>
      </p:sp>
      <p:sp>
        <p:nvSpPr>
          <p:cNvPr id="43" name="trans_fade_4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9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MONEY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not to waste money 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383310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4803619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655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1" name="bld1_656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657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huge lab</a:t>
            </a:r>
            <a:endParaRPr lang="en-US" sz="1450" dirty="0"/>
          </a:p>
        </p:txBody>
      </p:sp>
      <p:sp>
        <p:nvSpPr>
          <p:cNvPr id="13" name="bld1_658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one.</a:t>
            </a:r>
            <a:endParaRPr lang="en-US" sz="1080" dirty="0"/>
          </a:p>
        </p:txBody>
      </p:sp>
      <p:sp>
        <p:nvSpPr>
          <p:cNvPr id="14" name="bld2_659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5" name="bld2_660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2_661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Bulk bottles</a:t>
            </a:r>
            <a:endParaRPr lang="en-US" sz="1450" dirty="0"/>
          </a:p>
        </p:txBody>
      </p:sp>
      <p:sp>
        <p:nvSpPr>
          <p:cNvPr id="17" name="bld2_662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immediately.</a:t>
            </a:r>
            <a:endParaRPr lang="en-US" sz="1080" dirty="0"/>
          </a:p>
        </p:txBody>
      </p:sp>
      <p:sp>
        <p:nvSpPr>
          <p:cNvPr id="18" name="bld3_663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9" name="bld3_664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665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</a:t>
            </a:r>
            <a:endParaRPr lang="en-US" sz="1450" dirty="0"/>
          </a:p>
        </p:txBody>
      </p:sp>
      <p:sp>
        <p:nvSpPr>
          <p:cNvPr id="21" name="bld3_666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unnecessary.</a:t>
            </a:r>
            <a:endParaRPr lang="en-US" sz="1080" dirty="0"/>
          </a:p>
        </p:txBody>
      </p:sp>
      <p:sp>
        <p:nvSpPr>
          <p:cNvPr id="22" name="bld4_667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3" name="bld4_668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669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the glass</a:t>
            </a:r>
            <a:endParaRPr lang="en-US" sz="1450" dirty="0"/>
          </a:p>
        </p:txBody>
      </p:sp>
      <p:sp>
        <p:nvSpPr>
          <p:cNvPr id="25" name="bld4_670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sizes is plenty.</a:t>
            </a:r>
            <a:endParaRPr lang="en-US" sz="1080" dirty="0"/>
          </a:p>
        </p:txBody>
      </p:sp>
      <p:sp>
        <p:nvSpPr>
          <p:cNvPr id="26" name="bld5_671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7" name="bld5_672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8" name="bld5_673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Machinery</a:t>
            </a:r>
            <a:endParaRPr lang="en-US" sz="1450" dirty="0"/>
          </a:p>
        </p:txBody>
      </p:sp>
      <p:sp>
        <p:nvSpPr>
          <p:cNvPr id="29" name="bld5_674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won't teach you anything.</a:t>
            </a:r>
            <a:endParaRPr lang="en-US" sz="1080" dirty="0"/>
          </a:p>
        </p:txBody>
      </p:sp>
      <p:sp>
        <p:nvSpPr>
          <p:cNvPr id="31" name="trans_fade_4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INVESTMENT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moves you forward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1143000" y="3574653"/>
            <a:ext cx="289501" cy="12866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32501" y="3574653"/>
            <a:ext cx="289501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432501" y="3735487"/>
            <a:ext cx="289501" cy="2573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9999" y="3992821"/>
            <a:ext cx="482501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49999" y="3703320"/>
            <a:ext cx="193001" cy="28950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9166" y="3542486"/>
            <a:ext cx="353834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1533" y="3651853"/>
            <a:ext cx="102934" cy="10293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95509" y="3537661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85010" y="3698495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95509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08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174" y="3505494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1_676"/>
          <p:cNvSpPr txBox="1"/>
          <p:nvPr/>
        </p:nvSpPr>
        <p:spPr>
          <a:xfrm>
            <a:off x="-375873" y="4599432"/>
            <a:ext cx="30377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raw materials</a:t>
            </a:r>
            <a:endParaRPr lang="en-US" sz="1250" dirty="0"/>
          </a:p>
        </p:txBody>
      </p:sp>
      <p:sp>
        <p:nvSpPr>
          <p:cNvPr id="22" name="bld2_677"/>
          <p:cNvSpPr txBox="1"/>
          <p:nvPr/>
        </p:nvSpPr>
        <p:spPr>
          <a:xfrm>
            <a:off x="1938528" y="3410712"/>
            <a:ext cx="171084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3695090" y="2953512"/>
            <a:ext cx="1499616" cy="149961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444898" y="3574653"/>
            <a:ext cx="289501" cy="12866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34399" y="3574653"/>
            <a:ext cx="289501" cy="16083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734399" y="3735487"/>
            <a:ext cx="289501" cy="25733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51898" y="3992821"/>
            <a:ext cx="482501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1898" y="3703320"/>
            <a:ext cx="193001" cy="28950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91064" y="3542486"/>
            <a:ext cx="353834" cy="16083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93432" y="3651853"/>
            <a:ext cx="102934" cy="10293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97407" y="3537661"/>
            <a:ext cx="73984" cy="7398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86908" y="3698495"/>
            <a:ext cx="73984" cy="7398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97407" y="3955829"/>
            <a:ext cx="73984" cy="7398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14906" y="3955829"/>
            <a:ext cx="73984" cy="7398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54072" y="3505494"/>
            <a:ext cx="73984" cy="7398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95090" y="2953512"/>
            <a:ext cx="1499616" cy="149961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7" name="bld2_679"/>
          <p:cNvSpPr txBox="1"/>
          <p:nvPr/>
        </p:nvSpPr>
        <p:spPr>
          <a:xfrm>
            <a:off x="2926025" y="4599432"/>
            <a:ext cx="30377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accurate scale</a:t>
            </a:r>
            <a:endParaRPr lang="en-US" sz="1250" dirty="0"/>
          </a:p>
        </p:txBody>
      </p:sp>
      <p:sp>
        <p:nvSpPr>
          <p:cNvPr id="38" name="bld3_680"/>
          <p:cNvSpPr txBox="1"/>
          <p:nvPr/>
        </p:nvSpPr>
        <p:spPr>
          <a:xfrm>
            <a:off x="5240426" y="3410712"/>
            <a:ext cx="171084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39" name="Shape 37"/>
          <p:cNvSpPr/>
          <p:nvPr/>
        </p:nvSpPr>
        <p:spPr>
          <a:xfrm>
            <a:off x="6996989" y="2953512"/>
            <a:ext cx="1499616" cy="149961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0" name="Shape 38"/>
          <p:cNvSpPr/>
          <p:nvPr/>
        </p:nvSpPr>
        <p:spPr>
          <a:xfrm>
            <a:off x="7705857" y="3305622"/>
            <a:ext cx="87494" cy="795396"/>
          </a:xfrm>
          <a:prstGeom prst="roundRect">
            <a:avLst>
              <a:gd name="adj" fmla="val 2090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19573" y="3846491"/>
            <a:ext cx="60062" cy="236239"/>
          </a:xfrm>
          <a:prstGeom prst="roundRect">
            <a:avLst>
              <a:gd name="adj" fmla="val 22836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996989" y="2953512"/>
            <a:ext cx="1499616" cy="149961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3" name="bld3_682"/>
          <p:cNvSpPr txBox="1"/>
          <p:nvPr/>
        </p:nvSpPr>
        <p:spPr>
          <a:xfrm>
            <a:off x="6227924" y="4599432"/>
            <a:ext cx="30377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training</a:t>
            </a:r>
            <a:endParaRPr lang="en-US" sz="1250" dirty="0"/>
          </a:p>
        </p:txBody>
      </p:sp>
      <p:sp>
        <p:nvSpPr>
          <p:cNvPr id="44" name="bld4_683"/>
          <p:cNvSpPr txBox="1"/>
          <p:nvPr/>
        </p:nvSpPr>
        <p:spPr>
          <a:xfrm>
            <a:off x="8542325" y="3410712"/>
            <a:ext cx="171084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p:sp>
        <p:nvSpPr>
          <p:cNvPr id="45" name="Shape 43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88432" y="3223743"/>
            <a:ext cx="120526" cy="95915"/>
          </a:xfrm>
          <a:prstGeom prst="roundRect">
            <a:avLst>
              <a:gd name="adj" fmla="val 38134"/>
            </a:avLst>
          </a:prstGeom>
          <a:solidFill>
            <a:srgbClr val="0E0D0B"/>
          </a:solidFill>
          <a:ln/>
        </p:spPr>
      </p:sp>
      <p:sp>
        <p:nvSpPr>
          <p:cNvPr id="47" name="Shape 45"/>
          <p:cNvSpPr/>
          <p:nvPr/>
        </p:nvSpPr>
        <p:spPr>
          <a:xfrm>
            <a:off x="10996293" y="3319658"/>
            <a:ext cx="104805" cy="153465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861543" y="3473123"/>
            <a:ext cx="374304" cy="709774"/>
          </a:xfrm>
          <a:prstGeom prst="roundRect">
            <a:avLst>
              <a:gd name="adj" fmla="val 29315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898119" y="3792521"/>
            <a:ext cx="301152" cy="353800"/>
          </a:xfrm>
          <a:prstGeom prst="roundRect">
            <a:avLst>
              <a:gd name="adj" fmla="val 30363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ln w="41148">
            <a:solidFill>
              <a:srgbClr val="C1752F"/>
            </a:solidFill>
            <a:prstDash val="solid"/>
          </a:ln>
        </p:spPr>
      </p:sp>
      <p:sp>
        <p:nvSpPr>
          <p:cNvPr id="51" name="bld4_685"/>
          <p:cNvSpPr txBox="1"/>
          <p:nvPr/>
        </p:nvSpPr>
        <p:spPr>
          <a:xfrm>
            <a:off x="9529822" y="4599432"/>
            <a:ext cx="30377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progress</a:t>
            </a:r>
            <a:endParaRPr lang="en-US" sz="1500" dirty="0"/>
          </a:p>
        </p:txBody>
      </p:sp>
      <p:sp>
        <p:nvSpPr>
          <p:cNvPr id="53" name="trans_push_l_4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5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37" grpId="0"/>
      <p:bldP spid="38" grpId="0"/>
      <p:bldP spid="43" grpId="0"/>
      <p:bldP spid="44" grpId="0"/>
      <p:bldP spid="5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TOGETHER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beginner workspace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3566160" y="3902970"/>
            <a:ext cx="476617" cy="21183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42777" y="3902970"/>
            <a:ext cx="476617" cy="26478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042777" y="4167757"/>
            <a:ext cx="476617" cy="42366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8415" y="4591417"/>
            <a:ext cx="794362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248415" y="4114800"/>
            <a:ext cx="317745" cy="47661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83628" y="3850013"/>
            <a:ext cx="582532" cy="26478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81428" y="4030068"/>
            <a:ext cx="169464" cy="16946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81876" y="3842069"/>
            <a:ext cx="121802" cy="12180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8493" y="4106856"/>
            <a:ext cx="121802" cy="12180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81876" y="4530516"/>
            <a:ext cx="121802" cy="12180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87514" y="4530516"/>
            <a:ext cx="121802" cy="12180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22727" y="3789112"/>
            <a:ext cx="121802" cy="12180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5C423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3A2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BENCH</a:t>
            </a:r>
            <a:endParaRPr lang="en-US" sz="1350" dirty="0"/>
          </a:p>
        </p:txBody>
      </p:sp>
      <p:sp>
        <p:nvSpPr>
          <p:cNvPr id="22" name="bld1_686"/>
          <p:cNvSpPr/>
          <p:nvPr/>
        </p:nvSpPr>
        <p:spPr>
          <a:xfrm flipV="1">
            <a:off x="4627778" y="2148840"/>
            <a:ext cx="3232678" cy="196596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23" name="Shape 21"/>
          <p:cNvSpPr/>
          <p:nvPr/>
        </p:nvSpPr>
        <p:spPr>
          <a:xfrm>
            <a:off x="7822692" y="1879092"/>
            <a:ext cx="539496" cy="5394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>
            <a:off x="8070760" y="1976309"/>
            <a:ext cx="43360" cy="34506"/>
          </a:xfrm>
          <a:prstGeom prst="roundRect">
            <a:avLst>
              <a:gd name="adj" fmla="val 105999"/>
            </a:avLst>
          </a:prstGeom>
          <a:solidFill>
            <a:srgbClr val="0E0D0B"/>
          </a:solidFill>
          <a:ln/>
        </p:spPr>
      </p:sp>
      <p:sp>
        <p:nvSpPr>
          <p:cNvPr id="25" name="Shape 23"/>
          <p:cNvSpPr/>
          <p:nvPr/>
        </p:nvSpPr>
        <p:spPr>
          <a:xfrm>
            <a:off x="8073588" y="2010815"/>
            <a:ext cx="37704" cy="55210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25111" y="2066025"/>
            <a:ext cx="134658" cy="255346"/>
          </a:xfrm>
          <a:prstGeom prst="roundRect">
            <a:avLst>
              <a:gd name="adj" fmla="val 8148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61687" y="2180931"/>
            <a:ext cx="61506" cy="103864"/>
          </a:xfrm>
          <a:prstGeom prst="roundRect">
            <a:avLst>
              <a:gd name="adj" fmla="val 14866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822692" y="1879092"/>
            <a:ext cx="539496" cy="5394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9" name="bld1_688"/>
          <p:cNvSpPr txBox="1"/>
          <p:nvPr/>
        </p:nvSpPr>
        <p:spPr>
          <a:xfrm>
            <a:off x="8499348" y="19751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materials, organised behind</a:t>
            </a:r>
            <a:endParaRPr lang="en-US" sz="1350" dirty="0"/>
          </a:p>
        </p:txBody>
      </p:sp>
      <p:sp>
        <p:nvSpPr>
          <p:cNvPr id="30" name="bld2_689"/>
          <p:cNvSpPr/>
          <p:nvPr/>
        </p:nvSpPr>
        <p:spPr>
          <a:xfrm flipV="1">
            <a:off x="4627778" y="2834640"/>
            <a:ext cx="3232678" cy="128016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31" name="Shape 29"/>
          <p:cNvSpPr/>
          <p:nvPr/>
        </p:nvSpPr>
        <p:spPr>
          <a:xfrm>
            <a:off x="7822692" y="2564892"/>
            <a:ext cx="539496" cy="539496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7723" y="2670525"/>
            <a:ext cx="69433" cy="72905"/>
          </a:xfrm>
          <a:prstGeom prst="ellipse">
            <a:avLst/>
          </a:prstGeom>
          <a:solidFill>
            <a:srgbClr val="4090AF">
              <a:alpha val="85000"/>
            </a:srgbClr>
          </a:solidFill>
          <a:ln w="12700">
            <a:solidFill>
              <a:srgbClr val="4090A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81467" y="2739958"/>
            <a:ext cx="914" cy="195675"/>
          </a:xfrm>
          <a:prstGeom prst="line">
            <a:avLst/>
          </a:prstGeom>
          <a:noFill/>
          <a:ln w="28575">
            <a:solidFill>
              <a:srgbClr val="4090A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10800000">
            <a:off x="8082972" y="2935634"/>
            <a:ext cx="18936" cy="50497"/>
          </a:xfrm>
          <a:prstGeom prst="triangle">
            <a:avLst/>
          </a:prstGeom>
          <a:solidFill>
            <a:srgbClr val="4090AF">
              <a:alpha val="8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822692" y="2564892"/>
            <a:ext cx="539496" cy="539496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6" name="bld2_691"/>
          <p:cNvSpPr txBox="1"/>
          <p:nvPr/>
        </p:nvSpPr>
        <p:spPr>
          <a:xfrm>
            <a:off x="8499348" y="26609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Disposable pipettes</a:t>
            </a:r>
            <a:endParaRPr lang="en-US" sz="1350" dirty="0"/>
          </a:p>
        </p:txBody>
      </p:sp>
      <p:sp>
        <p:nvSpPr>
          <p:cNvPr id="37" name="bld3_692"/>
          <p:cNvSpPr/>
          <p:nvPr/>
        </p:nvSpPr>
        <p:spPr>
          <a:xfrm flipV="1">
            <a:off x="4627778" y="3520440"/>
            <a:ext cx="3232678" cy="594360"/>
          </a:xfrm>
          <a:prstGeom prst="line">
            <a:avLst/>
          </a:prstGeom>
          <a:noFill/>
          <a:ln w="19050">
            <a:solidFill>
              <a:srgbClr val="4090AF">
                <a:alpha val="75000"/>
              </a:srgbClr>
            </a:solidFill>
            <a:prstDash val="sysDot"/>
          </a:ln>
        </p:spPr>
      </p:sp>
      <p:sp>
        <p:nvSpPr>
          <p:cNvPr id="38" name="Shape 36"/>
          <p:cNvSpPr/>
          <p:nvPr/>
        </p:nvSpPr>
        <p:spPr>
          <a:xfrm>
            <a:off x="7822692" y="3250692"/>
            <a:ext cx="539496" cy="5394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9" name="Shape 37"/>
          <p:cNvSpPr/>
          <p:nvPr/>
        </p:nvSpPr>
        <p:spPr>
          <a:xfrm>
            <a:off x="8070760" y="3347909"/>
            <a:ext cx="43360" cy="34506"/>
          </a:xfrm>
          <a:prstGeom prst="roundRect">
            <a:avLst>
              <a:gd name="adj" fmla="val 105999"/>
            </a:avLst>
          </a:prstGeom>
          <a:solidFill>
            <a:srgbClr val="0E0D0B"/>
          </a:solidFill>
          <a:ln/>
        </p:spPr>
      </p:sp>
      <p:sp>
        <p:nvSpPr>
          <p:cNvPr id="40" name="Shape 38"/>
          <p:cNvSpPr/>
          <p:nvPr/>
        </p:nvSpPr>
        <p:spPr>
          <a:xfrm>
            <a:off x="8073588" y="3382415"/>
            <a:ext cx="37704" cy="55210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25111" y="3437625"/>
            <a:ext cx="134658" cy="255346"/>
          </a:xfrm>
          <a:prstGeom prst="roundRect">
            <a:avLst>
              <a:gd name="adj" fmla="val 8148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61687" y="3552531"/>
            <a:ext cx="61506" cy="103864"/>
          </a:xfrm>
          <a:prstGeom prst="roundRect">
            <a:avLst>
              <a:gd name="adj" fmla="val 14866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822692" y="3250692"/>
            <a:ext cx="539496" cy="5394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3_694"/>
          <p:cNvSpPr txBox="1"/>
          <p:nvPr/>
        </p:nvSpPr>
        <p:spPr>
          <a:xfrm>
            <a:off x="8499348" y="33467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Labelled dilution bottles</a:t>
            </a:r>
            <a:endParaRPr lang="en-US" sz="1350" dirty="0"/>
          </a:p>
        </p:txBody>
      </p:sp>
      <p:sp>
        <p:nvSpPr>
          <p:cNvPr id="45" name="bld4_695"/>
          <p:cNvSpPr/>
          <p:nvPr/>
        </p:nvSpPr>
        <p:spPr>
          <a:xfrm>
            <a:off x="4627778" y="4114800"/>
            <a:ext cx="3232678" cy="914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46" name="Shape 44"/>
          <p:cNvSpPr/>
          <p:nvPr/>
        </p:nvSpPr>
        <p:spPr>
          <a:xfrm>
            <a:off x="7822692" y="3936492"/>
            <a:ext cx="539496" cy="53949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7712" y="4063166"/>
            <a:ext cx="31476" cy="286149"/>
          </a:xfrm>
          <a:prstGeom prst="roundRect">
            <a:avLst>
              <a:gd name="adj" fmla="val 58101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91428" y="4257747"/>
            <a:ext cx="4044" cy="73280"/>
          </a:xfrm>
          <a:prstGeom prst="roundRect">
            <a:avLst>
              <a:gd name="adj" fmla="val 339169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22692" y="3936492"/>
            <a:ext cx="539496" cy="53949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0" name="bld4_697"/>
          <p:cNvSpPr txBox="1"/>
          <p:nvPr/>
        </p:nvSpPr>
        <p:spPr>
          <a:xfrm>
            <a:off x="8499348" y="40325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</a:t>
            </a:r>
            <a:endParaRPr lang="en-US" sz="1350" dirty="0"/>
          </a:p>
        </p:txBody>
      </p:sp>
      <p:sp>
        <p:nvSpPr>
          <p:cNvPr id="51" name="bld5_698"/>
          <p:cNvSpPr/>
          <p:nvPr/>
        </p:nvSpPr>
        <p:spPr>
          <a:xfrm>
            <a:off x="4627778" y="4114800"/>
            <a:ext cx="3232678" cy="7772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52" name="Shape 50"/>
          <p:cNvSpPr/>
          <p:nvPr/>
        </p:nvSpPr>
        <p:spPr>
          <a:xfrm>
            <a:off x="7822692" y="4622292"/>
            <a:ext cx="539496" cy="53949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53" name="Shape 51"/>
          <p:cNvSpPr/>
          <p:nvPr/>
        </p:nvSpPr>
        <p:spPr>
          <a:xfrm>
            <a:off x="7882037" y="4681637"/>
            <a:ext cx="420807" cy="420807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935735" y="4786838"/>
            <a:ext cx="313409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7914024" y="4856973"/>
            <a:ext cx="35683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914024" y="4927107"/>
            <a:ext cx="35683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7935735" y="4997242"/>
            <a:ext cx="313409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822692" y="4622292"/>
            <a:ext cx="539496" cy="53949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9" name="bld5_700"/>
          <p:cNvSpPr txBox="1"/>
          <p:nvPr/>
        </p:nvSpPr>
        <p:spPr>
          <a:xfrm>
            <a:off x="8499348" y="47183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vessel</a:t>
            </a:r>
            <a:endParaRPr lang="en-US" sz="1350" dirty="0"/>
          </a:p>
        </p:txBody>
      </p:sp>
      <p:sp>
        <p:nvSpPr>
          <p:cNvPr id="60" name="bld6_701"/>
          <p:cNvSpPr/>
          <p:nvPr/>
        </p:nvSpPr>
        <p:spPr>
          <a:xfrm>
            <a:off x="4627778" y="4114800"/>
            <a:ext cx="3232678" cy="14630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61" name="Shape 59"/>
          <p:cNvSpPr/>
          <p:nvPr/>
        </p:nvSpPr>
        <p:spPr>
          <a:xfrm>
            <a:off x="7822692" y="5308092"/>
            <a:ext cx="539496" cy="53949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2" name="Shape 60"/>
          <p:cNvSpPr/>
          <p:nvPr/>
        </p:nvSpPr>
        <p:spPr>
          <a:xfrm>
            <a:off x="7882037" y="5367437"/>
            <a:ext cx="420807" cy="420807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935735" y="5472638"/>
            <a:ext cx="313409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7914024" y="5542773"/>
            <a:ext cx="35683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7914024" y="5612907"/>
            <a:ext cx="35683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935735" y="5683042"/>
            <a:ext cx="313409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7822692" y="5308092"/>
            <a:ext cx="539496" cy="53949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8" name="bld6_703"/>
          <p:cNvSpPr txBox="1"/>
          <p:nvPr/>
        </p:nvSpPr>
        <p:spPr>
          <a:xfrm>
            <a:off x="8499348" y="54041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or laptop</a:t>
            </a:r>
            <a:endParaRPr lang="en-US" sz="1350" dirty="0"/>
          </a:p>
        </p:txBody>
      </p:sp>
      <p:sp>
        <p:nvSpPr>
          <p:cNvPr id="69" name="bld7_704"/>
          <p:cNvSpPr/>
          <p:nvPr/>
        </p:nvSpPr>
        <p:spPr>
          <a:xfrm>
            <a:off x="4627778" y="4114800"/>
            <a:ext cx="3232678" cy="2148840"/>
          </a:xfrm>
          <a:prstGeom prst="line">
            <a:avLst/>
          </a:prstGeom>
          <a:noFill/>
          <a:ln w="19050">
            <a:solidFill>
              <a:srgbClr val="4090AF">
                <a:alpha val="75000"/>
              </a:srgbClr>
            </a:solidFill>
            <a:prstDash val="sysDot"/>
          </a:ln>
        </p:spPr>
      </p:sp>
      <p:sp>
        <p:nvSpPr>
          <p:cNvPr id="70" name="Shape 68"/>
          <p:cNvSpPr/>
          <p:nvPr/>
        </p:nvSpPr>
        <p:spPr>
          <a:xfrm>
            <a:off x="7822692" y="5993892"/>
            <a:ext cx="539496" cy="539496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1" name="Shape 69"/>
          <p:cNvSpPr/>
          <p:nvPr/>
        </p:nvSpPr>
        <p:spPr>
          <a:xfrm>
            <a:off x="8073924" y="6116358"/>
            <a:ext cx="37031" cy="82478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008279" y="6175271"/>
            <a:ext cx="168323" cy="235652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35210" y="6269531"/>
            <a:ext cx="114459" cy="135500"/>
          </a:xfrm>
          <a:prstGeom prst="triangle">
            <a:avLst/>
          </a:prstGeom>
          <a:solidFill>
            <a:srgbClr val="4090AF">
              <a:alpha val="90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7822692" y="5993892"/>
            <a:ext cx="539496" cy="539496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75" name="bld7_706"/>
          <p:cNvSpPr txBox="1"/>
          <p:nvPr/>
        </p:nvSpPr>
        <p:spPr>
          <a:xfrm>
            <a:off x="8499348" y="60899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waste area</a:t>
            </a:r>
            <a:endParaRPr lang="en-US" sz="1350" dirty="0"/>
          </a:p>
        </p:txBody>
      </p:sp>
      <p:sp>
        <p:nvSpPr>
          <p:cNvPr id="77" name="trans_push_l_4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8" name="Text 7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79" name="Text 7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5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9" grpId="0"/>
      <p:bldP spid="30" grpId="0"/>
      <p:bldP spid="36" grpId="0"/>
      <p:bldP spid="37" grpId="0"/>
      <p:bldP spid="44" grpId="0"/>
      <p:bldP spid="45" grpId="0"/>
      <p:bldP spid="50" grpId="0"/>
      <p:bldP spid="51" grpId="0"/>
      <p:bldP spid="59" grpId="0"/>
      <p:bldP spid="60" grpId="0"/>
      <p:bldP spid="68" grpId="0"/>
      <p:bldP spid="69" grpId="0"/>
      <p:bldP spid="7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precise scale and a stack of scent strips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teach you more than any expensive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ever will.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02</a:t>
            </a:r>
            <a:endParaRPr lang="en-US" sz="1100" dirty="0"/>
          </a:p>
        </p:txBody>
      </p:sp>
      <p:sp>
        <p:nvSpPr>
          <p:cNvPr id="10" name="trans_fade_4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33890" y="2086061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4320000">
            <a:off x="10245887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8640000">
            <a:off x="1001212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12960000">
            <a:off x="925565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7280000">
            <a:off x="9021893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647213" y="3109253"/>
            <a:ext cx="639495" cy="63949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03.1 · RAW MATERIALS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&amp; How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Behave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shop, you need a framework — how perfumers actually think about a raw material.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vocabulary: volatility, diffusion, tenacity, role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natural material families, in real depth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named materials — not just categories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5" name="trans_fade_5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olfactory groups, revisited</a:t>
            </a:r>
            <a:endParaRPr lang="en-US" sz="3200" dirty="0"/>
          </a:p>
        </p:txBody>
      </p:sp>
      <p:sp>
        <p:nvSpPr>
          <p:cNvPr id="7" name="bld1_707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33773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1967723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52022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709"/>
          <p:cNvSpPr txBox="1"/>
          <p:nvPr/>
        </p:nvSpPr>
        <p:spPr>
          <a:xfrm>
            <a:off x="731520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710"/>
          <p:cNvSpPr txBox="1"/>
          <p:nvPr/>
        </p:nvSpPr>
        <p:spPr>
          <a:xfrm>
            <a:off x="731520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volatile top notes</a:t>
            </a:r>
            <a:endParaRPr lang="en-US" sz="1080" dirty="0"/>
          </a:p>
        </p:txBody>
      </p:sp>
      <p:sp>
        <p:nvSpPr>
          <p:cNvPr id="25" name="bld2_711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6417" y="193183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27811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5262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47571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505023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18842" y="2118072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713"/>
          <p:cNvSpPr txBox="1"/>
          <p:nvPr/>
        </p:nvSpPr>
        <p:spPr>
          <a:xfrm>
            <a:off x="3569132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714"/>
          <p:cNvSpPr txBox="1"/>
          <p:nvPr/>
        </p:nvSpPr>
        <p:spPr>
          <a:xfrm>
            <a:off x="3569132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most formulas</a:t>
            </a:r>
            <a:endParaRPr lang="en-US" sz="1080" dirty="0"/>
          </a:p>
        </p:txBody>
      </p:sp>
      <p:sp>
        <p:nvSpPr>
          <p:cNvPr id="36" name="bld3_715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8" name="Shape 36"/>
          <p:cNvSpPr/>
          <p:nvPr/>
        </p:nvSpPr>
        <p:spPr>
          <a:xfrm rot="15300000">
            <a:off x="7350455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3050000">
            <a:off x="7395926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0800000">
            <a:off x="7473429" y="21762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550000">
            <a:off x="7550931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300000">
            <a:off x="7596403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4" name="bld3_717"/>
          <p:cNvSpPr txBox="1"/>
          <p:nvPr/>
        </p:nvSpPr>
        <p:spPr>
          <a:xfrm>
            <a:off x="6406744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45" name="bld3_718"/>
          <p:cNvSpPr txBox="1"/>
          <p:nvPr/>
        </p:nvSpPr>
        <p:spPr>
          <a:xfrm>
            <a:off x="6406744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leafy, unripe</a:t>
            </a:r>
            <a:endParaRPr lang="en-US" sz="1080" dirty="0"/>
          </a:p>
        </p:txBody>
      </p:sp>
      <p:sp>
        <p:nvSpPr>
          <p:cNvPr id="46" name="bld4_719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8" name="Shape 46"/>
          <p:cNvSpPr/>
          <p:nvPr/>
        </p:nvSpPr>
        <p:spPr>
          <a:xfrm>
            <a:off x="10153416" y="1996823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46779" y="1987123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2000000">
            <a:off x="10370553" y="1967723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52" name="bld4_721"/>
          <p:cNvSpPr txBox="1"/>
          <p:nvPr/>
        </p:nvSpPr>
        <p:spPr>
          <a:xfrm>
            <a:off x="9244355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53" name="bld4_722"/>
          <p:cNvSpPr txBox="1"/>
          <p:nvPr/>
        </p:nvSpPr>
        <p:spPr>
          <a:xfrm>
            <a:off x="9244355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sweet, often synthetic-assisted</a:t>
            </a:r>
            <a:endParaRPr lang="en-US" sz="1080" dirty="0"/>
          </a:p>
        </p:txBody>
      </p:sp>
      <p:sp>
        <p:nvSpPr>
          <p:cNvPr id="54" name="bld5_723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6" name="Shape 54"/>
          <p:cNvSpPr/>
          <p:nvPr/>
        </p:nvSpPr>
        <p:spPr>
          <a:xfrm>
            <a:off x="1596931" y="3573597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677764" y="3654430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8" name="Shape 56"/>
          <p:cNvSpPr/>
          <p:nvPr/>
        </p:nvSpPr>
        <p:spPr>
          <a:xfrm>
            <a:off x="1758597" y="3735263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810330" y="3786996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0" name="Shape 58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5_725"/>
          <p:cNvSpPr txBox="1"/>
          <p:nvPr/>
        </p:nvSpPr>
        <p:spPr>
          <a:xfrm>
            <a:off x="731520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62" name="bld5_726"/>
          <p:cNvSpPr txBox="1"/>
          <p:nvPr/>
        </p:nvSpPr>
        <p:spPr>
          <a:xfrm>
            <a:off x="731520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warm structural base</a:t>
            </a:r>
            <a:endParaRPr lang="en-US" sz="1080" dirty="0"/>
          </a:p>
        </p:txBody>
      </p:sp>
      <p:sp>
        <p:nvSpPr>
          <p:cNvPr id="63" name="bld6_727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5" name="Shape 63"/>
          <p:cNvSpPr/>
          <p:nvPr/>
        </p:nvSpPr>
        <p:spPr>
          <a:xfrm rot="9000000">
            <a:off x="4555792" y="3704547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6000000">
            <a:off x="4492743" y="3675447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1400000">
            <a:off x="4691592" y="3646347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6_729"/>
          <p:cNvSpPr txBox="1"/>
          <p:nvPr/>
        </p:nvSpPr>
        <p:spPr>
          <a:xfrm>
            <a:off x="3569132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70" name="bld6_730"/>
          <p:cNvSpPr txBox="1"/>
          <p:nvPr/>
        </p:nvSpPr>
        <p:spPr>
          <a:xfrm>
            <a:off x="3569132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warm, enveloping</a:t>
            </a:r>
            <a:endParaRPr lang="en-US" sz="1080" dirty="0"/>
          </a:p>
        </p:txBody>
      </p:sp>
      <p:sp>
        <p:nvSpPr>
          <p:cNvPr id="71" name="bld7_731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3" name="Shape 71"/>
          <p:cNvSpPr/>
          <p:nvPr/>
        </p:nvSpPr>
        <p:spPr>
          <a:xfrm>
            <a:off x="7291555" y="3665747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5" name="bld7_733"/>
          <p:cNvSpPr txBox="1"/>
          <p:nvPr/>
        </p:nvSpPr>
        <p:spPr>
          <a:xfrm>
            <a:off x="6406744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76" name="bld7_734"/>
          <p:cNvSpPr txBox="1"/>
          <p:nvPr/>
        </p:nvSpPr>
        <p:spPr>
          <a:xfrm>
            <a:off x="6406744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Skin-like, radiant, soft</a:t>
            </a:r>
            <a:endParaRPr lang="en-US" sz="1080" dirty="0"/>
          </a:p>
        </p:txBody>
      </p:sp>
      <p:sp>
        <p:nvSpPr>
          <p:cNvPr id="77" name="bld8_735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79" name="Shape 77"/>
          <p:cNvSpPr/>
          <p:nvPr/>
        </p:nvSpPr>
        <p:spPr>
          <a:xfrm rot="840000">
            <a:off x="10294066" y="3585722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40000">
            <a:off x="10346779" y="3641497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297703" y="365483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315163" y="371497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3" name="Shape 81"/>
          <p:cNvSpPr/>
          <p:nvPr/>
        </p:nvSpPr>
        <p:spPr>
          <a:xfrm>
            <a:off x="10332623" y="377511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4" name="Shape 82"/>
          <p:cNvSpPr/>
          <p:nvPr/>
        </p:nvSpPr>
        <p:spPr>
          <a:xfrm>
            <a:off x="10350083" y="383525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5" name="Shape 83"/>
          <p:cNvSpPr/>
          <p:nvPr/>
        </p:nvSpPr>
        <p:spPr>
          <a:xfrm>
            <a:off x="10367543" y="389539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6" name="Shape 84"/>
          <p:cNvSpPr/>
          <p:nvPr/>
        </p:nvSpPr>
        <p:spPr>
          <a:xfrm>
            <a:off x="10385003" y="395553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7" name="Shape 85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88" name="bld8_737"/>
          <p:cNvSpPr txBox="1"/>
          <p:nvPr/>
        </p:nvSpPr>
        <p:spPr>
          <a:xfrm>
            <a:off x="9244355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89" name="bld8_738"/>
          <p:cNvSpPr txBox="1"/>
          <p:nvPr/>
        </p:nvSpPr>
        <p:spPr>
          <a:xfrm>
            <a:off x="9244355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Edible, sweet, comforting</a:t>
            </a:r>
            <a:endParaRPr lang="en-US" sz="1080" dirty="0"/>
          </a:p>
        </p:txBody>
      </p:sp>
      <p:sp>
        <p:nvSpPr>
          <p:cNvPr id="90" name="bld9_739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2" name="Shape 90"/>
          <p:cNvSpPr/>
          <p:nvPr/>
        </p:nvSpPr>
        <p:spPr>
          <a:xfrm rot="9000000">
            <a:off x="1718180" y="534437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6000000">
            <a:off x="1655131" y="5315271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11400000">
            <a:off x="1853980" y="5286171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96" name="bld9_741"/>
          <p:cNvSpPr txBox="1"/>
          <p:nvPr/>
        </p:nvSpPr>
        <p:spPr>
          <a:xfrm>
            <a:off x="731520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97" name="bld9_742"/>
          <p:cNvSpPr txBox="1"/>
          <p:nvPr/>
        </p:nvSpPr>
        <p:spPr>
          <a:xfrm>
            <a:off x="731520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sharp, piquant</a:t>
            </a:r>
            <a:endParaRPr lang="en-US" sz="1080" dirty="0"/>
          </a:p>
        </p:txBody>
      </p:sp>
      <p:sp>
        <p:nvSpPr>
          <p:cNvPr id="98" name="bld10_743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00" name="Shape 98"/>
          <p:cNvSpPr/>
          <p:nvPr/>
        </p:nvSpPr>
        <p:spPr>
          <a:xfrm>
            <a:off x="4640667" y="5295289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4692520" y="5316767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4713999" y="536862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4692520" y="5420474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4640667" y="5441952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4588814" y="5420474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4567335" y="536862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4588814" y="5316767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4638242" y="5417120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10" name="bld10_745"/>
          <p:cNvSpPr txBox="1"/>
          <p:nvPr/>
        </p:nvSpPr>
        <p:spPr>
          <a:xfrm>
            <a:off x="3569132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111" name="bld10_746"/>
          <p:cNvSpPr txBox="1"/>
          <p:nvPr/>
        </p:nvSpPr>
        <p:spPr>
          <a:xfrm>
            <a:off x="3569132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medicinal, fresh</a:t>
            </a:r>
            <a:endParaRPr lang="en-US" sz="1080" dirty="0"/>
          </a:p>
        </p:txBody>
      </p:sp>
      <p:sp>
        <p:nvSpPr>
          <p:cNvPr id="112" name="bld11_747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272155" y="5213421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7334045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7309021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7309021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>
            <a:off x="7334045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9" name="Shape 117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20" name="bld11_749"/>
          <p:cNvSpPr txBox="1"/>
          <p:nvPr/>
        </p:nvSpPr>
        <p:spPr>
          <a:xfrm>
            <a:off x="6406744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21" name="bld11_750"/>
          <p:cNvSpPr txBox="1"/>
          <p:nvPr/>
        </p:nvSpPr>
        <p:spPr>
          <a:xfrm>
            <a:off x="6406744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animalic, dry</a:t>
            </a:r>
            <a:endParaRPr lang="en-US" sz="1080" dirty="0"/>
          </a:p>
        </p:txBody>
      </p:sp>
      <p:sp>
        <p:nvSpPr>
          <p:cNvPr id="122" name="bld12_751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3" name="Shape 121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0109766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10163116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63116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10163116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9" name="bld12_753"/>
          <p:cNvSpPr txBox="1"/>
          <p:nvPr/>
        </p:nvSpPr>
        <p:spPr>
          <a:xfrm>
            <a:off x="9244355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/ fresh</a:t>
            </a:r>
            <a:endParaRPr lang="en-US" sz="1450" dirty="0"/>
          </a:p>
        </p:txBody>
      </p:sp>
      <p:sp>
        <p:nvSpPr>
          <p:cNvPr id="130" name="bld12_754"/>
          <p:cNvSpPr txBox="1"/>
          <p:nvPr/>
        </p:nvSpPr>
        <p:spPr>
          <a:xfrm>
            <a:off x="9244355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clean, airy</a:t>
            </a:r>
            <a:endParaRPr lang="en-US" sz="1080" dirty="0"/>
          </a:p>
        </p:txBody>
      </p:sp>
      <p:sp>
        <p:nvSpPr>
          <p:cNvPr id="132" name="trans_fade_5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3" name="Text 1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134" name="Text 1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4" grpId="0"/>
      <p:bldP spid="45" grpId="0"/>
      <p:bldP spid="46" grpId="0"/>
      <p:bldP spid="52" grpId="0"/>
      <p:bldP spid="53" grpId="0"/>
      <p:bldP spid="54" grpId="0"/>
      <p:bldP spid="61" grpId="0"/>
      <p:bldP spid="62" grpId="0"/>
      <p:bldP spid="63" grpId="0"/>
      <p:bldP spid="69" grpId="0"/>
      <p:bldP spid="70" grpId="0"/>
      <p:bldP spid="71" grpId="0"/>
      <p:bldP spid="75" grpId="0"/>
      <p:bldP spid="76" grpId="0"/>
      <p:bldP spid="77" grpId="0"/>
      <p:bldP spid="88" grpId="0"/>
      <p:bldP spid="89" grpId="0"/>
      <p:bldP spid="90" grpId="0"/>
      <p:bldP spid="96" grpId="0"/>
      <p:bldP spid="97" grpId="0"/>
      <p:bldP spid="98" grpId="0"/>
      <p:bldP spid="110" grpId="0"/>
      <p:bldP spid="111" grpId="0"/>
      <p:bldP spid="112" grpId="0"/>
      <p:bldP spid="120" grpId="0"/>
      <p:bldP spid="121" grpId="0"/>
      <p:bldP spid="122" grpId="0"/>
      <p:bldP spid="129" grpId="0"/>
      <p:bldP spid="130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 — how long a material lasts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755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9" name="bld1_756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0" name="bld1_757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</a:t>
            </a:r>
            <a:endParaRPr lang="en-US" sz="1200" dirty="0"/>
          </a:p>
        </p:txBody>
      </p:sp>
      <p:sp>
        <p:nvSpPr>
          <p:cNvPr id="11" name="bld1_758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greens — gone in under 2 hours</a:t>
            </a:r>
            <a:endParaRPr lang="en-US" sz="1050" dirty="0"/>
          </a:p>
        </p:txBody>
      </p:sp>
      <p:sp>
        <p:nvSpPr>
          <p:cNvPr id="12" name="bld2_759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3" name="bld2_760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4" name="bld2_761"/>
          <p:cNvSpPr txBox="1"/>
          <p:nvPr/>
        </p:nvSpPr>
        <p:spPr>
          <a:xfrm>
            <a:off x="5318608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Medium-lived</a:t>
            </a:r>
            <a:endParaRPr lang="en-US" sz="1200" dirty="0"/>
          </a:p>
        </p:txBody>
      </p:sp>
      <p:sp>
        <p:nvSpPr>
          <p:cNvPr id="15" name="bld2_762"/>
          <p:cNvSpPr txBox="1"/>
          <p:nvPr/>
        </p:nvSpPr>
        <p:spPr>
          <a:xfrm>
            <a:off x="5318608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florals, spices — present for several hours</a:t>
            </a:r>
            <a:endParaRPr lang="en-US" sz="1050" dirty="0"/>
          </a:p>
        </p:txBody>
      </p:sp>
      <p:sp>
        <p:nvSpPr>
          <p:cNvPr id="16" name="bld3_763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764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765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Long-lasting</a:t>
            </a:r>
            <a:endParaRPr lang="en-US" sz="1200" dirty="0"/>
          </a:p>
        </p:txBody>
      </p:sp>
      <p:sp>
        <p:nvSpPr>
          <p:cNvPr id="19" name="bld3_766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resins, musks — detectable a day or more later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is a spectrum, not three fixed boxes — most materials sit between these markers.</a:t>
            </a:r>
            <a:endParaRPr lang="en-US" sz="1250" dirty="0"/>
          </a:p>
        </p:txBody>
      </p:sp>
      <p:sp>
        <p:nvSpPr>
          <p:cNvPr id="22" name="trans_push_l_5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BEHAVIOUR, PRECISELY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is not the same as tenacity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17576" y="4449674"/>
            <a:ext cx="1415778" cy="1415778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05156" y="473725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7885" y="4869984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0614" y="5002713"/>
            <a:ext cx="309701" cy="309701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7885" y="4869984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05156" y="473725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767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1_768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769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up close</a:t>
            </a:r>
            <a:endParaRPr lang="en-US" sz="1450" dirty="0"/>
          </a:p>
        </p:txBody>
      </p:sp>
      <p:sp>
        <p:nvSpPr>
          <p:cNvPr id="17" name="bld1_770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only right at the skin or strip — low projection, an "intimate" material.</a:t>
            </a:r>
            <a:endParaRPr lang="en-US" sz="1080" dirty="0"/>
          </a:p>
        </p:txBody>
      </p:sp>
      <p:sp>
        <p:nvSpPr>
          <p:cNvPr id="18" name="bld2_771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772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773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Projection</a:t>
            </a:r>
            <a:endParaRPr lang="en-US" sz="1450" dirty="0"/>
          </a:p>
        </p:txBody>
      </p:sp>
      <p:sp>
        <p:nvSpPr>
          <p:cNvPr id="21" name="bld2_774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 material's smell carries into the surrounding space beyond the skin.</a:t>
            </a:r>
            <a:endParaRPr lang="en-US" sz="1080" dirty="0"/>
          </a:p>
        </p:txBody>
      </p:sp>
      <p:sp>
        <p:nvSpPr>
          <p:cNvPr id="22" name="bld3_775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3_776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777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5" name="bld3_778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easily and quickly a smell spreads and fills a room from a small amount.</a:t>
            </a:r>
            <a:endParaRPr lang="en-US" sz="1080" dirty="0"/>
          </a:p>
        </p:txBody>
      </p:sp>
      <p:sp>
        <p:nvSpPr>
          <p:cNvPr id="26" name="bld4_779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4_780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4_781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9" name="bld4_782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material remains detectable at all, regardless of how strong it is.</a:t>
            </a:r>
            <a:endParaRPr lang="en-US" sz="1080" dirty="0"/>
          </a:p>
        </p:txBody>
      </p:sp>
      <p:sp>
        <p:nvSpPr>
          <p:cNvPr id="31" name="trans_fade_5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THE PUZZLE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weight and volatility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molecule diagram tells you a starting hypothesis — your nose confirms it.</a:t>
            </a:r>
            <a:endParaRPr lang="en-US" sz="1050" dirty="0"/>
          </a:p>
        </p:txBody>
      </p:sp>
      <p:sp>
        <p:nvSpPr>
          <p:cNvPr id="24" name="bld1_78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78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Lighter molecules tend to evaporate faster</a:t>
            </a:r>
            <a:endParaRPr lang="en-US" sz="1650" dirty="0"/>
          </a:p>
        </p:txBody>
      </p:sp>
      <p:sp>
        <p:nvSpPr>
          <p:cNvPr id="26" name="bld1_78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light molecules generally move into the air more readily — this is part of why citrus notes read first.</a:t>
            </a:r>
            <a:endParaRPr lang="en-US" sz="1250" dirty="0"/>
          </a:p>
        </p:txBody>
      </p:sp>
      <p:sp>
        <p:nvSpPr>
          <p:cNvPr id="27" name="bld2_78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8" name="bld2_78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it's not the only factor</a:t>
            </a:r>
            <a:endParaRPr lang="en-US" sz="1650" dirty="0"/>
          </a:p>
        </p:txBody>
      </p:sp>
      <p:sp>
        <p:nvSpPr>
          <p:cNvPr id="29" name="bld2_78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Polarity, vapour pressure, and how a material binds to skin or fabric all matter just as much.</a:t>
            </a:r>
            <a:endParaRPr lang="en-US" sz="1250" dirty="0"/>
          </a:p>
        </p:txBody>
      </p:sp>
      <p:sp>
        <p:nvSpPr>
          <p:cNvPr id="30" name="bld3_78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79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as a rough guide, not a rule</a:t>
            </a:r>
            <a:endParaRPr lang="en-US" sz="1650" dirty="0"/>
          </a:p>
        </p:txBody>
      </p:sp>
      <p:sp>
        <p:nvSpPr>
          <p:cNvPr id="32" name="bld3_79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heavier molecules are surprisingly diffusive; some light ones are surprisingly tenacious. Always confirm by smelling.</a:t>
            </a:r>
            <a:endParaRPr lang="en-US" sz="1250" dirty="0"/>
          </a:p>
        </p:txBody>
      </p:sp>
      <p:sp>
        <p:nvSpPr>
          <p:cNvPr id="34" name="trans_fade_5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EXTRACTION METHODS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all naturals are made the same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4717807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4914653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23315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23315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4914653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170781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792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6" name="Shape 14"/>
          <p:cNvSpPr/>
          <p:nvPr/>
        </p:nvSpPr>
        <p:spPr>
          <a:xfrm rot="8100000">
            <a:off x="1413022" y="2611526"/>
            <a:ext cx="285293" cy="2852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8" name="bld1_794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oils</a:t>
            </a:r>
            <a:endParaRPr lang="en-US" sz="1450" dirty="0"/>
          </a:p>
        </p:txBody>
      </p:sp>
      <p:sp>
        <p:nvSpPr>
          <p:cNvPr id="19" name="bld1_795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Steam-distilled or cold-expressed — direct, classic extraction.</a:t>
            </a:r>
            <a:endParaRPr lang="en-US" sz="1080" dirty="0"/>
          </a:p>
        </p:txBody>
      </p:sp>
      <p:sp>
        <p:nvSpPr>
          <p:cNvPr id="20" name="bld2_796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754435" y="246659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4320000">
            <a:off x="3885487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640000">
            <a:off x="383543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2960000">
            <a:off x="367344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7280000">
            <a:off x="3623383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57288" y="268570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9" name="bld2_798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Absolutes</a:t>
            </a:r>
            <a:endParaRPr lang="en-US" sz="1450" dirty="0"/>
          </a:p>
        </p:txBody>
      </p:sp>
      <p:sp>
        <p:nvSpPr>
          <p:cNvPr id="30" name="bld2_799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Solvent-extracted — richer, truer to the living flower, more expensive.</a:t>
            </a:r>
            <a:endParaRPr lang="en-US" sz="1080" dirty="0"/>
          </a:p>
        </p:txBody>
      </p:sp>
      <p:sp>
        <p:nvSpPr>
          <p:cNvPr id="31" name="bld3_800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7331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87331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7331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8" name="bld3_802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CO2 extracts</a:t>
            </a:r>
            <a:endParaRPr lang="en-US" sz="1450" dirty="0"/>
          </a:p>
        </p:txBody>
      </p:sp>
      <p:sp>
        <p:nvSpPr>
          <p:cNvPr id="39" name="bld3_803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under pressure — very clean, often closest to the raw material.</a:t>
            </a:r>
            <a:endParaRPr lang="en-US" sz="1080" dirty="0"/>
          </a:p>
        </p:txBody>
      </p:sp>
      <p:sp>
        <p:nvSpPr>
          <p:cNvPr id="40" name="bld4_804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2" name="Shape 40"/>
          <p:cNvSpPr/>
          <p:nvPr/>
        </p:nvSpPr>
        <p:spPr>
          <a:xfrm rot="9000000">
            <a:off x="8223291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6000000">
            <a:off x="8149115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1400000">
            <a:off x="8383055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6" name="bld4_806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Resinoids</a:t>
            </a:r>
            <a:endParaRPr lang="en-US" sz="1450" dirty="0"/>
          </a:p>
        </p:txBody>
      </p:sp>
      <p:sp>
        <p:nvSpPr>
          <p:cNvPr id="47" name="bld4_807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gums and resins — deep, warm, amber-adjacent.</a:t>
            </a:r>
            <a:endParaRPr lang="en-US" sz="1080" dirty="0"/>
          </a:p>
        </p:txBody>
      </p:sp>
      <p:sp>
        <p:nvSpPr>
          <p:cNvPr id="48" name="bld5_808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0" name="Shape 48"/>
          <p:cNvSpPr/>
          <p:nvPr/>
        </p:nvSpPr>
        <p:spPr>
          <a:xfrm>
            <a:off x="10606630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51" name="Shape 49"/>
          <p:cNvSpPr/>
          <p:nvPr/>
        </p:nvSpPr>
        <p:spPr>
          <a:xfrm>
            <a:off x="10610464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544733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81309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5" name="bld5_810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Tinctures</a:t>
            </a:r>
            <a:endParaRPr lang="en-US" sz="1450" dirty="0"/>
          </a:p>
        </p:txBody>
      </p:sp>
      <p:sp>
        <p:nvSpPr>
          <p:cNvPr id="56" name="bld5_811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steeped directly in alcohol — simple, traditional, variable.</a:t>
            </a:r>
            <a:endParaRPr lang="en-US" sz="1080" dirty="0"/>
          </a:p>
        </p:txBody>
      </p:sp>
      <p:sp>
        <p:nvSpPr>
          <p:cNvPr id="58" name="trans_fade_5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9" name="Text 5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60" name="Text 5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8" grpId="0"/>
      <p:bldP spid="19" grpId="0"/>
      <p:bldP spid="20" grpId="0"/>
      <p:bldP spid="29" grpId="0"/>
      <p:bldP spid="30" grpId="0"/>
      <p:bldP spid="31" grpId="0"/>
      <p:bldP spid="38" grpId="0"/>
      <p:bldP spid="39" grpId="0"/>
      <p:bldP spid="40" grpId="0"/>
      <p:bldP spid="46" grpId="0"/>
      <p:bldP spid="47" grpId="0"/>
      <p:bldP spid="48" grpId="0"/>
      <p:bldP spid="55" grpId="0"/>
      <p:bldP spid="5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1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Citrus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F0C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78434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86219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4" name="bld1_813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6" name="Shape 24"/>
          <p:cNvSpPr/>
          <p:nvPr/>
        </p:nvSpPr>
        <p:spPr>
          <a:xfrm>
            <a:off x="2865793" y="3668974"/>
            <a:ext cx="1232942" cy="123294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2099" y="3755280"/>
            <a:ext cx="1060331" cy="106033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16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48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296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512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944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420617" y="4223798"/>
            <a:ext cx="123294" cy="12329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9" name="Shape 3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0" name="bld2_815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>
            <a:off x="4688095" y="3479523"/>
            <a:ext cx="1073117" cy="1073117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763213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4" name="Shape 42"/>
          <p:cNvSpPr/>
          <p:nvPr/>
        </p:nvSpPr>
        <p:spPr>
          <a:xfrm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216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432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648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864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296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512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728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944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170997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5" name="Shape 5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6" name="bld3_817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Lime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30484" y="3748887"/>
            <a:ext cx="1073117" cy="1073117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505602" y="3824005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0" name="Shape 58"/>
          <p:cNvSpPr/>
          <p:nvPr/>
        </p:nvSpPr>
        <p:spPr>
          <a:xfrm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16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432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48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864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080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296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512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1728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944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913386" y="4231789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72" name="bld4_819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 Orange</a:t>
            </a:r>
            <a:endParaRPr lang="en-US" sz="1350" dirty="0"/>
          </a:p>
        </p:txBody>
      </p:sp>
      <p:sp>
        <p:nvSpPr>
          <p:cNvPr id="73" name="Shape 7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74" name="Shape 72"/>
          <p:cNvSpPr/>
          <p:nvPr/>
        </p:nvSpPr>
        <p:spPr>
          <a:xfrm>
            <a:off x="8092960" y="3399610"/>
            <a:ext cx="1232942" cy="123294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179266" y="3485916"/>
            <a:ext cx="1060331" cy="106033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216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432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648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64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080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296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512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1728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944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8647784" y="3954434"/>
            <a:ext cx="123294" cy="12329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7" name="Shape 8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88" name="bld5_821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</a:t>
            </a:r>
            <a:endParaRPr lang="en-US" sz="1350" dirty="0"/>
          </a:p>
        </p:txBody>
      </p:sp>
      <p:sp>
        <p:nvSpPr>
          <p:cNvPr id="89" name="Shape 8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0" name="Shape 88"/>
          <p:cNvSpPr/>
          <p:nvPr/>
        </p:nvSpPr>
        <p:spPr>
          <a:xfrm>
            <a:off x="9915262" y="3748887"/>
            <a:ext cx="1073117" cy="1073117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9990380" y="3824005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216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432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648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864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 rot="1080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 rot="1296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 rot="1512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 rot="1728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1944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398165" y="4231789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04" name="bld6_823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350" dirty="0"/>
          </a:p>
        </p:txBody>
      </p:sp>
      <p:sp>
        <p:nvSpPr>
          <p:cNvPr id="106" name="trans_fade_5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7" name="Text 10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108" name="Text 10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40" grpId="0"/>
      <p:bldP spid="56" grpId="0"/>
      <p:bldP spid="72" grpId="0"/>
      <p:bldP spid="88" grpId="0"/>
      <p:bldP spid="104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CITRUS,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citrus oils — not one smell</a:t>
            </a:r>
            <a:endParaRPr lang="en-US" sz="3200" dirty="0"/>
          </a:p>
        </p:txBody>
      </p:sp>
      <p:sp>
        <p:nvSpPr>
          <p:cNvPr id="7" name="bld1_824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826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450" dirty="0"/>
          </a:p>
        </p:txBody>
      </p:sp>
      <p:sp>
        <p:nvSpPr>
          <p:cNvPr id="24" name="bld1_827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elegant, floral-citrus, slightly bitter. Very fast top note, gone in under 2 hours.</a:t>
            </a:r>
            <a:endParaRPr lang="en-US" sz="1080" dirty="0"/>
          </a:p>
        </p:txBody>
      </p:sp>
      <p:sp>
        <p:nvSpPr>
          <p:cNvPr id="25" name="bld2_828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34543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468493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9" name="Shape 27"/>
          <p:cNvSpPr/>
          <p:nvPr/>
        </p:nvSpPr>
        <p:spPr>
          <a:xfrm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216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432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648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864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080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512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728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944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652792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0" name="Shape 3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1" name="bld2_830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450" dirty="0"/>
          </a:p>
        </p:txBody>
      </p:sp>
      <p:sp>
        <p:nvSpPr>
          <p:cNvPr id="42" name="bld2_831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sharp, sparkling and immediately recognisable. A fleeting, classic freshness lift.</a:t>
            </a:r>
            <a:endParaRPr lang="en-US" sz="1080" dirty="0"/>
          </a:p>
        </p:txBody>
      </p:sp>
      <p:sp>
        <p:nvSpPr>
          <p:cNvPr id="43" name="bld3_832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5" name="Shape 43"/>
          <p:cNvSpPr/>
          <p:nvPr/>
        </p:nvSpPr>
        <p:spPr>
          <a:xfrm>
            <a:off x="7272155" y="1978030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06104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216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432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48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64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512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944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490404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8" name="Shape 5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59" name="bld3_834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Lime</a:t>
            </a:r>
            <a:endParaRPr lang="en-US" sz="1450" dirty="0"/>
          </a:p>
        </p:txBody>
      </p:sp>
      <p:sp>
        <p:nvSpPr>
          <p:cNvPr id="60" name="bld3_835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Sharper, greener and more tart than lemon. Zesty and short-lived.</a:t>
            </a:r>
            <a:endParaRPr lang="en-US" sz="1080" dirty="0"/>
          </a:p>
        </p:txBody>
      </p:sp>
      <p:sp>
        <p:nvSpPr>
          <p:cNvPr id="61" name="bld4_836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109766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143716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216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432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48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64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296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512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728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1944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10328015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77" name="bld4_838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 Orange</a:t>
            </a:r>
            <a:endParaRPr lang="en-US" sz="1450" dirty="0"/>
          </a:p>
        </p:txBody>
      </p:sp>
      <p:sp>
        <p:nvSpPr>
          <p:cNvPr id="78" name="bld4_839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Softer, sweeter, rounder and more juicy than lemon or lime. A warm, candy-like top note.</a:t>
            </a:r>
            <a:endParaRPr lang="en-US" sz="1080" dirty="0"/>
          </a:p>
        </p:txBody>
      </p:sp>
      <p:sp>
        <p:nvSpPr>
          <p:cNvPr id="79" name="bld5_840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1" name="Shape 79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1630881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3" name="Shape 81"/>
          <p:cNvSpPr/>
          <p:nvPr/>
        </p:nvSpPr>
        <p:spPr>
          <a:xfrm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21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43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64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86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1080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129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 rot="151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 rot="172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 rot="194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1815180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94" name="Shape 9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95" name="bld5_842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</a:t>
            </a:r>
            <a:endParaRPr lang="en-US" sz="1450" dirty="0"/>
          </a:p>
        </p:txBody>
      </p:sp>
      <p:sp>
        <p:nvSpPr>
          <p:cNvPr id="96" name="bld5_843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sweet, gentle citrus — a smoother, less acidic alternative to orange.</a:t>
            </a:r>
            <a:endParaRPr lang="en-US" sz="1080" dirty="0"/>
          </a:p>
        </p:txBody>
      </p:sp>
      <p:sp>
        <p:nvSpPr>
          <p:cNvPr id="97" name="bld6_844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9" name="Shape 97"/>
          <p:cNvSpPr/>
          <p:nvPr/>
        </p:nvSpPr>
        <p:spPr>
          <a:xfrm>
            <a:off x="4434543" y="4337182"/>
            <a:ext cx="484998" cy="484998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4468493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1" name="Shape 99"/>
          <p:cNvSpPr/>
          <p:nvPr/>
        </p:nvSpPr>
        <p:spPr>
          <a:xfrm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216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432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648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864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080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296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 rot="1512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 rot="1728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 rot="1944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4652792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113" name="bld6_846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450" dirty="0"/>
          </a:p>
        </p:txBody>
      </p:sp>
      <p:sp>
        <p:nvSpPr>
          <p:cNvPr id="114" name="bld6_847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fresh, slightly sulphurous depending on quality — reads further into the heart than most citrus.</a:t>
            </a:r>
            <a:endParaRPr lang="en-US" sz="1080" dirty="0"/>
          </a:p>
        </p:txBody>
      </p:sp>
      <p:sp>
        <p:nvSpPr>
          <p:cNvPr id="115" name="bld7_848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6" name="Shape 11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7306104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216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432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 rot="648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 rot="864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 rot="1080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 rot="1296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1512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728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 rot="1944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0404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131" name="bld7_850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Bitter Orange</a:t>
            </a:r>
            <a:endParaRPr lang="en-US" sz="1450" dirty="0"/>
          </a:p>
        </p:txBody>
      </p:sp>
      <p:sp>
        <p:nvSpPr>
          <p:cNvPr id="132" name="bld7_851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Drier and more tart than sweet orange, with a slightly green, peel-like edge.</a:t>
            </a:r>
            <a:endParaRPr lang="en-US" sz="1080" dirty="0"/>
          </a:p>
        </p:txBody>
      </p:sp>
      <p:sp>
        <p:nvSpPr>
          <p:cNvPr id="133" name="bld8_852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4" name="Shape 13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0109766" y="4337182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10143716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 rot="216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 rot="432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 rot="648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 rot="864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 rot="1080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 rot="1296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 rot="1512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 rot="1728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 rot="1944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10328015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49" name="bld8_854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450" dirty="0"/>
          </a:p>
        </p:txBody>
      </p:sp>
      <p:sp>
        <p:nvSpPr>
          <p:cNvPr id="150" name="bld8_855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twiggy — distilled from leaves and twigs, not fruit. Longer-lived than the peel oils.</a:t>
            </a:r>
            <a:endParaRPr lang="en-US" sz="1080" dirty="0"/>
          </a:p>
        </p:txBody>
      </p:sp>
      <p:sp>
        <p:nvSpPr>
          <p:cNvPr id="152" name="trans_fade_5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3" name="Text 15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154" name="Text 15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41" grpId="0"/>
      <p:bldP spid="42" grpId="0"/>
      <p:bldP spid="43" grpId="0"/>
      <p:bldP spid="59" grpId="0"/>
      <p:bldP spid="60" grpId="0"/>
      <p:bldP spid="61" grpId="0"/>
      <p:bldP spid="77" grpId="0"/>
      <p:bldP spid="78" grpId="0"/>
      <p:bldP spid="79" grpId="0"/>
      <p:bldP spid="95" grpId="0"/>
      <p:bldP spid="96" grpId="0"/>
      <p:bldP spid="97" grpId="0"/>
      <p:bldP spid="113" grpId="0"/>
      <p:bldP spid="114" grpId="0"/>
      <p:bldP spid="115" grpId="0"/>
      <p:bldP spid="131" grpId="0"/>
      <p:bldP spid="132" grpId="0"/>
      <p:bldP spid="133" grpId="0"/>
      <p:bldP spid="149" grpId="0"/>
      <p:bldP spid="150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citrus oils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39923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3288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857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800" dirty="0"/>
          </a:p>
        </p:txBody>
      </p:sp>
      <p:sp>
        <p:nvSpPr>
          <p:cNvPr id="23" name="bld1_858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859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elegant, floral-citrus, slightly bitter</a:t>
            </a:r>
            <a:endParaRPr lang="en-US" sz="1100" dirty="0"/>
          </a:p>
        </p:txBody>
      </p:sp>
      <p:sp>
        <p:nvSpPr>
          <p:cNvPr id="25" name="bld1_860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861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fresh opening lift</a:t>
            </a:r>
            <a:endParaRPr lang="en-US" sz="1100" dirty="0"/>
          </a:p>
        </p:txBody>
      </p:sp>
      <p:sp>
        <p:nvSpPr>
          <p:cNvPr id="27" name="bld1_862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863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· fleeting · diffusive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0" name="Shape 28"/>
          <p:cNvSpPr/>
          <p:nvPr/>
        </p:nvSpPr>
        <p:spPr>
          <a:xfrm>
            <a:off x="4818431" y="1694383"/>
            <a:ext cx="1640434" cy="1640434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933261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2" name="Shape 30"/>
          <p:cNvSpPr/>
          <p:nvPr/>
        </p:nvSpPr>
        <p:spPr>
          <a:xfrm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16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432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48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64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080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512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728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944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556626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44" name="bld2_865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800" dirty="0"/>
          </a:p>
        </p:txBody>
      </p:sp>
      <p:sp>
        <p:nvSpPr>
          <p:cNvPr id="45" name="bld2_866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2_867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fresh, radiant</a:t>
            </a:r>
            <a:endParaRPr lang="en-US" sz="1100" dirty="0"/>
          </a:p>
        </p:txBody>
      </p:sp>
      <p:sp>
        <p:nvSpPr>
          <p:cNvPr id="47" name="bld2_868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2_869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sparkling brightness</a:t>
            </a:r>
            <a:endParaRPr lang="en-US" sz="1100" dirty="0"/>
          </a:p>
        </p:txBody>
      </p:sp>
      <p:sp>
        <p:nvSpPr>
          <p:cNvPr id="49" name="bld2_870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2_871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· short · diffusive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1769" y="1694383"/>
            <a:ext cx="1640434" cy="164043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26600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4" name="Shape 52"/>
          <p:cNvSpPr/>
          <p:nvPr/>
        </p:nvSpPr>
        <p:spPr>
          <a:xfrm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216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432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648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864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080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296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512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944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949964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6" name="bld3_873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800" dirty="0"/>
          </a:p>
        </p:txBody>
      </p:sp>
      <p:sp>
        <p:nvSpPr>
          <p:cNvPr id="67" name="bld3_874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8" name="bld3_875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woody-twiggy</a:t>
            </a:r>
            <a:endParaRPr lang="en-US" sz="1100" dirty="0"/>
          </a:p>
        </p:txBody>
      </p:sp>
      <p:sp>
        <p:nvSpPr>
          <p:cNvPr id="69" name="bld3_876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70" name="bld3_877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citrus into the heart</a:t>
            </a:r>
            <a:endParaRPr lang="en-US" sz="1100" dirty="0"/>
          </a:p>
        </p:txBody>
      </p:sp>
      <p:sp>
        <p:nvSpPr>
          <p:cNvPr id="71" name="bld3_878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2" name="bld3_879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 · intimate</a:t>
            </a:r>
            <a:endParaRPr lang="en-US" sz="1100" dirty="0"/>
          </a:p>
        </p:txBody>
      </p:sp>
      <p:sp>
        <p:nvSpPr>
          <p:cNvPr id="74" name="trans_fade_5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76" name="Text 7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6" grpId="0"/>
      <p:bldP spid="67" grpId="0"/>
      <p:bldP spid="68" grpId="0"/>
      <p:bldP spid="69" grpId="0"/>
      <p:bldP spid="70" grpId="0"/>
      <p:bldP spid="71" grpId="0"/>
      <p:bldP spid="7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2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Woods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71595" y="3747802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75488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881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6" name="Shape 14"/>
          <p:cNvSpPr/>
          <p:nvPr/>
        </p:nvSpPr>
        <p:spPr>
          <a:xfrm>
            <a:off x="2865793" y="3668974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071283" y="3874465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8" name="Shape 16"/>
          <p:cNvSpPr/>
          <p:nvPr/>
        </p:nvSpPr>
        <p:spPr>
          <a:xfrm>
            <a:off x="3276773" y="4079955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08287" y="4211469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2_883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106610" y="3511717"/>
            <a:ext cx="236086" cy="2360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819600" y="3629759"/>
            <a:ext cx="405053" cy="600516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920697" y="3629759"/>
            <a:ext cx="303956" cy="72782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082305" y="3629759"/>
            <a:ext cx="142348" cy="71022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4653" y="3629759"/>
            <a:ext cx="9144" cy="788741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24653" y="3629759"/>
            <a:ext cx="142348" cy="71022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24653" y="3629759"/>
            <a:ext cx="303956" cy="72782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24653" y="3629759"/>
            <a:ext cx="405053" cy="600516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3_885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6634376" y="3802543"/>
            <a:ext cx="665332" cy="965805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61556" y="3963510"/>
            <a:ext cx="914" cy="59021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887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2960" y="3399610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298451" y="3605101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41" y="3810591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635455" y="3942105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3" name="Shape 4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5_889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Guaiacwood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9915262" y="3748887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7" name="Shape 45"/>
          <p:cNvSpPr/>
          <p:nvPr/>
        </p:nvSpPr>
        <p:spPr>
          <a:xfrm>
            <a:off x="10183541" y="4017166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387434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9" name="Shape 4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0" name="bld6_891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Amyris</a:t>
            </a:r>
            <a:endParaRPr lang="en-US" sz="1350" dirty="0"/>
          </a:p>
        </p:txBody>
      </p:sp>
      <p:sp>
        <p:nvSpPr>
          <p:cNvPr id="52" name="trans_fade_5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3" name="Text 5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1" grpId="0"/>
      <p:bldP spid="32" grpId="0"/>
      <p:bldP spid="37" grpId="0"/>
      <p:bldP spid="44" grpId="0"/>
      <p:bldP spid="50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WOODS,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base of the formula</a:t>
            </a:r>
            <a:endParaRPr lang="en-US" sz="3200" dirty="0"/>
          </a:p>
        </p:txBody>
      </p:sp>
      <p:sp>
        <p:nvSpPr>
          <p:cNvPr id="7" name="bld1_892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2191116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283265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3" name="bld1_894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450" dirty="0"/>
          </a:p>
        </p:txBody>
      </p:sp>
      <p:sp>
        <p:nvSpPr>
          <p:cNvPr id="14" name="bld1_895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smooth, warm, soft wood. Base note, very long — the gold standard for smooth woods.</a:t>
            </a:r>
            <a:endParaRPr lang="en-US" sz="1080" dirty="0"/>
          </a:p>
        </p:txBody>
      </p:sp>
      <p:sp>
        <p:nvSpPr>
          <p:cNvPr id="15" name="bld2_896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934182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9" name="Shape 17"/>
          <p:cNvSpPr/>
          <p:nvPr/>
        </p:nvSpPr>
        <p:spPr>
          <a:xfrm>
            <a:off x="6015015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1" name="Shape 1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2_898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450" dirty="0"/>
          </a:p>
        </p:txBody>
      </p:sp>
      <p:sp>
        <p:nvSpPr>
          <p:cNvPr id="23" name="bld2_899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pencil-like, structured woodiness — character shifts with origin. Base note, long.</a:t>
            </a:r>
            <a:endParaRPr lang="en-US" sz="1080" dirty="0"/>
          </a:p>
        </p:txBody>
      </p:sp>
      <p:sp>
        <p:nvSpPr>
          <p:cNvPr id="24" name="bld3_900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6" name="Shape 24"/>
          <p:cNvSpPr/>
          <p:nvPr/>
        </p:nvSpPr>
        <p:spPr>
          <a:xfrm>
            <a:off x="9825980" y="1992580"/>
            <a:ext cx="106700" cy="106700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9696265" y="2045930"/>
            <a:ext cx="183065" cy="271405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741956" y="2045930"/>
            <a:ext cx="137374" cy="32894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814996" y="2045930"/>
            <a:ext cx="64334" cy="32099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79330" y="2045930"/>
            <a:ext cx="9144" cy="356473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79330" y="2045930"/>
            <a:ext cx="64334" cy="32099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79330" y="2045930"/>
            <a:ext cx="137374" cy="32894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79330" y="2045930"/>
            <a:ext cx="183065" cy="271405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35" name="bld3_902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450" dirty="0"/>
          </a:p>
        </p:txBody>
      </p:sp>
      <p:sp>
        <p:nvSpPr>
          <p:cNvPr id="36" name="bld3_903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Rooty, earthy, dry, smoky, grassy. Base note, very long, grounding and textured.</a:t>
            </a:r>
            <a:endParaRPr lang="en-US" sz="1080" dirty="0"/>
          </a:p>
        </p:txBody>
      </p:sp>
      <p:sp>
        <p:nvSpPr>
          <p:cNvPr id="37" name="bld4_904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 rot="18900000">
            <a:off x="2162016" y="4361432"/>
            <a:ext cx="300699" cy="436498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306879" y="4434182"/>
            <a:ext cx="914" cy="26674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42" name="bld4_906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450" dirty="0"/>
          </a:p>
        </p:txBody>
      </p:sp>
      <p:sp>
        <p:nvSpPr>
          <p:cNvPr id="43" name="bld4_907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woody, damp, camphoraceous or clean depending on quality. Base note, extremely long.</a:t>
            </a:r>
            <a:endParaRPr lang="en-US" sz="1080" dirty="0"/>
          </a:p>
        </p:txBody>
      </p:sp>
      <p:sp>
        <p:nvSpPr>
          <p:cNvPr id="44" name="bld5_908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853349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934182" y="4418015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6015015" y="4498848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66748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1" name="bld5_910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Guaiacwood</a:t>
            </a:r>
            <a:endParaRPr lang="en-US" sz="1450" dirty="0"/>
          </a:p>
        </p:txBody>
      </p:sp>
      <p:sp>
        <p:nvSpPr>
          <p:cNvPr id="52" name="bld5_911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sweet, woody, slightly rosy. Base note, long — an underused, characterful wood.</a:t>
            </a:r>
            <a:endParaRPr lang="en-US" sz="1080" dirty="0"/>
          </a:p>
        </p:txBody>
      </p:sp>
      <p:sp>
        <p:nvSpPr>
          <p:cNvPr id="53" name="bld6_912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5" name="Shape 53"/>
          <p:cNvSpPr/>
          <p:nvPr/>
        </p:nvSpPr>
        <p:spPr>
          <a:xfrm>
            <a:off x="9636831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6" name="Shape 54"/>
          <p:cNvSpPr/>
          <p:nvPr/>
        </p:nvSpPr>
        <p:spPr>
          <a:xfrm>
            <a:off x="9758081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850230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8" name="Shape 5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9" name="bld6_914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Amyris</a:t>
            </a:r>
            <a:endParaRPr lang="en-US" sz="1450" dirty="0"/>
          </a:p>
        </p:txBody>
      </p:sp>
      <p:sp>
        <p:nvSpPr>
          <p:cNvPr id="60" name="bld6_915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slightly oily, budget-friendly sandalwood-adjacent. Base note, long, inexpensive.</a:t>
            </a:r>
            <a:endParaRPr lang="en-US" sz="1080" dirty="0"/>
          </a:p>
        </p:txBody>
      </p:sp>
      <p:sp>
        <p:nvSpPr>
          <p:cNvPr id="62" name="trans_fade_6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3" name="Text 6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2" grpId="0"/>
      <p:bldP spid="23" grpId="0"/>
      <p:bldP spid="24" grpId="0"/>
      <p:bldP spid="35" grpId="0"/>
      <p:bldP spid="36" grpId="0"/>
      <p:bldP spid="37" grpId="0"/>
      <p:bldP spid="42" grpId="0"/>
      <p:bldP spid="43" grpId="0"/>
      <p:bldP spid="44" grpId="0"/>
      <p:bldP spid="51" grpId="0"/>
      <p:bldP spid="52" grpId="0"/>
      <p:bldP spid="53" grpId="0"/>
      <p:bldP spid="59" grpId="0"/>
      <p:bldP spid="60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woods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9" name="Shape 7"/>
          <p:cNvSpPr/>
          <p:nvPr/>
        </p:nvSpPr>
        <p:spPr>
          <a:xfrm>
            <a:off x="1384802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1" name="Shape 9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2" name="bld1_917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800" dirty="0"/>
          </a:p>
        </p:txBody>
      </p:sp>
      <p:sp>
        <p:nvSpPr>
          <p:cNvPr id="13" name="bld1_918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919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smooth, warm, soft wood</a:t>
            </a:r>
            <a:endParaRPr lang="en-US" sz="1100" dirty="0"/>
          </a:p>
        </p:txBody>
      </p:sp>
      <p:sp>
        <p:nvSpPr>
          <p:cNvPr id="15" name="bld1_920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921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Smoothness, comfort</a:t>
            </a:r>
            <a:endParaRPr lang="en-US" sz="1100" dirty="0"/>
          </a:p>
        </p:txBody>
      </p:sp>
      <p:sp>
        <p:nvSpPr>
          <p:cNvPr id="17" name="bld1_922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923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intimate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027852" y="1801723"/>
            <a:ext cx="333687" cy="333687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3622187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765079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993500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4696" y="1968567"/>
            <a:ext cx="9144" cy="1114818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94696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94696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94696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9" name="bld2_925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800" dirty="0"/>
          </a:p>
        </p:txBody>
      </p:sp>
      <p:sp>
        <p:nvSpPr>
          <p:cNvPr id="30" name="bld2_926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927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Rooty, earthy, dry, smoky</a:t>
            </a:r>
            <a:endParaRPr lang="en-US" sz="1100" dirty="0"/>
          </a:p>
        </p:txBody>
      </p:sp>
      <p:sp>
        <p:nvSpPr>
          <p:cNvPr id="32" name="bld2_928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929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Grounding, texture</a:t>
            </a:r>
            <a:endParaRPr lang="en-US" sz="1100" dirty="0"/>
          </a:p>
        </p:txBody>
      </p:sp>
      <p:sp>
        <p:nvSpPr>
          <p:cNvPr id="34" name="bld2_930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931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moderate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7" name="Shape 35"/>
          <p:cNvSpPr/>
          <p:nvPr/>
        </p:nvSpPr>
        <p:spPr>
          <a:xfrm rot="18900000">
            <a:off x="6155204" y="1832058"/>
            <a:ext cx="940391" cy="1365083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19913" y="2059572"/>
            <a:ext cx="914" cy="83421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40" name="bld3_933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800" dirty="0"/>
          </a:p>
        </p:txBody>
      </p:sp>
      <p:sp>
        <p:nvSpPr>
          <p:cNvPr id="41" name="bld3_934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2" name="bld3_935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woody, damp</a:t>
            </a:r>
            <a:endParaRPr lang="en-US" sz="1100" dirty="0"/>
          </a:p>
        </p:txBody>
      </p:sp>
      <p:sp>
        <p:nvSpPr>
          <p:cNvPr id="43" name="bld3_936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4" name="bld3_937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and grip</a:t>
            </a:r>
            <a:endParaRPr lang="en-US" sz="1100" dirty="0"/>
          </a:p>
        </p:txBody>
      </p:sp>
      <p:sp>
        <p:nvSpPr>
          <p:cNvPr id="45" name="bld3_938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6" name="bld3_939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extremely long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550517" y="2009014"/>
            <a:ext cx="1011173" cy="101117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8803310" y="2261807"/>
            <a:ext cx="505586" cy="505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3" name="bld4_941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800" dirty="0"/>
          </a:p>
        </p:txBody>
      </p:sp>
      <p:sp>
        <p:nvSpPr>
          <p:cNvPr id="54" name="bld4_942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943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pencil-like woodiness</a:t>
            </a:r>
            <a:endParaRPr lang="en-US" sz="1100" dirty="0"/>
          </a:p>
        </p:txBody>
      </p:sp>
      <p:sp>
        <p:nvSpPr>
          <p:cNvPr id="56" name="bld4_944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945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Softness, structure</a:t>
            </a:r>
            <a:endParaRPr lang="en-US" sz="1100" dirty="0"/>
          </a:p>
        </p:txBody>
      </p:sp>
      <p:sp>
        <p:nvSpPr>
          <p:cNvPr id="58" name="bld4_946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947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quiet</a:t>
            </a:r>
            <a:endParaRPr lang="en-US" sz="1100" dirty="0"/>
          </a:p>
        </p:txBody>
      </p:sp>
      <p:sp>
        <p:nvSpPr>
          <p:cNvPr id="61" name="trans_fade_6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3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Florals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>
            <a:off x="1605735" y="347523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1852209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1758064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1453406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1359261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11101" y="3887307"/>
            <a:ext cx="257548" cy="25754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949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9" name="Shape 17"/>
          <p:cNvSpPr/>
          <p:nvPr/>
        </p:nvSpPr>
        <p:spPr>
          <a:xfrm rot="10800000">
            <a:off x="3395958" y="3668974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4400000">
            <a:off x="3662898" y="3823092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8000000">
            <a:off x="3662898" y="4131328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395958" y="4285445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3600000">
            <a:off x="3129018" y="4131328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7200000">
            <a:off x="3129018" y="3823092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334311" y="4137492"/>
            <a:ext cx="295906" cy="295906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951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5090513" y="347523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5336987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8640000">
            <a:off x="5242842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2960000">
            <a:off x="4938184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7280000">
            <a:off x="4844040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95879" y="3887307"/>
            <a:ext cx="257548" cy="25754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5" name="Shape 3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6" name="bld3_953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8" name="Shape 36"/>
          <p:cNvSpPr/>
          <p:nvPr/>
        </p:nvSpPr>
        <p:spPr>
          <a:xfrm rot="10800000">
            <a:off x="6891924" y="374888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4400000">
            <a:off x="7124261" y="388302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8000000">
            <a:off x="7124261" y="4151306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891924" y="4285445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3600000">
            <a:off x="6659587" y="4151306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7200000">
            <a:off x="6659587" y="388302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38268" y="4156671"/>
            <a:ext cx="257548" cy="25754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5" name="Shape 43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6" name="bld4_955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8" name="Shape 46"/>
          <p:cNvSpPr/>
          <p:nvPr/>
        </p:nvSpPr>
        <p:spPr>
          <a:xfrm>
            <a:off x="8616961" y="360773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700000">
            <a:off x="8748780" y="366233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5400000">
            <a:off x="8803382" y="379415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100000">
            <a:off x="8748780" y="392597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616961" y="3980573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3500000">
            <a:off x="8485141" y="392597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6200000">
            <a:off x="8430540" y="379415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8900000">
            <a:off x="8485141" y="366233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10796" y="3917446"/>
            <a:ext cx="197271" cy="19727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7" name="Shape 5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8" name="bld5_957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Geranium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60" name="Shape 58"/>
          <p:cNvSpPr/>
          <p:nvPr/>
        </p:nvSpPr>
        <p:spPr>
          <a:xfrm>
            <a:off x="10371337" y="3930029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700000">
            <a:off x="10486069" y="3977553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10533592" y="4092284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8100000">
            <a:off x="10486069" y="4207016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0800000">
            <a:off x="10371337" y="4254540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3500000">
            <a:off x="10256605" y="4207016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6200000">
            <a:off x="10209082" y="4092284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8900000">
            <a:off x="10256605" y="3977553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10365971" y="4199596"/>
            <a:ext cx="171699" cy="171699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69" name="Shape 6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70" name="bld6_959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Osmanthus</a:t>
            </a:r>
            <a:endParaRPr lang="en-US" sz="1350" dirty="0"/>
          </a:p>
        </p:txBody>
      </p:sp>
      <p:sp>
        <p:nvSpPr>
          <p:cNvPr id="72" name="trans_fade_6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7" grpId="0"/>
      <p:bldP spid="36" grpId="0"/>
      <p:bldP spid="46" grpId="0"/>
      <p:bldP spid="58" grpId="0"/>
      <p:bldP spid="7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FLORALS,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heart of nearly every formula</a:t>
            </a:r>
            <a:endParaRPr lang="en-US" sz="3200" dirty="0"/>
          </a:p>
        </p:txBody>
      </p:sp>
      <p:sp>
        <p:nvSpPr>
          <p:cNvPr id="7" name="bld1_960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>
            <a:off x="1778805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4320000">
            <a:off x="1890200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1847651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2960000">
            <a:off x="1709960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7280000">
            <a:off x="1667411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781230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bld1_962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17" name="bld1_963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spicy. Heart note, medium-long, moderately diffusive — the archetypal floral.</a:t>
            </a:r>
            <a:endParaRPr lang="en-US" sz="1080" dirty="0"/>
          </a:p>
        </p:txBody>
      </p:sp>
      <p:sp>
        <p:nvSpPr>
          <p:cNvPr id="18" name="bld2_964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4643092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4400000">
            <a:off x="474809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8000000">
            <a:off x="474809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643092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3600000">
            <a:off x="453808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453808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618842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Shape 25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8" name="bld2_966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450" dirty="0"/>
          </a:p>
        </p:txBody>
      </p:sp>
      <p:sp>
        <p:nvSpPr>
          <p:cNvPr id="29" name="bld2_967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intensely floral with an animalic edge. Heart note, long-lasting, very diffusive in tiny amounts.</a:t>
            </a:r>
            <a:endParaRPr lang="en-US" sz="1080" dirty="0"/>
          </a:p>
        </p:txBody>
      </p:sp>
      <p:sp>
        <p:nvSpPr>
          <p:cNvPr id="30" name="bld3_968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 rot="10800000">
            <a:off x="7480704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4400000">
            <a:off x="7585709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8000000">
            <a:off x="7585709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480704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3600000">
            <a:off x="7375699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7200000">
            <a:off x="7375699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456454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9" name="Shape 37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0" name="bld3_970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450" dirty="0"/>
          </a:p>
        </p:txBody>
      </p:sp>
      <p:sp>
        <p:nvSpPr>
          <p:cNvPr id="41" name="bld3_971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banana-custard, exotic and heavy. Heart note, long, very diffusive — easy to overdose.</a:t>
            </a:r>
            <a:endParaRPr lang="en-US" sz="1080" dirty="0"/>
          </a:p>
        </p:txBody>
      </p:sp>
      <p:sp>
        <p:nvSpPr>
          <p:cNvPr id="42" name="bld4_972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4" name="Shape 42"/>
          <p:cNvSpPr/>
          <p:nvPr/>
        </p:nvSpPr>
        <p:spPr>
          <a:xfrm>
            <a:off x="10291641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4320000">
            <a:off x="10403035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8640000">
            <a:off x="10360486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2960000">
            <a:off x="10222795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7280000">
            <a:off x="10180246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294066" y="2162329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0" name="Shape 48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51" name="bld4_974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450" dirty="0"/>
          </a:p>
        </p:txBody>
      </p:sp>
      <p:sp>
        <p:nvSpPr>
          <p:cNvPr id="52" name="bld4_975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bitter-orange-blossom, faintly green. Top-heart note — lighter and fresher than orange blossom absolute.</a:t>
            </a:r>
            <a:endParaRPr lang="en-US" sz="1080" dirty="0"/>
          </a:p>
        </p:txBody>
      </p:sp>
      <p:sp>
        <p:nvSpPr>
          <p:cNvPr id="53" name="bld5_976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1778805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4320000">
            <a:off x="1890200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640000">
            <a:off x="1847651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2960000">
            <a:off x="1709960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7280000">
            <a:off x="1667411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781230" y="4521481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1" name="Shape 59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62" name="bld5_978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Orange Blossom</a:t>
            </a:r>
            <a:endParaRPr lang="en-US" sz="1450" dirty="0"/>
          </a:p>
        </p:txBody>
      </p:sp>
      <p:sp>
        <p:nvSpPr>
          <p:cNvPr id="63" name="bld5_979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and more indolic than neroli, from the same flower via solvent extraction. Heart note, warm and lush.</a:t>
            </a:r>
            <a:endParaRPr lang="en-US" sz="1080" dirty="0"/>
          </a:p>
        </p:txBody>
      </p:sp>
      <p:sp>
        <p:nvSpPr>
          <p:cNvPr id="64" name="bld6_980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66" name="Shape 64"/>
          <p:cNvSpPr/>
          <p:nvPr/>
        </p:nvSpPr>
        <p:spPr>
          <a:xfrm>
            <a:off x="4640667" y="44190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2700000">
            <a:off x="4692520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5400000">
            <a:off x="4713999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100000">
            <a:off x="4692520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4640667" y="456571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3500000">
            <a:off x="4588814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6200000">
            <a:off x="4567335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8900000">
            <a:off x="4588814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4638242" y="4540881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75" name="Shape 73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76" name="bld6_982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Lavender</a:t>
            </a:r>
            <a:endParaRPr lang="en-US" sz="1450" dirty="0"/>
          </a:p>
        </p:txBody>
      </p:sp>
      <p:sp>
        <p:nvSpPr>
          <p:cNvPr id="77" name="bld6_983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Herbal-floral, camphoraceous, clean. Top-heart, medium tenacity — the bridge between aromatic and floral.</a:t>
            </a:r>
            <a:endParaRPr lang="en-US" sz="1080" dirty="0"/>
          </a:p>
        </p:txBody>
      </p:sp>
      <p:sp>
        <p:nvSpPr>
          <p:cNvPr id="78" name="bld7_984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0" name="Shape 78"/>
          <p:cNvSpPr/>
          <p:nvPr/>
        </p:nvSpPr>
        <p:spPr>
          <a:xfrm>
            <a:off x="7478279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2700000">
            <a:off x="7530132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5400000">
            <a:off x="7551610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8100000">
            <a:off x="7530132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10800000">
            <a:off x="7478279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3500000">
            <a:off x="7426425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16200000">
            <a:off x="7404947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18900000">
            <a:off x="7426425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7475854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9" name="Shape 87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90" name="bld7_986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Geranium</a:t>
            </a:r>
            <a:endParaRPr lang="en-US" sz="1450" dirty="0"/>
          </a:p>
        </p:txBody>
      </p:sp>
      <p:sp>
        <p:nvSpPr>
          <p:cNvPr id="91" name="bld7_987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Rosy but sharper and greener than rose itself, minty-metallic edge. Heart note, medium — a common rose extender.</a:t>
            </a:r>
            <a:endParaRPr lang="en-US" sz="1080" dirty="0"/>
          </a:p>
        </p:txBody>
      </p:sp>
      <p:sp>
        <p:nvSpPr>
          <p:cNvPr id="92" name="bld8_988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4" name="Shape 92"/>
          <p:cNvSpPr/>
          <p:nvPr/>
        </p:nvSpPr>
        <p:spPr>
          <a:xfrm>
            <a:off x="10315890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2700000">
            <a:off x="10367744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5400000">
            <a:off x="1038922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 rot="8100000">
            <a:off x="10367744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 rot="10800000">
            <a:off x="10315890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 rot="13500000">
            <a:off x="102640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 rot="16200000">
            <a:off x="10242559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18900000">
            <a:off x="102640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313465" y="4540881"/>
            <a:ext cx="77600" cy="77600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04" name="bld8_990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Osmanthus</a:t>
            </a:r>
            <a:endParaRPr lang="en-US" sz="1450" dirty="0"/>
          </a:p>
        </p:txBody>
      </p:sp>
      <p:sp>
        <p:nvSpPr>
          <p:cNvPr id="105" name="bld8_991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Apricot-suede, tea-like, unusual. Heart note, medium-long — a distinctive, less common floral.</a:t>
            </a:r>
            <a:endParaRPr lang="en-US" sz="1080" dirty="0"/>
          </a:p>
        </p:txBody>
      </p:sp>
      <p:sp>
        <p:nvSpPr>
          <p:cNvPr id="107" name="trans_fade_6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8" name="Text 10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109" name="Text 10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8" grpId="0"/>
      <p:bldP spid="29" grpId="0"/>
      <p:bldP spid="30" grpId="0"/>
      <p:bldP spid="40" grpId="0"/>
      <p:bldP spid="41" grpId="0"/>
      <p:bldP spid="42" grpId="0"/>
      <p:bldP spid="51" grpId="0"/>
      <p:bldP spid="52" grpId="0"/>
      <p:bldP spid="53" grpId="0"/>
      <p:bldP spid="62" grpId="0"/>
      <p:bldP spid="63" grpId="0"/>
      <p:bldP spid="64" grpId="0"/>
      <p:bldP spid="76" grpId="0"/>
      <p:bldP spid="77" grpId="0"/>
      <p:bldP spid="78" grpId="0"/>
      <p:bldP spid="90" grpId="0"/>
      <p:bldP spid="91" grpId="0"/>
      <p:bldP spid="92" grpId="0"/>
      <p:bldP spid="104" grpId="0"/>
      <p:bldP spid="10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florals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1574397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922766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789701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359093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226028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81981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5" name="bld1_993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800" dirty="0"/>
          </a:p>
        </p:txBody>
      </p:sp>
      <p:sp>
        <p:nvSpPr>
          <p:cNvPr id="16" name="bld1_994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995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</a:t>
            </a:r>
            <a:endParaRPr lang="en-US" sz="1100" dirty="0"/>
          </a:p>
        </p:txBody>
      </p:sp>
      <p:sp>
        <p:nvSpPr>
          <p:cNvPr id="18" name="bld1_996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997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and romance</a:t>
            </a:r>
            <a:endParaRPr lang="en-US" sz="1100" dirty="0"/>
          </a:p>
        </p:txBody>
      </p:sp>
      <p:sp>
        <p:nvSpPr>
          <p:cNvPr id="20" name="bld1_998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999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 · moderate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bld2_1001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800" dirty="0"/>
          </a:p>
        </p:txBody>
      </p:sp>
      <p:sp>
        <p:nvSpPr>
          <p:cNvPr id="32" name="bld2_1002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3" name="bld2_1003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sensual</a:t>
            </a:r>
            <a:endParaRPr lang="en-US" sz="1100" dirty="0"/>
          </a:p>
        </p:txBody>
      </p:sp>
      <p:sp>
        <p:nvSpPr>
          <p:cNvPr id="34" name="bld2_1004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5" name="bld2_1005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Radiance, depth</a:t>
            </a:r>
            <a:endParaRPr lang="en-US" sz="1100" dirty="0"/>
          </a:p>
        </p:txBody>
      </p:sp>
      <p:sp>
        <p:nvSpPr>
          <p:cNvPr id="36" name="bld2_1006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7" name="bld2_1007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long · very diffusive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435805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4320000">
            <a:off x="6784174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640000">
            <a:off x="6651109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2960000">
            <a:off x="6220500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7280000">
            <a:off x="6087435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43388" y="2332589"/>
            <a:ext cx="364022" cy="3640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46" name="bld3_1009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800" dirty="0"/>
          </a:p>
        </p:txBody>
      </p:sp>
      <p:sp>
        <p:nvSpPr>
          <p:cNvPr id="47" name="bld3_1010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8" name="bld3_1011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bitter-orange blossom</a:t>
            </a:r>
            <a:endParaRPr lang="en-US" sz="1100" dirty="0"/>
          </a:p>
        </p:txBody>
      </p:sp>
      <p:sp>
        <p:nvSpPr>
          <p:cNvPr id="49" name="bld3_1012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0" name="bld3_1013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Lifts and lightens a floral heart</a:t>
            </a:r>
            <a:endParaRPr lang="en-US" sz="1100" dirty="0"/>
          </a:p>
        </p:txBody>
      </p:sp>
      <p:sp>
        <p:nvSpPr>
          <p:cNvPr id="51" name="bld3_1014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2" name="bld3_1015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 · diffusive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4" name="Shape 52"/>
          <p:cNvSpPr/>
          <p:nvPr/>
        </p:nvSpPr>
        <p:spPr>
          <a:xfrm rot="10800000">
            <a:off x="8949930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4400000">
            <a:off x="9278318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8000000">
            <a:off x="9278318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49930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3600000">
            <a:off x="8621542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7200000">
            <a:off x="8621542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74092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1" name="Shape 5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2" name="bld4_1017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800" dirty="0"/>
          </a:p>
        </p:txBody>
      </p:sp>
      <p:sp>
        <p:nvSpPr>
          <p:cNvPr id="63" name="bld4_1018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4" name="bld4_1019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exotic, banana-custard</a:t>
            </a:r>
            <a:endParaRPr lang="en-US" sz="1100" dirty="0"/>
          </a:p>
        </p:txBody>
      </p:sp>
      <p:sp>
        <p:nvSpPr>
          <p:cNvPr id="65" name="bld4_1020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6" name="bld4_1021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Lushness, tropical warmth</a:t>
            </a:r>
            <a:endParaRPr lang="en-US" sz="1100" dirty="0"/>
          </a:p>
        </p:txBody>
      </p:sp>
      <p:sp>
        <p:nvSpPr>
          <p:cNvPr id="67" name="bld4_1022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8" name="bld4_1023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long · very diffusive</a:t>
            </a:r>
            <a:endParaRPr lang="en-US" sz="1100" dirty="0"/>
          </a:p>
        </p:txBody>
      </p:sp>
      <p:sp>
        <p:nvSpPr>
          <p:cNvPr id="70" name="trans_fade_6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62" grpId="0"/>
      <p:bldP spid="63" grpId="0"/>
      <p:bldP spid="64" grpId="0"/>
      <p:bldP spid="65" grpId="0"/>
      <p:bldP spid="66" grpId="0"/>
      <p:bldP spid="67" grpId="0"/>
      <p:bldP spid="68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4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Resins &amp; Balsams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B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RESINS &amp; BALSAMS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471595" y="3769265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332090" y="3704878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1772068" y="3640491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bld1_1025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3174028" y="4001869"/>
            <a:ext cx="715107" cy="71510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3013746" y="3927892"/>
            <a:ext cx="443859" cy="44385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3519252" y="3853915"/>
            <a:ext cx="369883" cy="369883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2_1027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4956374" y="3769265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4816869" y="3704878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5256846" y="3640491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3_1029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6698763" y="4038629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6559258" y="3974242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6999236" y="3909855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4_1031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Myrrh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4" name="Shape 32"/>
          <p:cNvSpPr/>
          <p:nvPr/>
        </p:nvSpPr>
        <p:spPr>
          <a:xfrm rot="9000000">
            <a:off x="8401196" y="3732505"/>
            <a:ext cx="715107" cy="71510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000000">
            <a:off x="8240913" y="3658528"/>
            <a:ext cx="443859" cy="44385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0">
            <a:off x="8746420" y="3584552"/>
            <a:ext cx="369883" cy="369883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8" name="bld5_1033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 Balsam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10183541" y="4038629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10044036" y="3974242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10484014" y="3909855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6_1035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Tolu Balsam</a:t>
            </a:r>
            <a:endParaRPr lang="en-US" sz="1350" dirty="0"/>
          </a:p>
        </p:txBody>
      </p:sp>
      <p:sp>
        <p:nvSpPr>
          <p:cNvPr id="46" name="trans_fade_6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  <p:bldP spid="44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RESINS &amp; BALSAMS,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they differ: sweetness, darkness, smoke</a:t>
            </a:r>
            <a:endParaRPr lang="en-US" sz="3200" dirty="0"/>
          </a:p>
        </p:txBody>
      </p:sp>
      <p:sp>
        <p:nvSpPr>
          <p:cNvPr id="7" name="bld1_1036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 rot="9000000">
            <a:off x="2191116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000000">
            <a:off x="2128066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1400000">
            <a:off x="2326915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bld1_1038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450" dirty="0"/>
          </a:p>
        </p:txBody>
      </p:sp>
      <p:sp>
        <p:nvSpPr>
          <p:cNvPr id="14" name="bld1_1039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honeyed. Base note, very long, richly diffusive — the backbone of most amber accords.</a:t>
            </a:r>
            <a:endParaRPr lang="en-US" sz="1080" dirty="0"/>
          </a:p>
        </p:txBody>
      </p:sp>
      <p:sp>
        <p:nvSpPr>
          <p:cNvPr id="15" name="bld2_1040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7" name="Shape 15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1" name="bld2_1042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450" dirty="0"/>
          </a:p>
        </p:txBody>
      </p:sp>
      <p:sp>
        <p:nvSpPr>
          <p:cNvPr id="22" name="bld2_1043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vanilla-like, balsamic. Base note, long, warm and softly diffusive — a natural sweetener and fixative.</a:t>
            </a:r>
            <a:endParaRPr lang="en-US" sz="1080" dirty="0"/>
          </a:p>
        </p:txBody>
      </p:sp>
      <p:sp>
        <p:nvSpPr>
          <p:cNvPr id="23" name="bld3_1044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5" name="Shape 23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29" name="bld3_1046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450" dirty="0"/>
          </a:p>
        </p:txBody>
      </p:sp>
      <p:sp>
        <p:nvSpPr>
          <p:cNvPr id="30" name="bld3_1047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citrusy-piney, faintly smoky. Base-heart, long — cooler and fresher than most resins.</a:t>
            </a:r>
            <a:endParaRPr lang="en-US" sz="1080" dirty="0"/>
          </a:p>
        </p:txBody>
      </p:sp>
      <p:sp>
        <p:nvSpPr>
          <p:cNvPr id="31" name="bld4_1048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3" name="Shape 31"/>
          <p:cNvSpPr/>
          <p:nvPr/>
        </p:nvSpPr>
        <p:spPr>
          <a:xfrm rot="9000000">
            <a:off x="2191116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000000">
            <a:off x="2128066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1400000">
            <a:off x="2326915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7" name="bld4_1050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Myrrh</a:t>
            </a:r>
            <a:endParaRPr lang="en-US" sz="1450" dirty="0"/>
          </a:p>
        </p:txBody>
      </p:sp>
      <p:sp>
        <p:nvSpPr>
          <p:cNvPr id="38" name="bld4_1051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medicinal, dark-resinous. Base note, very long, low diffusion — the darkest and most brooding of the resins.</a:t>
            </a:r>
            <a:endParaRPr lang="en-US" sz="1080" dirty="0"/>
          </a:p>
        </p:txBody>
      </p:sp>
      <p:sp>
        <p:nvSpPr>
          <p:cNvPr id="39" name="bld5_1052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9000000">
            <a:off x="5974598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000000">
            <a:off x="5911548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1400000">
            <a:off x="6110398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45" name="bld5_1054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 Balsam</a:t>
            </a:r>
            <a:endParaRPr lang="en-US" sz="1450" dirty="0"/>
          </a:p>
        </p:txBody>
      </p:sp>
      <p:sp>
        <p:nvSpPr>
          <p:cNvPr id="46" name="bld5_1055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cinnamon-vanilla, slightly spicy. Base note, long — closer to gourmand than most resins.</a:t>
            </a:r>
            <a:endParaRPr lang="en-US" sz="1080" dirty="0"/>
          </a:p>
        </p:txBody>
      </p:sp>
      <p:sp>
        <p:nvSpPr>
          <p:cNvPr id="47" name="bld6_1056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9" name="Shape 47"/>
          <p:cNvSpPr/>
          <p:nvPr/>
        </p:nvSpPr>
        <p:spPr>
          <a:xfrm rot="9000000">
            <a:off x="9758081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000000">
            <a:off x="9695031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1400000">
            <a:off x="9893880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53" name="bld6_1058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Tolu Balsam</a:t>
            </a:r>
            <a:endParaRPr lang="en-US" sz="1450" dirty="0"/>
          </a:p>
        </p:txBody>
      </p:sp>
      <p:sp>
        <p:nvSpPr>
          <p:cNvPr id="54" name="bld6_1059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floral-balsamic, softer than Peru balsam. Base note, long, gentle sweetness and fixation.</a:t>
            </a:r>
            <a:endParaRPr lang="en-US" sz="1080" dirty="0"/>
          </a:p>
        </p:txBody>
      </p:sp>
      <p:sp>
        <p:nvSpPr>
          <p:cNvPr id="56" name="trans_fade_6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7" name="Text 5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3" grpId="0"/>
      <p:bldP spid="5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resins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1061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800" dirty="0"/>
          </a:p>
        </p:txBody>
      </p:sp>
      <p:sp>
        <p:nvSpPr>
          <p:cNvPr id="13" name="bld1_1062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063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honeyed</a:t>
            </a:r>
            <a:endParaRPr lang="en-US" sz="1100" dirty="0"/>
          </a:p>
        </p:txBody>
      </p:sp>
      <p:sp>
        <p:nvSpPr>
          <p:cNvPr id="15" name="bld1_1064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065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fixation</a:t>
            </a:r>
            <a:endParaRPr lang="en-US" sz="1100" dirty="0"/>
          </a:p>
        </p:txBody>
      </p:sp>
      <p:sp>
        <p:nvSpPr>
          <p:cNvPr id="17" name="bld1_1066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067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4" name="bld2_1069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800" dirty="0"/>
          </a:p>
        </p:txBody>
      </p:sp>
      <p:sp>
        <p:nvSpPr>
          <p:cNvPr id="25" name="bld2_1070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071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vanilla-balsamic</a:t>
            </a:r>
            <a:endParaRPr lang="en-US" sz="1100" dirty="0"/>
          </a:p>
        </p:txBody>
      </p:sp>
      <p:sp>
        <p:nvSpPr>
          <p:cNvPr id="27" name="bld2_1072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073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 and sweetness</a:t>
            </a:r>
            <a:endParaRPr lang="en-US" sz="1100" dirty="0"/>
          </a:p>
        </p:txBody>
      </p:sp>
      <p:sp>
        <p:nvSpPr>
          <p:cNvPr id="29" name="bld2_1074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075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gentle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1077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800" dirty="0"/>
          </a:p>
        </p:txBody>
      </p:sp>
      <p:sp>
        <p:nvSpPr>
          <p:cNvPr id="37" name="bld3_1078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079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citrusy-piney, smoky</a:t>
            </a:r>
            <a:endParaRPr lang="en-US" sz="1100" dirty="0"/>
          </a:p>
        </p:txBody>
      </p:sp>
      <p:sp>
        <p:nvSpPr>
          <p:cNvPr id="39" name="bld3_1080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081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Coolness within warmth</a:t>
            </a:r>
            <a:endParaRPr lang="en-US" sz="1100" dirty="0"/>
          </a:p>
        </p:txBody>
      </p:sp>
      <p:sp>
        <p:nvSpPr>
          <p:cNvPr id="41" name="bld3_1082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083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Base-heart · long</a:t>
            </a:r>
            <a:endParaRPr lang="en-US" sz="1100" dirty="0"/>
          </a:p>
        </p:txBody>
      </p:sp>
      <p:sp>
        <p:nvSpPr>
          <p:cNvPr id="44" name="trans_fade_6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TRUTH ABOUT NATURALS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two harvests smell identical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656579" y="2540562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26813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03454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27861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04501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669892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3015" y="2540562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4320000">
            <a:off x="637457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614098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538505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515145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776328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Shape 18"/>
          <p:cNvSpPr/>
          <p:nvPr/>
        </p:nvSpPr>
        <p:spPr>
          <a:xfrm>
            <a:off x="8869451" y="2540562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948101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924741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849148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825789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882765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Climate, soil, harvest timing and extraction batch all shift the smell of a natural — plan for variation, don't fight it.</a:t>
            </a:r>
            <a:endParaRPr lang="en-US" sz="1200" dirty="0"/>
          </a:p>
        </p:txBody>
      </p:sp>
      <p:sp>
        <p:nvSpPr>
          <p:cNvPr id="28" name="trans_fade_6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bring soul and complexity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they demand respect for their variability.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03.1</a:t>
            </a:r>
            <a:endParaRPr lang="en-US" sz="1100" dirty="0"/>
          </a:p>
        </p:txBody>
      </p:sp>
      <p:sp>
        <p:nvSpPr>
          <p:cNvPr id="10" name="trans_fade_6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03.2 · RAW MATERIALS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—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Modern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 is built on synthetic molecules. This module will change how you see them, for good.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synthetic families, in real depth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bases — and why using one isn't cheating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Busting the naturals-vs-synthetics myths for good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32" name="trans_fade_7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 runs on synthetics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8258" y="1199550"/>
            <a:ext cx="4458900" cy="44589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59642"/>
            <a:ext cx="1056055" cy="469358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03763" y="2959642"/>
            <a:ext cx="1056055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603763" y="3546339"/>
            <a:ext cx="1056055" cy="93871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43671" y="4485055"/>
            <a:ext cx="176009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43671" y="3429000"/>
            <a:ext cx="704037" cy="105605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56973" y="2842303"/>
            <a:ext cx="1290734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59964" y="3241257"/>
            <a:ext cx="375486" cy="375486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68822" y="282470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24878" y="3411399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68822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08730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22033" y="270736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molecule, isolated and perfected — the synthetic advantage.</a:t>
            </a:r>
            <a:endParaRPr lang="en-US" sz="1050" dirty="0"/>
          </a:p>
        </p:txBody>
      </p:sp>
      <p:sp>
        <p:nvSpPr>
          <p:cNvPr id="24" name="bld1_108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1_108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Consistency, batch after batch</a:t>
            </a:r>
            <a:endParaRPr lang="en-US" sz="1650" dirty="0"/>
          </a:p>
        </p:txBody>
      </p:sp>
      <p:sp>
        <p:nvSpPr>
          <p:cNvPr id="26" name="bld1_1086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molecule smells identical this year and next — naturals simply can't promise that.</a:t>
            </a:r>
            <a:endParaRPr lang="en-US" sz="1250" dirty="0"/>
          </a:p>
        </p:txBody>
      </p:sp>
      <p:sp>
        <p:nvSpPr>
          <p:cNvPr id="27" name="bld2_1087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2_1088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Effects that don't exist in nature</a:t>
            </a:r>
            <a:endParaRPr lang="en-US" sz="1650" dirty="0"/>
          </a:p>
        </p:txBody>
      </p:sp>
      <p:sp>
        <p:nvSpPr>
          <p:cNvPr id="29" name="bld2_1089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radiant, transparent-woody — entire categories of smell with no natural equivalent.</a:t>
            </a:r>
            <a:endParaRPr lang="en-US" sz="1250" dirty="0"/>
          </a:p>
        </p:txBody>
      </p:sp>
      <p:sp>
        <p:nvSpPr>
          <p:cNvPr id="30" name="bld3_1090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091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sustainability</a:t>
            </a:r>
            <a:endParaRPr lang="en-US" sz="1650" dirty="0"/>
          </a:p>
        </p:txBody>
      </p:sp>
      <p:sp>
        <p:nvSpPr>
          <p:cNvPr id="32" name="bld3_1092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pressure on endangered species and rare harvests — sandalwood and musk deer among them.</a:t>
            </a:r>
            <a:endParaRPr lang="en-US" sz="1250" dirty="0"/>
          </a:p>
        </p:txBody>
      </p:sp>
      <p:sp>
        <p:nvSpPr>
          <p:cNvPr id="33" name="bld4_1093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4" name="bld4_1094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Affordability at scale</a:t>
            </a:r>
            <a:endParaRPr lang="en-US" sz="1650" dirty="0"/>
          </a:p>
        </p:txBody>
      </p:sp>
      <p:sp>
        <p:nvSpPr>
          <p:cNvPr id="35" name="bld4_1095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beautiful perfumery accessible far beyond luxury-only pricing.</a:t>
            </a:r>
            <a:endParaRPr lang="en-US" sz="1250" dirty="0"/>
          </a:p>
        </p:txBody>
      </p:sp>
      <p:sp>
        <p:nvSpPr>
          <p:cNvPr id="37" name="trans_fade_7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major synthetic families</a:t>
            </a:r>
            <a:endParaRPr lang="en-US" sz="3200" dirty="0"/>
          </a:p>
        </p:txBody>
      </p:sp>
      <p:sp>
        <p:nvSpPr>
          <p:cNvPr id="7" name="bld1_1096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1616331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1098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12" name="bld1_1099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radiance and fixation</a:t>
            </a:r>
            <a:endParaRPr lang="en-US" sz="1080" dirty="0"/>
          </a:p>
        </p:txBody>
      </p:sp>
      <p:sp>
        <p:nvSpPr>
          <p:cNvPr id="13" name="bld2_1100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5" name="Shape 13"/>
          <p:cNvSpPr/>
          <p:nvPr/>
        </p:nvSpPr>
        <p:spPr>
          <a:xfrm rot="9000000">
            <a:off x="4555792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000000">
            <a:off x="4492743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1400000">
            <a:off x="4691592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9" name="bld2_1102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/ Ambrox</a:t>
            </a:r>
            <a:endParaRPr lang="en-US" sz="1450" dirty="0"/>
          </a:p>
        </p:txBody>
      </p:sp>
      <p:sp>
        <p:nvSpPr>
          <p:cNvPr id="20" name="bld2_1103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radiant, modern amber effect</a:t>
            </a:r>
            <a:endParaRPr lang="en-US" sz="1080" dirty="0"/>
          </a:p>
        </p:txBody>
      </p:sp>
      <p:sp>
        <p:nvSpPr>
          <p:cNvPr id="21" name="bld3_1104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7272155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7352988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7433821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7485554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3_1106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29" name="bld3_1107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voluminous woodiness</a:t>
            </a:r>
            <a:endParaRPr lang="en-US" sz="1080" dirty="0"/>
          </a:p>
        </p:txBody>
      </p:sp>
      <p:sp>
        <p:nvSpPr>
          <p:cNvPr id="30" name="bld4_1108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10291641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10403035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10360486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10222795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10180246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294066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1110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40" name="bld4_1111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Isolated, hyper-true floral facets</a:t>
            </a:r>
            <a:endParaRPr lang="en-US" sz="1080" dirty="0"/>
          </a:p>
        </p:txBody>
      </p:sp>
      <p:sp>
        <p:nvSpPr>
          <p:cNvPr id="41" name="bld5_1112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630881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815180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1114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green</a:t>
            </a:r>
            <a:endParaRPr lang="en-US" sz="1450" dirty="0"/>
          </a:p>
        </p:txBody>
      </p:sp>
      <p:sp>
        <p:nvSpPr>
          <p:cNvPr id="58" name="bld5_1115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green, metallic and aldehydic lift</a:t>
            </a:r>
            <a:endParaRPr lang="en-US" sz="1080" dirty="0"/>
          </a:p>
        </p:txBody>
      </p:sp>
      <p:sp>
        <p:nvSpPr>
          <p:cNvPr id="59" name="bld6_1116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4478193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4671555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4695330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1118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1119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vivid fruit facets</a:t>
            </a:r>
            <a:endParaRPr lang="en-US" sz="1080" dirty="0"/>
          </a:p>
        </p:txBody>
      </p:sp>
      <p:sp>
        <p:nvSpPr>
          <p:cNvPr id="67" name="bld7_1120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9" name="Shape 67"/>
          <p:cNvSpPr/>
          <p:nvPr/>
        </p:nvSpPr>
        <p:spPr>
          <a:xfrm rot="840000">
            <a:off x="7456454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840000">
            <a:off x="7509167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60091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2" name="Shape 70"/>
          <p:cNvSpPr/>
          <p:nvPr/>
        </p:nvSpPr>
        <p:spPr>
          <a:xfrm>
            <a:off x="7477551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3" name="Shape 71"/>
          <p:cNvSpPr/>
          <p:nvPr/>
        </p:nvSpPr>
        <p:spPr>
          <a:xfrm>
            <a:off x="7495011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4" name="Shape 72"/>
          <p:cNvSpPr/>
          <p:nvPr/>
        </p:nvSpPr>
        <p:spPr>
          <a:xfrm>
            <a:off x="7512471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5" name="Shape 73"/>
          <p:cNvSpPr/>
          <p:nvPr/>
        </p:nvSpPr>
        <p:spPr>
          <a:xfrm>
            <a:off x="7529931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6" name="Shape 74"/>
          <p:cNvSpPr/>
          <p:nvPr/>
        </p:nvSpPr>
        <p:spPr>
          <a:xfrm>
            <a:off x="7547391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7" name="Shape 75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78" name="bld7_1122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79" name="bld7_1123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edible, comforting facets</a:t>
            </a:r>
            <a:endParaRPr lang="en-US" sz="1080" dirty="0"/>
          </a:p>
        </p:txBody>
      </p:sp>
      <p:sp>
        <p:nvSpPr>
          <p:cNvPr id="81" name="trans_fade_7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2" name="Text 7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/>
      <p:bldP spid="20" grpId="0"/>
      <p:bldP spid="21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8" grpId="0"/>
      <p:bldP spid="7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every perfumer knows by name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1125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1126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1127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 woody volume</a:t>
            </a:r>
            <a:endParaRPr lang="en-US" sz="1100" dirty="0"/>
          </a:p>
        </p:txBody>
      </p:sp>
      <p:sp>
        <p:nvSpPr>
          <p:cNvPr id="18" name="bld1_1128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1129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1130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1131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almost everywhere,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39173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32" name="bld2_1133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33" name="bld2_1134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135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35" name="bld2_1136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137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up space in a formula</a:t>
            </a:r>
            <a:endParaRPr lang="en-US" sz="1100" dirty="0"/>
          </a:p>
        </p:txBody>
      </p:sp>
      <p:sp>
        <p:nvSpPr>
          <p:cNvPr id="37" name="bld2_1138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139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diffusion superpower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6246210" y="2165745"/>
            <a:ext cx="879720" cy="87972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6049031" y="2074740"/>
            <a:ext cx="546033" cy="546033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6670902" y="1983734"/>
            <a:ext cx="455028" cy="45502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3_1141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45" name="bld3_1142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3_1143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47" name="bld3_1144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3_1145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49" name="bld3_1146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3_1147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perfumery's signature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2" name="Shape 50"/>
          <p:cNvSpPr/>
          <p:nvPr/>
        </p:nvSpPr>
        <p:spPr>
          <a:xfrm rot="840000">
            <a:off x="8874092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40000">
            <a:off x="9050617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85468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5" name="Shape 53"/>
          <p:cNvSpPr/>
          <p:nvPr/>
        </p:nvSpPr>
        <p:spPr>
          <a:xfrm>
            <a:off x="8940071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6" name="Shape 54"/>
          <p:cNvSpPr/>
          <p:nvPr/>
        </p:nvSpPr>
        <p:spPr>
          <a:xfrm>
            <a:off x="8994675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7" name="Shape 55"/>
          <p:cNvSpPr/>
          <p:nvPr/>
        </p:nvSpPr>
        <p:spPr>
          <a:xfrm>
            <a:off x="9049278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8" name="Shape 56"/>
          <p:cNvSpPr/>
          <p:nvPr/>
        </p:nvSpPr>
        <p:spPr>
          <a:xfrm>
            <a:off x="9103881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9" name="Shape 57"/>
          <p:cNvSpPr/>
          <p:nvPr/>
        </p:nvSpPr>
        <p:spPr>
          <a:xfrm>
            <a:off x="9158485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0" name="Shape 58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61" name="bld4_1149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62" name="bld4_1150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3" name="bld4_1151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64" name="bld4_1152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5" name="bld4_1153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66" name="bld4_1154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7" name="bld4_1155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and base workhorse</a:t>
            </a:r>
            <a:endParaRPr lang="en-US" sz="1100" dirty="0"/>
          </a:p>
        </p:txBody>
      </p:sp>
      <p:sp>
        <p:nvSpPr>
          <p:cNvPr id="69" name="trans_fade_7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1" grpId="0"/>
      <p:bldP spid="62" grpId="0"/>
      <p:bldP spid="63" grpId="0"/>
      <p:bldP spid="64" grpId="0"/>
      <p:bldP spid="65" grpId="0"/>
      <p:bldP spid="66" grpId="0"/>
      <p:bldP spid="6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myths, busted</a:t>
            </a:r>
            <a:endParaRPr lang="en-US" sz="3200" dirty="0"/>
          </a:p>
        </p:txBody>
      </p:sp>
      <p:sp>
        <p:nvSpPr>
          <p:cNvPr id="7" name="bld1_1156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57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1158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less safe than naturals</a:t>
            </a:r>
            <a:endParaRPr lang="en-US" sz="1350" dirty="0"/>
          </a:p>
        </p:txBody>
      </p:sp>
      <p:sp>
        <p:nvSpPr>
          <p:cNvPr id="10" name="bld1_1159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1160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Synthetics are among the most rigorously tested materials in consumer goods — many naturals contain far more allergens and irritants.</a:t>
            </a:r>
            <a:endParaRPr lang="en-US" sz="1080" dirty="0"/>
          </a:p>
        </p:txBody>
      </p:sp>
      <p:sp>
        <p:nvSpPr>
          <p:cNvPr id="12" name="bld2_1161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162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1163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cheap</a:t>
            </a:r>
            <a:endParaRPr lang="en-US" sz="1350" dirty="0"/>
          </a:p>
        </p:txBody>
      </p:sp>
      <p:sp>
        <p:nvSpPr>
          <p:cNvPr id="15" name="bld2_1164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1165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captive synthetic molecules cost more per kilo than gold-standard naturals — exclusivity and R&amp;D drive price, not "natural vs. synthetic."</a:t>
            </a:r>
            <a:endParaRPr lang="en-US" sz="1080" dirty="0"/>
          </a:p>
        </p:txBody>
      </p:sp>
      <p:sp>
        <p:nvSpPr>
          <p:cNvPr id="17" name="bld3_1166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167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1168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smell inherently 'chemical'</a:t>
            </a:r>
            <a:endParaRPr lang="en-US" sz="1350" dirty="0"/>
          </a:p>
        </p:txBody>
      </p:sp>
      <p:sp>
        <p:nvSpPr>
          <p:cNvPr id="20" name="bld3_1169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1170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poorly built formula smells chemical — with any material. Iso E Super and Hedione are beloved precisely because they don't.</a:t>
            </a:r>
            <a:endParaRPr lang="en-US" sz="1080" dirty="0"/>
          </a:p>
        </p:txBody>
      </p:sp>
      <p:sp>
        <p:nvSpPr>
          <p:cNvPr id="22" name="bld4_1171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172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1173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are automatically more sophisticated</a:t>
            </a:r>
            <a:endParaRPr lang="en-US" sz="1350" dirty="0"/>
          </a:p>
        </p:txBody>
      </p:sp>
      <p:sp>
        <p:nvSpPr>
          <p:cNvPr id="25" name="bld4_1174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1175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history's most acclaimed perfumes lean heavily synthetic. Sophistication is about composition, not ingredient origin.</a:t>
            </a:r>
            <a:endParaRPr lang="en-US" sz="1080" dirty="0"/>
          </a:p>
        </p:txBody>
      </p:sp>
      <p:sp>
        <p:nvSpPr>
          <p:cNvPr id="27" name="bld5_1176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177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1178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perfumers avoid synthetics</a:t>
            </a:r>
            <a:endParaRPr lang="en-US" sz="1350" dirty="0"/>
          </a:p>
        </p:txBody>
      </p:sp>
      <p:sp>
        <p:nvSpPr>
          <p:cNvPr id="30" name="bld5_1179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1180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fine fragrance house uses synthetics extensively — they are the industry standard, not a shortcut.</a:t>
            </a:r>
            <a:endParaRPr lang="en-US" sz="1080" dirty="0"/>
          </a:p>
        </p:txBody>
      </p:sp>
      <p:sp>
        <p:nvSpPr>
          <p:cNvPr id="33" name="trans_fade_7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1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0EB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0" name="Shape 8"/>
          <p:cNvSpPr/>
          <p:nvPr/>
        </p:nvSpPr>
        <p:spPr>
          <a:xfrm>
            <a:off x="1246241" y="3683415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2" name="bld1_1182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4" name="Shape 12"/>
          <p:cNvSpPr/>
          <p:nvPr/>
        </p:nvSpPr>
        <p:spPr>
          <a:xfrm>
            <a:off x="2915110" y="3903233"/>
            <a:ext cx="1134307" cy="764424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6" name="bld2_1184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4731019" y="3683415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0" name="bld3_1186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2" name="Shape 20"/>
          <p:cNvSpPr/>
          <p:nvPr/>
        </p:nvSpPr>
        <p:spPr>
          <a:xfrm>
            <a:off x="6473409" y="3952779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4" name="bld4_1188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6" name="Shape 24"/>
          <p:cNvSpPr/>
          <p:nvPr/>
        </p:nvSpPr>
        <p:spPr>
          <a:xfrm>
            <a:off x="8142278" y="3633869"/>
            <a:ext cx="1134307" cy="764424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8" name="bld5_1190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Ethylene Brassylate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0" name="Shape 28"/>
          <p:cNvSpPr/>
          <p:nvPr/>
        </p:nvSpPr>
        <p:spPr>
          <a:xfrm>
            <a:off x="9958187" y="3952779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2" name="bld6_1192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Exaltolide</a:t>
            </a:r>
            <a:endParaRPr lang="en-US" sz="1350" dirty="0"/>
          </a:p>
        </p:txBody>
      </p:sp>
      <p:sp>
        <p:nvSpPr>
          <p:cNvPr id="34" name="trans_fade_7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6" grpId="0"/>
      <p:bldP spid="20" grpId="0"/>
      <p:bldP spid="24" grpId="0"/>
      <p:bldP spid="28" grpId="0"/>
      <p:bldP spid="3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Clean, metallic, skin-like, fruity — not one smell</a:t>
            </a:r>
            <a:endParaRPr lang="en-US" sz="3200" dirty="0"/>
          </a:p>
        </p:txBody>
      </p:sp>
      <p:sp>
        <p:nvSpPr>
          <p:cNvPr id="7" name="bld1_1193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2089266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1195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450" dirty="0"/>
          </a:p>
        </p:txBody>
      </p:sp>
      <p:sp>
        <p:nvSpPr>
          <p:cNvPr id="12" name="bld1_1196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laundry-like, soft. Base note, very long, radiant at low % — the classic "fresh clean" musk.</a:t>
            </a:r>
            <a:endParaRPr lang="en-US" sz="1080" dirty="0"/>
          </a:p>
        </p:txBody>
      </p:sp>
      <p:sp>
        <p:nvSpPr>
          <p:cNvPr id="13" name="bld2_1197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2749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7" name="bld2_1199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450" dirty="0"/>
          </a:p>
        </p:txBody>
      </p:sp>
      <p:sp>
        <p:nvSpPr>
          <p:cNvPr id="18" name="bld2_1200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Cleaner, more metallic and modern. Base note, very long — real diffusion and body, not just a background hum.</a:t>
            </a:r>
            <a:endParaRPr lang="en-US" sz="1080" dirty="0"/>
          </a:p>
        </p:txBody>
      </p:sp>
      <p:sp>
        <p:nvSpPr>
          <p:cNvPr id="19" name="bld3_1201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1" name="Shape 19"/>
          <p:cNvSpPr/>
          <p:nvPr/>
        </p:nvSpPr>
        <p:spPr>
          <a:xfrm>
            <a:off x="9656231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3" name="bld3_1203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450" dirty="0"/>
          </a:p>
        </p:txBody>
      </p:sp>
      <p:sp>
        <p:nvSpPr>
          <p:cNvPr id="24" name="bld3_1204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elegant, skin-like, slightly fruity ambrette character. Base note, long — closer to skin than a lab-clean musk.</a:t>
            </a:r>
            <a:endParaRPr lang="en-US" sz="1080" dirty="0"/>
          </a:p>
        </p:txBody>
      </p:sp>
      <p:sp>
        <p:nvSpPr>
          <p:cNvPr id="25" name="bld4_1205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7" name="Shape 25"/>
          <p:cNvSpPr/>
          <p:nvPr/>
        </p:nvSpPr>
        <p:spPr>
          <a:xfrm>
            <a:off x="2089266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9" name="bld4_1207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450" dirty="0"/>
          </a:p>
        </p:txBody>
      </p:sp>
      <p:sp>
        <p:nvSpPr>
          <p:cNvPr id="30" name="bld4_1208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Fruity, pear-like musk nuance. Base note, medium-long, intimate — a gentler, more skin-like effect.</a:t>
            </a:r>
            <a:endParaRPr lang="en-US" sz="1080" dirty="0"/>
          </a:p>
        </p:txBody>
      </p:sp>
      <p:sp>
        <p:nvSpPr>
          <p:cNvPr id="31" name="bld5_1209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3" name="Shape 31"/>
          <p:cNvSpPr/>
          <p:nvPr/>
        </p:nvSpPr>
        <p:spPr>
          <a:xfrm>
            <a:off x="5872749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5" name="bld5_1211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Ethylene Brassylate</a:t>
            </a:r>
            <a:endParaRPr lang="en-US" sz="1450" dirty="0"/>
          </a:p>
        </p:txBody>
      </p:sp>
      <p:sp>
        <p:nvSpPr>
          <p:cNvPr id="36" name="bld5_1212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rounded, economical. Base note, long — a useful, affordable background musk.</a:t>
            </a:r>
            <a:endParaRPr lang="en-US" sz="1080" dirty="0"/>
          </a:p>
        </p:txBody>
      </p:sp>
      <p:sp>
        <p:nvSpPr>
          <p:cNvPr id="37" name="bld6_1213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9" name="Shape 37"/>
          <p:cNvSpPr/>
          <p:nvPr/>
        </p:nvSpPr>
        <p:spPr>
          <a:xfrm>
            <a:off x="9656231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1" name="bld6_1215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Exaltolide</a:t>
            </a:r>
            <a:endParaRPr lang="en-US" sz="1450" dirty="0"/>
          </a:p>
        </p:txBody>
      </p:sp>
      <p:sp>
        <p:nvSpPr>
          <p:cNvPr id="42" name="bld6_1216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Macrocyclic-style, soft and naturalistic. Base note, long, very gentle diffusion.</a:t>
            </a:r>
            <a:endParaRPr lang="en-US" sz="1080" dirty="0"/>
          </a:p>
        </p:txBody>
      </p:sp>
      <p:sp>
        <p:nvSpPr>
          <p:cNvPr id="44" name="trans_fade_7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7" grpId="0"/>
      <p:bldP spid="18" grpId="0"/>
      <p:bldP spid="19" grpId="0"/>
      <p:bldP spid="23" grpId="0"/>
      <p:bldP spid="24" grpId="0"/>
      <p:bldP spid="25" grpId="0"/>
      <p:bldP spid="29" grpId="0"/>
      <p:bldP spid="30" grpId="0"/>
      <p:bldP spid="31" grpId="0"/>
      <p:bldP spid="35" grpId="0"/>
      <p:bldP spid="36" grpId="0"/>
      <p:bldP spid="37" grpId="0"/>
      <p:bldP spid="41" grpId="0"/>
      <p:bldP spid="4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musks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" name="Shape 6"/>
          <p:cNvSpPr/>
          <p:nvPr/>
        </p:nvSpPr>
        <p:spPr>
          <a:xfrm>
            <a:off x="1490710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0" name="bld1_1218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800" dirty="0"/>
          </a:p>
        </p:txBody>
      </p:sp>
      <p:sp>
        <p:nvSpPr>
          <p:cNvPr id="11" name="bld1_1219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2" name="bld1_1220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 musk</a:t>
            </a:r>
            <a:endParaRPr lang="en-US" sz="1100" dirty="0"/>
          </a:p>
        </p:txBody>
      </p:sp>
      <p:sp>
        <p:nvSpPr>
          <p:cNvPr id="13" name="bld1_1221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4" name="bld1_1222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"fresh clean" signature</a:t>
            </a:r>
            <a:endParaRPr lang="en-US" sz="1100" dirty="0"/>
          </a:p>
        </p:txBody>
      </p:sp>
      <p:sp>
        <p:nvSpPr>
          <p:cNvPr id="15" name="bld1_1223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6" name="bld1_1224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radiant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4884048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1226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800" dirty="0"/>
          </a:p>
        </p:txBody>
      </p:sp>
      <p:sp>
        <p:nvSpPr>
          <p:cNvPr id="21" name="bld2_1227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2" name="bld2_1228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Cleaner, metallic, modern</a:t>
            </a:r>
            <a:endParaRPr lang="en-US" sz="1100" dirty="0"/>
          </a:p>
        </p:txBody>
      </p:sp>
      <p:sp>
        <p:nvSpPr>
          <p:cNvPr id="23" name="bld2_1229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4" name="bld2_1230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diffusion and body</a:t>
            </a:r>
            <a:endParaRPr lang="en-US" sz="1100" dirty="0"/>
          </a:p>
        </p:txBody>
      </p:sp>
      <p:sp>
        <p:nvSpPr>
          <p:cNvPr id="25" name="bld2_1231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6" name="bld2_1232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7387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0" name="bld3_1234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800" dirty="0"/>
          </a:p>
        </p:txBody>
      </p:sp>
      <p:sp>
        <p:nvSpPr>
          <p:cNvPr id="31" name="bld3_1235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2" name="bld3_1236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elegant, skin-like</a:t>
            </a:r>
            <a:endParaRPr lang="en-US" sz="1100" dirty="0"/>
          </a:p>
        </p:txBody>
      </p:sp>
      <p:sp>
        <p:nvSpPr>
          <p:cNvPr id="33" name="bld3_1237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4" name="bld3_1238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Natural, skin-like feel</a:t>
            </a:r>
            <a:endParaRPr lang="en-US" sz="1100" dirty="0"/>
          </a:p>
        </p:txBody>
      </p:sp>
      <p:sp>
        <p:nvSpPr>
          <p:cNvPr id="35" name="bld3_1239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6" name="bld3_1240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moderate</a:t>
            </a:r>
            <a:endParaRPr lang="en-US" sz="1100" dirty="0"/>
          </a:p>
        </p:txBody>
      </p:sp>
      <p:sp>
        <p:nvSpPr>
          <p:cNvPr id="38" name="trans_fade_7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2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Amber, Ambrox &amp; Radiant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B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&amp; AMBROX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857014" y="3723100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691416" y="3646670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2213687" y="3570240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bld1_1242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4423168" y="3948828"/>
            <a:ext cx="848860" cy="84886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4232906" y="3861015"/>
            <a:ext cx="526879" cy="52687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4832962" y="3773202"/>
            <a:ext cx="439066" cy="43906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2_1244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7084181" y="3723100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6918583" y="3646670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7440854" y="3570240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3_1246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9697765" y="3992464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9532167" y="3916034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10054438" y="3839604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4_1248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350" dirty="0"/>
          </a:p>
        </p:txBody>
      </p:sp>
      <p:sp>
        <p:nvSpPr>
          <p:cNvPr id="34" name="trans_fade_7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AMBER, AMBROX &amp; RADIANT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Similar, but not identical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82915" y="4627395"/>
            <a:ext cx="1369879" cy="1369879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67854" y="5152516"/>
            <a:ext cx="359593" cy="15981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27448" y="5152516"/>
            <a:ext cx="35959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127448" y="5352290"/>
            <a:ext cx="359593" cy="31963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126" y="5671928"/>
            <a:ext cx="59932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126" y="5312335"/>
            <a:ext cx="239729" cy="35959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328351" y="5112561"/>
            <a:ext cx="43950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3927" y="5248407"/>
            <a:ext cx="127855" cy="127855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81500" y="5106568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41093" y="5306342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081500" y="5625980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482177" y="5625980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82403" y="5066613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249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3" name="Shape 21"/>
          <p:cNvSpPr/>
          <p:nvPr/>
        </p:nvSpPr>
        <p:spPr>
          <a:xfrm rot="9000000">
            <a:off x="1696784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6000000">
            <a:off x="1622607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1400000">
            <a:off x="1856547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7" name="bld1_1251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450" dirty="0"/>
          </a:p>
        </p:txBody>
      </p:sp>
      <p:sp>
        <p:nvSpPr>
          <p:cNvPr id="28" name="bld1_1252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 with real skin-warmth. Base note, very long, extremely diffusive — the genre-defining reference point.</a:t>
            </a:r>
            <a:endParaRPr lang="en-US" sz="1080" dirty="0"/>
          </a:p>
        </p:txBody>
      </p:sp>
      <p:sp>
        <p:nvSpPr>
          <p:cNvPr id="29" name="bld2_1253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1" name="Shape 29"/>
          <p:cNvSpPr/>
          <p:nvPr/>
        </p:nvSpPr>
        <p:spPr>
          <a:xfrm rot="9000000">
            <a:off x="4534395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6000000">
            <a:off x="4460219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1400000">
            <a:off x="4694159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5" name="bld2_1255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450" dirty="0"/>
          </a:p>
        </p:txBody>
      </p:sp>
      <p:sp>
        <p:nvSpPr>
          <p:cNvPr id="36" name="bld2_1256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cleaner, more consistent take on Ambroxan's effect. Base note, very long — favoured for reliability batch to batch.</a:t>
            </a:r>
            <a:endParaRPr lang="en-US" sz="1080" dirty="0"/>
          </a:p>
        </p:txBody>
      </p:sp>
      <p:sp>
        <p:nvSpPr>
          <p:cNvPr id="37" name="bld3_1257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9" name="Shape 37"/>
          <p:cNvSpPr/>
          <p:nvPr/>
        </p:nvSpPr>
        <p:spPr>
          <a:xfrm rot="9000000">
            <a:off x="7372007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6000000">
            <a:off x="7297831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1400000">
            <a:off x="7531771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43" name="bld3_1259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450" dirty="0"/>
          </a:p>
        </p:txBody>
      </p:sp>
      <p:sp>
        <p:nvSpPr>
          <p:cNvPr id="44" name="bld3_1260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Softer, rounder, more ambery-woody and less sharp or dry than pure Ambroxan. Base note, long.</a:t>
            </a:r>
            <a:endParaRPr lang="en-US" sz="1080" dirty="0"/>
          </a:p>
        </p:txBody>
      </p:sp>
      <p:sp>
        <p:nvSpPr>
          <p:cNvPr id="45" name="bld4_1261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7" name="Shape 45"/>
          <p:cNvSpPr/>
          <p:nvPr/>
        </p:nvSpPr>
        <p:spPr>
          <a:xfrm rot="9000000">
            <a:off x="10209619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000000">
            <a:off x="10135443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1400000">
            <a:off x="10369383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1" name="bld4_1263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450" dirty="0"/>
          </a:p>
        </p:txBody>
      </p:sp>
      <p:sp>
        <p:nvSpPr>
          <p:cNvPr id="52" name="bld4_1264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Woody-amber crossover with a dry, radiant lift. Base note, long — bridges the woody and amber families.</a:t>
            </a:r>
            <a:endParaRPr lang="en-US" sz="1080" dirty="0"/>
          </a:p>
        </p:txBody>
      </p:sp>
      <p:sp>
        <p:nvSpPr>
          <p:cNvPr id="54" name="trans_fade_7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5" name="Text 5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56" name="Text 5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7" grpId="0"/>
      <p:bldP spid="28" grpId="0"/>
      <p:bldP spid="29" grpId="0"/>
      <p:bldP spid="35" grpId="0"/>
      <p:bldP spid="36" grpId="0"/>
      <p:bldP spid="37" grpId="0"/>
      <p:bldP spid="43" grpId="0"/>
      <p:bldP spid="44" grpId="0"/>
      <p:bldP spid="45" grpId="0"/>
      <p:bldP spid="51" grpId="0"/>
      <p:bldP spid="52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amber-radiants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1266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13" name="bld1_1267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268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15" name="bld1_1269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270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17" name="bld1_1271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272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extreme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4" name="bld2_1274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800" dirty="0"/>
          </a:p>
        </p:txBody>
      </p:sp>
      <p:sp>
        <p:nvSpPr>
          <p:cNvPr id="25" name="bld2_1275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276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ambery-woody, musky</a:t>
            </a:r>
            <a:endParaRPr lang="en-US" sz="1100" dirty="0"/>
          </a:p>
        </p:txBody>
      </p:sp>
      <p:sp>
        <p:nvSpPr>
          <p:cNvPr id="27" name="bld2_1277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278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gentler radiant glow</a:t>
            </a:r>
            <a:endParaRPr lang="en-US" sz="1100" dirty="0"/>
          </a:p>
        </p:txBody>
      </p:sp>
      <p:sp>
        <p:nvSpPr>
          <p:cNvPr id="29" name="bld2_1279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280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moderate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1282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800" dirty="0"/>
          </a:p>
        </p:txBody>
      </p:sp>
      <p:sp>
        <p:nvSpPr>
          <p:cNvPr id="37" name="bld3_1283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284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Woody-amber crossover</a:t>
            </a:r>
            <a:endParaRPr lang="en-US" sz="1100" dirty="0"/>
          </a:p>
        </p:txBody>
      </p:sp>
      <p:sp>
        <p:nvSpPr>
          <p:cNvPr id="39" name="bld3_1285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286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wood and amber</a:t>
            </a:r>
            <a:endParaRPr lang="en-US" sz="1100" dirty="0"/>
          </a:p>
        </p:txBody>
      </p:sp>
      <p:sp>
        <p:nvSpPr>
          <p:cNvPr id="41" name="bld3_1287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288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diffusive</a:t>
            </a:r>
            <a:endParaRPr lang="en-US" sz="1100" dirty="0"/>
          </a:p>
        </p:txBody>
      </p:sp>
      <p:sp>
        <p:nvSpPr>
          <p:cNvPr id="44" name="trans_fade_8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3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310628" y="3586835"/>
            <a:ext cx="858493" cy="85849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417940" y="3694146"/>
            <a:ext cx="643870" cy="64387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25251" y="3801458"/>
            <a:ext cx="429247" cy="42924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4" name="Shape 12"/>
          <p:cNvSpPr/>
          <p:nvPr/>
        </p:nvSpPr>
        <p:spPr>
          <a:xfrm>
            <a:off x="1632563" y="3908770"/>
            <a:ext cx="214623" cy="21462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75488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1290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9" name="Shape 17"/>
          <p:cNvSpPr/>
          <p:nvPr/>
        </p:nvSpPr>
        <p:spPr>
          <a:xfrm>
            <a:off x="2865793" y="3668974"/>
            <a:ext cx="1232942" cy="123294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0" name="Shape 18"/>
          <p:cNvSpPr/>
          <p:nvPr/>
        </p:nvSpPr>
        <p:spPr>
          <a:xfrm>
            <a:off x="3019910" y="3823092"/>
            <a:ext cx="924707" cy="92470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174028" y="3977210"/>
            <a:ext cx="616471" cy="61647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2" name="Shape 20"/>
          <p:cNvSpPr/>
          <p:nvPr/>
        </p:nvSpPr>
        <p:spPr>
          <a:xfrm>
            <a:off x="3328146" y="4131328"/>
            <a:ext cx="308236" cy="30823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08287" y="4211469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4" name="Shape 22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5" name="bld2_1292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688095" y="3479523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8" name="Shape 26"/>
          <p:cNvSpPr/>
          <p:nvPr/>
        </p:nvSpPr>
        <p:spPr>
          <a:xfrm>
            <a:off x="4956374" y="3747802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160266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0" name="Shape 28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1" name="bld3_1294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30484" y="3748887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4" name="Shape 32"/>
          <p:cNvSpPr/>
          <p:nvPr/>
        </p:nvSpPr>
        <p:spPr>
          <a:xfrm>
            <a:off x="6698763" y="4017166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02655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6" name="Shape 34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1296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2960" y="3399610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298451" y="3605101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41" y="3810591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635455" y="3942105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3" name="Shape 4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5_1298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Ebanol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9915262" y="3748887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094115" y="3927740"/>
            <a:ext cx="715411" cy="71541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72968" y="4106593"/>
            <a:ext cx="357706" cy="35770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87434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1" name="bld6_1300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Polysantol</a:t>
            </a:r>
            <a:endParaRPr lang="en-US" sz="1350" dirty="0"/>
          </a:p>
        </p:txBody>
      </p:sp>
      <p:sp>
        <p:nvSpPr>
          <p:cNvPr id="53" name="trans_fade_8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5" grpId="0"/>
      <p:bldP spid="31" grpId="0"/>
      <p:bldP spid="37" grpId="0"/>
      <p:bldP spid="44" grpId="0"/>
      <p:bldP spid="5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Dry, creamy, transparent, and textured woods</a:t>
            </a:r>
            <a:endParaRPr lang="en-US" sz="3200" dirty="0"/>
          </a:p>
        </p:txBody>
      </p:sp>
      <p:sp>
        <p:nvSpPr>
          <p:cNvPr id="7" name="bld1_1301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45431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693931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742430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3" name="Shape 11"/>
          <p:cNvSpPr/>
          <p:nvPr/>
        </p:nvSpPr>
        <p:spPr>
          <a:xfrm>
            <a:off x="1790930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810330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5" name="Shape 13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6" name="bld1_1303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17" name="bld1_1304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transparent, huge volume. Base note, very long — the single most-used woody synthetic in the world. Softens transitions between materials.</a:t>
            </a:r>
            <a:endParaRPr lang="en-US" sz="1080" dirty="0"/>
          </a:p>
        </p:txBody>
      </p:sp>
      <p:sp>
        <p:nvSpPr>
          <p:cNvPr id="18" name="bld2_1305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543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1" name="Shape 19"/>
          <p:cNvSpPr/>
          <p:nvPr/>
        </p:nvSpPr>
        <p:spPr>
          <a:xfrm>
            <a:off x="4495168" y="2038655"/>
            <a:ext cx="363748" cy="36374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555792" y="2099280"/>
            <a:ext cx="242499" cy="2424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4616417" y="2159904"/>
            <a:ext cx="121249" cy="12124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647942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5" name="Shape 23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6" name="bld2_1307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450" dirty="0"/>
          </a:p>
        </p:txBody>
      </p:sp>
      <p:sp>
        <p:nvSpPr>
          <p:cNvPr id="27" name="bld2_1308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woodiness. Base note, very long, cosy — a comfort-wood texture unlike any natural.</a:t>
            </a:r>
            <a:endParaRPr lang="en-US" sz="1080" dirty="0"/>
          </a:p>
        </p:txBody>
      </p:sp>
      <p:sp>
        <p:nvSpPr>
          <p:cNvPr id="28" name="bld3_1309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0" name="Shape 28"/>
          <p:cNvSpPr/>
          <p:nvPr/>
        </p:nvSpPr>
        <p:spPr>
          <a:xfrm>
            <a:off x="7272155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1" name="Shape 29"/>
          <p:cNvSpPr/>
          <p:nvPr/>
        </p:nvSpPr>
        <p:spPr>
          <a:xfrm>
            <a:off x="7393404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485554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3" name="Shape 31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4" name="bld3_1311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450" dirty="0"/>
          </a:p>
        </p:txBody>
      </p:sp>
      <p:sp>
        <p:nvSpPr>
          <p:cNvPr id="35" name="bld3_1312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creamy, true-to-life sandalwood. Base note, long, intense at tiny doses — a modern sandalwood benchmark.</a:t>
            </a:r>
            <a:endParaRPr lang="en-US" sz="1080" dirty="0"/>
          </a:p>
        </p:txBody>
      </p:sp>
      <p:sp>
        <p:nvSpPr>
          <p:cNvPr id="36" name="bld4_1313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0109766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190599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0" name="Shape 38"/>
          <p:cNvSpPr/>
          <p:nvPr/>
        </p:nvSpPr>
        <p:spPr>
          <a:xfrm>
            <a:off x="10271432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0323165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2" name="Shape 4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43" name="bld4_1315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Ebanol</a:t>
            </a:r>
            <a:endParaRPr lang="en-US" sz="1450" dirty="0"/>
          </a:p>
        </p:txBody>
      </p:sp>
      <p:sp>
        <p:nvSpPr>
          <p:cNvPr id="44" name="bld4_1316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sandalwood with a drier edge than Javanol. Base note, long — a versatile, affordable sandalwood substitute.</a:t>
            </a:r>
            <a:endParaRPr lang="en-US" sz="1080" dirty="0"/>
          </a:p>
        </p:txBody>
      </p:sp>
      <p:sp>
        <p:nvSpPr>
          <p:cNvPr id="45" name="bld5_1317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7" name="Shape 45"/>
          <p:cNvSpPr/>
          <p:nvPr/>
        </p:nvSpPr>
        <p:spPr>
          <a:xfrm>
            <a:off x="1596931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1718180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810330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1" name="bld5_1319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450" dirty="0"/>
          </a:p>
        </p:txBody>
      </p:sp>
      <p:sp>
        <p:nvSpPr>
          <p:cNvPr id="52" name="bld5_1320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milky, gentle sandalwood effect. Base note, medium-long — the mildest of the sandalwood synthetics.</a:t>
            </a:r>
            <a:endParaRPr lang="en-US" sz="1080" dirty="0"/>
          </a:p>
        </p:txBody>
      </p:sp>
      <p:sp>
        <p:nvSpPr>
          <p:cNvPr id="53" name="bld6_1321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5" name="Shape 53"/>
          <p:cNvSpPr/>
          <p:nvPr/>
        </p:nvSpPr>
        <p:spPr>
          <a:xfrm>
            <a:off x="4434543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6" name="Shape 54"/>
          <p:cNvSpPr/>
          <p:nvPr/>
        </p:nvSpPr>
        <p:spPr>
          <a:xfrm>
            <a:off x="4555792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4647942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8" name="Shape 5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9" name="bld6_1323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Bacdanol</a:t>
            </a:r>
            <a:endParaRPr lang="en-US" sz="1450" dirty="0"/>
          </a:p>
        </p:txBody>
      </p:sp>
      <p:sp>
        <p:nvSpPr>
          <p:cNvPr id="60" name="bld6_1324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woody-balsamic sandalwood facet. Base note, long — adds roundness alongside sharper woods.</a:t>
            </a:r>
            <a:endParaRPr lang="en-US" sz="1080" dirty="0"/>
          </a:p>
        </p:txBody>
      </p:sp>
      <p:sp>
        <p:nvSpPr>
          <p:cNvPr id="61" name="bld7_1325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7272155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352988" y="4418015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65" name="Shape 63"/>
          <p:cNvSpPr/>
          <p:nvPr/>
        </p:nvSpPr>
        <p:spPr>
          <a:xfrm>
            <a:off x="7433821" y="4498848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485554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7" name="Shape 65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8" name="bld7_1327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Polysantol</a:t>
            </a:r>
            <a:endParaRPr lang="en-US" sz="1450" dirty="0"/>
          </a:p>
        </p:txBody>
      </p:sp>
      <p:sp>
        <p:nvSpPr>
          <p:cNvPr id="69" name="bld7_1328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Intense, creamy-sweet sandalwood character. Base note, long, potent — used in very small amounts.</a:t>
            </a:r>
            <a:endParaRPr lang="en-US" sz="1080" dirty="0"/>
          </a:p>
        </p:txBody>
      </p:sp>
      <p:sp>
        <p:nvSpPr>
          <p:cNvPr id="70" name="bld8_1329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2" name="Shape 70"/>
          <p:cNvSpPr/>
          <p:nvPr/>
        </p:nvSpPr>
        <p:spPr>
          <a:xfrm>
            <a:off x="10109766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10158266" y="4385682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4" name="Shape 72"/>
          <p:cNvSpPr/>
          <p:nvPr/>
        </p:nvSpPr>
        <p:spPr>
          <a:xfrm>
            <a:off x="10206766" y="4434182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10255266" y="4482681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6" name="Shape 74"/>
          <p:cNvSpPr/>
          <p:nvPr/>
        </p:nvSpPr>
        <p:spPr>
          <a:xfrm>
            <a:off x="10303766" y="4531181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10323165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8" name="Shape 76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79" name="bld8_1331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Kephalis</a:t>
            </a:r>
            <a:endParaRPr lang="en-US" sz="1450" dirty="0"/>
          </a:p>
        </p:txBody>
      </p:sp>
      <p:sp>
        <p:nvSpPr>
          <p:cNvPr id="80" name="bld8_1332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vetiver-cedar textured woodiness. Base note, long — adds grain and structure rather than smoothness.</a:t>
            </a:r>
            <a:endParaRPr lang="en-US" sz="1080" dirty="0"/>
          </a:p>
        </p:txBody>
      </p:sp>
      <p:sp>
        <p:nvSpPr>
          <p:cNvPr id="82" name="trans_fade_8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3" name="Text 8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84" name="Text 8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6" grpId="0"/>
      <p:bldP spid="27" grpId="0"/>
      <p:bldP spid="28" grpId="0"/>
      <p:bldP spid="34" grpId="0"/>
      <p:bldP spid="35" grpId="0"/>
      <p:bldP spid="36" grpId="0"/>
      <p:bldP spid="43" grpId="0"/>
      <p:bldP spid="44" grpId="0"/>
      <p:bldP spid="45" grpId="0"/>
      <p:bldP spid="51" grpId="0"/>
      <p:bldP spid="52" grpId="0"/>
      <p:bldP spid="53" grpId="0"/>
      <p:bldP spid="59" grpId="0"/>
      <p:bldP spid="60" grpId="0"/>
      <p:bldP spid="61" grpId="0"/>
      <p:bldP spid="68" grpId="0"/>
      <p:bldP spid="69" grpId="0"/>
      <p:bldP spid="70" grpId="0"/>
      <p:bldP spid="79" grpId="0"/>
      <p:bldP spid="80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woody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1334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1335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1336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transparent, huge volume</a:t>
            </a:r>
            <a:endParaRPr lang="en-US" sz="1100" dirty="0"/>
          </a:p>
        </p:txBody>
      </p:sp>
      <p:sp>
        <p:nvSpPr>
          <p:cNvPr id="18" name="bld1_1337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1338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1339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1340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436316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25911" y="1945815"/>
            <a:ext cx="1137569" cy="113756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15506" y="2135410"/>
            <a:ext cx="758380" cy="75838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05101" y="2325005"/>
            <a:ext cx="379190" cy="37919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03690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9" name="bld2_1342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800" dirty="0"/>
          </a:p>
        </p:txBody>
      </p:sp>
      <p:sp>
        <p:nvSpPr>
          <p:cNvPr id="30" name="bld2_1343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1344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</a:t>
            </a:r>
            <a:endParaRPr lang="en-US" sz="1100" dirty="0"/>
          </a:p>
        </p:txBody>
      </p:sp>
      <p:sp>
        <p:nvSpPr>
          <p:cNvPr id="32" name="bld2_1345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1346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Cosy, enveloping warmth</a:t>
            </a:r>
            <a:endParaRPr lang="en-US" sz="1100" dirty="0"/>
          </a:p>
        </p:txBody>
      </p:sp>
      <p:sp>
        <p:nvSpPr>
          <p:cNvPr id="34" name="bld2_1347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1348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867020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8" name="Shape 36"/>
          <p:cNvSpPr/>
          <p:nvPr/>
        </p:nvSpPr>
        <p:spPr>
          <a:xfrm>
            <a:off x="6246210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34394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0" name="Shape 38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1" name="bld3_1350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800" dirty="0"/>
          </a:p>
        </p:txBody>
      </p:sp>
      <p:sp>
        <p:nvSpPr>
          <p:cNvPr id="42" name="bld3_1351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3" name="bld3_1352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creamy sandalwood</a:t>
            </a:r>
            <a:endParaRPr lang="en-US" sz="1100" dirty="0"/>
          </a:p>
        </p:txBody>
      </p:sp>
      <p:sp>
        <p:nvSpPr>
          <p:cNvPr id="44" name="bld3_1353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5" name="bld3_1354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True-to-life sandalwood, intense</a:t>
            </a:r>
            <a:endParaRPr lang="en-US" sz="1100" dirty="0"/>
          </a:p>
        </p:txBody>
      </p:sp>
      <p:sp>
        <p:nvSpPr>
          <p:cNvPr id="46" name="bld3_1355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7" name="bld3_1356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tiny dose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9" name="Shape 47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8676914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3" name="bld4_1358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800" dirty="0"/>
          </a:p>
        </p:txBody>
      </p:sp>
      <p:sp>
        <p:nvSpPr>
          <p:cNvPr id="54" name="bld4_1359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1360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milky sandalwood</a:t>
            </a:r>
            <a:endParaRPr lang="en-US" sz="1100" dirty="0"/>
          </a:p>
        </p:txBody>
      </p:sp>
      <p:sp>
        <p:nvSpPr>
          <p:cNvPr id="56" name="bld4_1361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1362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mildest sandalwood effect</a:t>
            </a:r>
            <a:endParaRPr lang="en-US" sz="1100" dirty="0"/>
          </a:p>
        </p:txBody>
      </p:sp>
      <p:sp>
        <p:nvSpPr>
          <p:cNvPr id="58" name="bld4_1363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1364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medium-long</a:t>
            </a:r>
            <a:endParaRPr lang="en-US" sz="1100" dirty="0"/>
          </a:p>
        </p:txBody>
      </p:sp>
      <p:sp>
        <p:nvSpPr>
          <p:cNvPr id="61" name="trans_fade_8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4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 rot="10800000">
            <a:off x="1824945" y="3379165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4400000">
            <a:off x="2100738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2100738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24945" y="4016081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3600000">
            <a:off x="1549152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7200000">
            <a:off x="1549152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61254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8" name="bld1_1366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22037" y="3547815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4158185" y="3792042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4029788" y="418720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3614285" y="418720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3485888" y="3792042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29354" y="4109819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1368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 rot="10800000">
            <a:off x="6006679" y="3379165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4400000">
            <a:off x="6282472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8000000">
            <a:off x="6282472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006679" y="4016081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3600000">
            <a:off x="5730887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7200000">
            <a:off x="5730887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42988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7" name="bld3_1370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Benzyl Acetate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1177" y="386355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2700000">
            <a:off x="8227368" y="3919964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5400000">
            <a:off x="8283781" y="4056156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8100000">
            <a:off x="8227368" y="4192347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0800000">
            <a:off x="8091177" y="4248759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3500000">
            <a:off x="7954986" y="4192347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6200000">
            <a:off x="7898574" y="4056156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8900000">
            <a:off x="7954986" y="3919964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84808" y="4183539"/>
            <a:ext cx="203813" cy="20381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8" name="Shape 46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9" name="bld4_1372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 Ionone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1" name="Shape 49"/>
          <p:cNvSpPr/>
          <p:nvPr/>
        </p:nvSpPr>
        <p:spPr>
          <a:xfrm>
            <a:off x="10094638" y="3278451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4320000">
            <a:off x="10430787" y="352267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640000">
            <a:off x="10302389" y="3917844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9886886" y="3917844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9758489" y="352267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10101955" y="3840455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7" name="Shape 5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8" name="bld5_1374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350" dirty="0"/>
          </a:p>
        </p:txBody>
      </p:sp>
      <p:sp>
        <p:nvSpPr>
          <p:cNvPr id="60" name="trans_fade_8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62" name="Text 5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27" grpId="0"/>
      <p:bldP spid="37" grpId="0"/>
      <p:bldP spid="49" grpId="0"/>
      <p:bldP spid="58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Isolated, hyper-true floral facets</a:t>
            </a:r>
            <a:endParaRPr lang="en-US" sz="3200" dirty="0"/>
          </a:p>
        </p:txBody>
      </p:sp>
      <p:sp>
        <p:nvSpPr>
          <p:cNvPr id="7" name="bld1_1375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1521719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162672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162672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1719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141671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141671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1377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378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jasmine-like material valued for space, diffusion and radiance — not simply "jasmine."</a:t>
            </a:r>
            <a:endParaRPr lang="en-US" sz="1080" dirty="0"/>
          </a:p>
        </p:txBody>
      </p:sp>
      <p:sp>
        <p:nvSpPr>
          <p:cNvPr id="19" name="bld2_1379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3789383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3841237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3862715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3841237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3789383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3737530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3716052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3737530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86958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1" name="bld2_1381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Hydroxycitronellal</a:t>
            </a:r>
            <a:endParaRPr lang="en-US" sz="1450" dirty="0"/>
          </a:p>
        </p:txBody>
      </p:sp>
      <p:sp>
        <p:nvSpPr>
          <p:cNvPr id="32" name="bld2_1382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muguet (lily-of-the-valley) floral. Heart note, medium — a clean, slightly waxy floral lift.</a:t>
            </a:r>
            <a:endParaRPr lang="en-US" sz="1080" dirty="0"/>
          </a:p>
        </p:txBody>
      </p:sp>
      <p:sp>
        <p:nvSpPr>
          <p:cNvPr id="33" name="bld3_1383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1" name="Shape 3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2" name="bld3_1385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450" dirty="0"/>
          </a:p>
        </p:txBody>
      </p:sp>
      <p:sp>
        <p:nvSpPr>
          <p:cNvPr id="43" name="bld3_1386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rosy, slightly honeyed. Heart note, medium — the single most-used rose material in the world.</a:t>
            </a:r>
            <a:endParaRPr lang="en-US" sz="1080" dirty="0"/>
          </a:p>
        </p:txBody>
      </p:sp>
      <p:sp>
        <p:nvSpPr>
          <p:cNvPr id="44" name="bld4_1387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 rot="10800000">
            <a:off x="8331987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4400000">
            <a:off x="843699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8000000">
            <a:off x="843699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31987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3600000">
            <a:off x="822698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7200000">
            <a:off x="822698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3" name="Shape 51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4" name="bld4_1389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Benzyl Acetate</a:t>
            </a:r>
            <a:endParaRPr lang="en-US" sz="1450" dirty="0"/>
          </a:p>
        </p:txBody>
      </p:sp>
      <p:sp>
        <p:nvSpPr>
          <p:cNvPr id="55" name="bld4_1390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fruity-jasmine, pear-like. Top-heart, medium — a bright lift inside a jasmine accord.</a:t>
            </a:r>
            <a:endParaRPr lang="en-US" sz="1080" dirty="0"/>
          </a:p>
        </p:txBody>
      </p:sp>
      <p:sp>
        <p:nvSpPr>
          <p:cNvPr id="56" name="bld5_1391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10599652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2700000">
            <a:off x="10651505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10672983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8100000">
            <a:off x="10651505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0800000">
            <a:off x="10599652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3500000">
            <a:off x="10547798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6200000">
            <a:off x="10526320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8900000">
            <a:off x="10547798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597227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7" name="Shape 6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8" name="bld5_1393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Linalool</a:t>
            </a:r>
            <a:endParaRPr lang="en-US" sz="1450" dirty="0"/>
          </a:p>
        </p:txBody>
      </p:sp>
      <p:sp>
        <p:nvSpPr>
          <p:cNvPr id="69" name="bld5_1394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Floral-woody freshness, occurs naturally too. Top-heart, medium — a foundational, near-invisible freshener.</a:t>
            </a:r>
            <a:endParaRPr lang="en-US" sz="1080" dirty="0"/>
          </a:p>
        </p:txBody>
      </p:sp>
      <p:sp>
        <p:nvSpPr>
          <p:cNvPr id="70" name="bld6_1395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72" name="Shape 70"/>
          <p:cNvSpPr/>
          <p:nvPr/>
        </p:nvSpPr>
        <p:spPr>
          <a:xfrm>
            <a:off x="1519294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2700000">
            <a:off x="157114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5400000">
            <a:off x="1592626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 rot="8100000">
            <a:off x="157114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 rot="10800000">
            <a:off x="1519294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13500000">
            <a:off x="1467441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16200000">
            <a:off x="144596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18900000">
            <a:off x="1467441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1516869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1" name="Shape 79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82" name="bld6_1397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Linalyl Acetate</a:t>
            </a:r>
            <a:endParaRPr lang="en-US" sz="1450" dirty="0"/>
          </a:p>
        </p:txBody>
      </p:sp>
      <p:sp>
        <p:nvSpPr>
          <p:cNvPr id="83" name="bld6_1398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pear-like, lavender-adjacent. Top note, medium — rounds out linalool with a fruity edge.</a:t>
            </a:r>
            <a:endParaRPr lang="en-US" sz="1080" dirty="0"/>
          </a:p>
        </p:txBody>
      </p:sp>
      <p:sp>
        <p:nvSpPr>
          <p:cNvPr id="84" name="bld7_1399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6" name="Shape 84"/>
          <p:cNvSpPr/>
          <p:nvPr/>
        </p:nvSpPr>
        <p:spPr>
          <a:xfrm>
            <a:off x="378938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2700000">
            <a:off x="38412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5400000">
            <a:off x="3862715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100000">
            <a:off x="38412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 rot="10800000">
            <a:off x="378938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 rot="13500000">
            <a:off x="3737530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 rot="16200000">
            <a:off x="371605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18900000">
            <a:off x="3737530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378695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95" name="Shape 9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96" name="bld7_1401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Citronellol</a:t>
            </a:r>
            <a:endParaRPr lang="en-US" sz="1450" dirty="0"/>
          </a:p>
        </p:txBody>
      </p:sp>
      <p:sp>
        <p:nvSpPr>
          <p:cNvPr id="97" name="bld7_1402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rosy-citrus freshness. Top-heart, medium — a common rose extender and freshener.</a:t>
            </a:r>
            <a:endParaRPr lang="en-US" sz="1080" dirty="0"/>
          </a:p>
        </p:txBody>
      </p:sp>
      <p:sp>
        <p:nvSpPr>
          <p:cNvPr id="98" name="bld8_1403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0" name="Shape 98"/>
          <p:cNvSpPr/>
          <p:nvPr/>
        </p:nvSpPr>
        <p:spPr>
          <a:xfrm>
            <a:off x="605947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611132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613280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611132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605947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600761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598614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600761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605704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10" name="bld8_1405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Geraniol</a:t>
            </a:r>
            <a:endParaRPr lang="en-US" sz="1450" dirty="0"/>
          </a:p>
        </p:txBody>
      </p:sp>
      <p:sp>
        <p:nvSpPr>
          <p:cNvPr id="111" name="bld8_1406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Rosy, slightly sweet, geranium-adjacent. Heart note, medium — pairs naturally with citronellol.</a:t>
            </a:r>
            <a:endParaRPr lang="en-US" sz="1080" dirty="0"/>
          </a:p>
        </p:txBody>
      </p:sp>
      <p:sp>
        <p:nvSpPr>
          <p:cNvPr id="112" name="bld9_1407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329562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 rot="2700000">
            <a:off x="838141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 rot="5400000">
            <a:off x="840289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 rot="8100000">
            <a:off x="838141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 rot="10800000">
            <a:off x="8329562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 rot="13500000">
            <a:off x="827770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16200000">
            <a:off x="825623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18900000">
            <a:off x="827770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8327137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24" name="bld9_1409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Ionones</a:t>
            </a:r>
            <a:endParaRPr lang="en-US" sz="1450" dirty="0"/>
          </a:p>
        </p:txBody>
      </p:sp>
      <p:sp>
        <p:nvSpPr>
          <p:cNvPr id="125" name="bld9_1410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Alpha, beta &amp; methyl ionone — powdery violet-woody-suede. Heart-base, medium-long — the entire "violet" effect comes from this trio.</a:t>
            </a:r>
            <a:endParaRPr lang="en-US" sz="1080" dirty="0"/>
          </a:p>
        </p:txBody>
      </p:sp>
      <p:sp>
        <p:nvSpPr>
          <p:cNvPr id="126" name="bld10_1411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7" name="Shape 125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0575402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 rot="4320000">
            <a:off x="10686796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 rot="8640000">
            <a:off x="10644247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 rot="12960000">
            <a:off x="10506556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 rot="17280000">
            <a:off x="10464007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577827" y="4521481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35" name="bld10_1413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450" dirty="0"/>
          </a:p>
        </p:txBody>
      </p:sp>
      <p:sp>
        <p:nvSpPr>
          <p:cNvPr id="136" name="bld10_1414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metallic-rosy top facet. Top note, short — a tiny dose gives rose an unmistakable natural sparkle.</a:t>
            </a:r>
            <a:endParaRPr lang="en-US" sz="1080" dirty="0"/>
          </a:p>
        </p:txBody>
      </p:sp>
      <p:sp>
        <p:nvSpPr>
          <p:cNvPr id="138" name="trans_fade_8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9" name="Text 1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140" name="Text 1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31" grpId="0"/>
      <p:bldP spid="32" grpId="0"/>
      <p:bldP spid="33" grpId="0"/>
      <p:bldP spid="42" grpId="0"/>
      <p:bldP spid="43" grpId="0"/>
      <p:bldP spid="44" grpId="0"/>
      <p:bldP spid="54" grpId="0"/>
      <p:bldP spid="55" grpId="0"/>
      <p:bldP spid="56" grpId="0"/>
      <p:bldP spid="68" grpId="0"/>
      <p:bldP spid="69" grpId="0"/>
      <p:bldP spid="70" grpId="0"/>
      <p:bldP spid="82" grpId="0"/>
      <p:bldP spid="83" grpId="0"/>
      <p:bldP spid="84" grpId="0"/>
      <p:bldP spid="96" grpId="0"/>
      <p:bldP spid="97" grpId="0"/>
      <p:bldP spid="98" grpId="0"/>
      <p:bldP spid="110" grpId="0"/>
      <p:bldP spid="111" grpId="0"/>
      <p:bldP spid="112" grpId="0"/>
      <p:bldP spid="124" grpId="0"/>
      <p:bldP spid="125" grpId="0"/>
      <p:bldP spid="126" grpId="0"/>
      <p:bldP spid="135" grpId="0"/>
      <p:bldP spid="136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DISTINCTION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vs. Hedione HC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2297631"/>
            <a:ext cx="1341022" cy="134102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" name="Shape 9"/>
          <p:cNvSpPr/>
          <p:nvPr/>
        </p:nvSpPr>
        <p:spPr>
          <a:xfrm rot="10800000">
            <a:off x="8887790" y="2445144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4400000">
            <a:off x="9114256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8000000">
            <a:off x="9114256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887790" y="2968142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3600000">
            <a:off x="8661325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7200000">
            <a:off x="8661325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835491" y="2842623"/>
            <a:ext cx="251039" cy="25103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8" name="Shape 16"/>
          <p:cNvSpPr/>
          <p:nvPr/>
        </p:nvSpPr>
        <p:spPr>
          <a:xfrm>
            <a:off x="8290499" y="2297631"/>
            <a:ext cx="1341022" cy="134102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63894" y="2297631"/>
            <a:ext cx="1341022" cy="134102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10061185" y="2445144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4400000">
            <a:off x="10287650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8000000">
            <a:off x="10287650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061185" y="2968142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3600000">
            <a:off x="9834720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9834720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08885" y="2842623"/>
            <a:ext cx="251039" cy="25103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Shape 25"/>
          <p:cNvSpPr/>
          <p:nvPr/>
        </p:nvSpPr>
        <p:spPr>
          <a:xfrm>
            <a:off x="9463894" y="2297631"/>
            <a:ext cx="1341022" cy="134102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them side by side rather than assuming one simply replaces the other.</a:t>
            </a:r>
            <a:endParaRPr lang="en-US" sz="1050" dirty="0"/>
          </a:p>
        </p:txBody>
      </p:sp>
      <p:sp>
        <p:nvSpPr>
          <p:cNvPr id="29" name="bld1_141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bld1_141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Related, not identical</a:t>
            </a:r>
            <a:endParaRPr lang="en-US" sz="1650" dirty="0"/>
          </a:p>
        </p:txBody>
      </p:sp>
      <p:sp>
        <p:nvSpPr>
          <p:cNvPr id="31" name="bld1_141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HC is a distinct material with its own character — a relative of Hedione, not an interchangeable substitute.</a:t>
            </a:r>
            <a:endParaRPr lang="en-US" sz="1250" dirty="0"/>
          </a:p>
        </p:txBody>
      </p:sp>
      <p:sp>
        <p:nvSpPr>
          <p:cNvPr id="32" name="bld2_141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3" name="bld2_141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reads bright and citrus-dewy</a:t>
            </a:r>
            <a:endParaRPr lang="en-US" sz="1650" dirty="0"/>
          </a:p>
        </p:txBody>
      </p:sp>
      <p:sp>
        <p:nvSpPr>
          <p:cNvPr id="34" name="bld2_142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material — airy, radiant, with a fresh green-citrus edge to its jasmine transparency.</a:t>
            </a:r>
            <a:endParaRPr lang="en-US" sz="1250" dirty="0"/>
          </a:p>
        </p:txBody>
      </p:sp>
      <p:sp>
        <p:nvSpPr>
          <p:cNvPr id="35" name="bld3_142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6" name="bld3_142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HC reads smoother and rounder</a:t>
            </a:r>
            <a:endParaRPr lang="en-US" sz="1650" dirty="0"/>
          </a:p>
        </p:txBody>
      </p:sp>
      <p:sp>
        <p:nvSpPr>
          <p:cNvPr id="37" name="bld3_142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softer and more discreet, with different diffusion behaviour worth evaluating on its own strip.</a:t>
            </a:r>
            <a:endParaRPr lang="en-US" sz="1250" dirty="0"/>
          </a:p>
        </p:txBody>
      </p:sp>
      <p:sp>
        <p:nvSpPr>
          <p:cNvPr id="39" name="trans_fade_8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floral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1657819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4400000">
            <a:off x="1986207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8000000">
            <a:off x="1986207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57819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3600000">
            <a:off x="132943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7200000">
            <a:off x="132943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81981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8470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17" name="bld1_1425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18" name="bld1_1426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9" name="bld1_1427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20" name="bld1_1428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1" name="bld1_1429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in a formula</a:t>
            </a:r>
            <a:endParaRPr lang="en-US" sz="1100" dirty="0"/>
          </a:p>
        </p:txBody>
      </p:sp>
      <p:sp>
        <p:nvSpPr>
          <p:cNvPr id="22" name="bld1_1430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3" name="bld1_1431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 · diffusive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005101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4320000">
            <a:off x="4353470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8640000">
            <a:off x="4220405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2960000">
            <a:off x="3789797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17280000">
            <a:off x="3656731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1" name="Shape 29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2" name="bld2_1433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800" dirty="0"/>
          </a:p>
        </p:txBody>
      </p:sp>
      <p:sp>
        <p:nvSpPr>
          <p:cNvPr id="33" name="bld2_1434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435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rosy, honeyed</a:t>
            </a:r>
            <a:endParaRPr lang="en-US" sz="1100" dirty="0"/>
          </a:p>
        </p:txBody>
      </p:sp>
      <p:sp>
        <p:nvSpPr>
          <p:cNvPr id="35" name="bld2_1436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437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world's most-used rose note</a:t>
            </a:r>
            <a:endParaRPr lang="en-US" sz="1100" dirty="0"/>
          </a:p>
        </p:txBody>
      </p:sp>
      <p:sp>
        <p:nvSpPr>
          <p:cNvPr id="37" name="bld2_1438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439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511643" y="2012249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2700000">
            <a:off x="6673806" y="2079420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740977" y="2241583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100000">
            <a:off x="6673806" y="240374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6511643" y="247091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3500000">
            <a:off x="6349479" y="240374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6200000">
            <a:off x="6282309" y="2241583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8900000">
            <a:off x="6349479" y="2079420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04059" y="2393259"/>
            <a:ext cx="242681" cy="24268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9" name="Shape 4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0" name="bld3_1441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Ionones</a:t>
            </a:r>
            <a:endParaRPr lang="en-US" sz="1800" dirty="0"/>
          </a:p>
        </p:txBody>
      </p:sp>
      <p:sp>
        <p:nvSpPr>
          <p:cNvPr id="51" name="bld3_1442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2" name="bld3_1443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 violet-woody-suede</a:t>
            </a:r>
            <a:endParaRPr lang="en-US" sz="1100" dirty="0"/>
          </a:p>
        </p:txBody>
      </p:sp>
      <p:sp>
        <p:nvSpPr>
          <p:cNvPr id="53" name="bld3_1444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4" name="bld3_1445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"violet" effect</a:t>
            </a:r>
            <a:endParaRPr lang="en-US" sz="1100" dirty="0"/>
          </a:p>
        </p:txBody>
      </p:sp>
      <p:sp>
        <p:nvSpPr>
          <p:cNvPr id="55" name="bld3_1446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6" name="bld3_1447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medium-long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8866508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4320000">
            <a:off x="9214878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640000">
            <a:off x="9081813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2960000">
            <a:off x="8651204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8518139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874092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4" name="Shape 62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5" name="bld4_1449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800" dirty="0"/>
          </a:p>
        </p:txBody>
      </p:sp>
      <p:sp>
        <p:nvSpPr>
          <p:cNvPr id="66" name="bld4_1450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7" name="bld4_1451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metallic-rosy</a:t>
            </a:r>
            <a:endParaRPr lang="en-US" sz="1100" dirty="0"/>
          </a:p>
        </p:txBody>
      </p:sp>
      <p:sp>
        <p:nvSpPr>
          <p:cNvPr id="68" name="bld4_1452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9" name="bld4_1453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sparkle at a tiny dose</a:t>
            </a:r>
            <a:endParaRPr lang="en-US" sz="1100" dirty="0"/>
          </a:p>
        </p:txBody>
      </p:sp>
      <p:sp>
        <p:nvSpPr>
          <p:cNvPr id="70" name="bld4_1454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1" name="bld4_1455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potent</a:t>
            </a:r>
            <a:endParaRPr lang="en-US" sz="1100" dirty="0"/>
          </a:p>
        </p:txBody>
      </p:sp>
      <p:sp>
        <p:nvSpPr>
          <p:cNvPr id="73" name="trans_fade_8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4" name="Text 7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65" grpId="0"/>
      <p:bldP spid="66" grpId="0"/>
      <p:bldP spid="67" grpId="0"/>
      <p:bldP spid="68" grpId="0"/>
      <p:bldP spid="69" grpId="0"/>
      <p:bldP spid="70" grpId="0"/>
      <p:bldP spid="7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5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&amp; Green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BF3E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E5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&amp; GREEN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78434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86219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4" name="bld1_1457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6" name="Shape 24"/>
          <p:cNvSpPr/>
          <p:nvPr/>
        </p:nvSpPr>
        <p:spPr>
          <a:xfrm rot="15300000">
            <a:off x="3064844" y="4045564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3050000">
            <a:off x="3180440" y="4218565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0800000">
            <a:off x="3377464" y="4285445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550000">
            <a:off x="3574488" y="4218565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300000">
            <a:off x="3690083" y="4045564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2" name="bld2_1459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4" name="Shape 32"/>
          <p:cNvSpPr/>
          <p:nvPr/>
        </p:nvSpPr>
        <p:spPr>
          <a:xfrm rot="15300000">
            <a:off x="4861343" y="3807296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3050000">
            <a:off x="4961954" y="395787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0800000">
            <a:off x="5133438" y="4016081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550000">
            <a:off x="5304922" y="395787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6300000">
            <a:off x="5405533" y="3807296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0" name="bld3_1461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 rot="15300000">
            <a:off x="6603733" y="407666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3050000">
            <a:off x="6704343" y="4227234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6875827" y="4285445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550000">
            <a:off x="7047311" y="4227234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300000">
            <a:off x="7147922" y="407666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8" name="bld4_1463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0" name="Shape 48"/>
          <p:cNvSpPr/>
          <p:nvPr/>
        </p:nvSpPr>
        <p:spPr>
          <a:xfrm rot="15300000">
            <a:off x="8292012" y="3776200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3050000">
            <a:off x="8407607" y="3949201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604631" y="4016081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550000">
            <a:off x="8801655" y="3949201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6300000">
            <a:off x="8917251" y="3776200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6" name="bld5_1465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Triplal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58" name="Shape 56"/>
          <p:cNvSpPr/>
          <p:nvPr/>
        </p:nvSpPr>
        <p:spPr>
          <a:xfrm>
            <a:off x="10076230" y="3909855"/>
            <a:ext cx="751182" cy="751182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60" name="bld6_1467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350" dirty="0"/>
          </a:p>
        </p:txBody>
      </p:sp>
      <p:sp>
        <p:nvSpPr>
          <p:cNvPr id="62" name="trans_fade_8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3" name="Text 6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32" grpId="0"/>
      <p:bldP spid="40" grpId="0"/>
      <p:bldP spid="48" grpId="0"/>
      <p:bldP spid="56" grpId="0"/>
      <p:bldP spid="60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&amp; GREEN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kinds of "fresh"</a:t>
            </a:r>
            <a:endParaRPr lang="en-US" sz="3200" dirty="0"/>
          </a:p>
        </p:txBody>
      </p:sp>
      <p:sp>
        <p:nvSpPr>
          <p:cNvPr id="7" name="bld1_1468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03816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88115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1470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24" name="bld1_1471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freshness. Explosive, citrus-aromatic and clean. Top note, medium — the backbone of the 1990s "fresh" trend.</a:t>
            </a:r>
            <a:endParaRPr lang="en-US" sz="1080" dirty="0"/>
          </a:p>
        </p:txBody>
      </p:sp>
      <p:sp>
        <p:nvSpPr>
          <p:cNvPr id="25" name="bld2_1472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7" name="Shape 25"/>
          <p:cNvSpPr/>
          <p:nvPr/>
        </p:nvSpPr>
        <p:spPr>
          <a:xfrm rot="15300000">
            <a:off x="5931649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3050000">
            <a:off x="5977120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10800000">
            <a:off x="6054623" y="2220529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550000">
            <a:off x="6132125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300000">
            <a:off x="6177597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3" name="bld2_1474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450" dirty="0"/>
          </a:p>
        </p:txBody>
      </p:sp>
      <p:sp>
        <p:nvSpPr>
          <p:cNvPr id="34" name="bld2_1475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freshness. Sharp, cut-grass green — the exact smell of a freshly mown lawn. Top note, short, dosed carefully.</a:t>
            </a:r>
            <a:endParaRPr lang="en-US" sz="1080" dirty="0"/>
          </a:p>
        </p:txBody>
      </p:sp>
      <p:sp>
        <p:nvSpPr>
          <p:cNvPr id="35" name="bld3_1476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7" name="Shape 35"/>
          <p:cNvSpPr/>
          <p:nvPr/>
        </p:nvSpPr>
        <p:spPr>
          <a:xfrm rot="15300000">
            <a:off x="9715131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3050000">
            <a:off x="9760603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0800000">
            <a:off x="9838105" y="2220529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8550000">
            <a:off x="9915608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300000">
            <a:off x="9961079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43" name="bld3_1478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450" dirty="0"/>
          </a:p>
        </p:txBody>
      </p:sp>
      <p:sp>
        <p:nvSpPr>
          <p:cNvPr id="44" name="bld3_1479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 green freshness. Green-fruity, pear-skin quality — gentler than raw leaf alcohol. Top note, short.</a:t>
            </a:r>
            <a:endParaRPr lang="en-US" sz="1080" dirty="0"/>
          </a:p>
        </p:txBody>
      </p:sp>
      <p:sp>
        <p:nvSpPr>
          <p:cNvPr id="45" name="bld4_1480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7" name="Shape 45"/>
          <p:cNvSpPr/>
          <p:nvPr/>
        </p:nvSpPr>
        <p:spPr>
          <a:xfrm rot="15300000">
            <a:off x="214816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3050000">
            <a:off x="219363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2271140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8550000">
            <a:off x="234864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6300000">
            <a:off x="2394114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53" name="bld4_1482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450" dirty="0"/>
          </a:p>
        </p:txBody>
      </p:sp>
      <p:sp>
        <p:nvSpPr>
          <p:cNvPr id="54" name="bld4_1483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Watery, metallic freshness. Green, faintly melon-stem. Top note, short-medium — an unusual, modern accent.</a:t>
            </a:r>
            <a:endParaRPr lang="en-US" sz="1080" dirty="0"/>
          </a:p>
        </p:txBody>
      </p:sp>
      <p:sp>
        <p:nvSpPr>
          <p:cNvPr id="55" name="bld5_1484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7" name="Shape 55"/>
          <p:cNvSpPr/>
          <p:nvPr/>
        </p:nvSpPr>
        <p:spPr>
          <a:xfrm rot="15300000">
            <a:off x="593164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3050000">
            <a:off x="5977120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0800000">
            <a:off x="605462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550000">
            <a:off x="6132125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6300000">
            <a:off x="617759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3" name="bld5_1486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Triplal</a:t>
            </a:r>
            <a:endParaRPr lang="en-US" sz="1450" dirty="0"/>
          </a:p>
        </p:txBody>
      </p:sp>
      <p:sp>
        <p:nvSpPr>
          <p:cNvPr id="64" name="bld5_1487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floral-leafy freshness. Top note, medium — more versatile and less bitter than galbanum.</a:t>
            </a:r>
            <a:endParaRPr lang="en-US" sz="1080" dirty="0"/>
          </a:p>
        </p:txBody>
      </p:sp>
      <p:sp>
        <p:nvSpPr>
          <p:cNvPr id="65" name="bld6_1488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67" name="Shape 65"/>
          <p:cNvSpPr/>
          <p:nvPr/>
        </p:nvSpPr>
        <p:spPr>
          <a:xfrm>
            <a:off x="9709581" y="4409932"/>
            <a:ext cx="339498" cy="339498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69" name="bld6_1490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 (C8–C10–C11–C12 MNA)</a:t>
            </a:r>
            <a:endParaRPr lang="en-US" sz="1450" dirty="0"/>
          </a:p>
        </p:txBody>
      </p:sp>
      <p:sp>
        <p:nvSpPr>
          <p:cNvPr id="70" name="bld6_1491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Aldehydic sparkle. Soapy, waxy, metallic lift. Top note, medium — the classic "aldehydic" perfume effect.</a:t>
            </a:r>
            <a:endParaRPr lang="en-US" sz="1080" dirty="0"/>
          </a:p>
        </p:txBody>
      </p:sp>
      <p:sp>
        <p:nvSpPr>
          <p:cNvPr id="72" name="trans_fade_8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3" grpId="0"/>
      <p:bldP spid="34" grpId="0"/>
      <p:bldP spid="35" grpId="0"/>
      <p:bldP spid="43" grpId="0"/>
      <p:bldP spid="44" grpId="0"/>
      <p:bldP spid="45" grpId="0"/>
      <p:bldP spid="53" grpId="0"/>
      <p:bldP spid="54" grpId="0"/>
      <p:bldP spid="55" grpId="0"/>
      <p:bldP spid="63" grpId="0"/>
      <p:bldP spid="64" grpId="0"/>
      <p:bldP spid="65" grpId="0"/>
      <p:bldP spid="69" grpId="0"/>
      <p:bldP spid="70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fresh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39923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3288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1493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800" dirty="0"/>
          </a:p>
        </p:txBody>
      </p:sp>
      <p:sp>
        <p:nvSpPr>
          <p:cNvPr id="23" name="bld1_1494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1495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citrus-fresh lift</a:t>
            </a:r>
            <a:endParaRPr lang="en-US" sz="1100" dirty="0"/>
          </a:p>
        </p:txBody>
      </p:sp>
      <p:sp>
        <p:nvSpPr>
          <p:cNvPr id="25" name="bld1_1496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1497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citrus far past 2 hours</a:t>
            </a:r>
            <a:endParaRPr lang="en-US" sz="1100" dirty="0"/>
          </a:p>
        </p:txBody>
      </p:sp>
      <p:sp>
        <p:nvSpPr>
          <p:cNvPr id="27" name="bld1_1498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1499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30" name="Shape 28"/>
          <p:cNvSpPr/>
          <p:nvPr/>
        </p:nvSpPr>
        <p:spPr>
          <a:xfrm>
            <a:off x="5064496" y="1940448"/>
            <a:ext cx="1148304" cy="1148304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2" name="bld2_1501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800" dirty="0"/>
          </a:p>
        </p:txBody>
      </p:sp>
      <p:sp>
        <p:nvSpPr>
          <p:cNvPr id="33" name="bld2_1502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503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Sparkling, soapy, waxy</a:t>
            </a:r>
            <a:endParaRPr lang="en-US" sz="1100" dirty="0"/>
          </a:p>
        </p:txBody>
      </p:sp>
      <p:sp>
        <p:nvSpPr>
          <p:cNvPr id="35" name="bld2_1504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505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"aldehydic" lift</a:t>
            </a:r>
            <a:endParaRPr lang="en-US" sz="1100" dirty="0"/>
          </a:p>
        </p:txBody>
      </p:sp>
      <p:sp>
        <p:nvSpPr>
          <p:cNvPr id="37" name="bld2_1506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507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0" name="Shape 38"/>
          <p:cNvSpPr/>
          <p:nvPr/>
        </p:nvSpPr>
        <p:spPr>
          <a:xfrm rot="15300000">
            <a:off x="8476608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3050000">
            <a:off x="8630408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0800000">
            <a:off x="8892549" y="2514600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550000">
            <a:off x="9154690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6300000">
            <a:off x="9308490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6" name="bld3_1509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800" dirty="0"/>
          </a:p>
        </p:txBody>
      </p:sp>
      <p:sp>
        <p:nvSpPr>
          <p:cNvPr id="47" name="bld3_1510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8" name="bld3_1511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cut-grass green</a:t>
            </a:r>
            <a:endParaRPr lang="en-US" sz="1100" dirty="0"/>
          </a:p>
        </p:txBody>
      </p:sp>
      <p:sp>
        <p:nvSpPr>
          <p:cNvPr id="49" name="bld3_1512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0" name="bld3_1513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freshly-mown-lawn effect</a:t>
            </a:r>
            <a:endParaRPr lang="en-US" sz="1100" dirty="0"/>
          </a:p>
        </p:txBody>
      </p:sp>
      <p:sp>
        <p:nvSpPr>
          <p:cNvPr id="51" name="bld3_1514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2" name="bld3_1515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intimate</a:t>
            </a:r>
            <a:endParaRPr lang="en-US" sz="1100" dirty="0"/>
          </a:p>
        </p:txBody>
      </p:sp>
      <p:sp>
        <p:nvSpPr>
          <p:cNvPr id="54" name="trans_fade_9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5" name="Text 5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  <p:sp>
        <p:nvSpPr>
          <p:cNvPr id="56" name="Text 5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6" grpId="0"/>
      <p:bldP spid="47" grpId="0"/>
      <p:bldP spid="48" grpId="0"/>
      <p:bldP spid="49" grpId="0"/>
      <p:bldP spid="50" grpId="0"/>
      <p:bldP spid="51" grpId="0"/>
      <p:bldP spid="5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6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4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0" name="Shape 8"/>
          <p:cNvSpPr/>
          <p:nvPr/>
        </p:nvSpPr>
        <p:spPr>
          <a:xfrm>
            <a:off x="1391842" y="3544763"/>
            <a:ext cx="1044543" cy="104454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908627" y="3519287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2000000">
            <a:off x="1932402" y="3468333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4" name="bld1_1517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6" name="Shape 14"/>
          <p:cNvSpPr/>
          <p:nvPr/>
        </p:nvSpPr>
        <p:spPr>
          <a:xfrm>
            <a:off x="3404924" y="3743931"/>
            <a:ext cx="1200113" cy="120011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999494" y="3714660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000000">
            <a:off x="4023269" y="3656118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0" name="bld2_1519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Fructone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2" name="Shape 20"/>
          <p:cNvSpPr/>
          <p:nvPr/>
        </p:nvSpPr>
        <p:spPr>
          <a:xfrm>
            <a:off x="5573576" y="3544763"/>
            <a:ext cx="1044543" cy="1044543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0361" y="3519287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2000000">
            <a:off x="6114136" y="3468333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6" name="bld3_1521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8" name="Shape 26"/>
          <p:cNvSpPr/>
          <p:nvPr/>
        </p:nvSpPr>
        <p:spPr>
          <a:xfrm>
            <a:off x="7664443" y="3814127"/>
            <a:ext cx="1044543" cy="104454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181228" y="3788651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12000000">
            <a:off x="8205003" y="3737697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2" name="bld4_1523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Nonalactone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4" name="Shape 32"/>
          <p:cNvSpPr/>
          <p:nvPr/>
        </p:nvSpPr>
        <p:spPr>
          <a:xfrm>
            <a:off x="9677525" y="3474567"/>
            <a:ext cx="1200113" cy="120011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272095" y="3445296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12000000">
            <a:off x="10295870" y="3386754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8" name="bld5_1525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350" dirty="0"/>
          </a:p>
        </p:txBody>
      </p:sp>
      <p:sp>
        <p:nvSpPr>
          <p:cNvPr id="40" name="trans_fade_9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Juicy realism versus candy effect</a:t>
            </a:r>
            <a:endParaRPr lang="en-US" sz="3200" dirty="0"/>
          </a:p>
        </p:txBody>
      </p:sp>
      <p:sp>
        <p:nvSpPr>
          <p:cNvPr id="7" name="bld1_1526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113516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1528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450" dirty="0"/>
          </a:p>
        </p:txBody>
      </p:sp>
      <p:sp>
        <p:nvSpPr>
          <p:cNvPr id="14" name="bld1_1529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pear-apple, sharp-fruity. Top note, short — instantly recognisable, easily tips into "candy" if overdosed.</a:t>
            </a:r>
            <a:endParaRPr lang="en-US" sz="1080" dirty="0"/>
          </a:p>
        </p:txBody>
      </p:sp>
      <p:sp>
        <p:nvSpPr>
          <p:cNvPr id="15" name="bld2_1530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7" name="Shape 15"/>
          <p:cNvSpPr/>
          <p:nvPr/>
        </p:nvSpPr>
        <p:spPr>
          <a:xfrm>
            <a:off x="5896999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090361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2000000">
            <a:off x="6114136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1" name="bld2_1532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Fructone</a:t>
            </a:r>
            <a:endParaRPr lang="en-US" sz="1450" dirty="0"/>
          </a:p>
        </p:txBody>
      </p:sp>
      <p:sp>
        <p:nvSpPr>
          <p:cNvPr id="22" name="bld2_1533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apple-like, gentle fruitiness. Top-heart, medium — a rounder, less sharp fruity effect than most esters.</a:t>
            </a:r>
            <a:endParaRPr lang="en-US" sz="1080" dirty="0"/>
          </a:p>
        </p:txBody>
      </p:sp>
      <p:sp>
        <p:nvSpPr>
          <p:cNvPr id="23" name="bld3_1534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5" name="Shape 23"/>
          <p:cNvSpPr/>
          <p:nvPr/>
        </p:nvSpPr>
        <p:spPr>
          <a:xfrm>
            <a:off x="9680481" y="2041080"/>
            <a:ext cx="397698" cy="397698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873844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2000000">
            <a:off x="9897618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9" name="bld3_1536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450" dirty="0"/>
          </a:p>
        </p:txBody>
      </p:sp>
      <p:sp>
        <p:nvSpPr>
          <p:cNvPr id="30" name="bld3_1537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 peach — the definitive lactonic peach material. Heart note, medium-long.</a:t>
            </a:r>
            <a:endParaRPr lang="en-US" sz="1080" dirty="0"/>
          </a:p>
        </p:txBody>
      </p:sp>
      <p:sp>
        <p:nvSpPr>
          <p:cNvPr id="31" name="bld4_1538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3" name="Shape 31"/>
          <p:cNvSpPr/>
          <p:nvPr/>
        </p:nvSpPr>
        <p:spPr>
          <a:xfrm>
            <a:off x="2113516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06879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2000000">
            <a:off x="2330653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37" name="bld4_1540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Nonalactone</a:t>
            </a:r>
            <a:endParaRPr lang="en-US" sz="1450" dirty="0"/>
          </a:p>
        </p:txBody>
      </p:sp>
      <p:sp>
        <p:nvSpPr>
          <p:cNvPr id="38" name="bld4_1541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coconut-peach, milkier than undecalactone. Heart note, medium-long — softer, more gourmand-adjacent.</a:t>
            </a:r>
            <a:endParaRPr lang="en-US" sz="1080" dirty="0"/>
          </a:p>
        </p:txBody>
      </p:sp>
      <p:sp>
        <p:nvSpPr>
          <p:cNvPr id="39" name="bld5_1542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1" name="Shape 39"/>
          <p:cNvSpPr/>
          <p:nvPr/>
        </p:nvSpPr>
        <p:spPr>
          <a:xfrm>
            <a:off x="5896999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90361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2000000">
            <a:off x="6114136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5" name="bld5_1544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450" dirty="0"/>
          </a:p>
        </p:txBody>
      </p:sp>
      <p:sp>
        <p:nvSpPr>
          <p:cNvPr id="46" name="bld5_1545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pineapple-tropical. Top note, medium — a distinctive tropical-fruit accent used in small amounts.</a:t>
            </a:r>
            <a:endParaRPr lang="en-US" sz="1080" dirty="0"/>
          </a:p>
        </p:txBody>
      </p:sp>
      <p:sp>
        <p:nvSpPr>
          <p:cNvPr id="47" name="bld6_1546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9" name="Shape 47"/>
          <p:cNvSpPr/>
          <p:nvPr/>
        </p:nvSpPr>
        <p:spPr>
          <a:xfrm>
            <a:off x="9680481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873844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rot="12000000">
            <a:off x="9897618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53" name="bld6_1548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 &amp; apple esters</a:t>
            </a:r>
            <a:endParaRPr lang="en-US" sz="1450" dirty="0"/>
          </a:p>
        </p:txBody>
      </p:sp>
      <p:sp>
        <p:nvSpPr>
          <p:cNvPr id="54" name="bld6_1549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broad family of fruity esters behind most crisp pear and apple effects. Top note, short — juicy realism, dose-dependent.</a:t>
            </a:r>
            <a:endParaRPr lang="en-US" sz="1080" dirty="0"/>
          </a:p>
        </p:txBody>
      </p:sp>
      <p:sp>
        <p:nvSpPr>
          <p:cNvPr id="56" name="trans_fade_9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7" name="Text 5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3" grpId="0"/>
      <p:bldP spid="54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fruity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" name="Shape 6"/>
          <p:cNvSpPr/>
          <p:nvPr/>
        </p:nvSpPr>
        <p:spPr>
          <a:xfrm>
            <a:off x="1572731" y="1907640"/>
            <a:ext cx="1345156" cy="1345156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239823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0">
            <a:off x="2263597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12" name="bld1_1551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800" dirty="0"/>
          </a:p>
        </p:txBody>
      </p:sp>
      <p:sp>
        <p:nvSpPr>
          <p:cNvPr id="13" name="bld1_1552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553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 peach</a:t>
            </a:r>
            <a:endParaRPr lang="en-US" sz="1100" dirty="0"/>
          </a:p>
        </p:txBody>
      </p:sp>
      <p:sp>
        <p:nvSpPr>
          <p:cNvPr id="15" name="bld1_1554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555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definitive peach note</a:t>
            </a:r>
            <a:endParaRPr lang="en-US" sz="1100" dirty="0"/>
          </a:p>
        </p:txBody>
      </p:sp>
      <p:sp>
        <p:nvSpPr>
          <p:cNvPr id="17" name="bld1_1556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557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0" name="Shape 18"/>
          <p:cNvSpPr/>
          <p:nvPr/>
        </p:nvSpPr>
        <p:spPr>
          <a:xfrm>
            <a:off x="4966070" y="1907640"/>
            <a:ext cx="1345156" cy="134515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633161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000000">
            <a:off x="5656936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4" name="bld2_1559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800" dirty="0"/>
          </a:p>
        </p:txBody>
      </p:sp>
      <p:sp>
        <p:nvSpPr>
          <p:cNvPr id="25" name="bld2_1560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561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pear-apple, sharp</a:t>
            </a:r>
            <a:endParaRPr lang="en-US" sz="1100" dirty="0"/>
          </a:p>
        </p:txBody>
      </p:sp>
      <p:sp>
        <p:nvSpPr>
          <p:cNvPr id="27" name="bld2_1562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563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fruity recognition</a:t>
            </a:r>
            <a:endParaRPr lang="en-US" sz="1100" dirty="0"/>
          </a:p>
        </p:txBody>
      </p:sp>
      <p:sp>
        <p:nvSpPr>
          <p:cNvPr id="29" name="bld2_1564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565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potent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9408" y="1907640"/>
            <a:ext cx="1345156" cy="134515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026500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12000000">
            <a:off x="9050274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6" name="bld3_1567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800" dirty="0"/>
          </a:p>
        </p:txBody>
      </p:sp>
      <p:sp>
        <p:nvSpPr>
          <p:cNvPr id="37" name="bld3_1568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569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pineapple-tropical</a:t>
            </a:r>
            <a:endParaRPr lang="en-US" sz="1100" dirty="0"/>
          </a:p>
        </p:txBody>
      </p:sp>
      <p:sp>
        <p:nvSpPr>
          <p:cNvPr id="39" name="bld3_1570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571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distinctive tropical accent</a:t>
            </a:r>
            <a:endParaRPr lang="en-US" sz="1100" dirty="0"/>
          </a:p>
        </p:txBody>
      </p:sp>
      <p:sp>
        <p:nvSpPr>
          <p:cNvPr id="41" name="bld3_1572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573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</a:t>
            </a:r>
            <a:endParaRPr lang="en-US" sz="1100" dirty="0"/>
          </a:p>
        </p:txBody>
      </p:sp>
      <p:sp>
        <p:nvSpPr>
          <p:cNvPr id="44" name="trans_fade_9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7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3E4C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1761254" y="3411011"/>
            <a:ext cx="305720" cy="121014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40000">
            <a:off x="1908627" y="3557502"/>
            <a:ext cx="914" cy="91715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0807" y="3592532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6665" y="3750487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62523" y="390844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08381" y="406639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1954239" y="422435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2000097" y="438230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8" name="Shape 16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1575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1" name="Shape 19"/>
          <p:cNvSpPr/>
          <p:nvPr/>
        </p:nvSpPr>
        <p:spPr>
          <a:xfrm rot="840000">
            <a:off x="3829354" y="3590258"/>
            <a:ext cx="351252" cy="1390374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3999494" y="3758567"/>
            <a:ext cx="914" cy="105375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331" y="3798814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4" name="Shape 22"/>
          <p:cNvSpPr/>
          <p:nvPr/>
        </p:nvSpPr>
        <p:spPr>
          <a:xfrm>
            <a:off x="3893019" y="3980295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3945707" y="4161775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8395" y="4343256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4051082" y="4524736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4103770" y="4706217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0" name="bld2_1577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Vanillin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2" name="Shape 30"/>
          <p:cNvSpPr/>
          <p:nvPr/>
        </p:nvSpPr>
        <p:spPr>
          <a:xfrm>
            <a:off x="5458931" y="3379165"/>
            <a:ext cx="1273832" cy="127383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637268" y="3557502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92034" y="3812268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6" name="bld3_1579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49798" y="3648529"/>
            <a:ext cx="1273832" cy="127383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728135" y="3826866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982901" y="4081632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2" name="bld4_1581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Maltol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4" name="Shape 42"/>
          <p:cNvSpPr/>
          <p:nvPr/>
        </p:nvSpPr>
        <p:spPr>
          <a:xfrm>
            <a:off x="9545806" y="3284305"/>
            <a:ext cx="1463552" cy="146355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750703" y="3489203"/>
            <a:ext cx="1053757" cy="105375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3413" y="3781913"/>
            <a:ext cx="468337" cy="46833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8" name="bld5_1583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350" dirty="0"/>
          </a:p>
        </p:txBody>
      </p:sp>
      <p:sp>
        <p:nvSpPr>
          <p:cNvPr id="50" name="trans_fade_9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30" grpId="0"/>
      <p:bldP spid="36" grpId="0"/>
      <p:bldP spid="42" grpId="0"/>
      <p:bldP spid="48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Vanilla, tonka, caramel, candy, powder, almond</a:t>
            </a:r>
            <a:endParaRPr lang="en-US" sz="3200" dirty="0"/>
          </a:p>
        </p:txBody>
      </p:sp>
      <p:sp>
        <p:nvSpPr>
          <p:cNvPr id="7" name="bld1_1584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" name="Shape 7"/>
          <p:cNvSpPr/>
          <p:nvPr/>
        </p:nvSpPr>
        <p:spPr>
          <a:xfrm rot="840000">
            <a:off x="1781230" y="1990155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1833944" y="2045930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84868" y="205926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2" name="Shape 10"/>
          <p:cNvSpPr/>
          <p:nvPr/>
        </p:nvSpPr>
        <p:spPr>
          <a:xfrm>
            <a:off x="1802328" y="211940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9787" y="217954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37247" y="223968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854707" y="229982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1872167" y="235996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8" name="bld1_1586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450" dirty="0"/>
          </a:p>
        </p:txBody>
      </p:sp>
      <p:sp>
        <p:nvSpPr>
          <p:cNvPr id="19" name="bld1_1587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isolated. Base note, very long, richly diffusive — the single most-used gourmand material.</a:t>
            </a:r>
            <a:endParaRPr lang="en-US" sz="1080" dirty="0"/>
          </a:p>
        </p:txBody>
      </p:sp>
      <p:sp>
        <p:nvSpPr>
          <p:cNvPr id="20" name="bld2_1588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4618842" y="1990155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840000">
            <a:off x="4671555" y="2045930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2479" y="205926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4639939" y="211940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4657399" y="217954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74859" y="223968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4692319" y="229982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4709779" y="235996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0" name="Shape 2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1" name="bld2_1590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Vanillin</a:t>
            </a:r>
            <a:endParaRPr lang="en-US" sz="1450" dirty="0"/>
          </a:p>
        </p:txBody>
      </p:sp>
      <p:sp>
        <p:nvSpPr>
          <p:cNvPr id="32" name="bld2_1591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Sharper, several times stronger than vanillin, less "round." Base note, very long — used in tiny amounts for extra lift.</a:t>
            </a:r>
            <a:endParaRPr lang="en-US" sz="1080" dirty="0"/>
          </a:p>
        </p:txBody>
      </p:sp>
      <p:sp>
        <p:nvSpPr>
          <p:cNvPr id="33" name="bld3_1592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>
            <a:off x="7272155" y="1978030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340054" y="2045930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437054" y="2142929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9" name="bld3_1594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450" dirty="0"/>
          </a:p>
        </p:txBody>
      </p:sp>
      <p:sp>
        <p:nvSpPr>
          <p:cNvPr id="40" name="bld3_1595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tonka effect: sweet hay, tonka-like warmth. Base note, long — a fougère and gourmand cornerstone, softly powdery.</a:t>
            </a:r>
            <a:endParaRPr lang="en-US" sz="1080" dirty="0"/>
          </a:p>
        </p:txBody>
      </p:sp>
      <p:sp>
        <p:nvSpPr>
          <p:cNvPr id="41" name="bld4_1596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3" name="Shape 41"/>
          <p:cNvSpPr/>
          <p:nvPr/>
        </p:nvSpPr>
        <p:spPr>
          <a:xfrm>
            <a:off x="10109766" y="1978030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177666" y="2045930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274666" y="2142929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7" name="bld4_1598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48" name="bld4_1599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candy effect: cotton-candy sweetness. Top-heart, medium-long, very diffusive — the defining "sugar trend" material.</a:t>
            </a:r>
            <a:endParaRPr lang="en-US" sz="1080" dirty="0"/>
          </a:p>
        </p:txBody>
      </p:sp>
      <p:sp>
        <p:nvSpPr>
          <p:cNvPr id="49" name="bld5_1600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6648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7618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5" name="bld5_1602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Maltol</a:t>
            </a:r>
            <a:endParaRPr lang="en-US" sz="1450" dirty="0"/>
          </a:p>
        </p:txBody>
      </p:sp>
      <p:sp>
        <p:nvSpPr>
          <p:cNvPr id="56" name="bld5_1603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caramel effect: softer, breadier sweetness than ethyl maltol. Heart note, medium — a gentler caramelised-sugar effect.</a:t>
            </a:r>
            <a:endParaRPr lang="en-US" sz="1080" dirty="0"/>
          </a:p>
        </p:txBody>
      </p:sp>
      <p:sp>
        <p:nvSpPr>
          <p:cNvPr id="57" name="bld6_1604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9" name="Shape 57"/>
          <p:cNvSpPr/>
          <p:nvPr/>
        </p:nvSpPr>
        <p:spPr>
          <a:xfrm>
            <a:off x="4434543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4502443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4599442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3" name="bld6_1606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450" dirty="0"/>
          </a:p>
        </p:txBody>
      </p:sp>
      <p:sp>
        <p:nvSpPr>
          <p:cNvPr id="64" name="bld6_1607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called Piperonal — the powder / almond effect. Powdery, sweet almond, faintly floral. Heart-base, medium-long.</a:t>
            </a:r>
            <a:endParaRPr lang="en-US" sz="1080" dirty="0"/>
          </a:p>
        </p:txBody>
      </p:sp>
      <p:sp>
        <p:nvSpPr>
          <p:cNvPr id="65" name="bld7_1608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7" name="Shape 65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340054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437054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71" name="bld7_1610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Furaneol</a:t>
            </a:r>
            <a:endParaRPr lang="en-US" sz="1450" dirty="0"/>
          </a:p>
        </p:txBody>
      </p:sp>
      <p:sp>
        <p:nvSpPr>
          <p:cNvPr id="72" name="bld7_1611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Caramelised, strawberry-like sweetness. Heart note, medium — an unusual, jammy gourmand accent.</a:t>
            </a:r>
            <a:endParaRPr lang="en-US" sz="1080" dirty="0"/>
          </a:p>
        </p:txBody>
      </p:sp>
      <p:sp>
        <p:nvSpPr>
          <p:cNvPr id="74" name="trans_fade_9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000" dirty="0"/>
          </a:p>
        </p:txBody>
      </p:sp>
      <p:sp>
        <p:nvSpPr>
          <p:cNvPr id="76" name="Text 7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8" grpId="0"/>
      <p:bldP spid="19" grpId="0"/>
      <p:bldP spid="20" grpId="0"/>
      <p:bldP spid="31" grpId="0"/>
      <p:bldP spid="32" grpId="0"/>
      <p:bldP spid="33" grpId="0"/>
      <p:bldP spid="39" grpId="0"/>
      <p:bldP spid="40" grpId="0"/>
      <p:bldP spid="41" grpId="0"/>
      <p:bldP spid="47" grpId="0"/>
      <p:bldP spid="48" grpId="0"/>
      <p:bldP spid="49" grpId="0"/>
      <p:bldP spid="55" grpId="0"/>
      <p:bldP spid="56" grpId="0"/>
      <p:bldP spid="57" grpId="0"/>
      <p:bldP spid="63" grpId="0"/>
      <p:bldP spid="64" grpId="0"/>
      <p:bldP spid="65" grpId="0"/>
      <p:bldP spid="71" grpId="0"/>
      <p:bldP spid="7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gourmand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" name="Shape 6"/>
          <p:cNvSpPr/>
          <p:nvPr/>
        </p:nvSpPr>
        <p:spPr>
          <a:xfrm rot="840000">
            <a:off x="1581981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840000">
            <a:off x="1758506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3356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1" name="Shape 9"/>
          <p:cNvSpPr/>
          <p:nvPr/>
        </p:nvSpPr>
        <p:spPr>
          <a:xfrm>
            <a:off x="1647960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3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757166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11770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866373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7" name="bld1_1613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18" name="bld1_1614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9" name="bld1_1615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20" name="bld1_1616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1" name="bld1_1617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22" name="bld1_1618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3" name="bld1_1619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5" name="Shape 23"/>
          <p:cNvSpPr/>
          <p:nvPr/>
        </p:nvSpPr>
        <p:spPr>
          <a:xfrm>
            <a:off x="3436316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48662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52014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9" name="bld2_1621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800" dirty="0"/>
          </a:p>
        </p:txBody>
      </p:sp>
      <p:sp>
        <p:nvSpPr>
          <p:cNvPr id="30" name="bld2_1622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1623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hay, tonka-like warmth</a:t>
            </a:r>
            <a:endParaRPr lang="en-US" sz="1100" dirty="0"/>
          </a:p>
        </p:txBody>
      </p:sp>
      <p:sp>
        <p:nvSpPr>
          <p:cNvPr id="32" name="bld2_1624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1625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and sweetens</a:t>
            </a:r>
            <a:endParaRPr lang="en-US" sz="1100" dirty="0"/>
          </a:p>
        </p:txBody>
      </p:sp>
      <p:sp>
        <p:nvSpPr>
          <p:cNvPr id="34" name="bld2_1626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1627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powdery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7" name="Shape 35"/>
          <p:cNvSpPr/>
          <p:nvPr/>
        </p:nvSpPr>
        <p:spPr>
          <a:xfrm>
            <a:off x="5867020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79366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382718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1" name="bld3_1629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800" dirty="0"/>
          </a:p>
        </p:txBody>
      </p:sp>
      <p:sp>
        <p:nvSpPr>
          <p:cNvPr id="42" name="bld3_1630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3" name="bld3_1631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Cotton-candy sweetness</a:t>
            </a:r>
            <a:endParaRPr lang="en-US" sz="1100" dirty="0"/>
          </a:p>
        </p:txBody>
      </p:sp>
      <p:sp>
        <p:nvSpPr>
          <p:cNvPr id="44" name="bld3_1632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5" name="bld3_1633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gourmand lift</a:t>
            </a:r>
            <a:endParaRPr lang="en-US" sz="1100" dirty="0"/>
          </a:p>
        </p:txBody>
      </p:sp>
      <p:sp>
        <p:nvSpPr>
          <p:cNvPr id="46" name="bld3_1634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7" name="bld3_1635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medium-long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9" name="Shape 47"/>
          <p:cNvSpPr/>
          <p:nvPr/>
        </p:nvSpPr>
        <p:spPr>
          <a:xfrm>
            <a:off x="8297724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510070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3422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3" name="bld4_1637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800" dirty="0"/>
          </a:p>
        </p:txBody>
      </p:sp>
      <p:sp>
        <p:nvSpPr>
          <p:cNvPr id="54" name="bld4_1638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1639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sweet almond</a:t>
            </a:r>
            <a:endParaRPr lang="en-US" sz="1100" dirty="0"/>
          </a:p>
        </p:txBody>
      </p:sp>
      <p:sp>
        <p:nvSpPr>
          <p:cNvPr id="56" name="bld4_1640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1641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soft, cosmetic-powder facet</a:t>
            </a:r>
            <a:endParaRPr lang="en-US" sz="1100" dirty="0"/>
          </a:p>
        </p:txBody>
      </p:sp>
      <p:sp>
        <p:nvSpPr>
          <p:cNvPr id="58" name="bld4_1642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1643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medium-long</a:t>
            </a:r>
            <a:endParaRPr lang="en-US" sz="1100" dirty="0"/>
          </a:p>
        </p:txBody>
      </p:sp>
      <p:sp>
        <p:nvSpPr>
          <p:cNvPr id="61" name="trans_fade_9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is a formula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your formula.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SINGLE MATERIALS</a:t>
            </a:r>
            <a:endParaRPr lang="en-US" sz="1100" dirty="0"/>
          </a:p>
        </p:txBody>
      </p:sp>
      <p:sp>
        <p:nvSpPr>
          <p:cNvPr id="10" name="trans_fade_9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BASES &amp; SPECIALITIES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base actually is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826148"/>
            <a:ext cx="2514417" cy="2514417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>
            <a:off x="8567085" y="2102734"/>
            <a:ext cx="1961245" cy="1961245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41659" y="2377308"/>
            <a:ext cx="1412097" cy="1412097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233908" y="2769558"/>
            <a:ext cx="627599" cy="627599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290499" y="1826148"/>
            <a:ext cx="2514417" cy="2514417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character and use — never confidential internal compositions.</a:t>
            </a:r>
            <a:endParaRPr lang="en-US" sz="1050" dirty="0"/>
          </a:p>
        </p:txBody>
      </p:sp>
      <p:sp>
        <p:nvSpPr>
          <p:cNvPr id="16" name="bld1_164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164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pre-composed mixture that acts like a raw material</a:t>
            </a:r>
            <a:endParaRPr lang="en-US" sz="1650" dirty="0"/>
          </a:p>
        </p:txBody>
      </p:sp>
      <p:sp>
        <p:nvSpPr>
          <p:cNvPr id="18" name="bld1_164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is built in advance to deliver a floral, woody, amber, musk or other effect — and can be dropped into a formula and treated much like one complex ingredient.</a:t>
            </a:r>
            <a:endParaRPr lang="en-US" sz="1250" dirty="0"/>
          </a:p>
        </p:txBody>
      </p:sp>
      <p:sp>
        <p:nvSpPr>
          <p:cNvPr id="19" name="bld2_164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bld2_164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perfumers reach for one</a:t>
            </a:r>
            <a:endParaRPr lang="en-US" sz="1650" dirty="0"/>
          </a:p>
        </p:txBody>
      </p:sp>
      <p:sp>
        <p:nvSpPr>
          <p:cNvPr id="21" name="bld2_164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Speed, consistency, complexity, structure and polish — plus reconstructing notes that are genuinely difficult to build from single materials alone.</a:t>
            </a:r>
            <a:endParaRPr lang="en-US" sz="1250" dirty="0"/>
          </a:p>
        </p:txBody>
      </p:sp>
      <p:sp>
        <p:nvSpPr>
          <p:cNvPr id="22" name="bld3_165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165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finished perfume</a:t>
            </a:r>
            <a:endParaRPr lang="en-US" sz="1650" dirty="0"/>
          </a:p>
        </p:txBody>
      </p:sp>
      <p:sp>
        <p:nvSpPr>
          <p:cNvPr id="24" name="bld3_165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base doesn't mean the work is finished — it's a highly capable starting point, extended and modified like any other material.</a:t>
            </a:r>
            <a:endParaRPr lang="en-US" sz="1250" dirty="0"/>
          </a:p>
        </p:txBody>
      </p:sp>
      <p:sp>
        <p:nvSpPr>
          <p:cNvPr id="26" name="trans_fade_9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BASES · A NAMED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Givco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783080" y="2331720"/>
            <a:ext cx="2651760" cy="265176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2850413" y="2615140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325478" y="2960294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144019" y="3518766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556808" y="3518766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375349" y="2960294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860755" y="3409395"/>
            <a:ext cx="496409" cy="49640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1783080" y="2331720"/>
            <a:ext cx="2651760" cy="2651760"/>
          </a:xfrm>
          <a:prstGeom prst="ellipse">
            <a:avLst/>
          </a:prstGeom>
          <a:ln w="41148">
            <a:solidFill>
              <a:srgbClr val="C79B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5212080"/>
            <a:ext cx="1280160" cy="237744"/>
          </a:xfrm>
          <a:prstGeom prst="roundRect">
            <a:avLst>
              <a:gd name="adj" fmla="val 50000"/>
            </a:avLst>
          </a:prstGeom>
          <a:solidFill>
            <a:srgbClr val="8C3B49">
              <a:alpha val="12000"/>
            </a:srgbClr>
          </a:solidFill>
          <a:ln w="12700">
            <a:solidFill>
              <a:srgbClr val="8C3B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68880" y="52120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</a:t>
            </a:r>
            <a:endParaRPr lang="en-US" sz="850" dirty="0"/>
          </a:p>
        </p:txBody>
      </p:sp>
      <p:sp>
        <p:nvSpPr>
          <p:cNvPr id="17" name="bld1_1653"/>
          <p:cNvSpPr txBox="1"/>
          <p:nvPr/>
        </p:nvSpPr>
        <p:spPr>
          <a:xfrm>
            <a:off x="5394960" y="1783080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000" dirty="0"/>
          </a:p>
        </p:txBody>
      </p:sp>
      <p:sp>
        <p:nvSpPr>
          <p:cNvPr id="18" name="bld1_1654"/>
          <p:cNvSpPr txBox="1"/>
          <p:nvPr/>
        </p:nvSpPr>
        <p:spPr>
          <a:xfrm>
            <a:off x="5394960" y="2002536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commercial rose base / speciality — a ready-built rosy floral character, more complex than any single rose chemical used alone.</a:t>
            </a:r>
            <a:endParaRPr lang="en-US" sz="1200" dirty="0"/>
          </a:p>
        </p:txBody>
      </p:sp>
      <p:sp>
        <p:nvSpPr>
          <p:cNvPr id="19" name="bld2_1655"/>
          <p:cNvSpPr txBox="1"/>
          <p:nvPr/>
        </p:nvSpPr>
        <p:spPr>
          <a:xfrm>
            <a:off x="5394960" y="2734056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</a:t>
            </a:r>
            <a:endParaRPr lang="en-US" sz="1000" dirty="0"/>
          </a:p>
        </p:txBody>
      </p:sp>
      <p:sp>
        <p:nvSpPr>
          <p:cNvPr id="20" name="bld2_1656"/>
          <p:cNvSpPr txBox="1"/>
          <p:nvPr/>
        </p:nvSpPr>
        <p:spPr>
          <a:xfrm>
            <a:off x="5394960" y="2953512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Constructing rose effects quickly, and as part of a larger floral structure — not a finished perfume by itself.</a:t>
            </a:r>
            <a:endParaRPr lang="en-US" sz="1200" dirty="0"/>
          </a:p>
        </p:txBody>
      </p:sp>
      <p:sp>
        <p:nvSpPr>
          <p:cNvPr id="21" name="bld3_1657"/>
          <p:cNvSpPr txBox="1"/>
          <p:nvPr/>
        </p:nvSpPr>
        <p:spPr>
          <a:xfrm>
            <a:off x="5394960" y="3685032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ROLE</a:t>
            </a:r>
            <a:endParaRPr lang="en-US" sz="1000" dirty="0"/>
          </a:p>
        </p:txBody>
      </p:sp>
      <p:sp>
        <p:nvSpPr>
          <p:cNvPr id="22" name="bld3_1658"/>
          <p:cNvSpPr txBox="1"/>
          <p:nvPr/>
        </p:nvSpPr>
        <p:spPr>
          <a:xfrm>
            <a:off x="5394960" y="3904488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support or replace parts of a hand-built rose accord, depending on how much of the formula's rose character it's asked to carry.</a:t>
            </a:r>
            <a:endParaRPr lang="en-US" sz="1200" dirty="0"/>
          </a:p>
        </p:txBody>
      </p:sp>
      <p:sp>
        <p:nvSpPr>
          <p:cNvPr id="23" name="bld4_1659"/>
          <p:cNvSpPr txBox="1"/>
          <p:nvPr/>
        </p:nvSpPr>
        <p:spPr>
          <a:xfrm>
            <a:off x="5394960" y="4636008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REMEMBERING</a:t>
            </a:r>
            <a:endParaRPr lang="en-US" sz="1000" dirty="0"/>
          </a:p>
        </p:txBody>
      </p:sp>
      <p:sp>
        <p:nvSpPr>
          <p:cNvPr id="24" name="bld4_1660"/>
          <p:cNvSpPr txBox="1"/>
          <p:nvPr/>
        </p:nvSpPr>
        <p:spPr>
          <a:xfrm>
            <a:off x="5394960" y="4855464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Rose Givco does not automatically make the final fragrance a finished rose perfume — it's a starting body, not the destination.</a:t>
            </a:r>
            <a:endParaRPr lang="en-US" sz="1200" dirty="0"/>
          </a:p>
        </p:txBody>
      </p:sp>
      <p:sp>
        <p:nvSpPr>
          <p:cNvPr id="26" name="trans_fade_9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SKILL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rose base could be modified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996787" y="3113791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265444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162827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830748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728130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02636" y="3562956"/>
            <a:ext cx="280728" cy="28072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5" name="bld1_1662"/>
          <p:cNvSpPr txBox="1"/>
          <p:nvPr/>
        </p:nvSpPr>
        <p:spPr>
          <a:xfrm>
            <a:off x="3845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Givco</a:t>
            </a:r>
            <a:endParaRPr lang="en-US" sz="1250" dirty="0"/>
          </a:p>
        </p:txBody>
      </p:sp>
      <p:sp>
        <p:nvSpPr>
          <p:cNvPr id="16" name="bld2_1663"/>
          <p:cNvSpPr txBox="1"/>
          <p:nvPr/>
        </p:nvSpPr>
        <p:spPr>
          <a:xfrm>
            <a:off x="1938528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 rot="10800000">
            <a:off x="3537545" y="3118470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4400000">
            <a:off x="3790792" y="3264682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8000000">
            <a:off x="3790792" y="3557107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537545" y="3703320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3600000">
            <a:off x="3284297" y="3557107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7200000">
            <a:off x="3284297" y="3264682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79060" y="3562956"/>
            <a:ext cx="280728" cy="28072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5" name="Shape 23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6" name="bld2_1665"/>
          <p:cNvSpPr txBox="1"/>
          <p:nvPr/>
        </p:nvSpPr>
        <p:spPr>
          <a:xfrm>
            <a:off x="2480269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Hedione → more airy / diffusive</a:t>
            </a:r>
            <a:endParaRPr lang="en-US" sz="1250" dirty="0"/>
          </a:p>
        </p:txBody>
      </p:sp>
      <p:sp>
        <p:nvSpPr>
          <p:cNvPr id="27" name="bld3_1666"/>
          <p:cNvSpPr txBox="1"/>
          <p:nvPr/>
        </p:nvSpPr>
        <p:spPr>
          <a:xfrm>
            <a:off x="4414952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9" name="Shape 27"/>
          <p:cNvSpPr/>
          <p:nvPr/>
        </p:nvSpPr>
        <p:spPr>
          <a:xfrm rot="15300000">
            <a:off x="5699839" y="3475743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3050000">
            <a:off x="5809505" y="3639870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0800000">
            <a:off x="5996423" y="3703320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550000">
            <a:off x="6183341" y="3639870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300000">
            <a:off x="6293007" y="3475743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5" name="bld3_1668"/>
          <p:cNvSpPr txBox="1"/>
          <p:nvPr/>
        </p:nvSpPr>
        <p:spPr>
          <a:xfrm>
            <a:off x="4956693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green materials → greener rose</a:t>
            </a:r>
            <a:endParaRPr lang="en-US" sz="1250" dirty="0"/>
          </a:p>
        </p:txBody>
      </p:sp>
      <p:sp>
        <p:nvSpPr>
          <p:cNvPr id="36" name="bld4_1669"/>
          <p:cNvSpPr txBox="1"/>
          <p:nvPr/>
        </p:nvSpPr>
        <p:spPr>
          <a:xfrm>
            <a:off x="6891376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37" name="Shape 35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8" name="Shape 36"/>
          <p:cNvSpPr/>
          <p:nvPr/>
        </p:nvSpPr>
        <p:spPr>
          <a:xfrm rot="18900000">
            <a:off x="8209664" y="3176955"/>
            <a:ext cx="725214" cy="1052730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566785" y="3352410"/>
            <a:ext cx="914" cy="643335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1" name="bld4_1671"/>
          <p:cNvSpPr txBox="1"/>
          <p:nvPr/>
        </p:nvSpPr>
        <p:spPr>
          <a:xfrm>
            <a:off x="7433116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patchouli → darker rose</a:t>
            </a:r>
            <a:endParaRPr lang="en-US" sz="1250" dirty="0"/>
          </a:p>
        </p:txBody>
      </p:sp>
      <p:sp>
        <p:nvSpPr>
          <p:cNvPr id="42" name="bld5_1672"/>
          <p:cNvSpPr txBox="1"/>
          <p:nvPr/>
        </p:nvSpPr>
        <p:spPr>
          <a:xfrm>
            <a:off x="9367799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43" name="Shape 41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0510633" y="3340713"/>
            <a:ext cx="1076124" cy="725214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6" name="bld5_1674"/>
          <p:cNvSpPr txBox="1"/>
          <p:nvPr/>
        </p:nvSpPr>
        <p:spPr>
          <a:xfrm>
            <a:off x="9909540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musks → cleaner, modern rose</a:t>
            </a:r>
            <a:endParaRPr lang="en-US" sz="1250" dirty="0"/>
          </a:p>
        </p:txBody>
      </p:sp>
      <p:sp>
        <p:nvSpPr>
          <p:cNvPr id="48" name="trans_push_l_10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9" name="Text 4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26" grpId="0"/>
      <p:bldP spid="27" grpId="0"/>
      <p:bldP spid="35" grpId="0"/>
      <p:bldP spid="36" grpId="0"/>
      <p:bldP spid="41" grpId="0"/>
      <p:bldP spid="42" grpId="0"/>
      <p:bldP spid="46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ROSE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base types worth knowing</a:t>
            </a:r>
            <a:endParaRPr lang="en-US" sz="3200" dirty="0"/>
          </a:p>
        </p:txBody>
      </p:sp>
      <p:sp>
        <p:nvSpPr>
          <p:cNvPr id="7" name="bld1_1675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1521719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162672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162672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1719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141671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141671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1677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bases</a:t>
            </a:r>
            <a:endParaRPr lang="en-US" sz="1450" dirty="0"/>
          </a:p>
        </p:txBody>
      </p:sp>
      <p:sp>
        <p:nvSpPr>
          <p:cNvPr id="18" name="bld1_1678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indolic, heady florals — major houses each keep proprietary jasmine specialities.</a:t>
            </a:r>
            <a:endParaRPr lang="en-US" sz="1080" dirty="0"/>
          </a:p>
        </p:txBody>
      </p:sp>
      <p:sp>
        <p:nvSpPr>
          <p:cNvPr id="19" name="bld2_1679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3789383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3841237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3862715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3841237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3789383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3737530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3716052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3737530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86958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1" name="bld2_1681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Muguet bases</a:t>
            </a:r>
            <a:endParaRPr lang="en-US" sz="1450" dirty="0"/>
          </a:p>
        </p:txBody>
      </p:sp>
      <p:sp>
        <p:nvSpPr>
          <p:cNvPr id="32" name="bld2_1682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Lily-of-the-valley — always synthetic, since muguet yields no usable natural extract.</a:t>
            </a:r>
            <a:endParaRPr lang="en-US" sz="1080" dirty="0"/>
          </a:p>
        </p:txBody>
      </p:sp>
      <p:sp>
        <p:nvSpPr>
          <p:cNvPr id="33" name="bld3_1683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6042498" y="1992580"/>
            <a:ext cx="106700" cy="106700"/>
          </a:xfrm>
          <a:prstGeom prst="ellipse">
            <a:avLst/>
          </a:prstGeom>
          <a:solidFill>
            <a:srgbClr val="C79BD9">
              <a:alpha val="96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flipV="1">
            <a:off x="5912783" y="2045930"/>
            <a:ext cx="183065" cy="271405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5958474" y="2045930"/>
            <a:ext cx="137374" cy="32894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6031513" y="2045930"/>
            <a:ext cx="64334" cy="32099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95848" y="2045930"/>
            <a:ext cx="9144" cy="356473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5848" y="2045930"/>
            <a:ext cx="64334" cy="32099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95848" y="2045930"/>
            <a:ext cx="137374" cy="32894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95848" y="2045930"/>
            <a:ext cx="183065" cy="271405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44" name="bld3_1685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Orris / violet bases</a:t>
            </a:r>
            <a:endParaRPr lang="en-US" sz="1450" dirty="0"/>
          </a:p>
        </p:txBody>
      </p:sp>
      <p:sp>
        <p:nvSpPr>
          <p:cNvPr id="45" name="bld3_1686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cool, carroty-woody — built around one of perfumery's costliest naturals.</a:t>
            </a:r>
            <a:endParaRPr lang="en-US" sz="1080" dirty="0"/>
          </a:p>
        </p:txBody>
      </p:sp>
      <p:sp>
        <p:nvSpPr>
          <p:cNvPr id="46" name="bld4_1687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>
            <a:off x="8123438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9" name="Shape 47"/>
          <p:cNvSpPr/>
          <p:nvPr/>
        </p:nvSpPr>
        <p:spPr>
          <a:xfrm>
            <a:off x="8244688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336837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1" name="Shape 4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2" name="bld4_1689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 bases</a:t>
            </a:r>
            <a:endParaRPr lang="en-US" sz="1450" dirty="0"/>
          </a:p>
        </p:txBody>
      </p:sp>
      <p:sp>
        <p:nvSpPr>
          <p:cNvPr id="53" name="bld4_1690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milky wood, blended from naturals and woody synthetics.</a:t>
            </a:r>
            <a:endParaRPr lang="en-US" sz="1080" dirty="0"/>
          </a:p>
        </p:txBody>
      </p:sp>
      <p:sp>
        <p:nvSpPr>
          <p:cNvPr id="54" name="bld5_1691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6" name="Shape 54"/>
          <p:cNvSpPr/>
          <p:nvPr/>
        </p:nvSpPr>
        <p:spPr>
          <a:xfrm rot="9000000">
            <a:off x="10514777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6000000">
            <a:off x="10451727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1400000">
            <a:off x="10650576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0" name="bld5_1693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bases</a:t>
            </a:r>
            <a:endParaRPr lang="en-US" sz="1450" dirty="0"/>
          </a:p>
        </p:txBody>
      </p:sp>
      <p:sp>
        <p:nvSpPr>
          <p:cNvPr id="61" name="bld5_1694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labdanum-led warmth, or a modern woody-amber build.</a:t>
            </a:r>
            <a:endParaRPr lang="en-US" sz="1080" dirty="0"/>
          </a:p>
        </p:txBody>
      </p:sp>
      <p:sp>
        <p:nvSpPr>
          <p:cNvPr id="62" name="bld6_1695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64" name="Shape 62"/>
          <p:cNvSpPr/>
          <p:nvPr/>
        </p:nvSpPr>
        <p:spPr>
          <a:xfrm>
            <a:off x="1332570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66" name="bld6_1697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bases</a:t>
            </a:r>
            <a:endParaRPr lang="en-US" sz="1450" dirty="0"/>
          </a:p>
        </p:txBody>
      </p:sp>
      <p:sp>
        <p:nvSpPr>
          <p:cNvPr id="67" name="bld6_1698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skin-layer of a formula — clean, soft or animalic depending on the blend.</a:t>
            </a:r>
            <a:endParaRPr lang="en-US" sz="1080" dirty="0"/>
          </a:p>
        </p:txBody>
      </p:sp>
      <p:sp>
        <p:nvSpPr>
          <p:cNvPr id="68" name="bld7_1699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70" name="Shape 68"/>
          <p:cNvSpPr/>
          <p:nvPr/>
        </p:nvSpPr>
        <p:spPr>
          <a:xfrm>
            <a:off x="358325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364514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3620126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3620126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364514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76" name="bld7_1701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 bases</a:t>
            </a:r>
            <a:endParaRPr lang="en-US" sz="1450" dirty="0"/>
          </a:p>
        </p:txBody>
      </p:sp>
      <p:sp>
        <p:nvSpPr>
          <p:cNvPr id="77" name="bld7_1702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clean, or smoky leather texture — built for effect, not literal realism.</a:t>
            </a:r>
            <a:endParaRPr lang="en-US" sz="1080" dirty="0"/>
          </a:p>
        </p:txBody>
      </p:sp>
      <p:sp>
        <p:nvSpPr>
          <p:cNvPr id="78" name="bld8_1703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0" name="Shape 78"/>
          <p:cNvSpPr/>
          <p:nvPr/>
        </p:nvSpPr>
        <p:spPr>
          <a:xfrm>
            <a:off x="5896999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6090361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rot="12000000">
            <a:off x="6114136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84" name="bld8_1705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 bases</a:t>
            </a:r>
            <a:endParaRPr lang="en-US" sz="1450" dirty="0"/>
          </a:p>
        </p:txBody>
      </p:sp>
      <p:sp>
        <p:nvSpPr>
          <p:cNvPr id="85" name="bld8_1706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Convincing tropical or stone-fruit character, built from stacked fruity esters and lactones.</a:t>
            </a:r>
            <a:endParaRPr lang="en-US" sz="1080" dirty="0"/>
          </a:p>
        </p:txBody>
      </p:sp>
      <p:sp>
        <p:nvSpPr>
          <p:cNvPr id="86" name="bld9_1707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8" name="Shape 86"/>
          <p:cNvSpPr/>
          <p:nvPr/>
        </p:nvSpPr>
        <p:spPr>
          <a:xfrm>
            <a:off x="8123438" y="4337182"/>
            <a:ext cx="484998" cy="484998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8191338" y="4405082"/>
            <a:ext cx="349198" cy="349198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8288337" y="4502081"/>
            <a:ext cx="155199" cy="155199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92" name="bld9_1709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Proprietary</a:t>
            </a:r>
            <a:endParaRPr lang="en-US" sz="1450" dirty="0"/>
          </a:p>
        </p:txBody>
      </p:sp>
      <p:sp>
        <p:nvSpPr>
          <p:cNvPr id="93" name="bld9_1710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Givaudan, Firmenich, IFF, Symrise and Robertet each maintain their own bases across these categories.</a:t>
            </a:r>
            <a:endParaRPr lang="en-US" sz="1080" dirty="0"/>
          </a:p>
        </p:txBody>
      </p:sp>
      <p:sp>
        <p:nvSpPr>
          <p:cNvPr id="95" name="trans_fade_10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6" name="Text 9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00" dirty="0"/>
          </a:p>
        </p:txBody>
      </p:sp>
      <p:sp>
        <p:nvSpPr>
          <p:cNvPr id="97" name="Text 9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31" grpId="0"/>
      <p:bldP spid="32" grpId="0"/>
      <p:bldP spid="33" grpId="0"/>
      <p:bldP spid="44" grpId="0"/>
      <p:bldP spid="45" grpId="0"/>
      <p:bldP spid="46" grpId="0"/>
      <p:bldP spid="52" grpId="0"/>
      <p:bldP spid="53" grpId="0"/>
      <p:bldP spid="54" grpId="0"/>
      <p:bldP spid="60" grpId="0"/>
      <p:bldP spid="61" grpId="0"/>
      <p:bldP spid="62" grpId="0"/>
      <p:bldP spid="66" grpId="0"/>
      <p:bldP spid="67" grpId="0"/>
      <p:bldP spid="68" grpId="0"/>
      <p:bldP spid="76" grpId="0"/>
      <p:bldP spid="77" grpId="0"/>
      <p:bldP spid="78" grpId="0"/>
      <p:bldP spid="84" grpId="0"/>
      <p:bldP spid="85" grpId="0"/>
      <p:bldP spid="86" grpId="0"/>
      <p:bldP spid="92" grpId="0"/>
      <p:bldP spid="9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FOR THE FUN PART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Superpower materials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655076" y="1536869"/>
            <a:ext cx="4881543" cy="4881543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9401" y="1507579"/>
            <a:ext cx="292893" cy="29289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0" name="Shape 8"/>
          <p:cNvSpPr/>
          <p:nvPr/>
        </p:nvSpPr>
        <p:spPr>
          <a:xfrm>
            <a:off x="2545635" y="427427"/>
            <a:ext cx="7100426" cy="7100426"/>
          </a:xfrm>
          <a:prstGeom prst="ellipse">
            <a:avLst/>
          </a:prstGeom>
          <a:ln w="16459">
            <a:solidFill>
              <a:srgbClr val="B565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321" y="1448113"/>
            <a:ext cx="5059053" cy="5059053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095848" y="3445108"/>
            <a:ext cx="1198197" cy="5325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4044" y="3445108"/>
            <a:ext cx="1198197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294044" y="4110773"/>
            <a:ext cx="1198197" cy="106506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97050" y="5175837"/>
            <a:ext cx="1996995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5297050" y="3977640"/>
            <a:ext cx="798798" cy="11981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385" y="3311975"/>
            <a:ext cx="1464463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2835" y="3764627"/>
            <a:ext cx="426026" cy="4260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40942" y="3292005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39138" y="3957670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40942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43947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8282" y="3158872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materials that can transform a formula at less than 1% of the concentrate.</a:t>
            </a:r>
            <a:endParaRPr lang="en-US" sz="1200" dirty="0"/>
          </a:p>
        </p:txBody>
      </p:sp>
      <p:sp>
        <p:nvSpPr>
          <p:cNvPr id="26" name="trans_fade_10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doses, massive effect</a:t>
            </a:r>
            <a:endParaRPr lang="en-US" sz="3200" dirty="0"/>
          </a:p>
        </p:txBody>
      </p:sp>
      <p:sp>
        <p:nvSpPr>
          <p:cNvPr id="7" name="bld1_1711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2278415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2383420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2383420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78415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2173410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2173410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54165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7" name="bld1_1713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714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and diffusion — makes an entire formula feel airier.</a:t>
            </a:r>
            <a:endParaRPr lang="en-US" sz="1080" dirty="0"/>
          </a:p>
        </p:txBody>
      </p:sp>
      <p:sp>
        <p:nvSpPr>
          <p:cNvPr id="19" name="bld2_1715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901848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5950348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998848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47348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28" name="bld2_1717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29" name="bld2_1718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volume and a transparent woody glow around everything else.</a:t>
            </a:r>
            <a:endParaRPr lang="en-US" sz="1080" dirty="0"/>
          </a:p>
        </p:txBody>
      </p:sp>
      <p:sp>
        <p:nvSpPr>
          <p:cNvPr id="30" name="bld3_1719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36" name="bld3_1721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 materials</a:t>
            </a:r>
            <a:endParaRPr lang="en-US" sz="1450" dirty="0"/>
          </a:p>
        </p:txBody>
      </p:sp>
      <p:sp>
        <p:nvSpPr>
          <p:cNvPr id="37" name="bld3_1722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and persistence — extends how far and how long a formula reads.</a:t>
            </a:r>
            <a:endParaRPr lang="en-US" sz="1080" dirty="0"/>
          </a:p>
        </p:txBody>
      </p:sp>
      <p:sp>
        <p:nvSpPr>
          <p:cNvPr id="38" name="bld4_1723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2089266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E8E2DC"/>
            </a:solidFill>
            <a:prstDash val="solid"/>
          </a:ln>
        </p:spPr>
      </p:sp>
      <p:sp>
        <p:nvSpPr>
          <p:cNvPr id="42" name="bld4_1725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43" name="bld4_1726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Body, texture and fixation — the skin-like glue that holds a formula together.</a:t>
            </a:r>
            <a:endParaRPr lang="en-US" sz="1080" dirty="0"/>
          </a:p>
        </p:txBody>
      </p:sp>
      <p:sp>
        <p:nvSpPr>
          <p:cNvPr id="44" name="bld5_1727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887299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8" name="Shape 46"/>
          <p:cNvSpPr/>
          <p:nvPr/>
        </p:nvSpPr>
        <p:spPr>
          <a:xfrm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16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432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648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864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080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512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728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944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071598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9" name="Shape 5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60" name="bld5_1729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61" name="bld5_1730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explosive, fresh lift — instantly brightens an opening.</a:t>
            </a:r>
            <a:endParaRPr lang="en-US" sz="1080" dirty="0"/>
          </a:p>
        </p:txBody>
      </p:sp>
      <p:sp>
        <p:nvSpPr>
          <p:cNvPr id="62" name="bld6_1731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4" name="Shape 62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047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8017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8" name="bld6_1733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69" name="bld6_1734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 and gourmand impact — can flip a formula's whole character.</a:t>
            </a:r>
            <a:endParaRPr lang="en-US" sz="1080" dirty="0"/>
          </a:p>
        </p:txBody>
      </p:sp>
      <p:sp>
        <p:nvSpPr>
          <p:cNvPr id="71" name="trans_fade_10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2" name="Text 6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000" dirty="0"/>
          </a:p>
        </p:txBody>
      </p:sp>
      <p:sp>
        <p:nvSpPr>
          <p:cNvPr id="73" name="Text 7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28" grpId="0"/>
      <p:bldP spid="29" grpId="0"/>
      <p:bldP spid="30" grpId="0"/>
      <p:bldP spid="36" grpId="0"/>
      <p:bldP spid="37" grpId="0"/>
      <p:bldP spid="38" grpId="0"/>
      <p:bldP spid="42" grpId="0"/>
      <p:bldP spid="43" grpId="0"/>
      <p:bldP spid="44" grpId="0"/>
      <p:bldP spid="60" grpId="0"/>
      <p:bldP spid="61" grpId="0"/>
      <p:bldP spid="62" grpId="0"/>
      <p:bldP spid="68" grpId="0"/>
      <p:bldP spid="69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fraction of a percent can change everything.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precision instruments,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shortcuts.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03.2</a:t>
            </a:r>
            <a:endParaRPr lang="en-US" sz="1100" dirty="0"/>
          </a:p>
        </p:txBody>
      </p:sp>
      <p:sp>
        <p:nvSpPr>
          <p:cNvPr id="10" name="trans_fade_10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8726" y="2010766"/>
            <a:ext cx="2836469" cy="2836469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47278" y="2209318"/>
            <a:ext cx="2439363" cy="243936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" name="Shape 5"/>
          <p:cNvSpPr/>
          <p:nvPr/>
        </p:nvSpPr>
        <p:spPr>
          <a:xfrm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1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4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51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72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94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825137" y="3287177"/>
            <a:ext cx="283647" cy="283647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WHAT TO ORDER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actually order first? A practical, no-nonsense shopping module.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30 materials, then the next 30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by family, not by impulse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starter-perfumer checklist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32" name="trans_fade_10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buy three hundred materials.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balanced palette, not a chemical hoard.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YOU SHOP</a:t>
            </a:r>
            <a:endParaRPr lang="en-US" sz="1100" dirty="0"/>
          </a:p>
        </p:txBody>
      </p:sp>
      <p:sp>
        <p:nvSpPr>
          <p:cNvPr id="10" name="trans_fade_10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30 — your absolute fundamentals</a:t>
            </a:r>
            <a:endParaRPr lang="en-US" sz="3200" dirty="0"/>
          </a:p>
        </p:txBody>
      </p:sp>
      <p:sp>
        <p:nvSpPr>
          <p:cNvPr id="7" name="bld1_1735"/>
          <p:cNvSpPr txBox="1"/>
          <p:nvPr/>
        </p:nvSpPr>
        <p:spPr>
          <a:xfrm>
            <a:off x="548640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1736"/>
          <p:cNvSpPr/>
          <p:nvPr/>
        </p:nvSpPr>
        <p:spPr>
          <a:xfrm>
            <a:off x="548640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1737"/>
          <p:cNvSpPr txBox="1"/>
          <p:nvPr/>
        </p:nvSpPr>
        <p:spPr>
          <a:xfrm>
            <a:off x="841248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</a:t>
            </a:r>
            <a:endParaRPr lang="en-US" sz="1200" dirty="0"/>
          </a:p>
        </p:txBody>
      </p:sp>
      <p:sp>
        <p:nvSpPr>
          <p:cNvPr id="10" name="bld1_1738"/>
          <p:cNvSpPr/>
          <p:nvPr/>
        </p:nvSpPr>
        <p:spPr>
          <a:xfrm>
            <a:off x="548640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1739"/>
          <p:cNvSpPr txBox="1"/>
          <p:nvPr/>
        </p:nvSpPr>
        <p:spPr>
          <a:xfrm>
            <a:off x="841248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(natural)</a:t>
            </a:r>
            <a:endParaRPr lang="en-US" sz="1200" dirty="0"/>
          </a:p>
        </p:txBody>
      </p:sp>
      <p:sp>
        <p:nvSpPr>
          <p:cNvPr id="12" name="bld1_1740"/>
          <p:cNvSpPr/>
          <p:nvPr/>
        </p:nvSpPr>
        <p:spPr>
          <a:xfrm>
            <a:off x="548640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1741"/>
          <p:cNvSpPr txBox="1"/>
          <p:nvPr/>
        </p:nvSpPr>
        <p:spPr>
          <a:xfrm>
            <a:off x="841248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</a:t>
            </a:r>
            <a:endParaRPr lang="en-US" sz="1200" dirty="0"/>
          </a:p>
        </p:txBody>
      </p:sp>
      <p:sp>
        <p:nvSpPr>
          <p:cNvPr id="14" name="bld1_1742"/>
          <p:cNvSpPr/>
          <p:nvPr/>
        </p:nvSpPr>
        <p:spPr>
          <a:xfrm>
            <a:off x="548640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5" name="bld1_1743"/>
          <p:cNvSpPr txBox="1"/>
          <p:nvPr/>
        </p:nvSpPr>
        <p:spPr>
          <a:xfrm>
            <a:off x="841248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</a:t>
            </a:r>
            <a:endParaRPr lang="en-US" sz="1200" dirty="0"/>
          </a:p>
        </p:txBody>
      </p:sp>
      <p:sp>
        <p:nvSpPr>
          <p:cNvPr id="16" name="bld2_1744"/>
          <p:cNvSpPr txBox="1"/>
          <p:nvPr/>
        </p:nvSpPr>
        <p:spPr>
          <a:xfrm>
            <a:off x="3402254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7" name="bld2_1745"/>
          <p:cNvSpPr/>
          <p:nvPr/>
        </p:nvSpPr>
        <p:spPr>
          <a:xfrm>
            <a:off x="3402254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1746"/>
          <p:cNvSpPr txBox="1"/>
          <p:nvPr/>
        </p:nvSpPr>
        <p:spPr>
          <a:xfrm>
            <a:off x="3694862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</a:t>
            </a:r>
            <a:endParaRPr lang="en-US" sz="1200" dirty="0"/>
          </a:p>
        </p:txBody>
      </p:sp>
      <p:sp>
        <p:nvSpPr>
          <p:cNvPr id="19" name="bld2_1747"/>
          <p:cNvSpPr/>
          <p:nvPr/>
        </p:nvSpPr>
        <p:spPr>
          <a:xfrm>
            <a:off x="3402254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1748"/>
          <p:cNvSpPr txBox="1"/>
          <p:nvPr/>
        </p:nvSpPr>
        <p:spPr>
          <a:xfrm>
            <a:off x="3694862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Habanolide</a:t>
            </a:r>
            <a:endParaRPr lang="en-US" sz="1200" dirty="0"/>
          </a:p>
        </p:txBody>
      </p:sp>
      <p:sp>
        <p:nvSpPr>
          <p:cNvPr id="21" name="bld2_1749"/>
          <p:cNvSpPr/>
          <p:nvPr/>
        </p:nvSpPr>
        <p:spPr>
          <a:xfrm>
            <a:off x="3402254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2" name="bld2_1750"/>
          <p:cNvSpPr txBox="1"/>
          <p:nvPr/>
        </p:nvSpPr>
        <p:spPr>
          <a:xfrm>
            <a:off x="3694862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</a:t>
            </a:r>
            <a:endParaRPr lang="en-US" sz="1200" dirty="0"/>
          </a:p>
        </p:txBody>
      </p:sp>
      <p:sp>
        <p:nvSpPr>
          <p:cNvPr id="23" name="bld2_1751"/>
          <p:cNvSpPr/>
          <p:nvPr/>
        </p:nvSpPr>
        <p:spPr>
          <a:xfrm>
            <a:off x="3402254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4" name="bld2_1752"/>
          <p:cNvSpPr txBox="1"/>
          <p:nvPr/>
        </p:nvSpPr>
        <p:spPr>
          <a:xfrm>
            <a:off x="3694862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</a:t>
            </a:r>
            <a:endParaRPr lang="en-US" sz="1200" dirty="0"/>
          </a:p>
        </p:txBody>
      </p:sp>
      <p:sp>
        <p:nvSpPr>
          <p:cNvPr id="25" name="bld3_1753"/>
          <p:cNvSpPr txBox="1"/>
          <p:nvPr/>
        </p:nvSpPr>
        <p:spPr>
          <a:xfrm>
            <a:off x="6255868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&amp; GREEN</a:t>
            </a:r>
            <a:endParaRPr lang="en-US" sz="1250" dirty="0"/>
          </a:p>
        </p:txBody>
      </p:sp>
      <p:sp>
        <p:nvSpPr>
          <p:cNvPr id="26" name="bld3_1754"/>
          <p:cNvSpPr/>
          <p:nvPr/>
        </p:nvSpPr>
        <p:spPr>
          <a:xfrm>
            <a:off x="6255868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7" name="bld3_1755"/>
          <p:cNvSpPr txBox="1"/>
          <p:nvPr/>
        </p:nvSpPr>
        <p:spPr>
          <a:xfrm>
            <a:off x="6548476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</a:t>
            </a:r>
            <a:endParaRPr lang="en-US" sz="1200" dirty="0"/>
          </a:p>
        </p:txBody>
      </p:sp>
      <p:sp>
        <p:nvSpPr>
          <p:cNvPr id="28" name="bld3_1756"/>
          <p:cNvSpPr/>
          <p:nvPr/>
        </p:nvSpPr>
        <p:spPr>
          <a:xfrm>
            <a:off x="6255868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9" name="bld3_1757"/>
          <p:cNvSpPr txBox="1"/>
          <p:nvPr/>
        </p:nvSpPr>
        <p:spPr>
          <a:xfrm>
            <a:off x="6548476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</a:t>
            </a:r>
            <a:endParaRPr lang="en-US" sz="1200" dirty="0"/>
          </a:p>
        </p:txBody>
      </p:sp>
      <p:sp>
        <p:nvSpPr>
          <p:cNvPr id="30" name="bld3_1758"/>
          <p:cNvSpPr/>
          <p:nvPr/>
        </p:nvSpPr>
        <p:spPr>
          <a:xfrm>
            <a:off x="6255868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31" name="bld3_1759"/>
          <p:cNvSpPr txBox="1"/>
          <p:nvPr/>
        </p:nvSpPr>
        <p:spPr>
          <a:xfrm>
            <a:off x="6548476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</a:t>
            </a:r>
            <a:endParaRPr lang="en-US" sz="1200" dirty="0"/>
          </a:p>
        </p:txBody>
      </p:sp>
      <p:sp>
        <p:nvSpPr>
          <p:cNvPr id="32" name="bld4_1760"/>
          <p:cNvSpPr txBox="1"/>
          <p:nvPr/>
        </p:nvSpPr>
        <p:spPr>
          <a:xfrm>
            <a:off x="9109481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BASE</a:t>
            </a:r>
            <a:endParaRPr lang="en-US" sz="1250" dirty="0"/>
          </a:p>
        </p:txBody>
      </p:sp>
      <p:sp>
        <p:nvSpPr>
          <p:cNvPr id="33" name="bld4_1761"/>
          <p:cNvSpPr/>
          <p:nvPr/>
        </p:nvSpPr>
        <p:spPr>
          <a:xfrm>
            <a:off x="9109481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1762"/>
          <p:cNvSpPr txBox="1"/>
          <p:nvPr/>
        </p:nvSpPr>
        <p:spPr>
          <a:xfrm>
            <a:off x="9402089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</a:t>
            </a:r>
            <a:endParaRPr lang="en-US" sz="1200" dirty="0"/>
          </a:p>
        </p:txBody>
      </p:sp>
      <p:sp>
        <p:nvSpPr>
          <p:cNvPr id="35" name="bld4_1763"/>
          <p:cNvSpPr/>
          <p:nvPr/>
        </p:nvSpPr>
        <p:spPr>
          <a:xfrm>
            <a:off x="9109481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6" name="bld4_1764"/>
          <p:cNvSpPr txBox="1"/>
          <p:nvPr/>
        </p:nvSpPr>
        <p:spPr>
          <a:xfrm>
            <a:off x="9402089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</a:t>
            </a:r>
            <a:endParaRPr lang="en-US" sz="1200" dirty="0"/>
          </a:p>
        </p:txBody>
      </p:sp>
      <p:sp>
        <p:nvSpPr>
          <p:cNvPr id="37" name="bld4_1765"/>
          <p:cNvSpPr/>
          <p:nvPr/>
        </p:nvSpPr>
        <p:spPr>
          <a:xfrm>
            <a:off x="9109481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8" name="bld4_1766"/>
          <p:cNvSpPr txBox="1"/>
          <p:nvPr/>
        </p:nvSpPr>
        <p:spPr>
          <a:xfrm>
            <a:off x="9402089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</a:t>
            </a:r>
            <a:endParaRPr lang="en-US" sz="1200" dirty="0"/>
          </a:p>
        </p:txBody>
      </p:sp>
      <p:sp>
        <p:nvSpPr>
          <p:cNvPr id="39" name="bld4_1767"/>
          <p:cNvSpPr/>
          <p:nvPr/>
        </p:nvSpPr>
        <p:spPr>
          <a:xfrm>
            <a:off x="9109481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40" name="bld4_1768"/>
          <p:cNvSpPr txBox="1"/>
          <p:nvPr/>
        </p:nvSpPr>
        <p:spPr>
          <a:xfrm>
            <a:off x="9402089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</a:t>
            </a:r>
            <a:endParaRPr lang="en-US" sz="1200" dirty="0"/>
          </a:p>
        </p:txBody>
      </p:sp>
      <p:sp>
        <p:nvSpPr>
          <p:cNvPr id="42" name="trans_fade_10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9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30 — expanding possibilities</a:t>
            </a:r>
            <a:endParaRPr lang="en-US" sz="3200" dirty="0"/>
          </a:p>
        </p:txBody>
      </p:sp>
      <p:sp>
        <p:nvSpPr>
          <p:cNvPr id="7" name="bld1_1769"/>
          <p:cNvSpPr txBox="1"/>
          <p:nvPr/>
        </p:nvSpPr>
        <p:spPr>
          <a:xfrm>
            <a:off x="548640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1770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1771"/>
          <p:cNvSpPr txBox="1"/>
          <p:nvPr/>
        </p:nvSpPr>
        <p:spPr>
          <a:xfrm>
            <a:off x="841248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</a:t>
            </a:r>
            <a:endParaRPr lang="en-US" sz="1200" dirty="0"/>
          </a:p>
        </p:txBody>
      </p:sp>
      <p:sp>
        <p:nvSpPr>
          <p:cNvPr id="10" name="bld1_1772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1773"/>
          <p:cNvSpPr txBox="1"/>
          <p:nvPr/>
        </p:nvSpPr>
        <p:spPr>
          <a:xfrm>
            <a:off x="841248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</a:t>
            </a:r>
            <a:endParaRPr lang="en-US" sz="1200" dirty="0"/>
          </a:p>
        </p:txBody>
      </p:sp>
      <p:sp>
        <p:nvSpPr>
          <p:cNvPr id="12" name="bld1_1774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1775"/>
          <p:cNvSpPr txBox="1"/>
          <p:nvPr/>
        </p:nvSpPr>
        <p:spPr>
          <a:xfrm>
            <a:off x="841248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Norlimbanol</a:t>
            </a:r>
            <a:endParaRPr lang="en-US" sz="1200" dirty="0"/>
          </a:p>
        </p:txBody>
      </p:sp>
      <p:sp>
        <p:nvSpPr>
          <p:cNvPr id="14" name="bld2_1776"/>
          <p:cNvSpPr txBox="1"/>
          <p:nvPr/>
        </p:nvSpPr>
        <p:spPr>
          <a:xfrm>
            <a:off x="3402254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5" name="bld2_1777"/>
          <p:cNvSpPr/>
          <p:nvPr/>
        </p:nvSpPr>
        <p:spPr>
          <a:xfrm>
            <a:off x="3402254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6" name="bld2_1778"/>
          <p:cNvSpPr txBox="1"/>
          <p:nvPr/>
        </p:nvSpPr>
        <p:spPr>
          <a:xfrm>
            <a:off x="3694862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Ambrettolide</a:t>
            </a:r>
            <a:endParaRPr lang="en-US" sz="1200" dirty="0"/>
          </a:p>
        </p:txBody>
      </p:sp>
      <p:sp>
        <p:nvSpPr>
          <p:cNvPr id="17" name="bld2_1779"/>
          <p:cNvSpPr/>
          <p:nvPr/>
        </p:nvSpPr>
        <p:spPr>
          <a:xfrm>
            <a:off x="3402254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1780"/>
          <p:cNvSpPr txBox="1"/>
          <p:nvPr/>
        </p:nvSpPr>
        <p:spPr>
          <a:xfrm>
            <a:off x="3694862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</a:t>
            </a:r>
            <a:endParaRPr lang="en-US" sz="1200" dirty="0"/>
          </a:p>
        </p:txBody>
      </p:sp>
      <p:sp>
        <p:nvSpPr>
          <p:cNvPr id="19" name="bld2_1781"/>
          <p:cNvSpPr/>
          <p:nvPr/>
        </p:nvSpPr>
        <p:spPr>
          <a:xfrm>
            <a:off x="3402254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1782"/>
          <p:cNvSpPr txBox="1"/>
          <p:nvPr/>
        </p:nvSpPr>
        <p:spPr>
          <a:xfrm>
            <a:off x="3694862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</a:t>
            </a:r>
            <a:endParaRPr lang="en-US" sz="1200" dirty="0"/>
          </a:p>
        </p:txBody>
      </p:sp>
      <p:sp>
        <p:nvSpPr>
          <p:cNvPr id="21" name="bld3_1783"/>
          <p:cNvSpPr txBox="1"/>
          <p:nvPr/>
        </p:nvSpPr>
        <p:spPr>
          <a:xfrm>
            <a:off x="6255868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&amp; GREEN</a:t>
            </a:r>
            <a:endParaRPr lang="en-US" sz="1250" dirty="0"/>
          </a:p>
        </p:txBody>
      </p:sp>
      <p:sp>
        <p:nvSpPr>
          <p:cNvPr id="22" name="bld3_1784"/>
          <p:cNvSpPr/>
          <p:nvPr/>
        </p:nvSpPr>
        <p:spPr>
          <a:xfrm>
            <a:off x="625586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1785"/>
          <p:cNvSpPr txBox="1"/>
          <p:nvPr/>
        </p:nvSpPr>
        <p:spPr>
          <a:xfrm>
            <a:off x="6548476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</a:t>
            </a:r>
            <a:endParaRPr lang="en-US" sz="1200" dirty="0"/>
          </a:p>
        </p:txBody>
      </p:sp>
      <p:sp>
        <p:nvSpPr>
          <p:cNvPr id="24" name="bld3_1786"/>
          <p:cNvSpPr/>
          <p:nvPr/>
        </p:nvSpPr>
        <p:spPr>
          <a:xfrm>
            <a:off x="625586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1787"/>
          <p:cNvSpPr txBox="1"/>
          <p:nvPr/>
        </p:nvSpPr>
        <p:spPr>
          <a:xfrm>
            <a:off x="6548476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Galbanum</a:t>
            </a:r>
            <a:endParaRPr lang="en-US" sz="1200" dirty="0"/>
          </a:p>
        </p:txBody>
      </p:sp>
      <p:sp>
        <p:nvSpPr>
          <p:cNvPr id="26" name="bld3_1788"/>
          <p:cNvSpPr/>
          <p:nvPr/>
        </p:nvSpPr>
        <p:spPr>
          <a:xfrm>
            <a:off x="625586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1789"/>
          <p:cNvSpPr txBox="1"/>
          <p:nvPr/>
        </p:nvSpPr>
        <p:spPr>
          <a:xfrm>
            <a:off x="6548476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Prunolide</a:t>
            </a:r>
            <a:endParaRPr lang="en-US" sz="1200" dirty="0"/>
          </a:p>
        </p:txBody>
      </p:sp>
      <p:sp>
        <p:nvSpPr>
          <p:cNvPr id="28" name="bld4_1790"/>
          <p:cNvSpPr txBox="1"/>
          <p:nvPr/>
        </p:nvSpPr>
        <p:spPr>
          <a:xfrm>
            <a:off x="9109481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FRESH</a:t>
            </a:r>
            <a:endParaRPr lang="en-US" sz="1250" dirty="0"/>
          </a:p>
        </p:txBody>
      </p:sp>
      <p:sp>
        <p:nvSpPr>
          <p:cNvPr id="29" name="bld4_1791"/>
          <p:cNvSpPr/>
          <p:nvPr/>
        </p:nvSpPr>
        <p:spPr>
          <a:xfrm>
            <a:off x="9109481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0" name="bld4_1792"/>
          <p:cNvSpPr txBox="1"/>
          <p:nvPr/>
        </p:nvSpPr>
        <p:spPr>
          <a:xfrm>
            <a:off x="9402089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Calone</a:t>
            </a:r>
            <a:endParaRPr lang="en-US" sz="1200" dirty="0"/>
          </a:p>
        </p:txBody>
      </p:sp>
      <p:sp>
        <p:nvSpPr>
          <p:cNvPr id="31" name="bld4_1793"/>
          <p:cNvSpPr/>
          <p:nvPr/>
        </p:nvSpPr>
        <p:spPr>
          <a:xfrm>
            <a:off x="9109481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2" name="bld4_1794"/>
          <p:cNvSpPr txBox="1"/>
          <p:nvPr/>
        </p:nvSpPr>
        <p:spPr>
          <a:xfrm>
            <a:off x="9402089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Maltol</a:t>
            </a:r>
            <a:endParaRPr lang="en-US" sz="1200" dirty="0"/>
          </a:p>
        </p:txBody>
      </p:sp>
      <p:sp>
        <p:nvSpPr>
          <p:cNvPr id="33" name="bld4_1795"/>
          <p:cNvSpPr/>
          <p:nvPr/>
        </p:nvSpPr>
        <p:spPr>
          <a:xfrm>
            <a:off x="9109481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1796"/>
          <p:cNvSpPr txBox="1"/>
          <p:nvPr/>
        </p:nvSpPr>
        <p:spPr>
          <a:xfrm>
            <a:off x="9402089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</a:t>
            </a:r>
            <a:endParaRPr lang="en-US" sz="1200" dirty="0"/>
          </a:p>
        </p:txBody>
      </p:sp>
      <p:sp>
        <p:nvSpPr>
          <p:cNvPr id="36" name="trans_fade_10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BY FAMILY, NOT BY IMPULSE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every purchase around the palette</a:t>
            </a:r>
            <a:endParaRPr lang="en-US" sz="3200" dirty="0"/>
          </a:p>
        </p:txBody>
      </p:sp>
      <p:sp>
        <p:nvSpPr>
          <p:cNvPr id="7" name="bld1_1797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313170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94003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74836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6569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1799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15" name="bld1_1800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base</a:t>
            </a:r>
            <a:endParaRPr lang="en-US" sz="1080" dirty="0"/>
          </a:p>
        </p:txBody>
      </p:sp>
      <p:sp>
        <p:nvSpPr>
          <p:cNvPr id="16" name="bld2_1801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3602659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1803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21" name="bld2_1804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fixation</a:t>
            </a:r>
            <a:endParaRPr lang="en-US" sz="1080" dirty="0"/>
          </a:p>
        </p:txBody>
      </p:sp>
      <p:sp>
        <p:nvSpPr>
          <p:cNvPr id="22" name="bld3_1805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8" name="bld3_1807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29" name="bld3_1808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endParaRPr lang="en-US" sz="1080" dirty="0"/>
          </a:p>
        </p:txBody>
      </p:sp>
      <p:sp>
        <p:nvSpPr>
          <p:cNvPr id="30" name="bld4_1809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305312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841670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837415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823646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819391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1811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40" name="bld4_1812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080" dirty="0"/>
          </a:p>
        </p:txBody>
      </p:sp>
      <p:sp>
        <p:nvSpPr>
          <p:cNvPr id="41" name="bld5_1813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9352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427477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61177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1815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58" name="bld5_1816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80" dirty="0"/>
          </a:p>
        </p:txBody>
      </p:sp>
      <p:sp>
        <p:nvSpPr>
          <p:cNvPr id="59" name="bld6_1817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1356820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550182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1573957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1819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1820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Juiciness</a:t>
            </a:r>
            <a:endParaRPr lang="en-US" sz="1080" dirty="0"/>
          </a:p>
        </p:txBody>
      </p:sp>
      <p:sp>
        <p:nvSpPr>
          <p:cNvPr id="67" name="bld7_1821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9" name="Shape 67"/>
          <p:cNvSpPr/>
          <p:nvPr/>
        </p:nvSpPr>
        <p:spPr>
          <a:xfrm rot="15300000">
            <a:off x="366155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3050000">
            <a:off x="3707031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0800000">
            <a:off x="378453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8550000">
            <a:off x="3862036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6300000">
            <a:off x="390750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5" name="bld7_1823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76" name="bld7_1824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080" dirty="0"/>
          </a:p>
        </p:txBody>
      </p:sp>
      <p:sp>
        <p:nvSpPr>
          <p:cNvPr id="77" name="bld8_1825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9" name="Shape 77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590669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590669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590669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84" name="bld8_1827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Aquatic</a:t>
            </a:r>
            <a:endParaRPr lang="en-US" sz="1450" dirty="0"/>
          </a:p>
        </p:txBody>
      </p:sp>
      <p:sp>
        <p:nvSpPr>
          <p:cNvPr id="85" name="bld8_1828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Airiness</a:t>
            </a:r>
            <a:endParaRPr lang="en-US" sz="1080" dirty="0"/>
          </a:p>
        </p:txBody>
      </p:sp>
      <p:sp>
        <p:nvSpPr>
          <p:cNvPr id="86" name="bld9_1829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8" name="Shape 86"/>
          <p:cNvSpPr/>
          <p:nvPr/>
        </p:nvSpPr>
        <p:spPr>
          <a:xfrm rot="840000">
            <a:off x="8307737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40000">
            <a:off x="836045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1137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1" name="Shape 89"/>
          <p:cNvSpPr/>
          <p:nvPr/>
        </p:nvSpPr>
        <p:spPr>
          <a:xfrm>
            <a:off x="832883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2" name="Shape 90"/>
          <p:cNvSpPr/>
          <p:nvPr/>
        </p:nvSpPr>
        <p:spPr>
          <a:xfrm>
            <a:off x="834629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3" name="Shape 91"/>
          <p:cNvSpPr/>
          <p:nvPr/>
        </p:nvSpPr>
        <p:spPr>
          <a:xfrm>
            <a:off x="836375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4" name="Shape 92"/>
          <p:cNvSpPr/>
          <p:nvPr/>
        </p:nvSpPr>
        <p:spPr>
          <a:xfrm>
            <a:off x="8381214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5" name="Shape 93"/>
          <p:cNvSpPr/>
          <p:nvPr/>
        </p:nvSpPr>
        <p:spPr>
          <a:xfrm>
            <a:off x="8398674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97" name="bld9_1831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98" name="bld9_1832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endParaRPr lang="en-US" sz="1080" dirty="0"/>
          </a:p>
        </p:txBody>
      </p:sp>
      <p:sp>
        <p:nvSpPr>
          <p:cNvPr id="99" name="bld10_1833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1" name="Shape 99"/>
          <p:cNvSpPr/>
          <p:nvPr/>
        </p:nvSpPr>
        <p:spPr>
          <a:xfrm rot="9000000">
            <a:off x="10514777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6000000">
            <a:off x="10451727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11400000">
            <a:off x="10650576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105" name="bld10_1835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450" dirty="0"/>
          </a:p>
        </p:txBody>
      </p:sp>
      <p:sp>
        <p:nvSpPr>
          <p:cNvPr id="106" name="bld10_1836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&amp; soul</a:t>
            </a:r>
            <a:endParaRPr lang="en-US" sz="1080" dirty="0"/>
          </a:p>
        </p:txBody>
      </p:sp>
      <p:sp>
        <p:nvSpPr>
          <p:cNvPr id="108" name="trans_fade_10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9" name="Text 10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1000" dirty="0"/>
          </a:p>
        </p:txBody>
      </p:sp>
      <p:sp>
        <p:nvSpPr>
          <p:cNvPr id="110" name="Text 10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5" grpId="0"/>
      <p:bldP spid="76" grpId="0"/>
      <p:bldP spid="77" grpId="0"/>
      <p:bldP spid="84" grpId="0"/>
      <p:bldP spid="85" grpId="0"/>
      <p:bldP spid="86" grpId="0"/>
      <p:bldP spid="97" grpId="0"/>
      <p:bldP spid="98" grpId="0"/>
      <p:bldP spid="99" grpId="0"/>
      <p:bldP spid="105" grpId="0"/>
      <p:bldP spid="106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beats curiosity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74313" y="3177558"/>
            <a:ext cx="502883" cy="50288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8835289" y="3177558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Shape 10"/>
          <p:cNvSpPr/>
          <p:nvPr/>
        </p:nvSpPr>
        <p:spPr>
          <a:xfrm>
            <a:off x="9296266" y="3177558"/>
            <a:ext cx="502883" cy="502883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9757242" y="3177558"/>
            <a:ext cx="502883" cy="502883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18219" y="3177558"/>
            <a:ext cx="502883" cy="502883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palette, not a random hoard.</a:t>
            </a:r>
            <a:endParaRPr lang="en-US" sz="1050" dirty="0"/>
          </a:p>
        </p:txBody>
      </p:sp>
      <p:sp>
        <p:nvSpPr>
          <p:cNvPr id="16" name="bld1_183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1_183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every family first</a:t>
            </a:r>
            <a:endParaRPr lang="en-US" sz="1650" dirty="0"/>
          </a:p>
        </p:txBody>
      </p:sp>
      <p:sp>
        <p:nvSpPr>
          <p:cNvPr id="18" name="bld1_183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from each of the ten categories teaches you more than ten materials from one category.</a:t>
            </a:r>
            <a:endParaRPr lang="en-US" sz="1250" dirty="0"/>
          </a:p>
        </p:txBody>
      </p:sp>
      <p:sp>
        <p:nvSpPr>
          <p:cNvPr id="19" name="bld2_184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184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Resist the rare and expensive</a:t>
            </a:r>
            <a:endParaRPr lang="en-US" sz="1650" dirty="0"/>
          </a:p>
        </p:txBody>
      </p:sp>
      <p:sp>
        <p:nvSpPr>
          <p:cNvPr id="21" name="bld2_184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exotic captive material is exciting — but useless without the fundamentals to build around it.</a:t>
            </a:r>
            <a:endParaRPr lang="en-US" sz="1250" dirty="0"/>
          </a:p>
        </p:txBody>
      </p:sp>
      <p:sp>
        <p:nvSpPr>
          <p:cNvPr id="22" name="bld3_184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184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comes later</a:t>
            </a:r>
            <a:endParaRPr lang="en-US" sz="1650" dirty="0"/>
          </a:p>
        </p:txBody>
      </p:sp>
      <p:sp>
        <p:nvSpPr>
          <p:cNvPr id="24" name="bld3_184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first 60 materials are familiar, specialise into what you actually love working with.</a:t>
            </a:r>
            <a:endParaRPr lang="en-US" sz="1250" dirty="0"/>
          </a:p>
        </p:txBody>
      </p:sp>
      <p:sp>
        <p:nvSpPr>
          <p:cNvPr id="26" name="trans_fade_1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starter-perfumer checklist</a:t>
            </a:r>
            <a:endParaRPr lang="en-US" sz="3200" dirty="0"/>
          </a:p>
        </p:txBody>
      </p:sp>
      <p:sp>
        <p:nvSpPr>
          <p:cNvPr id="7" name="bld1_1846"/>
          <p:cNvSpPr txBox="1"/>
          <p:nvPr/>
        </p:nvSpPr>
        <p:spPr>
          <a:xfrm>
            <a:off x="548640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250" dirty="0"/>
          </a:p>
        </p:txBody>
      </p:sp>
      <p:sp>
        <p:nvSpPr>
          <p:cNvPr id="8" name="bld1_1847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1848"/>
          <p:cNvSpPr txBox="1"/>
          <p:nvPr/>
        </p:nvSpPr>
        <p:spPr>
          <a:xfrm>
            <a:off x="841248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list complete</a:t>
            </a:r>
            <a:endParaRPr lang="en-US" sz="1200" dirty="0"/>
          </a:p>
        </p:txBody>
      </p:sp>
      <p:sp>
        <p:nvSpPr>
          <p:cNvPr id="10" name="bld1_1849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1850"/>
          <p:cNvSpPr txBox="1"/>
          <p:nvPr/>
        </p:nvSpPr>
        <p:spPr>
          <a:xfrm>
            <a:off x="841248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per family minimum</a:t>
            </a:r>
            <a:endParaRPr lang="en-US" sz="1200" dirty="0"/>
          </a:p>
        </p:txBody>
      </p:sp>
      <p:sp>
        <p:nvSpPr>
          <p:cNvPr id="12" name="bld1_1851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1852"/>
          <p:cNvSpPr txBox="1"/>
          <p:nvPr/>
        </p:nvSpPr>
        <p:spPr>
          <a:xfrm>
            <a:off x="841248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+ synthetics both represented</a:t>
            </a:r>
            <a:endParaRPr lang="en-US" sz="1200" dirty="0"/>
          </a:p>
        </p:txBody>
      </p:sp>
      <p:sp>
        <p:nvSpPr>
          <p:cNvPr id="14" name="bld2_1853"/>
          <p:cNvSpPr txBox="1"/>
          <p:nvPr/>
        </p:nvSpPr>
        <p:spPr>
          <a:xfrm>
            <a:off x="4353458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250" dirty="0"/>
          </a:p>
        </p:txBody>
      </p:sp>
      <p:sp>
        <p:nvSpPr>
          <p:cNvPr id="15" name="bld2_1854"/>
          <p:cNvSpPr/>
          <p:nvPr/>
        </p:nvSpPr>
        <p:spPr>
          <a:xfrm>
            <a:off x="435345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1855"/>
          <p:cNvSpPr txBox="1"/>
          <p:nvPr/>
        </p:nvSpPr>
        <p:spPr>
          <a:xfrm>
            <a:off x="4646066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00" dirty="0"/>
          </a:p>
        </p:txBody>
      </p:sp>
      <p:sp>
        <p:nvSpPr>
          <p:cNvPr id="17" name="bld2_1856"/>
          <p:cNvSpPr/>
          <p:nvPr/>
        </p:nvSpPr>
        <p:spPr>
          <a:xfrm>
            <a:off x="435345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8" name="bld2_1857"/>
          <p:cNvSpPr txBox="1"/>
          <p:nvPr/>
        </p:nvSpPr>
        <p:spPr>
          <a:xfrm>
            <a:off x="4646066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pipettes</a:t>
            </a:r>
            <a:endParaRPr lang="en-US" sz="1200" dirty="0"/>
          </a:p>
        </p:txBody>
      </p:sp>
      <p:sp>
        <p:nvSpPr>
          <p:cNvPr id="19" name="bld2_1858"/>
          <p:cNvSpPr/>
          <p:nvPr/>
        </p:nvSpPr>
        <p:spPr>
          <a:xfrm>
            <a:off x="435345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0" name="bld2_1859"/>
          <p:cNvSpPr txBox="1"/>
          <p:nvPr/>
        </p:nvSpPr>
        <p:spPr>
          <a:xfrm>
            <a:off x="4646066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bottles + scent strips</a:t>
            </a:r>
            <a:endParaRPr lang="en-US" sz="1200" dirty="0"/>
          </a:p>
        </p:txBody>
      </p:sp>
      <p:sp>
        <p:nvSpPr>
          <p:cNvPr id="21" name="bld3_1860"/>
          <p:cNvSpPr txBox="1"/>
          <p:nvPr/>
        </p:nvSpPr>
        <p:spPr>
          <a:xfrm>
            <a:off x="8158277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50" dirty="0"/>
          </a:p>
        </p:txBody>
      </p:sp>
      <p:sp>
        <p:nvSpPr>
          <p:cNvPr id="22" name="bld3_1861"/>
          <p:cNvSpPr/>
          <p:nvPr/>
        </p:nvSpPr>
        <p:spPr>
          <a:xfrm>
            <a:off x="8158277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1862"/>
          <p:cNvSpPr txBox="1"/>
          <p:nvPr/>
        </p:nvSpPr>
        <p:spPr>
          <a:xfrm>
            <a:off x="8450885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log started</a:t>
            </a:r>
            <a:endParaRPr lang="en-US" sz="1200" dirty="0"/>
          </a:p>
        </p:txBody>
      </p:sp>
      <p:sp>
        <p:nvSpPr>
          <p:cNvPr id="24" name="bld3_1863"/>
          <p:cNvSpPr/>
          <p:nvPr/>
        </p:nvSpPr>
        <p:spPr>
          <a:xfrm>
            <a:off x="8158277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1864"/>
          <p:cNvSpPr txBox="1"/>
          <p:nvPr/>
        </p:nvSpPr>
        <p:spPr>
          <a:xfrm>
            <a:off x="8450885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boxes labelled</a:t>
            </a:r>
            <a:endParaRPr lang="en-US" sz="1200" dirty="0"/>
          </a:p>
        </p:txBody>
      </p:sp>
      <p:sp>
        <p:nvSpPr>
          <p:cNvPr id="26" name="bld3_1865"/>
          <p:cNvSpPr/>
          <p:nvPr/>
        </p:nvSpPr>
        <p:spPr>
          <a:xfrm>
            <a:off x="8158277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1866"/>
          <p:cNvSpPr txBox="1"/>
          <p:nvPr/>
        </p:nvSpPr>
        <p:spPr>
          <a:xfrm>
            <a:off x="8450885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bottles ready</a:t>
            </a:r>
            <a:endParaRPr lang="en-US" sz="1200" dirty="0"/>
          </a:p>
        </p:txBody>
      </p:sp>
      <p:sp>
        <p:nvSpPr>
          <p:cNvPr id="29" name="trans_fade_1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beats width. Thirty materials you know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intimately beat three hundred you've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really smelled.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</a:t>
            </a:r>
            <a:endParaRPr lang="en-US" sz="1100" dirty="0"/>
          </a:p>
        </p:txBody>
      </p:sp>
      <p:sp>
        <p:nvSpPr>
          <p:cNvPr id="10" name="trans_fade_1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C9A354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 · DILUTION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Confidence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is the skill that makes every other skill in this course possible.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 at 10%, 1% and 0.1%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Diluting liquids vs. solids, step by step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label a dilution so it's never a mystery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2" name="trans_fade_1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DILUTE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reasons every perfumer dilutes</a:t>
            </a:r>
            <a:endParaRPr lang="en-US" sz="3200" dirty="0"/>
          </a:p>
        </p:txBody>
      </p:sp>
      <p:sp>
        <p:nvSpPr>
          <p:cNvPr id="7" name="bld1_186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86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86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0" name="bld1_187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Weighing 0.05g of pure material is unreliable — weighing it diluted is precise.</a:t>
            </a:r>
            <a:endParaRPr lang="en-US" sz="1080" dirty="0"/>
          </a:p>
        </p:txBody>
      </p:sp>
      <p:sp>
        <p:nvSpPr>
          <p:cNvPr id="11" name="bld2_187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87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87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evaluation</a:t>
            </a:r>
            <a:endParaRPr lang="en-US" sz="1450" dirty="0"/>
          </a:p>
        </p:txBody>
      </p:sp>
      <p:sp>
        <p:nvSpPr>
          <p:cNvPr id="14" name="bld2_187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diluted material is safer and clearer to smell on a strip.</a:t>
            </a:r>
            <a:endParaRPr lang="en-US" sz="1080" dirty="0"/>
          </a:p>
        </p:txBody>
      </p:sp>
      <p:sp>
        <p:nvSpPr>
          <p:cNvPr id="15" name="bld3_187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87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87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dosing</a:t>
            </a:r>
            <a:endParaRPr lang="en-US" sz="1450" dirty="0"/>
          </a:p>
        </p:txBody>
      </p:sp>
      <p:sp>
        <p:nvSpPr>
          <p:cNvPr id="18" name="bld3_187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controlled doses become achievable at any strength.</a:t>
            </a:r>
            <a:endParaRPr lang="en-US" sz="1080" dirty="0"/>
          </a:p>
        </p:txBody>
      </p:sp>
      <p:sp>
        <p:nvSpPr>
          <p:cNvPr id="19" name="bld4_187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88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88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potency</a:t>
            </a:r>
            <a:endParaRPr lang="en-US" sz="1450" dirty="0"/>
          </a:p>
        </p:txBody>
      </p:sp>
      <p:sp>
        <p:nvSpPr>
          <p:cNvPr id="22" name="bld4_188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materials reveal their true character only once tamed.</a:t>
            </a:r>
            <a:endParaRPr lang="en-US" sz="1080" dirty="0"/>
          </a:p>
        </p:txBody>
      </p:sp>
      <p:sp>
        <p:nvSpPr>
          <p:cNvPr id="23" name="bld5_188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88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188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solids</a:t>
            </a:r>
            <a:endParaRPr lang="en-US" sz="1450" dirty="0"/>
          </a:p>
        </p:txBody>
      </p:sp>
      <p:sp>
        <p:nvSpPr>
          <p:cNvPr id="26" name="bld5_188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materials become usable liquids once dissolved.</a:t>
            </a:r>
            <a:endParaRPr lang="en-US" sz="1080" dirty="0"/>
          </a:p>
        </p:txBody>
      </p:sp>
      <p:sp>
        <p:nvSpPr>
          <p:cNvPr id="27" name="bld6_188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88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6_188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development</a:t>
            </a:r>
            <a:endParaRPr lang="en-US" sz="1450" dirty="0"/>
          </a:p>
        </p:txBody>
      </p:sp>
      <p:sp>
        <p:nvSpPr>
          <p:cNvPr id="30" name="bld6_189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stocks let you iterate a formula quickly and repeatably.</a:t>
            </a:r>
            <a:endParaRPr lang="en-US" sz="1080" dirty="0"/>
          </a:p>
        </p:txBody>
      </p:sp>
      <p:sp>
        <p:nvSpPr>
          <p:cNvPr id="32" name="trans_fade_1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DILUTION LADDER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working strengths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36118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4971743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4971743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204019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57566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15756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492528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083235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4918319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15059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4871864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891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1892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1_1893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450" dirty="0"/>
          </a:p>
        </p:txBody>
      </p:sp>
      <p:sp>
        <p:nvSpPr>
          <p:cNvPr id="24" name="bld1_1894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Neat material — undiluted</a:t>
            </a:r>
            <a:endParaRPr lang="en-US" sz="1080" dirty="0"/>
          </a:p>
        </p:txBody>
      </p:sp>
      <p:sp>
        <p:nvSpPr>
          <p:cNvPr id="25" name="bld2_1895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896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1897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1450" dirty="0"/>
          </a:p>
        </p:txBody>
      </p:sp>
      <p:sp>
        <p:nvSpPr>
          <p:cNvPr id="28" name="bld2_1898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strength — strong materials</a:t>
            </a:r>
            <a:endParaRPr lang="en-US" sz="1080" dirty="0"/>
          </a:p>
        </p:txBody>
      </p:sp>
      <p:sp>
        <p:nvSpPr>
          <p:cNvPr id="29" name="bld3_1899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900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901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1450" dirty="0"/>
          </a:p>
        </p:txBody>
      </p:sp>
      <p:sp>
        <p:nvSpPr>
          <p:cNvPr id="32" name="bld3_1902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working dilution</a:t>
            </a:r>
            <a:endParaRPr lang="en-US" sz="1080" dirty="0"/>
          </a:p>
        </p:txBody>
      </p:sp>
      <p:sp>
        <p:nvSpPr>
          <p:cNvPr id="33" name="bld4_1903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1904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1905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1450" dirty="0"/>
          </a:p>
        </p:txBody>
      </p:sp>
      <p:sp>
        <p:nvSpPr>
          <p:cNvPr id="36" name="bld4_1906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very potent materials</a:t>
            </a:r>
            <a:endParaRPr lang="en-US" sz="1080" dirty="0"/>
          </a:p>
        </p:txBody>
      </p:sp>
      <p:sp>
        <p:nvSpPr>
          <p:cNvPr id="37" name="bld5_1907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1908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9" name="bld5_1909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</a:t>
            </a:r>
            <a:endParaRPr lang="en-US" sz="1450" dirty="0"/>
          </a:p>
        </p:txBody>
      </p:sp>
      <p:sp>
        <p:nvSpPr>
          <p:cNvPr id="40" name="bld5_1910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most powerful trace materials</a:t>
            </a:r>
            <a:endParaRPr lang="en-US" sz="1080" dirty="0"/>
          </a:p>
        </p:txBody>
      </p:sp>
      <p:sp>
        <p:nvSpPr>
          <p:cNvPr id="42" name="trans_fade_1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material to labelled bottle</a:t>
            </a:r>
            <a:endParaRPr lang="en-US" sz="3200" dirty="0"/>
          </a:p>
        </p:txBody>
      </p:sp>
      <p:sp>
        <p:nvSpPr>
          <p:cNvPr id="7" name="bld1_1911"/>
          <p:cNvSpPr txBox="1"/>
          <p:nvPr/>
        </p:nvSpPr>
        <p:spPr>
          <a:xfrm>
            <a:off x="2112264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511150" y="3117190"/>
            <a:ext cx="1355141" cy="1355141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06009" y="3212049"/>
            <a:ext cx="1165421" cy="116542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20963" y="3727003"/>
            <a:ext cx="135514" cy="13551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1913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</a:t>
            </a:r>
            <a:endParaRPr lang="en-US" sz="1400" dirty="0"/>
          </a:p>
        </p:txBody>
      </p:sp>
      <p:sp>
        <p:nvSpPr>
          <p:cNvPr id="24" name="bld1_1914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 you're diluting</a:t>
            </a:r>
            <a:endParaRPr lang="en-US" sz="1050" dirty="0"/>
          </a:p>
        </p:txBody>
      </p:sp>
      <p:sp>
        <p:nvSpPr>
          <p:cNvPr id="25" name="bld2_1915"/>
          <p:cNvSpPr txBox="1"/>
          <p:nvPr/>
        </p:nvSpPr>
        <p:spPr>
          <a:xfrm>
            <a:off x="5383682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3782568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31633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31633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1633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2" name="bld2_1917"/>
          <p:cNvSpPr txBox="1"/>
          <p:nvPr/>
        </p:nvSpPr>
        <p:spPr>
          <a:xfrm>
            <a:off x="350001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00" dirty="0"/>
          </a:p>
        </p:txBody>
      </p:sp>
      <p:sp>
        <p:nvSpPr>
          <p:cNvPr id="33" name="bld2_1918"/>
          <p:cNvSpPr txBox="1"/>
          <p:nvPr/>
        </p:nvSpPr>
        <p:spPr>
          <a:xfrm>
            <a:off x="350001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Ethanol, DPG or similar</a:t>
            </a:r>
            <a:endParaRPr lang="en-US" sz="1050" dirty="0"/>
          </a:p>
        </p:txBody>
      </p:sp>
      <p:sp>
        <p:nvSpPr>
          <p:cNvPr id="34" name="bld3_1919"/>
          <p:cNvSpPr txBox="1"/>
          <p:nvPr/>
        </p:nvSpPr>
        <p:spPr>
          <a:xfrm>
            <a:off x="8655101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7053986" y="3117190"/>
            <a:ext cx="1355141" cy="1355141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243706" y="3306909"/>
            <a:ext cx="975701" cy="975701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514734" y="3577937"/>
            <a:ext cx="433645" cy="433645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0" name="bld3_1921"/>
          <p:cNvSpPr txBox="1"/>
          <p:nvPr/>
        </p:nvSpPr>
        <p:spPr>
          <a:xfrm>
            <a:off x="6771437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dilution</a:t>
            </a:r>
            <a:endParaRPr lang="en-US" sz="1400" dirty="0"/>
          </a:p>
        </p:txBody>
      </p:sp>
      <p:sp>
        <p:nvSpPr>
          <p:cNvPr id="41" name="bld3_1922"/>
          <p:cNvSpPr txBox="1"/>
          <p:nvPr/>
        </p:nvSpPr>
        <p:spPr>
          <a:xfrm>
            <a:off x="6771437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Weighed, combined, stirred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3" name="Shape 41"/>
          <p:cNvSpPr/>
          <p:nvPr/>
        </p:nvSpPr>
        <p:spPr>
          <a:xfrm>
            <a:off x="10933158" y="3239152"/>
            <a:ext cx="139634" cy="111122"/>
          </a:xfrm>
          <a:prstGeom prst="roundRect">
            <a:avLst>
              <a:gd name="adj" fmla="val 32915"/>
            </a:avLst>
          </a:prstGeom>
          <a:solidFill>
            <a:srgbClr val="0E0D0B"/>
          </a:solidFill>
          <a:ln/>
        </p:spPr>
      </p:sp>
      <p:sp>
        <p:nvSpPr>
          <p:cNvPr id="44" name="Shape 42"/>
          <p:cNvSpPr/>
          <p:nvPr/>
        </p:nvSpPr>
        <p:spPr>
          <a:xfrm>
            <a:off x="10942265" y="3350274"/>
            <a:ext cx="121421" cy="177794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786153" y="3528068"/>
            <a:ext cx="433645" cy="822299"/>
          </a:xfrm>
          <a:prstGeom prst="roundRect">
            <a:avLst>
              <a:gd name="adj" fmla="val 25304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22729" y="3898103"/>
            <a:ext cx="360493" cy="415689"/>
          </a:xfrm>
          <a:prstGeom prst="roundRect">
            <a:avLst>
              <a:gd name="adj" fmla="val 25365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8" name="bld4_1924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Labelled bottle</a:t>
            </a:r>
            <a:endParaRPr lang="en-US" sz="1400" dirty="0"/>
          </a:p>
        </p:txBody>
      </p:sp>
      <p:sp>
        <p:nvSpPr>
          <p:cNvPr id="49" name="bld4_1925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solvent, date</a:t>
            </a:r>
            <a:endParaRPr lang="en-US" sz="1050" dirty="0"/>
          </a:p>
        </p:txBody>
      </p:sp>
      <p:sp>
        <p:nvSpPr>
          <p:cNvPr id="51" name="trans_push_l_1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2" name="Text 4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2" grpId="0"/>
      <p:bldP spid="33" grpId="0"/>
      <p:bldP spid="34" grpId="0"/>
      <p:bldP spid="40" grpId="0"/>
      <p:bldP spid="41" grpId="0"/>
      <p:bldP spid="48" grpId="0"/>
      <p:bldP spid="49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liquid material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 rot="8100000">
            <a:off x="8992021" y="2642885"/>
            <a:ext cx="1111372" cy="1111372"/>
          </a:xfrm>
          <a:prstGeom prst="teardrop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10% dilution.</a:t>
            </a:r>
            <a:endParaRPr lang="en-US" sz="1050" dirty="0"/>
          </a:p>
        </p:txBody>
      </p:sp>
      <p:sp>
        <p:nvSpPr>
          <p:cNvPr id="14" name="bld1_192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92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weigh the material</a:t>
            </a:r>
            <a:endParaRPr lang="en-US" sz="1650" dirty="0"/>
          </a:p>
        </p:txBody>
      </p:sp>
      <p:sp>
        <p:nvSpPr>
          <p:cNvPr id="16" name="bld1_192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your bottle on the scale, tare, and weigh out exactly 1g of material.</a:t>
            </a:r>
            <a:endParaRPr lang="en-US" sz="1250" dirty="0"/>
          </a:p>
        </p:txBody>
      </p:sp>
      <p:sp>
        <p:nvSpPr>
          <p:cNvPr id="17" name="bld2_192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193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add solvent</a:t>
            </a:r>
            <a:endParaRPr lang="en-US" sz="1650" dirty="0"/>
          </a:p>
        </p:txBody>
      </p:sp>
      <p:sp>
        <p:nvSpPr>
          <p:cNvPr id="19" name="bld2_193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9g of your chosen solvent (often ethanol or DPG) to the same bottle.</a:t>
            </a:r>
            <a:endParaRPr lang="en-US" sz="1250" dirty="0"/>
          </a:p>
        </p:txBody>
      </p:sp>
      <p:sp>
        <p:nvSpPr>
          <p:cNvPr id="20" name="bld3_193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193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you now have 10%</a:t>
            </a:r>
            <a:endParaRPr lang="en-US" sz="1650" dirty="0"/>
          </a:p>
        </p:txBody>
      </p:sp>
      <p:sp>
        <p:nvSpPr>
          <p:cNvPr id="22" name="bld3_193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10g total, and the material is 10% of that total.</a:t>
            </a:r>
            <a:endParaRPr lang="en-US" sz="1250" dirty="0"/>
          </a:p>
        </p:txBody>
      </p:sp>
      <p:sp>
        <p:nvSpPr>
          <p:cNvPr id="24" name="trans_fade_1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down to 1% and 0.1%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710934"/>
            <a:ext cx="2514417" cy="2514417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09569" y="2130003"/>
            <a:ext cx="1676278" cy="1676278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28638" y="2549073"/>
            <a:ext cx="838139" cy="838139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dilution is built from the one before it — a chain, not three separate weighings.</a:t>
            </a:r>
            <a:endParaRPr lang="en-US" sz="1050" dirty="0"/>
          </a:p>
        </p:txBody>
      </p:sp>
      <p:sp>
        <p:nvSpPr>
          <p:cNvPr id="14" name="bld1_193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93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1%, straight from raw material</a:t>
            </a:r>
            <a:endParaRPr lang="en-US" sz="1650" dirty="0"/>
          </a:p>
        </p:txBody>
      </p:sp>
      <p:sp>
        <p:nvSpPr>
          <p:cNvPr id="16" name="bld1_193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0.1g material + 9.9g solvent = 10g total, and the material is 1% of that total.</a:t>
            </a:r>
            <a:endParaRPr lang="en-US" sz="1250" dirty="0"/>
          </a:p>
        </p:txBody>
      </p:sp>
      <p:sp>
        <p:nvSpPr>
          <p:cNvPr id="17" name="bld2_193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193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1%, the easier way — from a 10% stock</a:t>
            </a:r>
            <a:endParaRPr lang="en-US" sz="1650" dirty="0"/>
          </a:p>
        </p:txBody>
      </p:sp>
      <p:sp>
        <p:nvSpPr>
          <p:cNvPr id="19" name="bld2_194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of your existing 10% stock + 9g solvent = 10g at 1%. No need to weigh a tiny 0.1g amount twice.</a:t>
            </a:r>
            <a:endParaRPr lang="en-US" sz="1250" dirty="0"/>
          </a:p>
        </p:txBody>
      </p:sp>
      <p:sp>
        <p:nvSpPr>
          <p:cNvPr id="20" name="bld3_194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194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0.1%, the same trick again</a:t>
            </a:r>
            <a:endParaRPr lang="en-US" sz="1650" dirty="0"/>
          </a:p>
        </p:txBody>
      </p:sp>
      <p:sp>
        <p:nvSpPr>
          <p:cNvPr id="22" name="bld3_194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of your 1% stock + 9g solvent = 10g at 0.1%. Each stock becomes the starting point for the next.</a:t>
            </a:r>
            <a:endParaRPr lang="en-US" sz="1250" dirty="0"/>
          </a:p>
        </p:txBody>
      </p:sp>
      <p:sp>
        <p:nvSpPr>
          <p:cNvPr id="24" name="trans_fade_1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HOW LOW TO 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some materials need lower dilutions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36118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4971743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4971743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204019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57566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15756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492528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083235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4918319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15059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4871864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944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1945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1946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potency</a:t>
            </a:r>
            <a:endParaRPr lang="en-US" sz="1450" dirty="0"/>
          </a:p>
        </p:txBody>
      </p:sp>
      <p:sp>
        <p:nvSpPr>
          <p:cNvPr id="24" name="bld1_1947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powerful that even 10% overwhelms a scent strip — 1% or lower reveals their real character.</a:t>
            </a:r>
            <a:endParaRPr lang="en-US" sz="1080" dirty="0"/>
          </a:p>
        </p:txBody>
      </p:sp>
      <p:sp>
        <p:nvSpPr>
          <p:cNvPr id="25" name="bld2_1948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949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1950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 dosing in a formula</a:t>
            </a:r>
            <a:endParaRPr lang="en-US" sz="1450" dirty="0"/>
          </a:p>
        </p:txBody>
      </p:sp>
      <p:sp>
        <p:nvSpPr>
          <p:cNvPr id="28" name="bld2_1951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used at 0.05% of a formula needs a dilute stock — otherwise you simply can't weigh a small enough amount of the neat material.</a:t>
            </a:r>
            <a:endParaRPr lang="en-US" sz="1080" dirty="0"/>
          </a:p>
        </p:txBody>
      </p:sp>
      <p:sp>
        <p:nvSpPr>
          <p:cNvPr id="29" name="bld3_1952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953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1954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usage limits</a:t>
            </a:r>
            <a:endParaRPr lang="en-US" sz="1450" dirty="0"/>
          </a:p>
        </p:txBody>
      </p:sp>
      <p:sp>
        <p:nvSpPr>
          <p:cNvPr id="32" name="bld3_1955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and other guidelines cap some materials at very low percentages — a pre-made low dilution keeps you safely under the limit by default.</a:t>
            </a:r>
            <a:endParaRPr lang="en-US" sz="1080" dirty="0"/>
          </a:p>
        </p:txBody>
      </p:sp>
      <p:sp>
        <p:nvSpPr>
          <p:cNvPr id="34" name="trans_fade_1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solid material</a:t>
            </a:r>
            <a:endParaRPr lang="en-US" sz="3200" dirty="0"/>
          </a:p>
        </p:txBody>
      </p:sp>
      <p:sp>
        <p:nvSpPr>
          <p:cNvPr id="7" name="bld1_1956"/>
          <p:cNvSpPr txBox="1"/>
          <p:nvPr/>
        </p:nvSpPr>
        <p:spPr>
          <a:xfrm>
            <a:off x="2112264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45695"/>
            <a:ext cx="335397" cy="14906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4117" y="3645695"/>
            <a:ext cx="335397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24117" y="3832026"/>
            <a:ext cx="335397" cy="29813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5122" y="4130157"/>
            <a:ext cx="55899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65122" y="3794760"/>
            <a:ext cx="223598" cy="33539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8790" y="3608428"/>
            <a:ext cx="409930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094" y="3735134"/>
            <a:ext cx="119252" cy="11925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1261" y="3602838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6658" y="3789170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1261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2265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5934" y="3565572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bld1_1958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00" dirty="0"/>
          </a:p>
        </p:txBody>
      </p:sp>
      <p:sp>
        <p:nvSpPr>
          <p:cNvPr id="23" name="bld1_1959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Precisely, on the scale</a:t>
            </a:r>
            <a:endParaRPr lang="en-US" sz="1050" dirty="0"/>
          </a:p>
        </p:txBody>
      </p:sp>
      <p:sp>
        <p:nvSpPr>
          <p:cNvPr id="24" name="bld2_1960"/>
          <p:cNvSpPr txBox="1"/>
          <p:nvPr/>
        </p:nvSpPr>
        <p:spPr>
          <a:xfrm>
            <a:off x="4565828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6" name="Shape 24"/>
          <p:cNvSpPr/>
          <p:nvPr/>
        </p:nvSpPr>
        <p:spPr>
          <a:xfrm>
            <a:off x="2964713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113779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13779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13779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1" name="bld2_1962"/>
          <p:cNvSpPr txBox="1"/>
          <p:nvPr/>
        </p:nvSpPr>
        <p:spPr>
          <a:xfrm>
            <a:off x="2682164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solvent</a:t>
            </a:r>
            <a:endParaRPr lang="en-US" sz="1400" dirty="0"/>
          </a:p>
        </p:txBody>
      </p:sp>
      <p:sp>
        <p:nvSpPr>
          <p:cNvPr id="32" name="bld2_1963"/>
          <p:cNvSpPr txBox="1"/>
          <p:nvPr/>
        </p:nvSpPr>
        <p:spPr>
          <a:xfrm>
            <a:off x="2682164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calculated weight</a:t>
            </a:r>
            <a:endParaRPr lang="en-US" sz="1050" dirty="0"/>
          </a:p>
        </p:txBody>
      </p:sp>
      <p:sp>
        <p:nvSpPr>
          <p:cNvPr id="33" name="bld3_1964"/>
          <p:cNvSpPr txBox="1"/>
          <p:nvPr/>
        </p:nvSpPr>
        <p:spPr>
          <a:xfrm>
            <a:off x="7019392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 rot="8100000">
            <a:off x="5757062" y="3455975"/>
            <a:ext cx="677570" cy="677570"/>
          </a:xfrm>
          <a:prstGeom prst="teardrop">
            <a:avLst/>
          </a:prstGeom>
          <a:solidFill>
            <a:srgbClr val="8A5A2E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7" name="bld3_1966"/>
          <p:cNvSpPr txBox="1"/>
          <p:nvPr/>
        </p:nvSpPr>
        <p:spPr>
          <a:xfrm>
            <a:off x="513572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gently</a:t>
            </a:r>
            <a:endParaRPr lang="en-US" sz="1400" dirty="0"/>
          </a:p>
        </p:txBody>
      </p:sp>
      <p:sp>
        <p:nvSpPr>
          <p:cNvPr id="38" name="bld3_1967"/>
          <p:cNvSpPr txBox="1"/>
          <p:nvPr/>
        </p:nvSpPr>
        <p:spPr>
          <a:xfrm>
            <a:off x="513572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needed</a:t>
            </a:r>
            <a:endParaRPr lang="en-US" sz="1050" dirty="0"/>
          </a:p>
        </p:txBody>
      </p:sp>
      <p:sp>
        <p:nvSpPr>
          <p:cNvPr id="39" name="bld4_1968"/>
          <p:cNvSpPr txBox="1"/>
          <p:nvPr/>
        </p:nvSpPr>
        <p:spPr>
          <a:xfrm>
            <a:off x="9472955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8210626" y="3455975"/>
            <a:ext cx="677570" cy="677570"/>
          </a:xfrm>
          <a:prstGeom prst="teardrop">
            <a:avLst/>
          </a:prstGeom>
          <a:solidFill>
            <a:srgbClr val="4090A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3" name="bld4_1970"/>
          <p:cNvSpPr txBox="1"/>
          <p:nvPr/>
        </p:nvSpPr>
        <p:spPr>
          <a:xfrm>
            <a:off x="7589291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00" dirty="0"/>
          </a:p>
        </p:txBody>
      </p:sp>
      <p:sp>
        <p:nvSpPr>
          <p:cNvPr id="44" name="bld4_1971"/>
          <p:cNvSpPr txBox="1"/>
          <p:nvPr/>
        </p:nvSpPr>
        <p:spPr>
          <a:xfrm>
            <a:off x="7589291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fully dissolved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25405" y="3117190"/>
            <a:ext cx="1355141" cy="1355141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98333" y="345597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428415" y="3681832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428415" y="3907688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98333" y="413354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2" name="bld5_1973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53" name="bld5_1974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solvent, date</a:t>
            </a:r>
            <a:endParaRPr lang="en-US" sz="1050" dirty="0"/>
          </a:p>
        </p:txBody>
      </p:sp>
      <p:sp>
        <p:nvSpPr>
          <p:cNvPr id="55" name="trans_push_l_1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1" grpId="0"/>
      <p:bldP spid="32" grpId="0"/>
      <p:bldP spid="33" grpId="0"/>
      <p:bldP spid="37" grpId="0"/>
      <p:bldP spid="38" grpId="0"/>
      <p:bldP spid="39" grpId="0"/>
      <p:bldP spid="43" grpId="0"/>
      <p:bldP spid="44" grpId="0"/>
      <p:bldP spid="52" grpId="0"/>
      <p:bldP spid="53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STRENGTH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depends on potency and purpose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40543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046956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975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976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2" name="bld1_1977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100%</a:t>
            </a:r>
            <a:endParaRPr lang="en-US" sz="1450" dirty="0"/>
          </a:p>
        </p:txBody>
      </p:sp>
      <p:sp>
        <p:nvSpPr>
          <p:cNvPr id="13" name="bld1_1978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low-impact materials — many light woods and musks.</a:t>
            </a:r>
            <a:endParaRPr lang="en-US" sz="1080" dirty="0"/>
          </a:p>
        </p:txBody>
      </p:sp>
      <p:sp>
        <p:nvSpPr>
          <p:cNvPr id="14" name="bld2_1979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980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1981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10%</a:t>
            </a:r>
            <a:endParaRPr lang="en-US" sz="1450" dirty="0"/>
          </a:p>
        </p:txBody>
      </p:sp>
      <p:sp>
        <p:nvSpPr>
          <p:cNvPr id="17" name="bld2_1982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for most working materials in a formula.</a:t>
            </a:r>
            <a:endParaRPr lang="en-US" sz="1080" dirty="0"/>
          </a:p>
        </p:txBody>
      </p:sp>
      <p:sp>
        <p:nvSpPr>
          <p:cNvPr id="18" name="bld3_1983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984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1985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1%</a:t>
            </a:r>
            <a:endParaRPr lang="en-US" sz="1450" dirty="0"/>
          </a:p>
        </p:txBody>
      </p:sp>
      <p:sp>
        <p:nvSpPr>
          <p:cNvPr id="21" name="bld3_1986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trace materials — strong musks, some florals, superpower synthetics.</a:t>
            </a:r>
            <a:endParaRPr lang="en-US" sz="1080" dirty="0"/>
          </a:p>
        </p:txBody>
      </p:sp>
      <p:sp>
        <p:nvSpPr>
          <p:cNvPr id="23" name="trans_fade_1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EVERY TIME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ideal dilution label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158712" y="2265883"/>
            <a:ext cx="1214617" cy="342351"/>
          </a:xfrm>
          <a:prstGeom prst="roundRect">
            <a:avLst>
              <a:gd name="adj" fmla="val 10684"/>
            </a:avLst>
          </a:prstGeom>
          <a:solidFill>
            <a:srgbClr val="0E0D0B"/>
          </a:solidFill>
          <a:ln/>
        </p:spPr>
      </p:sp>
      <p:sp>
        <p:nvSpPr>
          <p:cNvPr id="9" name="Shape 7"/>
          <p:cNvSpPr/>
          <p:nvPr/>
        </p:nvSpPr>
        <p:spPr>
          <a:xfrm>
            <a:off x="3237926" y="2608235"/>
            <a:ext cx="1056188" cy="547762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9970" y="3155997"/>
            <a:ext cx="3772101" cy="2533400"/>
          </a:xfrm>
          <a:prstGeom prst="roundRect">
            <a:avLst>
              <a:gd name="adj" fmla="val 433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16546" y="4296027"/>
            <a:ext cx="3698949" cy="1356794"/>
          </a:xfrm>
          <a:prstGeom prst="roundRect">
            <a:avLst>
              <a:gd name="adj" fmla="val 6739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408064" y="4017353"/>
            <a:ext cx="2715913" cy="658684"/>
          </a:xfrm>
          <a:prstGeom prst="roundRect">
            <a:avLst>
              <a:gd name="adj" fmla="val 4165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17736" y="2646274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 Hedione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17736" y="3264408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Dilution:  10% in DPG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17736" y="3882542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Solvent:  DPG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17736" y="4500677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Prepared today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dilution, solvent, date — every single bottle, no exceptions.</a:t>
            </a:r>
            <a:endParaRPr lang="en-US" sz="1200" dirty="0"/>
          </a:p>
        </p:txBody>
      </p:sp>
      <p:sp>
        <p:nvSpPr>
          <p:cNvPr id="19" name="trans_fade_1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in doubt, dilute. You can always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stronger — you can't un-smell overload.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04</a:t>
            </a:r>
            <a:endParaRPr lang="en-US" sz="1100" dirty="0"/>
          </a:p>
        </p:txBody>
      </p:sp>
      <p:sp>
        <p:nvSpPr>
          <p:cNvPr id="10" name="trans_fade_1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· NOSE TRAINING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A Perfumer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nose is a muscle. This module is how professionals actually train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a strip across 48 real hours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record, every single time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actually build lasting scent memory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1" name="trans_fade_1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HABIT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on a strip, across real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1987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1988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1989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1990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</a:t>
            </a:r>
            <a:endParaRPr lang="en-US" sz="1050" dirty="0"/>
          </a:p>
        </p:txBody>
      </p:sp>
      <p:sp>
        <p:nvSpPr>
          <p:cNvPr id="12" name="bld2_1991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bld2_1992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4" name="bld2_1993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bld2_1994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settling</a:t>
            </a:r>
            <a:endParaRPr lang="en-US" sz="1050" dirty="0"/>
          </a:p>
        </p:txBody>
      </p:sp>
      <p:sp>
        <p:nvSpPr>
          <p:cNvPr id="16" name="bld3_1995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3_1996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8" name="bld3_1997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</a:t>
            </a:r>
            <a:endParaRPr lang="en-US" sz="1200" dirty="0"/>
          </a:p>
        </p:txBody>
      </p:sp>
      <p:sp>
        <p:nvSpPr>
          <p:cNvPr id="19" name="bld3_1998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emerging</a:t>
            </a:r>
            <a:endParaRPr lang="en-US" sz="1050" dirty="0"/>
          </a:p>
        </p:txBody>
      </p:sp>
      <p:sp>
        <p:nvSpPr>
          <p:cNvPr id="20" name="bld4_1999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4_2000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2" name="bld4_2001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hours</a:t>
            </a:r>
            <a:endParaRPr lang="en-US" sz="1200" dirty="0"/>
          </a:p>
        </p:txBody>
      </p:sp>
      <p:sp>
        <p:nvSpPr>
          <p:cNvPr id="23" name="bld4_2002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maturing</a:t>
            </a:r>
            <a:endParaRPr lang="en-US" sz="1050" dirty="0"/>
          </a:p>
        </p:txBody>
      </p:sp>
      <p:sp>
        <p:nvSpPr>
          <p:cNvPr id="24" name="bld5_2003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004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2005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2006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2007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2008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2009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2010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Final, true character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you only smelled at 0 minutes is a material you don't actually know yet.</a:t>
            </a:r>
            <a:endParaRPr lang="en-US" sz="1250" dirty="0"/>
          </a:p>
        </p:txBody>
      </p:sp>
      <p:sp>
        <p:nvSpPr>
          <p:cNvPr id="34" name="trans_push_l_1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evaluation, every single time</a:t>
            </a:r>
            <a:endParaRPr lang="en-US" sz="3200" dirty="0"/>
          </a:p>
        </p:txBody>
      </p:sp>
      <p:sp>
        <p:nvSpPr>
          <p:cNvPr id="7" name="bld1_2011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01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013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impression</a:t>
            </a:r>
            <a:endParaRPr lang="en-US" sz="1450" dirty="0"/>
          </a:p>
        </p:txBody>
      </p:sp>
      <p:sp>
        <p:nvSpPr>
          <p:cNvPr id="10" name="bld1_2014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gut reaction, unfiltered.</a:t>
            </a:r>
            <a:endParaRPr lang="en-US" sz="1080" dirty="0"/>
          </a:p>
        </p:txBody>
      </p:sp>
      <p:sp>
        <p:nvSpPr>
          <p:cNvPr id="11" name="bld2_2015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016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017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</a:t>
            </a:r>
            <a:endParaRPr lang="en-US" sz="1450" dirty="0"/>
          </a:p>
        </p:txBody>
      </p:sp>
      <p:sp>
        <p:nvSpPr>
          <p:cNvPr id="14" name="bld2_2018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family, what mood, what texture.</a:t>
            </a:r>
            <a:endParaRPr lang="en-US" sz="1080" dirty="0"/>
          </a:p>
        </p:txBody>
      </p:sp>
      <p:sp>
        <p:nvSpPr>
          <p:cNvPr id="15" name="bld3_2019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020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021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</a:t>
            </a:r>
            <a:endParaRPr lang="en-US" sz="1450" dirty="0"/>
          </a:p>
        </p:txBody>
      </p:sp>
      <p:sp>
        <p:nvSpPr>
          <p:cNvPr id="18" name="bld3_2022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intense at each time point.</a:t>
            </a:r>
            <a:endParaRPr lang="en-US" sz="1080" dirty="0"/>
          </a:p>
        </p:txBody>
      </p:sp>
      <p:sp>
        <p:nvSpPr>
          <p:cNvPr id="19" name="bld4_2023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024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025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2" name="bld4_2026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it reaches from the strip.</a:t>
            </a:r>
            <a:endParaRPr lang="en-US" sz="1080" dirty="0"/>
          </a:p>
        </p:txBody>
      </p:sp>
      <p:sp>
        <p:nvSpPr>
          <p:cNvPr id="23" name="bld5_2027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028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029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450" dirty="0"/>
          </a:p>
        </p:txBody>
      </p:sp>
      <p:sp>
        <p:nvSpPr>
          <p:cNvPr id="26" name="bld5_2030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shifts between checkpoints.</a:t>
            </a:r>
            <a:endParaRPr lang="en-US" sz="1080" dirty="0"/>
          </a:p>
        </p:txBody>
      </p:sp>
      <p:sp>
        <p:nvSpPr>
          <p:cNvPr id="27" name="bld6_2031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032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033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2034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once it settles.</a:t>
            </a:r>
            <a:endParaRPr lang="en-US" sz="1080" dirty="0"/>
          </a:p>
        </p:txBody>
      </p:sp>
      <p:sp>
        <p:nvSpPr>
          <p:cNvPr id="31" name="bld7_2035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036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2037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Associations</a:t>
            </a:r>
            <a:endParaRPr lang="en-US" sz="1450" dirty="0"/>
          </a:p>
        </p:txBody>
      </p:sp>
      <p:sp>
        <p:nvSpPr>
          <p:cNvPr id="34" name="bld7_2038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reminds you of.</a:t>
            </a:r>
            <a:endParaRPr lang="en-US" sz="1080" dirty="0"/>
          </a:p>
        </p:txBody>
      </p:sp>
      <p:sp>
        <p:nvSpPr>
          <p:cNvPr id="35" name="bld8_2039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2040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7" name="bld8_2041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uses</a:t>
            </a:r>
            <a:endParaRPr lang="en-US" sz="1450" dirty="0"/>
          </a:p>
        </p:txBody>
      </p:sp>
      <p:sp>
        <p:nvSpPr>
          <p:cNvPr id="38" name="bld8_2042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might work in a formula.</a:t>
            </a:r>
            <a:endParaRPr lang="en-US" sz="1080" dirty="0"/>
          </a:p>
        </p:txBody>
      </p:sp>
      <p:sp>
        <p:nvSpPr>
          <p:cNvPr id="40" name="trans_fade_1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Neat alone can mislead you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31454" y="4206697"/>
            <a:ext cx="390796" cy="932231"/>
          </a:xfrm>
          <a:prstGeom prst="roundRect">
            <a:avLst>
              <a:gd name="adj" fmla="val 351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79128" y="3446282"/>
            <a:ext cx="390796" cy="1692646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26801" y="2685867"/>
            <a:ext cx="390796" cy="2453061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material, three strengths — three different lessons.</a:t>
            </a:r>
            <a:endParaRPr lang="en-US" sz="1050" dirty="0"/>
          </a:p>
        </p:txBody>
      </p:sp>
      <p:sp>
        <p:nvSpPr>
          <p:cNvPr id="17" name="bld1_204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bld1_204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 materials overwhelm at 100%</a:t>
            </a:r>
            <a:endParaRPr lang="en-US" sz="1650" dirty="0"/>
          </a:p>
        </p:txBody>
      </p:sp>
      <p:sp>
        <p:nvSpPr>
          <p:cNvPr id="19" name="bld1_204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potent neat that your nose can't parse their real character.</a:t>
            </a:r>
            <a:endParaRPr lang="en-US" sz="1250" dirty="0"/>
          </a:p>
        </p:txBody>
      </p:sp>
      <p:sp>
        <p:nvSpPr>
          <p:cNvPr id="20" name="bld2_204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204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rarely use materials neat</a:t>
            </a:r>
            <a:endParaRPr lang="en-US" sz="1650" dirty="0"/>
          </a:p>
        </p:txBody>
      </p:sp>
      <p:sp>
        <p:nvSpPr>
          <p:cNvPr id="22" name="bld2_204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almost always work with the material diluted — so evaluate it the way you'll actually use it.</a:t>
            </a:r>
            <a:endParaRPr lang="en-US" sz="1250" dirty="0"/>
          </a:p>
        </p:txBody>
      </p:sp>
      <p:sp>
        <p:nvSpPr>
          <p:cNvPr id="23" name="bld3_204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3_205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across the dilution ladder</a:t>
            </a:r>
            <a:endParaRPr lang="en-US" sz="1650" dirty="0"/>
          </a:p>
        </p:txBody>
      </p:sp>
      <p:sp>
        <p:nvSpPr>
          <p:cNvPr id="25" name="bld3_205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material at 100%, 10% and 1% to understand how its character shifts with concentration.</a:t>
            </a:r>
            <a:endParaRPr lang="en-US" sz="1250" dirty="0"/>
          </a:p>
        </p:txBody>
      </p:sp>
      <p:sp>
        <p:nvSpPr>
          <p:cNvPr id="27" name="trans_fade_1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DIGITAL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material log should track</a:t>
            </a:r>
            <a:endParaRPr lang="en-US" sz="3200" dirty="0"/>
          </a:p>
        </p:txBody>
      </p:sp>
      <p:sp>
        <p:nvSpPr>
          <p:cNvPr id="7" name="bld1_2052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053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054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0" name="bld1_2055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name and CAS if known.</a:t>
            </a:r>
            <a:endParaRPr lang="en-US" sz="1080" dirty="0"/>
          </a:p>
        </p:txBody>
      </p:sp>
      <p:sp>
        <p:nvSpPr>
          <p:cNvPr id="11" name="bld2_2056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057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058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</a:t>
            </a:r>
            <a:endParaRPr lang="en-US" sz="1450" dirty="0"/>
          </a:p>
        </p:txBody>
      </p:sp>
      <p:sp>
        <p:nvSpPr>
          <p:cNvPr id="14" name="bld2_2059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was sourced.</a:t>
            </a:r>
            <a:endParaRPr lang="en-US" sz="1080" dirty="0"/>
          </a:p>
        </p:txBody>
      </p:sp>
      <p:sp>
        <p:nvSpPr>
          <p:cNvPr id="15" name="bld3_2060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061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062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2063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and solvent used.</a:t>
            </a:r>
            <a:endParaRPr lang="en-US" sz="1080" dirty="0"/>
          </a:p>
        </p:txBody>
      </p:sp>
      <p:sp>
        <p:nvSpPr>
          <p:cNvPr id="19" name="bld4_2064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065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066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endParaRPr lang="en-US" sz="1450" dirty="0"/>
          </a:p>
        </p:txBody>
      </p:sp>
      <p:sp>
        <p:nvSpPr>
          <p:cNvPr id="22" name="bld4_2067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written evaluation.</a:t>
            </a:r>
            <a:endParaRPr lang="en-US" sz="1080" dirty="0"/>
          </a:p>
        </p:txBody>
      </p:sp>
      <p:sp>
        <p:nvSpPr>
          <p:cNvPr id="23" name="bld5_2068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069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070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</a:t>
            </a:r>
            <a:endParaRPr lang="en-US" sz="1450" dirty="0"/>
          </a:p>
        </p:txBody>
      </p:sp>
      <p:sp>
        <p:nvSpPr>
          <p:cNvPr id="26" name="bld5_2071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it lasted on strip.</a:t>
            </a:r>
            <a:endParaRPr lang="en-US" sz="1080" dirty="0"/>
          </a:p>
        </p:txBody>
      </p:sp>
      <p:sp>
        <p:nvSpPr>
          <p:cNvPr id="27" name="bld6_2072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073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074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</a:t>
            </a:r>
            <a:endParaRPr lang="en-US" sz="1450" dirty="0"/>
          </a:p>
        </p:txBody>
      </p:sp>
      <p:sp>
        <p:nvSpPr>
          <p:cNvPr id="30" name="bld6_2075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olfactory group it belongs to.</a:t>
            </a:r>
            <a:endParaRPr lang="en-US" sz="1080" dirty="0"/>
          </a:p>
        </p:txBody>
      </p:sp>
      <p:sp>
        <p:nvSpPr>
          <p:cNvPr id="31" name="bld7_2076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077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2078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usage</a:t>
            </a:r>
            <a:endParaRPr lang="en-US" sz="1450" dirty="0"/>
          </a:p>
        </p:txBody>
      </p:sp>
      <p:sp>
        <p:nvSpPr>
          <p:cNvPr id="34" name="bld7_2079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formulas it's appeared in.</a:t>
            </a:r>
            <a:endParaRPr lang="en-US" sz="1080" dirty="0"/>
          </a:p>
        </p:txBody>
      </p:sp>
      <p:sp>
        <p:nvSpPr>
          <p:cNvPr id="36" name="trans_fade_1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 GAME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actually build scent memory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36118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4971743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4971743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204019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57566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15756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492528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083235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4918319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15059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4871864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2080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08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082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Blind comparisons</a:t>
            </a:r>
            <a:endParaRPr lang="en-US" sz="1450" dirty="0"/>
          </a:p>
        </p:txBody>
      </p:sp>
      <p:sp>
        <p:nvSpPr>
          <p:cNvPr id="24" name="bld1_2083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unlabelled strips, guess the material, then check — this forces active recall instead of passive sniffing.</a:t>
            </a:r>
            <a:endParaRPr lang="en-US" sz="1080" dirty="0"/>
          </a:p>
        </p:txBody>
      </p:sp>
      <p:sp>
        <p:nvSpPr>
          <p:cNvPr id="25" name="bld2_2084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085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2086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monthly</a:t>
            </a:r>
            <a:endParaRPr lang="en-US" sz="1450" dirty="0"/>
          </a:p>
        </p:txBody>
      </p:sp>
      <p:sp>
        <p:nvSpPr>
          <p:cNvPr id="28" name="bld2_2087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Re-smell materials you "know" every few weeks. Memory fades faster than confidence does.</a:t>
            </a:r>
            <a:endParaRPr lang="en-US" sz="1080" dirty="0"/>
          </a:p>
        </p:txBody>
      </p:sp>
      <p:sp>
        <p:nvSpPr>
          <p:cNvPr id="29" name="bld3_2088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089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090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 opposites</a:t>
            </a:r>
            <a:endParaRPr lang="en-US" sz="1450" dirty="0"/>
          </a:p>
        </p:txBody>
      </p:sp>
      <p:sp>
        <p:nvSpPr>
          <p:cNvPr id="32" name="bld3_2091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two contrasting materials back to back — a sharp citrus against a soft musk sharpens perception of both.</a:t>
            </a:r>
            <a:endParaRPr lang="en-US" sz="1080" dirty="0"/>
          </a:p>
        </p:txBody>
      </p:sp>
      <p:sp>
        <p:nvSpPr>
          <p:cNvPr id="33" name="bld4_2092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093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094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 with association</a:t>
            </a:r>
            <a:endParaRPr lang="en-US" sz="1450" dirty="0"/>
          </a:p>
        </p:txBody>
      </p:sp>
      <p:sp>
        <p:nvSpPr>
          <p:cNvPr id="36" name="bld4_2095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 smell to a vivid image or memory of your own — invented associations stick better than technical descriptions.</a:t>
            </a:r>
            <a:endParaRPr lang="en-US" sz="1080" dirty="0"/>
          </a:p>
        </p:txBody>
      </p:sp>
      <p:sp>
        <p:nvSpPr>
          <p:cNvPr id="38" name="trans_fade_1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RECORD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material evaluation looks like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436193" y="2075688"/>
            <a:ext cx="9319309" cy="3803904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3937" y="2313432"/>
            <a:ext cx="256032" cy="25603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76273" y="2295144"/>
            <a:ext cx="840490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Absolute — Bulgarian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801953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801953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95848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095848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in DPG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801953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801953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Medium–long (8h+)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801953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01953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powdery, lightly sweet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095848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USE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095848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of a floral formula, rounds out fruity accords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shape of a good digital material card — recreate it for every material you own.</a:t>
            </a:r>
            <a:endParaRPr lang="en-US" sz="1200" dirty="0"/>
          </a:p>
        </p:txBody>
      </p:sp>
      <p:sp>
        <p:nvSpPr>
          <p:cNvPr id="25" name="trans_fade_1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nose is a muscle. Train it daily,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writing — not just in passing sniffs.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05</a:t>
            </a:r>
            <a:endParaRPr lang="en-US" sz="1100" dirty="0"/>
          </a:p>
        </p:txBody>
      </p:sp>
      <p:sp>
        <p:nvSpPr>
          <p:cNvPr id="10" name="trans_fade_1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62772" y="1924812"/>
            <a:ext cx="3008376" cy="3008376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8100000">
            <a:off x="9279331" y="2741371"/>
            <a:ext cx="1375258" cy="1375258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 · BUILDING ACCORDS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Materials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Accords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perfumery gets creative — combining individual materials into one recognisable smell.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apple, amber and leather into facets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Jean Carles method, step by step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 until it reads true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1" name="trans_fade_1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accord?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839115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611544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four materials → one unmistakable rose.</a:t>
            </a:r>
            <a:endParaRPr lang="en-US" sz="1050" dirty="0"/>
          </a:p>
        </p:txBody>
      </p:sp>
      <p:sp>
        <p:nvSpPr>
          <p:cNvPr id="17" name="bld1_209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1_209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materials, one smell</a:t>
            </a:r>
            <a:endParaRPr lang="en-US" sz="1650" dirty="0"/>
          </a:p>
        </p:txBody>
      </p:sp>
      <p:sp>
        <p:nvSpPr>
          <p:cNvPr id="19" name="bld1_209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accord happens when separate materials blend so completely they read as a single, new impression.</a:t>
            </a:r>
            <a:endParaRPr lang="en-US" sz="1250" dirty="0"/>
          </a:p>
        </p:txBody>
      </p:sp>
      <p:sp>
        <p:nvSpPr>
          <p:cNvPr id="20" name="bld2_209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2_210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exceeds the parts</a:t>
            </a:r>
            <a:endParaRPr lang="en-US" sz="1650" dirty="0"/>
          </a:p>
        </p:txBody>
      </p:sp>
      <p:sp>
        <p:nvSpPr>
          <p:cNvPr id="22" name="bld2_210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 longer smell the individual materials — you smell "rose," not "three chemicals."</a:t>
            </a:r>
            <a:endParaRPr lang="en-US" sz="1250" dirty="0"/>
          </a:p>
        </p:txBody>
      </p:sp>
      <p:sp>
        <p:nvSpPr>
          <p:cNvPr id="23" name="bld3_210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3_210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building block of formulas</a:t>
            </a:r>
            <a:endParaRPr lang="en-US" sz="1650" dirty="0"/>
          </a:p>
        </p:txBody>
      </p:sp>
      <p:sp>
        <p:nvSpPr>
          <p:cNvPr id="25" name="bld3_210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complete perfume is really a composition of several accords working together.</a:t>
            </a:r>
            <a:endParaRPr lang="en-US" sz="1250" dirty="0"/>
          </a:p>
        </p:txBody>
      </p:sp>
      <p:sp>
        <p:nvSpPr>
          <p:cNvPr id="27" name="trans_fade_1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TARGETS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you already know</a:t>
            </a:r>
            <a:endParaRPr lang="en-US" sz="3200" dirty="0"/>
          </a:p>
        </p:txBody>
      </p:sp>
      <p:sp>
        <p:nvSpPr>
          <p:cNvPr id="7" name="bld1_2105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113516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2107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450" dirty="0"/>
          </a:p>
        </p:txBody>
      </p:sp>
      <p:sp>
        <p:nvSpPr>
          <p:cNvPr id="14" name="bld1_2108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green, slightly sweet.</a:t>
            </a:r>
            <a:endParaRPr lang="en-US" sz="1080" dirty="0"/>
          </a:p>
        </p:txBody>
      </p:sp>
      <p:sp>
        <p:nvSpPr>
          <p:cNvPr id="15" name="bld2_2109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3" name="Shape 2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4" name="bld2_2111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25" name="bld2_2112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floral.</a:t>
            </a:r>
            <a:endParaRPr lang="en-US" sz="1080" dirty="0"/>
          </a:p>
        </p:txBody>
      </p:sp>
      <p:sp>
        <p:nvSpPr>
          <p:cNvPr id="26" name="bld3_2113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3_2115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33" name="bld3_2116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resinous, enveloping.</a:t>
            </a:r>
            <a:endParaRPr lang="en-US" sz="1080" dirty="0"/>
          </a:p>
        </p:txBody>
      </p:sp>
      <p:sp>
        <p:nvSpPr>
          <p:cNvPr id="34" name="bld4_2117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2069866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131756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2106733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2106733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2131756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4_2119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43" name="bld4_2120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dry, animalic.</a:t>
            </a:r>
            <a:endParaRPr lang="en-US" sz="1080" dirty="0"/>
          </a:p>
        </p:txBody>
      </p:sp>
      <p:sp>
        <p:nvSpPr>
          <p:cNvPr id="44" name="bld5_2121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6" name="Shape 44"/>
          <p:cNvSpPr/>
          <p:nvPr/>
        </p:nvSpPr>
        <p:spPr>
          <a:xfrm rot="840000">
            <a:off x="6037648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840000">
            <a:off x="609036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4128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9" name="Shape 47"/>
          <p:cNvSpPr/>
          <p:nvPr/>
        </p:nvSpPr>
        <p:spPr>
          <a:xfrm>
            <a:off x="605874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0" name="Shape 48"/>
          <p:cNvSpPr/>
          <p:nvPr/>
        </p:nvSpPr>
        <p:spPr>
          <a:xfrm>
            <a:off x="607620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1" name="Shape 49"/>
          <p:cNvSpPr/>
          <p:nvPr/>
        </p:nvSpPr>
        <p:spPr>
          <a:xfrm>
            <a:off x="609366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2" name="Shape 50"/>
          <p:cNvSpPr/>
          <p:nvPr/>
        </p:nvSpPr>
        <p:spPr>
          <a:xfrm>
            <a:off x="6111125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3" name="Shape 51"/>
          <p:cNvSpPr/>
          <p:nvPr/>
        </p:nvSpPr>
        <p:spPr>
          <a:xfrm>
            <a:off x="6128585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4" name="Shape 5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55" name="bld5_2123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56" name="bld5_2124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warm, gourmand.</a:t>
            </a:r>
            <a:endParaRPr lang="en-US" sz="1080" dirty="0"/>
          </a:p>
        </p:txBody>
      </p:sp>
      <p:sp>
        <p:nvSpPr>
          <p:cNvPr id="57" name="bld6_2125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9" name="Shape 57"/>
          <p:cNvSpPr/>
          <p:nvPr/>
        </p:nvSpPr>
        <p:spPr>
          <a:xfrm rot="15300000">
            <a:off x="9715131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3050000">
            <a:off x="976060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0800000">
            <a:off x="9838105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8550000">
            <a:off x="991560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300000">
            <a:off x="996107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5" name="bld6_2127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66" name="bld6_2128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sappy.</a:t>
            </a:r>
            <a:endParaRPr lang="en-US" sz="1080" dirty="0"/>
          </a:p>
        </p:txBody>
      </p:sp>
      <p:sp>
        <p:nvSpPr>
          <p:cNvPr id="68" name="trans_fade_1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9" name="Text 6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000" dirty="0"/>
          </a:p>
        </p:txBody>
      </p:sp>
      <p:sp>
        <p:nvSpPr>
          <p:cNvPr id="70" name="Text 6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4" grpId="0"/>
      <p:bldP spid="25" grpId="0"/>
      <p:bldP spid="26" grpId="0"/>
      <p:bldP spid="32" grpId="0"/>
      <p:bldP spid="33" grpId="0"/>
      <p:bldP spid="34" grpId="0"/>
      <p:bldP spid="42" grpId="0"/>
      <p:bldP spid="43" grpId="0"/>
      <p:bldP spid="44" grpId="0"/>
      <p:bldP spid="55" grpId="0"/>
      <p:bldP spid="56" grpId="0"/>
      <p:bldP spid="57" grpId="0"/>
      <p:bldP spid="65" grpId="0"/>
      <p:bldP spid="66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makes something smell like apple?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" name="Shape 6"/>
          <p:cNvSpPr/>
          <p:nvPr/>
        </p:nvSpPr>
        <p:spPr>
          <a:xfrm>
            <a:off x="2776612" y="3402281"/>
            <a:ext cx="1579096" cy="157909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560674" y="3363767"/>
            <a:ext cx="914" cy="26960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0">
            <a:off x="3584448" y="3286738"/>
            <a:ext cx="365888" cy="250344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950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350" dirty="0"/>
          </a:p>
        </p:txBody>
      </p:sp>
      <p:sp>
        <p:nvSpPr>
          <p:cNvPr id="13" name="bld1_2129"/>
          <p:cNvSpPr/>
          <p:nvPr/>
        </p:nvSpPr>
        <p:spPr>
          <a:xfrm flipV="1">
            <a:off x="4627778" y="2148840"/>
            <a:ext cx="3173700" cy="196596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5" name="Shape 13"/>
          <p:cNvSpPr/>
          <p:nvPr/>
        </p:nvSpPr>
        <p:spPr>
          <a:xfrm>
            <a:off x="7828544" y="1884944"/>
            <a:ext cx="527792" cy="52779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902435" y="1958835"/>
            <a:ext cx="380010" cy="380010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07993" y="2064393"/>
            <a:ext cx="168893" cy="16889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2131"/>
          <p:cNvSpPr txBox="1"/>
          <p:nvPr/>
        </p:nvSpPr>
        <p:spPr>
          <a:xfrm>
            <a:off x="8567928" y="19751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350" dirty="0"/>
          </a:p>
        </p:txBody>
      </p:sp>
      <p:sp>
        <p:nvSpPr>
          <p:cNvPr id="20" name="bld2_2132"/>
          <p:cNvSpPr/>
          <p:nvPr/>
        </p:nvSpPr>
        <p:spPr>
          <a:xfrm flipV="1">
            <a:off x="4627778" y="2971800"/>
            <a:ext cx="3173700" cy="114300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2" name="Shape 20"/>
          <p:cNvSpPr/>
          <p:nvPr/>
        </p:nvSpPr>
        <p:spPr>
          <a:xfrm rot="15300000">
            <a:off x="7913753" y="286911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050000">
            <a:off x="7963237" y="294317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8047578" y="297180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550000">
            <a:off x="8131919" y="294317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300000">
            <a:off x="8181402" y="286911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8" name="bld2_2134"/>
          <p:cNvSpPr txBox="1"/>
          <p:nvPr/>
        </p:nvSpPr>
        <p:spPr>
          <a:xfrm>
            <a:off x="8567928" y="279806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</a:t>
            </a:r>
            <a:endParaRPr lang="en-US" sz="1350" dirty="0"/>
          </a:p>
        </p:txBody>
      </p:sp>
      <p:sp>
        <p:nvSpPr>
          <p:cNvPr id="29" name="bld3_2135"/>
          <p:cNvSpPr/>
          <p:nvPr/>
        </p:nvSpPr>
        <p:spPr>
          <a:xfrm flipV="1">
            <a:off x="4627778" y="3794760"/>
            <a:ext cx="3173700" cy="32004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1" name="Shape 29"/>
          <p:cNvSpPr/>
          <p:nvPr/>
        </p:nvSpPr>
        <p:spPr>
          <a:xfrm>
            <a:off x="7876045" y="3599477"/>
            <a:ext cx="432789" cy="432789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8086954" y="3588921"/>
            <a:ext cx="914" cy="7389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2000000">
            <a:off x="8110728" y="3567810"/>
            <a:ext cx="100280" cy="68613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5" name="bld3_2137"/>
          <p:cNvSpPr txBox="1"/>
          <p:nvPr/>
        </p:nvSpPr>
        <p:spPr>
          <a:xfrm>
            <a:off x="8567928" y="362102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</a:t>
            </a:r>
            <a:endParaRPr lang="en-US" sz="1350" dirty="0"/>
          </a:p>
        </p:txBody>
      </p:sp>
      <p:sp>
        <p:nvSpPr>
          <p:cNvPr id="36" name="bld4_2138"/>
          <p:cNvSpPr/>
          <p:nvPr/>
        </p:nvSpPr>
        <p:spPr>
          <a:xfrm>
            <a:off x="4627778" y="4114800"/>
            <a:ext cx="3173700" cy="50292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37" name="Shape 35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876045" y="4422437"/>
            <a:ext cx="432789" cy="432789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086954" y="4411881"/>
            <a:ext cx="914" cy="7389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8110728" y="4390770"/>
            <a:ext cx="100280" cy="68613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4_2140"/>
          <p:cNvSpPr txBox="1"/>
          <p:nvPr/>
        </p:nvSpPr>
        <p:spPr>
          <a:xfrm>
            <a:off x="8567928" y="444398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Fruitiness</a:t>
            </a:r>
            <a:endParaRPr lang="en-US" sz="1350" dirty="0"/>
          </a:p>
        </p:txBody>
      </p:sp>
      <p:sp>
        <p:nvSpPr>
          <p:cNvPr id="43" name="bld5_2141"/>
          <p:cNvSpPr/>
          <p:nvPr/>
        </p:nvSpPr>
        <p:spPr>
          <a:xfrm>
            <a:off x="4627778" y="4114800"/>
            <a:ext cx="3173700" cy="1325880"/>
          </a:xfrm>
          <a:prstGeom prst="line">
            <a:avLst/>
          </a:prstGeom>
          <a:noFill/>
          <a:ln w="19050">
            <a:solidFill>
              <a:srgbClr val="9EC24C">
                <a:alpha val="75000"/>
              </a:srgbClr>
            </a:solidFill>
            <a:prstDash val="sysDot"/>
          </a:ln>
        </p:spPr>
      </p:sp>
      <p:sp>
        <p:nvSpPr>
          <p:cNvPr id="44" name="Shape 42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5" name="Shape 43"/>
          <p:cNvSpPr/>
          <p:nvPr/>
        </p:nvSpPr>
        <p:spPr>
          <a:xfrm>
            <a:off x="7828544" y="5176784"/>
            <a:ext cx="527792" cy="527792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65490" y="5213730"/>
            <a:ext cx="453901" cy="45390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216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432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48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64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512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944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066050" y="5414290"/>
            <a:ext cx="52779" cy="5277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8" name="Shape 56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9" name="bld5_2143"/>
          <p:cNvSpPr txBox="1"/>
          <p:nvPr/>
        </p:nvSpPr>
        <p:spPr>
          <a:xfrm>
            <a:off x="8567928" y="526694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Freshness</a:t>
            </a:r>
            <a:endParaRPr lang="en-US" sz="1350" dirty="0"/>
          </a:p>
        </p:txBody>
      </p:sp>
      <p:sp>
        <p:nvSpPr>
          <p:cNvPr id="60" name="bld6_2144"/>
          <p:cNvSpPr/>
          <p:nvPr/>
        </p:nvSpPr>
        <p:spPr>
          <a:xfrm>
            <a:off x="4627778" y="4114800"/>
            <a:ext cx="3173700" cy="21488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61" name="Shape 59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2" name="Shape 60"/>
          <p:cNvSpPr/>
          <p:nvPr/>
        </p:nvSpPr>
        <p:spPr>
          <a:xfrm>
            <a:off x="7828544" y="5999744"/>
            <a:ext cx="527792" cy="52779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895895" y="6131692"/>
            <a:ext cx="39309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7868664" y="6219657"/>
            <a:ext cx="4475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7868664" y="6307623"/>
            <a:ext cx="4475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895895" y="6395588"/>
            <a:ext cx="39309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68" name="bld6_2146"/>
          <p:cNvSpPr txBox="1"/>
          <p:nvPr/>
        </p:nvSpPr>
        <p:spPr>
          <a:xfrm>
            <a:off x="8567928" y="60899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</a:t>
            </a:r>
            <a:endParaRPr lang="en-US" sz="1350" dirty="0"/>
          </a:p>
        </p:txBody>
      </p:sp>
      <p:sp>
        <p:nvSpPr>
          <p:cNvPr id="70" name="trans_push_l_1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8" grpId="0"/>
      <p:bldP spid="29" grpId="0"/>
      <p:bldP spid="35" grpId="0"/>
      <p:bldP spid="36" grpId="0"/>
      <p:bldP spid="42" grpId="0"/>
      <p:bldP spid="43" grpId="0"/>
      <p:bldP spid="59" grpId="0"/>
      <p:bldP spid="60" grpId="0"/>
      <p:bldP spid="68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APPLE, CONTINUED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materials to each facet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2077590"/>
            <a:ext cx="2011534" cy="2011534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82748" y="2218397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44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0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47131" y="2982780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idea into facets — then find one material per facet.</a:t>
            </a:r>
            <a:endParaRPr lang="en-US" sz="1050" dirty="0"/>
          </a:p>
        </p:txBody>
      </p:sp>
      <p:sp>
        <p:nvSpPr>
          <p:cNvPr id="20" name="bld1_214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1_214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 → a trace of Ethyl Maltol</a:t>
            </a:r>
            <a:endParaRPr lang="en-US" sz="1650" dirty="0"/>
          </a:p>
        </p:txBody>
      </p:sp>
      <p:sp>
        <p:nvSpPr>
          <p:cNvPr id="22" name="bld1_214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amount adds sugary roundness without tipping into candy.</a:t>
            </a:r>
            <a:endParaRPr lang="en-US" sz="1250" dirty="0"/>
          </a:p>
        </p:txBody>
      </p:sp>
      <p:sp>
        <p:nvSpPr>
          <p:cNvPr id="23" name="bld2_215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bld2_215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 → cis-3-Hexenol (diluted)</a:t>
            </a:r>
            <a:endParaRPr lang="en-US" sz="1650" dirty="0"/>
          </a:p>
        </p:txBody>
      </p:sp>
      <p:sp>
        <p:nvSpPr>
          <p:cNvPr id="25" name="bld2_215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"green leaf" molecule, used in a whisper.</a:t>
            </a:r>
            <a:endParaRPr lang="en-US" sz="1250" dirty="0"/>
          </a:p>
        </p:txBody>
      </p:sp>
      <p:sp>
        <p:nvSpPr>
          <p:cNvPr id="26" name="bld3_215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3_215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 / fruitiness → fruity esters</a:t>
            </a:r>
            <a:endParaRPr lang="en-US" sz="1650" dirty="0"/>
          </a:p>
        </p:txBody>
      </p:sp>
      <p:sp>
        <p:nvSpPr>
          <p:cNvPr id="28" name="bld3_215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 and similar esters carry the juicy fruit body.</a:t>
            </a:r>
            <a:endParaRPr lang="en-US" sz="1250" dirty="0"/>
          </a:p>
        </p:txBody>
      </p:sp>
      <p:sp>
        <p:nvSpPr>
          <p:cNvPr id="29" name="bld4_215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0" name="bld4_215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 → a natural or aldehyde touch</a:t>
            </a:r>
            <a:endParaRPr lang="en-US" sz="1650" dirty="0"/>
          </a:p>
        </p:txBody>
      </p:sp>
      <p:sp>
        <p:nvSpPr>
          <p:cNvPr id="31" name="bld4_215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waxy or aldehydic note rounds out the peel character.</a:t>
            </a:r>
            <a:endParaRPr lang="en-US" sz="1250" dirty="0"/>
          </a:p>
        </p:txBody>
      </p:sp>
      <p:sp>
        <p:nvSpPr>
          <p:cNvPr id="33" name="trans_fade_1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ROSE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rose into its facets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3325444" y="314423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767745" y="346558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598801" y="3985541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3052087" y="3985541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883143" y="346558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335073" y="3883713"/>
            <a:ext cx="462174" cy="46217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79B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</a:t>
            </a:r>
            <a:endParaRPr lang="en-US" sz="1350" dirty="0"/>
          </a:p>
        </p:txBody>
      </p:sp>
      <p:sp>
        <p:nvSpPr>
          <p:cNvPr id="16" name="bld1_2159"/>
          <p:cNvSpPr/>
          <p:nvPr/>
        </p:nvSpPr>
        <p:spPr>
          <a:xfrm flipV="1">
            <a:off x="4627778" y="2148840"/>
            <a:ext cx="3173700" cy="196596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8026466" y="188283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4320000">
            <a:off x="8147689" y="1970907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8640000">
            <a:off x="8101386" y="211341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2960000">
            <a:off x="7951546" y="211341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7280000">
            <a:off x="7905243" y="1970907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029105" y="2085505"/>
            <a:ext cx="126670" cy="12667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5" name="bld1_2161"/>
          <p:cNvSpPr txBox="1"/>
          <p:nvPr/>
        </p:nvSpPr>
        <p:spPr>
          <a:xfrm>
            <a:off x="8567928" y="19751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body</a:t>
            </a:r>
            <a:endParaRPr lang="en-US" sz="1350" dirty="0"/>
          </a:p>
        </p:txBody>
      </p:sp>
      <p:sp>
        <p:nvSpPr>
          <p:cNvPr id="26" name="bld2_2162"/>
          <p:cNvSpPr/>
          <p:nvPr/>
        </p:nvSpPr>
        <p:spPr>
          <a:xfrm flipV="1">
            <a:off x="4627778" y="2971800"/>
            <a:ext cx="3173700" cy="114300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27" name="Shape 2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052856" y="2796995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700000">
            <a:off x="8109284" y="282036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5400000">
            <a:off x="8132658" y="287679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8100000">
            <a:off x="8109284" y="293322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0800000">
            <a:off x="8052856" y="2956600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3500000">
            <a:off x="7996427" y="293322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6200000">
            <a:off x="7973054" y="287679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8900000">
            <a:off x="7996427" y="282036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050217" y="2929577"/>
            <a:ext cx="84447" cy="84447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7" name="Shape 3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8" name="bld2_2164"/>
          <p:cNvSpPr txBox="1"/>
          <p:nvPr/>
        </p:nvSpPr>
        <p:spPr>
          <a:xfrm>
            <a:off x="8567928" y="279806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floral lift</a:t>
            </a:r>
            <a:endParaRPr lang="en-US" sz="1350" dirty="0"/>
          </a:p>
        </p:txBody>
      </p:sp>
      <p:sp>
        <p:nvSpPr>
          <p:cNvPr id="39" name="bld3_2165"/>
          <p:cNvSpPr/>
          <p:nvPr/>
        </p:nvSpPr>
        <p:spPr>
          <a:xfrm flipV="1">
            <a:off x="4627778" y="3794760"/>
            <a:ext cx="3173700" cy="32004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40" name="Shape 3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1" name="Shape 39"/>
          <p:cNvSpPr/>
          <p:nvPr/>
        </p:nvSpPr>
        <p:spPr>
          <a:xfrm>
            <a:off x="8052856" y="3619955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2700000">
            <a:off x="8109284" y="364332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5400000">
            <a:off x="8132658" y="369975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8100000">
            <a:off x="8109284" y="375618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0800000">
            <a:off x="8052856" y="3779560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3500000">
            <a:off x="7996427" y="375618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6200000">
            <a:off x="7973054" y="369975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8900000">
            <a:off x="7996427" y="364332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50217" y="3752537"/>
            <a:ext cx="84447" cy="84447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0" name="Shape 4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1" name="bld3_2167"/>
          <p:cNvSpPr txBox="1"/>
          <p:nvPr/>
        </p:nvSpPr>
        <p:spPr>
          <a:xfrm>
            <a:off x="8567928" y="362102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/ geranium facet</a:t>
            </a:r>
            <a:endParaRPr lang="en-US" sz="1350" dirty="0"/>
          </a:p>
        </p:txBody>
      </p:sp>
      <p:sp>
        <p:nvSpPr>
          <p:cNvPr id="52" name="bld4_2168"/>
          <p:cNvSpPr/>
          <p:nvPr/>
        </p:nvSpPr>
        <p:spPr>
          <a:xfrm>
            <a:off x="4627778" y="4114800"/>
            <a:ext cx="3173700" cy="50292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53" name="Shape 51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4" name="Shape 52"/>
          <p:cNvSpPr/>
          <p:nvPr/>
        </p:nvSpPr>
        <p:spPr>
          <a:xfrm rot="15300000">
            <a:off x="7913753" y="451503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3050000">
            <a:off x="7963237" y="458909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0800000">
            <a:off x="8047578" y="461772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550000">
            <a:off x="8131919" y="458909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6300000">
            <a:off x="8181402" y="451503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0" name="bld4_2170"/>
          <p:cNvSpPr txBox="1"/>
          <p:nvPr/>
        </p:nvSpPr>
        <p:spPr>
          <a:xfrm>
            <a:off x="8567928" y="444398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stem</a:t>
            </a:r>
            <a:endParaRPr lang="en-US" sz="1350" dirty="0"/>
          </a:p>
        </p:txBody>
      </p:sp>
      <p:sp>
        <p:nvSpPr>
          <p:cNvPr id="61" name="bld5_2171"/>
          <p:cNvSpPr/>
          <p:nvPr/>
        </p:nvSpPr>
        <p:spPr>
          <a:xfrm>
            <a:off x="4627778" y="4114800"/>
            <a:ext cx="3173700" cy="1325880"/>
          </a:xfrm>
          <a:prstGeom prst="line">
            <a:avLst/>
          </a:prstGeom>
          <a:noFill/>
          <a:ln w="19050">
            <a:solidFill>
              <a:srgbClr val="A6402A">
                <a:alpha val="75000"/>
              </a:srgbClr>
            </a:solidFill>
            <a:prstDash val="sysDot"/>
          </a:ln>
        </p:spPr>
      </p:sp>
      <p:sp>
        <p:nvSpPr>
          <p:cNvPr id="62" name="Shape 60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63" name="Shape 61"/>
          <p:cNvSpPr/>
          <p:nvPr/>
        </p:nvSpPr>
        <p:spPr>
          <a:xfrm rot="9000000">
            <a:off x="7960492" y="5319288"/>
            <a:ext cx="306119" cy="30611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6000000">
            <a:off x="7891879" y="5287620"/>
            <a:ext cx="190005" cy="190005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1400000">
            <a:off x="8108274" y="5255953"/>
            <a:ext cx="158338" cy="158338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67" name="bld5_2173"/>
          <p:cNvSpPr txBox="1"/>
          <p:nvPr/>
        </p:nvSpPr>
        <p:spPr>
          <a:xfrm>
            <a:off x="8567928" y="526694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350" dirty="0"/>
          </a:p>
        </p:txBody>
      </p:sp>
      <p:sp>
        <p:nvSpPr>
          <p:cNvPr id="68" name="bld6_2174"/>
          <p:cNvSpPr/>
          <p:nvPr/>
        </p:nvSpPr>
        <p:spPr>
          <a:xfrm>
            <a:off x="4627778" y="4114800"/>
            <a:ext cx="3173700" cy="2148840"/>
          </a:xfrm>
          <a:prstGeom prst="line">
            <a:avLst/>
          </a:prstGeom>
          <a:noFill/>
          <a:ln w="19050">
            <a:solidFill>
              <a:srgbClr val="AFA495">
                <a:alpha val="75000"/>
              </a:srgbClr>
            </a:solidFill>
            <a:prstDash val="sysDot"/>
          </a:ln>
        </p:spPr>
      </p:sp>
      <p:sp>
        <p:nvSpPr>
          <p:cNvPr id="69" name="Shape 67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0" name="Shape 68"/>
          <p:cNvSpPr/>
          <p:nvPr/>
        </p:nvSpPr>
        <p:spPr>
          <a:xfrm>
            <a:off x="7849656" y="6100025"/>
            <a:ext cx="485568" cy="327231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72" name="bld6_2176"/>
          <p:cNvSpPr txBox="1"/>
          <p:nvPr/>
        </p:nvSpPr>
        <p:spPr>
          <a:xfrm>
            <a:off x="8567928" y="60899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&amp; musk support</a:t>
            </a:r>
            <a:endParaRPr lang="en-US" sz="1350" dirty="0"/>
          </a:p>
        </p:txBody>
      </p:sp>
      <p:sp>
        <p:nvSpPr>
          <p:cNvPr id="74" name="trans_push_l_1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1000" dirty="0"/>
          </a:p>
        </p:txBody>
      </p:sp>
      <p:sp>
        <p:nvSpPr>
          <p:cNvPr id="76" name="Text 7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5" grpId="0"/>
      <p:bldP spid="26" grpId="0"/>
      <p:bldP spid="38" grpId="0"/>
      <p:bldP spid="39" grpId="0"/>
      <p:bldP spid="51" grpId="0"/>
      <p:bldP spid="52" grpId="0"/>
      <p:bldP spid="60" grpId="0"/>
      <p:bldP spid="61" grpId="0"/>
      <p:bldP spid="67" grpId="0"/>
      <p:bldP spid="68" grpId="0"/>
      <p:bldP spid="72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IN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with materials vs. starting with a base</a:t>
            </a:r>
            <a:endParaRPr lang="en-US" sz="3200" dirty="0"/>
          </a:p>
        </p:txBody>
      </p:sp>
      <p:sp>
        <p:nvSpPr>
          <p:cNvPr id="7" name="bld1_2177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8" name="bld1_2178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2179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materials</a:t>
            </a:r>
            <a:endParaRPr lang="en-US" sz="1800" dirty="0"/>
          </a:p>
        </p:txBody>
      </p:sp>
      <p:sp>
        <p:nvSpPr>
          <p:cNvPr id="10" name="bld1_2180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Phenylethyl alcohol, citronellol, geraniol and rose oxide, balanced by hand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over every facet from the very first drop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— each facet is tuned material by material</a:t>
            </a:r>
            <a:endParaRPr lang="en-US" sz="1300" dirty="0"/>
          </a:p>
        </p:txBody>
      </p:sp>
      <p:sp>
        <p:nvSpPr>
          <p:cNvPr id="11" name="bld1_2181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2" name="bld1_2182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13" name="bld2_2183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FE4EC"/>
          </a:solidFill>
          <a:ln/>
        </p:spPr>
      </p:sp>
      <p:sp>
        <p:nvSpPr>
          <p:cNvPr id="14" name="bld2_2184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bld2_2185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commercial rose base</a:t>
            </a:r>
            <a:endParaRPr lang="en-US" sz="1800" dirty="0"/>
          </a:p>
        </p:txBody>
      </p:sp>
      <p:sp>
        <p:nvSpPr>
          <p:cNvPr id="16" name="bld2_2186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like Rose Givco arrives with the rose body already built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starting point — you modify it, rather than construct from zero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needs shaping with modifiers before it reads as a finished accord</a:t>
            </a:r>
            <a:endParaRPr lang="en-US" sz="1300" dirty="0"/>
          </a:p>
        </p:txBody>
      </p:sp>
      <p:sp>
        <p:nvSpPr>
          <p:cNvPr id="17" name="bld2_2187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8" name="bld2_2188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5B3A52">
              <a:alpha val="92000"/>
            </a:srgbClr>
          </a:solidFill>
          <a:ln/>
        </p:spPr>
      </p:sp>
      <p:sp>
        <p:nvSpPr>
          <p:cNvPr id="20" name="trans_wipe_l_1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AMBER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convincing amber from scratch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3084728" y="3671883"/>
            <a:ext cx="1116921" cy="111692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2834384" y="3556339"/>
            <a:ext cx="693262" cy="69326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3623932" y="3440796"/>
            <a:ext cx="577718" cy="57771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175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350" dirty="0"/>
          </a:p>
        </p:txBody>
      </p:sp>
      <p:sp>
        <p:nvSpPr>
          <p:cNvPr id="13" name="bld1_2189"/>
          <p:cNvSpPr/>
          <p:nvPr/>
        </p:nvSpPr>
        <p:spPr>
          <a:xfrm flipV="1">
            <a:off x="4627778" y="2148840"/>
            <a:ext cx="3085231" cy="196596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5" name="Shape 13"/>
          <p:cNvSpPr/>
          <p:nvPr/>
        </p:nvSpPr>
        <p:spPr>
          <a:xfrm rot="9000000">
            <a:off x="7920373" y="19905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000000">
            <a:off x="7830898" y="19492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1400000">
            <a:off x="8113088" y="19079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9" name="bld1_2191"/>
          <p:cNvSpPr txBox="1"/>
          <p:nvPr/>
        </p:nvSpPr>
        <p:spPr>
          <a:xfrm>
            <a:off x="8670798" y="19751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Resinous depth</a:t>
            </a:r>
            <a:endParaRPr lang="en-US" sz="1350" dirty="0"/>
          </a:p>
        </p:txBody>
      </p:sp>
      <p:sp>
        <p:nvSpPr>
          <p:cNvPr id="20" name="bld2_2192"/>
          <p:cNvSpPr/>
          <p:nvPr/>
        </p:nvSpPr>
        <p:spPr>
          <a:xfrm flipV="1">
            <a:off x="4627778" y="3177540"/>
            <a:ext cx="3085231" cy="93726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7920373" y="30192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7830898" y="29779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8113088" y="29366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2_2194"/>
          <p:cNvSpPr txBox="1"/>
          <p:nvPr/>
        </p:nvSpPr>
        <p:spPr>
          <a:xfrm>
            <a:off x="8670798" y="30038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350" dirty="0"/>
          </a:p>
        </p:txBody>
      </p:sp>
      <p:sp>
        <p:nvSpPr>
          <p:cNvPr id="27" name="bld3_2195"/>
          <p:cNvSpPr/>
          <p:nvPr/>
        </p:nvSpPr>
        <p:spPr>
          <a:xfrm>
            <a:off x="4627778" y="4114800"/>
            <a:ext cx="3085231" cy="9144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9" name="Shape 27"/>
          <p:cNvSpPr/>
          <p:nvPr/>
        </p:nvSpPr>
        <p:spPr>
          <a:xfrm rot="9000000">
            <a:off x="7920373" y="40479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000000">
            <a:off x="7830898" y="40066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1400000">
            <a:off x="8113088" y="39653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3" name="bld3_2197"/>
          <p:cNvSpPr txBox="1"/>
          <p:nvPr/>
        </p:nvSpPr>
        <p:spPr>
          <a:xfrm>
            <a:off x="8670798" y="40325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Radiance</a:t>
            </a:r>
            <a:endParaRPr lang="en-US" sz="1350" dirty="0"/>
          </a:p>
        </p:txBody>
      </p:sp>
      <p:sp>
        <p:nvSpPr>
          <p:cNvPr id="34" name="bld4_2198"/>
          <p:cNvSpPr/>
          <p:nvPr/>
        </p:nvSpPr>
        <p:spPr>
          <a:xfrm>
            <a:off x="4627778" y="4114800"/>
            <a:ext cx="3085231" cy="112014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35" name="Shape 33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6" name="Shape 34"/>
          <p:cNvSpPr/>
          <p:nvPr/>
        </p:nvSpPr>
        <p:spPr>
          <a:xfrm rot="840000">
            <a:off x="8009848" y="4908012"/>
            <a:ext cx="165185" cy="653855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40000">
            <a:off x="8086954" y="4987163"/>
            <a:ext cx="914" cy="49555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15010" y="5006091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9" name="Shape 37"/>
          <p:cNvSpPr/>
          <p:nvPr/>
        </p:nvSpPr>
        <p:spPr>
          <a:xfrm>
            <a:off x="8039787" y="5091436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8064565" y="5176781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8089343" y="5262127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8114120" y="5347472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3" name="Shape 41"/>
          <p:cNvSpPr/>
          <p:nvPr/>
        </p:nvSpPr>
        <p:spPr>
          <a:xfrm>
            <a:off x="8138898" y="5432817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4" name="Shape 42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5" name="bld4_2200"/>
          <p:cNvSpPr txBox="1"/>
          <p:nvPr/>
        </p:nvSpPr>
        <p:spPr>
          <a:xfrm>
            <a:off x="8670798" y="50612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Powdery warmth</a:t>
            </a:r>
            <a:endParaRPr lang="en-US" sz="1350" dirty="0"/>
          </a:p>
        </p:txBody>
      </p:sp>
      <p:sp>
        <p:nvSpPr>
          <p:cNvPr id="46" name="bld5_2201"/>
          <p:cNvSpPr/>
          <p:nvPr/>
        </p:nvSpPr>
        <p:spPr>
          <a:xfrm>
            <a:off x="4627778" y="4114800"/>
            <a:ext cx="3085231" cy="21488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47" name="Shape 45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 rot="18900000">
            <a:off x="7879077" y="5953919"/>
            <a:ext cx="426727" cy="619442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86954" y="6057159"/>
            <a:ext cx="914" cy="37854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1" name="bld5_2203"/>
          <p:cNvSpPr txBox="1"/>
          <p:nvPr/>
        </p:nvSpPr>
        <p:spPr>
          <a:xfrm>
            <a:off x="8670798" y="60899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grip</a:t>
            </a:r>
            <a:endParaRPr lang="en-US" sz="1350" dirty="0"/>
          </a:p>
        </p:txBody>
      </p:sp>
      <p:sp>
        <p:nvSpPr>
          <p:cNvPr id="53" name="trans_push_l_1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6" grpId="0"/>
      <p:bldP spid="27" grpId="0"/>
      <p:bldP spid="33" grpId="0"/>
      <p:bldP spid="34" grpId="0"/>
      <p:bldP spid="45" grpId="0"/>
      <p:bldP spid="46" grpId="0"/>
      <p:bldP spid="5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AMBER TRADITIONS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amber vs. modern woody amber</a:t>
            </a:r>
            <a:endParaRPr lang="en-US" sz="3200" dirty="0"/>
          </a:p>
        </p:txBody>
      </p:sp>
      <p:sp>
        <p:nvSpPr>
          <p:cNvPr id="7" name="bld1_2204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8" name="bld1_2205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9" name="bld1_2206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amber</a:t>
            </a:r>
            <a:endParaRPr lang="en-US" sz="1800" dirty="0"/>
          </a:p>
        </p:txBody>
      </p:sp>
      <p:sp>
        <p:nvSpPr>
          <p:cNvPr id="10" name="bld1_2207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labdanum, vanillin and balsamic sweetness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Dense, resinous, old-world warmth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sweeter and darker on the strip</a:t>
            </a:r>
            <a:endParaRPr lang="en-US" sz="1300" dirty="0"/>
          </a:p>
        </p:txBody>
      </p:sp>
      <p:sp>
        <p:nvSpPr>
          <p:cNvPr id="11" name="bld1_2208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9C7A34"/>
            </a:solidFill>
            <a:prstDash val="solid"/>
          </a:ln>
        </p:spPr>
      </p:sp>
      <p:sp>
        <p:nvSpPr>
          <p:cNvPr id="12" name="bld1_2209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9C7A34">
              <a:alpha val="92000"/>
            </a:srgbClr>
          </a:solidFill>
          <a:ln/>
        </p:spPr>
      </p:sp>
      <p:sp>
        <p:nvSpPr>
          <p:cNvPr id="13" name="bld2_2210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4" name="bld2_2211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2_2212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woody amber</a:t>
            </a:r>
            <a:endParaRPr lang="en-US" sz="1800" dirty="0"/>
          </a:p>
        </p:txBody>
      </p:sp>
      <p:sp>
        <p:nvSpPr>
          <p:cNvPr id="16" name="bld2_2213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ambroxan-family materials and clean, transparent woods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Lighter, drier, more radiant and diffusive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amber style in contemporary fragrance</a:t>
            </a:r>
            <a:endParaRPr lang="en-US" sz="1300" dirty="0"/>
          </a:p>
        </p:txBody>
      </p:sp>
      <p:sp>
        <p:nvSpPr>
          <p:cNvPr id="17" name="bld2_2214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8" name="bld2_2215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20" name="trans_wipe_l_1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SANDALWOOD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Creamy, milky, woody — one facet at a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2603297" y="3151937"/>
            <a:ext cx="1925726" cy="1925726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9" name="Shape 7"/>
          <p:cNvSpPr/>
          <p:nvPr/>
        </p:nvSpPr>
        <p:spPr>
          <a:xfrm>
            <a:off x="3084728" y="3633368"/>
            <a:ext cx="962863" cy="96286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450616" y="3999256"/>
            <a:ext cx="231087" cy="231087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8A633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</a:t>
            </a:r>
            <a:endParaRPr lang="en-US" sz="1350" dirty="0"/>
          </a:p>
        </p:txBody>
      </p:sp>
      <p:sp>
        <p:nvSpPr>
          <p:cNvPr id="13" name="bld1_2216"/>
          <p:cNvSpPr/>
          <p:nvPr/>
        </p:nvSpPr>
        <p:spPr>
          <a:xfrm flipV="1">
            <a:off x="4627778" y="2148840"/>
            <a:ext cx="2977104" cy="196596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5" name="Shape 13"/>
          <p:cNvSpPr/>
          <p:nvPr/>
        </p:nvSpPr>
        <p:spPr>
          <a:xfrm>
            <a:off x="7650236" y="1706636"/>
            <a:ext cx="884408" cy="88440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6" name="Shape 14"/>
          <p:cNvSpPr/>
          <p:nvPr/>
        </p:nvSpPr>
        <p:spPr>
          <a:xfrm>
            <a:off x="7871338" y="1927738"/>
            <a:ext cx="442204" cy="442204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39376" y="2095776"/>
            <a:ext cx="106129" cy="106129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8" name="Shape 16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9" name="bld1_2218"/>
          <p:cNvSpPr txBox="1"/>
          <p:nvPr/>
        </p:nvSpPr>
        <p:spPr>
          <a:xfrm>
            <a:off x="8796528" y="19751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Creamy body</a:t>
            </a:r>
            <a:endParaRPr lang="en-US" sz="1350" dirty="0"/>
          </a:p>
        </p:txBody>
      </p:sp>
      <p:sp>
        <p:nvSpPr>
          <p:cNvPr id="20" name="bld2_2219"/>
          <p:cNvSpPr/>
          <p:nvPr/>
        </p:nvSpPr>
        <p:spPr>
          <a:xfrm flipV="1">
            <a:off x="4627778" y="3520440"/>
            <a:ext cx="2977104" cy="594360"/>
          </a:xfrm>
          <a:prstGeom prst="line">
            <a:avLst/>
          </a:prstGeom>
          <a:noFill/>
          <a:ln w="19050">
            <a:solidFill>
              <a:srgbClr val="AFA495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5612" y="3246274"/>
            <a:ext cx="813655" cy="54833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4" name="bld2_2221"/>
          <p:cNvSpPr txBox="1"/>
          <p:nvPr/>
        </p:nvSpPr>
        <p:spPr>
          <a:xfrm>
            <a:off x="8796528" y="33467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Milky softness</a:t>
            </a:r>
            <a:endParaRPr lang="en-US" sz="1350" dirty="0"/>
          </a:p>
        </p:txBody>
      </p:sp>
      <p:sp>
        <p:nvSpPr>
          <p:cNvPr id="25" name="bld3_2222"/>
          <p:cNvSpPr/>
          <p:nvPr/>
        </p:nvSpPr>
        <p:spPr>
          <a:xfrm>
            <a:off x="4627778" y="4114800"/>
            <a:ext cx="2977104" cy="7772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26" name="Shape 24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7" name="Shape 25"/>
          <p:cNvSpPr/>
          <p:nvPr/>
        </p:nvSpPr>
        <p:spPr>
          <a:xfrm>
            <a:off x="7650236" y="4449836"/>
            <a:ext cx="884408" cy="88440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797637" y="4597237"/>
            <a:ext cx="589605" cy="589605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9" name="Shape 27"/>
          <p:cNvSpPr/>
          <p:nvPr/>
        </p:nvSpPr>
        <p:spPr>
          <a:xfrm>
            <a:off x="7945039" y="4744639"/>
            <a:ext cx="294803" cy="29480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039376" y="4838976"/>
            <a:ext cx="106129" cy="106129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1" name="Shape 29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3_2224"/>
          <p:cNvSpPr txBox="1"/>
          <p:nvPr/>
        </p:nvSpPr>
        <p:spPr>
          <a:xfrm>
            <a:off x="8796528" y="47183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structure</a:t>
            </a:r>
            <a:endParaRPr lang="en-US" sz="1350" dirty="0"/>
          </a:p>
        </p:txBody>
      </p:sp>
      <p:sp>
        <p:nvSpPr>
          <p:cNvPr id="33" name="bld4_2225"/>
          <p:cNvSpPr/>
          <p:nvPr/>
        </p:nvSpPr>
        <p:spPr>
          <a:xfrm>
            <a:off x="4627778" y="4114800"/>
            <a:ext cx="2977104" cy="214884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34" name="Shape 32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 rot="840000">
            <a:off x="7986311" y="5843546"/>
            <a:ext cx="212258" cy="840187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40000">
            <a:off x="8086954" y="5945253"/>
            <a:ext cx="914" cy="63677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92944" y="5969574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8" name="Shape 36"/>
          <p:cNvSpPr/>
          <p:nvPr/>
        </p:nvSpPr>
        <p:spPr>
          <a:xfrm>
            <a:off x="8024783" y="6079241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9" name="Shape 37"/>
          <p:cNvSpPr/>
          <p:nvPr/>
        </p:nvSpPr>
        <p:spPr>
          <a:xfrm>
            <a:off x="8056621" y="6188908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8088460" y="6298574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8120299" y="6408241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8152138" y="6517907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3" name="Shape 41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4" name="bld4_2227"/>
          <p:cNvSpPr txBox="1"/>
          <p:nvPr/>
        </p:nvSpPr>
        <p:spPr>
          <a:xfrm>
            <a:off x="8796528" y="60899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Warmth</a:t>
            </a:r>
            <a:endParaRPr lang="en-US" sz="1350" dirty="0"/>
          </a:p>
        </p:txBody>
      </p:sp>
      <p:sp>
        <p:nvSpPr>
          <p:cNvPr id="46" name="trans_push_l_1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4" grpId="0"/>
      <p:bldP spid="25" grpId="0"/>
      <p:bldP spid="32" grpId="0"/>
      <p:bldP spid="33" grpId="0"/>
      <p:bldP spid="44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LEATHER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Dry, smoky, animalic — one facet at a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8" name="Shape 6"/>
          <p:cNvSpPr/>
          <p:nvPr/>
        </p:nvSpPr>
        <p:spPr>
          <a:xfrm>
            <a:off x="2603297" y="3151937"/>
            <a:ext cx="1925726" cy="192572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849037" y="3633368"/>
            <a:ext cx="143424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749680" y="3954323"/>
            <a:ext cx="163296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49680" y="4275277"/>
            <a:ext cx="163296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849037" y="4596232"/>
            <a:ext cx="143424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5C42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3A2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</a:t>
            </a:r>
            <a:endParaRPr lang="en-US" sz="1350" dirty="0"/>
          </a:p>
        </p:txBody>
      </p:sp>
      <p:sp>
        <p:nvSpPr>
          <p:cNvPr id="15" name="bld1_2228"/>
          <p:cNvSpPr/>
          <p:nvPr/>
        </p:nvSpPr>
        <p:spPr>
          <a:xfrm flipV="1">
            <a:off x="4627778" y="2148840"/>
            <a:ext cx="2977104" cy="196596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16" name="Shape 14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7" name="Shape 15"/>
          <p:cNvSpPr/>
          <p:nvPr/>
        </p:nvSpPr>
        <p:spPr>
          <a:xfrm>
            <a:off x="7650236" y="17066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63095" y="19277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717464" y="20751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717464" y="22225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63095" y="23699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3" name="bld1_2230"/>
          <p:cNvSpPr txBox="1"/>
          <p:nvPr/>
        </p:nvSpPr>
        <p:spPr>
          <a:xfrm>
            <a:off x="8796528" y="19751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 bitterness</a:t>
            </a:r>
            <a:endParaRPr lang="en-US" sz="1350" dirty="0"/>
          </a:p>
        </p:txBody>
      </p:sp>
      <p:sp>
        <p:nvSpPr>
          <p:cNvPr id="24" name="bld2_2231"/>
          <p:cNvSpPr/>
          <p:nvPr/>
        </p:nvSpPr>
        <p:spPr>
          <a:xfrm flipV="1">
            <a:off x="4627778" y="3520440"/>
            <a:ext cx="2977104" cy="59436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6" name="Shape 24"/>
          <p:cNvSpPr/>
          <p:nvPr/>
        </p:nvSpPr>
        <p:spPr>
          <a:xfrm rot="5400000">
            <a:off x="7809430" y="3210897"/>
            <a:ext cx="194570" cy="574865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5400000">
            <a:off x="7995155" y="3277228"/>
            <a:ext cx="194570" cy="574865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5400000">
            <a:off x="8180881" y="3343558"/>
            <a:ext cx="194570" cy="574865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0" name="bld2_2233"/>
          <p:cNvSpPr txBox="1"/>
          <p:nvPr/>
        </p:nvSpPr>
        <p:spPr>
          <a:xfrm>
            <a:off x="8796528" y="33467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Smokiness</a:t>
            </a:r>
            <a:endParaRPr lang="en-US" sz="1350" dirty="0"/>
          </a:p>
        </p:txBody>
      </p:sp>
      <p:sp>
        <p:nvSpPr>
          <p:cNvPr id="31" name="bld3_2234"/>
          <p:cNvSpPr/>
          <p:nvPr/>
        </p:nvSpPr>
        <p:spPr>
          <a:xfrm>
            <a:off x="4627778" y="4114800"/>
            <a:ext cx="2977104" cy="7772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32" name="Shape 30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3" name="Shape 31"/>
          <p:cNvSpPr/>
          <p:nvPr/>
        </p:nvSpPr>
        <p:spPr>
          <a:xfrm>
            <a:off x="7650236" y="44498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763095" y="46709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7717464" y="48183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7717464" y="49657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7763095" y="51131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9" name="bld3_2236"/>
          <p:cNvSpPr txBox="1"/>
          <p:nvPr/>
        </p:nvSpPr>
        <p:spPr>
          <a:xfrm>
            <a:off x="8796528" y="47183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 softness</a:t>
            </a:r>
            <a:endParaRPr lang="en-US" sz="1350" dirty="0"/>
          </a:p>
        </p:txBody>
      </p:sp>
      <p:sp>
        <p:nvSpPr>
          <p:cNvPr id="40" name="bld4_2237"/>
          <p:cNvSpPr/>
          <p:nvPr/>
        </p:nvSpPr>
        <p:spPr>
          <a:xfrm>
            <a:off x="4627778" y="4114800"/>
            <a:ext cx="2977104" cy="21488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41" name="Shape 39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2" name="Shape 40"/>
          <p:cNvSpPr/>
          <p:nvPr/>
        </p:nvSpPr>
        <p:spPr>
          <a:xfrm>
            <a:off x="7650236" y="58214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763095" y="60425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717464" y="61899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7717464" y="63373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7763095" y="64847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8" name="bld4_2239"/>
          <p:cNvSpPr txBox="1"/>
          <p:nvPr/>
        </p:nvSpPr>
        <p:spPr>
          <a:xfrm>
            <a:off x="8796528" y="60899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Animalic warmth</a:t>
            </a:r>
            <a:endParaRPr lang="en-US" sz="1350" dirty="0"/>
          </a:p>
        </p:txBody>
      </p:sp>
      <p:sp>
        <p:nvSpPr>
          <p:cNvPr id="50" name="trans_push_l_1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23" grpId="0"/>
      <p:bldP spid="24" grpId="0"/>
      <p:bldP spid="30" grpId="0"/>
      <p:bldP spid="31" grpId="0"/>
      <p:bldP spid="39" grpId="0"/>
      <p:bldP spid="40" grpId="0"/>
      <p:bldP spid="48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DIRECTIONS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 vs. dark leather vs. smoky leather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665447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217204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240"/>
          <p:cNvSpPr/>
          <p:nvPr/>
        </p:nvSpPr>
        <p:spPr>
          <a:xfrm>
            <a:off x="548640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2027072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99884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070445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070445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099884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ln w="25603">
            <a:solidFill>
              <a:srgbClr val="AD8862"/>
            </a:solidFill>
            <a:prstDash val="solid"/>
          </a:ln>
        </p:spPr>
      </p:sp>
      <p:sp>
        <p:nvSpPr>
          <p:cNvPr id="18" name="bld1_2242"/>
          <p:cNvSpPr txBox="1"/>
          <p:nvPr/>
        </p:nvSpPr>
        <p:spPr>
          <a:xfrm>
            <a:off x="731520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</a:t>
            </a:r>
            <a:endParaRPr lang="en-US" sz="1450" dirty="0"/>
          </a:p>
        </p:txBody>
      </p:sp>
      <p:sp>
        <p:nvSpPr>
          <p:cNvPr id="19" name="bld1_2243"/>
          <p:cNvSpPr txBox="1"/>
          <p:nvPr/>
        </p:nvSpPr>
        <p:spPr>
          <a:xfrm>
            <a:off x="731520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powdery, close to skin — lean on suederal-type materials with minimal smoke or animalic weight.</a:t>
            </a:r>
            <a:endParaRPr lang="en-US" sz="1080" dirty="0"/>
          </a:p>
        </p:txBody>
      </p:sp>
      <p:sp>
        <p:nvSpPr>
          <p:cNvPr id="20" name="bld2_2244"/>
          <p:cNvSpPr/>
          <p:nvPr/>
        </p:nvSpPr>
        <p:spPr>
          <a:xfrm>
            <a:off x="4332122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2" name="Shape 20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88336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85392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85392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88336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8" name="bld2_2246"/>
          <p:cNvSpPr txBox="1"/>
          <p:nvPr/>
        </p:nvSpPr>
        <p:spPr>
          <a:xfrm>
            <a:off x="4515002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leather</a:t>
            </a:r>
            <a:endParaRPr lang="en-US" sz="1450" dirty="0"/>
          </a:p>
        </p:txBody>
      </p:sp>
      <p:sp>
        <p:nvSpPr>
          <p:cNvPr id="29" name="bld2_2247"/>
          <p:cNvSpPr txBox="1"/>
          <p:nvPr/>
        </p:nvSpPr>
        <p:spPr>
          <a:xfrm>
            <a:off x="4515002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and more bitter — isobutyl quinoline plus woods, with animalic warmth for depth.</a:t>
            </a:r>
            <a:endParaRPr lang="en-US" sz="1080" dirty="0"/>
          </a:p>
        </p:txBody>
      </p:sp>
      <p:sp>
        <p:nvSpPr>
          <p:cNvPr id="30" name="bld3_2248"/>
          <p:cNvSpPr/>
          <p:nvPr/>
        </p:nvSpPr>
        <p:spPr>
          <a:xfrm>
            <a:off x="8115605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9696743" y="2554468"/>
            <a:ext cx="125529" cy="370881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5400000">
            <a:off x="9816566" y="2597262"/>
            <a:ext cx="125529" cy="370881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5400000">
            <a:off x="9936389" y="2640056"/>
            <a:ext cx="125529" cy="370881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6" name="bld3_2250"/>
          <p:cNvSpPr txBox="1"/>
          <p:nvPr/>
        </p:nvSpPr>
        <p:spPr>
          <a:xfrm>
            <a:off x="8298485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Smoky leather</a:t>
            </a:r>
            <a:endParaRPr lang="en-US" sz="1450" dirty="0"/>
          </a:p>
        </p:txBody>
      </p:sp>
      <p:sp>
        <p:nvSpPr>
          <p:cNvPr id="37" name="bld3_2251"/>
          <p:cNvSpPr txBox="1"/>
          <p:nvPr/>
        </p:nvSpPr>
        <p:spPr>
          <a:xfrm>
            <a:off x="8298485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birch tar and smoky facets forward — the driest, most industrial of the three.</a:t>
            </a:r>
            <a:endParaRPr lang="en-US" sz="1080" dirty="0"/>
          </a:p>
        </p:txBody>
      </p:sp>
      <p:sp>
        <p:nvSpPr>
          <p:cNvPr id="39" name="trans_fade_1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8" grpId="0"/>
      <p:bldP spid="29" grpId="0"/>
      <p:bldP spid="30" grpId="0"/>
      <p:bldP spid="36" grpId="0"/>
      <p:bldP spid="37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TO TRY AT HOME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more accords worth building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4684473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4772374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249549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252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76961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5" name="bld1_2254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26" name="bld1_2255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as the clean base, softened with a touch of ethylene brassylate for skin-warmth.</a:t>
            </a:r>
            <a:endParaRPr lang="en-US" sz="1080" dirty="0"/>
          </a:p>
        </p:txBody>
      </p:sp>
      <p:sp>
        <p:nvSpPr>
          <p:cNvPr id="27" name="bld2_2256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9" name="Shape 27"/>
          <p:cNvSpPr/>
          <p:nvPr/>
        </p:nvSpPr>
        <p:spPr>
          <a:xfrm rot="840000">
            <a:off x="4608571" y="2483145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40000">
            <a:off x="4671555" y="2548762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2851" y="256445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392" y="263520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3" name="Shape 31"/>
          <p:cNvSpPr/>
          <p:nvPr/>
        </p:nvSpPr>
        <p:spPr>
          <a:xfrm>
            <a:off x="4653933" y="270595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4" name="Shape 32"/>
          <p:cNvSpPr/>
          <p:nvPr/>
        </p:nvSpPr>
        <p:spPr>
          <a:xfrm>
            <a:off x="4674474" y="2776711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5" name="Shape 33"/>
          <p:cNvSpPr/>
          <p:nvPr/>
        </p:nvSpPr>
        <p:spPr>
          <a:xfrm>
            <a:off x="4695015" y="2847464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6" name="Shape 34"/>
          <p:cNvSpPr/>
          <p:nvPr/>
        </p:nvSpPr>
        <p:spPr>
          <a:xfrm>
            <a:off x="4715556" y="291821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7" name="Shape 35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8" name="bld2_2258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39" name="bld2_2259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as the core, softened with coumarin and rounded with a trace of benzoin.</a:t>
            </a:r>
            <a:endParaRPr lang="en-US" sz="1080" dirty="0"/>
          </a:p>
        </p:txBody>
      </p:sp>
      <p:sp>
        <p:nvSpPr>
          <p:cNvPr id="40" name="bld3_2260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2" name="Shape 40"/>
          <p:cNvSpPr/>
          <p:nvPr/>
        </p:nvSpPr>
        <p:spPr>
          <a:xfrm>
            <a:off x="7229361" y="2468880"/>
            <a:ext cx="570586" cy="570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324458" y="2563978"/>
            <a:ext cx="380390" cy="38039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4" name="Shape 42"/>
          <p:cNvSpPr/>
          <p:nvPr/>
        </p:nvSpPr>
        <p:spPr>
          <a:xfrm>
            <a:off x="7419556" y="2659075"/>
            <a:ext cx="190195" cy="190195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480418" y="271993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6" name="Shape 44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7" name="bld3_2262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48" name="bld3_2263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for volume, sandalwood or Javanol for cream, cedarwood for dry structure.</a:t>
            </a:r>
            <a:endParaRPr lang="en-US" sz="1080" dirty="0"/>
          </a:p>
        </p:txBody>
      </p:sp>
      <p:sp>
        <p:nvSpPr>
          <p:cNvPr id="49" name="bld4_2264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1" name="Shape 49"/>
          <p:cNvSpPr/>
          <p:nvPr/>
        </p:nvSpPr>
        <p:spPr>
          <a:xfrm rot="15300000">
            <a:off x="10159090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3050000">
            <a:off x="10212586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0800000">
            <a:off x="10303766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8550000">
            <a:off x="10394945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6300000">
            <a:off x="10448441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7" name="bld4_2266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58" name="bld4_2267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for the cut-leaf bite, stemone for green freshness, a trace of galbanum for bitterness.</a:t>
            </a:r>
            <a:endParaRPr lang="en-US" sz="1080" dirty="0"/>
          </a:p>
        </p:txBody>
      </p:sp>
      <p:sp>
        <p:nvSpPr>
          <p:cNvPr id="60" name="trans_fade_14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  <p:sp>
        <p:nvSpPr>
          <p:cNvPr id="62" name="Text 5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5" grpId="0"/>
      <p:bldP spid="26" grpId="0"/>
      <p:bldP spid="27" grpId="0"/>
      <p:bldP spid="38" grpId="0"/>
      <p:bldP spid="39" grpId="0"/>
      <p:bldP spid="40" grpId="0"/>
      <p:bldP spid="47" grpId="0"/>
      <p:bldP spid="48" grpId="0"/>
      <p:bldP spid="49" grpId="0"/>
      <p:bldP spid="57" grpId="0"/>
      <p:bldP spid="58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formulas are starting structures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build upon — not finished perfumes.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DISTINCTION</a:t>
            </a:r>
            <a:endParaRPr lang="en-US" sz="1100" dirty="0"/>
          </a:p>
        </p:txBody>
      </p:sp>
      <p:sp>
        <p:nvSpPr>
          <p:cNvPr id="10" name="trans_fade_14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METHOD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Jean Carles method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09569" y="2549073"/>
            <a:ext cx="838139" cy="83813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7708" y="2549073"/>
            <a:ext cx="838139" cy="838139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systematic, repeatable way to explore a relationship between materials.</a:t>
            </a:r>
            <a:endParaRPr lang="en-US" sz="1050" dirty="0"/>
          </a:p>
        </p:txBody>
      </p:sp>
      <p:sp>
        <p:nvSpPr>
          <p:cNvPr id="13" name="bld1_226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bld1_226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two materials, A and B</a:t>
            </a:r>
            <a:endParaRPr lang="en-US" sz="1650" dirty="0"/>
          </a:p>
        </p:txBody>
      </p:sp>
      <p:sp>
        <p:nvSpPr>
          <p:cNvPr id="15" name="bld1_227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just two — nothing more — so you can see their interaction clearly.</a:t>
            </a:r>
            <a:endParaRPr lang="en-US" sz="1250" dirty="0"/>
          </a:p>
        </p:txBody>
      </p:sp>
      <p:sp>
        <p:nvSpPr>
          <p:cNvPr id="16" name="bld2_227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2_227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ratios methodically</a:t>
            </a:r>
            <a:endParaRPr lang="en-US" sz="1650" dirty="0"/>
          </a:p>
        </p:txBody>
      </p:sp>
      <p:sp>
        <p:nvSpPr>
          <p:cNvPr id="18" name="bld2_227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them at different proportions and evaluate each one on its own strip.</a:t>
            </a:r>
            <a:endParaRPr lang="en-US" sz="1250" dirty="0"/>
          </a:p>
        </p:txBody>
      </p:sp>
      <p:sp>
        <p:nvSpPr>
          <p:cNvPr id="19" name="bld3_227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27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how they behave together</a:t>
            </a:r>
            <a:endParaRPr lang="en-US" sz="1650" dirty="0"/>
          </a:p>
        </p:txBody>
      </p:sp>
      <p:sp>
        <p:nvSpPr>
          <p:cNvPr id="21" name="bld3_227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mapping the relationship between A and B before adding any complexity.</a:t>
            </a:r>
            <a:endParaRPr lang="en-US" sz="1250" dirty="0"/>
          </a:p>
        </p:txBody>
      </p:sp>
      <p:sp>
        <p:nvSpPr>
          <p:cNvPr id="23" name="trans_fade_14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EXPERIMENTS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: B, explored step by step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40543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046956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277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2278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2279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: 10</a:t>
            </a:r>
            <a:endParaRPr lang="en-US" sz="1450" dirty="0"/>
          </a:p>
        </p:txBody>
      </p:sp>
      <p:sp>
        <p:nvSpPr>
          <p:cNvPr id="13" name="bld1_2280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A</a:t>
            </a:r>
            <a:endParaRPr lang="en-US" sz="1080" dirty="0"/>
          </a:p>
        </p:txBody>
      </p:sp>
      <p:sp>
        <p:nvSpPr>
          <p:cNvPr id="14" name="bld2_2281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2282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2283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: 20</a:t>
            </a:r>
            <a:endParaRPr lang="en-US" sz="1450" dirty="0"/>
          </a:p>
        </p:txBody>
      </p:sp>
      <p:sp>
        <p:nvSpPr>
          <p:cNvPr id="17" name="bld2_2284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 lean</a:t>
            </a:r>
            <a:endParaRPr lang="en-US" sz="1080" dirty="0"/>
          </a:p>
        </p:txBody>
      </p:sp>
      <p:sp>
        <p:nvSpPr>
          <p:cNvPr id="18" name="bld3_2285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2286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2287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: 30</a:t>
            </a:r>
            <a:endParaRPr lang="en-US" sz="1450" dirty="0"/>
          </a:p>
        </p:txBody>
      </p:sp>
      <p:sp>
        <p:nvSpPr>
          <p:cNvPr id="21" name="bld3_2288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dominant</a:t>
            </a:r>
            <a:endParaRPr lang="en-US" sz="1080" dirty="0"/>
          </a:p>
        </p:txBody>
      </p:sp>
      <p:sp>
        <p:nvSpPr>
          <p:cNvPr id="22" name="bld4_2289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290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4_2291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: 40</a:t>
            </a:r>
            <a:endParaRPr lang="en-US" sz="1450" dirty="0"/>
          </a:p>
        </p:txBody>
      </p:sp>
      <p:sp>
        <p:nvSpPr>
          <p:cNvPr id="25" name="bld4_2292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</a:t>
            </a:r>
            <a:endParaRPr lang="en-US" sz="1080" dirty="0"/>
          </a:p>
        </p:txBody>
      </p:sp>
      <p:sp>
        <p:nvSpPr>
          <p:cNvPr id="26" name="bld5_2293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5_2294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5_2295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: 50</a:t>
            </a:r>
            <a:endParaRPr lang="en-US" sz="1450" dirty="0"/>
          </a:p>
        </p:txBody>
      </p:sp>
      <p:sp>
        <p:nvSpPr>
          <p:cNvPr id="29" name="bld5_2296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midpoint</a:t>
            </a:r>
            <a:endParaRPr lang="en-US" sz="1080" dirty="0"/>
          </a:p>
        </p:txBody>
      </p:sp>
      <p:sp>
        <p:nvSpPr>
          <p:cNvPr id="31" name="trans_fade_14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accord development loop</a:t>
            </a:r>
            <a:endParaRPr lang="en-US" sz="3200" dirty="0"/>
          </a:p>
        </p:txBody>
      </p:sp>
      <p:sp>
        <p:nvSpPr>
          <p:cNvPr id="7" name="bld1_2297"/>
          <p:cNvSpPr/>
          <p:nvPr/>
        </p:nvSpPr>
        <p:spPr>
          <a:xfrm>
            <a:off x="548640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98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299"/>
          <p:cNvSpPr txBox="1"/>
          <p:nvPr/>
        </p:nvSpPr>
        <p:spPr>
          <a:xfrm>
            <a:off x="713232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1</a:t>
            </a:r>
            <a:endParaRPr lang="en-US" sz="1450" dirty="0"/>
          </a:p>
        </p:txBody>
      </p:sp>
      <p:sp>
        <p:nvSpPr>
          <p:cNvPr id="10" name="bld1_2300"/>
          <p:cNvSpPr txBox="1"/>
          <p:nvPr/>
        </p:nvSpPr>
        <p:spPr>
          <a:xfrm>
            <a:off x="713232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first pass at the accord.</a:t>
            </a:r>
            <a:endParaRPr lang="en-US" sz="1000" dirty="0"/>
          </a:p>
        </p:txBody>
      </p:sp>
      <p:sp>
        <p:nvSpPr>
          <p:cNvPr id="11" name="bld1_2301"/>
          <p:cNvSpPr txBox="1"/>
          <p:nvPr/>
        </p:nvSpPr>
        <p:spPr>
          <a:xfrm>
            <a:off x="251149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302"/>
          <p:cNvSpPr/>
          <p:nvPr/>
        </p:nvSpPr>
        <p:spPr>
          <a:xfrm>
            <a:off x="2831531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303"/>
          <p:cNvSpPr txBox="1"/>
          <p:nvPr/>
        </p:nvSpPr>
        <p:spPr>
          <a:xfrm>
            <a:off x="299612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304"/>
          <p:cNvSpPr txBox="1"/>
          <p:nvPr/>
        </p:nvSpPr>
        <p:spPr>
          <a:xfrm>
            <a:off x="2996123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</a:t>
            </a:r>
            <a:endParaRPr lang="en-US" sz="1450" dirty="0"/>
          </a:p>
        </p:txBody>
      </p:sp>
      <p:sp>
        <p:nvSpPr>
          <p:cNvPr id="15" name="bld2_2305"/>
          <p:cNvSpPr txBox="1"/>
          <p:nvPr/>
        </p:nvSpPr>
        <p:spPr>
          <a:xfrm>
            <a:off x="2996123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 fresh scent strip.</a:t>
            </a:r>
            <a:endParaRPr lang="en-US" sz="1000" dirty="0"/>
          </a:p>
        </p:txBody>
      </p:sp>
      <p:sp>
        <p:nvSpPr>
          <p:cNvPr id="16" name="bld2_2306"/>
          <p:cNvSpPr txBox="1"/>
          <p:nvPr/>
        </p:nvSpPr>
        <p:spPr>
          <a:xfrm>
            <a:off x="47943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307"/>
          <p:cNvSpPr/>
          <p:nvPr/>
        </p:nvSpPr>
        <p:spPr>
          <a:xfrm>
            <a:off x="5114422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308"/>
          <p:cNvSpPr txBox="1"/>
          <p:nvPr/>
        </p:nvSpPr>
        <p:spPr>
          <a:xfrm>
            <a:off x="52790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309"/>
          <p:cNvSpPr txBox="1"/>
          <p:nvPr/>
        </p:nvSpPr>
        <p:spPr>
          <a:xfrm>
            <a:off x="5279014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the problem</a:t>
            </a:r>
            <a:endParaRPr lang="en-US" sz="1450" dirty="0"/>
          </a:p>
        </p:txBody>
      </p:sp>
      <p:sp>
        <p:nvSpPr>
          <p:cNvPr id="20" name="bld3_2310"/>
          <p:cNvSpPr txBox="1"/>
          <p:nvPr/>
        </p:nvSpPr>
        <p:spPr>
          <a:xfrm>
            <a:off x="5279014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missing, dominant, or off?</a:t>
            </a:r>
            <a:endParaRPr lang="en-US" sz="1000" dirty="0"/>
          </a:p>
        </p:txBody>
      </p:sp>
      <p:sp>
        <p:nvSpPr>
          <p:cNvPr id="21" name="bld3_2311"/>
          <p:cNvSpPr txBox="1"/>
          <p:nvPr/>
        </p:nvSpPr>
        <p:spPr>
          <a:xfrm>
            <a:off x="70772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312"/>
          <p:cNvSpPr/>
          <p:nvPr/>
        </p:nvSpPr>
        <p:spPr>
          <a:xfrm>
            <a:off x="7397313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313"/>
          <p:cNvSpPr txBox="1"/>
          <p:nvPr/>
        </p:nvSpPr>
        <p:spPr>
          <a:xfrm>
            <a:off x="75619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314"/>
          <p:cNvSpPr txBox="1"/>
          <p:nvPr/>
        </p:nvSpPr>
        <p:spPr>
          <a:xfrm>
            <a:off x="7561905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</a:t>
            </a:r>
            <a:endParaRPr lang="en-US" sz="1450" dirty="0"/>
          </a:p>
        </p:txBody>
      </p:sp>
      <p:sp>
        <p:nvSpPr>
          <p:cNvPr id="25" name="bld4_2315"/>
          <p:cNvSpPr txBox="1"/>
          <p:nvPr/>
        </p:nvSpPr>
        <p:spPr>
          <a:xfrm>
            <a:off x="7561905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 single material or ratio.</a:t>
            </a:r>
            <a:endParaRPr lang="en-US" sz="1000" dirty="0"/>
          </a:p>
        </p:txBody>
      </p:sp>
      <p:sp>
        <p:nvSpPr>
          <p:cNvPr id="26" name="bld4_2316"/>
          <p:cNvSpPr txBox="1"/>
          <p:nvPr/>
        </p:nvSpPr>
        <p:spPr>
          <a:xfrm>
            <a:off x="936016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317"/>
          <p:cNvSpPr/>
          <p:nvPr/>
        </p:nvSpPr>
        <p:spPr>
          <a:xfrm>
            <a:off x="9680204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318"/>
          <p:cNvSpPr txBox="1"/>
          <p:nvPr/>
        </p:nvSpPr>
        <p:spPr>
          <a:xfrm>
            <a:off x="984479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319"/>
          <p:cNvSpPr txBox="1"/>
          <p:nvPr/>
        </p:nvSpPr>
        <p:spPr>
          <a:xfrm>
            <a:off x="9844796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again</a:t>
            </a:r>
            <a:endParaRPr lang="en-US" sz="1450" dirty="0"/>
          </a:p>
        </p:txBody>
      </p:sp>
      <p:sp>
        <p:nvSpPr>
          <p:cNvPr id="30" name="bld5_2320"/>
          <p:cNvSpPr txBox="1"/>
          <p:nvPr/>
        </p:nvSpPr>
        <p:spPr>
          <a:xfrm>
            <a:off x="9844796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accord reads true.</a:t>
            </a:r>
            <a:endParaRPr lang="en-US" sz="1000" dirty="0"/>
          </a:p>
        </p:txBody>
      </p:sp>
      <p:sp>
        <p:nvSpPr>
          <p:cNvPr id="32" name="trans_push_l_14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1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 at a time. Change three,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you'll never know which one mattered.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06</a:t>
            </a:r>
            <a:endParaRPr lang="en-US" sz="1100" dirty="0"/>
          </a:p>
        </p:txBody>
      </p:sp>
      <p:sp>
        <p:nvSpPr>
          <p:cNvPr id="10" name="trans_fade_14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1702" y="2053742"/>
            <a:ext cx="2750515" cy="2750515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66122" y="3128162"/>
            <a:ext cx="601675" cy="601675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07 · FORMULA CONSTRUCTION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Accords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 Full Formula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individual materials and accords come together into a complete, structured perfume.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formula's anatomy, from idea to base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contrast, volume and diffusion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full example formulas, built and explained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5" name="trans_fade_15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ARCHITECTURE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has the same basic anatomy</a:t>
            </a:r>
            <a:endParaRPr lang="en-US" sz="3200" dirty="0"/>
          </a:p>
        </p:txBody>
      </p:sp>
      <p:sp>
        <p:nvSpPr>
          <p:cNvPr id="7" name="bld1_232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32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32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idea</a:t>
            </a:r>
            <a:endParaRPr lang="en-US" sz="1450" dirty="0"/>
          </a:p>
        </p:txBody>
      </p:sp>
      <p:sp>
        <p:nvSpPr>
          <p:cNvPr id="10" name="bld1_2324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concept the whole formula serves.</a:t>
            </a:r>
            <a:endParaRPr lang="en-US" sz="1080" dirty="0"/>
          </a:p>
        </p:txBody>
      </p:sp>
      <p:sp>
        <p:nvSpPr>
          <p:cNvPr id="11" name="bld2_232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32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32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accord</a:t>
            </a:r>
            <a:endParaRPr lang="en-US" sz="1450" dirty="0"/>
          </a:p>
        </p:txBody>
      </p:sp>
      <p:sp>
        <p:nvSpPr>
          <p:cNvPr id="14" name="bld2_2328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that carries the main idea.</a:t>
            </a:r>
            <a:endParaRPr lang="en-US" sz="1080" dirty="0"/>
          </a:p>
        </p:txBody>
      </p:sp>
      <p:sp>
        <p:nvSpPr>
          <p:cNvPr id="15" name="bld3_232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33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33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450" dirty="0"/>
          </a:p>
        </p:txBody>
      </p:sp>
      <p:sp>
        <p:nvSpPr>
          <p:cNvPr id="18" name="bld3_2332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adjustments that shape character.</a:t>
            </a:r>
            <a:endParaRPr lang="en-US" sz="1080" dirty="0"/>
          </a:p>
        </p:txBody>
      </p:sp>
      <p:sp>
        <p:nvSpPr>
          <p:cNvPr id="19" name="bld4_233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33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33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materials</a:t>
            </a:r>
            <a:endParaRPr lang="en-US" sz="1450" dirty="0"/>
          </a:p>
        </p:txBody>
      </p:sp>
      <p:sp>
        <p:nvSpPr>
          <p:cNvPr id="22" name="bld4_2336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formula project and spread.</a:t>
            </a:r>
            <a:endParaRPr lang="en-US" sz="1080" dirty="0"/>
          </a:p>
        </p:txBody>
      </p:sp>
      <p:sp>
        <p:nvSpPr>
          <p:cNvPr id="23" name="bld5_2337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338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2339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structure</a:t>
            </a:r>
            <a:endParaRPr lang="en-US" sz="1450" dirty="0"/>
          </a:p>
        </p:txBody>
      </p:sp>
      <p:sp>
        <p:nvSpPr>
          <p:cNvPr id="26" name="bld5_2340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that anchors the drydown.</a:t>
            </a:r>
            <a:endParaRPr lang="en-US" sz="1080" dirty="0"/>
          </a:p>
        </p:txBody>
      </p:sp>
      <p:sp>
        <p:nvSpPr>
          <p:cNvPr id="27" name="bld6_2341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342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343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materials</a:t>
            </a:r>
            <a:endParaRPr lang="en-US" sz="1450" dirty="0"/>
          </a:p>
        </p:txBody>
      </p:sp>
      <p:sp>
        <p:nvSpPr>
          <p:cNvPr id="30" name="bld6_2344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doses with outsized influence.</a:t>
            </a:r>
            <a:endParaRPr lang="en-US" sz="1080" dirty="0"/>
          </a:p>
        </p:txBody>
      </p:sp>
      <p:sp>
        <p:nvSpPr>
          <p:cNvPr id="32" name="trans_fade_15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starts as a sentence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82748" y="2103183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7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54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1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35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62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89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47131" y="2867566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sentence, broken into buildable pieces.</a:t>
            </a:r>
            <a:endParaRPr lang="en-US" sz="1050" dirty="0"/>
          </a:p>
        </p:txBody>
      </p:sp>
      <p:sp>
        <p:nvSpPr>
          <p:cNvPr id="22" name="bld1_234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3" name="bld1_234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"Cold mineral citrus with smoky woods"</a:t>
            </a:r>
            <a:endParaRPr lang="en-US" sz="1650" dirty="0"/>
          </a:p>
        </p:txBody>
      </p:sp>
      <p:sp>
        <p:nvSpPr>
          <p:cNvPr id="24" name="bld1_234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starting idea — vivid, specific, and evocative rather than technical.</a:t>
            </a:r>
            <a:endParaRPr lang="en-US" sz="1250" dirty="0"/>
          </a:p>
        </p:txBody>
      </p:sp>
      <p:sp>
        <p:nvSpPr>
          <p:cNvPr id="25" name="bld2_234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6" name="bld2_234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into olfactory components</a:t>
            </a:r>
            <a:endParaRPr lang="en-US" sz="1650" dirty="0"/>
          </a:p>
        </p:txBody>
      </p:sp>
      <p:sp>
        <p:nvSpPr>
          <p:cNvPr id="27" name="bld2_235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/ mineral. Citrus. Smoky. Woods. Four distinct pieces to build separately.</a:t>
            </a:r>
            <a:endParaRPr lang="en-US" sz="1250" dirty="0"/>
          </a:p>
        </p:txBody>
      </p:sp>
      <p:sp>
        <p:nvSpPr>
          <p:cNvPr id="28" name="bld3_235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3_235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piece becomes its own accord</a:t>
            </a:r>
            <a:endParaRPr lang="en-US" sz="1650" dirty="0"/>
          </a:p>
        </p:txBody>
      </p:sp>
      <p:sp>
        <p:nvSpPr>
          <p:cNvPr id="30" name="bld3_235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construct a small accord for each component, then combine them.</a:t>
            </a:r>
            <a:endParaRPr lang="en-US" sz="1250" dirty="0"/>
          </a:p>
        </p:txBody>
      </p:sp>
      <p:sp>
        <p:nvSpPr>
          <p:cNvPr id="32" name="trans_fade_15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ASSEMBLING THE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combine into a fragrance</a:t>
            </a:r>
            <a:endParaRPr lang="en-US" sz="3200" dirty="0"/>
          </a:p>
        </p:txBody>
      </p:sp>
      <p:sp>
        <p:nvSpPr>
          <p:cNvPr id="7" name="bld1_2354"/>
          <p:cNvSpPr/>
          <p:nvPr/>
        </p:nvSpPr>
        <p:spPr>
          <a:xfrm>
            <a:off x="548640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355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356"/>
          <p:cNvSpPr txBox="1"/>
          <p:nvPr/>
        </p:nvSpPr>
        <p:spPr>
          <a:xfrm>
            <a:off x="713232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accord</a:t>
            </a:r>
            <a:endParaRPr lang="en-US" sz="1450" dirty="0"/>
          </a:p>
        </p:txBody>
      </p:sp>
      <p:sp>
        <p:nvSpPr>
          <p:cNvPr id="10" name="bld1_2357"/>
          <p:cNvSpPr txBox="1"/>
          <p:nvPr/>
        </p:nvSpPr>
        <p:spPr>
          <a:xfrm>
            <a:off x="713232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cold, bright opening.</a:t>
            </a:r>
            <a:endParaRPr lang="en-US" sz="1000" dirty="0"/>
          </a:p>
        </p:txBody>
      </p:sp>
      <p:sp>
        <p:nvSpPr>
          <p:cNvPr id="11" name="bld1_2358"/>
          <p:cNvSpPr txBox="1"/>
          <p:nvPr/>
        </p:nvSpPr>
        <p:spPr>
          <a:xfrm>
            <a:off x="308221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359"/>
          <p:cNvSpPr/>
          <p:nvPr/>
        </p:nvSpPr>
        <p:spPr>
          <a:xfrm>
            <a:off x="3402254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360"/>
          <p:cNvSpPr txBox="1"/>
          <p:nvPr/>
        </p:nvSpPr>
        <p:spPr>
          <a:xfrm>
            <a:off x="356684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361"/>
          <p:cNvSpPr txBox="1"/>
          <p:nvPr/>
        </p:nvSpPr>
        <p:spPr>
          <a:xfrm>
            <a:off x="3566846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 accord</a:t>
            </a:r>
            <a:endParaRPr lang="en-US" sz="1450" dirty="0"/>
          </a:p>
        </p:txBody>
      </p:sp>
      <p:sp>
        <p:nvSpPr>
          <p:cNvPr id="15" name="bld2_2362"/>
          <p:cNvSpPr txBox="1"/>
          <p:nvPr/>
        </p:nvSpPr>
        <p:spPr>
          <a:xfrm>
            <a:off x="3566846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cool, stony transparency.</a:t>
            </a:r>
            <a:endParaRPr lang="en-US" sz="1000" dirty="0"/>
          </a:p>
        </p:txBody>
      </p:sp>
      <p:sp>
        <p:nvSpPr>
          <p:cNvPr id="16" name="bld2_2363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364"/>
          <p:cNvSpPr/>
          <p:nvPr/>
        </p:nvSpPr>
        <p:spPr>
          <a:xfrm>
            <a:off x="6255868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365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366"/>
          <p:cNvSpPr txBox="1"/>
          <p:nvPr/>
        </p:nvSpPr>
        <p:spPr>
          <a:xfrm>
            <a:off x="6420460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base</a:t>
            </a:r>
            <a:endParaRPr lang="en-US" sz="1450" dirty="0"/>
          </a:p>
        </p:txBody>
      </p:sp>
      <p:sp>
        <p:nvSpPr>
          <p:cNvPr id="20" name="bld3_2367"/>
          <p:cNvSpPr txBox="1"/>
          <p:nvPr/>
        </p:nvSpPr>
        <p:spPr>
          <a:xfrm>
            <a:off x="6420460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dry, structural foundation.</a:t>
            </a:r>
            <a:endParaRPr lang="en-US" sz="1000" dirty="0"/>
          </a:p>
        </p:txBody>
      </p:sp>
      <p:sp>
        <p:nvSpPr>
          <p:cNvPr id="21" name="bld3_2368"/>
          <p:cNvSpPr txBox="1"/>
          <p:nvPr/>
        </p:nvSpPr>
        <p:spPr>
          <a:xfrm>
            <a:off x="878944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369"/>
          <p:cNvSpPr/>
          <p:nvPr/>
        </p:nvSpPr>
        <p:spPr>
          <a:xfrm>
            <a:off x="9109481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370"/>
          <p:cNvSpPr txBox="1"/>
          <p:nvPr/>
        </p:nvSpPr>
        <p:spPr>
          <a:xfrm>
            <a:off x="927407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371"/>
          <p:cNvSpPr txBox="1"/>
          <p:nvPr/>
        </p:nvSpPr>
        <p:spPr>
          <a:xfrm>
            <a:off x="9274073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structure</a:t>
            </a:r>
            <a:endParaRPr lang="en-US" sz="1450" dirty="0"/>
          </a:p>
        </p:txBody>
      </p:sp>
      <p:sp>
        <p:nvSpPr>
          <p:cNvPr id="25" name="bld4_2372"/>
          <p:cNvSpPr txBox="1"/>
          <p:nvPr/>
        </p:nvSpPr>
        <p:spPr>
          <a:xfrm>
            <a:off x="9274073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skin-like glue holding it together.</a:t>
            </a:r>
            <a:endParaRPr lang="en-US" sz="1000" dirty="0"/>
          </a:p>
        </p:txBody>
      </p:sp>
      <p:sp>
        <p:nvSpPr>
          <p:cNvPr id="27" name="trans_push_l_15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METHOD, BIGGER SCALE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Jean Carles at the formula level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2429" y="2758608"/>
            <a:ext cx="419070" cy="41907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149592" y="2758608"/>
            <a:ext cx="419070" cy="41907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6754" y="2758608"/>
            <a:ext cx="419070" cy="41907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9903917" y="2758608"/>
            <a:ext cx="419070" cy="41907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systematic ratio testing, scaled from materials to full accords.</a:t>
            </a:r>
            <a:endParaRPr lang="en-US" sz="1050" dirty="0"/>
          </a:p>
        </p:txBody>
      </p:sp>
      <p:sp>
        <p:nvSpPr>
          <p:cNvPr id="15" name="bld1_237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1_237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accord-to-accord ratios</a:t>
            </a:r>
            <a:endParaRPr lang="en-US" sz="1650" dirty="0"/>
          </a:p>
        </p:txBody>
      </p:sp>
      <p:sp>
        <p:nvSpPr>
          <p:cNvPr id="17" name="bld1_237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each accord exists individually, blend pairs of them systematically, just like material A:B testing.</a:t>
            </a:r>
            <a:endParaRPr lang="en-US" sz="1250" dirty="0"/>
          </a:p>
        </p:txBody>
      </p:sp>
      <p:sp>
        <p:nvSpPr>
          <p:cNvPr id="18" name="bld2_237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bld2_237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right balance point</a:t>
            </a:r>
            <a:endParaRPr lang="en-US" sz="1650" dirty="0"/>
          </a:p>
        </p:txBody>
      </p:sp>
      <p:sp>
        <p:nvSpPr>
          <p:cNvPr id="20" name="bld2_237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citrus and the woods disappear; too much wood and the opening feels dull.</a:t>
            </a:r>
            <a:endParaRPr lang="en-US" sz="1250" dirty="0"/>
          </a:p>
        </p:txBody>
      </p:sp>
      <p:sp>
        <p:nvSpPr>
          <p:cNvPr id="21" name="bld3_237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38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up, don't dump in</a:t>
            </a:r>
            <a:endParaRPr lang="en-US" sz="1650" dirty="0"/>
          </a:p>
        </p:txBody>
      </p:sp>
      <p:sp>
        <p:nvSpPr>
          <p:cNvPr id="23" name="bld3_238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accord at a time, evaluating after each addition — never combine everything at once.</a:t>
            </a:r>
            <a:endParaRPr lang="en-US" sz="1250" dirty="0"/>
          </a:p>
        </p:txBody>
      </p:sp>
      <p:sp>
        <p:nvSpPr>
          <p:cNvPr id="25" name="trans_fade_15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must total 100%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of every formula always sum to 100%.</a:t>
            </a:r>
            <a:endParaRPr lang="en-US" sz="1050" dirty="0"/>
          </a:p>
        </p:txBody>
      </p:sp>
      <p:sp>
        <p:nvSpPr>
          <p:cNvPr id="13" name="bld1_238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bld1_238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gets a percentage</a:t>
            </a:r>
            <a:endParaRPr lang="en-US" sz="1650" dirty="0"/>
          </a:p>
        </p:txBody>
      </p:sp>
      <p:sp>
        <p:nvSpPr>
          <p:cNvPr id="15" name="bld1_238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concentrate, before dilution — every material's share must be tracked.</a:t>
            </a:r>
            <a:endParaRPr lang="en-US" sz="1250" dirty="0"/>
          </a:p>
        </p:txBody>
      </p:sp>
      <p:sp>
        <p:nvSpPr>
          <p:cNvPr id="16" name="bld2_238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238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percentages always sum to 100</a:t>
            </a:r>
            <a:endParaRPr lang="en-US" sz="1650" dirty="0"/>
          </a:p>
        </p:txBody>
      </p:sp>
      <p:sp>
        <p:nvSpPr>
          <p:cNvPr id="18" name="bld2_238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optional — it's how you know your formula sheet is complete and correct.</a:t>
            </a:r>
            <a:endParaRPr lang="en-US" sz="1250" dirty="0"/>
          </a:p>
        </p:txBody>
      </p:sp>
      <p:sp>
        <p:nvSpPr>
          <p:cNvPr id="19" name="bld3_238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bld3_238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makes this effortless</a:t>
            </a:r>
            <a:endParaRPr lang="en-US" sz="1650" dirty="0"/>
          </a:p>
        </p:txBody>
      </p:sp>
      <p:sp>
        <p:nvSpPr>
          <p:cNvPr id="21" name="bld3_239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spreadsheet with a running total column catches errors instantly.</a:t>
            </a:r>
            <a:endParaRPr lang="en-US" sz="1250" dirty="0"/>
          </a:p>
        </p:txBody>
      </p:sp>
      <p:sp>
        <p:nvSpPr>
          <p:cNvPr id="23" name="trans_fade_15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Balancing a formula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83848" y="2590980"/>
            <a:ext cx="754325" cy="75432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7708" y="2381445"/>
            <a:ext cx="1173395" cy="1173395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loud material balanced against a larger, quiet one — not equal size, equal impact.</a:t>
            </a:r>
            <a:endParaRPr lang="en-US" sz="1050" dirty="0"/>
          </a:p>
        </p:txBody>
      </p:sp>
      <p:sp>
        <p:nvSpPr>
          <p:cNvPr id="13" name="bld1_239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239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Contrast, not sameness</a:t>
            </a:r>
            <a:endParaRPr lang="en-US" sz="1650" dirty="0"/>
          </a:p>
        </p:txBody>
      </p:sp>
      <p:sp>
        <p:nvSpPr>
          <p:cNvPr id="15" name="bld1_239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opposing textures — a bright citrus against heavy woods, a sharp green against a soft musk. Contrast is what keeps a formula interesting.</a:t>
            </a:r>
            <a:endParaRPr lang="en-US" sz="1250" dirty="0"/>
          </a:p>
        </p:txBody>
      </p:sp>
      <p:sp>
        <p:nvSpPr>
          <p:cNvPr id="16" name="bld2_239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239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volume to intention</a:t>
            </a:r>
            <a:endParaRPr lang="en-US" sz="1650" dirty="0"/>
          </a:p>
        </p:txBody>
      </p:sp>
      <p:sp>
        <p:nvSpPr>
          <p:cNvPr id="18" name="bld2_239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loud, diffusive material earns a small percentage; a quiet fixative can carry a much larger share without overwhelming anything.</a:t>
            </a:r>
            <a:endParaRPr lang="en-US" sz="1250" dirty="0"/>
          </a:p>
        </p:txBody>
      </p:sp>
      <p:sp>
        <p:nvSpPr>
          <p:cNvPr id="19" name="bld3_239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bld3_239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diffusive and fixative roles deliberately</a:t>
            </a:r>
            <a:endParaRPr lang="en-US" sz="1650" dirty="0"/>
          </a:p>
        </p:txBody>
      </p:sp>
      <p:sp>
        <p:nvSpPr>
          <p:cNvPr id="21" name="bld3_239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Diffusive materials (Hedione, citrus) carry the formula outward; fixatives (musks, resins, heavy woods) slow evaporation and anchor the base. Every formula needs both.</a:t>
            </a:r>
            <a:endParaRPr lang="en-US" sz="1250" dirty="0"/>
          </a:p>
        </p:txBody>
      </p:sp>
      <p:sp>
        <p:nvSpPr>
          <p:cNvPr id="22" name="bld4_240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4_240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around one central idea</a:t>
            </a:r>
            <a:endParaRPr lang="en-US" sz="1650" dirty="0"/>
          </a:p>
        </p:txBody>
      </p:sp>
      <p:sp>
        <p:nvSpPr>
          <p:cNvPr id="24" name="bld4_240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should serve the one-sentence idea from the previous slide — if it doesn't, it's a candidate for removal.</a:t>
            </a:r>
            <a:endParaRPr lang="en-US" sz="1250" dirty="0"/>
          </a:p>
        </p:txBody>
      </p:sp>
      <p:sp>
        <p:nvSpPr>
          <p:cNvPr id="26" name="trans_fade_15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FORMULA IS MADE OF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you've learned, in one equation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1143000" y="3574653"/>
            <a:ext cx="289501" cy="12866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32501" y="3574653"/>
            <a:ext cx="289501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432501" y="3735487"/>
            <a:ext cx="289501" cy="2573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9999" y="3992821"/>
            <a:ext cx="482501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49999" y="3703320"/>
            <a:ext cx="193001" cy="28950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9166" y="3542486"/>
            <a:ext cx="353834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1533" y="3651853"/>
            <a:ext cx="102934" cy="10293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95509" y="3537661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85010" y="3698495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95509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08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174" y="3505494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1_2404"/>
          <p:cNvSpPr txBox="1"/>
          <p:nvPr/>
        </p:nvSpPr>
        <p:spPr>
          <a:xfrm>
            <a:off x="3845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</a:t>
            </a:r>
            <a:endParaRPr lang="en-US" sz="1250" dirty="0"/>
          </a:p>
        </p:txBody>
      </p:sp>
      <p:sp>
        <p:nvSpPr>
          <p:cNvPr id="22" name="bld2_2405"/>
          <p:cNvSpPr txBox="1"/>
          <p:nvPr/>
        </p:nvSpPr>
        <p:spPr>
          <a:xfrm>
            <a:off x="1938528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3473211" y="3113791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4320000">
            <a:off x="3741868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8640000">
            <a:off x="3639250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2960000">
            <a:off x="3307172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7280000">
            <a:off x="3204554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79060" y="3562956"/>
            <a:ext cx="280728" cy="28072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bld2_2407"/>
          <p:cNvSpPr txBox="1"/>
          <p:nvPr/>
        </p:nvSpPr>
        <p:spPr>
          <a:xfrm>
            <a:off x="2480269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</a:t>
            </a:r>
            <a:endParaRPr lang="en-US" sz="1250" dirty="0"/>
          </a:p>
        </p:txBody>
      </p:sp>
      <p:sp>
        <p:nvSpPr>
          <p:cNvPr id="32" name="bld3_2408"/>
          <p:cNvSpPr txBox="1"/>
          <p:nvPr/>
        </p:nvSpPr>
        <p:spPr>
          <a:xfrm>
            <a:off x="4414952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4" name="Shape 32"/>
          <p:cNvSpPr/>
          <p:nvPr/>
        </p:nvSpPr>
        <p:spPr>
          <a:xfrm>
            <a:off x="6044381" y="3293925"/>
            <a:ext cx="102934" cy="2292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61908" y="3457683"/>
            <a:ext cx="467880" cy="655032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768" y="3719696"/>
            <a:ext cx="318159" cy="376644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8" name="bld3_2410"/>
          <p:cNvSpPr txBox="1"/>
          <p:nvPr/>
        </p:nvSpPr>
        <p:spPr>
          <a:xfrm>
            <a:off x="4956693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Bases</a:t>
            </a:r>
            <a:endParaRPr lang="en-US" sz="1250" dirty="0"/>
          </a:p>
        </p:txBody>
      </p:sp>
      <p:sp>
        <p:nvSpPr>
          <p:cNvPr id="39" name="bld4_2411"/>
          <p:cNvSpPr txBox="1"/>
          <p:nvPr/>
        </p:nvSpPr>
        <p:spPr>
          <a:xfrm>
            <a:off x="6891376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40" name="Shape 38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8279846" y="3410895"/>
            <a:ext cx="584850" cy="584850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3" name="bld4_2413"/>
          <p:cNvSpPr txBox="1"/>
          <p:nvPr/>
        </p:nvSpPr>
        <p:spPr>
          <a:xfrm>
            <a:off x="7433116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250" dirty="0"/>
          </a:p>
        </p:txBody>
      </p:sp>
      <p:sp>
        <p:nvSpPr>
          <p:cNvPr id="44" name="bld5_2414"/>
          <p:cNvSpPr txBox="1"/>
          <p:nvPr/>
        </p:nvSpPr>
        <p:spPr>
          <a:xfrm>
            <a:off x="9367799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p:sp>
        <p:nvSpPr>
          <p:cNvPr id="45" name="Shape 43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88432" y="3223743"/>
            <a:ext cx="120526" cy="95915"/>
          </a:xfrm>
          <a:prstGeom prst="roundRect">
            <a:avLst>
              <a:gd name="adj" fmla="val 38134"/>
            </a:avLst>
          </a:prstGeom>
          <a:solidFill>
            <a:srgbClr val="0E0D0B"/>
          </a:solidFill>
          <a:ln/>
        </p:spPr>
      </p:sp>
      <p:sp>
        <p:nvSpPr>
          <p:cNvPr id="47" name="Shape 45"/>
          <p:cNvSpPr/>
          <p:nvPr/>
        </p:nvSpPr>
        <p:spPr>
          <a:xfrm>
            <a:off x="10996293" y="3319658"/>
            <a:ext cx="104805" cy="153465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861543" y="3473123"/>
            <a:ext cx="374304" cy="709774"/>
          </a:xfrm>
          <a:prstGeom prst="roundRect">
            <a:avLst>
              <a:gd name="adj" fmla="val 29315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898119" y="3792521"/>
            <a:ext cx="301152" cy="353800"/>
          </a:xfrm>
          <a:prstGeom prst="roundRect">
            <a:avLst>
              <a:gd name="adj" fmla="val 30363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ln w="41148">
            <a:solidFill>
              <a:srgbClr val="C1752F"/>
            </a:solidFill>
            <a:prstDash val="solid"/>
          </a:ln>
        </p:spPr>
      </p:sp>
      <p:sp>
        <p:nvSpPr>
          <p:cNvPr id="51" name="bld5_2416"/>
          <p:cNvSpPr txBox="1"/>
          <p:nvPr/>
        </p:nvSpPr>
        <p:spPr>
          <a:xfrm>
            <a:off x="9909540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</a:t>
            </a:r>
            <a:endParaRPr lang="en-US" sz="1500" dirty="0"/>
          </a:p>
        </p:txBody>
      </p:sp>
      <p:sp>
        <p:nvSpPr>
          <p:cNvPr id="53" name="trans_push_l_15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31" grpId="0"/>
      <p:bldP spid="32" grpId="0"/>
      <p:bldP spid="38" grpId="0"/>
      <p:bldP spid="39" grpId="0"/>
      <p:bldP spid="43" grpId="0"/>
      <p:bldP spid="44" grpId="0"/>
      <p:bldP spid="51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is a starting point, not a finished formula.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Rose Givco doesn't mean the work is done.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 LESSON</a:t>
            </a:r>
            <a:endParaRPr lang="en-US" sz="1100" dirty="0"/>
          </a:p>
        </p:txBody>
      </p:sp>
      <p:sp>
        <p:nvSpPr>
          <p:cNvPr id="10" name="trans_fade_15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BASE GET BUILT 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rose base, four different directions</a:t>
            </a:r>
            <a:endParaRPr lang="en-US" sz="3200" dirty="0"/>
          </a:p>
        </p:txBody>
      </p:sp>
      <p:sp>
        <p:nvSpPr>
          <p:cNvPr id="7" name="bld1_2417"/>
          <p:cNvSpPr txBox="1"/>
          <p:nvPr/>
        </p:nvSpPr>
        <p:spPr>
          <a:xfrm>
            <a:off x="1901419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30885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>
            <a:off x="1060442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4320000">
            <a:off x="1296145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1206115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2960000">
            <a:off x="914770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7280000">
            <a:off x="824739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65573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530885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bld1_2419"/>
          <p:cNvSpPr txBox="1"/>
          <p:nvPr/>
        </p:nvSpPr>
        <p:spPr>
          <a:xfrm>
            <a:off x="416585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BASE</a:t>
            </a:r>
            <a:endParaRPr lang="en-US" sz="1400" dirty="0"/>
          </a:p>
        </p:txBody>
      </p:sp>
      <p:sp>
        <p:nvSpPr>
          <p:cNvPr id="17" name="bld2_2420"/>
          <p:cNvSpPr txBox="1"/>
          <p:nvPr/>
        </p:nvSpPr>
        <p:spPr>
          <a:xfrm>
            <a:off x="3537128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2166595" y="3136925"/>
            <a:ext cx="1315669" cy="1315669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9" name="Shape 17"/>
          <p:cNvSpPr/>
          <p:nvPr/>
        </p:nvSpPr>
        <p:spPr>
          <a:xfrm rot="15300000">
            <a:off x="2476996" y="3595098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3050000">
            <a:off x="2573210" y="3739093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0800000">
            <a:off x="2737200" y="3794760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550000">
            <a:off x="2901190" y="3739093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300000">
            <a:off x="2997405" y="3595098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6595" y="3136925"/>
            <a:ext cx="1315669" cy="1315669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5" name="bld2_2422"/>
          <p:cNvSpPr txBox="1"/>
          <p:nvPr/>
        </p:nvSpPr>
        <p:spPr>
          <a:xfrm>
            <a:off x="2052295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GREEN</a:t>
            </a:r>
            <a:endParaRPr lang="en-US" sz="1400" dirty="0"/>
          </a:p>
        </p:txBody>
      </p:sp>
      <p:sp>
        <p:nvSpPr>
          <p:cNvPr id="26" name="bld3_2423"/>
          <p:cNvSpPr txBox="1"/>
          <p:nvPr/>
        </p:nvSpPr>
        <p:spPr>
          <a:xfrm>
            <a:off x="5172837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3802304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4331861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4320000">
            <a:off x="4567563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640000">
            <a:off x="4477533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2960000">
            <a:off x="4186188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7280000">
            <a:off x="4096158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36992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4" name="Shape 32"/>
          <p:cNvSpPr/>
          <p:nvPr/>
        </p:nvSpPr>
        <p:spPr>
          <a:xfrm>
            <a:off x="3802304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5" name="bld3_2425"/>
          <p:cNvSpPr txBox="1"/>
          <p:nvPr/>
        </p:nvSpPr>
        <p:spPr>
          <a:xfrm>
            <a:off x="3688004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ROSE</a:t>
            </a:r>
            <a:endParaRPr lang="en-US" sz="1400" dirty="0"/>
          </a:p>
        </p:txBody>
      </p:sp>
      <p:sp>
        <p:nvSpPr>
          <p:cNvPr id="36" name="bld4_2426"/>
          <p:cNvSpPr txBox="1"/>
          <p:nvPr/>
        </p:nvSpPr>
        <p:spPr>
          <a:xfrm>
            <a:off x="6808546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438013" y="3136925"/>
            <a:ext cx="1315669" cy="1315669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8" name="Shape 36"/>
          <p:cNvSpPr/>
          <p:nvPr/>
        </p:nvSpPr>
        <p:spPr>
          <a:xfrm>
            <a:off x="5623785" y="3476631"/>
            <a:ext cx="944124" cy="636258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38013" y="3136925"/>
            <a:ext cx="1315669" cy="1315669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0" name="bld4_2428"/>
          <p:cNvSpPr txBox="1"/>
          <p:nvPr/>
        </p:nvSpPr>
        <p:spPr>
          <a:xfrm>
            <a:off x="5323713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MUSK + HEDIONE</a:t>
            </a:r>
            <a:endParaRPr lang="en-US" sz="1400" dirty="0"/>
          </a:p>
        </p:txBody>
      </p:sp>
      <p:sp>
        <p:nvSpPr>
          <p:cNvPr id="41" name="bld5_2429"/>
          <p:cNvSpPr txBox="1"/>
          <p:nvPr/>
        </p:nvSpPr>
        <p:spPr>
          <a:xfrm>
            <a:off x="8444255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7073722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3" name="Shape 41"/>
          <p:cNvSpPr/>
          <p:nvPr/>
        </p:nvSpPr>
        <p:spPr>
          <a:xfrm>
            <a:off x="7603279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4320000">
            <a:off x="7838982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640000">
            <a:off x="7748951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2960000">
            <a:off x="7457607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7280000">
            <a:off x="7367576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08410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9" name="Shape 47"/>
          <p:cNvSpPr/>
          <p:nvPr/>
        </p:nvSpPr>
        <p:spPr>
          <a:xfrm>
            <a:off x="7073722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0" name="bld5_2431"/>
          <p:cNvSpPr txBox="1"/>
          <p:nvPr/>
        </p:nvSpPr>
        <p:spPr>
          <a:xfrm>
            <a:off x="6959422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MODERN ROSE</a:t>
            </a:r>
            <a:endParaRPr lang="en-US" sz="1400" dirty="0"/>
          </a:p>
        </p:txBody>
      </p:sp>
      <p:sp>
        <p:nvSpPr>
          <p:cNvPr id="51" name="bld6_2432"/>
          <p:cNvSpPr txBox="1"/>
          <p:nvPr/>
        </p:nvSpPr>
        <p:spPr>
          <a:xfrm>
            <a:off x="10079965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8709431" y="3136925"/>
            <a:ext cx="1315669" cy="1315669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3" name="Shape 51"/>
          <p:cNvSpPr/>
          <p:nvPr/>
        </p:nvSpPr>
        <p:spPr>
          <a:xfrm rot="18900000">
            <a:off x="9049137" y="3332960"/>
            <a:ext cx="636258" cy="923600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361780" y="3486893"/>
            <a:ext cx="914" cy="5644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709431" y="3136925"/>
            <a:ext cx="1315669" cy="1315669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6" name="bld6_2434"/>
          <p:cNvSpPr txBox="1"/>
          <p:nvPr/>
        </p:nvSpPr>
        <p:spPr>
          <a:xfrm>
            <a:off x="8595131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PATCHOULI + WOODS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10345141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10874697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4320000">
            <a:off x="11110400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640000">
            <a:off x="11020370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2960000">
            <a:off x="10729025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10638995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10879829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4" name="Shape 62"/>
          <p:cNvSpPr/>
          <p:nvPr/>
        </p:nvSpPr>
        <p:spPr>
          <a:xfrm>
            <a:off x="10345141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5" name="bld7_2436"/>
          <p:cNvSpPr txBox="1"/>
          <p:nvPr/>
        </p:nvSpPr>
        <p:spPr>
          <a:xfrm>
            <a:off x="10230841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WOODY ROSE</a:t>
            </a:r>
            <a:endParaRPr lang="en-US" sz="1400" dirty="0"/>
          </a:p>
        </p:txBody>
      </p:sp>
      <p:sp>
        <p:nvSpPr>
          <p:cNvPr id="67" name="trans_push_l_15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8" name="Text 6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69" name="Text 6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25" grpId="0"/>
      <p:bldP spid="26" grpId="0"/>
      <p:bldP spid="35" grpId="0"/>
      <p:bldP spid="36" grpId="0"/>
      <p:bldP spid="40" grpId="0"/>
      <p:bldP spid="41" grpId="0"/>
      <p:bldP spid="50" grpId="0"/>
      <p:bldP spid="51" grpId="0"/>
      <p:bldP spid="56" grpId="0"/>
      <p:bldP spid="65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EFFICIENTLY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personal base library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710934"/>
            <a:ext cx="2514417" cy="2514417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12452" y="2632887"/>
            <a:ext cx="670511" cy="670511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shelf of reliable accords, ready whenever a new idea needs one.</a:t>
            </a:r>
            <a:endParaRPr lang="en-US" sz="1050" dirty="0"/>
          </a:p>
        </p:txBody>
      </p:sp>
      <p:sp>
        <p:nvSpPr>
          <p:cNvPr id="13" name="bld1_243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243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your own reusable accords</a:t>
            </a:r>
            <a:endParaRPr lang="en-US" sz="1650" dirty="0"/>
          </a:p>
        </p:txBody>
      </p:sp>
      <p:sp>
        <p:nvSpPr>
          <p:cNvPr id="15" name="bld1_243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amber, musk, sandalwood, citrus, leather, vanilla — build each once, then reach for it in any formula.</a:t>
            </a:r>
            <a:endParaRPr lang="en-US" sz="1250" dirty="0"/>
          </a:p>
        </p:txBody>
      </p:sp>
      <p:sp>
        <p:nvSpPr>
          <p:cNvPr id="16" name="bld2_244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2_244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with commercial bases</a:t>
            </a:r>
            <a:endParaRPr lang="en-US" sz="1650" dirty="0"/>
          </a:p>
        </p:txBody>
      </p:sp>
      <p:sp>
        <p:nvSpPr>
          <p:cNvPr id="18" name="bld2_244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accords sit alongside bases like Rose Givco in the same formula sheet — there's no rule against mixing them.</a:t>
            </a:r>
            <a:endParaRPr lang="en-US" sz="1250" dirty="0"/>
          </a:p>
        </p:txBody>
      </p:sp>
      <p:sp>
        <p:nvSpPr>
          <p:cNvPr id="19" name="bld3_244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44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get faster, not lazier</a:t>
            </a:r>
            <a:endParaRPr lang="en-US" sz="1650" dirty="0"/>
          </a:p>
        </p:txBody>
      </p:sp>
      <p:sp>
        <p:nvSpPr>
          <p:cNvPr id="21" name="bld3_244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library speeds up construction — it doesn't replace the judgement of balancing and modifying each formula.</a:t>
            </a:r>
            <a:endParaRPr lang="en-US" sz="1250" dirty="0"/>
          </a:p>
        </p:txBody>
      </p:sp>
      <p:sp>
        <p:nvSpPr>
          <p:cNvPr id="23" name="trans_fade_16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fresh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"Bright, clean citrus that lasts."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41127" y="2612441"/>
            <a:ext cx="33283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1" name="bld1_2446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2447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18%</a:t>
            </a:r>
            <a:endParaRPr lang="en-US" sz="1250" dirty="0"/>
          </a:p>
        </p:txBody>
      </p:sp>
      <p:sp>
        <p:nvSpPr>
          <p:cNvPr id="23" name="bld1_2448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00" dirty="0"/>
          </a:p>
        </p:txBody>
      </p:sp>
      <p:sp>
        <p:nvSpPr>
          <p:cNvPr id="24" name="bld2_2449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2450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  —  12%</a:t>
            </a:r>
            <a:endParaRPr lang="en-US" sz="1250" dirty="0"/>
          </a:p>
        </p:txBody>
      </p:sp>
      <p:sp>
        <p:nvSpPr>
          <p:cNvPr id="26" name="bld2_2451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freshness</a:t>
            </a:r>
            <a:endParaRPr lang="en-US" sz="1000" dirty="0"/>
          </a:p>
        </p:txBody>
      </p:sp>
      <p:sp>
        <p:nvSpPr>
          <p:cNvPr id="27" name="bld3_2452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8" name="bld3_2453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15%</a:t>
            </a:r>
            <a:endParaRPr lang="en-US" sz="1250" dirty="0"/>
          </a:p>
        </p:txBody>
      </p:sp>
      <p:sp>
        <p:nvSpPr>
          <p:cNvPr id="29" name="bld3_2454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 diffusion</a:t>
            </a:r>
            <a:endParaRPr lang="en-US" sz="1000" dirty="0"/>
          </a:p>
        </p:txBody>
      </p:sp>
      <p:sp>
        <p:nvSpPr>
          <p:cNvPr id="30" name="bld4_2455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4_2456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(10%)  —  3%</a:t>
            </a:r>
            <a:endParaRPr lang="en-US" sz="1250" dirty="0"/>
          </a:p>
        </p:txBody>
      </p:sp>
      <p:sp>
        <p:nvSpPr>
          <p:cNvPr id="32" name="bld4_2457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edge</a:t>
            </a:r>
            <a:endParaRPr lang="en-US" sz="1000" dirty="0"/>
          </a:p>
        </p:txBody>
      </p:sp>
      <p:sp>
        <p:nvSpPr>
          <p:cNvPr id="33" name="bld5_2458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4" name="bld5_2459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22%</a:t>
            </a:r>
            <a:endParaRPr lang="en-US" sz="1250" dirty="0"/>
          </a:p>
        </p:txBody>
      </p:sp>
      <p:sp>
        <p:nvSpPr>
          <p:cNvPr id="35" name="bld5_2460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36" name="bld6_2461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7" name="bld6_2462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20%</a:t>
            </a:r>
            <a:endParaRPr lang="en-US" sz="1250" dirty="0"/>
          </a:p>
        </p:txBody>
      </p:sp>
      <p:sp>
        <p:nvSpPr>
          <p:cNvPr id="38" name="bld6_2463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woody base</a:t>
            </a:r>
            <a:endParaRPr lang="en-US" sz="1000" dirty="0"/>
          </a:p>
        </p:txBody>
      </p:sp>
      <p:sp>
        <p:nvSpPr>
          <p:cNvPr id="39" name="bld7_2464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0" name="bld7_2465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10%</a:t>
            </a:r>
            <a:endParaRPr lang="en-US" sz="1250" dirty="0"/>
          </a:p>
        </p:txBody>
      </p:sp>
      <p:sp>
        <p:nvSpPr>
          <p:cNvPr id="41" name="bld7_2466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&amp; lasting power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4" name="trans_push_l_16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woody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"Warm, dry sandalwood with a soft amber glow."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22" name="bld1_2467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bld1_2468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 —  20%</a:t>
            </a:r>
            <a:endParaRPr lang="en-US" sz="1250" dirty="0"/>
          </a:p>
        </p:txBody>
      </p:sp>
      <p:sp>
        <p:nvSpPr>
          <p:cNvPr id="24" name="bld1_2469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structural wood</a:t>
            </a:r>
            <a:endParaRPr lang="en-US" sz="1000" dirty="0"/>
          </a:p>
        </p:txBody>
      </p:sp>
      <p:sp>
        <p:nvSpPr>
          <p:cNvPr id="25" name="bld2_2470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2_2471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  —  15%</a:t>
            </a:r>
            <a:endParaRPr lang="en-US" sz="1250" dirty="0"/>
          </a:p>
        </p:txBody>
      </p:sp>
      <p:sp>
        <p:nvSpPr>
          <p:cNvPr id="27" name="bld2_2472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woody heart</a:t>
            </a:r>
            <a:endParaRPr lang="en-US" sz="1000" dirty="0"/>
          </a:p>
        </p:txBody>
      </p:sp>
      <p:sp>
        <p:nvSpPr>
          <p:cNvPr id="28" name="bld3_2473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3_2474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25%</a:t>
            </a:r>
            <a:endParaRPr lang="en-US" sz="1250" dirty="0"/>
          </a:p>
        </p:txBody>
      </p:sp>
      <p:sp>
        <p:nvSpPr>
          <p:cNvPr id="30" name="bld3_2475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transparency</a:t>
            </a:r>
            <a:endParaRPr lang="en-US" sz="1000" dirty="0"/>
          </a:p>
        </p:txBody>
      </p:sp>
      <p:sp>
        <p:nvSpPr>
          <p:cNvPr id="31" name="bld4_2476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2" name="bld4_2477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15%</a:t>
            </a:r>
            <a:endParaRPr lang="en-US" sz="1250" dirty="0"/>
          </a:p>
        </p:txBody>
      </p:sp>
      <p:sp>
        <p:nvSpPr>
          <p:cNvPr id="33" name="bld4_2478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Radiant amber warmth</a:t>
            </a:r>
            <a:endParaRPr lang="en-US" sz="1000" dirty="0"/>
          </a:p>
        </p:txBody>
      </p:sp>
      <p:sp>
        <p:nvSpPr>
          <p:cNvPr id="34" name="bld5_2479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5_2480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  —  10%</a:t>
            </a:r>
            <a:endParaRPr lang="en-US" sz="1250" dirty="0"/>
          </a:p>
        </p:txBody>
      </p:sp>
      <p:sp>
        <p:nvSpPr>
          <p:cNvPr id="36" name="bld5_2481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 depth</a:t>
            </a:r>
            <a:endParaRPr lang="en-US" sz="1000" dirty="0"/>
          </a:p>
        </p:txBody>
      </p:sp>
      <p:sp>
        <p:nvSpPr>
          <p:cNvPr id="37" name="bld6_2482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8" name="bld6_2483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  —  8%</a:t>
            </a:r>
            <a:endParaRPr lang="en-US" sz="1250" dirty="0"/>
          </a:p>
        </p:txBody>
      </p:sp>
      <p:sp>
        <p:nvSpPr>
          <p:cNvPr id="39" name="bld6_2484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 root note</a:t>
            </a:r>
            <a:endParaRPr lang="en-US" sz="1000" dirty="0"/>
          </a:p>
        </p:txBody>
      </p:sp>
      <p:sp>
        <p:nvSpPr>
          <p:cNvPr id="40" name="bld7_2485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1" name="bld7_2486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blend  —  7%</a:t>
            </a:r>
            <a:endParaRPr lang="en-US" sz="1250" dirty="0"/>
          </a:p>
        </p:txBody>
      </p:sp>
      <p:sp>
        <p:nvSpPr>
          <p:cNvPr id="42" name="bld7_2487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fixation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5" name="trans_push_l_16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gourmand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 vanilla and caramel, softened with musk."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4" name="bld1_2488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1_2489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  —  6%</a:t>
            </a:r>
            <a:endParaRPr lang="en-US" sz="1250" dirty="0"/>
          </a:p>
        </p:txBody>
      </p:sp>
      <p:sp>
        <p:nvSpPr>
          <p:cNvPr id="26" name="bld1_2490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Sugary sweetness</a:t>
            </a:r>
            <a:endParaRPr lang="en-US" sz="1000" dirty="0"/>
          </a:p>
        </p:txBody>
      </p:sp>
      <p:sp>
        <p:nvSpPr>
          <p:cNvPr id="27" name="bld2_2491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2_2492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15%</a:t>
            </a:r>
            <a:endParaRPr lang="en-US" sz="1250" dirty="0"/>
          </a:p>
        </p:txBody>
      </p:sp>
      <p:sp>
        <p:nvSpPr>
          <p:cNvPr id="29" name="bld2_2493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vanilla warmth</a:t>
            </a:r>
            <a:endParaRPr lang="en-US" sz="1000" dirty="0"/>
          </a:p>
        </p:txBody>
      </p:sp>
      <p:sp>
        <p:nvSpPr>
          <p:cNvPr id="30" name="bld3_2494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1" name="bld3_2495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  —  12%</a:t>
            </a:r>
            <a:endParaRPr lang="en-US" sz="1250" dirty="0"/>
          </a:p>
        </p:txBody>
      </p:sp>
      <p:sp>
        <p:nvSpPr>
          <p:cNvPr id="32" name="bld3_2496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 depth</a:t>
            </a:r>
            <a:endParaRPr lang="en-US" sz="1000" dirty="0"/>
          </a:p>
        </p:txBody>
      </p:sp>
      <p:sp>
        <p:nvSpPr>
          <p:cNvPr id="33" name="bld4_2497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2498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10%</a:t>
            </a:r>
            <a:endParaRPr lang="en-US" sz="1250" dirty="0"/>
          </a:p>
        </p:txBody>
      </p:sp>
      <p:sp>
        <p:nvSpPr>
          <p:cNvPr id="35" name="bld4_2499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Softens the sweetness</a:t>
            </a:r>
            <a:endParaRPr lang="en-US" sz="1000" dirty="0"/>
          </a:p>
        </p:txBody>
      </p:sp>
      <p:sp>
        <p:nvSpPr>
          <p:cNvPr id="36" name="bld5_2500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5_2501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  —  12%</a:t>
            </a:r>
            <a:endParaRPr lang="en-US" sz="1250" dirty="0"/>
          </a:p>
        </p:txBody>
      </p:sp>
      <p:sp>
        <p:nvSpPr>
          <p:cNvPr id="38" name="bld5_2502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Spiced, musky wood</a:t>
            </a:r>
            <a:endParaRPr lang="en-US" sz="1000" dirty="0"/>
          </a:p>
        </p:txBody>
      </p:sp>
      <p:sp>
        <p:nvSpPr>
          <p:cNvPr id="39" name="bld6_2503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0" name="bld6_2504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20%</a:t>
            </a:r>
            <a:endParaRPr lang="en-US" sz="1250" dirty="0"/>
          </a:p>
        </p:txBody>
      </p:sp>
      <p:sp>
        <p:nvSpPr>
          <p:cNvPr id="41" name="bld6_2505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42" name="bld7_2506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3" name="bld7_2507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10%</a:t>
            </a:r>
            <a:endParaRPr lang="en-US" sz="1250" dirty="0"/>
          </a:p>
        </p:txBody>
      </p:sp>
      <p:sp>
        <p:nvSpPr>
          <p:cNvPr id="44" name="bld7_2508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the sweetness at opening</a:t>
            </a:r>
            <a:endParaRPr lang="en-US" sz="1000" dirty="0"/>
          </a:p>
        </p:txBody>
      </p:sp>
      <p:sp>
        <p:nvSpPr>
          <p:cNvPr id="45" name="bld8_2509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6" name="bld8_2510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  —  15%</a:t>
            </a:r>
            <a:endParaRPr lang="en-US" sz="1250" dirty="0"/>
          </a:p>
        </p:txBody>
      </p:sp>
      <p:sp>
        <p:nvSpPr>
          <p:cNvPr id="47" name="bld8_2511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earthy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rans_push_l_16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floral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luminous rose and jasmine heart, on a soft musk base."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4" name="bld1_2512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1_2513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(10%)  —  8%</a:t>
            </a:r>
            <a:endParaRPr lang="en-US" sz="1250" dirty="0"/>
          </a:p>
        </p:txBody>
      </p:sp>
      <p:sp>
        <p:nvSpPr>
          <p:cNvPr id="26" name="bld1_2514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rose truth</a:t>
            </a:r>
            <a:endParaRPr lang="en-US" sz="1000" dirty="0"/>
          </a:p>
        </p:txBody>
      </p:sp>
      <p:sp>
        <p:nvSpPr>
          <p:cNvPr id="27" name="bld2_2515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8" name="bld2_2516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 (10%)  —  6%</a:t>
            </a:r>
            <a:endParaRPr lang="en-US" sz="1250" dirty="0"/>
          </a:p>
        </p:txBody>
      </p:sp>
      <p:sp>
        <p:nvSpPr>
          <p:cNvPr id="29" name="bld2_2517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Heady floral depth</a:t>
            </a:r>
            <a:endParaRPr lang="en-US" sz="1000" dirty="0"/>
          </a:p>
        </p:txBody>
      </p:sp>
      <p:sp>
        <p:nvSpPr>
          <p:cNvPr id="30" name="bld3_2518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519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20%</a:t>
            </a:r>
            <a:endParaRPr lang="en-US" sz="1250" dirty="0"/>
          </a:p>
        </p:txBody>
      </p:sp>
      <p:sp>
        <p:nvSpPr>
          <p:cNvPr id="32" name="bld3_2520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&amp; radiance</a:t>
            </a:r>
            <a:endParaRPr lang="en-US" sz="1000" dirty="0"/>
          </a:p>
        </p:txBody>
      </p:sp>
      <p:sp>
        <p:nvSpPr>
          <p:cNvPr id="33" name="bld4_2521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2522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  —  10%</a:t>
            </a:r>
            <a:endParaRPr lang="en-US" sz="1250" dirty="0"/>
          </a:p>
        </p:txBody>
      </p:sp>
      <p:sp>
        <p:nvSpPr>
          <p:cNvPr id="35" name="bld4_2523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floral-woody lift</a:t>
            </a:r>
            <a:endParaRPr lang="en-US" sz="1000" dirty="0"/>
          </a:p>
        </p:txBody>
      </p:sp>
      <p:sp>
        <p:nvSpPr>
          <p:cNvPr id="36" name="bld5_2524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7" name="bld5_2525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12%</a:t>
            </a:r>
            <a:endParaRPr lang="en-US" sz="1250" dirty="0"/>
          </a:p>
        </p:txBody>
      </p:sp>
      <p:sp>
        <p:nvSpPr>
          <p:cNvPr id="38" name="bld5_2526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opening</a:t>
            </a:r>
            <a:endParaRPr lang="en-US" sz="1000" dirty="0"/>
          </a:p>
        </p:txBody>
      </p:sp>
      <p:sp>
        <p:nvSpPr>
          <p:cNvPr id="39" name="bld6_2527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40" name="bld6_2528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18%</a:t>
            </a:r>
            <a:endParaRPr lang="en-US" sz="1250" dirty="0"/>
          </a:p>
        </p:txBody>
      </p:sp>
      <p:sp>
        <p:nvSpPr>
          <p:cNvPr id="41" name="bld6_2529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support</a:t>
            </a:r>
            <a:endParaRPr lang="en-US" sz="1000" dirty="0"/>
          </a:p>
        </p:txBody>
      </p:sp>
      <p:sp>
        <p:nvSpPr>
          <p:cNvPr id="42" name="bld7_2530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3" name="bld7_2531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18%</a:t>
            </a:r>
            <a:endParaRPr lang="en-US" sz="1250" dirty="0"/>
          </a:p>
        </p:txBody>
      </p:sp>
      <p:sp>
        <p:nvSpPr>
          <p:cNvPr id="44" name="bld7_2532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fixation</a:t>
            </a:r>
            <a:endParaRPr lang="en-US" sz="1000" dirty="0"/>
          </a:p>
        </p:txBody>
      </p:sp>
      <p:sp>
        <p:nvSpPr>
          <p:cNvPr id="45" name="bld8_2533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6" name="bld8_2534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8%</a:t>
            </a:r>
            <a:endParaRPr lang="en-US" sz="1250" dirty="0"/>
          </a:p>
        </p:txBody>
      </p:sp>
      <p:sp>
        <p:nvSpPr>
          <p:cNvPr id="47" name="bld8_2535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warmth in the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rans_push_l_16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earns its place. If you can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it and nothing changes, remove it.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07</a:t>
            </a:r>
            <a:endParaRPr lang="en-US" sz="1100" dirty="0"/>
          </a:p>
        </p:txBody>
      </p:sp>
      <p:sp>
        <p:nvSpPr>
          <p:cNvPr id="10" name="trans_fade_16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08 · EVALUATING &amp; DEVELOPING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Version 1: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Develop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formula was the easy part. Now the real work of perfumery begins.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formula across a real 48-hour timeline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questions that replace "do I like it?"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troubleshooting guide — symptom to fix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1" name="trans_fade_16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RULE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evaluate on scent strips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31454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79128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26801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1, version 2, version 3 — evaluated side by side, not in isolation.</a:t>
            </a:r>
            <a:endParaRPr lang="en-US" sz="1050" dirty="0"/>
          </a:p>
        </p:txBody>
      </p:sp>
      <p:sp>
        <p:nvSpPr>
          <p:cNvPr id="17" name="bld1_253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1_253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 smell ≠ finished evaluation</a:t>
            </a:r>
            <a:endParaRPr lang="en-US" sz="1650" dirty="0"/>
          </a:p>
        </p:txBody>
      </p:sp>
      <p:sp>
        <p:nvSpPr>
          <p:cNvPr id="19" name="bld1_253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smell in the first five minutes is only the opening — never the whole story.</a:t>
            </a:r>
            <a:endParaRPr lang="en-US" sz="1250" dirty="0"/>
          </a:p>
        </p:txBody>
      </p:sp>
      <p:sp>
        <p:nvSpPr>
          <p:cNvPr id="20" name="bld2_253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2_254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strip, dated and labelled</a:t>
            </a:r>
            <a:endParaRPr lang="en-US" sz="1650" dirty="0"/>
          </a:p>
        </p:txBody>
      </p:sp>
      <p:sp>
        <p:nvSpPr>
          <p:cNvPr id="22" name="bld2_254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a formula gets its own dedicated, clearly marked strip.</a:t>
            </a:r>
            <a:endParaRPr lang="en-US" sz="1250" dirty="0"/>
          </a:p>
        </p:txBody>
      </p:sp>
      <p:sp>
        <p:nvSpPr>
          <p:cNvPr id="23" name="bld3_254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3_254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strips side by side</a:t>
            </a:r>
            <a:endParaRPr lang="en-US" sz="1650" dirty="0"/>
          </a:p>
        </p:txBody>
      </p:sp>
      <p:sp>
        <p:nvSpPr>
          <p:cNvPr id="25" name="bld3_254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previous versions to compare directly against the new one at each checkpoint.</a:t>
            </a:r>
            <a:endParaRPr lang="en-US" sz="1250" dirty="0"/>
          </a:p>
        </p:txBody>
      </p:sp>
      <p:sp>
        <p:nvSpPr>
          <p:cNvPr id="27" name="trans_fade_16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TIMELINE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a formula across 48 hours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2545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2546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bld1_2547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2548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impression</a:t>
            </a:r>
            <a:endParaRPr lang="en-US" sz="1050" dirty="0"/>
          </a:p>
        </p:txBody>
      </p:sp>
      <p:sp>
        <p:nvSpPr>
          <p:cNvPr id="12" name="bld2_2549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2550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4" name="bld2_2551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15" name="bld2_2552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notes settling</a:t>
            </a:r>
            <a:endParaRPr lang="en-US" sz="1050" dirty="0"/>
          </a:p>
        </p:txBody>
      </p:sp>
      <p:sp>
        <p:nvSpPr>
          <p:cNvPr id="16" name="bld3_2553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2554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3_2555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19" name="bld3_2556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taking shape</a:t>
            </a:r>
            <a:endParaRPr lang="en-US" sz="1050" dirty="0"/>
          </a:p>
        </p:txBody>
      </p:sp>
      <p:sp>
        <p:nvSpPr>
          <p:cNvPr id="20" name="bld4_2557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558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2" name="bld4_2559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hours</a:t>
            </a:r>
            <a:endParaRPr lang="en-US" sz="1200" dirty="0"/>
          </a:p>
        </p:txBody>
      </p:sp>
      <p:sp>
        <p:nvSpPr>
          <p:cNvPr id="23" name="bld4_2560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becoming clear</a:t>
            </a:r>
            <a:endParaRPr lang="en-US" sz="1050" dirty="0"/>
          </a:p>
        </p:txBody>
      </p:sp>
      <p:sp>
        <p:nvSpPr>
          <p:cNvPr id="24" name="bld5_2561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562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2563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2564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2565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2566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2567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2568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verdict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judged only at 0 minutes has not really been evaluated at all.</a:t>
            </a:r>
            <a:endParaRPr lang="en-US" sz="1250" dirty="0"/>
          </a:p>
        </p:txBody>
      </p:sp>
      <p:sp>
        <p:nvSpPr>
          <p:cNvPr id="34" name="trans_push_l_16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this, not "do I like it?"</a:t>
            </a:r>
            <a:endParaRPr lang="en-US" sz="3200" dirty="0"/>
          </a:p>
        </p:txBody>
      </p:sp>
      <p:sp>
        <p:nvSpPr>
          <p:cNvPr id="7" name="bld1_2569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570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571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opening strong enough?</a:t>
            </a:r>
            <a:endParaRPr lang="en-US" sz="1450" dirty="0"/>
          </a:p>
        </p:txBody>
      </p:sp>
      <p:sp>
        <p:nvSpPr>
          <p:cNvPr id="10" name="bld1_2572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announce itself, or vanish immediately?</a:t>
            </a:r>
            <a:endParaRPr lang="en-US" sz="1080" dirty="0"/>
          </a:p>
        </p:txBody>
      </p:sp>
      <p:sp>
        <p:nvSpPr>
          <p:cNvPr id="11" name="bld2_2573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574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2575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heart interesting?</a:t>
            </a:r>
            <a:endParaRPr lang="en-US" sz="1450" dirty="0"/>
          </a:p>
        </p:txBody>
      </p:sp>
      <p:sp>
        <p:nvSpPr>
          <p:cNvPr id="14" name="bld2_2576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hold attention once the top notes fade?</a:t>
            </a:r>
            <a:endParaRPr lang="en-US" sz="1080" dirty="0"/>
          </a:p>
        </p:txBody>
      </p:sp>
      <p:sp>
        <p:nvSpPr>
          <p:cNvPr id="15" name="bld3_2577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578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2579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too sweet?</a:t>
            </a:r>
            <a:endParaRPr lang="en-US" sz="1450" dirty="0"/>
          </a:p>
        </p:txBody>
      </p:sp>
      <p:sp>
        <p:nvSpPr>
          <p:cNvPr id="18" name="bld3_2580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too dry, too green, too heavy — check for imbalance.</a:t>
            </a:r>
            <a:endParaRPr lang="en-US" sz="1080" dirty="0"/>
          </a:p>
        </p:txBody>
      </p:sp>
      <p:sp>
        <p:nvSpPr>
          <p:cNvPr id="19" name="bld4_2581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582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583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one material dominating?</a:t>
            </a:r>
            <a:endParaRPr lang="en-US" sz="1450" dirty="0"/>
          </a:p>
        </p:txBody>
      </p:sp>
      <p:sp>
        <p:nvSpPr>
          <p:cNvPr id="22" name="bld4_2584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name a single note that's drowning everything else?</a:t>
            </a:r>
            <a:endParaRPr lang="en-US" sz="1080" dirty="0"/>
          </a:p>
        </p:txBody>
      </p:sp>
      <p:sp>
        <p:nvSpPr>
          <p:cNvPr id="23" name="bld5_2585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586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5_2587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collapse?</a:t>
            </a:r>
            <a:endParaRPr lang="en-US" sz="1450" dirty="0"/>
          </a:p>
        </p:txBody>
      </p:sp>
      <p:sp>
        <p:nvSpPr>
          <p:cNvPr id="26" name="bld5_2588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structure fall apart at any point in the timeline?</a:t>
            </a:r>
            <a:endParaRPr lang="en-US" sz="1080" dirty="0"/>
          </a:p>
        </p:txBody>
      </p:sp>
      <p:sp>
        <p:nvSpPr>
          <p:cNvPr id="27" name="bld6_2589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590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591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drydown match the idea?</a:t>
            </a:r>
            <a:endParaRPr lang="en-US" sz="1450" dirty="0"/>
          </a:p>
        </p:txBody>
      </p:sp>
      <p:sp>
        <p:nvSpPr>
          <p:cNvPr id="30" name="bld6_2592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ending still serve your original concept?</a:t>
            </a:r>
            <a:endParaRPr lang="en-US" sz="1080" dirty="0"/>
          </a:p>
        </p:txBody>
      </p:sp>
      <p:sp>
        <p:nvSpPr>
          <p:cNvPr id="32" name="trans_fade_16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→ FIX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a rough formula</a:t>
            </a:r>
            <a:endParaRPr lang="en-US" sz="3200" dirty="0"/>
          </a:p>
        </p:txBody>
      </p:sp>
      <p:sp>
        <p:nvSpPr>
          <p:cNvPr id="7" name="bld1_259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59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59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Feels flat or boring</a:t>
            </a:r>
            <a:endParaRPr lang="en-US" sz="1450" dirty="0"/>
          </a:p>
        </p:txBody>
      </p:sp>
      <p:sp>
        <p:nvSpPr>
          <p:cNvPr id="10" name="bld1_2596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diffusive material — Hedione or a fresh citrus top — to open the formula up and give it lift.</a:t>
            </a:r>
            <a:endParaRPr lang="en-US" sz="1080" dirty="0"/>
          </a:p>
        </p:txBody>
      </p:sp>
      <p:sp>
        <p:nvSpPr>
          <p:cNvPr id="11" name="bld2_259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59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59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sweet or cloying</a:t>
            </a:r>
            <a:endParaRPr lang="en-US" sz="1450" dirty="0"/>
          </a:p>
        </p:txBody>
      </p:sp>
      <p:sp>
        <p:nvSpPr>
          <p:cNvPr id="14" name="bld2_2600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gourmand materials, or add a dry, bitter contrast like vetiver or bergamot to cut through it.</a:t>
            </a:r>
            <a:endParaRPr lang="en-US" sz="1080" dirty="0"/>
          </a:p>
        </p:txBody>
      </p:sp>
      <p:sp>
        <p:nvSpPr>
          <p:cNvPr id="15" name="bld3_260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60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60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Doesn't last</a:t>
            </a:r>
            <a:endParaRPr lang="en-US" sz="1450" dirty="0"/>
          </a:p>
        </p:txBody>
      </p:sp>
      <p:sp>
        <p:nvSpPr>
          <p:cNvPr id="18" name="bld3_2604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fixative or base material — a musk, a resin, a heavier wood — to anchor the drydown.</a:t>
            </a:r>
            <a:endParaRPr lang="en-US" sz="1080" dirty="0"/>
          </a:p>
        </p:txBody>
      </p:sp>
      <p:sp>
        <p:nvSpPr>
          <p:cNvPr id="19" name="bld4_260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60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60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material dominates</a:t>
            </a:r>
            <a:endParaRPr lang="en-US" sz="1450" dirty="0"/>
          </a:p>
        </p:txBody>
      </p:sp>
      <p:sp>
        <p:nvSpPr>
          <p:cNvPr id="22" name="bld4_2608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that material's percentage in small increments, re-evaluating on a fresh strip after each change.</a:t>
            </a:r>
            <a:endParaRPr lang="en-US" sz="1080" dirty="0"/>
          </a:p>
        </p:txBody>
      </p:sp>
      <p:sp>
        <p:nvSpPr>
          <p:cNvPr id="23" name="bld5_260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61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61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Feels harsh or rough</a:t>
            </a:r>
            <a:endParaRPr lang="en-US" sz="1450" dirty="0"/>
          </a:p>
        </p:txBody>
      </p:sp>
      <p:sp>
        <p:nvSpPr>
          <p:cNvPr id="26" name="bld5_2612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the edges with a diffusive floral or a soft musk — they round out sharp, isolated materials.</a:t>
            </a:r>
            <a:endParaRPr lang="en-US" sz="1080" dirty="0"/>
          </a:p>
        </p:txBody>
      </p:sp>
      <p:sp>
        <p:nvSpPr>
          <p:cNvPr id="27" name="bld6_261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61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61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Opening is weak</a:t>
            </a:r>
            <a:endParaRPr lang="en-US" sz="1450" dirty="0"/>
          </a:p>
        </p:txBody>
      </p:sp>
      <p:sp>
        <p:nvSpPr>
          <p:cNvPr id="30" name="bld6_2616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the top-note percentage, or add a lift material like an aldehyde or citrus booster.</a:t>
            </a:r>
            <a:endParaRPr lang="en-US" sz="1080" dirty="0"/>
          </a:p>
        </p:txBody>
      </p:sp>
      <p:sp>
        <p:nvSpPr>
          <p:cNvPr id="32" name="trans_fade_17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development cycle</a:t>
            </a:r>
            <a:endParaRPr lang="en-US" sz="3200" dirty="0"/>
          </a:p>
        </p:txBody>
      </p:sp>
      <p:sp>
        <p:nvSpPr>
          <p:cNvPr id="7" name="bld1_2617"/>
          <p:cNvSpPr/>
          <p:nvPr/>
        </p:nvSpPr>
        <p:spPr>
          <a:xfrm>
            <a:off x="548640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618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619"/>
          <p:cNvSpPr txBox="1"/>
          <p:nvPr/>
        </p:nvSpPr>
        <p:spPr>
          <a:xfrm>
            <a:off x="713232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10" name="bld1_2620"/>
          <p:cNvSpPr txBox="1"/>
          <p:nvPr/>
        </p:nvSpPr>
        <p:spPr>
          <a:xfrm>
            <a:off x="713232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version.</a:t>
            </a:r>
            <a:endParaRPr lang="en-US" sz="1000" dirty="0"/>
          </a:p>
        </p:txBody>
      </p:sp>
      <p:sp>
        <p:nvSpPr>
          <p:cNvPr id="11" name="bld1_2621"/>
          <p:cNvSpPr txBox="1"/>
          <p:nvPr/>
        </p:nvSpPr>
        <p:spPr>
          <a:xfrm>
            <a:off x="21310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622"/>
          <p:cNvSpPr/>
          <p:nvPr/>
        </p:nvSpPr>
        <p:spPr>
          <a:xfrm>
            <a:off x="2451049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623"/>
          <p:cNvSpPr txBox="1"/>
          <p:nvPr/>
        </p:nvSpPr>
        <p:spPr>
          <a:xfrm>
            <a:off x="26156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624"/>
          <p:cNvSpPr txBox="1"/>
          <p:nvPr/>
        </p:nvSpPr>
        <p:spPr>
          <a:xfrm>
            <a:off x="2615641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5" name="bld2_2625"/>
          <p:cNvSpPr txBox="1"/>
          <p:nvPr/>
        </p:nvSpPr>
        <p:spPr>
          <a:xfrm>
            <a:off x="2615641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dilute it.</a:t>
            </a:r>
            <a:endParaRPr lang="en-US" sz="1000" dirty="0"/>
          </a:p>
        </p:txBody>
      </p:sp>
      <p:sp>
        <p:nvSpPr>
          <p:cNvPr id="16" name="bld2_2626"/>
          <p:cNvSpPr txBox="1"/>
          <p:nvPr/>
        </p:nvSpPr>
        <p:spPr>
          <a:xfrm>
            <a:off x="403341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627"/>
          <p:cNvSpPr/>
          <p:nvPr/>
        </p:nvSpPr>
        <p:spPr>
          <a:xfrm>
            <a:off x="435345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628"/>
          <p:cNvSpPr txBox="1"/>
          <p:nvPr/>
        </p:nvSpPr>
        <p:spPr>
          <a:xfrm>
            <a:off x="451805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629"/>
          <p:cNvSpPr txBox="1"/>
          <p:nvPr/>
        </p:nvSpPr>
        <p:spPr>
          <a:xfrm>
            <a:off x="451805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450" dirty="0"/>
          </a:p>
        </p:txBody>
      </p:sp>
      <p:sp>
        <p:nvSpPr>
          <p:cNvPr id="20" name="bld3_2630"/>
          <p:cNvSpPr txBox="1"/>
          <p:nvPr/>
        </p:nvSpPr>
        <p:spPr>
          <a:xfrm>
            <a:off x="451805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it across 48 hours.</a:t>
            </a:r>
            <a:endParaRPr lang="en-US" sz="1000" dirty="0"/>
          </a:p>
        </p:txBody>
      </p:sp>
      <p:sp>
        <p:nvSpPr>
          <p:cNvPr id="21" name="bld3_2631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632"/>
          <p:cNvSpPr/>
          <p:nvPr/>
        </p:nvSpPr>
        <p:spPr>
          <a:xfrm>
            <a:off x="625586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633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634"/>
          <p:cNvSpPr txBox="1"/>
          <p:nvPr/>
        </p:nvSpPr>
        <p:spPr>
          <a:xfrm>
            <a:off x="642046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issue</a:t>
            </a:r>
            <a:endParaRPr lang="en-US" sz="1450" dirty="0"/>
          </a:p>
        </p:txBody>
      </p:sp>
      <p:sp>
        <p:nvSpPr>
          <p:cNvPr id="25" name="bld4_2635"/>
          <p:cNvSpPr txBox="1"/>
          <p:nvPr/>
        </p:nvSpPr>
        <p:spPr>
          <a:xfrm>
            <a:off x="642046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specific problem.</a:t>
            </a:r>
            <a:endParaRPr lang="en-US" sz="1000" dirty="0"/>
          </a:p>
        </p:txBody>
      </p:sp>
      <p:sp>
        <p:nvSpPr>
          <p:cNvPr id="26" name="bld4_2636"/>
          <p:cNvSpPr txBox="1"/>
          <p:nvPr/>
        </p:nvSpPr>
        <p:spPr>
          <a:xfrm>
            <a:off x="7838237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637"/>
          <p:cNvSpPr/>
          <p:nvPr/>
        </p:nvSpPr>
        <p:spPr>
          <a:xfrm>
            <a:off x="8158277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638"/>
          <p:cNvSpPr txBox="1"/>
          <p:nvPr/>
        </p:nvSpPr>
        <p:spPr>
          <a:xfrm>
            <a:off x="8322869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639"/>
          <p:cNvSpPr txBox="1"/>
          <p:nvPr/>
        </p:nvSpPr>
        <p:spPr>
          <a:xfrm>
            <a:off x="8322869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</a:t>
            </a:r>
            <a:endParaRPr lang="en-US" sz="1450" dirty="0"/>
          </a:p>
        </p:txBody>
      </p:sp>
      <p:sp>
        <p:nvSpPr>
          <p:cNvPr id="30" name="bld5_2640"/>
          <p:cNvSpPr txBox="1"/>
          <p:nvPr/>
        </p:nvSpPr>
        <p:spPr>
          <a:xfrm>
            <a:off x="8322869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thing.</a:t>
            </a:r>
            <a:endParaRPr lang="en-US" sz="1000" dirty="0"/>
          </a:p>
        </p:txBody>
      </p:sp>
      <p:sp>
        <p:nvSpPr>
          <p:cNvPr id="31" name="bld5_2641"/>
          <p:cNvSpPr txBox="1"/>
          <p:nvPr/>
        </p:nvSpPr>
        <p:spPr>
          <a:xfrm>
            <a:off x="97406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2642"/>
          <p:cNvSpPr/>
          <p:nvPr/>
        </p:nvSpPr>
        <p:spPr>
          <a:xfrm>
            <a:off x="10060686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2643"/>
          <p:cNvSpPr txBox="1"/>
          <p:nvPr/>
        </p:nvSpPr>
        <p:spPr>
          <a:xfrm>
            <a:off x="102252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2644"/>
          <p:cNvSpPr txBox="1"/>
          <p:nvPr/>
        </p:nvSpPr>
        <p:spPr>
          <a:xfrm>
            <a:off x="10225278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450" dirty="0"/>
          </a:p>
        </p:txBody>
      </p:sp>
      <p:sp>
        <p:nvSpPr>
          <p:cNvPr id="35" name="bld6_2645"/>
          <p:cNvSpPr txBox="1"/>
          <p:nvPr/>
        </p:nvSpPr>
        <p:spPr>
          <a:xfrm>
            <a:off x="10225278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the next version.</a:t>
            </a:r>
            <a:endParaRPr lang="en-US" sz="1000" dirty="0"/>
          </a:p>
        </p:txBody>
      </p:sp>
      <p:sp>
        <p:nvSpPr>
          <p:cNvPr id="37" name="trans_push_l_17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DISCIPLINE, NOT GUESSWORK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Changing formulas the right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something feels off, just add a bit of everything and see if it improves."</a:t>
            </a:r>
            <a:endParaRPr lang="en-US" sz="2100" dirty="0"/>
          </a:p>
        </p:txBody>
      </p:sp>
      <p:sp>
        <p:nvSpPr>
          <p:cNvPr id="10" name="bld1_2646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2647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2648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simultaneous changes destroy your ability to learn anything — if three things change and the formula improves, you'll never know which one mattered. Identify the specific issue, change exactly one variable, and re-evaluate before touching anything else.</a:t>
            </a:r>
            <a:endParaRPr lang="en-US" sz="1450" dirty="0"/>
          </a:p>
        </p:txBody>
      </p:sp>
      <p:sp>
        <p:nvSpPr>
          <p:cNvPr id="14" name="trans_wipe_l_17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is a data point, not a verdict.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across 48 hours before you judge.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08</a:t>
            </a:r>
            <a:endParaRPr lang="en-US" sz="1100" dirty="0"/>
          </a:p>
        </p:txBody>
      </p:sp>
      <p:sp>
        <p:nvSpPr>
          <p:cNvPr id="10" name="trans_fade_17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B5652D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09 · ALCOHOL &amp; COMPOUNDING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Alcohol, Scaling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Compounding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finished concentrate into a real, wearable perfume.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vs. everyday alcohol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 up from a small test batch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Compounding, bottling and labelling basics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2" name="trans_fade_17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percentages, at any batch size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427553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52975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08456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649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650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651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10g batch</a:t>
            </a:r>
            <a:endParaRPr lang="en-US" sz="1450" dirty="0"/>
          </a:p>
        </p:txBody>
      </p:sp>
      <p:sp>
        <p:nvSpPr>
          <p:cNvPr id="24" name="bld1_2652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cheap testing size — ideal for early versions.</a:t>
            </a:r>
            <a:endParaRPr lang="en-US" sz="1080" dirty="0"/>
          </a:p>
        </p:txBody>
      </p:sp>
      <p:sp>
        <p:nvSpPr>
          <p:cNvPr id="25" name="bld2_2653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654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2655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100g batch</a:t>
            </a:r>
            <a:endParaRPr lang="en-US" sz="1450" dirty="0"/>
          </a:p>
        </p:txBody>
      </p:sp>
      <p:sp>
        <p:nvSpPr>
          <p:cNvPr id="28" name="bld2_2656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comfortable size for refined, near-final formulas.</a:t>
            </a:r>
            <a:endParaRPr lang="en-US" sz="1080" dirty="0"/>
          </a:p>
        </p:txBody>
      </p:sp>
      <p:sp>
        <p:nvSpPr>
          <p:cNvPr id="29" name="bld3_2657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658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659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1kg batch</a:t>
            </a:r>
            <a:endParaRPr lang="en-US" sz="1450" dirty="0"/>
          </a:p>
        </p:txBody>
      </p:sp>
      <p:sp>
        <p:nvSpPr>
          <p:cNvPr id="32" name="bld3_2660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scale — once the formula is truly locked.</a:t>
            </a:r>
            <a:endParaRPr lang="en-US" sz="1080" dirty="0"/>
          </a:p>
        </p:txBody>
      </p:sp>
      <p:sp>
        <p:nvSpPr>
          <p:cNvPr id="34" name="trans_fade_17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ALCOHOL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 + perfumer's alcohol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Eau de Parfum ratio, expressed simply.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12" name="bld1_2661"/>
          <p:cNvSpPr/>
          <p:nvPr/>
        </p:nvSpPr>
        <p:spPr>
          <a:xfrm>
            <a:off x="566928" y="436918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2662"/>
          <p:cNvSpPr txBox="1"/>
          <p:nvPr/>
        </p:nvSpPr>
        <p:spPr>
          <a:xfrm>
            <a:off x="841248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4" name="bld1_2663"/>
          <p:cNvSpPr txBox="1"/>
          <p:nvPr/>
        </p:nvSpPr>
        <p:spPr>
          <a:xfrm>
            <a:off x="841248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finished formula</a:t>
            </a:r>
            <a:endParaRPr lang="en-US" sz="1000" dirty="0"/>
          </a:p>
        </p:txBody>
      </p:sp>
      <p:sp>
        <p:nvSpPr>
          <p:cNvPr id="15" name="bld2_2664"/>
          <p:cNvSpPr/>
          <p:nvPr/>
        </p:nvSpPr>
        <p:spPr>
          <a:xfrm>
            <a:off x="6297016" y="4369186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6" name="bld2_2665"/>
          <p:cNvSpPr txBox="1"/>
          <p:nvPr/>
        </p:nvSpPr>
        <p:spPr>
          <a:xfrm>
            <a:off x="6571336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 —  80%</a:t>
            </a:r>
            <a:endParaRPr lang="en-US" sz="1250" dirty="0"/>
          </a:p>
        </p:txBody>
      </p:sp>
      <p:sp>
        <p:nvSpPr>
          <p:cNvPr id="17" name="bld2_2666"/>
          <p:cNvSpPr txBox="1"/>
          <p:nvPr/>
        </p:nvSpPr>
        <p:spPr>
          <a:xfrm>
            <a:off x="6571336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631375" y="294272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20" name="trans_push_l_17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WITH CARE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in a perfume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81756" y="1355141"/>
            <a:ext cx="331903" cy="11613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93382" y="2184684"/>
            <a:ext cx="1508650" cy="3318175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34767" y="3511954"/>
            <a:ext cx="1025882" cy="1907950"/>
          </a:xfrm>
          <a:prstGeom prst="triangle">
            <a:avLst/>
          </a:prstGeom>
          <a:solidFill>
            <a:srgbClr val="CFC5AE">
              <a:alpha val="90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is a signal — always check your finished compound in good light.</a:t>
            </a:r>
            <a:endParaRPr lang="en-US" sz="1050" dirty="0"/>
          </a:p>
        </p:txBody>
      </p:sp>
      <p:sp>
        <p:nvSpPr>
          <p:cNvPr id="14" name="bld1_266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266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water is sometimes used</a:t>
            </a:r>
            <a:endParaRPr lang="en-US" sz="1650" dirty="0"/>
          </a:p>
        </p:txBody>
      </p:sp>
      <p:sp>
        <p:nvSpPr>
          <p:cNvPr id="16" name="bld1_266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amount can soften alcohol's harshness and slightly adjust the final feel.</a:t>
            </a:r>
            <a:endParaRPr lang="en-US" sz="1250" dirty="0"/>
          </a:p>
        </p:txBody>
      </p:sp>
      <p:sp>
        <p:nvSpPr>
          <p:cNvPr id="17" name="bld2_267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267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excess water is risky</a:t>
            </a:r>
            <a:endParaRPr lang="en-US" sz="1650" dirty="0"/>
          </a:p>
        </p:txBody>
      </p:sp>
      <p:sp>
        <p:nvSpPr>
          <p:cNvPr id="19" name="bld2_267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not water-soluble — too much water can push them out of solution.</a:t>
            </a:r>
            <a:endParaRPr lang="en-US" sz="1250" dirty="0"/>
          </a:p>
        </p:txBody>
      </p:sp>
      <p:sp>
        <p:nvSpPr>
          <p:cNvPr id="20" name="bld3_267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267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Cloudiness is a warning sign</a:t>
            </a:r>
            <a:endParaRPr lang="en-US" sz="1650" dirty="0"/>
          </a:p>
        </p:txBody>
      </p:sp>
      <p:sp>
        <p:nvSpPr>
          <p:cNvPr id="22" name="bld3_267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cloudy or hazy compound usually means something has fallen out of solution.</a:t>
            </a:r>
            <a:endParaRPr lang="en-US" sz="1250" dirty="0"/>
          </a:p>
        </p:txBody>
      </p:sp>
      <p:sp>
        <p:nvSpPr>
          <p:cNvPr id="23" name="bld4_267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267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 over time</a:t>
            </a:r>
            <a:endParaRPr lang="en-US" sz="1650" dirty="0"/>
          </a:p>
        </p:txBody>
      </p:sp>
      <p:sp>
        <p:nvSpPr>
          <p:cNvPr id="25" name="bld4_267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that looks clear today can still separate weeks later if the balance is wrong.</a:t>
            </a:r>
            <a:endParaRPr lang="en-US" sz="1250" dirty="0"/>
          </a:p>
        </p:txBody>
      </p:sp>
      <p:sp>
        <p:nvSpPr>
          <p:cNvPr id="27" name="trans_fade_17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THE FORMULA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Antioxidants — used thoughtfully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tool for specific oxidation-sensitive materials — not a blanket additive.</a:t>
            </a:r>
            <a:endParaRPr lang="en-US" sz="1050" dirty="0"/>
          </a:p>
        </p:txBody>
      </p:sp>
      <p:sp>
        <p:nvSpPr>
          <p:cNvPr id="24" name="bld1_267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268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oxidation happens</a:t>
            </a:r>
            <a:endParaRPr lang="en-US" sz="1650" dirty="0"/>
          </a:p>
        </p:txBody>
      </p:sp>
      <p:sp>
        <p:nvSpPr>
          <p:cNvPr id="26" name="bld1_2681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air and time can degrade certain materials, shifting or dulling their smell.</a:t>
            </a:r>
            <a:endParaRPr lang="en-US" sz="1250" dirty="0"/>
          </a:p>
        </p:txBody>
      </p:sp>
      <p:sp>
        <p:nvSpPr>
          <p:cNvPr id="27" name="bld2_2682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2_2683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materials are sensitive</a:t>
            </a:r>
            <a:endParaRPr lang="en-US" sz="1650" dirty="0"/>
          </a:p>
        </p:txBody>
      </p:sp>
      <p:sp>
        <p:nvSpPr>
          <p:cNvPr id="29" name="bld2_2684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oils and many naturals rich in terpenes oxidise fastest.</a:t>
            </a:r>
            <a:endParaRPr lang="en-US" sz="1250" dirty="0"/>
          </a:p>
        </p:txBody>
      </p:sp>
      <p:sp>
        <p:nvSpPr>
          <p:cNvPr id="30" name="bld3_2685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1" name="bld3_2686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BHT and similar antioxidants</a:t>
            </a:r>
            <a:endParaRPr lang="en-US" sz="1650" dirty="0"/>
          </a:p>
        </p:txBody>
      </p:sp>
      <p:sp>
        <p:nvSpPr>
          <p:cNvPr id="32" name="bld3_2687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doses can meaningfully slow this degradation in vulnerable formulas.</a:t>
            </a:r>
            <a:endParaRPr lang="en-US" sz="1250" dirty="0"/>
          </a:p>
        </p:txBody>
      </p:sp>
      <p:sp>
        <p:nvSpPr>
          <p:cNvPr id="33" name="bld4_2688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4" name="bld4_2689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add it blindly</a:t>
            </a:r>
            <a:endParaRPr lang="en-US" sz="1650" dirty="0"/>
          </a:p>
        </p:txBody>
      </p:sp>
      <p:sp>
        <p:nvSpPr>
          <p:cNvPr id="35" name="bld4_2690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formula needs an antioxidant — add it deliberately, for a specific material at risk, not as a default habit.</a:t>
            </a:r>
            <a:endParaRPr lang="en-US" sz="1250" dirty="0"/>
          </a:p>
        </p:txBody>
      </p:sp>
      <p:sp>
        <p:nvSpPr>
          <p:cNvPr id="37" name="trans_fade_17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WORKFLOW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compounding process</a:t>
            </a:r>
            <a:endParaRPr lang="en-US" sz="3200" dirty="0"/>
          </a:p>
        </p:txBody>
      </p:sp>
      <p:sp>
        <p:nvSpPr>
          <p:cNvPr id="7" name="bld1_2691"/>
          <p:cNvSpPr/>
          <p:nvPr/>
        </p:nvSpPr>
        <p:spPr>
          <a:xfrm>
            <a:off x="548640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692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693"/>
          <p:cNvSpPr txBox="1"/>
          <p:nvPr/>
        </p:nvSpPr>
        <p:spPr>
          <a:xfrm>
            <a:off x="713232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50" dirty="0"/>
          </a:p>
        </p:txBody>
      </p:sp>
      <p:sp>
        <p:nvSpPr>
          <p:cNvPr id="10" name="bld1_2694"/>
          <p:cNvSpPr txBox="1"/>
          <p:nvPr/>
        </p:nvSpPr>
        <p:spPr>
          <a:xfrm>
            <a:off x="713232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formula sheet.</a:t>
            </a:r>
            <a:endParaRPr lang="en-US" sz="1000" dirty="0"/>
          </a:p>
        </p:txBody>
      </p:sp>
      <p:sp>
        <p:nvSpPr>
          <p:cNvPr id="11" name="bld1_2695"/>
          <p:cNvSpPr txBox="1"/>
          <p:nvPr/>
        </p:nvSpPr>
        <p:spPr>
          <a:xfrm>
            <a:off x="185923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696"/>
          <p:cNvSpPr/>
          <p:nvPr/>
        </p:nvSpPr>
        <p:spPr>
          <a:xfrm>
            <a:off x="217927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697"/>
          <p:cNvSpPr txBox="1"/>
          <p:nvPr/>
        </p:nvSpPr>
        <p:spPr>
          <a:xfrm>
            <a:off x="234386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698"/>
          <p:cNvSpPr txBox="1"/>
          <p:nvPr/>
        </p:nvSpPr>
        <p:spPr>
          <a:xfrm>
            <a:off x="234386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50" dirty="0"/>
          </a:p>
        </p:txBody>
      </p:sp>
      <p:sp>
        <p:nvSpPr>
          <p:cNvPr id="15" name="bld2_2699"/>
          <p:cNvSpPr txBox="1"/>
          <p:nvPr/>
        </p:nvSpPr>
        <p:spPr>
          <a:xfrm>
            <a:off x="234386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gently.</a:t>
            </a:r>
            <a:endParaRPr lang="en-US" sz="1000" dirty="0"/>
          </a:p>
        </p:txBody>
      </p:sp>
      <p:sp>
        <p:nvSpPr>
          <p:cNvPr id="16" name="bld2_2700"/>
          <p:cNvSpPr txBox="1"/>
          <p:nvPr/>
        </p:nvSpPr>
        <p:spPr>
          <a:xfrm>
            <a:off x="34898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701"/>
          <p:cNvSpPr/>
          <p:nvPr/>
        </p:nvSpPr>
        <p:spPr>
          <a:xfrm>
            <a:off x="3809913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702"/>
          <p:cNvSpPr txBox="1"/>
          <p:nvPr/>
        </p:nvSpPr>
        <p:spPr>
          <a:xfrm>
            <a:off x="39745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703"/>
          <p:cNvSpPr txBox="1"/>
          <p:nvPr/>
        </p:nvSpPr>
        <p:spPr>
          <a:xfrm>
            <a:off x="3974505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</a:t>
            </a:r>
            <a:endParaRPr lang="en-US" sz="1450" dirty="0"/>
          </a:p>
        </p:txBody>
      </p:sp>
      <p:sp>
        <p:nvSpPr>
          <p:cNvPr id="20" name="bld3_2704"/>
          <p:cNvSpPr txBox="1"/>
          <p:nvPr/>
        </p:nvSpPr>
        <p:spPr>
          <a:xfrm>
            <a:off x="3974505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settle.</a:t>
            </a:r>
            <a:endParaRPr lang="en-US" sz="1000" dirty="0"/>
          </a:p>
        </p:txBody>
      </p:sp>
      <p:sp>
        <p:nvSpPr>
          <p:cNvPr id="21" name="bld3_2705"/>
          <p:cNvSpPr txBox="1"/>
          <p:nvPr/>
        </p:nvSpPr>
        <p:spPr>
          <a:xfrm>
            <a:off x="51205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706"/>
          <p:cNvSpPr/>
          <p:nvPr/>
        </p:nvSpPr>
        <p:spPr>
          <a:xfrm>
            <a:off x="544054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707"/>
          <p:cNvSpPr txBox="1"/>
          <p:nvPr/>
        </p:nvSpPr>
        <p:spPr>
          <a:xfrm>
            <a:off x="56051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708"/>
          <p:cNvSpPr txBox="1"/>
          <p:nvPr/>
        </p:nvSpPr>
        <p:spPr>
          <a:xfrm>
            <a:off x="560514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1450" dirty="0"/>
          </a:p>
        </p:txBody>
      </p:sp>
      <p:sp>
        <p:nvSpPr>
          <p:cNvPr id="25" name="bld4_2709"/>
          <p:cNvSpPr txBox="1"/>
          <p:nvPr/>
        </p:nvSpPr>
        <p:spPr>
          <a:xfrm>
            <a:off x="560514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alcohol.</a:t>
            </a:r>
            <a:endParaRPr lang="en-US" sz="1000" dirty="0"/>
          </a:p>
        </p:txBody>
      </p:sp>
      <p:sp>
        <p:nvSpPr>
          <p:cNvPr id="26" name="bld4_2710"/>
          <p:cNvSpPr txBox="1"/>
          <p:nvPr/>
        </p:nvSpPr>
        <p:spPr>
          <a:xfrm>
            <a:off x="67511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711"/>
          <p:cNvSpPr/>
          <p:nvPr/>
        </p:nvSpPr>
        <p:spPr>
          <a:xfrm>
            <a:off x="707118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712"/>
          <p:cNvSpPr txBox="1"/>
          <p:nvPr/>
        </p:nvSpPr>
        <p:spPr>
          <a:xfrm>
            <a:off x="72357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713"/>
          <p:cNvSpPr txBox="1"/>
          <p:nvPr/>
        </p:nvSpPr>
        <p:spPr>
          <a:xfrm>
            <a:off x="723577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Macerate</a:t>
            </a:r>
            <a:endParaRPr lang="en-US" sz="1450" dirty="0"/>
          </a:p>
        </p:txBody>
      </p:sp>
      <p:sp>
        <p:nvSpPr>
          <p:cNvPr id="30" name="bld5_2714"/>
          <p:cNvSpPr txBox="1"/>
          <p:nvPr/>
        </p:nvSpPr>
        <p:spPr>
          <a:xfrm>
            <a:off x="723577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over time.</a:t>
            </a:r>
            <a:endParaRPr lang="en-US" sz="1000" dirty="0"/>
          </a:p>
        </p:txBody>
      </p:sp>
      <p:sp>
        <p:nvSpPr>
          <p:cNvPr id="31" name="bld5_2715"/>
          <p:cNvSpPr txBox="1"/>
          <p:nvPr/>
        </p:nvSpPr>
        <p:spPr>
          <a:xfrm>
            <a:off x="83817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2716"/>
          <p:cNvSpPr/>
          <p:nvPr/>
        </p:nvSpPr>
        <p:spPr>
          <a:xfrm>
            <a:off x="8701822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2717"/>
          <p:cNvSpPr txBox="1"/>
          <p:nvPr/>
        </p:nvSpPr>
        <p:spPr>
          <a:xfrm>
            <a:off x="88664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2718"/>
          <p:cNvSpPr txBox="1"/>
          <p:nvPr/>
        </p:nvSpPr>
        <p:spPr>
          <a:xfrm>
            <a:off x="8866414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450" dirty="0"/>
          </a:p>
        </p:txBody>
      </p:sp>
      <p:sp>
        <p:nvSpPr>
          <p:cNvPr id="35" name="bld6_2719"/>
          <p:cNvSpPr txBox="1"/>
          <p:nvPr/>
        </p:nvSpPr>
        <p:spPr>
          <a:xfrm>
            <a:off x="8866414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needed.</a:t>
            </a:r>
            <a:endParaRPr lang="en-US" sz="1000" dirty="0"/>
          </a:p>
        </p:txBody>
      </p:sp>
      <p:sp>
        <p:nvSpPr>
          <p:cNvPr id="36" name="bld6_2720"/>
          <p:cNvSpPr txBox="1"/>
          <p:nvPr/>
        </p:nvSpPr>
        <p:spPr>
          <a:xfrm>
            <a:off x="1001241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bld7_2721"/>
          <p:cNvSpPr/>
          <p:nvPr/>
        </p:nvSpPr>
        <p:spPr>
          <a:xfrm>
            <a:off x="1033245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7_2722"/>
          <p:cNvSpPr txBox="1"/>
          <p:nvPr/>
        </p:nvSpPr>
        <p:spPr>
          <a:xfrm>
            <a:off x="1049705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bld7_2723"/>
          <p:cNvSpPr txBox="1"/>
          <p:nvPr/>
        </p:nvSpPr>
        <p:spPr>
          <a:xfrm>
            <a:off x="1049705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</a:t>
            </a:r>
            <a:endParaRPr lang="en-US" sz="1450" dirty="0"/>
          </a:p>
        </p:txBody>
      </p:sp>
      <p:sp>
        <p:nvSpPr>
          <p:cNvPr id="40" name="bld7_2724"/>
          <p:cNvSpPr txBox="1"/>
          <p:nvPr/>
        </p:nvSpPr>
        <p:spPr>
          <a:xfrm>
            <a:off x="1049705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&amp; date.</a:t>
            </a:r>
            <a:endParaRPr lang="en-US" sz="1000" dirty="0"/>
          </a:p>
        </p:txBody>
      </p:sp>
      <p:sp>
        <p:nvSpPr>
          <p:cNvPr id="42" name="trans_push_l_17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8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isn't filler — treat its ratio, its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rest, and its grade with the same care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the concentrate.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09</a:t>
            </a:r>
            <a:endParaRPr lang="en-US" sz="1100" dirty="0"/>
          </a:p>
        </p:txBody>
      </p:sp>
      <p:sp>
        <p:nvSpPr>
          <p:cNvPr id="10" name="trans_fade_18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5B3A52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MATURATION &amp; MACERATION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 Needs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Rest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 to a compound after it's bottled — and what doesn't.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maceration changes a formula's character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to wait, and how to tell it's ready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conditions that protect — or ruin — a batch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3" name="trans_fade_18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real effects of maceration</a:t>
            </a:r>
            <a:endParaRPr lang="en-US" sz="3200" dirty="0"/>
          </a:p>
        </p:txBody>
      </p:sp>
      <p:sp>
        <p:nvSpPr>
          <p:cNvPr id="7" name="bld1_2725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726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727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</a:t>
            </a:r>
            <a:endParaRPr lang="en-US" sz="1450" dirty="0"/>
          </a:p>
        </p:txBody>
      </p:sp>
      <p:sp>
        <p:nvSpPr>
          <p:cNvPr id="10" name="bld1_2728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blend and round together.</a:t>
            </a:r>
            <a:endParaRPr lang="en-US" sz="1080" dirty="0"/>
          </a:p>
        </p:txBody>
      </p:sp>
      <p:sp>
        <p:nvSpPr>
          <p:cNvPr id="11" name="bld2_2729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730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731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Softer alcohol</a:t>
            </a:r>
            <a:endParaRPr lang="en-US" sz="1450" dirty="0"/>
          </a:p>
        </p:txBody>
      </p:sp>
      <p:sp>
        <p:nvSpPr>
          <p:cNvPr id="14" name="bld2_2732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 alcohol bite fades.</a:t>
            </a:r>
            <a:endParaRPr lang="en-US" sz="1080" dirty="0"/>
          </a:p>
        </p:txBody>
      </p:sp>
      <p:sp>
        <p:nvSpPr>
          <p:cNvPr id="15" name="bld3_2733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734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735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Perceived smoothing</a:t>
            </a:r>
            <a:endParaRPr lang="en-US" sz="1450" dirty="0"/>
          </a:p>
        </p:txBody>
      </p:sp>
      <p:sp>
        <p:nvSpPr>
          <p:cNvPr id="18" name="bld3_2736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edges settle down.</a:t>
            </a:r>
            <a:endParaRPr lang="en-US" sz="1080" dirty="0"/>
          </a:p>
        </p:txBody>
      </p:sp>
      <p:sp>
        <p:nvSpPr>
          <p:cNvPr id="19" name="bld4_2737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738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739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Top-note development</a:t>
            </a:r>
            <a:endParaRPr lang="en-US" sz="1450" dirty="0"/>
          </a:p>
        </p:txBody>
      </p:sp>
      <p:sp>
        <p:nvSpPr>
          <p:cNvPr id="22" name="bld4_2740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notes can shift slightly.</a:t>
            </a:r>
            <a:endParaRPr lang="en-US" sz="1080" dirty="0"/>
          </a:p>
        </p:txBody>
      </p:sp>
      <p:sp>
        <p:nvSpPr>
          <p:cNvPr id="23" name="bld5_2741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742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2743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Solubility</a:t>
            </a:r>
            <a:endParaRPr lang="en-US" sz="1450" dirty="0"/>
          </a:p>
        </p:txBody>
      </p:sp>
      <p:sp>
        <p:nvSpPr>
          <p:cNvPr id="26" name="bld5_2744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fully dissolve into solution.</a:t>
            </a:r>
            <a:endParaRPr lang="en-US" sz="1080" dirty="0"/>
          </a:p>
        </p:txBody>
      </p:sp>
      <p:sp>
        <p:nvSpPr>
          <p:cNvPr id="27" name="bld6_2745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746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747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changes</a:t>
            </a:r>
            <a:endParaRPr lang="en-US" sz="1450" dirty="0"/>
          </a:p>
        </p:txBody>
      </p:sp>
      <p:sp>
        <p:nvSpPr>
          <p:cNvPr id="30" name="bld6_2748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formulas darken with age.</a:t>
            </a:r>
            <a:endParaRPr lang="en-US" sz="1080" dirty="0"/>
          </a:p>
        </p:txBody>
      </p:sp>
      <p:sp>
        <p:nvSpPr>
          <p:cNvPr id="31" name="bld7_2749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750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33" name="bld7_2751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Oxidation</a:t>
            </a:r>
            <a:endParaRPr lang="en-US" sz="1450" dirty="0"/>
          </a:p>
        </p:txBody>
      </p:sp>
      <p:sp>
        <p:nvSpPr>
          <p:cNvPr id="34" name="bld7_2752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chemical change, for better or worse.</a:t>
            </a:r>
            <a:endParaRPr lang="en-US" sz="1080" dirty="0"/>
          </a:p>
        </p:txBody>
      </p:sp>
      <p:sp>
        <p:nvSpPr>
          <p:cNvPr id="35" name="bld8_2753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2754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7" name="bld8_2755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Precipitation</a:t>
            </a:r>
            <a:endParaRPr lang="en-US" sz="1450" dirty="0"/>
          </a:p>
        </p:txBody>
      </p:sp>
      <p:sp>
        <p:nvSpPr>
          <p:cNvPr id="38" name="bld8_2756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insoluble can settle out.</a:t>
            </a:r>
            <a:endParaRPr lang="en-US" sz="1080" dirty="0"/>
          </a:p>
        </p:txBody>
      </p:sp>
      <p:sp>
        <p:nvSpPr>
          <p:cNvPr id="40" name="trans_fade_18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SCIENCE, BRIEFLY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same liquid smells different later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slow, ordinary process — not an unpredictable transformation.</a:t>
            </a:r>
            <a:endParaRPr lang="en-US" sz="1050" dirty="0"/>
          </a:p>
        </p:txBody>
      </p:sp>
      <p:sp>
        <p:nvSpPr>
          <p:cNvPr id="24" name="bld1_275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1_275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keep interacting</a:t>
            </a:r>
            <a:endParaRPr lang="en-US" sz="1650" dirty="0"/>
          </a:p>
        </p:txBody>
      </p:sp>
      <p:sp>
        <p:nvSpPr>
          <p:cNvPr id="26" name="bld1_275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continue to associate and rearrange in solution long after mixing.</a:t>
            </a:r>
            <a:endParaRPr lang="en-US" sz="1250" dirty="0"/>
          </a:p>
        </p:txBody>
      </p:sp>
      <p:sp>
        <p:nvSpPr>
          <p:cNvPr id="27" name="bld2_276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2_276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needs time to settle</a:t>
            </a:r>
            <a:endParaRPr lang="en-US" sz="1650" dirty="0"/>
          </a:p>
        </p:txBody>
      </p:sp>
      <p:sp>
        <p:nvSpPr>
          <p:cNvPr id="29" name="bld2_276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alcohol reads sharp and hot — that fades measurably within days.</a:t>
            </a:r>
            <a:endParaRPr lang="en-US" sz="1250" dirty="0"/>
          </a:p>
        </p:txBody>
      </p:sp>
      <p:sp>
        <p:nvSpPr>
          <p:cNvPr id="30" name="bld3_276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31" name="bld3_276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mysterious is happening</a:t>
            </a:r>
            <a:endParaRPr lang="en-US" sz="1650" dirty="0"/>
          </a:p>
        </p:txBody>
      </p:sp>
      <p:sp>
        <p:nvSpPr>
          <p:cNvPr id="32" name="bld3_276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slow, ordinary physical chemistry — not magic, and it's predictable enough to plan around.</a:t>
            </a:r>
            <a:endParaRPr lang="en-US" sz="1250" dirty="0"/>
          </a:p>
        </p:txBody>
      </p:sp>
      <p:sp>
        <p:nvSpPr>
          <p:cNvPr id="34" name="trans_fade_18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smell shifts, over weeks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2766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2767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2768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200" dirty="0"/>
          </a:p>
        </p:txBody>
      </p:sp>
      <p:sp>
        <p:nvSpPr>
          <p:cNvPr id="11" name="bld1_2769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hot, unintegrated</a:t>
            </a:r>
            <a:endParaRPr lang="en-US" sz="1050" dirty="0"/>
          </a:p>
        </p:txBody>
      </p:sp>
      <p:sp>
        <p:nvSpPr>
          <p:cNvPr id="12" name="bld2_2770"/>
          <p:cNvSpPr/>
          <p:nvPr/>
        </p:nvSpPr>
        <p:spPr>
          <a:xfrm>
            <a:off x="3377108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bld2_2771"/>
          <p:cNvSpPr/>
          <p:nvPr/>
        </p:nvSpPr>
        <p:spPr>
          <a:xfrm>
            <a:off x="3294812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4" name="bld2_2772"/>
          <p:cNvSpPr txBox="1"/>
          <p:nvPr/>
        </p:nvSpPr>
        <p:spPr>
          <a:xfrm>
            <a:off x="2682164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15" name="bld2_2773"/>
          <p:cNvSpPr txBox="1"/>
          <p:nvPr/>
        </p:nvSpPr>
        <p:spPr>
          <a:xfrm>
            <a:off x="2682164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bite softening</a:t>
            </a:r>
            <a:endParaRPr lang="en-US" sz="1050" dirty="0"/>
          </a:p>
        </p:txBody>
      </p:sp>
      <p:sp>
        <p:nvSpPr>
          <p:cNvPr id="16" name="bld3_2774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2775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2776"/>
          <p:cNvSpPr txBox="1"/>
          <p:nvPr/>
        </p:nvSpPr>
        <p:spPr>
          <a:xfrm>
            <a:off x="5318608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</a:t>
            </a:r>
            <a:endParaRPr lang="en-US" sz="1200" dirty="0"/>
          </a:p>
        </p:txBody>
      </p:sp>
      <p:sp>
        <p:nvSpPr>
          <p:cNvPr id="19" name="bld3_2777"/>
          <p:cNvSpPr txBox="1"/>
          <p:nvPr/>
        </p:nvSpPr>
        <p:spPr>
          <a:xfrm>
            <a:off x="5318608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Noticeably smoother</a:t>
            </a:r>
            <a:endParaRPr lang="en-US" sz="1050" dirty="0"/>
          </a:p>
        </p:txBody>
      </p:sp>
      <p:sp>
        <p:nvSpPr>
          <p:cNvPr id="20" name="bld4_2778"/>
          <p:cNvSpPr/>
          <p:nvPr/>
        </p:nvSpPr>
        <p:spPr>
          <a:xfrm>
            <a:off x="8649995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2779"/>
          <p:cNvSpPr/>
          <p:nvPr/>
        </p:nvSpPr>
        <p:spPr>
          <a:xfrm>
            <a:off x="8567699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22" name="bld4_2780"/>
          <p:cNvSpPr txBox="1"/>
          <p:nvPr/>
        </p:nvSpPr>
        <p:spPr>
          <a:xfrm>
            <a:off x="7955051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200" dirty="0"/>
          </a:p>
        </p:txBody>
      </p:sp>
      <p:sp>
        <p:nvSpPr>
          <p:cNvPr id="23" name="bld4_2781"/>
          <p:cNvSpPr txBox="1"/>
          <p:nvPr/>
        </p:nvSpPr>
        <p:spPr>
          <a:xfrm>
            <a:off x="7955051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integrated</a:t>
            </a:r>
            <a:endParaRPr lang="en-US" sz="1050" dirty="0"/>
          </a:p>
        </p:txBody>
      </p:sp>
      <p:sp>
        <p:nvSpPr>
          <p:cNvPr id="24" name="bld5_2782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5" name="bld5_2783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6" name="bld5_2784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200" dirty="0"/>
          </a:p>
        </p:txBody>
      </p:sp>
      <p:sp>
        <p:nvSpPr>
          <p:cNvPr id="27" name="bld5_2785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matured character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fresh compound gently — it hasn't finished becoming itself yet.</a:t>
            </a:r>
            <a:endParaRPr lang="en-US" sz="1250" dirty="0"/>
          </a:p>
        </p:txBody>
      </p:sp>
      <p:sp>
        <p:nvSpPr>
          <p:cNvPr id="30" name="trans_push_l_18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EXPECTATIONS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maceration cannot do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"Given enough time, maceration will fix a broken or unbalanced formula."</a:t>
            </a:r>
            <a:endParaRPr lang="en-US" sz="2100" dirty="0"/>
          </a:p>
        </p:txBody>
      </p:sp>
      <p:sp>
        <p:nvSpPr>
          <p:cNvPr id="10" name="bld1_2786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2787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2788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 refines what's already structurally sound — it softens, integrates and rounds. It cannot rescue a formula with the wrong materials, wrong ratios, or a fundamentally broken idea. Fix the structure first; let time do the polishing, not the repairing.</a:t>
            </a:r>
            <a:endParaRPr lang="en-US" sz="1450" dirty="0"/>
          </a:p>
        </p:txBody>
      </p:sp>
      <p:sp>
        <p:nvSpPr>
          <p:cNvPr id="14" name="trans_wipe_l_18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PROTOCOL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maceration routine</a:t>
            </a:r>
            <a:endParaRPr lang="en-US" sz="3200" dirty="0"/>
          </a:p>
        </p:txBody>
      </p:sp>
      <p:sp>
        <p:nvSpPr>
          <p:cNvPr id="7" name="bld1_2789"/>
          <p:cNvSpPr txBox="1"/>
          <p:nvPr/>
        </p:nvSpPr>
        <p:spPr>
          <a:xfrm>
            <a:off x="548640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STAGE</a:t>
            </a:r>
            <a:endParaRPr lang="en-US" sz="1250" dirty="0"/>
          </a:p>
        </p:txBody>
      </p:sp>
      <p:sp>
        <p:nvSpPr>
          <p:cNvPr id="8" name="bld1_2790"/>
          <p:cNvSpPr/>
          <p:nvPr/>
        </p:nvSpPr>
        <p:spPr>
          <a:xfrm>
            <a:off x="548640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2791"/>
          <p:cNvSpPr txBox="1"/>
          <p:nvPr/>
        </p:nvSpPr>
        <p:spPr>
          <a:xfrm>
            <a:off x="841248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the raw concentrate 24–48 hours</a:t>
            </a:r>
            <a:endParaRPr lang="en-US" sz="1200" dirty="0"/>
          </a:p>
        </p:txBody>
      </p:sp>
      <p:sp>
        <p:nvSpPr>
          <p:cNvPr id="10" name="bld1_2792"/>
          <p:cNvSpPr/>
          <p:nvPr/>
        </p:nvSpPr>
        <p:spPr>
          <a:xfrm>
            <a:off x="548640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2793"/>
          <p:cNvSpPr txBox="1"/>
          <p:nvPr/>
        </p:nvSpPr>
        <p:spPr>
          <a:xfrm>
            <a:off x="841248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clarity before diluting</a:t>
            </a:r>
            <a:endParaRPr lang="en-US" sz="1200" dirty="0"/>
          </a:p>
        </p:txBody>
      </p:sp>
      <p:sp>
        <p:nvSpPr>
          <p:cNvPr id="12" name="bld2_2794"/>
          <p:cNvSpPr txBox="1"/>
          <p:nvPr/>
        </p:nvSpPr>
        <p:spPr>
          <a:xfrm>
            <a:off x="4353458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STAGE</a:t>
            </a:r>
            <a:endParaRPr lang="en-US" sz="1250" dirty="0"/>
          </a:p>
        </p:txBody>
      </p:sp>
      <p:sp>
        <p:nvSpPr>
          <p:cNvPr id="13" name="bld2_2795"/>
          <p:cNvSpPr/>
          <p:nvPr/>
        </p:nvSpPr>
        <p:spPr>
          <a:xfrm>
            <a:off x="4353458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4" name="bld2_2796"/>
          <p:cNvSpPr txBox="1"/>
          <p:nvPr/>
        </p:nvSpPr>
        <p:spPr>
          <a:xfrm>
            <a:off x="4646066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Macerate 1–4 weeks in a cool, dark place</a:t>
            </a:r>
            <a:endParaRPr lang="en-US" sz="1200" dirty="0"/>
          </a:p>
        </p:txBody>
      </p:sp>
      <p:sp>
        <p:nvSpPr>
          <p:cNvPr id="15" name="bld2_2797"/>
          <p:cNvSpPr/>
          <p:nvPr/>
        </p:nvSpPr>
        <p:spPr>
          <a:xfrm>
            <a:off x="4353458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2798"/>
          <p:cNvSpPr txBox="1"/>
          <p:nvPr/>
        </p:nvSpPr>
        <p:spPr>
          <a:xfrm>
            <a:off x="4646066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gently every few days</a:t>
            </a:r>
            <a:endParaRPr lang="en-US" sz="1200" dirty="0"/>
          </a:p>
        </p:txBody>
      </p:sp>
      <p:sp>
        <p:nvSpPr>
          <p:cNvPr id="17" name="bld3_2799"/>
          <p:cNvSpPr txBox="1"/>
          <p:nvPr/>
        </p:nvSpPr>
        <p:spPr>
          <a:xfrm>
            <a:off x="8158277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BOTTLING</a:t>
            </a:r>
            <a:endParaRPr lang="en-US" sz="1250" dirty="0"/>
          </a:p>
        </p:txBody>
      </p:sp>
      <p:sp>
        <p:nvSpPr>
          <p:cNvPr id="18" name="bld3_2800"/>
          <p:cNvSpPr/>
          <p:nvPr/>
        </p:nvSpPr>
        <p:spPr>
          <a:xfrm>
            <a:off x="8158277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9" name="bld3_2801"/>
          <p:cNvSpPr txBox="1"/>
          <p:nvPr/>
        </p:nvSpPr>
        <p:spPr>
          <a:xfrm>
            <a:off x="8450885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Re-evaluate on a fresh strip</a:t>
            </a:r>
            <a:endParaRPr lang="en-US" sz="1200" dirty="0"/>
          </a:p>
        </p:txBody>
      </p:sp>
      <p:sp>
        <p:nvSpPr>
          <p:cNvPr id="20" name="bld3_2802"/>
          <p:cNvSpPr/>
          <p:nvPr/>
        </p:nvSpPr>
        <p:spPr>
          <a:xfrm>
            <a:off x="8158277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1" name="bld3_2803"/>
          <p:cNvSpPr txBox="1"/>
          <p:nvPr/>
        </p:nvSpPr>
        <p:spPr>
          <a:xfrm>
            <a:off x="8450885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if any haze or sediment appears</a:t>
            </a:r>
            <a:endParaRPr lang="en-US" sz="1200" dirty="0"/>
          </a:p>
        </p:txBody>
      </p:sp>
      <p:sp>
        <p:nvSpPr>
          <p:cNvPr id="23" name="trans_fade_18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refines what's already good.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rescue a broken structure.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10</a:t>
            </a:r>
            <a:endParaRPr lang="en-US" sz="1100" dirty="0"/>
          </a:p>
        </p:txBody>
      </p:sp>
      <p:sp>
        <p:nvSpPr>
          <p:cNvPr id="10" name="trans_fade_18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· COMPLIANCE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Compliance,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Simply Explained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keeping your formulas safe and legal to sell — not a substitute for professional guidance.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limits, worked through a real example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SDS and allergen declaration actually cover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look — and what to ignore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1" name="trans_fade_18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module is an introduction.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still responsible for the regulations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apply to your country and product.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READ THIS FIRST</a:t>
            </a:r>
            <a:endParaRPr lang="en-US" sz="1100" dirty="0"/>
          </a:p>
        </p:txBody>
      </p:sp>
      <p:sp>
        <p:nvSpPr>
          <p:cNvPr id="10" name="trans_fade_18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STANDARD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— the industry's safety framework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646421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007917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2804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137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26949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597510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597510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626949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2806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Standards</a:t>
            </a:r>
            <a:endParaRPr lang="en-US" sz="1450" dirty="0"/>
          </a:p>
        </p:txBody>
      </p:sp>
      <p:sp>
        <p:nvSpPr>
          <p:cNvPr id="19" name="bld1_2807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Science-based usage limits for fragrance materials.</a:t>
            </a:r>
            <a:endParaRPr lang="en-US" sz="1080" dirty="0"/>
          </a:p>
        </p:txBody>
      </p:sp>
      <p:sp>
        <p:nvSpPr>
          <p:cNvPr id="20" name="bld2_2808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4477337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2810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Restricted materials</a:t>
            </a:r>
            <a:endParaRPr lang="en-US" sz="1450" dirty="0"/>
          </a:p>
        </p:txBody>
      </p:sp>
      <p:sp>
        <p:nvSpPr>
          <p:cNvPr id="25" name="bld2_2811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Allowed, but only up to a defined maximum %.</a:t>
            </a:r>
            <a:endParaRPr lang="en-US" sz="1080" dirty="0"/>
          </a:p>
        </p:txBody>
      </p:sp>
      <p:sp>
        <p:nvSpPr>
          <p:cNvPr id="26" name="bld3_2812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4949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30" name="bld3_2814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Prohibited materials</a:t>
            </a:r>
            <a:endParaRPr lang="en-US" sz="1450" dirty="0"/>
          </a:p>
        </p:txBody>
      </p:sp>
      <p:sp>
        <p:nvSpPr>
          <p:cNvPr id="31" name="bld3_2815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 in fragrance at all.</a:t>
            </a:r>
            <a:endParaRPr lang="en-US" sz="1080" dirty="0"/>
          </a:p>
        </p:txBody>
      </p:sp>
      <p:sp>
        <p:nvSpPr>
          <p:cNvPr id="32" name="bld4_2816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139784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0110345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0110345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0139784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0" name="bld4_2818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limits</a:t>
            </a:r>
            <a:endParaRPr lang="en-US" sz="1450" dirty="0"/>
          </a:p>
        </p:txBody>
      </p:sp>
      <p:sp>
        <p:nvSpPr>
          <p:cNvPr id="41" name="bld4_2819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vary by how a product is used on the body.</a:t>
            </a:r>
            <a:endParaRPr lang="en-US" sz="1080" dirty="0"/>
          </a:p>
        </p:txBody>
      </p:sp>
      <p:sp>
        <p:nvSpPr>
          <p:cNvPr id="43" name="trans_fade_19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0" grpId="0"/>
      <p:bldP spid="31" grpId="0"/>
      <p:bldP spid="32" grpId="0"/>
      <p:bldP spid="40" grpId="0"/>
      <p:bldP spid="41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a material against its limit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6E7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% × dilution % = final product %. Always check against the finished product.</a:t>
            </a:r>
            <a:endParaRPr lang="en-US" sz="1050" dirty="0"/>
          </a:p>
        </p:txBody>
      </p:sp>
      <p:sp>
        <p:nvSpPr>
          <p:cNvPr id="13" name="bld1_282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1_282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X, Category 4 (fine fragrance)</a:t>
            </a:r>
            <a:endParaRPr lang="en-US" sz="1650" dirty="0"/>
          </a:p>
        </p:txBody>
      </p:sp>
      <p:sp>
        <p:nvSpPr>
          <p:cNvPr id="15" name="bld1_282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its IFRA limit in Category 4 is 0.5% of the finished product.</a:t>
            </a:r>
            <a:endParaRPr lang="en-US" sz="1250" dirty="0"/>
          </a:p>
        </p:txBody>
      </p:sp>
      <p:sp>
        <p:nvSpPr>
          <p:cNvPr id="16" name="bld2_282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7" name="bld2_282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Used at 2% of the concentrate</a:t>
            </a:r>
            <a:endParaRPr lang="en-US" sz="1650" dirty="0"/>
          </a:p>
        </p:txBody>
      </p:sp>
      <p:sp>
        <p:nvSpPr>
          <p:cNvPr id="18" name="bld2_282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formula sheet lists Material X at 2% of the perfume concentrate.</a:t>
            </a:r>
            <a:endParaRPr lang="en-US" sz="1250" dirty="0"/>
          </a:p>
        </p:txBody>
      </p:sp>
      <p:sp>
        <p:nvSpPr>
          <p:cNvPr id="19" name="bld3_282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3_282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concentrate is diluted to 20%</a:t>
            </a:r>
            <a:endParaRPr lang="en-US" sz="1650" dirty="0"/>
          </a:p>
        </p:txBody>
      </p:sp>
      <p:sp>
        <p:nvSpPr>
          <p:cNvPr id="21" name="bld3_282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finished spray, Material X becomes 2% × 20% = 0.4% of the total product.</a:t>
            </a:r>
            <a:endParaRPr lang="en-US" sz="1250" dirty="0"/>
          </a:p>
        </p:txBody>
      </p:sp>
      <p:sp>
        <p:nvSpPr>
          <p:cNvPr id="22" name="bld4_282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bld4_283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 is under the 0.5% limit — compliant</a:t>
            </a:r>
            <a:endParaRPr lang="en-US" sz="1650" dirty="0"/>
          </a:p>
        </p:txBody>
      </p:sp>
      <p:sp>
        <p:nvSpPr>
          <p:cNvPr id="24" name="bld4_283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calculate the material's share of the finished product, not just the concentrate.</a:t>
            </a:r>
            <a:endParaRPr lang="en-US" sz="1250" dirty="0"/>
          </a:p>
        </p:txBody>
      </p:sp>
      <p:sp>
        <p:nvSpPr>
          <p:cNvPr id="26" name="trans_fade_19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SDS actually tells you</a:t>
            </a:r>
            <a:endParaRPr lang="en-US" sz="3200" dirty="0"/>
          </a:p>
        </p:txBody>
      </p:sp>
      <p:sp>
        <p:nvSpPr>
          <p:cNvPr id="7" name="bld1_2832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31756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106733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06733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131756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5" name="bld1_2834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&amp; hazards</a:t>
            </a:r>
            <a:endParaRPr lang="en-US" sz="1450" dirty="0"/>
          </a:p>
        </p:txBody>
      </p:sp>
      <p:sp>
        <p:nvSpPr>
          <p:cNvPr id="16" name="bld1_2835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material is and its key risk classifications.</a:t>
            </a:r>
            <a:endParaRPr lang="en-US" sz="1080" dirty="0"/>
          </a:p>
        </p:txBody>
      </p:sp>
      <p:sp>
        <p:nvSpPr>
          <p:cNvPr id="17" name="bld2_2836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9" name="Shape 17"/>
          <p:cNvSpPr/>
          <p:nvPr/>
        </p:nvSpPr>
        <p:spPr>
          <a:xfrm flipV="1">
            <a:off x="6095848" y="2167179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5885" y="2167179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215885" y="2233866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15823" y="2340566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6015823" y="2220529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9136" y="2153842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4508" y="2199189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546" y="2151841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20583" y="22185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00546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00485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3798" y="2138504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2_2838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</a:t>
            </a:r>
            <a:endParaRPr lang="en-US" sz="1450" dirty="0"/>
          </a:p>
        </p:txBody>
      </p:sp>
      <p:sp>
        <p:nvSpPr>
          <p:cNvPr id="33" name="bld2_2839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made of, including any listed impurities.</a:t>
            </a:r>
            <a:endParaRPr lang="en-US" sz="1080" dirty="0"/>
          </a:p>
        </p:txBody>
      </p:sp>
      <p:sp>
        <p:nvSpPr>
          <p:cNvPr id="34" name="bld3_2840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9854343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37" name="Shape 35"/>
          <p:cNvSpPr/>
          <p:nvPr/>
        </p:nvSpPr>
        <p:spPr>
          <a:xfrm>
            <a:off x="9857602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01730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38306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1" name="bld3_2842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&amp; storage</a:t>
            </a:r>
            <a:endParaRPr lang="en-US" sz="1450" dirty="0"/>
          </a:p>
        </p:txBody>
      </p:sp>
      <p:sp>
        <p:nvSpPr>
          <p:cNvPr id="42" name="bld3_2843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store and work with it safely.</a:t>
            </a:r>
            <a:endParaRPr lang="en-US" sz="1080" dirty="0"/>
          </a:p>
        </p:txBody>
      </p:sp>
      <p:sp>
        <p:nvSpPr>
          <p:cNvPr id="43" name="bld4_2844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2142616" y="4409932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47" name="bld4_2846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aid &amp; fire measures</a:t>
            </a:r>
            <a:endParaRPr lang="en-US" sz="1450" dirty="0"/>
          </a:p>
        </p:txBody>
      </p:sp>
      <p:sp>
        <p:nvSpPr>
          <p:cNvPr id="48" name="bld4_2847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in an exposure or fire incident.</a:t>
            </a:r>
            <a:endParaRPr lang="en-US" sz="1080" dirty="0"/>
          </a:p>
        </p:txBody>
      </p:sp>
      <p:sp>
        <p:nvSpPr>
          <p:cNvPr id="49" name="bld5_2848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51" name="Shape 49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90669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90669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90669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56" name="bld5_2850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&amp; chemical properties</a:t>
            </a:r>
            <a:endParaRPr lang="en-US" sz="1450" dirty="0"/>
          </a:p>
        </p:txBody>
      </p:sp>
      <p:sp>
        <p:nvSpPr>
          <p:cNvPr id="57" name="bld5_2851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Flashpoint, solubility, appearance and more.</a:t>
            </a:r>
            <a:endParaRPr lang="en-US" sz="1080" dirty="0"/>
          </a:p>
        </p:txBody>
      </p:sp>
      <p:sp>
        <p:nvSpPr>
          <p:cNvPr id="58" name="bld6_2852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98721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9673698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9673698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9698721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66" name="bld6_2854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information</a:t>
            </a:r>
            <a:endParaRPr lang="en-US" sz="1450" dirty="0"/>
          </a:p>
        </p:txBody>
      </p:sp>
      <p:sp>
        <p:nvSpPr>
          <p:cNvPr id="67" name="bld6_2855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material is classified under law.</a:t>
            </a:r>
            <a:endParaRPr lang="en-US" sz="1080" dirty="0"/>
          </a:p>
        </p:txBody>
      </p:sp>
      <p:sp>
        <p:nvSpPr>
          <p:cNvPr id="69" name="trans_fade_19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5" grpId="0"/>
      <p:bldP spid="16" grpId="0"/>
      <p:bldP spid="17" grpId="0"/>
      <p:bldP spid="32" grpId="0"/>
      <p:bldP spid="33" grpId="0"/>
      <p:bldP spid="34" grpId="0"/>
      <p:bldP spid="41" grpId="0"/>
      <p:bldP spid="42" grpId="0"/>
      <p:bldP spid="43" grpId="0"/>
      <p:bldP spid="47" grpId="0"/>
      <p:bldP spid="48" grpId="0"/>
      <p:bldP spid="49" grpId="0"/>
      <p:bldP spid="56" grpId="0"/>
      <p:bldP spid="57" grpId="0"/>
      <p:bldP spid="58" grpId="0"/>
      <p:bldP spid="66" grpId="0"/>
      <p:bldP spid="67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RIGHT TO KNOW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declarations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17219" y="2038814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40728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78962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55477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93711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26439" y="2746874"/>
            <a:ext cx="442537" cy="442537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beautiful rose absolute may carry declarable allergens.</a:t>
            </a:r>
            <a:endParaRPr lang="en-US" sz="1050" dirty="0"/>
          </a:p>
        </p:txBody>
      </p:sp>
      <p:sp>
        <p:nvSpPr>
          <p:cNvPr id="17" name="bld1_285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1_285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 materials must be declared</a:t>
            </a:r>
            <a:endParaRPr lang="en-US" sz="1650" dirty="0"/>
          </a:p>
        </p:txBody>
      </p:sp>
      <p:sp>
        <p:nvSpPr>
          <p:cNvPr id="19" name="bld1_285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list of fragrance allergens must be listed on packaging above a set concentration threshold.</a:t>
            </a:r>
            <a:endParaRPr lang="en-US" sz="1250" dirty="0"/>
          </a:p>
        </p:txBody>
      </p:sp>
      <p:sp>
        <p:nvSpPr>
          <p:cNvPr id="20" name="bld2_285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2_286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applies even to natural materials</a:t>
            </a:r>
            <a:endParaRPr lang="en-US" sz="1650" dirty="0"/>
          </a:p>
        </p:txBody>
      </p:sp>
      <p:sp>
        <p:nvSpPr>
          <p:cNvPr id="22" name="bld2_286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essential oils contain declarable allergens naturally — linalool and limonene among the most common.</a:t>
            </a:r>
            <a:endParaRPr lang="en-US" sz="1250" dirty="0"/>
          </a:p>
        </p:txBody>
      </p:sp>
      <p:sp>
        <p:nvSpPr>
          <p:cNvPr id="23" name="bld3_286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3_286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every material's allergen content</a:t>
            </a:r>
            <a:endParaRPr lang="en-US" sz="1650" dirty="0"/>
          </a:p>
        </p:txBody>
      </p:sp>
      <p:sp>
        <p:nvSpPr>
          <p:cNvPr id="25" name="bld3_286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supplier's documentation should state the relevant allergen composition of each raw material.</a:t>
            </a:r>
            <a:endParaRPr lang="en-US" sz="1250" dirty="0"/>
          </a:p>
        </p:txBody>
      </p:sp>
      <p:sp>
        <p:nvSpPr>
          <p:cNvPr id="27" name="trans_fade_19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HAZARDS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CLP — how hazards get communicated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646421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007917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2865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355964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4" name="bld1_2867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classifications</a:t>
            </a:r>
            <a:endParaRPr lang="en-US" sz="1450" dirty="0"/>
          </a:p>
        </p:txBody>
      </p:sp>
      <p:sp>
        <p:nvSpPr>
          <p:cNvPr id="15" name="bld1_2868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category a product falls into.</a:t>
            </a:r>
            <a:endParaRPr lang="en-US" sz="1080" dirty="0"/>
          </a:p>
        </p:txBody>
      </p:sp>
      <p:sp>
        <p:nvSpPr>
          <p:cNvPr id="16" name="bld2_2869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20" name="bld2_2871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Pictograms</a:t>
            </a:r>
            <a:endParaRPr lang="en-US" sz="1450" dirty="0"/>
          </a:p>
        </p:txBody>
      </p:sp>
      <p:sp>
        <p:nvSpPr>
          <p:cNvPr id="21" name="bld2_2872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symbols shown on packaging.</a:t>
            </a:r>
            <a:endParaRPr lang="en-US" sz="1080" dirty="0"/>
          </a:p>
        </p:txBody>
      </p:sp>
      <p:sp>
        <p:nvSpPr>
          <p:cNvPr id="22" name="bld3_2873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4" name="Shape 22"/>
          <p:cNvSpPr/>
          <p:nvPr/>
        </p:nvSpPr>
        <p:spPr>
          <a:xfrm>
            <a:off x="589614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26" name="bld3_2875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words</a:t>
            </a:r>
            <a:endParaRPr lang="en-US" sz="1450" dirty="0"/>
          </a:p>
        </p:txBody>
      </p:sp>
      <p:sp>
        <p:nvSpPr>
          <p:cNvPr id="27" name="bld3_2876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"Warning" or "Danger," indicating severity.</a:t>
            </a:r>
            <a:endParaRPr lang="en-US" sz="1080" dirty="0"/>
          </a:p>
        </p:txBody>
      </p:sp>
      <p:sp>
        <p:nvSpPr>
          <p:cNvPr id="28" name="bld4_2877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6" name="bld4_2879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statements</a:t>
            </a:r>
            <a:endParaRPr lang="en-US" sz="1450" dirty="0"/>
          </a:p>
        </p:txBody>
      </p:sp>
      <p:sp>
        <p:nvSpPr>
          <p:cNvPr id="37" name="bld4_2880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phrases describing the specific risk.</a:t>
            </a:r>
            <a:endParaRPr lang="en-US" sz="1080" dirty="0"/>
          </a:p>
        </p:txBody>
      </p:sp>
      <p:sp>
        <p:nvSpPr>
          <p:cNvPr id="38" name="bld5_2881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73557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2" name="bld5_2883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Precautionary statements</a:t>
            </a:r>
            <a:endParaRPr lang="en-US" sz="1450" dirty="0"/>
          </a:p>
        </p:txBody>
      </p:sp>
      <p:sp>
        <p:nvSpPr>
          <p:cNvPr id="43" name="bld5_2884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should do to stay safe.</a:t>
            </a:r>
            <a:endParaRPr lang="en-US" sz="1080" dirty="0"/>
          </a:p>
        </p:txBody>
      </p:sp>
      <p:sp>
        <p:nvSpPr>
          <p:cNvPr id="45" name="trans_fade_19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6" grpId="0"/>
      <p:bldP spid="37" grpId="0"/>
      <p:bldP spid="38" grpId="0"/>
      <p:bldP spid="42" grpId="0"/>
      <p:bldP spid="43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TOOL, NOT AN AUTHORITY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Good Scents Company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a material is listed on The Good Scents Company, it's approved and safe to use as I like."</a:t>
            </a:r>
            <a:endParaRPr lang="en-US" sz="2100" dirty="0"/>
          </a:p>
        </p:txBody>
      </p:sp>
      <p:sp>
        <p:nvSpPr>
          <p:cNvPr id="10" name="bld1_2885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2886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2887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Scents is a fantastic research and reference tool for material properties — but it is not a regulatory authority. Always confirm safety and legal usage limits through your supplier's documentation, IFRA, the SDS, and official regulatory databases.</a:t>
            </a:r>
            <a:endParaRPr lang="en-US" sz="1450" dirty="0"/>
          </a:p>
        </p:txBody>
      </p:sp>
      <p:sp>
        <p:nvSpPr>
          <p:cNvPr id="14" name="trans_wipe_l_19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ACTUALLY LOOK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sources for compliance information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4684473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4772374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249549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888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9" name="bld1_2890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 documentation</a:t>
            </a:r>
            <a:endParaRPr lang="en-US" sz="1450" dirty="0"/>
          </a:p>
        </p:txBody>
      </p:sp>
      <p:sp>
        <p:nvSpPr>
          <p:cNvPr id="30" name="bld1_2891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stop for every material.</a:t>
            </a:r>
            <a:endParaRPr lang="en-US" sz="1080" dirty="0"/>
          </a:p>
        </p:txBody>
      </p:sp>
      <p:sp>
        <p:nvSpPr>
          <p:cNvPr id="31" name="bld2_2892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3" name="Shape 31"/>
          <p:cNvSpPr/>
          <p:nvPr/>
        </p:nvSpPr>
        <p:spPr>
          <a:xfrm>
            <a:off x="354046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1327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3583838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583838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61327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9" name="bld2_2894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</a:t>
            </a:r>
            <a:endParaRPr lang="en-US" sz="1450" dirty="0"/>
          </a:p>
        </p:txBody>
      </p:sp>
      <p:sp>
        <p:nvSpPr>
          <p:cNvPr id="40" name="bld2_2895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safety standard.</a:t>
            </a:r>
            <a:endParaRPr lang="en-US" sz="1080" dirty="0"/>
          </a:p>
        </p:txBody>
      </p:sp>
      <p:sp>
        <p:nvSpPr>
          <p:cNvPr id="41" name="bld3_2896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3" name="Shape 4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8336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585392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85392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88336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9" name="bld3_2898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SDS</a:t>
            </a:r>
            <a:endParaRPr lang="en-US" sz="1450" dirty="0"/>
          </a:p>
        </p:txBody>
      </p:sp>
      <p:sp>
        <p:nvSpPr>
          <p:cNvPr id="50" name="bld3_2899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Material-specific safety data.</a:t>
            </a:r>
            <a:endParaRPr lang="en-US" sz="1080" dirty="0"/>
          </a:p>
        </p:txBody>
      </p:sp>
      <p:sp>
        <p:nvSpPr>
          <p:cNvPr id="51" name="bld4_2900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9" name="bld4_2902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databases</a:t>
            </a:r>
            <a:endParaRPr lang="en-US" sz="1450" dirty="0"/>
          </a:p>
        </p:txBody>
      </p:sp>
      <p:sp>
        <p:nvSpPr>
          <p:cNvPr id="60" name="bld4_2903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government sources.</a:t>
            </a:r>
            <a:endParaRPr lang="en-US" sz="1080" dirty="0"/>
          </a:p>
        </p:txBody>
      </p:sp>
      <p:sp>
        <p:nvSpPr>
          <p:cNvPr id="61" name="bld5_2904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5_2906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assessors</a:t>
            </a:r>
            <a:endParaRPr lang="en-US" sz="1450" dirty="0"/>
          </a:p>
        </p:txBody>
      </p:sp>
      <p:sp>
        <p:nvSpPr>
          <p:cNvPr id="70" name="bld5_2907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 by your market.</a:t>
            </a:r>
            <a:endParaRPr lang="en-US" sz="1080" dirty="0"/>
          </a:p>
        </p:txBody>
      </p:sp>
      <p:sp>
        <p:nvSpPr>
          <p:cNvPr id="72" name="trans_fade_19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9" grpId="0"/>
      <p:bldP spid="30" grpId="0"/>
      <p:bldP spid="31" grpId="0"/>
      <p:bldP spid="39" grpId="0"/>
      <p:bldP spid="40" grpId="0"/>
      <p:bldP spid="41" grpId="0"/>
      <p:bldP spid="49" grpId="0"/>
      <p:bldP spid="50" grpId="0"/>
      <p:bldP spid="51" grpId="0"/>
      <p:bldP spid="59" grpId="0"/>
      <p:bldP spid="60" grpId="0"/>
      <p:bldP spid="61" grpId="0"/>
      <p:bldP spid="69" grpId="0"/>
      <p:bldP spid="70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PATH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 to sellable label</a:t>
            </a:r>
            <a:endParaRPr lang="en-US" sz="3200" dirty="0"/>
          </a:p>
        </p:txBody>
      </p:sp>
      <p:sp>
        <p:nvSpPr>
          <p:cNvPr id="7" name="bld1_2908"/>
          <p:cNvSpPr txBox="1"/>
          <p:nvPr/>
        </p:nvSpPr>
        <p:spPr>
          <a:xfrm>
            <a:off x="2064990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53807"/>
            <a:ext cx="317145" cy="140953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5865" y="3653807"/>
            <a:ext cx="317145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05865" y="3829998"/>
            <a:ext cx="317145" cy="28190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290" y="4111905"/>
            <a:ext cx="528574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77290" y="3794760"/>
            <a:ext cx="211430" cy="317145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1099" y="3618569"/>
            <a:ext cx="387621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2339" y="3738379"/>
            <a:ext cx="112763" cy="11276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65341" y="3613283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82485" y="378947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5341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766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0575" y="357804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1_2910"/>
          <p:cNvSpPr txBox="1"/>
          <p:nvPr/>
        </p:nvSpPr>
        <p:spPr>
          <a:xfrm>
            <a:off x="253014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00" dirty="0"/>
          </a:p>
        </p:txBody>
      </p:sp>
      <p:sp>
        <p:nvSpPr>
          <p:cNvPr id="23" name="bld1_2911"/>
          <p:cNvSpPr txBox="1"/>
          <p:nvPr/>
        </p:nvSpPr>
        <p:spPr>
          <a:xfrm>
            <a:off x="253014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composition</a:t>
            </a:r>
            <a:endParaRPr lang="en-US" sz="1050" dirty="0"/>
          </a:p>
        </p:txBody>
      </p:sp>
      <p:sp>
        <p:nvSpPr>
          <p:cNvPr id="24" name="bld2_2912"/>
          <p:cNvSpPr txBox="1"/>
          <p:nvPr/>
        </p:nvSpPr>
        <p:spPr>
          <a:xfrm>
            <a:off x="4027841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6" name="Shape 24"/>
          <p:cNvSpPr/>
          <p:nvPr/>
        </p:nvSpPr>
        <p:spPr>
          <a:xfrm>
            <a:off x="2510875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74392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608279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608279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674392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2" name="bld2_2914"/>
          <p:cNvSpPr txBox="1"/>
          <p:nvPr/>
        </p:nvSpPr>
        <p:spPr>
          <a:xfrm>
            <a:off x="2215866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check</a:t>
            </a:r>
            <a:endParaRPr lang="en-US" sz="1400" dirty="0"/>
          </a:p>
        </p:txBody>
      </p:sp>
      <p:sp>
        <p:nvSpPr>
          <p:cNvPr id="33" name="bld2_2915"/>
          <p:cNvSpPr txBox="1"/>
          <p:nvPr/>
        </p:nvSpPr>
        <p:spPr>
          <a:xfrm>
            <a:off x="2215866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limits met</a:t>
            </a:r>
            <a:endParaRPr lang="en-US" sz="1050" dirty="0"/>
          </a:p>
        </p:txBody>
      </p:sp>
      <p:sp>
        <p:nvSpPr>
          <p:cNvPr id="34" name="bld3_2916"/>
          <p:cNvSpPr txBox="1"/>
          <p:nvPr/>
        </p:nvSpPr>
        <p:spPr>
          <a:xfrm>
            <a:off x="5990692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4473726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37243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571130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571130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637243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3_2918"/>
          <p:cNvSpPr txBox="1"/>
          <p:nvPr/>
        </p:nvSpPr>
        <p:spPr>
          <a:xfrm>
            <a:off x="4178717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data</a:t>
            </a:r>
            <a:endParaRPr lang="en-US" sz="1400" dirty="0"/>
          </a:p>
        </p:txBody>
      </p:sp>
      <p:sp>
        <p:nvSpPr>
          <p:cNvPr id="43" name="bld3_2919"/>
          <p:cNvSpPr txBox="1"/>
          <p:nvPr/>
        </p:nvSpPr>
        <p:spPr>
          <a:xfrm>
            <a:off x="4178717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each SDS</a:t>
            </a:r>
            <a:endParaRPr lang="en-US" sz="1050" dirty="0"/>
          </a:p>
        </p:txBody>
      </p:sp>
      <p:sp>
        <p:nvSpPr>
          <p:cNvPr id="44" name="bld4_2920"/>
          <p:cNvSpPr txBox="1"/>
          <p:nvPr/>
        </p:nvSpPr>
        <p:spPr>
          <a:xfrm>
            <a:off x="7953543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>
            <a:off x="6981169" y="3370363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2700000">
            <a:off x="7118168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5400000">
            <a:off x="7174915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100000">
            <a:off x="7118168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6981169" y="3757856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3500000">
            <a:off x="6844169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6200000">
            <a:off x="6787422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8900000">
            <a:off x="6844169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974762" y="3692249"/>
            <a:ext cx="205023" cy="20502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5" name="Shape 5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6" name="bld4_2922"/>
          <p:cNvSpPr txBox="1"/>
          <p:nvPr/>
        </p:nvSpPr>
        <p:spPr>
          <a:xfrm>
            <a:off x="6141568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info</a:t>
            </a:r>
            <a:endParaRPr lang="en-US" sz="1400" dirty="0"/>
          </a:p>
        </p:txBody>
      </p:sp>
      <p:sp>
        <p:nvSpPr>
          <p:cNvPr id="57" name="bld4_2923"/>
          <p:cNvSpPr txBox="1"/>
          <p:nvPr/>
        </p:nvSpPr>
        <p:spPr>
          <a:xfrm>
            <a:off x="6141568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as required</a:t>
            </a:r>
            <a:endParaRPr lang="en-US" sz="1050" dirty="0"/>
          </a:p>
        </p:txBody>
      </p:sp>
      <p:sp>
        <p:nvSpPr>
          <p:cNvPr id="58" name="bld5_2924"/>
          <p:cNvSpPr txBox="1"/>
          <p:nvPr/>
        </p:nvSpPr>
        <p:spPr>
          <a:xfrm>
            <a:off x="9916394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9" name="Shape 57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8399428" y="3154064"/>
            <a:ext cx="1281393" cy="1281393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562945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496832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496832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562945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6" name="bld5_2926"/>
          <p:cNvSpPr txBox="1"/>
          <p:nvPr/>
        </p:nvSpPr>
        <p:spPr>
          <a:xfrm>
            <a:off x="8104419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assessment</a:t>
            </a:r>
            <a:endParaRPr lang="en-US" sz="1400" dirty="0"/>
          </a:p>
        </p:txBody>
      </p:sp>
      <p:sp>
        <p:nvSpPr>
          <p:cNvPr id="67" name="bld5_2927"/>
          <p:cNvSpPr txBox="1"/>
          <p:nvPr/>
        </p:nvSpPr>
        <p:spPr>
          <a:xfrm>
            <a:off x="8104419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market's rules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9" name="Shape 67"/>
          <p:cNvSpPr/>
          <p:nvPr/>
        </p:nvSpPr>
        <p:spPr>
          <a:xfrm>
            <a:off x="10362279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0525796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10459683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459683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525796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75" name="bld6_2929"/>
          <p:cNvSpPr txBox="1"/>
          <p:nvPr/>
        </p:nvSpPr>
        <p:spPr>
          <a:xfrm>
            <a:off x="10067270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76" name="bld6_2930"/>
          <p:cNvSpPr txBox="1"/>
          <p:nvPr/>
        </p:nvSpPr>
        <p:spPr>
          <a:xfrm>
            <a:off x="10067270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compliant &amp; ready</a:t>
            </a:r>
            <a:endParaRPr lang="en-US" sz="1050" dirty="0"/>
          </a:p>
        </p:txBody>
      </p:sp>
      <p:sp>
        <p:nvSpPr>
          <p:cNvPr id="78" name="trans_push_l_19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9" name="Text 7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2" grpId="0"/>
      <p:bldP spid="33" grpId="0"/>
      <p:bldP spid="34" grpId="0"/>
      <p:bldP spid="42" grpId="0"/>
      <p:bldP spid="43" grpId="0"/>
      <p:bldP spid="44" grpId="0"/>
      <p:bldP spid="56" grpId="0"/>
      <p:bldP spid="57" grpId="0"/>
      <p:bldP spid="58" grpId="0"/>
      <p:bldP spid="66" grpId="0"/>
      <p:bldP spid="67" grpId="0"/>
      <p:bldP spid="75" grpId="0"/>
      <p:bldP spid="76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isn't optional paperwork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difference between a hobby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business you can legally sell.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11</a:t>
            </a:r>
            <a:endParaRPr lang="en-US" sz="1100" dirty="0"/>
          </a:p>
        </p:txBody>
      </p:sp>
      <p:sp>
        <p:nvSpPr>
          <p:cNvPr id="10" name="trans_fade_19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STARTING A BRAND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Brand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you've learned, now aimed at building something the world can actually buy.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Bottles, labels and packaging that actually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your lane and telling a real story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fragrance brands actually sell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3" name="trans_fade_19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comes first</a:t>
            </a:r>
            <a:endParaRPr lang="en-US" sz="3200" dirty="0"/>
          </a:p>
        </p:txBody>
      </p:sp>
      <p:sp>
        <p:nvSpPr>
          <p:cNvPr id="7" name="bld1_2931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2142616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1" name="bld1_2933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endParaRPr lang="en-US" sz="1450" dirty="0"/>
          </a:p>
        </p:txBody>
      </p:sp>
      <p:sp>
        <p:nvSpPr>
          <p:cNvPr id="12" name="bld1_2934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the fragrance is built around.</a:t>
            </a:r>
            <a:endParaRPr lang="en-US" sz="1080" dirty="0"/>
          </a:p>
        </p:txBody>
      </p:sp>
      <p:sp>
        <p:nvSpPr>
          <p:cNvPr id="13" name="bld2_2935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5" name="Shape 13"/>
          <p:cNvSpPr/>
          <p:nvPr/>
        </p:nvSpPr>
        <p:spPr>
          <a:xfrm flipV="1">
            <a:off x="6095848" y="2167179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5885" y="2167179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215885" y="2233866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15823" y="2340566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015823" y="2220529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9136" y="2153842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4508" y="2199189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0546" y="2151841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20583" y="22185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00546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0485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33798" y="2138504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2_2937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29" name="bld2_2938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itself, fully developed.</a:t>
            </a:r>
            <a:endParaRPr lang="en-US" sz="1080" dirty="0"/>
          </a:p>
        </p:txBody>
      </p:sp>
      <p:sp>
        <p:nvSpPr>
          <p:cNvPr id="30" name="bld3_2939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>
            <a:off x="9862355" y="2055630"/>
            <a:ext cx="36278" cy="329798"/>
          </a:xfrm>
          <a:prstGeom prst="roundRect">
            <a:avLst>
              <a:gd name="adj" fmla="val 50411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76071" y="2279893"/>
            <a:ext cx="8846" cy="87248"/>
          </a:xfrm>
          <a:prstGeom prst="roundRect">
            <a:avLst>
              <a:gd name="adj" fmla="val 155053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5" name="bld3_2941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450" dirty="0"/>
          </a:p>
        </p:txBody>
      </p:sp>
      <p:sp>
        <p:nvSpPr>
          <p:cNvPr id="36" name="bld3_2942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wear testing, not just strips.</a:t>
            </a:r>
            <a:endParaRPr lang="en-US" sz="1080" dirty="0"/>
          </a:p>
        </p:txBody>
      </p:sp>
      <p:sp>
        <p:nvSpPr>
          <p:cNvPr id="37" name="bld4_2943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9" name="Shape 37"/>
          <p:cNvSpPr/>
          <p:nvPr/>
        </p:nvSpPr>
        <p:spPr>
          <a:xfrm>
            <a:off x="2069866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123216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123216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2123216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4" name="bld4_2945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</a:t>
            </a:r>
            <a:endParaRPr lang="en-US" sz="1450" dirty="0"/>
          </a:p>
        </p:txBody>
      </p:sp>
      <p:sp>
        <p:nvSpPr>
          <p:cNvPr id="45" name="bld4_2946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clarity and consistency over time.</a:t>
            </a:r>
            <a:endParaRPr lang="en-US" sz="1080" dirty="0"/>
          </a:p>
        </p:txBody>
      </p:sp>
      <p:sp>
        <p:nvSpPr>
          <p:cNvPr id="46" name="bld5_2947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8" name="Shape 46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91523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5890215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90215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591523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4" name="bld5_2949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5" name="bld5_2950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IFRA, SDS, allergens — all checked.</a:t>
            </a:r>
            <a:endParaRPr lang="en-US" sz="1080" dirty="0"/>
          </a:p>
        </p:txBody>
      </p:sp>
      <p:sp>
        <p:nvSpPr>
          <p:cNvPr id="56" name="bld6_2951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8" name="Shape 56"/>
          <p:cNvSpPr/>
          <p:nvPr/>
        </p:nvSpPr>
        <p:spPr>
          <a:xfrm>
            <a:off x="9854343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9" name="Shape 57"/>
          <p:cNvSpPr/>
          <p:nvPr/>
        </p:nvSpPr>
        <p:spPr>
          <a:xfrm>
            <a:off x="9857602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801730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838306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3" name="bld6_2953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64" name="bld6_2954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compound and bottle at scale.</a:t>
            </a:r>
            <a:endParaRPr lang="en-US" sz="1080" dirty="0"/>
          </a:p>
        </p:txBody>
      </p:sp>
      <p:sp>
        <p:nvSpPr>
          <p:cNvPr id="66" name="trans_fade_20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7" name="Text 6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8" grpId="0"/>
      <p:bldP spid="29" grpId="0"/>
      <p:bldP spid="30" grpId="0"/>
      <p:bldP spid="35" grpId="0"/>
      <p:bldP spid="36" grpId="0"/>
      <p:bldP spid="37" grpId="0"/>
      <p:bldP spid="44" grpId="0"/>
      <p:bldP spid="45" grpId="0"/>
      <p:bldP spid="46" grpId="0"/>
      <p:bldP spid="54" grpId="0"/>
      <p:bldP spid="55" grpId="0"/>
      <p:bldP spid="56" grpId="0"/>
      <p:bldP spid="63" grpId="0"/>
      <p:bldP spid="64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your bottle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>
            <a:off x="9426456" y="2233638"/>
            <a:ext cx="242504" cy="192987"/>
          </a:xfrm>
          <a:prstGeom prst="roundRect">
            <a:avLst>
              <a:gd name="adj" fmla="val 18953"/>
            </a:avLst>
          </a:prstGeom>
          <a:solidFill>
            <a:srgbClr val="0E0D0B"/>
          </a:solidFill>
          <a:ln/>
        </p:spPr>
      </p:sp>
      <p:sp>
        <p:nvSpPr>
          <p:cNvPr id="12" name="Shape 10"/>
          <p:cNvSpPr/>
          <p:nvPr/>
        </p:nvSpPr>
        <p:spPr>
          <a:xfrm>
            <a:off x="9442271" y="2426625"/>
            <a:ext cx="210873" cy="308778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71148" y="2735403"/>
            <a:ext cx="753118" cy="1428100"/>
          </a:xfrm>
          <a:prstGeom prst="roundRect">
            <a:avLst>
              <a:gd name="adj" fmla="val 14570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7724" y="3378049"/>
            <a:ext cx="679966" cy="748879"/>
          </a:xfrm>
          <a:prstGeom prst="roundRect">
            <a:avLst>
              <a:gd name="adj" fmla="val 13448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 is the first thing a customer touches — it earns real design attention.</a:t>
            </a:r>
            <a:endParaRPr lang="en-US" sz="1050" dirty="0"/>
          </a:p>
        </p:txBody>
      </p:sp>
      <p:sp>
        <p:nvSpPr>
          <p:cNvPr id="17" name="bld1_295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1_295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custom bottles</a:t>
            </a:r>
            <a:endParaRPr lang="en-US" sz="1650" dirty="0"/>
          </a:p>
        </p:txBody>
      </p:sp>
      <p:sp>
        <p:nvSpPr>
          <p:cNvPr id="19" name="bld1_295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bottles are fast and cheap to start; custom moulds are expensive but build real brand identity.</a:t>
            </a:r>
            <a:endParaRPr lang="en-US" sz="1250" dirty="0"/>
          </a:p>
        </p:txBody>
      </p:sp>
      <p:sp>
        <p:nvSpPr>
          <p:cNvPr id="20" name="bld2_295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295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order quantities</a:t>
            </a:r>
            <a:endParaRPr lang="en-US" sz="1650" dirty="0"/>
          </a:p>
        </p:txBody>
      </p:sp>
      <p:sp>
        <p:nvSpPr>
          <p:cNvPr id="22" name="bld2_296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glass often requires large MOQs — budget and plan inventory accordingly.</a:t>
            </a:r>
            <a:endParaRPr lang="en-US" sz="1250" dirty="0"/>
          </a:p>
        </p:txBody>
      </p:sp>
      <p:sp>
        <p:nvSpPr>
          <p:cNvPr id="23" name="bld3_296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296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Pumps, collars &amp; caps</a:t>
            </a:r>
            <a:endParaRPr lang="en-US" sz="1650" dirty="0"/>
          </a:p>
        </p:txBody>
      </p:sp>
      <p:sp>
        <p:nvSpPr>
          <p:cNvPr id="25" name="bld3_296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small components define the feel of a bottle as much as the glass itself.</a:t>
            </a:r>
            <a:endParaRPr lang="en-US" sz="1250" dirty="0"/>
          </a:p>
        </p:txBody>
      </p:sp>
      <p:sp>
        <p:nvSpPr>
          <p:cNvPr id="27" name="trans_fade_20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ON THE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— more technical than they look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665447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217204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964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2966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9" name="bld1_2967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Paper, vinyl or foil — each behaves differently.</a:t>
            </a:r>
            <a:endParaRPr lang="en-US" sz="1080" dirty="0"/>
          </a:p>
        </p:txBody>
      </p:sp>
      <p:sp>
        <p:nvSpPr>
          <p:cNvPr id="20" name="bld2_2968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2970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Printing</a:t>
            </a:r>
            <a:endParaRPr lang="en-US" sz="1450" dirty="0"/>
          </a:p>
        </p:txBody>
      </p:sp>
      <p:sp>
        <p:nvSpPr>
          <p:cNvPr id="25" name="bld2_2971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vs. letterpress vs. foil stamping.</a:t>
            </a:r>
            <a:endParaRPr lang="en-US" sz="1080" dirty="0"/>
          </a:p>
        </p:txBody>
      </p:sp>
      <p:sp>
        <p:nvSpPr>
          <p:cNvPr id="26" name="bld3_2972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>
            <a:off x="6066451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070285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04554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41130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3" name="bld3_2974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Adhesion</a:t>
            </a:r>
            <a:endParaRPr lang="en-US" sz="1450" dirty="0"/>
          </a:p>
        </p:txBody>
      </p:sp>
      <p:sp>
        <p:nvSpPr>
          <p:cNvPr id="34" name="bld3_2975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bond securely to glass long-term.</a:t>
            </a:r>
            <a:endParaRPr lang="en-US" sz="1080" dirty="0"/>
          </a:p>
        </p:txBody>
      </p:sp>
      <p:sp>
        <p:nvSpPr>
          <p:cNvPr id="35" name="bld4_2976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7" name="Shape 35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14340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14340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4340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2" name="bld4_2978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/ alcohol resistance</a:t>
            </a:r>
            <a:endParaRPr lang="en-US" sz="1450" dirty="0"/>
          </a:p>
        </p:txBody>
      </p:sp>
      <p:sp>
        <p:nvSpPr>
          <p:cNvPr id="43" name="bld4_2979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survive spills without smearing or lifting.</a:t>
            </a:r>
            <a:endParaRPr lang="en-US" sz="1080" dirty="0"/>
          </a:p>
        </p:txBody>
      </p:sp>
      <p:sp>
        <p:nvSpPr>
          <p:cNvPr id="44" name="bld5_2980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2" name="bld5_2982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</a:t>
            </a:r>
            <a:endParaRPr lang="en-US" sz="1450" dirty="0"/>
          </a:p>
        </p:txBody>
      </p:sp>
      <p:sp>
        <p:nvSpPr>
          <p:cNvPr id="53" name="bld5_2983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Ingredients, allergens, volume, batch code.</a:t>
            </a:r>
            <a:endParaRPr lang="en-US" sz="1080" dirty="0"/>
          </a:p>
        </p:txBody>
      </p:sp>
      <p:sp>
        <p:nvSpPr>
          <p:cNvPr id="55" name="trans_fade_20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3" grpId="0"/>
      <p:bldP spid="34" grpId="0"/>
      <p:bldP spid="35" grpId="0"/>
      <p:bldP spid="42" grpId="0"/>
      <p:bldP spid="43" grpId="0"/>
      <p:bldP spid="44" grpId="0"/>
      <p:bldP spid="52" grpId="0"/>
      <p:bldP spid="53" grpId="0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PRESENTATION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 tells the story too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665447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217204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984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10033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3868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48136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4712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2986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Boxes</a:t>
            </a:r>
            <a:endParaRPr lang="en-US" sz="1450" dirty="0"/>
          </a:p>
        </p:txBody>
      </p:sp>
      <p:sp>
        <p:nvSpPr>
          <p:cNvPr id="18" name="bld1_2987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unboxing experience.</a:t>
            </a:r>
            <a:endParaRPr lang="en-US" sz="1080" dirty="0"/>
          </a:p>
        </p:txBody>
      </p:sp>
      <p:sp>
        <p:nvSpPr>
          <p:cNvPr id="19" name="bld2_2988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1" name="Shape 19"/>
          <p:cNvSpPr/>
          <p:nvPr/>
        </p:nvSpPr>
        <p:spPr>
          <a:xfrm>
            <a:off x="4391749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464561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435122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435122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464561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7" name="bld2_2990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</a:t>
            </a:r>
            <a:endParaRPr lang="en-US" sz="1450" dirty="0"/>
          </a:p>
        </p:txBody>
      </p:sp>
      <p:sp>
        <p:nvSpPr>
          <p:cNvPr id="28" name="bld2_2991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brand identity.</a:t>
            </a:r>
            <a:endParaRPr lang="en-US" sz="1080" dirty="0"/>
          </a:p>
        </p:txBody>
      </p:sp>
      <p:sp>
        <p:nvSpPr>
          <p:cNvPr id="29" name="bld3_2992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1" name="Shape 29"/>
          <p:cNvSpPr/>
          <p:nvPr/>
        </p:nvSpPr>
        <p:spPr>
          <a:xfrm>
            <a:off x="7485257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2" name="Shape 30"/>
          <p:cNvSpPr/>
          <p:nvPr/>
        </p:nvSpPr>
        <p:spPr>
          <a:xfrm>
            <a:off x="7489091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23360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59936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6" name="bld3_2994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 presentation</a:t>
            </a:r>
            <a:endParaRPr lang="en-US" sz="1450" dirty="0"/>
          </a:p>
        </p:txBody>
      </p:sp>
      <p:sp>
        <p:nvSpPr>
          <p:cNvPr id="37" name="bld3_2995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 and feels in hand.</a:t>
            </a:r>
            <a:endParaRPr lang="en-US" sz="1080" dirty="0"/>
          </a:p>
        </p:txBody>
      </p:sp>
      <p:sp>
        <p:nvSpPr>
          <p:cNvPr id="38" name="bld4_2996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22869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6703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60972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97548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45" name="bld4_2998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Samples</a:t>
            </a:r>
            <a:endParaRPr lang="en-US" sz="1450" dirty="0"/>
          </a:p>
        </p:txBody>
      </p:sp>
      <p:sp>
        <p:nvSpPr>
          <p:cNvPr id="46" name="bld4_2999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trial for new customers.</a:t>
            </a:r>
            <a:endParaRPr lang="en-US" sz="1080" dirty="0"/>
          </a:p>
        </p:txBody>
      </p:sp>
      <p:sp>
        <p:nvSpPr>
          <p:cNvPr id="48" name="trans_fade_20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9" name="Text 4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7" grpId="0"/>
      <p:bldP spid="28" grpId="0"/>
      <p:bldP spid="29" grpId="0"/>
      <p:bldP spid="36" grpId="0"/>
      <p:bldP spid="37" grpId="0"/>
      <p:bldP spid="38" grpId="0"/>
      <p:bldP spid="45" grpId="0"/>
      <p:bldP spid="4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brand is not just a logo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58127" y="1878562"/>
            <a:ext cx="2179162" cy="2179162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35289" y="2255724"/>
            <a:ext cx="1424836" cy="142483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logo is one layer. A brand is every layer together.</a:t>
            </a:r>
            <a:endParaRPr lang="en-US" sz="1050" dirty="0"/>
          </a:p>
        </p:txBody>
      </p:sp>
      <p:sp>
        <p:nvSpPr>
          <p:cNvPr id="13" name="bld1_300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1_300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</a:t>
            </a:r>
            <a:endParaRPr lang="en-US" sz="1650" dirty="0"/>
          </a:p>
        </p:txBody>
      </p:sp>
      <p:sp>
        <p:nvSpPr>
          <p:cNvPr id="15" name="bld1_300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fragrance, why now, why you.</a:t>
            </a:r>
            <a:endParaRPr lang="en-US" sz="1250" dirty="0"/>
          </a:p>
        </p:txBody>
      </p:sp>
      <p:sp>
        <p:nvSpPr>
          <p:cNvPr id="16" name="bld2_300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2_300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18" name="bld2_300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point of view across everything you make.</a:t>
            </a:r>
            <a:endParaRPr lang="en-US" sz="1250" dirty="0"/>
          </a:p>
        </p:txBody>
      </p:sp>
      <p:sp>
        <p:nvSpPr>
          <p:cNvPr id="19" name="bld3_300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3_300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1650" dirty="0"/>
          </a:p>
        </p:txBody>
      </p:sp>
      <p:sp>
        <p:nvSpPr>
          <p:cNvPr id="21" name="bld3_300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person you're speaking to, not "everyone."</a:t>
            </a:r>
            <a:endParaRPr lang="en-US" sz="1250" dirty="0"/>
          </a:p>
        </p:txBody>
      </p:sp>
      <p:sp>
        <p:nvSpPr>
          <p:cNvPr id="22" name="bld4_300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bld4_301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language, positioning &amp; tone</a:t>
            </a:r>
            <a:endParaRPr lang="en-US" sz="1650" dirty="0"/>
          </a:p>
        </p:txBody>
      </p:sp>
      <p:sp>
        <p:nvSpPr>
          <p:cNvPr id="24" name="bld4_301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looks, where it sits in the market, and how it talks to people.</a:t>
            </a:r>
            <a:endParaRPr lang="en-US" sz="1250" dirty="0"/>
          </a:p>
        </p:txBody>
      </p:sp>
      <p:sp>
        <p:nvSpPr>
          <p:cNvPr id="26" name="trans_fade_20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LANE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positioning — pick a lane</a:t>
            </a:r>
            <a:endParaRPr lang="en-US" sz="3200" dirty="0"/>
          </a:p>
        </p:txBody>
      </p:sp>
      <p:sp>
        <p:nvSpPr>
          <p:cNvPr id="7" name="bld1_3012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1669681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1" name="bld1_3014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Luxury</a:t>
            </a:r>
            <a:endParaRPr lang="en-US" sz="1450" dirty="0"/>
          </a:p>
        </p:txBody>
      </p:sp>
      <p:sp>
        <p:nvSpPr>
          <p:cNvPr id="12" name="bld1_3015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pricing, premium everything.</a:t>
            </a:r>
            <a:endParaRPr lang="en-US" sz="1080" dirty="0"/>
          </a:p>
        </p:txBody>
      </p:sp>
      <p:sp>
        <p:nvSpPr>
          <p:cNvPr id="13" name="bld2_3016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4643092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4400000">
            <a:off x="474809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000000">
            <a:off x="474809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643092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3600000">
            <a:off x="453808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7200000">
            <a:off x="453808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18842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2" name="Shape 20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3" name="bld2_3018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1450" dirty="0"/>
          </a:p>
        </p:txBody>
      </p:sp>
      <p:sp>
        <p:nvSpPr>
          <p:cNvPr id="24" name="bld2_3019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Distinctive, less mainstream, expressive.</a:t>
            </a:r>
            <a:endParaRPr lang="en-US" sz="1080" dirty="0"/>
          </a:p>
        </p:txBody>
      </p:sp>
      <p:sp>
        <p:nvSpPr>
          <p:cNvPr id="25" name="bld3_3020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7478279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2700000">
            <a:off x="7530132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5400000">
            <a:off x="7551610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100000">
            <a:off x="7530132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0800000">
            <a:off x="7478279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3500000">
            <a:off x="7426425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6200000">
            <a:off x="7404947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7426425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475854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7" name="bld3_3022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Affordable niche</a:t>
            </a:r>
            <a:endParaRPr lang="en-US" sz="1450" dirty="0"/>
          </a:p>
        </p:txBody>
      </p:sp>
      <p:sp>
        <p:nvSpPr>
          <p:cNvPr id="38" name="bld3_3023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character, accessible pricing.</a:t>
            </a:r>
            <a:endParaRPr lang="en-US" sz="1080" dirty="0"/>
          </a:p>
        </p:txBody>
      </p:sp>
      <p:sp>
        <p:nvSpPr>
          <p:cNvPr id="39" name="bld4_3024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6" name="bld4_3026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market</a:t>
            </a:r>
            <a:endParaRPr lang="en-US" sz="1450" dirty="0"/>
          </a:p>
        </p:txBody>
      </p:sp>
      <p:sp>
        <p:nvSpPr>
          <p:cNvPr id="47" name="bld4_3027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appeal, widest distribution.</a:t>
            </a:r>
            <a:endParaRPr lang="en-US" sz="1080" dirty="0"/>
          </a:p>
        </p:txBody>
      </p:sp>
      <p:sp>
        <p:nvSpPr>
          <p:cNvPr id="48" name="bld5_3028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0" name="Shape 48"/>
          <p:cNvSpPr/>
          <p:nvPr/>
        </p:nvSpPr>
        <p:spPr>
          <a:xfrm flipV="1">
            <a:off x="1839430" y="4526331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9467" y="4526331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959467" y="4593018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759405" y="4699718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759405" y="4579681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92718" y="4512994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818090" y="4558341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944129" y="4510993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64166" y="45776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944129" y="46843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44067" y="46843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677380" y="4497656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3" name="bld5_3030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</a:t>
            </a:r>
            <a:endParaRPr lang="en-US" sz="1450" dirty="0"/>
          </a:p>
        </p:txBody>
      </p:sp>
      <p:sp>
        <p:nvSpPr>
          <p:cNvPr id="64" name="bld5_3031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Boundary-pushing, art-forward.</a:t>
            </a:r>
            <a:endParaRPr lang="en-US" sz="1080" dirty="0"/>
          </a:p>
        </p:txBody>
      </p:sp>
      <p:sp>
        <p:nvSpPr>
          <p:cNvPr id="65" name="bld6_3032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7" name="Shape 65"/>
          <p:cNvSpPr/>
          <p:nvPr/>
        </p:nvSpPr>
        <p:spPr>
          <a:xfrm rot="9000000">
            <a:off x="4555792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000000">
            <a:off x="4492743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1400000">
            <a:off x="4691592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71" name="bld6_3034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Eastern inspired</a:t>
            </a:r>
            <a:endParaRPr lang="en-US" sz="1450" dirty="0"/>
          </a:p>
        </p:txBody>
      </p:sp>
      <p:sp>
        <p:nvSpPr>
          <p:cNvPr id="72" name="bld6_3035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oud- and amber-forward.</a:t>
            </a:r>
            <a:endParaRPr lang="en-US" sz="1080" dirty="0"/>
          </a:p>
        </p:txBody>
      </p:sp>
      <p:sp>
        <p:nvSpPr>
          <p:cNvPr id="73" name="bld7_3036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5" name="Shape 73"/>
          <p:cNvSpPr/>
          <p:nvPr/>
        </p:nvSpPr>
        <p:spPr>
          <a:xfrm>
            <a:off x="7291555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7" name="bld7_3038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Minimalist</a:t>
            </a:r>
            <a:endParaRPr lang="en-US" sz="1450" dirty="0"/>
          </a:p>
        </p:txBody>
      </p:sp>
      <p:sp>
        <p:nvSpPr>
          <p:cNvPr id="78" name="bld7_3039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restrained, understated.</a:t>
            </a:r>
            <a:endParaRPr lang="en-US" sz="1080" dirty="0"/>
          </a:p>
        </p:txBody>
      </p:sp>
      <p:sp>
        <p:nvSpPr>
          <p:cNvPr id="79" name="bld8_3040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1" name="Shape 79"/>
          <p:cNvSpPr/>
          <p:nvPr/>
        </p:nvSpPr>
        <p:spPr>
          <a:xfrm rot="15300000">
            <a:off x="1018806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3050000">
            <a:off x="1023353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0800000">
            <a:off x="10311040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8550000">
            <a:off x="1038854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6300000">
            <a:off x="10434014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87" name="bld8_3042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Natural-focused</a:t>
            </a:r>
            <a:endParaRPr lang="en-US" sz="1450" dirty="0"/>
          </a:p>
        </p:txBody>
      </p:sp>
      <p:sp>
        <p:nvSpPr>
          <p:cNvPr id="88" name="bld8_3043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Naturals-led, ingredient transparency.</a:t>
            </a:r>
            <a:endParaRPr lang="en-US" sz="1080" dirty="0"/>
          </a:p>
        </p:txBody>
      </p:sp>
      <p:sp>
        <p:nvSpPr>
          <p:cNvPr id="90" name="trans_fade_20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1" name="Text 8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</a:t>
            </a:r>
            <a:endParaRPr lang="en-US" sz="1000" dirty="0"/>
          </a:p>
        </p:txBody>
      </p:sp>
      <p:sp>
        <p:nvSpPr>
          <p:cNvPr id="92" name="Text 8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3" grpId="0"/>
      <p:bldP spid="24" grpId="0"/>
      <p:bldP spid="25" grpId="0"/>
      <p:bldP spid="37" grpId="0"/>
      <p:bldP spid="38" grpId="0"/>
      <p:bldP spid="39" grpId="0"/>
      <p:bldP spid="46" grpId="0"/>
      <p:bldP spid="47" grpId="0"/>
      <p:bldP spid="48" grpId="0"/>
      <p:bldP spid="63" grpId="0"/>
      <p:bldP spid="64" grpId="0"/>
      <p:bldP spid="65" grpId="0"/>
      <p:bldP spid="71" grpId="0"/>
      <p:bldP spid="72" grpId="0"/>
      <p:bldP spid="73" grpId="0"/>
      <p:bldP spid="77" grpId="0"/>
      <p:bldP spid="78" grpId="0"/>
      <p:bldP spid="79" grpId="0"/>
      <p:bldP spid="87" grpId="0"/>
      <p:bldP spid="8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CUSTOMERS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perfume brands actually sell</a:t>
            </a:r>
            <a:endParaRPr lang="en-US" sz="3200" dirty="0"/>
          </a:p>
        </p:txBody>
      </p:sp>
      <p:sp>
        <p:nvSpPr>
          <p:cNvPr id="7" name="bld1_3044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50281" y="2218104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50281" y="2157479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50281" y="2089580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4" name="bld1_3046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website</a:t>
            </a:r>
            <a:endParaRPr lang="en-US" sz="1450" dirty="0"/>
          </a:p>
        </p:txBody>
      </p:sp>
      <p:sp>
        <p:nvSpPr>
          <p:cNvPr id="15" name="bld1_3047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full margin.</a:t>
            </a:r>
            <a:endParaRPr lang="en-US" sz="1080" dirty="0"/>
          </a:p>
        </p:txBody>
      </p:sp>
      <p:sp>
        <p:nvSpPr>
          <p:cNvPr id="16" name="bld2_3048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4507292" y="2050780"/>
            <a:ext cx="339498" cy="339498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0" name="bld2_3050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1450" dirty="0"/>
          </a:p>
        </p:txBody>
      </p:sp>
      <p:sp>
        <p:nvSpPr>
          <p:cNvPr id="21" name="bld2_3051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storytelling at scale.</a:t>
            </a:r>
            <a:endParaRPr lang="en-US" sz="1080" dirty="0"/>
          </a:p>
        </p:txBody>
      </p:sp>
      <p:sp>
        <p:nvSpPr>
          <p:cNvPr id="22" name="bld3_3052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44904" y="2050780"/>
            <a:ext cx="339498" cy="339498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26" name="bld3_3054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450" dirty="0"/>
          </a:p>
        </p:txBody>
      </p:sp>
      <p:sp>
        <p:nvSpPr>
          <p:cNvPr id="27" name="bld3_3055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brand-building and community.</a:t>
            </a:r>
            <a:endParaRPr lang="en-US" sz="1080" dirty="0"/>
          </a:p>
        </p:txBody>
      </p:sp>
      <p:sp>
        <p:nvSpPr>
          <p:cNvPr id="28" name="bld4_3056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5" name="bld4_3058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Pop-ups</a:t>
            </a:r>
            <a:endParaRPr lang="en-US" sz="1450" dirty="0"/>
          </a:p>
        </p:txBody>
      </p:sp>
      <p:sp>
        <p:nvSpPr>
          <p:cNvPr id="36" name="bld4_3059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sampling and connection.</a:t>
            </a:r>
            <a:endParaRPr lang="en-US" sz="1080" dirty="0"/>
          </a:p>
        </p:txBody>
      </p:sp>
      <p:sp>
        <p:nvSpPr>
          <p:cNvPr id="37" name="bld5_3060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6648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7618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3" name="bld5_3062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</a:t>
            </a:r>
            <a:endParaRPr lang="en-US" sz="1450" dirty="0"/>
          </a:p>
        </p:txBody>
      </p:sp>
      <p:sp>
        <p:nvSpPr>
          <p:cNvPr id="44" name="bld5_3063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direct customer feedback.</a:t>
            </a:r>
            <a:endParaRPr lang="en-US" sz="1080" dirty="0"/>
          </a:p>
        </p:txBody>
      </p:sp>
      <p:sp>
        <p:nvSpPr>
          <p:cNvPr id="45" name="bld6_3064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7" name="Shape 45"/>
          <p:cNvSpPr/>
          <p:nvPr/>
        </p:nvSpPr>
        <p:spPr>
          <a:xfrm>
            <a:off x="4652055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8" name="Shape 46"/>
          <p:cNvSpPr/>
          <p:nvPr/>
        </p:nvSpPr>
        <p:spPr>
          <a:xfrm>
            <a:off x="4655314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9442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36018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2" name="bld6_3066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450" dirty="0"/>
          </a:p>
        </p:txBody>
      </p:sp>
      <p:sp>
        <p:nvSpPr>
          <p:cNvPr id="53" name="bld6_3067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shelf presence.</a:t>
            </a:r>
            <a:endParaRPr lang="en-US" sz="1080" dirty="0"/>
          </a:p>
        </p:txBody>
      </p:sp>
      <p:sp>
        <p:nvSpPr>
          <p:cNvPr id="54" name="bld7_3068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6" name="Shape 54"/>
          <p:cNvSpPr/>
          <p:nvPr/>
        </p:nvSpPr>
        <p:spPr>
          <a:xfrm>
            <a:off x="7489666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7" name="Shape 55"/>
          <p:cNvSpPr/>
          <p:nvPr/>
        </p:nvSpPr>
        <p:spPr>
          <a:xfrm>
            <a:off x="7492926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37054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73630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7_3070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Wholesale</a:t>
            </a:r>
            <a:endParaRPr lang="en-US" sz="1450" dirty="0"/>
          </a:p>
        </p:txBody>
      </p:sp>
      <p:sp>
        <p:nvSpPr>
          <p:cNvPr id="62" name="bld7_3071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through other retailers.</a:t>
            </a:r>
            <a:endParaRPr lang="en-US" sz="1080" dirty="0"/>
          </a:p>
        </p:txBody>
      </p:sp>
      <p:sp>
        <p:nvSpPr>
          <p:cNvPr id="63" name="bld8_3072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5" name="Shape 63"/>
          <p:cNvSpPr/>
          <p:nvPr/>
        </p:nvSpPr>
        <p:spPr>
          <a:xfrm>
            <a:off x="10182516" y="4409932"/>
            <a:ext cx="339498" cy="339498"/>
          </a:xfrm>
          <a:prstGeom prst="star5">
            <a:avLst/>
          </a:prstGeom>
          <a:solidFill>
            <a:srgbClr val="C9503E">
              <a:alpha val="9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7" name="bld8_3074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Influencers &amp; sampling</a:t>
            </a:r>
            <a:endParaRPr lang="en-US" sz="1450" dirty="0"/>
          </a:p>
        </p:txBody>
      </p:sp>
      <p:sp>
        <p:nvSpPr>
          <p:cNvPr id="68" name="bld8_3075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voices driving discovery.</a:t>
            </a:r>
            <a:endParaRPr lang="en-US" sz="1080" dirty="0"/>
          </a:p>
        </p:txBody>
      </p:sp>
      <p:sp>
        <p:nvSpPr>
          <p:cNvPr id="70" name="trans_fade_20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5" grpId="0"/>
      <p:bldP spid="36" grpId="0"/>
      <p:bldP spid="37" grpId="0"/>
      <p:bldP spid="43" grpId="0"/>
      <p:bldP spid="44" grpId="0"/>
      <p:bldP spid="45" grpId="0"/>
      <p:bldP spid="52" grpId="0"/>
      <p:bldP spid="53" grpId="0"/>
      <p:bldP spid="54" grpId="0"/>
      <p:bldP spid="61" grpId="0"/>
      <p:bldP spid="62" grpId="0"/>
      <p:bldP spid="63" grpId="0"/>
      <p:bldP spid="67" grpId="0"/>
      <p:bldP spid="68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SELLS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the story, not the note list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95432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726758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"Rose, amber, musk" is a list. A story is what makes someone actually buy.</a:t>
            </a:r>
            <a:endParaRPr lang="en-US" sz="1050" dirty="0"/>
          </a:p>
        </p:txBody>
      </p:sp>
      <p:sp>
        <p:nvSpPr>
          <p:cNvPr id="17" name="bld1_307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1_307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</a:t>
            </a:r>
            <a:endParaRPr lang="en-US" sz="1650" dirty="0"/>
          </a:p>
        </p:txBody>
      </p:sp>
      <p:sp>
        <p:nvSpPr>
          <p:cNvPr id="19" name="bld1_307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make someone feel, not just what's inside it.</a:t>
            </a:r>
            <a:endParaRPr lang="en-US" sz="1250" dirty="0"/>
          </a:p>
        </p:txBody>
      </p:sp>
      <p:sp>
        <p:nvSpPr>
          <p:cNvPr id="20" name="bld2_307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308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World-building</a:t>
            </a:r>
            <a:endParaRPr lang="en-US" sz="1650" dirty="0"/>
          </a:p>
        </p:txBody>
      </p:sp>
      <p:sp>
        <p:nvSpPr>
          <p:cNvPr id="22" name="bld2_308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aesthetic universe around the fragrance.</a:t>
            </a:r>
            <a:endParaRPr lang="en-US" sz="1250" dirty="0"/>
          </a:p>
        </p:txBody>
      </p:sp>
      <p:sp>
        <p:nvSpPr>
          <p:cNvPr id="23" name="bld3_308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3_308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25" name="bld3_308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this make the wearer feel like?</a:t>
            </a:r>
            <a:endParaRPr lang="en-US" sz="1250" dirty="0"/>
          </a:p>
        </p:txBody>
      </p:sp>
      <p:sp>
        <p:nvSpPr>
          <p:cNvPr id="26" name="bld4_308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4_308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1650" dirty="0"/>
          </a:p>
        </p:txBody>
      </p:sp>
      <p:sp>
        <p:nvSpPr>
          <p:cNvPr id="28" name="bld4_308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unboxing, the sampling, the ritual — not just the liquid.</a:t>
            </a:r>
            <a:endParaRPr lang="en-US" sz="1250" dirty="0"/>
          </a:p>
        </p:txBody>
      </p:sp>
      <p:sp>
        <p:nvSpPr>
          <p:cNvPr id="30" name="trans_fade_20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to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3657600"/>
            <a:ext cx="10728655" cy="914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99450" y="3584448"/>
            <a:ext cx="146304" cy="14630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Shape 7"/>
          <p:cNvSpPr/>
          <p:nvPr/>
        </p:nvSpPr>
        <p:spPr>
          <a:xfrm>
            <a:off x="1926298" y="3511296"/>
            <a:ext cx="292608" cy="292608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78242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0532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7380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9324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81614" y="3584448"/>
            <a:ext cx="146304" cy="14630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8462" y="3511296"/>
            <a:ext cx="292608" cy="292608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406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9544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01488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63778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0626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42570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704859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Shape 22"/>
          <p:cNvSpPr/>
          <p:nvPr/>
        </p:nvSpPr>
        <p:spPr>
          <a:xfrm>
            <a:off x="8631707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651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045941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7" name="Shape 25"/>
          <p:cNvSpPr/>
          <p:nvPr/>
        </p:nvSpPr>
        <p:spPr>
          <a:xfrm>
            <a:off x="9972789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24733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387023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13871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865815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 this course lives somewhere on this line. Now go build.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0820095" y="-320040"/>
            <a:ext cx="1645920" cy="1645920"/>
          </a:xfrm>
          <a:prstGeom prst="ellipse">
            <a:avLst/>
          </a:prstGeom>
          <a:ln w="16459">
            <a:solidFill>
              <a:srgbClr val="C9A35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perfume deserves a story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remembering. Build both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same care.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 · END OF COURSE</a:t>
            </a:r>
            <a:endParaRPr lang="en-US" sz="1100" dirty="0"/>
          </a:p>
        </p:txBody>
      </p:sp>
      <p:sp>
        <p:nvSpPr>
          <p:cNvPr id="10" name="trans_fade_20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210</Slides>
  <Notes>210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210</vt:i4>
      </vt:variant>
    </vt:vector>
  </HeadingPairs>
  <TitlesOfParts>
    <vt:vector size="2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PARFUM SIMPLIFIE — The Art &amp; Science of Perfumery</dc:title>
  <dc:subject>Beginner-to-intermediate perfumery course companion deck</dc:subject>
  <dc:creator>LA PARFUM SIMPLIFIE</dc:creator>
  <cp:lastModifiedBy>LA PARFUM SIMPLIFIE</cp:lastModifiedBy>
  <cp:revision>1</cp:revision>
  <dcterms:created xsi:type="dcterms:W3CDTF">2026-09-02T14:22:22Z</dcterms:created>
  <dcterms:modified xsi:type="dcterms:W3CDTF">2026-09-02T14:22:22Z</dcterms:modified>
</cp:coreProperties>
</file>