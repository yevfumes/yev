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</p:sldIdLst>
  <p:notesMasterIdLst>
    <p:notesMasterId r:id="rId23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notesMaster" Target="notesMasters/notesMaster1.xml"/><Relationship Id="rId237" Type="http://schemas.openxmlformats.org/officeDocument/2006/relationships/presProps" Target="presProps.xml"/><Relationship Id="rId238" Type="http://schemas.openxmlformats.org/officeDocument/2006/relationships/viewProps" Target="viewProps.xml"/><Relationship Id="rId239" Type="http://schemas.openxmlformats.org/officeDocument/2006/relationships/theme" Target="theme/theme1.xml"/><Relationship Id="rId2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cold open. Set the tone: this is not a corporate course, it's a creative lab. Introduce the energy of the whole program before naming a single ingredient.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philosophy: slides support the video, they never replace it. Encourage students to keep a physical notebook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outcomes, not topics — this is what changes for the student, not just what they'll hear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roadmap top to bottom. Give students a sense of pacing — this is a real curriculum, not a random collection of videos.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Discord mechanics concretely: channel names, threads, how office hours are scheduled.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structured like a reference library with discussion channels attached, not an unstructured chatroom — walk through the actual channel list on screen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philosophical core of the whole course — spend real time here. This is what separates hobbyists who plateau from ones who keep improving.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this hard — the single biggest predictor of student success is whether they actually smell the materials, not whether they watch closely.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specific software/spreadsheet system you use. Show a live example if possible during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on this note. Let it land — it's the thesis statement for the entire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module is foundational vocabulary and concepts. Nothing hands-on yet, but everything after this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slow here — these six words will recur in every future module. Use a quick real-world example for each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Diffusion, tenacity and impact get confused constantly — spend extra time distinguishing them, you'll reuse this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examples make these words stick far better than definitions alone — pair each with a live smell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percentage ranges are industry conventions, not fixed law — brands vary widely. The next point is more important than these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important corrections in the whole basics module — students constantly conflate concentration % with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this pyramid is a simplification. Almost every real material has some presence across multiple layers — don't let students take it too literally.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solvents matter: they let you work at safe, evaluable concentrations and match the final product format (spray vs oil vs roll-on).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round numbers, not a fixed rule — the point is proportion, not precision. This is a teaching example, not a formula to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myth-busting that continues in module 03.2 — synthetic does not mean lesser. Both are professional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over-explain each one here — this is a map, not a lesson. Families get their real depth in module 03.1.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fun with this slide — deliver it with energy, it's meant to be memorable and a little provocative.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module 01 by reinforcing that everything just taught is a simplified model. Real perfumery is messier and more interesting.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this is a lean, practical kit, not an expensive lab buildout. Everything shown is realistic for a beginner budget. This module now runs long — take it one topic per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half of the whole kit at a glance. Reveal one card at a time as you name each tool — every one of these gets its own proper explanation over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of the kit. Same treatment — one card at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specification (0.001g / ~200g), not a specific brand or model — any scale meeting that spec works. Walk through the 10g / 0.1% math slowly — this is the single idea that justifies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two real scales here if you have them — this is a great physical demonstration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Airflow is the beginner mistake nobody warns you about — a scale near an open window or a fan will drift and never settle.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— disposables are genuinely all a beginner needs. Only plastic transfer pipettes, never glass, in this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chain. Make sure students see that the pipette never does the measuring — only the transferring.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single misconception derails more beginner formulas than almost anything else — never assume one drop always weighs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solids counterpart to the liquids workflow — same discipline, different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brisk — beakers and funnels are the least conceptually demanding items in the whole 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one running on camera if possible — watching a stir bar spin makes the point instantly, far better than describing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glass isn't optional for long-term storage — UV light degrades many raw materials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label format should become second nature — use it consistently across every dilution bottle in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sets up module 05 (training your nose) — evaluation habits start here with the physical object.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same labelled strip and revisit it at each stage — this single habit teaches drydown faster than anything else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both items are simple and don't need much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is the quiet skill that determines whether a growing material library stays useful or turns into chaos.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Either system is genuinely fine — the only rule is to pick one and stay consistent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short habits, easy to state quickly on camera — don't over-explain any single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whichever specific tool you personally use here, live on camera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introductory — don't go deep into compounding ratios here, that's the entire subject of module 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solvent to choose depends on the material, the purpose, solubility, and how you plan to evaluate it — deeper solvent theory belongs in later modules, keep this a simple introduction.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in the essential column is genuinely enough to begin every remaining module. Nothing on the nice-to-have list is required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 and reassuring, not preachy — the goal is permission to start small, not shame about wanting nice equipment eventually.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memorable line to close the equipment conversation on — everything else in this module supports one of these three things.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scale as the physical and visual centre of the bench — everything else is arranged around it, always within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reassurance — equipment anxiety stops beginners before they start. Two tools are genuinely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about vocabulary and behaviour, applied specifically to natural materials. Synthetics get their own module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twelve families from module 01, now framed as a sorting tool you'll use to classify every material you smell. Today we go deep on four of them, natural-side.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Longevity is one of the first properties students should log for every material — connect directly to module 05's evaluation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terms get confused constantly — a material can have huge projection but low tenacity, or the reverse. Use concrete examples: bergamot projects instantly but fades fast; sandalwood projects little but lasts for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honest — don't present molecular weight as a deterministic rule, the prompt is explicit about avoiding that oversimplification.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extraction methods of the same plant can smell meaningfully different — e.g. rose absolute vs. rose otto.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Bright, inviting, easy to remember — this moodboard format repeats for every family across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side-by-side smelling — citrus oils are the easiest family to tell apart when compared directly, and the hardest to tell apart from memory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show the range within one family — bergamot for lift, grapefruit for sparkle, petitgrain for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Wood-ring icons for the cross-section woods, a root icon for vetiver, a single leaf for patchouli.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Woods are the load-bearing walls of a formula — almost every finished perfume rests on one or two of these at the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naturals are the backbone naturals used across almost every genre, from fresh to oriental.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how the flower icon shape itself changes — round for rose, star for jasmine, small for softer florals — a visual cue for character.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Florals are where naturals matter most — synthetics can approximate a rose, but rarely replace it entirely. This is the most expensive category to shop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smell all four side by side — the differences between rose, jasmine, neroli and ylang-ylang are the clearest floral lesson in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Resins are the warm, sticky, ancient heart of perfumery — most predate synthetic chemistry by thousands of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resin is a natural fixative — this is exactly why they anchor base notes and slow the evaporation of everything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Labdanum, benzoin and frankincense together roughly define the natural "amber" space long before Ambroxan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Mints are a small but useful family on their own — sharp, cooling top notes that show up in fresh and gourmand-fresh formulas alike.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common beginner misconception worth stating plainly — 'natural' is not a safety claim, it's a source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shopping horizon, not a requirement — the core families already covered are genuinely enough to start. Add from this list once you've worked through the essentials.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practically: always re-evaluate a new batch of a natural material before trusting an existing formula built on the old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module. Bridge to next: 'now let's look at the other half of the palette — synthetics.'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energy here — this is meant to be one of the most exciting modules. Set up the myth-busting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synthetics as an achievement, not a compromise. This sets the tone for the whole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— this is a map for the deep-dive sections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sentence of context per material live, if time allows. These are the highest-value to memorise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playfully but firmly — these myths do real damage to beginners who avoid a huge, useful part of the palette out of misplaced guilt.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Musks are the skin of a formula — they don't announce themselves, but everything else leans on them. Not one smell — teach the differences deliberately.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teach 'musk' as one generic smell — these four chemical families genuinely read differently on a strip, and choosing between them changes the whole texture of a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Macrocyclic musks are where perfumers reach for a warm, intimate, 'skin' effect — think of them as the family closest to how real musk deer secretion actually smells.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Polycyclic musks (Galaxolide, Tonalide) are the workhorse 'clean' layer in most modern formulas. Alicyclic musks (Helvetolide, Romandolide) are newer, even more transparent — useful when you want musk presence without any obvious musk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historical-literacy slide, not a shopping recommendation — nitro musks are here so students recognise the term, not so they go source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define the modern musk palette — clean, voluminous, and natural-feeling,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family single-handedly defines the last twenty-five years of mainstream perfumery.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teach these as interchangeable — 'Ambroxan' names the effect, while Ambrofix and Cetalox are specific supplier grades of it, each with its own dryness, warmth and radiance. Cedramber is a related but genuinely different material, not another Ambroxan grade — always confirm on a fresh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dose Ambroxan at 0.1% and then 3% in two strips — the difference is a genuinely eye-opening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largest and most-used synthetic family — almost every modern base note leans on one of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 E Super, Javanol and Cashmeran alone can define three completely different "woody" moods — transparent, creamy, and cosy. Each earns its place by what it contributes to a formula's structure, not just its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Javanol against Sandalore against natural sandalwood on three strips is one of the best exercises in the whole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Isolated floral facets — each one is a single true note pulled out of a whole flower's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biggest synthetic family in raw material count — most "natural-smelling" florals are actually built from several of these stacked together. Visual association + proper explanation, every time: Hedione shown with jasmine, but explained through space and diffusion, not just a note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isn't precise technical specification — it's teaching students not to treat named variants as interchangeable without smelling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build a five-second "rose" from phenylethyl alcohol, citronellol, geraniol and a trace of rose oxide — it's a genuinely convincing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Freshness is not one effect — citrus, green, metallic, aldehydic and watery freshness all feel completely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slide by naming the exact type of freshness each material delivers — citrus, green, metallic, aldehydic, watery — so students stop treating "fresh" as one idea.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Dose cis-3-hexenol extremely lightly first — at full strength it reads as more "lawnmower" than most students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between "juicy and realistic" and "candy" is entirely a question of dose — this family teaches restraint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realism-versus-candy line is entirely about dose — the same material that reads as "ripe peach" at 0.5% reads as "bubblegum" at 3%.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Smell gamma undecalactone at three different dilutions side by side — realism versus candy is the whole lesson in one strip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family that built an entire modern genre — without it, the last decade of gourmand perfumery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Heliotropin and Piperonal are the same material under two names — flag that explicitly, it trips up a lot of self-taught beginners. Guaiacol is easy to mis-file as 'vanilla' because it turns up in vanilla and whisky-barrel accords — but its own character is smoke and phenol, not sweetness.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family rewards restraint more than almost any other — a little goes further here than beginners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this firmly before introducing Rose Givco — it reframes everything that follows as professional practice, not a shortcut.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honest: we teach how to recognise and use a base, not exact proprietary recipes.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Rose Givco as one well-known example of a category — the modification slide that follows is the more universally useful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clearly on camera: these are educational examples of direction, not fixed formulas — the same four moves work on almost any floral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an exact commercial product name isn't certain, describe the category honestly rather than guessing at a name — that's a deliberate choice.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anticipation for the card grid that follows — this is where students realise how disproportionate a material's impact can 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takeaway: percentage and impact are not linear. A 0.3% dose of the right material can outweigh 5% of something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 — students should leave excited to experiment with synthetics, not intimidated by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materials theory to a real purchase order — the most actionable module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 warning — it's the single most common beginner mistake and it kills momentum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Woods, amber and musk together form the load-bearing base of almost every formula — this is where a beginner's budget is best spent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Floral, citrus, green and gourmand round out the first 30 — by the end of this list, every major family has at least one representative.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15 materials, alphabetised — useful once you're actually placing an order and working from a supplier's own 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second wave dramatically expands what's possible — but only makes sense once the first 30 are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shopping categories — encourage students to buy at least one or two materials from every category before doubling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back to the mindset module — buying random "interesting" materials is the equivalent of copying formulas without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wrap-up before module 04 — a student who checks every box here is genuinely ready to begin diluting.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patience — this module often produces the most excitement and the most temptation to overbuy.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practical, hands-on modules — encourage students to have their scale out while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dilution as a superpower, not a hurdle — it's what turns raw, unusable materials into a working palette.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ladder will come up repeatedly — most working stocks in this course live at 10% or 1%.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often treat EDT/EDP/extrait as strict legal categories — correct that gently here before it becomes a bad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process at a glance — every worked example on the next few slides fills in one of these four circles.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camera if possible — watching the actual weighing is far more valuable than hearing the ratio described.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"stock of a stock" technique is the single most useful trick in this module — it turns an impossible 0.1g weighing into two easy 1g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directly to module 11's IFRA discussion — a well-chosen low dilution is a compliance tool as much as a workflow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against overheating — gentle warming only, many materials degrade or evaporate unwanted fractions under heat.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this is a starting guideline — always confirm the right dilution by smelling, not just by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habit prevents the single most common lab disaster: an unlabelled bottle of unknown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practical safety reminder as well as a philosophical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tone: this is a discipline, not a talent. Anyone who does this consistently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should feel familiar — it echoes module 02's scent strip introduction, now turned into a discipline.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a template built from these nine questions, answered every single evaluation — patterns become visible over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Connects directly back to module 04's dilution ladder — reinforce the link between the two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exact schema we'll show in the sample card next — recommend a spreadsheet or simple database, whichever software you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difference between a hobbyist who plateaus and a nose that keeps improving for years — treat it as a daily habit, not a one-time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matters far less than the consistency — pick one of these three and actually use it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your actual software on screen here if possible — this slide is a mock-up standing in for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by reinforcing the daily habit — consistency over intensity.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hands-on, practical module. Encourage students to have a few materials on hand to build alongside.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live example if possible — build a two-material accord on camera and let it click for 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general recipe behind every accord in this module — Rose is used here as the running example, but the steps apply to any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exactly the Jean Carles method and the development loop later in this module — the same discipline at every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viewers to guess how many materials might build each of these before revealing the apple breakdown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 is the clearest teaching example for facet-mapping — every viewer already knows what real rose smells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point of the modification exercise — let students predict the effect before you confirm it on a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legitimate approaches. Module 03.2 introduces commercial bases; module 07 shows how to extend one into a finished accord.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sandalwood naturals (soft, milky, genuinely creamy) against sandalwood aroma chemicals like Javanol or Sandalore (sharper, more radiant, more linear) — both belong in this accord, in different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predict the effect of each increase before confirming on a strip — same exercise as the rose slide, different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the deep commercial-bases lesson already lives in module 03.2. This slide just names a few more real examples in accord-building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one of these five as homework, or check the Discord accord library for more worked examples — building even a rough version from the facet list teaches the method faster than watching another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 a common mistake: students treating a good accord as a complete, sellable fragrance.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Jean Carles' method is one of the most influential teaching frameworks in perfumery history — worth a short story about him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these five ratios are smelled and logged, introduce material C and repeat the process against the best A:B blend.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repeats throughout the entire course — module 08 revisits it at the full-formula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— this single discipline is what separates methodical perfumers from ones who guess and hope.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module where everything so far converges — terminology, materials, dilution, accords. Frame it as the culmination.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mental checklist students should run through for every formula they build from now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write their own one-sentence idea before building — this becomes the north star for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how these four pieces, each built with the Jean Carles method from module 06, come together into one composition.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bridge from module 06 — reassure students the method they just learned scales up cleanly.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example formulas that follow will each demonstrate this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conceptual bridge between the architecture checklist and the four worked examples that follow — point back to it while walking through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formula can mix all four freely — individual synthetics, naturals, your own accords, and commercial bases like Rose Givco, all in one formula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idea about bases — students who skip this step end up with unfinished, generic-smelling formulas.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starting base, three completely different final characters — the base only decided the starting point, not the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it's a working habit to mention, not a new module. The four worked examples that follow are the real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eight-step process is the spine of the whole module — everything before this slide was preparation, everything after it is the examples that prove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08 goes deep on the evaluation step specifically — this is the overview of where it sits in the whole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often over-plan the pyramid and under-plan the actual character — remind them the idea from the brief always outranks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small vanillin at the base — a common technique to add warmth without turning a floral into a gourmand.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pattern worth repeating for every formula students analyse: find the loud materials, then ask what the quiet ones are actually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how bergamot's job here is purely structural — preventing the gourmand from feeling flat and cloying.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exercise as the floral formula — students should be able to do this unprompted by the end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with students: this is a widely-circulated educational approximation, not a leak of MFK's real formula — the goal is to learn how a professional formula is put together, not to clone a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DPG appearing inside the formula sheet itself means this compound is already a working dilution, not a neat concentrate — a direct callback to module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of the whole module — students should leave this slide understanding that a famous formula's genius is usually in the proportions, not in secret ingredients.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apply this same four-question checklist to any formula they encounter from now on, published or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principle of restraint — the best formulas are edited, not just assembled.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version 1 is never the finished formula. This module is about the iteration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reinforces the habit from module 05, now applied specifically to full formulas rather than single materials.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timeline discipline as module 05, scaled up to the whole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"Do I like it?" is an emotional question with no next action. This twelve-question framework applies to a single accord or a full formula alike — each answer points to a fix on the troubleshooting slide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practical companion to the six questions on the previous slide — every "yes, this is a problem" answer points here for the actual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module 06's accord loop exactly — reinforce that it's the same discipline at every scale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directly connects to the Jean Carles "change one variable" principle from module 06 — repeat it here at the formula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module with patience as the core message — most formulas are abandoned too early, before their drydown is even understood.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bridges formula work to an actual finished bottle — a satisfying, tangible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percentages never change with scale — only the total weight does. This is why percentage-based formula sheets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 and visual — students already saw a more detailed breakdown in module 01, this is the practical compounding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 common beginner assumption here: water is not a required ingredient in a formula — many students add it out of habit rather than need. This sets up module 10's discussion of maceration and solubility.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easy default to overuse — stress the 'not blindly' point, it's explicitly called out for a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seven-step flow is the professional standard — module 10 goes deep on the maceration step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respect for the process — beginners often rush the alcohol and maceration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often gets skipped by impatient beginners — make the case for why patience pays off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real, observable effects — ground the module in what's actually measurable, not folklore.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science accessible — the goal is confidence, not a chemistry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realistic expectations for how long students should wait before final-judging a compound.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myth causes real wasted time — some students let a broken formula sit for months hoping it will "come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concrete, repeatable routine students can follow for every formula going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module's core lesson — patience matters, but it isn't a substitute for good formula construction.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module calmly and clearly — compliance overwhelms beginners fast. Keep the visual language simple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this disclaimer clearly on camera as well — it protects both students and the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tone for the whole module here — IFRA exists to protect real people, not to create paperwork for its own sake.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IFRA categories cover everything from fine fragrance to household products — explain that the limit depends on end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memorise category numbers or definitions from any single source, including this course — always confirm the current category structure directly from IFRA's own published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calculation trips up almost every beginner — walk through it slowly and repeat it for a second material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calculation students actually need before writing a formula, not just after — run it for every restricted material before finalising percentages.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common beginner compliance mistake — an IFRA limit always refers to the third number, never the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bookmark the Standards Library and check it as a habit, not just when something feels risky.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SDS has 16 standardised sections in total — these seven are the ones a perfumer actually uses day to day. Every raw material supplier should provide one; if they don't, that's a red flag about the supplier.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correction genuinely matters — many beginners assume one document covers everything, and it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students this isn't a reason to fear naturals — it's simply a labelling requirement to plan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CLP determines what actually has to appear on your finished product's label, based on your formula's hazard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self-taught beginners lean on Good Scents for compliance decisions — this correction genuinely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requesting this paperwork part of your ordering routine — most established suppliers provide it automatically or on request, and hesitation to provide it is itself a warning 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honest caveat to close the technical content on — nothing in this module replaces checking the specific rules for your own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flow is the practical checklist to run through before any formula is offered for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firmly but not scarily — this is manageable with the right habits, not a reason to avoid launching a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closing, exciting module — bring high energy for the finale.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above this line has been covered in modules 01–11 — this slide is a checkpoint before moving to brand-building.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start with stock bottles for their first run — custom tooling is a later-stage investment.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beautiful label that dissolves the first time it touches spilled perfume is a real, common beginner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 is often the deciding factor in a first impression, before a customer has smelled anything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positioning and storytelling slides that follow — it's the conceptual heart of the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There's no wrong lane — the mistake is trying to occupy several at once. Encourage students to commit to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successful independent brands start with 2–3 of these channels, not all nine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note list against a genuine brand story live — the difference is usually obvious once pointed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entire course on this slide — it's a map of everything taught across all thirteen modules,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slide of the entire course — let this close with warmth. Thank the community and point them back to Discord for their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00 · INTRODUCTION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&amp; SCIENCE OF PERFUMERY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LEPARFUM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SIMPLIFIE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hands-on, beginner-to-intermediate perfumery education — built to be watched, smelled, and practiced alongside every lesson.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deck, the videos and Discord fit together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is hands-on, not passive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through all 13 modules</a:t>
            </a:r>
            <a:endParaRPr lang="en-US" sz="1300" dirty="0"/>
          </a:p>
        </p:txBody>
      </p:sp>
      <p:sp>
        <p:nvSpPr>
          <p:cNvPr id="18" name="trans_fade_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deck is not the lesson.</a:t>
            </a:r>
            <a:endParaRPr lang="en-US" sz="32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your lab notebook.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4815" y="1239926"/>
            <a:ext cx="485785" cy="437815"/>
          </a:xfrm>
          <a:prstGeom prst="roundRect">
            <a:avLst>
              <a:gd name="adj" fmla="val 8354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9336497" y="1677741"/>
            <a:ext cx="422422" cy="70050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93382" y="2378245"/>
            <a:ext cx="1508650" cy="3239829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9958" y="3674176"/>
            <a:ext cx="1435498" cy="1907321"/>
          </a:xfrm>
          <a:prstGeom prst="roundRect">
            <a:avLst>
              <a:gd name="adj" fmla="val 6370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4594" y="3479787"/>
            <a:ext cx="1086228" cy="842356"/>
          </a:xfrm>
          <a:prstGeom prst="roundRect">
            <a:avLst>
              <a:gd name="adj" fmla="val 325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course companion — one bottle, one page, one idea at a time.</a:t>
            </a:r>
            <a:endParaRPr lang="en-US" sz="1050" dirty="0"/>
          </a:p>
        </p:txBody>
      </p:sp>
      <p:sp>
        <p:nvSpPr>
          <p:cNvPr id="16" name="bld1_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video, not for reading</a:t>
            </a:r>
            <a:endParaRPr lang="en-US" sz="1650" dirty="0"/>
          </a:p>
        </p:txBody>
      </p:sp>
      <p:sp>
        <p:nvSpPr>
          <p:cNvPr id="18" name="bld1_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is a visual anchor for what's being explained out loud — not a script. Watch, listen, and use the slide to stay oriented.</a:t>
            </a:r>
            <a:endParaRPr lang="en-US" sz="1250" dirty="0"/>
          </a:p>
        </p:txBody>
      </p:sp>
      <p:sp>
        <p:nvSpPr>
          <p:cNvPr id="19" name="bld2_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 to intermediate</a:t>
            </a:r>
            <a:endParaRPr lang="en-US" sz="1650" dirty="0"/>
          </a:p>
        </p:txBody>
      </p:sp>
      <p:sp>
        <p:nvSpPr>
          <p:cNvPr id="21" name="bld2_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with zero assumptions and build to full formula construction, evaluation, compliance and brand launch.</a:t>
            </a:r>
            <a:endParaRPr lang="en-US" sz="1250" dirty="0"/>
          </a:p>
        </p:txBody>
      </p:sp>
      <p:sp>
        <p:nvSpPr>
          <p:cNvPr id="22" name="bld3_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to be practiced</a:t>
            </a:r>
            <a:endParaRPr lang="en-US" sz="1650" dirty="0"/>
          </a:p>
        </p:txBody>
      </p:sp>
      <p:sp>
        <p:nvSpPr>
          <p:cNvPr id="24" name="bld3_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real smelling, real dilution, and real formula work — not passive watching.</a:t>
            </a:r>
            <a:endParaRPr lang="en-US" sz="1250" dirty="0"/>
          </a:p>
        </p:txBody>
      </p:sp>
      <p:sp>
        <p:nvSpPr>
          <p:cNvPr id="26" name="trans_fade_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COURSE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actually be able to do</a:t>
            </a:r>
            <a:endParaRPr lang="en-US" sz="3200" dirty="0"/>
          </a:p>
        </p:txBody>
      </p:sp>
      <p:sp>
        <p:nvSpPr>
          <p:cNvPr id="7" name="bld1_9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0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11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material</a:t>
            </a:r>
            <a:endParaRPr lang="en-US" sz="1450" dirty="0"/>
          </a:p>
        </p:txBody>
      </p:sp>
      <p:sp>
        <p:nvSpPr>
          <p:cNvPr id="10" name="bld1_12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family, longevity and role from a single scent strip.</a:t>
            </a:r>
            <a:endParaRPr lang="en-US" sz="1080" dirty="0"/>
          </a:p>
        </p:txBody>
      </p:sp>
      <p:sp>
        <p:nvSpPr>
          <p:cNvPr id="11" name="bld2_13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14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15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 with precision</a:t>
            </a:r>
            <a:endParaRPr lang="en-US" sz="1450" dirty="0"/>
          </a:p>
        </p:txBody>
      </p:sp>
      <p:sp>
        <p:nvSpPr>
          <p:cNvPr id="14" name="bld2_16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accurate working dilutions for any raw material.</a:t>
            </a:r>
            <a:endParaRPr lang="en-US" sz="1080" dirty="0"/>
          </a:p>
        </p:txBody>
      </p:sp>
      <p:sp>
        <p:nvSpPr>
          <p:cNvPr id="15" name="bld3_17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18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19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accord</a:t>
            </a:r>
            <a:endParaRPr lang="en-US" sz="1450" dirty="0"/>
          </a:p>
        </p:txBody>
      </p:sp>
      <p:sp>
        <p:nvSpPr>
          <p:cNvPr id="18" name="bld3_20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recognisable smell from individual materials.</a:t>
            </a:r>
            <a:endParaRPr lang="en-US" sz="1080" dirty="0"/>
          </a:p>
        </p:txBody>
      </p:sp>
      <p:sp>
        <p:nvSpPr>
          <p:cNvPr id="19" name="bld4_21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3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 a formula</a:t>
            </a:r>
            <a:endParaRPr lang="en-US" sz="1450" dirty="0"/>
          </a:p>
        </p:txBody>
      </p:sp>
      <p:sp>
        <p:nvSpPr>
          <p:cNvPr id="22" name="bld4_24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idea into a structured, balanced composition.</a:t>
            </a:r>
            <a:endParaRPr lang="en-US" sz="1080" dirty="0"/>
          </a:p>
        </p:txBody>
      </p:sp>
      <p:sp>
        <p:nvSpPr>
          <p:cNvPr id="23" name="bld5_25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6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27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rigorously</a:t>
            </a:r>
            <a:endParaRPr lang="en-US" sz="1450" dirty="0"/>
          </a:p>
        </p:txBody>
      </p:sp>
      <p:sp>
        <p:nvSpPr>
          <p:cNvPr id="26" name="bld5_28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formula on scent strip over 48 hours, not by instinct alone.</a:t>
            </a:r>
            <a:endParaRPr lang="en-US" sz="1080" dirty="0"/>
          </a:p>
        </p:txBody>
      </p:sp>
      <p:sp>
        <p:nvSpPr>
          <p:cNvPr id="27" name="bld6_29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30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31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responsibly</a:t>
            </a:r>
            <a:endParaRPr lang="en-US" sz="1450" dirty="0"/>
          </a:p>
        </p:txBody>
      </p:sp>
      <p:sp>
        <p:nvSpPr>
          <p:cNvPr id="30" name="bld6_32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IFRA, SDS, compounding and the first steps of a brand.</a:t>
            </a:r>
            <a:endParaRPr lang="en-US" sz="1080" dirty="0"/>
          </a:p>
        </p:txBody>
      </p:sp>
      <p:sp>
        <p:nvSpPr>
          <p:cNvPr id="32" name="trans_fade_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COURSE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roadmap through 13 modules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72650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69000" y="172650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69000" y="17905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54216" y="160763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Perfumery Basics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754216" y="19733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" y="23265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Equipment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9000" y="232657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9000" y="23905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54216" y="22077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Naturals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754216" y="25734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" y="2926652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 — Synthetics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9000" y="2926652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69000" y="29906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54216" y="28077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Order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754216" y="31735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1792" y="3526726"/>
            <a:ext cx="438912" cy="438912"/>
          </a:xfrm>
          <a:prstGeom prst="ellipse">
            <a:avLst/>
          </a:prstGeom>
          <a:ln w="14630">
            <a:solidFill>
              <a:srgbClr val="5B3A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207008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69000" y="3526726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169000" y="35907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754216" y="3407854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6754216" y="37736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1792" y="4126801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207008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Accords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1207008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69000" y="4126801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169000" y="419081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754216" y="4007929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Construction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6754216" y="437369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" y="4726877"/>
            <a:ext cx="438912" cy="438912"/>
          </a:xfrm>
          <a:prstGeom prst="ellipse">
            <a:avLst/>
          </a:prstGeom>
          <a:ln w="14630">
            <a:solidFill>
              <a:srgbClr val="C9A35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1207008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&amp; Developing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1207008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69000" y="4726877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69000" y="479088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754216" y="460800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&amp; Compounding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6754216" y="497376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" y="5326952"/>
            <a:ext cx="438912" cy="438912"/>
          </a:xfrm>
          <a:prstGeom prst="ellipse">
            <a:avLst/>
          </a:prstGeom>
          <a:ln w="14630">
            <a:solidFill>
              <a:srgbClr val="6E7A5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21792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1207008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&amp; Maceration</a:t>
            </a:r>
            <a:endParaRPr lang="en-US" sz="1450" dirty="0"/>
          </a:p>
        </p:txBody>
      </p:sp>
      <p:sp>
        <p:nvSpPr>
          <p:cNvPr id="55" name="Text 53"/>
          <p:cNvSpPr txBox="1"/>
          <p:nvPr/>
        </p:nvSpPr>
        <p:spPr>
          <a:xfrm>
            <a:off x="1207008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69000" y="5326952"/>
            <a:ext cx="438912" cy="438912"/>
          </a:xfrm>
          <a:prstGeom prst="ellipse">
            <a:avLst/>
          </a:prstGeom>
          <a:ln w="14630">
            <a:solidFill>
              <a:srgbClr val="5C5646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169000" y="53909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6754216" y="52080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6754216" y="5573840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21792" y="5927027"/>
            <a:ext cx="438912" cy="438912"/>
          </a:xfrm>
          <a:prstGeom prst="ellipse">
            <a:avLst/>
          </a:prstGeom>
          <a:ln w="14630">
            <a:solidFill>
              <a:srgbClr val="B5652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1792" y="5991035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1207008" y="5808155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Starting A Brand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1207008" y="6173915"/>
            <a:ext cx="463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65" name="trans_push_l_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6" name="Text 6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COURSE WORKS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Discord, one rhythm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627120"/>
            <a:ext cx="2682045" cy="2682045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25755" y="2046189"/>
            <a:ext cx="1843906" cy="184390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96266" y="2716701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 community built around one shared curriculum.</a:t>
            </a:r>
            <a:endParaRPr lang="en-US" sz="1050" dirty="0"/>
          </a:p>
        </p:txBody>
      </p:sp>
      <p:sp>
        <p:nvSpPr>
          <p:cNvPr id="14" name="bld1_3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3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+ slide, every lesson</a:t>
            </a:r>
            <a:endParaRPr lang="en-US" sz="1650" dirty="0"/>
          </a:p>
        </p:txBody>
      </p:sp>
      <p:sp>
        <p:nvSpPr>
          <p:cNvPr id="16" name="bld1_35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video with this deck open — the slide tells you where you are, the video does the teaching.</a:t>
            </a:r>
            <a:endParaRPr lang="en-US" sz="1250" dirty="0"/>
          </a:p>
        </p:txBody>
      </p:sp>
      <p:sp>
        <p:nvSpPr>
          <p:cNvPr id="17" name="bld2_3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2_37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alongside every module</a:t>
            </a:r>
            <a:endParaRPr lang="en-US" sz="1650" dirty="0"/>
          </a:p>
        </p:txBody>
      </p:sp>
      <p:sp>
        <p:nvSpPr>
          <p:cNvPr id="19" name="bld2_38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smell and log the materials each module covers, at your own pace — this is where the learning actually happens.</a:t>
            </a:r>
            <a:endParaRPr lang="en-US" sz="1250" dirty="0"/>
          </a:p>
        </p:txBody>
      </p:sp>
      <p:sp>
        <p:nvSpPr>
          <p:cNvPr id="20" name="bld3_39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3_40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threads</a:t>
            </a:r>
            <a:endParaRPr lang="en-US" sz="1650" dirty="0"/>
          </a:p>
        </p:txBody>
      </p:sp>
      <p:sp>
        <p:nvSpPr>
          <p:cNvPr id="22" name="bld3_41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evaluations, accords and formulas in Discord for feedback from the group.</a:t>
            </a:r>
            <a:endParaRPr lang="en-US" sz="1250" dirty="0"/>
          </a:p>
        </p:txBody>
      </p:sp>
      <p:sp>
        <p:nvSpPr>
          <p:cNvPr id="23" name="bld4_42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4_43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 hours</a:t>
            </a:r>
            <a:endParaRPr lang="en-US" sz="1650" dirty="0"/>
          </a:p>
        </p:txBody>
      </p:sp>
      <p:sp>
        <p:nvSpPr>
          <p:cNvPr id="25" name="bld4_44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Q&amp;A sessions to troubleshoot formulas and answer anything the videos didn't cover.</a:t>
            </a:r>
            <a:endParaRPr lang="en-US" sz="1250" dirty="0"/>
          </a:p>
        </p:txBody>
      </p:sp>
      <p:sp>
        <p:nvSpPr>
          <p:cNvPr id="27" name="trans_fade_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COMMUNITY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Discord is organised</a:t>
            </a:r>
            <a:endParaRPr lang="en-US" sz="3200" dirty="0"/>
          </a:p>
        </p:txBody>
      </p:sp>
      <p:sp>
        <p:nvSpPr>
          <p:cNvPr id="7" name="bld1_45"/>
          <p:cNvSpPr txBox="1"/>
          <p:nvPr/>
        </p:nvSpPr>
        <p:spPr>
          <a:xfrm>
            <a:off x="548640" y="27157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&amp; LIBRARY</a:t>
            </a:r>
            <a:endParaRPr lang="en-US" sz="1250" dirty="0"/>
          </a:p>
        </p:txBody>
      </p:sp>
      <p:sp>
        <p:nvSpPr>
          <p:cNvPr id="8" name="bld1_46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47"/>
          <p:cNvSpPr txBox="1"/>
          <p:nvPr/>
        </p:nvSpPr>
        <p:spPr>
          <a:xfrm>
            <a:off x="841248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software page</a:t>
            </a:r>
            <a:endParaRPr lang="en-US" sz="1200" dirty="0"/>
          </a:p>
        </p:txBody>
      </p:sp>
      <p:sp>
        <p:nvSpPr>
          <p:cNvPr id="10" name="bld1_48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49"/>
          <p:cNvSpPr txBox="1"/>
          <p:nvPr/>
        </p:nvSpPr>
        <p:spPr>
          <a:xfrm>
            <a:off x="841248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page</a:t>
            </a:r>
            <a:endParaRPr lang="en-US" sz="1200" dirty="0"/>
          </a:p>
        </p:txBody>
      </p:sp>
      <p:sp>
        <p:nvSpPr>
          <p:cNvPr id="12" name="bld1_50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51"/>
          <p:cNvSpPr txBox="1"/>
          <p:nvPr/>
        </p:nvSpPr>
        <p:spPr>
          <a:xfrm>
            <a:off x="841248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library</a:t>
            </a:r>
            <a:endParaRPr lang="en-US" sz="1200" dirty="0"/>
          </a:p>
        </p:txBody>
      </p:sp>
      <p:sp>
        <p:nvSpPr>
          <p:cNvPr id="14" name="bld1_52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53"/>
          <p:cNvSpPr txBox="1"/>
          <p:nvPr/>
        </p:nvSpPr>
        <p:spPr>
          <a:xfrm>
            <a:off x="841248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updates</a:t>
            </a:r>
            <a:endParaRPr lang="en-US" sz="1200" dirty="0"/>
          </a:p>
        </p:txBody>
      </p:sp>
      <p:sp>
        <p:nvSpPr>
          <p:cNvPr id="16" name="bld2_54"/>
          <p:cNvSpPr txBox="1"/>
          <p:nvPr/>
        </p:nvSpPr>
        <p:spPr>
          <a:xfrm>
            <a:off x="6255868" y="27157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GROW</a:t>
            </a:r>
            <a:endParaRPr lang="en-US" sz="1250" dirty="0"/>
          </a:p>
        </p:txBody>
      </p:sp>
      <p:sp>
        <p:nvSpPr>
          <p:cNvPr id="17" name="bld2_55"/>
          <p:cNvSpPr/>
          <p:nvPr/>
        </p:nvSpPr>
        <p:spPr>
          <a:xfrm>
            <a:off x="625586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56"/>
          <p:cNvSpPr txBox="1"/>
          <p:nvPr/>
        </p:nvSpPr>
        <p:spPr>
          <a:xfrm>
            <a:off x="6548476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discussions</a:t>
            </a:r>
            <a:endParaRPr lang="en-US" sz="1200" dirty="0"/>
          </a:p>
        </p:txBody>
      </p:sp>
      <p:sp>
        <p:nvSpPr>
          <p:cNvPr id="19" name="bld2_57"/>
          <p:cNvSpPr/>
          <p:nvPr/>
        </p:nvSpPr>
        <p:spPr>
          <a:xfrm>
            <a:off x="625586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58"/>
          <p:cNvSpPr txBox="1"/>
          <p:nvPr/>
        </p:nvSpPr>
        <p:spPr>
          <a:xfrm>
            <a:off x="6548476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questions</a:t>
            </a:r>
            <a:endParaRPr lang="en-US" sz="1200" dirty="0"/>
          </a:p>
        </p:txBody>
      </p:sp>
      <p:sp>
        <p:nvSpPr>
          <p:cNvPr id="21" name="bld2_59"/>
          <p:cNvSpPr/>
          <p:nvPr/>
        </p:nvSpPr>
        <p:spPr>
          <a:xfrm>
            <a:off x="625586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60"/>
          <p:cNvSpPr txBox="1"/>
          <p:nvPr/>
        </p:nvSpPr>
        <p:spPr>
          <a:xfrm>
            <a:off x="6548476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 &amp; resources</a:t>
            </a:r>
            <a:endParaRPr lang="en-US" sz="1200" dirty="0"/>
          </a:p>
        </p:txBody>
      </p:sp>
      <p:sp>
        <p:nvSpPr>
          <p:cNvPr id="23" name="bld2_61"/>
          <p:cNvSpPr/>
          <p:nvPr/>
        </p:nvSpPr>
        <p:spPr>
          <a:xfrm>
            <a:off x="6255868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62"/>
          <p:cNvSpPr txBox="1"/>
          <p:nvPr/>
        </p:nvSpPr>
        <p:spPr>
          <a:xfrm>
            <a:off x="6548476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 schedule</a:t>
            </a:r>
            <a:endParaRPr lang="en-US" sz="1200" dirty="0"/>
          </a:p>
        </p:txBody>
      </p:sp>
      <p:sp>
        <p:nvSpPr>
          <p:cNvPr id="26" name="trans_fade_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LEARN PERFUMERY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mindset that actually works</a:t>
            </a:r>
            <a:endParaRPr lang="en-US" sz="3200" dirty="0"/>
          </a:p>
        </p:txBody>
      </p:sp>
      <p:sp>
        <p:nvSpPr>
          <p:cNvPr id="7" name="bld1_63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64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65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 yourself</a:t>
            </a:r>
            <a:endParaRPr lang="en-US" sz="1450" dirty="0"/>
          </a:p>
        </p:txBody>
      </p:sp>
      <p:sp>
        <p:nvSpPr>
          <p:cNvPr id="10" name="bld1_66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description replaces putting a strip under your nose. Reading about rose is not smelling rose.</a:t>
            </a:r>
            <a:endParaRPr lang="en-US" sz="1080" dirty="0"/>
          </a:p>
        </p:txBody>
      </p:sp>
      <p:sp>
        <p:nvSpPr>
          <p:cNvPr id="11" name="bld2_67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68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bld2_69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 fearlessly</a:t>
            </a:r>
            <a:endParaRPr lang="en-US" sz="1450" dirty="0"/>
          </a:p>
        </p:txBody>
      </p:sp>
      <p:sp>
        <p:nvSpPr>
          <p:cNvPr id="14" name="bld2_70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mistakes on a scent strip are how you learn. Perfect formulas don't come first — reps do.</a:t>
            </a:r>
            <a:endParaRPr lang="en-US" sz="1080" dirty="0"/>
          </a:p>
        </p:txBody>
      </p:sp>
      <p:sp>
        <p:nvSpPr>
          <p:cNvPr id="15" name="bld3_71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72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73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records</a:t>
            </a:r>
            <a:endParaRPr lang="en-US" sz="1450" dirty="0"/>
          </a:p>
        </p:txBody>
      </p:sp>
      <p:sp>
        <p:nvSpPr>
          <p:cNvPr id="18" name="bld3_74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un-logged smell is a lost lesson. Write it down every single time.</a:t>
            </a:r>
            <a:endParaRPr lang="en-US" sz="1080" dirty="0"/>
          </a:p>
        </p:txBody>
      </p:sp>
      <p:sp>
        <p:nvSpPr>
          <p:cNvPr id="19" name="bld4_75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76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4_77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often</a:t>
            </a:r>
            <a:endParaRPr lang="en-US" sz="1450" dirty="0"/>
          </a:p>
        </p:txBody>
      </p:sp>
      <p:sp>
        <p:nvSpPr>
          <p:cNvPr id="22" name="bld4_78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change on your skin, on a strip, over hours. Smell things more than once.</a:t>
            </a:r>
            <a:endParaRPr lang="en-US" sz="1080" dirty="0"/>
          </a:p>
        </p:txBody>
      </p:sp>
      <p:sp>
        <p:nvSpPr>
          <p:cNvPr id="23" name="bld5_79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80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81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Think, don't copy</a:t>
            </a:r>
            <a:endParaRPr lang="en-US" sz="1450" dirty="0"/>
          </a:p>
        </p:txBody>
      </p:sp>
      <p:sp>
        <p:nvSpPr>
          <p:cNvPr id="26" name="bld5_82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you copy teaches you nothing. A formula you build teaches you everything.</a:t>
            </a:r>
            <a:endParaRPr lang="en-US" sz="1080" dirty="0"/>
          </a:p>
        </p:txBody>
      </p:sp>
      <p:sp>
        <p:nvSpPr>
          <p:cNvPr id="27" name="bld6_83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84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85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patient with your nose</a:t>
            </a:r>
            <a:endParaRPr lang="en-US" sz="1450" dirty="0"/>
          </a:p>
        </p:txBody>
      </p:sp>
      <p:sp>
        <p:nvSpPr>
          <p:cNvPr id="30" name="bld6_86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memory is trained like any other skill — daily, gradually, over months.</a:t>
            </a:r>
            <a:endParaRPr lang="en-US" sz="1080" dirty="0"/>
          </a:p>
        </p:txBody>
      </p:sp>
      <p:sp>
        <p:nvSpPr>
          <p:cNvPr id="32" name="trans_fade_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learn to smell from a screen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315413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9129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6448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7819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13552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7268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62621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76337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11690" y="2360981"/>
            <a:ext cx="324283" cy="2948026"/>
          </a:xfrm>
          <a:prstGeom prst="roundRect">
            <a:avLst>
              <a:gd name="adj" fmla="val 564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25406" y="4424599"/>
            <a:ext cx="296851" cy="866120"/>
          </a:xfrm>
          <a:prstGeom prst="roundRect">
            <a:avLst>
              <a:gd name="adj" fmla="val 4620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pairs with physical scent strips. Order your materials before you start.</a:t>
            </a:r>
            <a:endParaRPr lang="en-US" sz="1200" dirty="0"/>
          </a:p>
        </p:txBody>
      </p:sp>
      <p:sp>
        <p:nvSpPr>
          <p:cNvPr id="20" name="trans_fade_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17150F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ORGANISED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INTRODUCTION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systems every perfumer keeps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CFC5AE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the exact software setup used throughout this course.</a:t>
            </a:r>
            <a:endParaRPr lang="en-US" sz="1050" dirty="0"/>
          </a:p>
        </p:txBody>
      </p:sp>
      <p:sp>
        <p:nvSpPr>
          <p:cNvPr id="24" name="bld1_8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8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library</a:t>
            </a:r>
            <a:endParaRPr lang="en-US" sz="1650" dirty="0"/>
          </a:p>
        </p:txBody>
      </p:sp>
      <p:sp>
        <p:nvSpPr>
          <p:cNvPr id="26" name="bld1_89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logged with supplier, dilution, family and notes — your personal reference.</a:t>
            </a:r>
            <a:endParaRPr lang="en-US" sz="1250" dirty="0"/>
          </a:p>
        </p:txBody>
      </p:sp>
      <p:sp>
        <p:nvSpPr>
          <p:cNvPr id="27" name="bld2_90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8" name="bld2_91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library</a:t>
            </a:r>
            <a:endParaRPr lang="en-US" sz="1650" dirty="0"/>
          </a:p>
        </p:txBody>
      </p:sp>
      <p:sp>
        <p:nvSpPr>
          <p:cNvPr id="29" name="bld2_92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— a rose accord, a woody base — you can drop into future formulas.</a:t>
            </a:r>
            <a:endParaRPr lang="en-US" sz="1250" dirty="0"/>
          </a:p>
        </p:txBody>
      </p:sp>
      <p:sp>
        <p:nvSpPr>
          <p:cNvPr id="30" name="bld3_93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94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sheets</a:t>
            </a:r>
            <a:endParaRPr lang="en-US" sz="1650" dirty="0"/>
          </a:p>
        </p:txBody>
      </p:sp>
      <p:sp>
        <p:nvSpPr>
          <p:cNvPr id="32" name="bld3_95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every formula, with dates, percentages and change notes.</a:t>
            </a:r>
            <a:endParaRPr lang="en-US" sz="1250" dirty="0"/>
          </a:p>
        </p:txBody>
      </p:sp>
      <p:sp>
        <p:nvSpPr>
          <p:cNvPr id="33" name="bld4_96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4" name="bld4_97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Scent-strip evaluation log</a:t>
            </a:r>
            <a:endParaRPr lang="en-US" sz="1650" dirty="0"/>
          </a:p>
        </p:txBody>
      </p:sp>
      <p:sp>
        <p:nvSpPr>
          <p:cNvPr id="35" name="bld4_98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Dated, timestamped notes on how a material or formula evolves over 48 hours.</a:t>
            </a:r>
            <a:endParaRPr lang="en-US" sz="1250" dirty="0"/>
          </a:p>
        </p:txBody>
      </p:sp>
      <p:sp>
        <p:nvSpPr>
          <p:cNvPr id="37" name="trans_fade_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teaching you to copy formulas.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teaching you to think like a perfumer.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00</a:t>
            </a:r>
            <a:endParaRPr lang="en-US" sz="1100" dirty="0"/>
          </a:p>
        </p:txBody>
      </p:sp>
      <p:sp>
        <p:nvSpPr>
          <p:cNvPr id="10" name="trans_fade_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PERFUMERY BASICS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Perfumery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build a formula, you need the words perfumers actually use to describe one.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key terms, with real-world examples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fragrance pyramid and concentration tiers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vs. synthetics, and the myths around both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30" name="trans_fade_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words you'll hear constantly</a:t>
            </a:r>
            <a:endParaRPr lang="en-US" sz="3200" dirty="0"/>
          </a:p>
        </p:txBody>
      </p:sp>
      <p:sp>
        <p:nvSpPr>
          <p:cNvPr id="7" name="bld1_99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00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101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</a:t>
            </a:r>
            <a:endParaRPr lang="en-US" sz="1450" dirty="0"/>
          </a:p>
        </p:txBody>
      </p:sp>
      <p:sp>
        <p:nvSpPr>
          <p:cNvPr id="10" name="bld1_102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undiluted blend of raw materials before alcohol or solvent is added.</a:t>
            </a:r>
            <a:endParaRPr lang="en-US" sz="1080" dirty="0"/>
          </a:p>
        </p:txBody>
      </p:sp>
      <p:sp>
        <p:nvSpPr>
          <p:cNvPr id="11" name="bld2_103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104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105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4" name="bld2_106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finished, mixed formula — naturals and synthetics combined into one liquid.</a:t>
            </a:r>
            <a:endParaRPr lang="en-US" sz="1080" dirty="0"/>
          </a:p>
        </p:txBody>
      </p:sp>
      <p:sp>
        <p:nvSpPr>
          <p:cNvPr id="15" name="bld3_107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108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109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bld3_110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or formula reduced in strength with a solvent, expressed as a %.</a:t>
            </a:r>
            <a:endParaRPr lang="en-US" sz="1080" dirty="0"/>
          </a:p>
        </p:txBody>
      </p:sp>
      <p:sp>
        <p:nvSpPr>
          <p:cNvPr id="19" name="bld4_111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11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113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</a:t>
            </a:r>
            <a:endParaRPr lang="en-US" sz="1450" dirty="0"/>
          </a:p>
        </p:txBody>
      </p:sp>
      <p:sp>
        <p:nvSpPr>
          <p:cNvPr id="22" name="bld4_114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materials blended so they read as one new, unified smell.</a:t>
            </a:r>
            <a:endParaRPr lang="en-US" sz="1080" dirty="0"/>
          </a:p>
        </p:txBody>
      </p:sp>
      <p:sp>
        <p:nvSpPr>
          <p:cNvPr id="23" name="bld5_115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116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117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50" dirty="0"/>
          </a:p>
        </p:txBody>
      </p:sp>
      <p:sp>
        <p:nvSpPr>
          <p:cNvPr id="26" name="bld5_118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pre-built accord used as a foundation — e.g. a musk base or an amber base.</a:t>
            </a:r>
            <a:endParaRPr lang="en-US" sz="1080" dirty="0"/>
          </a:p>
        </p:txBody>
      </p:sp>
      <p:sp>
        <p:nvSpPr>
          <p:cNvPr id="27" name="bld6_119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120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121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</a:t>
            </a:r>
            <a:endParaRPr lang="en-US" sz="1450" dirty="0"/>
          </a:p>
        </p:txBody>
      </p:sp>
      <p:sp>
        <p:nvSpPr>
          <p:cNvPr id="30" name="bld6_122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added in small amounts to shift the character of an accord.</a:t>
            </a:r>
            <a:endParaRPr lang="en-US" sz="1080" dirty="0"/>
          </a:p>
        </p:txBody>
      </p:sp>
      <p:sp>
        <p:nvSpPr>
          <p:cNvPr id="32" name="trans_fade_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more, about how a scent behaves</a:t>
            </a:r>
            <a:endParaRPr lang="en-US" sz="3200" dirty="0"/>
          </a:p>
        </p:txBody>
      </p:sp>
      <p:sp>
        <p:nvSpPr>
          <p:cNvPr id="7" name="bld1_123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24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125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</a:t>
            </a:r>
            <a:endParaRPr lang="en-US" sz="1450" dirty="0"/>
          </a:p>
        </p:txBody>
      </p:sp>
      <p:sp>
        <p:nvSpPr>
          <p:cNvPr id="10" name="bld1_126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 used to carry and dilute materials — ethanol, DPG, TEC and others.</a:t>
            </a:r>
            <a:endParaRPr lang="en-US" sz="1080" dirty="0"/>
          </a:p>
        </p:txBody>
      </p:sp>
      <p:sp>
        <p:nvSpPr>
          <p:cNvPr id="11" name="bld2_127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128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129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Fixative</a:t>
            </a:r>
            <a:endParaRPr lang="en-US" sz="1450" dirty="0"/>
          </a:p>
        </p:txBody>
      </p:sp>
      <p:sp>
        <p:nvSpPr>
          <p:cNvPr id="14" name="bld2_130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that slows evaporation of lighter notes and extends overall wear.</a:t>
            </a:r>
            <a:endParaRPr lang="en-US" sz="1080" dirty="0"/>
          </a:p>
        </p:txBody>
      </p:sp>
      <p:sp>
        <p:nvSpPr>
          <p:cNvPr id="15" name="bld3_131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132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133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18" name="bld3_134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and how easily a scent spreads into the surrounding air.</a:t>
            </a:r>
            <a:endParaRPr lang="en-US" sz="1080" dirty="0"/>
          </a:p>
        </p:txBody>
      </p:sp>
      <p:sp>
        <p:nvSpPr>
          <p:cNvPr id="19" name="bld4_135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136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137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2" name="bld4_138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a material or formula remains detectable over time.</a:t>
            </a:r>
            <a:endParaRPr lang="en-US" sz="1080" dirty="0"/>
          </a:p>
        </p:txBody>
      </p:sp>
      <p:sp>
        <p:nvSpPr>
          <p:cNvPr id="23" name="bld5_139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140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141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50" dirty="0"/>
          </a:p>
        </p:txBody>
      </p:sp>
      <p:sp>
        <p:nvSpPr>
          <p:cNvPr id="26" name="bld5_142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 material registers, even at very low doses.</a:t>
            </a:r>
            <a:endParaRPr lang="en-US" sz="1080" dirty="0"/>
          </a:p>
        </p:txBody>
      </p:sp>
      <p:sp>
        <p:nvSpPr>
          <p:cNvPr id="27" name="bld6_143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144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145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Drydown</a:t>
            </a:r>
            <a:endParaRPr lang="en-US" sz="1450" dirty="0"/>
          </a:p>
        </p:txBody>
      </p:sp>
      <p:sp>
        <p:nvSpPr>
          <p:cNvPr id="30" name="bld6_146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hours in — the final character once top notes have faded.</a:t>
            </a:r>
            <a:endParaRPr lang="en-US" sz="1080" dirty="0"/>
          </a:p>
        </p:txBody>
      </p:sp>
      <p:sp>
        <p:nvSpPr>
          <p:cNvPr id="32" name="trans_fade_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WORDS, WITH REAL EXAMPLES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accord, base and modifier actually look like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147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148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bld1_149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accord, in practice</a:t>
            </a:r>
            <a:endParaRPr lang="en-US" sz="1450" dirty="0"/>
          </a:p>
        </p:txBody>
      </p:sp>
      <p:sp>
        <p:nvSpPr>
          <p:cNvPr id="13" name="bld1_150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 + geranium + a trace of clove — three materials that read as one unmistakable flower, not three chemicals.</a:t>
            </a:r>
            <a:endParaRPr lang="en-US" sz="1080" dirty="0"/>
          </a:p>
        </p:txBody>
      </p:sp>
      <p:sp>
        <p:nvSpPr>
          <p:cNvPr id="14" name="bld2_151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152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bld2_153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base, in practice</a:t>
            </a:r>
            <a:endParaRPr lang="en-US" sz="1450" dirty="0"/>
          </a:p>
        </p:txBody>
      </p:sp>
      <p:sp>
        <p:nvSpPr>
          <p:cNvPr id="17" name="bld2_154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pre-blended "musk base" bought ready-made and dropped straight into a formula for instant skin-like depth.</a:t>
            </a:r>
            <a:endParaRPr lang="en-US" sz="1080" dirty="0"/>
          </a:p>
        </p:txBody>
      </p:sp>
      <p:sp>
        <p:nvSpPr>
          <p:cNvPr id="18" name="bld3_155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156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0" name="bld3_157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modifier, in practice</a:t>
            </a:r>
            <a:endParaRPr lang="en-US" sz="1450" dirty="0"/>
          </a:p>
        </p:txBody>
      </p:sp>
      <p:sp>
        <p:nvSpPr>
          <p:cNvPr id="21" name="bld3_158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whisper of black pepper added to a vanilla accord — the vanilla is still the star, but it now reads spiced, not flat.</a:t>
            </a:r>
            <a:endParaRPr lang="en-US" sz="1080" dirty="0"/>
          </a:p>
        </p:txBody>
      </p:sp>
      <p:sp>
        <p:nvSpPr>
          <p:cNvPr id="23" name="trans_fade_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CONCENTRATIONS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Extrait, EDP, EDT, EDC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159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16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bld1_161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Extrait</a:t>
            </a:r>
            <a:endParaRPr lang="en-US" sz="1450" dirty="0"/>
          </a:p>
        </p:txBody>
      </p:sp>
      <p:sp>
        <p:nvSpPr>
          <p:cNvPr id="13" name="bld1_162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20–30% concentrate. The richest, most expensive tier — closest to skin, longest wear.</a:t>
            </a:r>
            <a:endParaRPr lang="en-US" sz="1080" dirty="0"/>
          </a:p>
        </p:txBody>
      </p:sp>
      <p:sp>
        <p:nvSpPr>
          <p:cNvPr id="14" name="bld2_163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164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2_165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Parfum</a:t>
            </a:r>
            <a:endParaRPr lang="en-US" sz="1450" dirty="0"/>
          </a:p>
        </p:txBody>
      </p:sp>
      <p:sp>
        <p:nvSpPr>
          <p:cNvPr id="17" name="bld2_166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15–20% concentrate. The modern default for most fine fragrance releases.</a:t>
            </a:r>
            <a:endParaRPr lang="en-US" sz="1080" dirty="0"/>
          </a:p>
        </p:txBody>
      </p:sp>
      <p:sp>
        <p:nvSpPr>
          <p:cNvPr id="18" name="bld3_167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168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169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Toilette</a:t>
            </a:r>
            <a:endParaRPr lang="en-US" sz="1450" dirty="0"/>
          </a:p>
        </p:txBody>
      </p:sp>
      <p:sp>
        <p:nvSpPr>
          <p:cNvPr id="21" name="bld3_170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5–15% concentrate. Lighter, fresher, common for everyday and citrus formulas.</a:t>
            </a:r>
            <a:endParaRPr lang="en-US" sz="1080" dirty="0"/>
          </a:p>
        </p:txBody>
      </p:sp>
      <p:sp>
        <p:nvSpPr>
          <p:cNvPr id="22" name="bld4_171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172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4_173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Eau de Cologne</a:t>
            </a:r>
            <a:endParaRPr lang="en-US" sz="1450" dirty="0"/>
          </a:p>
        </p:txBody>
      </p:sp>
      <p:sp>
        <p:nvSpPr>
          <p:cNvPr id="25" name="bld4_174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2–5% concentrate. Very light, classic citrus-led, applied liberally.</a:t>
            </a:r>
            <a:endParaRPr lang="en-US" sz="1080" dirty="0"/>
          </a:p>
        </p:txBody>
      </p:sp>
      <p:sp>
        <p:nvSpPr>
          <p:cNvPr id="27" name="trans_fade_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DISTINCTION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is not performance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higher concentration percentage always means a stronger, longer-lasting fragrance."</a:t>
            </a:r>
            <a:endParaRPr lang="en-US" sz="2100" dirty="0"/>
          </a:p>
        </p:txBody>
      </p:sp>
      <p:sp>
        <p:nvSpPr>
          <p:cNvPr id="10" name="bld1_175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176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177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comes from which materials are used — their diffusion, tenacity and fixative structure — far more than from the raw % of concentrate. A well-built 10% EDT can outlast a poorly built 25% extrait. Concentration is a starting ratio, not a guarantee.</a:t>
            </a:r>
            <a:endParaRPr lang="en-US" sz="1450" dirty="0"/>
          </a:p>
        </p:txBody>
      </p:sp>
      <p:sp>
        <p:nvSpPr>
          <p:cNvPr id="14" name="trans_wipe_l_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MODEL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pyramid</a:t>
            </a:r>
            <a:endParaRPr lang="en-US" sz="3200" dirty="0"/>
          </a:p>
        </p:txBody>
      </p:sp>
      <p:sp>
        <p:nvSpPr>
          <p:cNvPr id="7" name="bld1_178"/>
          <p:cNvSpPr/>
          <p:nvPr/>
        </p:nvSpPr>
        <p:spPr>
          <a:xfrm>
            <a:off x="3953933" y="1691640"/>
            <a:ext cx="474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8" name="bld1_179"/>
          <p:cNvSpPr/>
          <p:nvPr/>
        </p:nvSpPr>
        <p:spPr>
          <a:xfrm>
            <a:off x="3906520" y="1771227"/>
            <a:ext cx="1422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9" name="bld1_180"/>
          <p:cNvSpPr/>
          <p:nvPr/>
        </p:nvSpPr>
        <p:spPr>
          <a:xfrm>
            <a:off x="3859107" y="1850813"/>
            <a:ext cx="2370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0" name="bld1_181"/>
          <p:cNvSpPr/>
          <p:nvPr/>
        </p:nvSpPr>
        <p:spPr>
          <a:xfrm>
            <a:off x="3811693" y="1930400"/>
            <a:ext cx="33189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1" name="bld1_182"/>
          <p:cNvSpPr/>
          <p:nvPr/>
        </p:nvSpPr>
        <p:spPr>
          <a:xfrm>
            <a:off x="3764280" y="2009987"/>
            <a:ext cx="42672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2" name="bld1_183"/>
          <p:cNvSpPr/>
          <p:nvPr/>
        </p:nvSpPr>
        <p:spPr>
          <a:xfrm>
            <a:off x="3716867" y="2089573"/>
            <a:ext cx="52154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3" name="bld1_184"/>
          <p:cNvSpPr/>
          <p:nvPr/>
        </p:nvSpPr>
        <p:spPr>
          <a:xfrm>
            <a:off x="3669453" y="2169160"/>
            <a:ext cx="61637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4" name="bld1_185"/>
          <p:cNvSpPr/>
          <p:nvPr/>
        </p:nvSpPr>
        <p:spPr>
          <a:xfrm>
            <a:off x="3622040" y="2248747"/>
            <a:ext cx="71120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5" name="bld1_186"/>
          <p:cNvSpPr/>
          <p:nvPr/>
        </p:nvSpPr>
        <p:spPr>
          <a:xfrm>
            <a:off x="3574627" y="2328333"/>
            <a:ext cx="80602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6" name="bld1_187"/>
          <p:cNvSpPr/>
          <p:nvPr/>
        </p:nvSpPr>
        <p:spPr>
          <a:xfrm>
            <a:off x="3527213" y="2407920"/>
            <a:ext cx="90085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7" name="bld1_188"/>
          <p:cNvSpPr/>
          <p:nvPr/>
        </p:nvSpPr>
        <p:spPr>
          <a:xfrm>
            <a:off x="3479800" y="2487507"/>
            <a:ext cx="99568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8" name="bld1_189"/>
          <p:cNvSpPr/>
          <p:nvPr/>
        </p:nvSpPr>
        <p:spPr>
          <a:xfrm>
            <a:off x="3432387" y="2567093"/>
            <a:ext cx="109050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19" name="bld1_190"/>
          <p:cNvSpPr/>
          <p:nvPr/>
        </p:nvSpPr>
        <p:spPr>
          <a:xfrm>
            <a:off x="3384973" y="2646680"/>
            <a:ext cx="118533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0" name="bld1_191"/>
          <p:cNvSpPr/>
          <p:nvPr/>
        </p:nvSpPr>
        <p:spPr>
          <a:xfrm>
            <a:off x="3337560" y="2726267"/>
            <a:ext cx="128016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1" name="bld1_192"/>
          <p:cNvSpPr/>
          <p:nvPr/>
        </p:nvSpPr>
        <p:spPr>
          <a:xfrm>
            <a:off x="3290147" y="2805853"/>
            <a:ext cx="137498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2" name="bld1_193"/>
          <p:cNvSpPr/>
          <p:nvPr/>
        </p:nvSpPr>
        <p:spPr>
          <a:xfrm>
            <a:off x="3242733" y="2885440"/>
            <a:ext cx="1469813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3" name="bld1_194"/>
          <p:cNvSpPr/>
          <p:nvPr/>
        </p:nvSpPr>
        <p:spPr>
          <a:xfrm>
            <a:off x="3195320" y="2965027"/>
            <a:ext cx="1564640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4" name="bld1_195"/>
          <p:cNvSpPr/>
          <p:nvPr/>
        </p:nvSpPr>
        <p:spPr>
          <a:xfrm>
            <a:off x="3147907" y="3044613"/>
            <a:ext cx="1659467" cy="83244"/>
          </a:xfrm>
          <a:prstGeom prst="rect">
            <a:avLst/>
          </a:prstGeom>
          <a:solidFill>
            <a:srgbClr val="C9A354">
              <a:alpha val="94000"/>
            </a:srgbClr>
          </a:solidFill>
          <a:ln/>
        </p:spPr>
      </p:sp>
      <p:sp>
        <p:nvSpPr>
          <p:cNvPr id="25" name="bld1_196"/>
          <p:cNvSpPr txBox="1"/>
          <p:nvPr/>
        </p:nvSpPr>
        <p:spPr>
          <a:xfrm>
            <a:off x="-502920" y="211531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1300" dirty="0"/>
          </a:p>
        </p:txBody>
      </p:sp>
      <p:sp>
        <p:nvSpPr>
          <p:cNvPr id="26" name="bld1_197"/>
          <p:cNvSpPr txBox="1"/>
          <p:nvPr/>
        </p:nvSpPr>
        <p:spPr>
          <a:xfrm>
            <a:off x="6675120" y="21153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fruits, aldehydes, aromatic herbs — the first impression, 0–30 minutes.</a:t>
            </a:r>
            <a:endParaRPr lang="en-US" sz="1100" dirty="0"/>
          </a:p>
        </p:txBody>
      </p:sp>
      <p:sp>
        <p:nvSpPr>
          <p:cNvPr id="27" name="bld2_198"/>
          <p:cNvSpPr/>
          <p:nvPr/>
        </p:nvSpPr>
        <p:spPr>
          <a:xfrm>
            <a:off x="3100493" y="3124200"/>
            <a:ext cx="17542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8" name="bld2_199"/>
          <p:cNvSpPr/>
          <p:nvPr/>
        </p:nvSpPr>
        <p:spPr>
          <a:xfrm>
            <a:off x="3053080" y="3203787"/>
            <a:ext cx="18491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29" name="bld2_200"/>
          <p:cNvSpPr/>
          <p:nvPr/>
        </p:nvSpPr>
        <p:spPr>
          <a:xfrm>
            <a:off x="3005667" y="3283373"/>
            <a:ext cx="19439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0" name="bld2_201"/>
          <p:cNvSpPr/>
          <p:nvPr/>
        </p:nvSpPr>
        <p:spPr>
          <a:xfrm>
            <a:off x="2958253" y="3362960"/>
            <a:ext cx="203877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1" name="bld2_202"/>
          <p:cNvSpPr/>
          <p:nvPr/>
        </p:nvSpPr>
        <p:spPr>
          <a:xfrm>
            <a:off x="2910840" y="3442547"/>
            <a:ext cx="213360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2" name="bld2_203"/>
          <p:cNvSpPr/>
          <p:nvPr/>
        </p:nvSpPr>
        <p:spPr>
          <a:xfrm>
            <a:off x="2863427" y="3522133"/>
            <a:ext cx="222842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3" name="bld2_204"/>
          <p:cNvSpPr/>
          <p:nvPr/>
        </p:nvSpPr>
        <p:spPr>
          <a:xfrm>
            <a:off x="2816013" y="3601720"/>
            <a:ext cx="232325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4" name="bld2_205"/>
          <p:cNvSpPr/>
          <p:nvPr/>
        </p:nvSpPr>
        <p:spPr>
          <a:xfrm>
            <a:off x="2768600" y="3681307"/>
            <a:ext cx="241808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5" name="bld2_206"/>
          <p:cNvSpPr/>
          <p:nvPr/>
        </p:nvSpPr>
        <p:spPr>
          <a:xfrm>
            <a:off x="2721187" y="3760893"/>
            <a:ext cx="251290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6" name="bld2_207"/>
          <p:cNvSpPr/>
          <p:nvPr/>
        </p:nvSpPr>
        <p:spPr>
          <a:xfrm>
            <a:off x="2673773" y="3840480"/>
            <a:ext cx="260773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7" name="bld2_208"/>
          <p:cNvSpPr/>
          <p:nvPr/>
        </p:nvSpPr>
        <p:spPr>
          <a:xfrm>
            <a:off x="2626360" y="3920067"/>
            <a:ext cx="270256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8" name="bld2_209"/>
          <p:cNvSpPr/>
          <p:nvPr/>
        </p:nvSpPr>
        <p:spPr>
          <a:xfrm>
            <a:off x="2578947" y="3999653"/>
            <a:ext cx="279738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39" name="bld2_210"/>
          <p:cNvSpPr/>
          <p:nvPr/>
        </p:nvSpPr>
        <p:spPr>
          <a:xfrm>
            <a:off x="2531533" y="4079240"/>
            <a:ext cx="289221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0" name="bld2_211"/>
          <p:cNvSpPr/>
          <p:nvPr/>
        </p:nvSpPr>
        <p:spPr>
          <a:xfrm>
            <a:off x="2484120" y="4158827"/>
            <a:ext cx="298704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1" name="bld2_212"/>
          <p:cNvSpPr/>
          <p:nvPr/>
        </p:nvSpPr>
        <p:spPr>
          <a:xfrm>
            <a:off x="2436707" y="4238413"/>
            <a:ext cx="308186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2" name="bld2_213"/>
          <p:cNvSpPr/>
          <p:nvPr/>
        </p:nvSpPr>
        <p:spPr>
          <a:xfrm>
            <a:off x="2389293" y="4318000"/>
            <a:ext cx="3176693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3" name="bld2_214"/>
          <p:cNvSpPr/>
          <p:nvPr/>
        </p:nvSpPr>
        <p:spPr>
          <a:xfrm>
            <a:off x="2341880" y="4397587"/>
            <a:ext cx="3271520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4" name="bld2_215"/>
          <p:cNvSpPr/>
          <p:nvPr/>
        </p:nvSpPr>
        <p:spPr>
          <a:xfrm>
            <a:off x="2294467" y="4477173"/>
            <a:ext cx="3366347" cy="83244"/>
          </a:xfrm>
          <a:prstGeom prst="rect">
            <a:avLst/>
          </a:prstGeom>
          <a:solidFill>
            <a:srgbClr val="6E7A50">
              <a:alpha val="94000"/>
            </a:srgbClr>
          </a:solidFill>
          <a:ln/>
        </p:spPr>
      </p:sp>
      <p:sp>
        <p:nvSpPr>
          <p:cNvPr id="45" name="bld2_216"/>
          <p:cNvSpPr txBox="1"/>
          <p:nvPr/>
        </p:nvSpPr>
        <p:spPr>
          <a:xfrm>
            <a:off x="-502920" y="354787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300" dirty="0"/>
          </a:p>
        </p:txBody>
      </p:sp>
      <p:sp>
        <p:nvSpPr>
          <p:cNvPr id="46" name="bld2_217"/>
          <p:cNvSpPr txBox="1"/>
          <p:nvPr/>
        </p:nvSpPr>
        <p:spPr>
          <a:xfrm>
            <a:off x="6675120" y="3547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Florals, spices, greens — the main character, emerging 30 minutes to a few hours in.</a:t>
            </a:r>
            <a:endParaRPr lang="en-US" sz="1100" dirty="0"/>
          </a:p>
        </p:txBody>
      </p:sp>
      <p:sp>
        <p:nvSpPr>
          <p:cNvPr id="47" name="bld3_218"/>
          <p:cNvSpPr/>
          <p:nvPr/>
        </p:nvSpPr>
        <p:spPr>
          <a:xfrm>
            <a:off x="2247053" y="4556760"/>
            <a:ext cx="34611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8" name="bld3_219"/>
          <p:cNvSpPr/>
          <p:nvPr/>
        </p:nvSpPr>
        <p:spPr>
          <a:xfrm>
            <a:off x="2199640" y="4636347"/>
            <a:ext cx="35560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49" name="bld3_220"/>
          <p:cNvSpPr/>
          <p:nvPr/>
        </p:nvSpPr>
        <p:spPr>
          <a:xfrm>
            <a:off x="2152227" y="4715933"/>
            <a:ext cx="36508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0" name="bld3_221"/>
          <p:cNvSpPr/>
          <p:nvPr/>
        </p:nvSpPr>
        <p:spPr>
          <a:xfrm>
            <a:off x="2104813" y="4795520"/>
            <a:ext cx="374565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1" name="bld3_222"/>
          <p:cNvSpPr/>
          <p:nvPr/>
        </p:nvSpPr>
        <p:spPr>
          <a:xfrm>
            <a:off x="2057400" y="4875107"/>
            <a:ext cx="384048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2" name="bld3_223"/>
          <p:cNvSpPr/>
          <p:nvPr/>
        </p:nvSpPr>
        <p:spPr>
          <a:xfrm>
            <a:off x="2009987" y="4954693"/>
            <a:ext cx="393530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3" name="bld3_224"/>
          <p:cNvSpPr/>
          <p:nvPr/>
        </p:nvSpPr>
        <p:spPr>
          <a:xfrm>
            <a:off x="1962573" y="5034280"/>
            <a:ext cx="403013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4" name="bld3_225"/>
          <p:cNvSpPr/>
          <p:nvPr/>
        </p:nvSpPr>
        <p:spPr>
          <a:xfrm>
            <a:off x="1915160" y="5113867"/>
            <a:ext cx="412496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5" name="bld3_226"/>
          <p:cNvSpPr/>
          <p:nvPr/>
        </p:nvSpPr>
        <p:spPr>
          <a:xfrm>
            <a:off x="1867747" y="5193453"/>
            <a:ext cx="421978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6" name="bld3_227"/>
          <p:cNvSpPr/>
          <p:nvPr/>
        </p:nvSpPr>
        <p:spPr>
          <a:xfrm>
            <a:off x="1820333" y="5273040"/>
            <a:ext cx="431461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7" name="bld3_228"/>
          <p:cNvSpPr/>
          <p:nvPr/>
        </p:nvSpPr>
        <p:spPr>
          <a:xfrm>
            <a:off x="1772920" y="5352627"/>
            <a:ext cx="440944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8" name="bld3_229"/>
          <p:cNvSpPr/>
          <p:nvPr/>
        </p:nvSpPr>
        <p:spPr>
          <a:xfrm>
            <a:off x="1725507" y="5432213"/>
            <a:ext cx="450426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59" name="bld3_230"/>
          <p:cNvSpPr/>
          <p:nvPr/>
        </p:nvSpPr>
        <p:spPr>
          <a:xfrm>
            <a:off x="1678093" y="5511800"/>
            <a:ext cx="459909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0" name="bld3_231"/>
          <p:cNvSpPr/>
          <p:nvPr/>
        </p:nvSpPr>
        <p:spPr>
          <a:xfrm>
            <a:off x="1630680" y="5591387"/>
            <a:ext cx="469392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1" name="bld3_232"/>
          <p:cNvSpPr/>
          <p:nvPr/>
        </p:nvSpPr>
        <p:spPr>
          <a:xfrm>
            <a:off x="1583267" y="5670973"/>
            <a:ext cx="478874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2" name="bld3_233"/>
          <p:cNvSpPr/>
          <p:nvPr/>
        </p:nvSpPr>
        <p:spPr>
          <a:xfrm>
            <a:off x="1535853" y="5750560"/>
            <a:ext cx="4883573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3" name="bld3_234"/>
          <p:cNvSpPr/>
          <p:nvPr/>
        </p:nvSpPr>
        <p:spPr>
          <a:xfrm>
            <a:off x="1488440" y="5830147"/>
            <a:ext cx="4978400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4" name="bld3_235"/>
          <p:cNvSpPr/>
          <p:nvPr/>
        </p:nvSpPr>
        <p:spPr>
          <a:xfrm>
            <a:off x="1441027" y="5909733"/>
            <a:ext cx="5073227" cy="83244"/>
          </a:xfrm>
          <a:prstGeom prst="rect">
            <a:avLst/>
          </a:prstGeom>
          <a:solidFill>
            <a:srgbClr val="5B3A52">
              <a:alpha val="94000"/>
            </a:srgbClr>
          </a:solidFill>
          <a:ln/>
        </p:spPr>
      </p:sp>
      <p:sp>
        <p:nvSpPr>
          <p:cNvPr id="65" name="bld3_236"/>
          <p:cNvSpPr txBox="1"/>
          <p:nvPr/>
        </p:nvSpPr>
        <p:spPr>
          <a:xfrm>
            <a:off x="-502920" y="498043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5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66" name="bld3_237"/>
          <p:cNvSpPr txBox="1"/>
          <p:nvPr/>
        </p:nvSpPr>
        <p:spPr>
          <a:xfrm>
            <a:off x="6675120" y="498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musks, ambers, resins — the lasting foundation, hours into the drydown.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548640" y="6172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 teaching and marketing model — but real formulas overlap top, heart and base heavily. Few materials sit in only one layer.</a:t>
            </a:r>
            <a:endParaRPr lang="en-US" sz="1150" dirty="0"/>
          </a:p>
        </p:txBody>
      </p:sp>
      <p:sp>
        <p:nvSpPr>
          <p:cNvPr id="69" name="trans_fade_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0" name="Text 6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29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carries a formula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427553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52975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08456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238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39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40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</a:t>
            </a:r>
            <a:endParaRPr lang="en-US" sz="1450" dirty="0"/>
          </a:p>
        </p:txBody>
      </p:sp>
      <p:sp>
        <p:nvSpPr>
          <p:cNvPr id="24" name="bld1_241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alcohol. The standard solvent for finished fine-fragrance sprays.</a:t>
            </a:r>
            <a:endParaRPr lang="en-US" sz="1080" dirty="0"/>
          </a:p>
        </p:txBody>
      </p:sp>
      <p:sp>
        <p:nvSpPr>
          <p:cNvPr id="25" name="bld2_242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43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2_244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DPG</a:t>
            </a:r>
            <a:endParaRPr lang="en-US" sz="1450" dirty="0"/>
          </a:p>
        </p:txBody>
      </p:sp>
      <p:sp>
        <p:nvSpPr>
          <p:cNvPr id="28" name="bld2_245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Dipropylene glycol. Odourless, non-flammable — common for oils and roll-ons.</a:t>
            </a:r>
            <a:endParaRPr lang="en-US" sz="1080" dirty="0"/>
          </a:p>
        </p:txBody>
      </p:sp>
      <p:sp>
        <p:nvSpPr>
          <p:cNvPr id="29" name="bld3_246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47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248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</a:t>
            </a:r>
            <a:endParaRPr lang="en-US" sz="1450" dirty="0"/>
          </a:p>
        </p:txBody>
      </p:sp>
      <p:sp>
        <p:nvSpPr>
          <p:cNvPr id="32" name="bld3_249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Triethyl citrate. A gentler, skin-friendly solvent often used in oil-based formats.</a:t>
            </a:r>
            <a:endParaRPr lang="en-US" sz="1080" dirty="0"/>
          </a:p>
        </p:txBody>
      </p:sp>
      <p:sp>
        <p:nvSpPr>
          <p:cNvPr id="33" name="bld4_250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51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52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IPM</a:t>
            </a:r>
            <a:endParaRPr lang="en-US" sz="1450" dirty="0"/>
          </a:p>
        </p:txBody>
      </p:sp>
      <p:sp>
        <p:nvSpPr>
          <p:cNvPr id="36" name="bld4_253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Isopropyl myristate. A light, fast-absorbing carrier used where appropriate.</a:t>
            </a:r>
            <a:endParaRPr lang="en-US" sz="1080" dirty="0"/>
          </a:p>
        </p:txBody>
      </p:sp>
      <p:sp>
        <p:nvSpPr>
          <p:cNvPr id="38" name="trans_fade_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GOES INTO A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finished perfume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spray perfume is mostly solvent — not concentrate.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055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2850551"/>
            <a:ext cx="86536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21167" y="2850551"/>
            <a:ext cx="110944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32111" y="2850551"/>
            <a:ext cx="5547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87583" y="2850551"/>
            <a:ext cx="55472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bld1_254"/>
          <p:cNvSpPr/>
          <p:nvPr/>
        </p:nvSpPr>
        <p:spPr>
          <a:xfrm>
            <a:off x="566928" y="389296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255"/>
          <p:cNvSpPr txBox="1"/>
          <p:nvPr/>
        </p:nvSpPr>
        <p:spPr>
          <a:xfrm>
            <a:off x="841248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7" name="bld1_256"/>
          <p:cNvSpPr txBox="1"/>
          <p:nvPr/>
        </p:nvSpPr>
        <p:spPr>
          <a:xfrm>
            <a:off x="841248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 itself</a:t>
            </a:r>
            <a:endParaRPr lang="en-US" sz="1000" dirty="0"/>
          </a:p>
        </p:txBody>
      </p:sp>
      <p:sp>
        <p:nvSpPr>
          <p:cNvPr id="18" name="bld2_257"/>
          <p:cNvSpPr/>
          <p:nvPr/>
        </p:nvSpPr>
        <p:spPr>
          <a:xfrm>
            <a:off x="6297016" y="3892967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9" name="bld2_258"/>
          <p:cNvSpPr txBox="1"/>
          <p:nvPr/>
        </p:nvSpPr>
        <p:spPr>
          <a:xfrm>
            <a:off x="6571336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 —  78%</a:t>
            </a:r>
            <a:endParaRPr lang="en-US" sz="1250" dirty="0"/>
          </a:p>
        </p:txBody>
      </p:sp>
      <p:sp>
        <p:nvSpPr>
          <p:cNvPr id="20" name="bld2_259"/>
          <p:cNvSpPr txBox="1"/>
          <p:nvPr/>
        </p:nvSpPr>
        <p:spPr>
          <a:xfrm>
            <a:off x="6571336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21" name="bld3_260"/>
          <p:cNvSpPr/>
          <p:nvPr/>
        </p:nvSpPr>
        <p:spPr>
          <a:xfrm>
            <a:off x="566928" y="445989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3_261"/>
          <p:cNvSpPr txBox="1"/>
          <p:nvPr/>
        </p:nvSpPr>
        <p:spPr>
          <a:xfrm>
            <a:off x="841248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 —  1%</a:t>
            </a:r>
            <a:endParaRPr lang="en-US" sz="1250" dirty="0"/>
          </a:p>
        </p:txBody>
      </p:sp>
      <p:sp>
        <p:nvSpPr>
          <p:cNvPr id="23" name="bld3_262"/>
          <p:cNvSpPr txBox="1"/>
          <p:nvPr/>
        </p:nvSpPr>
        <p:spPr>
          <a:xfrm>
            <a:off x="841248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softens alcohol bite</a:t>
            </a:r>
            <a:endParaRPr lang="en-US" sz="1000" dirty="0"/>
          </a:p>
        </p:txBody>
      </p:sp>
      <p:sp>
        <p:nvSpPr>
          <p:cNvPr id="24" name="bld4_263"/>
          <p:cNvSpPr/>
          <p:nvPr/>
        </p:nvSpPr>
        <p:spPr>
          <a:xfrm>
            <a:off x="6297016" y="4459895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bld4_264"/>
          <p:cNvSpPr txBox="1"/>
          <p:nvPr/>
        </p:nvSpPr>
        <p:spPr>
          <a:xfrm>
            <a:off x="6571336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Antioxidants / stabilisers  —  0.5%</a:t>
            </a:r>
            <a:endParaRPr lang="en-US" sz="1250" dirty="0"/>
          </a:p>
        </p:txBody>
      </p:sp>
      <p:sp>
        <p:nvSpPr>
          <p:cNvPr id="26" name="bld4_265"/>
          <p:cNvSpPr txBox="1"/>
          <p:nvPr/>
        </p:nvSpPr>
        <p:spPr>
          <a:xfrm>
            <a:off x="6571336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required</a:t>
            </a:r>
            <a:endParaRPr lang="en-US" sz="1000" dirty="0"/>
          </a:p>
        </p:txBody>
      </p:sp>
      <p:sp>
        <p:nvSpPr>
          <p:cNvPr id="27" name="bld5_266"/>
          <p:cNvSpPr/>
          <p:nvPr/>
        </p:nvSpPr>
        <p:spPr>
          <a:xfrm>
            <a:off x="566928" y="502682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5_267"/>
          <p:cNvSpPr txBox="1"/>
          <p:nvPr/>
        </p:nvSpPr>
        <p:spPr>
          <a:xfrm>
            <a:off x="841248" y="494452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 —  0.5%</a:t>
            </a:r>
            <a:endParaRPr lang="en-US" sz="1250" dirty="0"/>
          </a:p>
        </p:txBody>
      </p:sp>
      <p:sp>
        <p:nvSpPr>
          <p:cNvPr id="29" name="bld5_268"/>
          <p:cNvSpPr txBox="1"/>
          <p:nvPr/>
        </p:nvSpPr>
        <p:spPr>
          <a:xfrm>
            <a:off x="841248" y="521884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appropriate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631375" y="246650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32" name="trans_push_l_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ONE PALETTE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vs. synthetics</a:t>
            </a:r>
            <a:endParaRPr lang="en-US" sz="3200" dirty="0"/>
          </a:p>
        </p:txBody>
      </p:sp>
      <p:sp>
        <p:nvSpPr>
          <p:cNvPr id="7" name="bld1_269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8" name="bld1_270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bld1_271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800" dirty="0"/>
          </a:p>
        </p:txBody>
      </p:sp>
      <p:sp>
        <p:nvSpPr>
          <p:cNvPr id="10" name="bld1_272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oils — steam or expression distilled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Absolutes — solvent extracted, richer and truer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CO2 extracts — extracted under pressure, very clean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Resinoids — extracted from gums and resins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variable, often expensive</a:t>
            </a:r>
            <a:endParaRPr lang="en-US" sz="1300" dirty="0"/>
          </a:p>
        </p:txBody>
      </p:sp>
      <p:sp>
        <p:nvSpPr>
          <p:cNvPr id="11" name="bld1_273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2" name="bld1_274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13" name="bld2_275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14" name="bld2_276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bld2_277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</a:t>
            </a:r>
            <a:endParaRPr lang="en-US" sz="1800" dirty="0"/>
          </a:p>
        </p:txBody>
      </p:sp>
      <p:sp>
        <p:nvSpPr>
          <p:cNvPr id="16" name="bld2_278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chemicals — single, isolated molecules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Captives / speciality materials — proprietary, exclusive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— pre-blended synthetic accords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consistent, batch after batch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effects naturals simply cannot achieve</a:t>
            </a:r>
            <a:endParaRPr lang="en-US" sz="1300" dirty="0"/>
          </a:p>
        </p:txBody>
      </p:sp>
      <p:sp>
        <p:nvSpPr>
          <p:cNvPr id="17" name="bld2_279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bld2_280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20" name="trans_wipe_l_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FAMILIES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twelve families you'll learn to recognise</a:t>
            </a:r>
            <a:endParaRPr lang="en-US" sz="3200" dirty="0"/>
          </a:p>
        </p:txBody>
      </p:sp>
      <p:sp>
        <p:nvSpPr>
          <p:cNvPr id="7" name="bld1_281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33773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1967723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52022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283"/>
          <p:cNvSpPr txBox="1"/>
          <p:nvPr/>
        </p:nvSpPr>
        <p:spPr>
          <a:xfrm>
            <a:off x="731520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24" name="bld1_284"/>
          <p:cNvSpPr txBox="1"/>
          <p:nvPr/>
        </p:nvSpPr>
        <p:spPr>
          <a:xfrm>
            <a:off x="731520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Bergamot, lemon, mandarin</a:t>
            </a:r>
            <a:endParaRPr lang="en-US" sz="1080" dirty="0"/>
          </a:p>
        </p:txBody>
      </p:sp>
      <p:sp>
        <p:nvSpPr>
          <p:cNvPr id="25" name="bld2_285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6417" y="193183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4320000">
            <a:off x="4727811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640000">
            <a:off x="4685262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2960000">
            <a:off x="4547571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7280000">
            <a:off x="4505023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18842" y="2118072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3" name="Shape 31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4" name="bld2_287"/>
          <p:cNvSpPr txBox="1"/>
          <p:nvPr/>
        </p:nvSpPr>
        <p:spPr>
          <a:xfrm>
            <a:off x="3569132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35" name="bld2_288"/>
          <p:cNvSpPr txBox="1"/>
          <p:nvPr/>
        </p:nvSpPr>
        <p:spPr>
          <a:xfrm>
            <a:off x="3569132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jasmine, muguet</a:t>
            </a:r>
            <a:endParaRPr lang="en-US" sz="1080" dirty="0"/>
          </a:p>
        </p:txBody>
      </p:sp>
      <p:sp>
        <p:nvSpPr>
          <p:cNvPr id="36" name="bld3_289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8" name="Shape 36"/>
          <p:cNvSpPr/>
          <p:nvPr/>
        </p:nvSpPr>
        <p:spPr>
          <a:xfrm>
            <a:off x="7315804" y="1996823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509167" y="1987123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2000000">
            <a:off x="7532942" y="1967723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42" name="bld3_291"/>
          <p:cNvSpPr txBox="1"/>
          <p:nvPr/>
        </p:nvSpPr>
        <p:spPr>
          <a:xfrm>
            <a:off x="6406744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43" name="bld3_292"/>
          <p:cNvSpPr txBox="1"/>
          <p:nvPr/>
        </p:nvSpPr>
        <p:spPr>
          <a:xfrm>
            <a:off x="6406744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Peach, apple, blackcurrant</a:t>
            </a:r>
            <a:endParaRPr lang="en-US" sz="1080" dirty="0"/>
          </a:p>
        </p:txBody>
      </p:sp>
      <p:sp>
        <p:nvSpPr>
          <p:cNvPr id="44" name="bld4_293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6" name="Shape 44"/>
          <p:cNvSpPr/>
          <p:nvPr/>
        </p:nvSpPr>
        <p:spPr>
          <a:xfrm rot="15300000">
            <a:off x="10188067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3050000">
            <a:off x="10233538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0800000">
            <a:off x="10311040" y="21762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550000">
            <a:off x="10388543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300000">
            <a:off x="10434014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2" name="bld4_295"/>
          <p:cNvSpPr txBox="1"/>
          <p:nvPr/>
        </p:nvSpPr>
        <p:spPr>
          <a:xfrm>
            <a:off x="9244355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53" name="bld4_296"/>
          <p:cNvSpPr txBox="1"/>
          <p:nvPr/>
        </p:nvSpPr>
        <p:spPr>
          <a:xfrm>
            <a:off x="9244355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grass, galbanum, leaves</a:t>
            </a:r>
            <a:endParaRPr lang="en-US" sz="1080" dirty="0"/>
          </a:p>
        </p:txBody>
      </p:sp>
      <p:sp>
        <p:nvSpPr>
          <p:cNvPr id="54" name="bld5_297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56" name="Shape 54"/>
          <p:cNvSpPr/>
          <p:nvPr/>
        </p:nvSpPr>
        <p:spPr>
          <a:xfrm>
            <a:off x="1803055" y="365546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2700000">
            <a:off x="1854908" y="367694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5400000">
            <a:off x="1876387" y="3728796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8100000">
            <a:off x="1854908" y="37806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0800000">
            <a:off x="1803055" y="38021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3500000">
            <a:off x="1751202" y="37806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6200000">
            <a:off x="1729723" y="3728796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8900000">
            <a:off x="1751202" y="367694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800630" y="3777296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65" name="Shape 6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66" name="bld5_299"/>
          <p:cNvSpPr txBox="1"/>
          <p:nvPr/>
        </p:nvSpPr>
        <p:spPr>
          <a:xfrm>
            <a:off x="731520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67" name="bld5_300"/>
          <p:cNvSpPr txBox="1"/>
          <p:nvPr/>
        </p:nvSpPr>
        <p:spPr>
          <a:xfrm>
            <a:off x="731520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Lavender, rosemary, herbs</a:t>
            </a:r>
            <a:endParaRPr lang="en-US" sz="1080" dirty="0"/>
          </a:p>
        </p:txBody>
      </p:sp>
      <p:sp>
        <p:nvSpPr>
          <p:cNvPr id="68" name="bld6_301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70" name="Shape 68"/>
          <p:cNvSpPr/>
          <p:nvPr/>
        </p:nvSpPr>
        <p:spPr>
          <a:xfrm>
            <a:off x="4434543" y="3573597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515376" y="3654430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2" name="Shape 70"/>
          <p:cNvSpPr/>
          <p:nvPr/>
        </p:nvSpPr>
        <p:spPr>
          <a:xfrm>
            <a:off x="4596209" y="3735263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647942" y="3786996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74" name="Shape 72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75" name="bld6_303"/>
          <p:cNvSpPr txBox="1"/>
          <p:nvPr/>
        </p:nvSpPr>
        <p:spPr>
          <a:xfrm>
            <a:off x="3569132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76" name="bld6_304"/>
          <p:cNvSpPr txBox="1"/>
          <p:nvPr/>
        </p:nvSpPr>
        <p:spPr>
          <a:xfrm>
            <a:off x="3569132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Cedar, sandalwood, vetiver</a:t>
            </a:r>
            <a:endParaRPr lang="en-US" sz="1080" dirty="0"/>
          </a:p>
        </p:txBody>
      </p:sp>
      <p:sp>
        <p:nvSpPr>
          <p:cNvPr id="77" name="bld7_305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79" name="Shape 77"/>
          <p:cNvSpPr/>
          <p:nvPr/>
        </p:nvSpPr>
        <p:spPr>
          <a:xfrm rot="9000000">
            <a:off x="7393404" y="3704547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6000000">
            <a:off x="7330354" y="3675447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11400000">
            <a:off x="7529203" y="3646347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83" name="bld7_307"/>
          <p:cNvSpPr txBox="1"/>
          <p:nvPr/>
        </p:nvSpPr>
        <p:spPr>
          <a:xfrm>
            <a:off x="6406744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84" name="bld7_308"/>
          <p:cNvSpPr txBox="1"/>
          <p:nvPr/>
        </p:nvSpPr>
        <p:spPr>
          <a:xfrm>
            <a:off x="6406744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Labdanum, resins, warmth</a:t>
            </a:r>
            <a:endParaRPr lang="en-US" sz="1080" dirty="0"/>
          </a:p>
        </p:txBody>
      </p:sp>
      <p:sp>
        <p:nvSpPr>
          <p:cNvPr id="85" name="bld8_309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87" name="Shape 85"/>
          <p:cNvSpPr/>
          <p:nvPr/>
        </p:nvSpPr>
        <p:spPr>
          <a:xfrm>
            <a:off x="10129166" y="3665747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89" name="bld8_311"/>
          <p:cNvSpPr txBox="1"/>
          <p:nvPr/>
        </p:nvSpPr>
        <p:spPr>
          <a:xfrm>
            <a:off x="9244355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90" name="bld8_312"/>
          <p:cNvSpPr txBox="1"/>
          <p:nvPr/>
        </p:nvSpPr>
        <p:spPr>
          <a:xfrm>
            <a:off x="9244355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skin, soft, radiant</a:t>
            </a:r>
            <a:endParaRPr lang="en-US" sz="1080" dirty="0"/>
          </a:p>
        </p:txBody>
      </p:sp>
      <p:sp>
        <p:nvSpPr>
          <p:cNvPr id="91" name="bld9_313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3" name="Shape 91"/>
          <p:cNvSpPr/>
          <p:nvPr/>
        </p:nvSpPr>
        <p:spPr>
          <a:xfrm rot="840000">
            <a:off x="1781230" y="5225546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840000">
            <a:off x="1833944" y="5281321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84868" y="529465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6" name="Shape 94"/>
          <p:cNvSpPr/>
          <p:nvPr/>
        </p:nvSpPr>
        <p:spPr>
          <a:xfrm>
            <a:off x="1802328" y="535479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7" name="Shape 95"/>
          <p:cNvSpPr/>
          <p:nvPr/>
        </p:nvSpPr>
        <p:spPr>
          <a:xfrm>
            <a:off x="1819787" y="54149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8" name="Shape 96"/>
          <p:cNvSpPr/>
          <p:nvPr/>
        </p:nvSpPr>
        <p:spPr>
          <a:xfrm>
            <a:off x="1837247" y="547507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9" name="Shape 97"/>
          <p:cNvSpPr/>
          <p:nvPr/>
        </p:nvSpPr>
        <p:spPr>
          <a:xfrm>
            <a:off x="1854707" y="553521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00" name="Shape 98"/>
          <p:cNvSpPr/>
          <p:nvPr/>
        </p:nvSpPr>
        <p:spPr>
          <a:xfrm>
            <a:off x="1872167" y="559535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01" name="Shape 99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02" name="bld9_315"/>
          <p:cNvSpPr txBox="1"/>
          <p:nvPr/>
        </p:nvSpPr>
        <p:spPr>
          <a:xfrm>
            <a:off x="731520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103" name="bld9_316"/>
          <p:cNvSpPr txBox="1"/>
          <p:nvPr/>
        </p:nvSpPr>
        <p:spPr>
          <a:xfrm>
            <a:off x="731520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Vanilla, caramel, sugar</a:t>
            </a:r>
            <a:endParaRPr lang="en-US" sz="1080" dirty="0"/>
          </a:p>
        </p:txBody>
      </p:sp>
      <p:sp>
        <p:nvSpPr>
          <p:cNvPr id="104" name="bld10_317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4434543" y="5213421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4496433" y="5334671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4471410" y="541550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4471410" y="5496336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0" name="Shape 108"/>
          <p:cNvSpPr/>
          <p:nvPr/>
        </p:nvSpPr>
        <p:spPr>
          <a:xfrm>
            <a:off x="4496433" y="5577169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1" name="Shape 109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12" name="bld10_319"/>
          <p:cNvSpPr txBox="1"/>
          <p:nvPr/>
        </p:nvSpPr>
        <p:spPr>
          <a:xfrm>
            <a:off x="3569132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113" name="bld10_320"/>
          <p:cNvSpPr txBox="1"/>
          <p:nvPr/>
        </p:nvSpPr>
        <p:spPr>
          <a:xfrm>
            <a:off x="3569132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Suede, birch tar, smoke</a:t>
            </a:r>
            <a:endParaRPr lang="en-US" sz="1080" dirty="0"/>
          </a:p>
        </p:txBody>
      </p:sp>
      <p:sp>
        <p:nvSpPr>
          <p:cNvPr id="114" name="bld11_321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272155" y="5213421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7325504" y="5453495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325504" y="5392870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7325504" y="5324971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21" name="bld11_323"/>
          <p:cNvSpPr txBox="1"/>
          <p:nvPr/>
        </p:nvSpPr>
        <p:spPr>
          <a:xfrm>
            <a:off x="6406744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Aquatic</a:t>
            </a:r>
            <a:endParaRPr lang="en-US" sz="1450" dirty="0"/>
          </a:p>
        </p:txBody>
      </p:sp>
      <p:sp>
        <p:nvSpPr>
          <p:cNvPr id="122" name="bld11_324"/>
          <p:cNvSpPr txBox="1"/>
          <p:nvPr/>
        </p:nvSpPr>
        <p:spPr>
          <a:xfrm>
            <a:off x="6406744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air, ozone, melon</a:t>
            </a:r>
            <a:endParaRPr lang="en-US" sz="1080" dirty="0"/>
          </a:p>
        </p:txBody>
      </p:sp>
      <p:sp>
        <p:nvSpPr>
          <p:cNvPr id="123" name="bld12_325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4" name="Shape 122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25" name="Shape 123"/>
          <p:cNvSpPr/>
          <p:nvPr/>
        </p:nvSpPr>
        <p:spPr>
          <a:xfrm rot="9000000">
            <a:off x="10231016" y="5344371"/>
            <a:ext cx="281299" cy="28129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 rot="6000000">
            <a:off x="10167966" y="5315271"/>
            <a:ext cx="174599" cy="174599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 rot="11400000">
            <a:off x="10366815" y="5286171"/>
            <a:ext cx="145499" cy="145499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129" name="bld12_327"/>
          <p:cNvSpPr txBox="1"/>
          <p:nvPr/>
        </p:nvSpPr>
        <p:spPr>
          <a:xfrm>
            <a:off x="9244355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130" name="bld12_328"/>
          <p:cNvSpPr txBox="1"/>
          <p:nvPr/>
        </p:nvSpPr>
        <p:spPr>
          <a:xfrm>
            <a:off x="9244355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Pepper, clove, cinnamon</a:t>
            </a:r>
            <a:endParaRPr lang="en-US" sz="1080" dirty="0"/>
          </a:p>
        </p:txBody>
      </p:sp>
      <p:sp>
        <p:nvSpPr>
          <p:cNvPr id="132" name="trans_fade_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3" name="Text 1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9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4" grpId="0"/>
      <p:bldP spid="35" grpId="0"/>
      <p:bldP spid="36" grpId="0"/>
      <p:bldP spid="42" grpId="0"/>
      <p:bldP spid="43" grpId="0"/>
      <p:bldP spid="44" grpId="0"/>
      <p:bldP spid="52" grpId="0"/>
      <p:bldP spid="53" grpId="0"/>
      <p:bldP spid="54" grpId="0"/>
      <p:bldP spid="66" grpId="0"/>
      <p:bldP spid="67" grpId="0"/>
      <p:bldP spid="68" grpId="0"/>
      <p:bldP spid="75" grpId="0"/>
      <p:bldP spid="76" grpId="0"/>
      <p:bldP spid="77" grpId="0"/>
      <p:bldP spid="83" grpId="0"/>
      <p:bldP spid="84" grpId="0"/>
      <p:bldP spid="85" grpId="0"/>
      <p:bldP spid="89" grpId="0"/>
      <p:bldP spid="90" grpId="0"/>
      <p:bldP spid="91" grpId="0"/>
      <p:bldP spid="102" grpId="0"/>
      <p:bldP spid="103" grpId="0"/>
      <p:bldP spid="104" grpId="0"/>
      <p:bldP spid="112" grpId="0"/>
      <p:bldP spid="113" grpId="0"/>
      <p:bldP spid="114" grpId="0"/>
      <p:bldP spid="121" grpId="0"/>
      <p:bldP spid="122" grpId="0"/>
      <p:bldP spid="123" grpId="0"/>
      <p:bldP spid="129" grpId="0"/>
      <p:bldP spid="13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BASICS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perfumery myths, busted</a:t>
            </a:r>
            <a:endParaRPr lang="en-US" sz="3200" dirty="0"/>
          </a:p>
        </p:txBody>
      </p:sp>
      <p:sp>
        <p:nvSpPr>
          <p:cNvPr id="7" name="bld1_329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330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bld1_331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is always better</a:t>
            </a:r>
            <a:endParaRPr lang="en-US" sz="1350" dirty="0"/>
          </a:p>
        </p:txBody>
      </p:sp>
      <p:sp>
        <p:nvSpPr>
          <p:cNvPr id="10" name="bld1_332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bld1_333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bring soul; synthetics bring precision, safety and effects naturals can't. Great perfumery uses both.</a:t>
            </a:r>
            <a:endParaRPr lang="en-US" sz="1080" dirty="0"/>
          </a:p>
        </p:txBody>
      </p:sp>
      <p:sp>
        <p:nvSpPr>
          <p:cNvPr id="12" name="bld2_334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335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bld2_336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oil means stronger</a:t>
            </a:r>
            <a:endParaRPr lang="en-US" sz="1350" dirty="0"/>
          </a:p>
        </p:txBody>
      </p:sp>
      <p:sp>
        <p:nvSpPr>
          <p:cNvPr id="15" name="bld2_337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bld2_338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choice, not raw %, drives strength. A well-built low-concentrate formula can outperform a poorly built rich one.</a:t>
            </a:r>
            <a:endParaRPr lang="en-US" sz="1080" dirty="0"/>
          </a:p>
        </p:txBody>
      </p:sp>
      <p:sp>
        <p:nvSpPr>
          <p:cNvPr id="17" name="bld3_339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340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bld3_341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fake</a:t>
            </a:r>
            <a:endParaRPr lang="en-US" sz="1350" dirty="0"/>
          </a:p>
        </p:txBody>
      </p:sp>
      <p:sp>
        <p:nvSpPr>
          <p:cNvPr id="20" name="bld3_342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bld3_343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synthetics smell nothing like an approximation — they're original, beautiful materials with no natural equivalent.</a:t>
            </a:r>
            <a:endParaRPr lang="en-US" sz="1080" dirty="0"/>
          </a:p>
        </p:txBody>
      </p:sp>
      <p:sp>
        <p:nvSpPr>
          <p:cNvPr id="22" name="bld4_344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345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bld4_346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material = better perfume</a:t>
            </a:r>
            <a:endParaRPr lang="en-US" sz="1350" dirty="0"/>
          </a:p>
        </p:txBody>
      </p:sp>
      <p:sp>
        <p:nvSpPr>
          <p:cNvPr id="25" name="bld4_347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bld4_348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reflects rarity and extraction cost, not olfactory value. Cheap materials can be the hero of a formula.</a:t>
            </a:r>
            <a:endParaRPr lang="en-US" sz="1080" dirty="0"/>
          </a:p>
        </p:txBody>
      </p:sp>
      <p:sp>
        <p:nvSpPr>
          <p:cNvPr id="27" name="bld5_349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350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bld5_351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heart / base must separate perfectly</a:t>
            </a:r>
            <a:endParaRPr lang="en-US" sz="1350" dirty="0"/>
          </a:p>
        </p:txBody>
      </p:sp>
      <p:sp>
        <p:nvSpPr>
          <p:cNvPr id="30" name="bld5_352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bld5_353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materials span multiple layers at once — the pyramid is a teaching model, not a physical law.</a:t>
            </a:r>
            <a:endParaRPr lang="en-US" sz="1080" dirty="0"/>
          </a:p>
        </p:txBody>
      </p:sp>
      <p:sp>
        <p:nvSpPr>
          <p:cNvPr id="32" name="bld6_354"/>
          <p:cNvSpPr/>
          <p:nvPr/>
        </p:nvSpPr>
        <p:spPr>
          <a:xfrm>
            <a:off x="8115605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355"/>
          <p:cNvSpPr txBox="1"/>
          <p:nvPr/>
        </p:nvSpPr>
        <p:spPr>
          <a:xfrm>
            <a:off x="8316773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34" name="bld6_356"/>
          <p:cNvSpPr txBox="1"/>
          <p:nvPr/>
        </p:nvSpPr>
        <p:spPr>
          <a:xfrm>
            <a:off x="8316773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materials = more complexity</a:t>
            </a:r>
            <a:endParaRPr lang="en-US" sz="1350" dirty="0"/>
          </a:p>
        </p:txBody>
      </p:sp>
      <p:sp>
        <p:nvSpPr>
          <p:cNvPr id="35" name="bld6_357"/>
          <p:cNvSpPr txBox="1"/>
          <p:nvPr/>
        </p:nvSpPr>
        <p:spPr>
          <a:xfrm>
            <a:off x="8316773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6" name="bld6_358"/>
          <p:cNvSpPr txBox="1"/>
          <p:nvPr/>
        </p:nvSpPr>
        <p:spPr>
          <a:xfrm>
            <a:off x="8316773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comes from how materials interact, not how many are in the beaker. Restraint is a skill.</a:t>
            </a:r>
            <a:endParaRPr lang="en-US" sz="1080" dirty="0"/>
          </a:p>
        </p:txBody>
      </p:sp>
      <p:sp>
        <p:nvSpPr>
          <p:cNvPr id="38" name="trans_fade_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pyramid, the percentages, the categories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maps — not the territory. Learn them,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learn when real formulas break them.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01</a:t>
            </a:r>
            <a:endParaRPr lang="en-US" sz="1100" dirty="0"/>
          </a:p>
        </p:txBody>
      </p:sp>
      <p:sp>
        <p:nvSpPr>
          <p:cNvPr id="10" name="trans_fade_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64447" y="3824387"/>
            <a:ext cx="1805026" cy="593080"/>
          </a:xfrm>
          <a:prstGeom prst="roundRect">
            <a:avLst>
              <a:gd name="adj" fmla="val 9251"/>
            </a:avLst>
          </a:prstGeom>
          <a:solidFill>
            <a:srgbClr val="B5652D">
              <a:alpha val="80000"/>
            </a:srgbClr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69854" y="2737074"/>
            <a:ext cx="794211" cy="1146621"/>
          </a:xfrm>
          <a:prstGeom prst="roundRect">
            <a:avLst>
              <a:gd name="adj" fmla="val 3454"/>
            </a:avLst>
          </a:prstGeom>
          <a:solidFill>
            <a:srgbClr val="FAF6EC"/>
          </a:solidFill>
          <a:ln w="12700">
            <a:solidFill>
              <a:srgbClr val="B565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2388" y="2440534"/>
            <a:ext cx="914" cy="316309"/>
          </a:xfrm>
          <a:prstGeom prst="line">
            <a:avLst/>
          </a:prstGeom>
          <a:noFill/>
          <a:ln w="25400">
            <a:solidFill>
              <a:srgbClr val="B5652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EQUIPMENT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Bench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professional lab to start — you need the right small set of tools, chosen for accuracy, and you need to know exactly what each one is for.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0.001g scale is non-negotiable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on the bench, one at a 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starter checklist, and what to skip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0" name="trans_fade_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actually need?</a:t>
            </a:r>
            <a:endParaRPr lang="en-US" sz="3200" dirty="0"/>
          </a:p>
        </p:txBody>
      </p:sp>
      <p:sp>
        <p:nvSpPr>
          <p:cNvPr id="7" name="bld1_359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839430" y="2167179"/>
            <a:ext cx="120037" cy="5335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9467" y="2167179"/>
            <a:ext cx="120037" cy="666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959467" y="2233866"/>
            <a:ext cx="120037" cy="10670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9405" y="2340566"/>
            <a:ext cx="200062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759405" y="2220529"/>
            <a:ext cx="80025" cy="12003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2718" y="2153842"/>
            <a:ext cx="146712" cy="666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18090" y="2199189"/>
            <a:ext cx="42680" cy="42680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44129" y="2151841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4166" y="22185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4129" y="23252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44067" y="2325228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77380" y="2138504"/>
            <a:ext cx="30676" cy="30676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bld1_361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23" name="bld1_362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precision — your single most important tool.</a:t>
            </a:r>
            <a:endParaRPr lang="en-US" sz="1080" dirty="0"/>
          </a:p>
        </p:txBody>
      </p:sp>
      <p:sp>
        <p:nvSpPr>
          <p:cNvPr id="24" name="bld2_363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5702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80042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11082" y="2227319"/>
            <a:ext cx="131919" cy="156169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2A5266"/>
            </a:solidFill>
            <a:prstDash val="solid"/>
          </a:ln>
        </p:spPr>
      </p:sp>
      <p:sp>
        <p:nvSpPr>
          <p:cNvPr id="30" name="bld2_365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stirrer</a:t>
            </a:r>
            <a:endParaRPr lang="en-US" sz="1450" dirty="0"/>
          </a:p>
        </p:txBody>
      </p:sp>
      <p:sp>
        <p:nvSpPr>
          <p:cNvPr id="31" name="bld2_366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mixing for dilutions and bases.</a:t>
            </a:r>
            <a:endParaRPr lang="en-US" sz="1080" dirty="0"/>
          </a:p>
        </p:txBody>
      </p:sp>
      <p:sp>
        <p:nvSpPr>
          <p:cNvPr id="32" name="bld3_367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474641" y="2031380"/>
            <a:ext cx="80025" cy="84026"/>
          </a:xfrm>
          <a:prstGeom prst="ellipse">
            <a:avLst/>
          </a:prstGeom>
          <a:solidFill>
            <a:srgbClr val="4090AF">
              <a:alpha val="85000"/>
            </a:srgbClr>
          </a:solidFill>
          <a:ln w="12700">
            <a:solidFill>
              <a:srgbClr val="4090A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03681" y="2111404"/>
            <a:ext cx="914" cy="225524"/>
          </a:xfrm>
          <a:prstGeom prst="line">
            <a:avLst/>
          </a:prstGeom>
          <a:noFill/>
          <a:ln w="28575">
            <a:solidFill>
              <a:srgbClr val="4090A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7503741" y="2336928"/>
            <a:ext cx="21825" cy="58200"/>
          </a:xfrm>
          <a:prstGeom prst="triangle">
            <a:avLst/>
          </a:prstGeom>
          <a:solidFill>
            <a:srgbClr val="4090AF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8" name="bld3_369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Pipettes</a:t>
            </a:r>
            <a:endParaRPr lang="en-US" sz="1450" dirty="0"/>
          </a:p>
        </p:txBody>
      </p:sp>
      <p:sp>
        <p:nvSpPr>
          <p:cNvPr id="39" name="bld3_370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Disposable, one per material.</a:t>
            </a:r>
            <a:endParaRPr lang="en-US" sz="1080" dirty="0"/>
          </a:p>
        </p:txBody>
      </p:sp>
      <p:sp>
        <p:nvSpPr>
          <p:cNvPr id="40" name="bld4_371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7" name="bld4_373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bottles</a:t>
            </a:r>
            <a:endParaRPr lang="en-US" sz="1450" dirty="0"/>
          </a:p>
        </p:txBody>
      </p:sp>
      <p:sp>
        <p:nvSpPr>
          <p:cNvPr id="48" name="bld4_374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that keeps light out.</a:t>
            </a:r>
            <a:endParaRPr lang="en-US" sz="1080" dirty="0"/>
          </a:p>
        </p:txBody>
      </p:sp>
      <p:sp>
        <p:nvSpPr>
          <p:cNvPr id="49" name="bld5_375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1" name="Shape 49"/>
          <p:cNvSpPr/>
          <p:nvPr/>
        </p:nvSpPr>
        <p:spPr>
          <a:xfrm>
            <a:off x="1814443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2" name="Shape 50"/>
          <p:cNvSpPr/>
          <p:nvPr/>
        </p:nvSpPr>
        <p:spPr>
          <a:xfrm>
            <a:off x="1817702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61830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798406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56" name="bld5_377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bottles</a:t>
            </a:r>
            <a:endParaRPr lang="en-US" sz="1450" dirty="0"/>
          </a:p>
        </p:txBody>
      </p:sp>
      <p:sp>
        <p:nvSpPr>
          <p:cNvPr id="57" name="bld5_378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material, clearly labelled.</a:t>
            </a:r>
            <a:endParaRPr lang="en-US" sz="1080" dirty="0"/>
          </a:p>
        </p:txBody>
      </p:sp>
      <p:sp>
        <p:nvSpPr>
          <p:cNvPr id="58" name="bld6_379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0" name="Shape 58"/>
          <p:cNvSpPr/>
          <p:nvPr/>
        </p:nvSpPr>
        <p:spPr>
          <a:xfrm>
            <a:off x="4660067" y="4414782"/>
            <a:ext cx="36278" cy="329798"/>
          </a:xfrm>
          <a:prstGeom prst="roundRect">
            <a:avLst>
              <a:gd name="adj" fmla="val 5041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73783" y="4639045"/>
            <a:ext cx="8846" cy="87248"/>
          </a:xfrm>
          <a:prstGeom prst="roundRect">
            <a:avLst>
              <a:gd name="adj" fmla="val 155053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3A281C"/>
            </a:solidFill>
            <a:prstDash val="solid"/>
          </a:ln>
        </p:spPr>
      </p:sp>
      <p:sp>
        <p:nvSpPr>
          <p:cNvPr id="63" name="bld6_381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</a:t>
            </a:r>
            <a:endParaRPr lang="en-US" sz="1450" dirty="0"/>
          </a:p>
        </p:txBody>
      </p:sp>
      <p:sp>
        <p:nvSpPr>
          <p:cNvPr id="64" name="bld6_382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primary evaluation instrument.</a:t>
            </a:r>
            <a:endParaRPr lang="en-US" sz="1080" dirty="0"/>
          </a:p>
        </p:txBody>
      </p:sp>
      <p:sp>
        <p:nvSpPr>
          <p:cNvPr id="65" name="bld7_383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34045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7309021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7309021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7334045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AD8862"/>
            </a:solidFill>
            <a:prstDash val="solid"/>
          </a:ln>
        </p:spPr>
      </p:sp>
      <p:sp>
        <p:nvSpPr>
          <p:cNvPr id="73" name="bld7_385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vessels</a:t>
            </a:r>
            <a:endParaRPr lang="en-US" sz="1450" dirty="0"/>
          </a:p>
        </p:txBody>
      </p:sp>
      <p:sp>
        <p:nvSpPr>
          <p:cNvPr id="74" name="bld7_386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 and small cups for solids.</a:t>
            </a:r>
            <a:endParaRPr lang="en-US" sz="1080" dirty="0"/>
          </a:p>
        </p:txBody>
      </p:sp>
      <p:sp>
        <p:nvSpPr>
          <p:cNvPr id="76" name="trans_fade_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7" name="Text 7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0" grpId="0"/>
      <p:bldP spid="31" grpId="0"/>
      <p:bldP spid="32" grpId="0"/>
      <p:bldP spid="38" grpId="0"/>
      <p:bldP spid="39" grpId="0"/>
      <p:bldP spid="40" grpId="0"/>
      <p:bldP spid="47" grpId="0"/>
      <p:bldP spid="48" grpId="0"/>
      <p:bldP spid="49" grpId="0"/>
      <p:bldP spid="56" grpId="0"/>
      <p:bldP spid="57" grpId="0"/>
      <p:bldP spid="58" grpId="0"/>
      <p:bldP spid="63" grpId="0"/>
      <p:bldP spid="64" grpId="0"/>
      <p:bldP spid="65" grpId="0"/>
      <p:bldP spid="73" grpId="0"/>
      <p:bldP spid="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...and the rest of the bench</a:t>
            </a:r>
            <a:endParaRPr lang="en-US" sz="3200" dirty="0"/>
          </a:p>
        </p:txBody>
      </p:sp>
      <p:sp>
        <p:nvSpPr>
          <p:cNvPr id="7" name="bld1_387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9" name="Shape 7"/>
          <p:cNvSpPr/>
          <p:nvPr/>
        </p:nvSpPr>
        <p:spPr>
          <a:xfrm>
            <a:off x="2291025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5366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6406" y="2227319"/>
            <a:ext cx="131919" cy="156169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3" name="bld1_389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Beakers</a:t>
            </a:r>
            <a:endParaRPr lang="en-US" sz="1450" dirty="0"/>
          </a:p>
        </p:txBody>
      </p:sp>
      <p:sp>
        <p:nvSpPr>
          <p:cNvPr id="14" name="bld1_390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larger trial batches.</a:t>
            </a:r>
            <a:endParaRPr lang="en-US" sz="1080" dirty="0"/>
          </a:p>
        </p:txBody>
      </p:sp>
      <p:sp>
        <p:nvSpPr>
          <p:cNvPr id="15" name="bld2_391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074508" y="2050780"/>
            <a:ext cx="42680" cy="95060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848" y="2118679"/>
            <a:ext cx="193999" cy="27159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29888" y="2227319"/>
            <a:ext cx="131919" cy="156169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21" name="bld2_393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</a:t>
            </a:r>
            <a:endParaRPr lang="en-US" sz="1450" dirty="0"/>
          </a:p>
        </p:txBody>
      </p:sp>
      <p:sp>
        <p:nvSpPr>
          <p:cNvPr id="22" name="bld2_394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spill-free transfers.</a:t>
            </a:r>
            <a:endParaRPr lang="en-US" sz="1080" dirty="0"/>
          </a:p>
        </p:txBody>
      </p:sp>
      <p:sp>
        <p:nvSpPr>
          <p:cNvPr id="23" name="bld3_395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5" name="Shape 23"/>
          <p:cNvSpPr/>
          <p:nvPr/>
        </p:nvSpPr>
        <p:spPr>
          <a:xfrm rot="8100000">
            <a:off x="9758081" y="2099280"/>
            <a:ext cx="242499" cy="242499"/>
          </a:xfrm>
          <a:prstGeom prst="teardrop">
            <a:avLst/>
          </a:prstGeom>
          <a:solidFill>
            <a:srgbClr val="8A6339">
              <a:alpha val="9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7" name="bld3_397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Spatulas</a:t>
            </a:r>
            <a:endParaRPr lang="en-US" sz="1450" dirty="0"/>
          </a:p>
        </p:txBody>
      </p:sp>
      <p:sp>
        <p:nvSpPr>
          <p:cNvPr id="28" name="bld3_398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solids and crystalline materials.</a:t>
            </a:r>
            <a:endParaRPr lang="en-US" sz="1080" dirty="0"/>
          </a:p>
        </p:txBody>
      </p:sp>
      <p:sp>
        <p:nvSpPr>
          <p:cNvPr id="29" name="bld4_399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089266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3" name="bld4_401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450" dirty="0"/>
          </a:p>
        </p:txBody>
      </p:sp>
      <p:sp>
        <p:nvSpPr>
          <p:cNvPr id="34" name="bld4_402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Nitrile, for clean handling.</a:t>
            </a:r>
            <a:endParaRPr lang="en-US" sz="1080" dirty="0"/>
          </a:p>
        </p:txBody>
      </p:sp>
      <p:sp>
        <p:nvSpPr>
          <p:cNvPr id="35" name="bld5_403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91523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890215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5890215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591523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3" name="bld5_405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&amp; marker</a:t>
            </a:r>
            <a:endParaRPr lang="en-US" sz="1450" dirty="0"/>
          </a:p>
        </p:txBody>
      </p:sp>
      <p:sp>
        <p:nvSpPr>
          <p:cNvPr id="44" name="bld5_406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Alcohol-resistant, always.</a:t>
            </a:r>
            <a:endParaRPr lang="en-US" sz="1080" dirty="0"/>
          </a:p>
        </p:txBody>
      </p:sp>
      <p:sp>
        <p:nvSpPr>
          <p:cNvPr id="45" name="bld6_407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7" name="Shape 45"/>
          <p:cNvSpPr/>
          <p:nvPr/>
        </p:nvSpPr>
        <p:spPr>
          <a:xfrm>
            <a:off x="9636831" y="4337182"/>
            <a:ext cx="484998" cy="484998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698721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9673698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9673698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9698721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53" name="bld6_409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450" dirty="0"/>
          </a:p>
        </p:txBody>
      </p:sp>
      <p:sp>
        <p:nvSpPr>
          <p:cNvPr id="54" name="bld6_410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Organised, dark, consistent.</a:t>
            </a:r>
            <a:endParaRPr lang="en-US" sz="1080" dirty="0"/>
          </a:p>
        </p:txBody>
      </p:sp>
      <p:sp>
        <p:nvSpPr>
          <p:cNvPr id="56" name="trans_fade_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7" grpId="0"/>
      <p:bldP spid="28" grpId="0"/>
      <p:bldP spid="29" grpId="0"/>
      <p:bldP spid="33" grpId="0"/>
      <p:bldP spid="34" grpId="0"/>
      <p:bldP spid="35" grpId="0"/>
      <p:bldP spid="43" grpId="0"/>
      <p:bldP spid="44" grpId="0"/>
      <p:bldP spid="45" grpId="0"/>
      <p:bldP spid="53" grpId="0"/>
      <p:bldP spid="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01 · THE NON-NEGOTIABLE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scale is your accuracy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39687"/>
            <a:ext cx="582490" cy="25888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30197" y="2939687"/>
            <a:ext cx="582490" cy="32360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130197" y="3263292"/>
            <a:ext cx="582490" cy="51776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59381" y="3781061"/>
            <a:ext cx="970816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59381" y="3198571"/>
            <a:ext cx="388327" cy="58249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35776" y="2874966"/>
            <a:ext cx="711932" cy="32360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44154" y="3095017"/>
            <a:ext cx="207108" cy="207108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5768" y="2865258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38258" y="3188863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5768" y="3706632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84952" y="3706632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61346" y="2800536"/>
            <a:ext cx="148859" cy="148859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ln w="25603">
            <a:solidFill>
              <a:srgbClr val="B5652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0.01g kitchen scale cannot see a 0.05g dose. Don't guess where you can measure.</a:t>
            </a:r>
            <a:endParaRPr lang="en-US" sz="1050" dirty="0"/>
          </a:p>
        </p:txBody>
      </p:sp>
      <p:sp>
        <p:nvSpPr>
          <p:cNvPr id="25" name="bld1_41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6" name="bld1_41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0.001g readability, ~200g capacity</a:t>
            </a:r>
            <a:endParaRPr lang="en-US" sz="1650" dirty="0"/>
          </a:p>
        </p:txBody>
      </p:sp>
      <p:sp>
        <p:nvSpPr>
          <p:cNvPr id="27" name="bld1_413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sweet spot for perfumery — precise enough for trace materials, large enough for real batches.</a:t>
            </a:r>
            <a:endParaRPr lang="en-US" sz="1250" dirty="0"/>
          </a:p>
        </p:txBody>
      </p:sp>
      <p:sp>
        <p:nvSpPr>
          <p:cNvPr id="28" name="bld2_414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9" name="bld2_415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0.001g matters</a:t>
            </a:r>
            <a:endParaRPr lang="en-US" sz="1650" dirty="0"/>
          </a:p>
        </p:txBody>
      </p:sp>
      <p:sp>
        <p:nvSpPr>
          <p:cNvPr id="30" name="bld2_416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you're making a 10g concentrate. 0.01g is 0.1% of the whole formula — with powerful materials, that's already too coarse to develop precisely. A 0.001g scale lets you make adjustments ten times smaller.</a:t>
            </a:r>
            <a:endParaRPr lang="en-US" sz="1250" dirty="0"/>
          </a:p>
        </p:txBody>
      </p:sp>
      <p:sp>
        <p:nvSpPr>
          <p:cNvPr id="31" name="bld3_41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2" name="bld3_418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Repeatability over price</a:t>
            </a:r>
            <a:endParaRPr lang="en-US" sz="1650" dirty="0"/>
          </a:p>
        </p:txBody>
      </p:sp>
      <p:sp>
        <p:nvSpPr>
          <p:cNvPr id="33" name="bld3_419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scale that gives a different reading each time is worse than useless — it teaches you the wrong lesson.</a:t>
            </a:r>
            <a:endParaRPr lang="en-US" sz="1250" dirty="0"/>
          </a:p>
        </p:txBody>
      </p:sp>
      <p:sp>
        <p:nvSpPr>
          <p:cNvPr id="34" name="bld4_420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421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&amp; max capacity</a:t>
            </a:r>
            <a:endParaRPr lang="en-US" sz="1650" dirty="0"/>
          </a:p>
        </p:txBody>
      </p:sp>
      <p:sp>
        <p:nvSpPr>
          <p:cNvPr id="36" name="bld4_422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regularly with a reference weight, and respect the scale's stated capacity — overloading degrades accuracy.</a:t>
            </a:r>
            <a:endParaRPr lang="en-US" sz="1250" dirty="0"/>
          </a:p>
        </p:txBody>
      </p:sp>
      <p:sp>
        <p:nvSpPr>
          <p:cNvPr id="38" name="trans_fade_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DIFFERENCE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0.01g scale vs. 0.001g scale</a:t>
            </a:r>
            <a:endParaRPr lang="en-US" sz="3200" dirty="0"/>
          </a:p>
        </p:txBody>
      </p:sp>
      <p:sp>
        <p:nvSpPr>
          <p:cNvPr id="7" name="bld1_423"/>
          <p:cNvSpPr/>
          <p:nvPr/>
        </p:nvSpPr>
        <p:spPr>
          <a:xfrm>
            <a:off x="548640" y="1874520"/>
            <a:ext cx="5364328" cy="4023360"/>
          </a:xfrm>
          <a:prstGeom prst="roundRect">
            <a:avLst>
              <a:gd name="adj" fmla="val 3182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424"/>
          <p:cNvSpPr txBox="1"/>
          <p:nvPr/>
        </p:nvSpPr>
        <p:spPr>
          <a:xfrm>
            <a:off x="841248" y="2093976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0.01G SCALE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17572" y="3035808"/>
            <a:ext cx="1426464" cy="1426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0" name="Shape 8"/>
          <p:cNvSpPr/>
          <p:nvPr/>
        </p:nvSpPr>
        <p:spPr>
          <a:xfrm flipV="1">
            <a:off x="3230804" y="3626649"/>
            <a:ext cx="275379" cy="12239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6183" y="3626649"/>
            <a:ext cx="275379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506183" y="3779638"/>
            <a:ext cx="275379" cy="24478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47218" y="4024419"/>
            <a:ext cx="458965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047218" y="3749040"/>
            <a:ext cx="183586" cy="27537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4230" y="3596052"/>
            <a:ext cx="336574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81848" y="3700084"/>
            <a:ext cx="97912" cy="9791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0995" y="359146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6374" y="3744450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995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2031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59042" y="3560864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7572" y="3035808"/>
            <a:ext cx="1426464" cy="1426464"/>
          </a:xfrm>
          <a:prstGeom prst="ellipse">
            <a:avLst/>
          </a:prstGeom>
          <a:ln w="25603">
            <a:solidFill>
              <a:srgbClr val="8C82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7091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larger, rough measurements</a:t>
            </a:r>
            <a:endParaRPr lang="en-US" sz="1250" dirty="0"/>
          </a:p>
        </p:txBody>
      </p:sp>
      <p:sp>
        <p:nvSpPr>
          <p:cNvPr id="24" name="bld2_425"/>
          <p:cNvSpPr/>
          <p:nvPr/>
        </p:nvSpPr>
        <p:spPr>
          <a:xfrm>
            <a:off x="6278728" y="1874520"/>
            <a:ext cx="5364328" cy="4023360"/>
          </a:xfrm>
          <a:prstGeom prst="roundRect">
            <a:avLst>
              <a:gd name="adj" fmla="val 3182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bld2_426"/>
          <p:cNvSpPr txBox="1"/>
          <p:nvPr/>
        </p:nvSpPr>
        <p:spPr>
          <a:xfrm>
            <a:off x="6571336" y="2093976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47659" y="3035808"/>
            <a:ext cx="1426464" cy="1426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8960891" y="3626649"/>
            <a:ext cx="275379" cy="12239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6270" y="3626649"/>
            <a:ext cx="275379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236270" y="3779638"/>
            <a:ext cx="275379" cy="24478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7305" y="4024419"/>
            <a:ext cx="458965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8777305" y="3749040"/>
            <a:ext cx="183586" cy="275379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4317" y="3596052"/>
            <a:ext cx="336574" cy="152988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11935" y="3700084"/>
            <a:ext cx="97912" cy="9791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201083" y="359146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76462" y="3744450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01083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42118" y="3989232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89130" y="3560864"/>
            <a:ext cx="70375" cy="70375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47659" y="3035808"/>
            <a:ext cx="1426464" cy="1426464"/>
          </a:xfrm>
          <a:prstGeom prst="ellipse">
            <a:avLst/>
          </a:prstGeom>
          <a:ln w="25603">
            <a:solidFill>
              <a:srgbClr val="B565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07328" y="4709160"/>
            <a:ext cx="49071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formula development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real scales. Only one of them can see the doses you'll actually be working with.</a:t>
            </a:r>
            <a:endParaRPr lang="en-US" sz="1250" dirty="0"/>
          </a:p>
        </p:txBody>
      </p:sp>
      <p:sp>
        <p:nvSpPr>
          <p:cNvPr id="43" name="trans_wipe_l_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5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24" grpId="0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ONE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for in a scale</a:t>
            </a:r>
            <a:endParaRPr lang="en-US" sz="3200" dirty="0"/>
          </a:p>
        </p:txBody>
      </p:sp>
      <p:sp>
        <p:nvSpPr>
          <p:cNvPr id="7" name="bld1_427"/>
          <p:cNvSpPr txBox="1"/>
          <p:nvPr/>
        </p:nvSpPr>
        <p:spPr>
          <a:xfrm>
            <a:off x="548640" y="19842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250" dirty="0"/>
          </a:p>
        </p:txBody>
      </p:sp>
      <p:sp>
        <p:nvSpPr>
          <p:cNvPr id="8" name="bld1_428"/>
          <p:cNvSpPr/>
          <p:nvPr/>
        </p:nvSpPr>
        <p:spPr>
          <a:xfrm>
            <a:off x="548640" y="2441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9" name="bld1_429"/>
          <p:cNvSpPr txBox="1"/>
          <p:nvPr/>
        </p:nvSpPr>
        <p:spPr>
          <a:xfrm>
            <a:off x="841248" y="2377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readability</a:t>
            </a:r>
            <a:endParaRPr lang="en-US" sz="1200" dirty="0"/>
          </a:p>
        </p:txBody>
      </p:sp>
      <p:sp>
        <p:nvSpPr>
          <p:cNvPr id="10" name="bld1_430"/>
          <p:cNvSpPr/>
          <p:nvPr/>
        </p:nvSpPr>
        <p:spPr>
          <a:xfrm>
            <a:off x="548640" y="2898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1" name="bld1_431"/>
          <p:cNvSpPr txBox="1"/>
          <p:nvPr/>
        </p:nvSpPr>
        <p:spPr>
          <a:xfrm>
            <a:off x="841248" y="2834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~100–300g maximum capacity</a:t>
            </a:r>
            <a:endParaRPr lang="en-US" sz="1200" dirty="0"/>
          </a:p>
        </p:txBody>
      </p:sp>
      <p:sp>
        <p:nvSpPr>
          <p:cNvPr id="12" name="bld1_432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3" name="bld1_433"/>
          <p:cNvSpPr txBox="1"/>
          <p:nvPr/>
        </p:nvSpPr>
        <p:spPr>
          <a:xfrm>
            <a:off x="841248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function</a:t>
            </a:r>
            <a:endParaRPr lang="en-US" sz="1200" dirty="0"/>
          </a:p>
        </p:txBody>
      </p:sp>
      <p:sp>
        <p:nvSpPr>
          <p:cNvPr id="14" name="bld1_434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5" name="bld1_435"/>
          <p:cNvSpPr txBox="1"/>
          <p:nvPr/>
        </p:nvSpPr>
        <p:spPr>
          <a:xfrm>
            <a:off x="841248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weight included</a:t>
            </a:r>
            <a:endParaRPr lang="en-US" sz="1200" dirty="0"/>
          </a:p>
        </p:txBody>
      </p:sp>
      <p:sp>
        <p:nvSpPr>
          <p:cNvPr id="16" name="bld1_436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7" name="bld1_437"/>
          <p:cNvSpPr txBox="1"/>
          <p:nvPr/>
        </p:nvSpPr>
        <p:spPr>
          <a:xfrm>
            <a:off x="841248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weighing platform</a:t>
            </a:r>
            <a:endParaRPr lang="en-US" sz="1200" dirty="0"/>
          </a:p>
        </p:txBody>
      </p:sp>
      <p:sp>
        <p:nvSpPr>
          <p:cNvPr id="18" name="bld1_438"/>
          <p:cNvSpPr/>
          <p:nvPr/>
        </p:nvSpPr>
        <p:spPr>
          <a:xfrm>
            <a:off x="548640" y="4727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9" name="bld1_439"/>
          <p:cNvSpPr txBox="1"/>
          <p:nvPr/>
        </p:nvSpPr>
        <p:spPr>
          <a:xfrm>
            <a:off x="841248" y="4663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 function</a:t>
            </a:r>
            <a:endParaRPr lang="en-US" sz="1200" dirty="0"/>
          </a:p>
        </p:txBody>
      </p:sp>
      <p:sp>
        <p:nvSpPr>
          <p:cNvPr id="20" name="bld1_440"/>
          <p:cNvSpPr/>
          <p:nvPr/>
        </p:nvSpPr>
        <p:spPr>
          <a:xfrm>
            <a:off x="548640" y="5184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1" name="bld1_441"/>
          <p:cNvSpPr txBox="1"/>
          <p:nvPr/>
        </p:nvSpPr>
        <p:spPr>
          <a:xfrm>
            <a:off x="841248" y="5120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display</a:t>
            </a:r>
            <a:endParaRPr lang="en-US" sz="1200" dirty="0"/>
          </a:p>
        </p:txBody>
      </p:sp>
      <p:sp>
        <p:nvSpPr>
          <p:cNvPr id="22" name="bld1_442"/>
          <p:cNvSpPr/>
          <p:nvPr/>
        </p:nvSpPr>
        <p:spPr>
          <a:xfrm>
            <a:off x="548640" y="5641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3" name="bld1_443"/>
          <p:cNvSpPr txBox="1"/>
          <p:nvPr/>
        </p:nvSpPr>
        <p:spPr>
          <a:xfrm>
            <a:off x="841248" y="5577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readings</a:t>
            </a:r>
            <a:endParaRPr lang="en-US" sz="1200" dirty="0"/>
          </a:p>
        </p:txBody>
      </p:sp>
      <p:sp>
        <p:nvSpPr>
          <p:cNvPr id="24" name="bld2_444"/>
          <p:cNvSpPr txBox="1"/>
          <p:nvPr/>
        </p:nvSpPr>
        <p:spPr>
          <a:xfrm>
            <a:off x="6255868" y="19842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PUT IT</a:t>
            </a:r>
            <a:endParaRPr lang="en-US" sz="1250" dirty="0"/>
          </a:p>
        </p:txBody>
      </p:sp>
      <p:sp>
        <p:nvSpPr>
          <p:cNvPr id="25" name="bld2_445"/>
          <p:cNvSpPr/>
          <p:nvPr/>
        </p:nvSpPr>
        <p:spPr>
          <a:xfrm>
            <a:off x="6255868" y="24414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446"/>
          <p:cNvSpPr txBox="1"/>
          <p:nvPr/>
        </p:nvSpPr>
        <p:spPr>
          <a:xfrm>
            <a:off x="6548476" y="23774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solid, stable surface</a:t>
            </a:r>
            <a:endParaRPr lang="en-US" sz="1200" dirty="0"/>
          </a:p>
        </p:txBody>
      </p:sp>
      <p:sp>
        <p:nvSpPr>
          <p:cNvPr id="27" name="bld2_447"/>
          <p:cNvSpPr/>
          <p:nvPr/>
        </p:nvSpPr>
        <p:spPr>
          <a:xfrm>
            <a:off x="6255868" y="28986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448"/>
          <p:cNvSpPr txBox="1"/>
          <p:nvPr/>
        </p:nvSpPr>
        <p:spPr>
          <a:xfrm>
            <a:off x="6548476" y="28346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vibration</a:t>
            </a:r>
            <a:endParaRPr lang="en-US" sz="1200" dirty="0"/>
          </a:p>
        </p:txBody>
      </p:sp>
      <p:sp>
        <p:nvSpPr>
          <p:cNvPr id="29" name="bld2_449"/>
          <p:cNvSpPr/>
          <p:nvPr/>
        </p:nvSpPr>
        <p:spPr>
          <a:xfrm>
            <a:off x="625586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450"/>
          <p:cNvSpPr txBox="1"/>
          <p:nvPr/>
        </p:nvSpPr>
        <p:spPr>
          <a:xfrm>
            <a:off x="6548476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fans</a:t>
            </a:r>
            <a:endParaRPr lang="en-US" sz="1200" dirty="0"/>
          </a:p>
        </p:txBody>
      </p:sp>
      <p:sp>
        <p:nvSpPr>
          <p:cNvPr id="31" name="bld2_451"/>
          <p:cNvSpPr/>
          <p:nvPr/>
        </p:nvSpPr>
        <p:spPr>
          <a:xfrm>
            <a:off x="625586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452"/>
          <p:cNvSpPr txBox="1"/>
          <p:nvPr/>
        </p:nvSpPr>
        <p:spPr>
          <a:xfrm>
            <a:off x="6548476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open windows</a:t>
            </a:r>
            <a:endParaRPr lang="en-US" sz="1200" dirty="0"/>
          </a:p>
        </p:txBody>
      </p:sp>
      <p:sp>
        <p:nvSpPr>
          <p:cNvPr id="33" name="bld2_453"/>
          <p:cNvSpPr/>
          <p:nvPr/>
        </p:nvSpPr>
        <p:spPr>
          <a:xfrm>
            <a:off x="625586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454"/>
          <p:cNvSpPr txBox="1"/>
          <p:nvPr/>
        </p:nvSpPr>
        <p:spPr>
          <a:xfrm>
            <a:off x="6548476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strong airflow</a:t>
            </a:r>
            <a:endParaRPr lang="en-US" sz="1200" dirty="0"/>
          </a:p>
        </p:txBody>
      </p:sp>
      <p:sp>
        <p:nvSpPr>
          <p:cNvPr id="36" name="trans_fade_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pipettes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1" name="Shape 9"/>
          <p:cNvSpPr/>
          <p:nvPr/>
        </p:nvSpPr>
        <p:spPr>
          <a:xfrm>
            <a:off x="9385905" y="2433686"/>
            <a:ext cx="323605" cy="339786"/>
          </a:xfrm>
          <a:prstGeom prst="ellipse">
            <a:avLst/>
          </a:prstGeom>
          <a:solidFill>
            <a:srgbClr val="6E7A50">
              <a:alpha val="85000"/>
            </a:srgbClr>
          </a:solidFill>
          <a:ln w="12700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36735" y="2757291"/>
            <a:ext cx="914" cy="911979"/>
          </a:xfrm>
          <a:prstGeom prst="line">
            <a:avLst/>
          </a:prstGeom>
          <a:noFill/>
          <a:ln w="28575">
            <a:solidFill>
              <a:srgbClr val="6E7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0800000">
            <a:off x="9503580" y="3669270"/>
            <a:ext cx="88256" cy="235349"/>
          </a:xfrm>
          <a:prstGeom prst="triangl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cheap, and it solves the one problem that actually matters: no cross-contamination.</a:t>
            </a:r>
            <a:endParaRPr lang="en-US" sz="1050" dirty="0"/>
          </a:p>
        </p:txBody>
      </p:sp>
      <p:sp>
        <p:nvSpPr>
          <p:cNvPr id="16" name="bld1_45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45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Cheap, fast, zero cleanup</a:t>
            </a:r>
            <a:endParaRPr lang="en-US" sz="1650" dirty="0"/>
          </a:p>
        </p:txBody>
      </p:sp>
      <p:sp>
        <p:nvSpPr>
          <p:cNvPr id="18" name="bld1_45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 of disposable plastic pipettes is all you need to transfer materials and add them gradually while you weigh.</a:t>
            </a:r>
            <a:endParaRPr lang="en-US" sz="1250" dirty="0"/>
          </a:p>
        </p:txBody>
      </p:sp>
      <p:sp>
        <p:nvSpPr>
          <p:cNvPr id="19" name="bld2_45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45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pipette per material</a:t>
            </a:r>
            <a:endParaRPr lang="en-US" sz="1650" dirty="0"/>
          </a:p>
        </p:txBody>
      </p:sp>
      <p:sp>
        <p:nvSpPr>
          <p:cNvPr id="21" name="bld2_46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reusing the same pipette across unrelated materials — even a trace of cross-contamination ruins a reading.</a:t>
            </a:r>
            <a:endParaRPr lang="en-US" sz="1250" dirty="0"/>
          </a:p>
        </p:txBody>
      </p:sp>
      <p:sp>
        <p:nvSpPr>
          <p:cNvPr id="22" name="bld3_46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46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Throw it away, don't rinse it</a:t>
            </a:r>
            <a:endParaRPr lang="en-US" sz="1650" dirty="0"/>
          </a:p>
        </p:txBody>
      </p:sp>
      <p:sp>
        <p:nvSpPr>
          <p:cNvPr id="24" name="bld3_46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Rinsing costs more time and solvent than a fresh pipette costs — that's the entire point of disposables.</a:t>
            </a:r>
            <a:endParaRPr lang="en-US" sz="1250" dirty="0"/>
          </a:p>
        </p:txBody>
      </p:sp>
      <p:sp>
        <p:nvSpPr>
          <p:cNvPr id="26" name="trans_fade_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bottle to weighing vessel</a:t>
            </a:r>
            <a:endParaRPr lang="en-US" sz="3200" dirty="0"/>
          </a:p>
        </p:txBody>
      </p:sp>
      <p:sp>
        <p:nvSpPr>
          <p:cNvPr id="7" name="bld1_464"/>
          <p:cNvSpPr/>
          <p:nvPr/>
        </p:nvSpPr>
        <p:spPr>
          <a:xfrm>
            <a:off x="548640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465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466"/>
          <p:cNvSpPr txBox="1"/>
          <p:nvPr/>
        </p:nvSpPr>
        <p:spPr>
          <a:xfrm>
            <a:off x="713232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bottle</a:t>
            </a:r>
            <a:endParaRPr lang="en-US" sz="1450" dirty="0"/>
          </a:p>
        </p:txBody>
      </p:sp>
      <p:sp>
        <p:nvSpPr>
          <p:cNvPr id="10" name="bld1_467"/>
          <p:cNvSpPr txBox="1"/>
          <p:nvPr/>
        </p:nvSpPr>
        <p:spPr>
          <a:xfrm>
            <a:off x="713232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material lives, capped and labelled.</a:t>
            </a:r>
            <a:endParaRPr lang="en-US" sz="1000" dirty="0"/>
          </a:p>
        </p:txBody>
      </p:sp>
      <p:sp>
        <p:nvSpPr>
          <p:cNvPr id="11" name="bld1_468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469"/>
          <p:cNvSpPr/>
          <p:nvPr/>
        </p:nvSpPr>
        <p:spPr>
          <a:xfrm>
            <a:off x="4353458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470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471"/>
          <p:cNvSpPr txBox="1"/>
          <p:nvPr/>
        </p:nvSpPr>
        <p:spPr>
          <a:xfrm>
            <a:off x="4518050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Pipette</a:t>
            </a:r>
            <a:endParaRPr lang="en-US" sz="1450" dirty="0"/>
          </a:p>
        </p:txBody>
      </p:sp>
      <p:sp>
        <p:nvSpPr>
          <p:cNvPr id="15" name="bld2_472"/>
          <p:cNvSpPr txBox="1"/>
          <p:nvPr/>
        </p:nvSpPr>
        <p:spPr>
          <a:xfrm>
            <a:off x="4518050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the material — nothing more.</a:t>
            </a:r>
            <a:endParaRPr lang="en-US" sz="1000" dirty="0"/>
          </a:p>
        </p:txBody>
      </p:sp>
      <p:sp>
        <p:nvSpPr>
          <p:cNvPr id="16" name="bld2_473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474"/>
          <p:cNvSpPr/>
          <p:nvPr/>
        </p:nvSpPr>
        <p:spPr>
          <a:xfrm>
            <a:off x="8158277" y="2922422"/>
            <a:ext cx="348477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475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476"/>
          <p:cNvSpPr txBox="1"/>
          <p:nvPr/>
        </p:nvSpPr>
        <p:spPr>
          <a:xfrm>
            <a:off x="8322869" y="3452774"/>
            <a:ext cx="31555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</a:t>
            </a:r>
            <a:endParaRPr lang="en-US" sz="1450" dirty="0"/>
          </a:p>
        </p:txBody>
      </p:sp>
      <p:sp>
        <p:nvSpPr>
          <p:cNvPr id="20" name="bld3_477"/>
          <p:cNvSpPr txBox="1"/>
          <p:nvPr/>
        </p:nvSpPr>
        <p:spPr>
          <a:xfrm>
            <a:off x="8322869" y="3946550"/>
            <a:ext cx="315559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scale, where the real measurement happens.</a:t>
            </a:r>
            <a:endParaRPr lang="en-US" sz="1000" dirty="0"/>
          </a:p>
        </p:txBody>
      </p:sp>
      <p:sp>
        <p:nvSpPr>
          <p:cNvPr id="22" name="trans_push_l_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drop is not a unit.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decides the amount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pipette is only the transfer tool.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IMPORTANT</a:t>
            </a:r>
            <a:endParaRPr lang="en-US" sz="1100" dirty="0"/>
          </a:p>
        </p:txBody>
      </p:sp>
      <p:sp>
        <p:nvSpPr>
          <p:cNvPr id="10" name="trans_fade_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solids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8477" y="2329929"/>
            <a:ext cx="1045998" cy="1045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61956" y="2591429"/>
            <a:ext cx="7790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307988" y="2765762"/>
            <a:ext cx="886976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307988" y="2940094"/>
            <a:ext cx="886976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361956" y="3114427"/>
            <a:ext cx="7790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8" name="Shape 16"/>
          <p:cNvSpPr/>
          <p:nvPr/>
        </p:nvSpPr>
        <p:spPr>
          <a:xfrm rot="8100000">
            <a:off x="10082440" y="2591429"/>
            <a:ext cx="522999" cy="522999"/>
          </a:xfrm>
          <a:prstGeom prst="teardrop">
            <a:avLst/>
          </a:prstGeom>
          <a:solidFill>
            <a:srgbClr val="8A6339">
              <a:alpha val="9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disposable boat for the material, a dedicated spatula for the scoop.</a:t>
            </a:r>
            <a:endParaRPr lang="en-US" sz="1050" dirty="0"/>
          </a:p>
        </p:txBody>
      </p:sp>
      <p:sp>
        <p:nvSpPr>
          <p:cNvPr id="21" name="bld1_47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1_47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boats &amp; small disposable cups</a:t>
            </a:r>
            <a:endParaRPr lang="en-US" sz="1650" dirty="0"/>
          </a:p>
        </p:txBody>
      </p:sp>
      <p:sp>
        <p:nvSpPr>
          <p:cNvPr id="23" name="bld1_48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weighing solids, sticky materials and small experiments — disposable, so nothing carries over between uses.</a:t>
            </a:r>
            <a:endParaRPr lang="en-US" sz="1250" dirty="0"/>
          </a:p>
        </p:txBody>
      </p:sp>
      <p:sp>
        <p:nvSpPr>
          <p:cNvPr id="24" name="bld2_48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48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the vessel to the material</a:t>
            </a:r>
            <a:endParaRPr lang="en-US" sz="1650" dirty="0"/>
          </a:p>
        </p:txBody>
      </p:sp>
      <p:sp>
        <p:nvSpPr>
          <p:cNvPr id="26" name="bld2_48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attack certain plastics — check that the weighing container is actually compatible with what you're handling.</a:t>
            </a:r>
            <a:endParaRPr lang="en-US" sz="1250" dirty="0"/>
          </a:p>
        </p:txBody>
      </p:sp>
      <p:sp>
        <p:nvSpPr>
          <p:cNvPr id="27" name="bld3_48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3_48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Spatulas for solids</a:t>
            </a:r>
            <a:endParaRPr lang="en-US" sz="1650" dirty="0"/>
          </a:p>
        </p:txBody>
      </p:sp>
      <p:sp>
        <p:nvSpPr>
          <p:cNvPr id="29" name="bld3_48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Vanillin, ethyl maltol, coumarin, crystalline materials, and thicker resins all need a spatula, not a pipette.</a:t>
            </a:r>
            <a:endParaRPr lang="en-US" sz="1250" dirty="0"/>
          </a:p>
        </p:txBody>
      </p:sp>
      <p:sp>
        <p:nvSpPr>
          <p:cNvPr id="30" name="bld4_48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1" name="bld4_48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spatula, one material</a:t>
            </a:r>
            <a:endParaRPr lang="en-US" sz="1650" dirty="0"/>
          </a:p>
        </p:txBody>
      </p:sp>
      <p:sp>
        <p:nvSpPr>
          <p:cNvPr id="32" name="bld4_48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pipettes — never carry a contaminated spatula from one material into another.</a:t>
            </a:r>
            <a:endParaRPr lang="en-US" sz="1250" dirty="0"/>
          </a:p>
        </p:txBody>
      </p:sp>
      <p:sp>
        <p:nvSpPr>
          <p:cNvPr id="34" name="trans_fade_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07 &amp; 08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beakers &amp; funnels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1" name="Shape 9"/>
          <p:cNvSpPr/>
          <p:nvPr/>
        </p:nvSpPr>
        <p:spPr>
          <a:xfrm>
            <a:off x="8705452" y="2486829"/>
            <a:ext cx="92048" cy="205016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2276" y="2633269"/>
            <a:ext cx="418399" cy="58575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09220" y="2867572"/>
            <a:ext cx="284511" cy="336811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297916" y="2486829"/>
            <a:ext cx="92048" cy="205016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34740" y="2633269"/>
            <a:ext cx="418399" cy="58575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01684" y="2867572"/>
            <a:ext cx="284511" cy="336811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 shelf of laboratory glassware — a handful of sizes covers everything.</a:t>
            </a:r>
            <a:endParaRPr lang="en-US" sz="1050" dirty="0"/>
          </a:p>
        </p:txBody>
      </p:sp>
      <p:sp>
        <p:nvSpPr>
          <p:cNvPr id="21" name="bld1_49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1_49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Beakers for larger batches</a:t>
            </a:r>
            <a:endParaRPr lang="en-US" sz="1650" dirty="0"/>
          </a:p>
        </p:txBody>
      </p:sp>
      <p:sp>
        <p:nvSpPr>
          <p:cNvPr id="23" name="bld1_49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combining trial batches, mixing a finished concentrate, or scaling up a formula. A few sizes are enough — try 25ml, 50ml, 100ml and 250ml.</a:t>
            </a:r>
            <a:endParaRPr lang="en-US" sz="1250" dirty="0"/>
          </a:p>
        </p:txBody>
      </p:sp>
      <p:sp>
        <p:nvSpPr>
          <p:cNvPr id="24" name="bld2_49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49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scale still measures by mass</a:t>
            </a:r>
            <a:endParaRPr lang="en-US" sz="1650" dirty="0"/>
          </a:p>
        </p:txBody>
      </p:sp>
      <p:sp>
        <p:nvSpPr>
          <p:cNvPr id="26" name="bld2_49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 markings are for rough volume, not precision — always weigh, never eyeball a fill line as a formula measurement.</a:t>
            </a:r>
            <a:endParaRPr lang="en-US" sz="1250" dirty="0"/>
          </a:p>
        </p:txBody>
      </p:sp>
      <p:sp>
        <p:nvSpPr>
          <p:cNvPr id="27" name="bld3_49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3_49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Funnels keep transfers clean</a:t>
            </a:r>
            <a:endParaRPr lang="en-US" sz="1650" dirty="0"/>
          </a:p>
        </p:txBody>
      </p:sp>
      <p:sp>
        <p:nvSpPr>
          <p:cNvPr id="29" name="bld3_49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moving concentrate or alcohol into a narrow-neck bottle without spilling. Keep this simple — a couple of small funnels is plenty.</a:t>
            </a:r>
            <a:endParaRPr lang="en-US" sz="1250" dirty="0"/>
          </a:p>
        </p:txBody>
      </p:sp>
      <p:sp>
        <p:nvSpPr>
          <p:cNvPr id="31" name="trans_fade_3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09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Magnetic stirrer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1" name="Shape 9"/>
          <p:cNvSpPr/>
          <p:nvPr/>
        </p:nvSpPr>
        <p:spPr>
          <a:xfrm>
            <a:off x="9455660" y="2466373"/>
            <a:ext cx="184096" cy="41003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29309" y="2759252"/>
            <a:ext cx="836798" cy="1171517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3196" y="3227859"/>
            <a:ext cx="569023" cy="673622"/>
          </a:xfrm>
          <a:prstGeom prst="triangle">
            <a:avLst/>
          </a:prstGeom>
          <a:solidFill>
            <a:srgbClr val="B5652D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stir bar does the mixing so your hand doesn't have to.</a:t>
            </a:r>
            <a:endParaRPr lang="en-US" sz="1050" dirty="0"/>
          </a:p>
        </p:txBody>
      </p:sp>
      <p:sp>
        <p:nvSpPr>
          <p:cNvPr id="16" name="bld1_49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50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Even, consistent mixing</a:t>
            </a:r>
            <a:endParaRPr lang="en-US" sz="1650" dirty="0"/>
          </a:p>
        </p:txBody>
      </p:sp>
      <p:sp>
        <p:nvSpPr>
          <p:cNvPr id="18" name="bld1_50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stir bar spinning inside the beaker blends a dilution or a base far more evenly than hand-shaking, especially once volumes grow past a few grams.</a:t>
            </a:r>
            <a:endParaRPr lang="en-US" sz="1250" dirty="0"/>
          </a:p>
        </p:txBody>
      </p:sp>
      <p:sp>
        <p:nvSpPr>
          <p:cNvPr id="19" name="bld2_50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50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actually matters</a:t>
            </a:r>
            <a:endParaRPr lang="en-US" sz="1650" dirty="0"/>
          </a:p>
        </p:txBody>
      </p:sp>
      <p:sp>
        <p:nvSpPr>
          <p:cNvPr id="21" name="bld2_50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Bases, larger batches, and any mix that needs to be genuinely homogeneous before you evaluate or bottle it.</a:t>
            </a:r>
            <a:endParaRPr lang="en-US" sz="1250" dirty="0"/>
          </a:p>
        </p:txBody>
      </p:sp>
      <p:sp>
        <p:nvSpPr>
          <p:cNvPr id="22" name="bld3_50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50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basic stirrer is enough to start</a:t>
            </a:r>
            <a:endParaRPr lang="en-US" sz="1650" dirty="0"/>
          </a:p>
        </p:txBody>
      </p:sp>
      <p:sp>
        <p:nvSpPr>
          <p:cNvPr id="24" name="bld3_50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the heated version yet — that's a nice-to-have for materials that benefit from gentle warming to dissolve fully.</a:t>
            </a:r>
            <a:endParaRPr lang="en-US" sz="1250" dirty="0"/>
          </a:p>
        </p:txBody>
      </p:sp>
      <p:sp>
        <p:nvSpPr>
          <p:cNvPr id="26" name="trans_fade_3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glass bottles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6041" y="3175528"/>
            <a:ext cx="188917" cy="169365"/>
          </a:xfrm>
          <a:prstGeom prst="roundRect">
            <a:avLst>
              <a:gd name="adj" fmla="val 21596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8208361" y="3344893"/>
            <a:ext cx="164275" cy="27098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7150" y="3615878"/>
            <a:ext cx="586697" cy="1253302"/>
          </a:xfrm>
          <a:prstGeom prst="roundRect">
            <a:avLst>
              <a:gd name="adj" fmla="val 1870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33726" y="4117199"/>
            <a:ext cx="513545" cy="715405"/>
          </a:xfrm>
          <a:prstGeom prst="roundRect">
            <a:avLst>
              <a:gd name="adj" fmla="val 1780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0445" y="2570653"/>
            <a:ext cx="256387" cy="229853"/>
          </a:xfrm>
          <a:prstGeom prst="roundRect">
            <a:avLst>
              <a:gd name="adj" fmla="val 15913"/>
            </a:avLst>
          </a:prstGeom>
          <a:solidFill>
            <a:srgbClr val="0E0D0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17166" y="2800505"/>
            <a:ext cx="222945" cy="36776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30522" y="3168270"/>
            <a:ext cx="796232" cy="1700910"/>
          </a:xfrm>
          <a:prstGeom prst="roundRect">
            <a:avLst>
              <a:gd name="adj" fmla="val 1378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67098" y="3848634"/>
            <a:ext cx="723080" cy="983970"/>
          </a:xfrm>
          <a:prstGeom prst="roundRect">
            <a:avLst>
              <a:gd name="adj" fmla="val 1264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804849" y="1965777"/>
            <a:ext cx="323857" cy="290340"/>
          </a:xfrm>
          <a:prstGeom prst="roundRect">
            <a:avLst>
              <a:gd name="adj" fmla="val 12598"/>
            </a:avLst>
          </a:prstGeom>
          <a:solidFill>
            <a:srgbClr val="0E0D0B"/>
          </a:solidFill>
          <a:ln/>
        </p:spPr>
      </p:sp>
      <p:sp>
        <p:nvSpPr>
          <p:cNvPr id="19" name="Shape 17"/>
          <p:cNvSpPr/>
          <p:nvPr/>
        </p:nvSpPr>
        <p:spPr>
          <a:xfrm>
            <a:off x="9825970" y="2256117"/>
            <a:ext cx="281615" cy="46454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63894" y="2720662"/>
            <a:ext cx="1005767" cy="2148518"/>
          </a:xfrm>
          <a:prstGeom prst="roundRect">
            <a:avLst>
              <a:gd name="adj" fmla="val 1091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0470" y="3580069"/>
            <a:ext cx="932615" cy="1252535"/>
          </a:xfrm>
          <a:prstGeom prst="roundRect">
            <a:avLst>
              <a:gd name="adj" fmla="val 9805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602506" y="1239926"/>
            <a:ext cx="404821" cy="362925"/>
          </a:xfrm>
          <a:prstGeom prst="roundRect">
            <a:avLst>
              <a:gd name="adj" fmla="val 10078"/>
            </a:avLst>
          </a:prstGeom>
          <a:solidFill>
            <a:srgbClr val="0E0D0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28907" y="1602852"/>
            <a:ext cx="352018" cy="580681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76312" y="2183532"/>
            <a:ext cx="1257209" cy="2685648"/>
          </a:xfrm>
          <a:prstGeom prst="roundRect">
            <a:avLst>
              <a:gd name="adj" fmla="val 8728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12888" y="3257791"/>
            <a:ext cx="1184057" cy="1574813"/>
          </a:xfrm>
          <a:prstGeom prst="roundRect">
            <a:avLst>
              <a:gd name="adj" fmla="val 7723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5ml → 10ml → 30ml → 100ml — small for trials, large for daily use.</a:t>
            </a:r>
            <a:endParaRPr lang="en-US" sz="1050" dirty="0"/>
          </a:p>
        </p:txBody>
      </p:sp>
      <p:sp>
        <p:nvSpPr>
          <p:cNvPr id="27" name="bld1_50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1_50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amber matters</a:t>
            </a:r>
            <a:endParaRPr lang="en-US" sz="1650" dirty="0"/>
          </a:p>
        </p:txBody>
      </p:sp>
      <p:sp>
        <p:nvSpPr>
          <p:cNvPr id="29" name="bld1_51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glass reduces light exposure — useful for storing raw materials, dilutions, accords and formula trials alike.</a:t>
            </a:r>
            <a:endParaRPr lang="en-US" sz="1250" dirty="0"/>
          </a:p>
        </p:txBody>
      </p:sp>
      <p:sp>
        <p:nvSpPr>
          <p:cNvPr id="30" name="bld2_51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2_51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sizes — 5ml &amp; 10ml</a:t>
            </a:r>
            <a:endParaRPr lang="en-US" sz="1650" dirty="0"/>
          </a:p>
        </p:txBody>
      </p:sp>
      <p:sp>
        <p:nvSpPr>
          <p:cNvPr id="32" name="bld2_51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dilutions, trials and expensive materials you're only using in small amounts.</a:t>
            </a:r>
            <a:endParaRPr lang="en-US" sz="1250" dirty="0"/>
          </a:p>
        </p:txBody>
      </p:sp>
      <p:sp>
        <p:nvSpPr>
          <p:cNvPr id="33" name="bld3_51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4" name="bld3_51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sizes — 30ml, 50ml &amp; 100ml</a:t>
            </a:r>
            <a:endParaRPr lang="en-US" sz="1650" dirty="0"/>
          </a:p>
        </p:txBody>
      </p:sp>
      <p:sp>
        <p:nvSpPr>
          <p:cNvPr id="35" name="bld3_51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frequently used materials, larger bases, alcohol, and dilutions you reach for often.</a:t>
            </a:r>
            <a:endParaRPr lang="en-US" sz="1250" dirty="0"/>
          </a:p>
        </p:txBody>
      </p:sp>
      <p:sp>
        <p:nvSpPr>
          <p:cNvPr id="36" name="bld4_51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bld4_51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need every size at once</a:t>
            </a:r>
            <a:endParaRPr lang="en-US" sz="1650" dirty="0"/>
          </a:p>
        </p:txBody>
      </p:sp>
      <p:sp>
        <p:nvSpPr>
          <p:cNvPr id="38" name="bld4_51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into sizes as your library actually grows — a handful of each is plenty to begin.</a:t>
            </a:r>
            <a:endParaRPr lang="en-US" sz="1250" dirty="0"/>
          </a:p>
        </p:txBody>
      </p:sp>
      <p:sp>
        <p:nvSpPr>
          <p:cNvPr id="40" name="trans_fade_3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every dilution bottle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73170" y="1124712"/>
            <a:ext cx="350845" cy="449336"/>
          </a:xfrm>
          <a:prstGeom prst="roundRect">
            <a:avLst>
              <a:gd name="adj" fmla="val 10425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8096051" y="1574048"/>
            <a:ext cx="305083" cy="71893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3802" y="2292986"/>
            <a:ext cx="1089581" cy="3325088"/>
          </a:xfrm>
          <a:prstGeom prst="roundRect">
            <a:avLst>
              <a:gd name="adj" fmla="val 1007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40378" y="3789275"/>
            <a:ext cx="1016429" cy="1792222"/>
          </a:xfrm>
          <a:prstGeom prst="roundRect">
            <a:avLst>
              <a:gd name="adj" fmla="val 8996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856343" y="3423516"/>
            <a:ext cx="784498" cy="864523"/>
          </a:xfrm>
          <a:prstGeom prst="roundRect">
            <a:avLst>
              <a:gd name="adj" fmla="val 349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452" y="1355141"/>
            <a:ext cx="2095348" cy="3917290"/>
          </a:xfrm>
          <a:prstGeom prst="roundRect">
            <a:avLst>
              <a:gd name="adj" fmla="val 4364"/>
            </a:avLst>
          </a:prstGeom>
          <a:solidFill>
            <a:srgbClr val="FAF6EC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95332" y="1556309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95332" y="2535631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395332" y="3514954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395332" y="4494276"/>
            <a:ext cx="17295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02/09/26 (optional)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percentage, solvent — the date is a nice-to-have, not a requirement.</a:t>
            </a:r>
            <a:endParaRPr lang="en-US" sz="1050" dirty="0"/>
          </a:p>
        </p:txBody>
      </p:sp>
      <p:sp>
        <p:nvSpPr>
          <p:cNvPr id="21" name="bld1_52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1_52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things, every time</a:t>
            </a:r>
            <a:endParaRPr lang="en-US" sz="1650" dirty="0"/>
          </a:p>
        </p:txBody>
      </p:sp>
      <p:sp>
        <p:nvSpPr>
          <p:cNvPr id="23" name="bld1_52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name, dilution percentage, and solvent — with no exceptions. Add the date too if you find it useful, but it's optional.</a:t>
            </a:r>
            <a:endParaRPr lang="en-US" sz="1250" dirty="0"/>
          </a:p>
        </p:txBody>
      </p:sp>
      <p:sp>
        <p:nvSpPr>
          <p:cNvPr id="24" name="bld2_52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2_52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labelling is the #1 workspace problem</a:t>
            </a:r>
            <a:endParaRPr lang="en-US" sz="1650" dirty="0"/>
          </a:p>
        </p:txBody>
      </p:sp>
      <p:sp>
        <p:nvSpPr>
          <p:cNvPr id="26" name="bld2_52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fast: a bottle without this information becomes a mystery liquid within weeks, and mystery liquids get thrown away.</a:t>
            </a:r>
            <a:endParaRPr lang="en-US" sz="1250" dirty="0"/>
          </a:p>
        </p:txBody>
      </p:sp>
      <p:sp>
        <p:nvSpPr>
          <p:cNvPr id="27" name="bld3_52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3_52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before you fill, not after</a:t>
            </a:r>
            <a:endParaRPr lang="en-US" sz="1650" dirty="0"/>
          </a:p>
        </p:txBody>
      </p:sp>
      <p:sp>
        <p:nvSpPr>
          <p:cNvPr id="29" name="bld3_52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on the bottle first — it takes ten seconds and it never gets forgotten.</a:t>
            </a:r>
            <a:endParaRPr lang="en-US" sz="1250" dirty="0"/>
          </a:p>
        </p:txBody>
      </p:sp>
      <p:sp>
        <p:nvSpPr>
          <p:cNvPr id="31" name="trans_fade_3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 — your primary instrument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4267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247025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741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4267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32406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5" name="Shape 13"/>
          <p:cNvSpPr/>
          <p:nvPr/>
        </p:nvSpPr>
        <p:spPr>
          <a:xfrm>
            <a:off x="9085164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880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32406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0545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9" name="Shape 17"/>
          <p:cNvSpPr/>
          <p:nvPr/>
        </p:nvSpPr>
        <p:spPr>
          <a:xfrm>
            <a:off x="9923303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37019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8C3B49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170545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08684" y="2402339"/>
            <a:ext cx="1592464" cy="1592464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61442" y="2776250"/>
            <a:ext cx="92911" cy="844643"/>
          </a:xfrm>
          <a:prstGeom prst="roundRect">
            <a:avLst>
              <a:gd name="adj" fmla="val 1968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75158" y="3350607"/>
            <a:ext cx="65479" cy="251998"/>
          </a:xfrm>
          <a:prstGeom prst="roundRect">
            <a:avLst>
              <a:gd name="adj" fmla="val 20947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008684" y="2402339"/>
            <a:ext cx="1592464" cy="1592464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strip, one material, one label — every time.</a:t>
            </a:r>
            <a:endParaRPr lang="en-US" sz="1050" dirty="0"/>
          </a:p>
        </p:txBody>
      </p:sp>
      <p:sp>
        <p:nvSpPr>
          <p:cNvPr id="27" name="bld1_52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1_53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blotters matter</a:t>
            </a:r>
            <a:endParaRPr lang="en-US" sz="1650" dirty="0"/>
          </a:p>
        </p:txBody>
      </p:sp>
      <p:sp>
        <p:nvSpPr>
          <p:cNvPr id="29" name="bld1_53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varies too much between evaluations — a blotter is a consistent, repeatable surface for judging a material, an accord or a finished formula.</a:t>
            </a:r>
            <a:endParaRPr lang="en-US" sz="1250" dirty="0"/>
          </a:p>
        </p:txBody>
      </p:sp>
      <p:sp>
        <p:nvSpPr>
          <p:cNvPr id="30" name="bld2_53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2_53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 labelling</a:t>
            </a:r>
            <a:endParaRPr lang="en-US" sz="1650" dirty="0"/>
          </a:p>
        </p:txBody>
      </p:sp>
      <p:sp>
        <p:nvSpPr>
          <p:cNvPr id="32" name="bld2_53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material name and the time before you dip it — for example: "HEDIONE 10%", "14:30". Add the date too if it's useful for longer evaluations.</a:t>
            </a:r>
            <a:endParaRPr lang="en-US" sz="1250" dirty="0"/>
          </a:p>
        </p:txBody>
      </p:sp>
      <p:sp>
        <p:nvSpPr>
          <p:cNvPr id="33" name="bld3_53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3_53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 alone isn't enough</a:t>
            </a:r>
            <a:endParaRPr lang="en-US" sz="1650" dirty="0"/>
          </a:p>
        </p:txBody>
      </p:sp>
      <p:sp>
        <p:nvSpPr>
          <p:cNvPr id="35" name="bld3_53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Smelling straight from the bottle tells you almost nothing about how a material actually behaves over time on skin or paper.</a:t>
            </a:r>
            <a:endParaRPr lang="en-US" sz="1250" dirty="0"/>
          </a:p>
        </p:txBody>
      </p:sp>
      <p:sp>
        <p:nvSpPr>
          <p:cNvPr id="37" name="trans_fade_3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strip actually evolves</a:t>
            </a:r>
            <a:endParaRPr lang="en-US" sz="3200" dirty="0"/>
          </a:p>
        </p:txBody>
      </p:sp>
      <p:sp>
        <p:nvSpPr>
          <p:cNvPr id="7" name="bld1_538"/>
          <p:cNvSpPr txBox="1"/>
          <p:nvPr/>
        </p:nvSpPr>
        <p:spPr>
          <a:xfrm>
            <a:off x="2112264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>
            <a:off x="1141290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5006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2" name="bld1_540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DIPPED</a:t>
            </a:r>
            <a:endParaRPr lang="en-US" sz="1400" dirty="0"/>
          </a:p>
        </p:txBody>
      </p:sp>
      <p:sp>
        <p:nvSpPr>
          <p:cNvPr id="13" name="bld1_541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</a:t>
            </a:r>
            <a:endParaRPr lang="en-US" sz="1050" dirty="0"/>
          </a:p>
        </p:txBody>
      </p:sp>
      <p:sp>
        <p:nvSpPr>
          <p:cNvPr id="14" name="bld2_542"/>
          <p:cNvSpPr txBox="1"/>
          <p:nvPr/>
        </p:nvSpPr>
        <p:spPr>
          <a:xfrm>
            <a:off x="4565828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6" name="Shape 14"/>
          <p:cNvSpPr/>
          <p:nvPr/>
        </p:nvSpPr>
        <p:spPr>
          <a:xfrm>
            <a:off x="3594854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8570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9" name="bld2_544"/>
          <p:cNvSpPr txBox="1"/>
          <p:nvPr/>
        </p:nvSpPr>
        <p:spPr>
          <a:xfrm>
            <a:off x="2682164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1400" dirty="0"/>
          </a:p>
        </p:txBody>
      </p:sp>
      <p:sp>
        <p:nvSpPr>
          <p:cNvPr id="20" name="bld2_545"/>
          <p:cNvSpPr txBox="1"/>
          <p:nvPr/>
        </p:nvSpPr>
        <p:spPr>
          <a:xfrm>
            <a:off x="2682164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notes settle</a:t>
            </a:r>
            <a:endParaRPr lang="en-US" sz="1050" dirty="0"/>
          </a:p>
        </p:txBody>
      </p:sp>
      <p:sp>
        <p:nvSpPr>
          <p:cNvPr id="21" name="bld3_546"/>
          <p:cNvSpPr txBox="1"/>
          <p:nvPr/>
        </p:nvSpPr>
        <p:spPr>
          <a:xfrm>
            <a:off x="7019392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048418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2134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6" name="bld3_548"/>
          <p:cNvSpPr txBox="1"/>
          <p:nvPr/>
        </p:nvSpPr>
        <p:spPr>
          <a:xfrm>
            <a:off x="513572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HOUR</a:t>
            </a:r>
            <a:endParaRPr lang="en-US" sz="1400" dirty="0"/>
          </a:p>
        </p:txBody>
      </p:sp>
      <p:sp>
        <p:nvSpPr>
          <p:cNvPr id="27" name="bld3_549"/>
          <p:cNvSpPr txBox="1"/>
          <p:nvPr/>
        </p:nvSpPr>
        <p:spPr>
          <a:xfrm>
            <a:off x="513572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emerges</a:t>
            </a:r>
            <a:endParaRPr lang="en-US" sz="1050" dirty="0"/>
          </a:p>
        </p:txBody>
      </p:sp>
      <p:sp>
        <p:nvSpPr>
          <p:cNvPr id="28" name="bld4_550"/>
          <p:cNvSpPr txBox="1"/>
          <p:nvPr/>
        </p:nvSpPr>
        <p:spPr>
          <a:xfrm>
            <a:off x="9472955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1981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15697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3" name="bld4_552"/>
          <p:cNvSpPr txBox="1"/>
          <p:nvPr/>
        </p:nvSpPr>
        <p:spPr>
          <a:xfrm>
            <a:off x="7589291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HOURS</a:t>
            </a:r>
            <a:endParaRPr lang="en-US" sz="1400" dirty="0"/>
          </a:p>
        </p:txBody>
      </p:sp>
      <p:sp>
        <p:nvSpPr>
          <p:cNvPr id="34" name="bld4_553"/>
          <p:cNvSpPr txBox="1"/>
          <p:nvPr/>
        </p:nvSpPr>
        <p:spPr>
          <a:xfrm>
            <a:off x="7589291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begins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55545" y="3334012"/>
            <a:ext cx="101365" cy="921496"/>
          </a:xfrm>
          <a:prstGeom prst="roundRect">
            <a:avLst>
              <a:gd name="adj" fmla="val 1804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69261" y="3960629"/>
            <a:ext cx="73933" cy="276591"/>
          </a:xfrm>
          <a:prstGeom prst="roundRect">
            <a:avLst>
              <a:gd name="adj" fmla="val 18552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9" name="bld5_555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HOURS</a:t>
            </a:r>
            <a:endParaRPr lang="en-US" sz="1400" dirty="0"/>
          </a:p>
        </p:txBody>
      </p:sp>
      <p:sp>
        <p:nvSpPr>
          <p:cNvPr id="40" name="bld5_556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base</a:t>
            </a:r>
            <a:endParaRPr lang="en-US" sz="1050" dirty="0"/>
          </a:p>
        </p:txBody>
      </p:sp>
      <p:sp>
        <p:nvSpPr>
          <p:cNvPr id="42" name="trans_push_l_3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2" grpId="0"/>
      <p:bldP spid="13" grpId="0"/>
      <p:bldP spid="14" grpId="0"/>
      <p:bldP spid="19" grpId="0"/>
      <p:bldP spid="20" grpId="0"/>
      <p:bldP spid="21" grpId="0"/>
      <p:bldP spid="26" grpId="0"/>
      <p:bldP spid="27" grpId="0"/>
      <p:bldP spid="28" grpId="0"/>
      <p:bldP spid="33" grpId="0"/>
      <p:bldP spid="34" grpId="0"/>
      <p:bldP spid="39" grpId="0"/>
      <p:bldP spid="4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BUT ESSENTIAL TOOLS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 &amp; a permanent marker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557"/>
          <p:cNvSpPr/>
          <p:nvPr/>
        </p:nvSpPr>
        <p:spPr>
          <a:xfrm>
            <a:off x="548640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576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4" name="bld1_559"/>
          <p:cNvSpPr txBox="1"/>
          <p:nvPr/>
        </p:nvSpPr>
        <p:spPr>
          <a:xfrm>
            <a:off x="731520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Gloves</a:t>
            </a:r>
            <a:endParaRPr lang="en-US" sz="1450" dirty="0"/>
          </a:p>
        </p:txBody>
      </p:sp>
      <p:sp>
        <p:nvSpPr>
          <p:cNvPr id="15" name="bld1_560"/>
          <p:cNvSpPr txBox="1"/>
          <p:nvPr/>
        </p:nvSpPr>
        <p:spPr>
          <a:xfrm>
            <a:off x="731520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Nitrile disposables reduce skin contact, prevent staining, and help with irritating materials. They don't replace correct handling or SDS awareness — just good practice.</a:t>
            </a:r>
            <a:endParaRPr lang="en-US" sz="1080" dirty="0"/>
          </a:p>
        </p:txBody>
      </p:sp>
      <p:sp>
        <p:nvSpPr>
          <p:cNvPr id="16" name="bld2_561"/>
          <p:cNvSpPr/>
          <p:nvPr/>
        </p:nvSpPr>
        <p:spPr>
          <a:xfrm>
            <a:off x="6223864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8" name="Shape 16"/>
          <p:cNvSpPr/>
          <p:nvPr/>
        </p:nvSpPr>
        <p:spPr>
          <a:xfrm>
            <a:off x="8648167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720979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691539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691539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720979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4" name="bld2_563"/>
          <p:cNvSpPr txBox="1"/>
          <p:nvPr/>
        </p:nvSpPr>
        <p:spPr>
          <a:xfrm>
            <a:off x="6406744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Permanent marker</a:t>
            </a:r>
            <a:endParaRPr lang="en-US" sz="1450" dirty="0"/>
          </a:p>
        </p:txBody>
      </p:sp>
      <p:sp>
        <p:nvSpPr>
          <p:cNvPr id="25" name="bld2_564"/>
          <p:cNvSpPr txBox="1"/>
          <p:nvPr/>
        </p:nvSpPr>
        <p:spPr>
          <a:xfrm>
            <a:off x="6406744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scent strips, bottle labels, and quick version identification. Alcohol-resistant ink only — standard ink smears the moment it touches a dilution.</a:t>
            </a:r>
            <a:endParaRPr lang="en-US" sz="1080" dirty="0"/>
          </a:p>
        </p:txBody>
      </p:sp>
      <p:sp>
        <p:nvSpPr>
          <p:cNvPr id="27" name="trans_fade_3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  <p:bldP spid="15" grpId="0"/>
      <p:bldP spid="16" grpId="0"/>
      <p:bldP spid="24" grpId="0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11 · ORGANISATION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labelling system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470355"/>
            <a:ext cx="2514417" cy="3571646"/>
          </a:xfrm>
          <a:prstGeom prst="roundRect">
            <a:avLst>
              <a:gd name="adj" fmla="val 3637"/>
            </a:avLst>
          </a:prstGeom>
          <a:solidFill>
            <a:srgbClr val="FAF6EC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73379" y="1708099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 BASE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73379" y="2898648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73379" y="4089197"/>
            <a:ext cx="21486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02/09/26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materials, dilutions, accords, bases, experiments — everything gets one of these three formats.</a:t>
            </a:r>
            <a:endParaRPr lang="en-US" sz="1050" dirty="0"/>
          </a:p>
        </p:txBody>
      </p:sp>
      <p:sp>
        <p:nvSpPr>
          <p:cNvPr id="15" name="bld1_56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56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</a:t>
            </a:r>
            <a:endParaRPr lang="en-US" sz="1650" dirty="0"/>
          </a:p>
        </p:txBody>
      </p:sp>
      <p:sp>
        <p:nvSpPr>
          <p:cNvPr id="17" name="bld1_56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name, supplier if useful, and the date received or opened if you want to track it.</a:t>
            </a:r>
            <a:endParaRPr lang="en-US" sz="1250" dirty="0"/>
          </a:p>
        </p:txBody>
      </p:sp>
      <p:sp>
        <p:nvSpPr>
          <p:cNvPr id="18" name="bld2_56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2_56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Dilutions</a:t>
            </a:r>
            <a:endParaRPr lang="en-US" sz="1650" dirty="0"/>
          </a:p>
        </p:txBody>
      </p:sp>
      <p:sp>
        <p:nvSpPr>
          <p:cNvPr id="20" name="bld2_57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percentage and solvent — the same fields from the dilution bottle slide. Date is optional, add it if it helps you.</a:t>
            </a:r>
            <a:endParaRPr lang="en-US" sz="1250" dirty="0"/>
          </a:p>
        </p:txBody>
      </p:sp>
      <p:sp>
        <p:nvSpPr>
          <p:cNvPr id="21" name="bld3_57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3_57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trials</a:t>
            </a:r>
            <a:endParaRPr lang="en-US" sz="1650" dirty="0"/>
          </a:p>
        </p:txBody>
      </p:sp>
      <p:sp>
        <p:nvSpPr>
          <p:cNvPr id="23" name="bld3_57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name, version, and date — for example: "APPLE BASE, V03, 02/09/26".</a:t>
            </a:r>
            <a:endParaRPr lang="en-US" sz="1250" dirty="0"/>
          </a:p>
        </p:txBody>
      </p:sp>
      <p:sp>
        <p:nvSpPr>
          <p:cNvPr id="25" name="trans_fade_4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13 · STORAGE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so you can actually find things</a:t>
            </a:r>
            <a:endParaRPr lang="en-US" sz="3200" dirty="0"/>
          </a:p>
        </p:txBody>
      </p:sp>
      <p:sp>
        <p:nvSpPr>
          <p:cNvPr id="7" name="bld1_574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3E3E8"/>
          </a:solidFill>
          <a:ln/>
        </p:spPr>
      </p:sp>
      <p:sp>
        <p:nvSpPr>
          <p:cNvPr id="8" name="bld1_575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576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olfactory family</a:t>
            </a:r>
            <a:endParaRPr lang="en-US" sz="1800" dirty="0"/>
          </a:p>
        </p:txBody>
      </p:sp>
      <p:sp>
        <p:nvSpPr>
          <p:cNvPr id="10" name="bld1_577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</a:t>
            </a:r>
            <a:endParaRPr lang="en-US" sz="1300" dirty="0"/>
          </a:p>
        </p:txBody>
      </p:sp>
      <p:sp>
        <p:nvSpPr>
          <p:cNvPr id="11" name="bld1_578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2" name="bld1_579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3" name="bld2_580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9EDE0"/>
          </a:solidFill>
          <a:ln/>
        </p:spPr>
      </p:sp>
      <p:sp>
        <p:nvSpPr>
          <p:cNvPr id="14" name="bld2_581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bld2_582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Alphabetically</a:t>
            </a:r>
            <a:endParaRPr lang="en-US" sz="1800" dirty="0"/>
          </a:p>
        </p:txBody>
      </p:sp>
      <p:sp>
        <p:nvSpPr>
          <p:cNvPr id="16" name="bld2_583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searchable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family judgement calls needed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once your library gets large</a:t>
            </a:r>
            <a:endParaRPr lang="en-US" sz="1300" dirty="0"/>
          </a:p>
        </p:txBody>
      </p:sp>
      <p:sp>
        <p:nvSpPr>
          <p:cNvPr id="17" name="bld2_584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8" name="bld2_585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20" name="trans_wipe_l_4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care, in five habits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586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587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588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Upright</a:t>
            </a:r>
            <a:endParaRPr lang="en-US" sz="1450" dirty="0"/>
          </a:p>
        </p:txBody>
      </p:sp>
      <p:sp>
        <p:nvSpPr>
          <p:cNvPr id="24" name="bld1_589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no exceptions.</a:t>
            </a:r>
            <a:endParaRPr lang="en-US" sz="1080" dirty="0"/>
          </a:p>
        </p:txBody>
      </p:sp>
      <p:sp>
        <p:nvSpPr>
          <p:cNvPr id="25" name="bld2_590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591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592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 tight</a:t>
            </a:r>
            <a:endParaRPr lang="en-US" sz="1450" dirty="0"/>
          </a:p>
        </p:txBody>
      </p:sp>
      <p:sp>
        <p:nvSpPr>
          <p:cNvPr id="28" name="bld2_593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time, not just eventually.</a:t>
            </a:r>
            <a:endParaRPr lang="en-US" sz="1080" dirty="0"/>
          </a:p>
        </p:txBody>
      </p:sp>
      <p:sp>
        <p:nvSpPr>
          <p:cNvPr id="29" name="bld3_594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595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596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sunlight</a:t>
            </a:r>
            <a:endParaRPr lang="en-US" sz="1450" dirty="0"/>
          </a:p>
        </p:txBody>
      </p:sp>
      <p:sp>
        <p:nvSpPr>
          <p:cNvPr id="32" name="bld3_597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light degrades materials fast.</a:t>
            </a:r>
            <a:endParaRPr lang="en-US" sz="1080" dirty="0"/>
          </a:p>
        </p:txBody>
      </p:sp>
      <p:sp>
        <p:nvSpPr>
          <p:cNvPr id="33" name="bld4_598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599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600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Away from heat</a:t>
            </a:r>
            <a:endParaRPr lang="en-US" sz="1450" dirty="0"/>
          </a:p>
        </p:txBody>
      </p:sp>
      <p:sp>
        <p:nvSpPr>
          <p:cNvPr id="36" name="bld4_601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accelerates degradation.</a:t>
            </a:r>
            <a:endParaRPr lang="en-US" sz="1080" dirty="0"/>
          </a:p>
        </p:txBody>
      </p:sp>
      <p:sp>
        <p:nvSpPr>
          <p:cNvPr id="37" name="bld5_602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5_603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9" name="bld5_604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left open</a:t>
            </a:r>
            <a:endParaRPr lang="en-US" sz="1450" dirty="0"/>
          </a:p>
        </p:txBody>
      </p:sp>
      <p:sp>
        <p:nvSpPr>
          <p:cNvPr id="40" name="bld5_605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Evaporation starts immediately.</a:t>
            </a:r>
            <a:endParaRPr lang="en-US" sz="1080" dirty="0"/>
          </a:p>
        </p:txBody>
      </p:sp>
      <p:sp>
        <p:nvSpPr>
          <p:cNvPr id="42" name="trans_fade_4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or software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8592" y="1988820"/>
            <a:ext cx="921953" cy="1958645"/>
          </a:xfrm>
          <a:prstGeom prst="roundRect">
            <a:avLst>
              <a:gd name="adj" fmla="val 4959"/>
            </a:avLst>
          </a:prstGeom>
          <a:solidFill>
            <a:srgbClr val="F1E7D6"/>
          </a:solidFill>
          <a:ln w="19050">
            <a:solidFill>
              <a:srgbClr val="8A633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4544" y="2615586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4544" y="3007315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4544" y="3399044"/>
            <a:ext cx="590050" cy="914"/>
          </a:xfrm>
          <a:prstGeom prst="line">
            <a:avLst/>
          </a:prstGeom>
          <a:noFill/>
          <a:ln w="12700">
            <a:solidFill>
              <a:srgbClr val="8A63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11432" y="4038905"/>
            <a:ext cx="1196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24870" y="1988820"/>
            <a:ext cx="921953" cy="1527743"/>
          </a:xfrm>
          <a:prstGeom prst="roundRect">
            <a:avLst>
              <a:gd name="adj" fmla="val 3967"/>
            </a:avLst>
          </a:prstGeom>
          <a:solidFill>
            <a:srgbClr val="E4F3F8"/>
          </a:solidFill>
          <a:ln w="19050">
            <a:solidFill>
              <a:srgbClr val="409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63163" y="2419722"/>
            <a:ext cx="645367" cy="914"/>
          </a:xfrm>
          <a:prstGeom prst="line">
            <a:avLst/>
          </a:prstGeom>
          <a:noFill/>
          <a:ln w="12700">
            <a:solidFill>
              <a:srgbClr val="4090A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63163" y="2968142"/>
            <a:ext cx="645367" cy="914"/>
          </a:xfrm>
          <a:prstGeom prst="line">
            <a:avLst/>
          </a:prstGeom>
          <a:noFill/>
          <a:ln w="12700">
            <a:solidFill>
              <a:srgbClr val="4090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634" y="3516563"/>
            <a:ext cx="258147" cy="156692"/>
          </a:xfrm>
          <a:prstGeom prst="rect">
            <a:avLst/>
          </a:prstGeom>
          <a:solidFill>
            <a:srgbClr val="4090A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787710" y="4038905"/>
            <a:ext cx="11962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A52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73388" y="280355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82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show the exact software setup used throughout this course.</a:t>
            </a:r>
            <a:endParaRPr lang="en-US" sz="1050" dirty="0"/>
          </a:p>
        </p:txBody>
      </p:sp>
      <p:sp>
        <p:nvSpPr>
          <p:cNvPr id="22" name="bld1_60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60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 to record</a:t>
            </a:r>
            <a:endParaRPr lang="en-US" sz="1650" dirty="0"/>
          </a:p>
        </p:txBody>
      </p:sp>
      <p:sp>
        <p:nvSpPr>
          <p:cNvPr id="24" name="bld1_60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Formulas, dilutions, material evaluations, accord versions, formula versions, supplier information, and general notes.</a:t>
            </a:r>
            <a:endParaRPr lang="en-US" sz="1250" dirty="0"/>
          </a:p>
        </p:txBody>
      </p:sp>
      <p:sp>
        <p:nvSpPr>
          <p:cNvPr id="25" name="bld2_60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bld2_61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physical notebook works</a:t>
            </a:r>
            <a:endParaRPr lang="en-US" sz="1650" dirty="0"/>
          </a:p>
        </p:txBody>
      </p:sp>
      <p:sp>
        <p:nvSpPr>
          <p:cNvPr id="27" name="bld2_61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tactile, and always available — the tradeoff is no easy search or backup.</a:t>
            </a:r>
            <a:endParaRPr lang="en-US" sz="1250" dirty="0"/>
          </a:p>
        </p:txBody>
      </p:sp>
      <p:sp>
        <p:nvSpPr>
          <p:cNvPr id="28" name="bld3_61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9" name="bld3_61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does software</a:t>
            </a:r>
            <a:endParaRPr lang="en-US" sz="1650" dirty="0"/>
          </a:p>
        </p:txBody>
      </p:sp>
      <p:sp>
        <p:nvSpPr>
          <p:cNvPr id="30" name="bld3_61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spreadsheet or dedicated app makes searching, calculating and backing up far easier.</a:t>
            </a:r>
            <a:endParaRPr lang="en-US" sz="1250" dirty="0"/>
          </a:p>
        </p:txBody>
      </p:sp>
      <p:sp>
        <p:nvSpPr>
          <p:cNvPr id="31" name="bld4_61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2" name="bld4_61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beats the method</a:t>
            </a:r>
            <a:endParaRPr lang="en-US" sz="1650" dirty="0"/>
          </a:p>
        </p:txBody>
      </p:sp>
      <p:sp>
        <p:nvSpPr>
          <p:cNvPr id="33" name="bld4_61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system and stick with it — a half-used notebook and a half-used spreadsheet both fail the same way.</a:t>
            </a:r>
            <a:endParaRPr lang="en-US" sz="1250" dirty="0"/>
          </a:p>
        </p:txBody>
      </p:sp>
      <p:sp>
        <p:nvSpPr>
          <p:cNvPr id="35" name="trans_fade_4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Perfumer's alcohol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4815" y="1239926"/>
            <a:ext cx="485785" cy="437815"/>
          </a:xfrm>
          <a:prstGeom prst="roundRect">
            <a:avLst>
              <a:gd name="adj" fmla="val 8354"/>
            </a:avLst>
          </a:prstGeom>
          <a:solidFill>
            <a:srgbClr val="0E0D0B"/>
          </a:solidFill>
          <a:ln/>
        </p:spPr>
      </p:sp>
      <p:sp>
        <p:nvSpPr>
          <p:cNvPr id="11" name="Shape 9"/>
          <p:cNvSpPr/>
          <p:nvPr/>
        </p:nvSpPr>
        <p:spPr>
          <a:xfrm>
            <a:off x="9336497" y="1677741"/>
            <a:ext cx="422422" cy="700504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93382" y="2378245"/>
            <a:ext cx="1508650" cy="3239829"/>
          </a:xfrm>
          <a:prstGeom prst="roundRect">
            <a:avLst>
              <a:gd name="adj" fmla="val 7273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9958" y="3512185"/>
            <a:ext cx="1435498" cy="2069313"/>
          </a:xfrm>
          <a:prstGeom prst="roundRect">
            <a:avLst>
              <a:gd name="adj" fmla="val 6370"/>
            </a:avLst>
          </a:prstGeom>
          <a:solidFill>
            <a:srgbClr val="CFC5AE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004594" y="3479787"/>
            <a:ext cx="1086228" cy="842356"/>
          </a:xfrm>
          <a:prstGeom prst="roundRect">
            <a:avLst>
              <a:gd name="adj" fmla="val 3257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essential consumable — the deeper compounding process belongs to Module 09.</a:t>
            </a:r>
            <a:endParaRPr lang="en-US" sz="1050" dirty="0"/>
          </a:p>
        </p:txBody>
      </p:sp>
      <p:sp>
        <p:nvSpPr>
          <p:cNvPr id="16" name="bld1_61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61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main dilution carrier</a:t>
            </a:r>
            <a:endParaRPr lang="en-US" sz="1650" dirty="0"/>
          </a:p>
        </p:txBody>
      </p:sp>
      <p:sp>
        <p:nvSpPr>
          <p:cNvPr id="18" name="bld1_620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make working dilutions of raw materials so they can be measured and evaluated accurately.</a:t>
            </a:r>
            <a:endParaRPr lang="en-US" sz="1250" dirty="0"/>
          </a:p>
        </p:txBody>
      </p:sp>
      <p:sp>
        <p:nvSpPr>
          <p:cNvPr id="19" name="bld2_621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622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your evaluation medium</a:t>
            </a:r>
            <a:endParaRPr lang="en-US" sz="1650" dirty="0"/>
          </a:p>
        </p:txBody>
      </p:sp>
      <p:sp>
        <p:nvSpPr>
          <p:cNvPr id="21" name="bld2_623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materials on a scent strip are usually cut with perfumer's alcohol first.</a:t>
            </a:r>
            <a:endParaRPr lang="en-US" sz="1250" dirty="0"/>
          </a:p>
        </p:txBody>
      </p:sp>
      <p:sp>
        <p:nvSpPr>
          <p:cNvPr id="22" name="bld3_624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3_625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 of a finished perfume</a:t>
            </a:r>
            <a:endParaRPr lang="en-US" sz="1650" dirty="0"/>
          </a:p>
        </p:txBody>
      </p:sp>
      <p:sp>
        <p:nvSpPr>
          <p:cNvPr id="24" name="bld3_626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Alcohol-based fragrance is simply concentrate diluted into perfumer's alcohol — module 09 covers this in full.</a:t>
            </a:r>
            <a:endParaRPr lang="en-US" sz="1250" dirty="0"/>
          </a:p>
        </p:txBody>
      </p:sp>
      <p:sp>
        <p:nvSpPr>
          <p:cNvPr id="26" name="trans_fade_4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Solvents you'll encounter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627"/>
          <p:cNvSpPr/>
          <p:nvPr/>
        </p:nvSpPr>
        <p:spPr>
          <a:xfrm>
            <a:off x="548640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46605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27072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89837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89837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089837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46605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7" name="bld1_629"/>
          <p:cNvSpPr txBox="1"/>
          <p:nvPr/>
        </p:nvSpPr>
        <p:spPr>
          <a:xfrm>
            <a:off x="731520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Ethanol</a:t>
            </a:r>
            <a:endParaRPr lang="en-US" sz="1450" dirty="0"/>
          </a:p>
        </p:txBody>
      </p:sp>
      <p:sp>
        <p:nvSpPr>
          <p:cNvPr id="18" name="bld1_630"/>
          <p:cNvSpPr txBox="1"/>
          <p:nvPr/>
        </p:nvSpPr>
        <p:spPr>
          <a:xfrm>
            <a:off x="731520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perfumer's alcohol carrier for dilutions and finished fragrance.</a:t>
            </a:r>
            <a:endParaRPr lang="en-US" sz="1080" dirty="0"/>
          </a:p>
        </p:txBody>
      </p:sp>
      <p:sp>
        <p:nvSpPr>
          <p:cNvPr id="19" name="bld2_631"/>
          <p:cNvSpPr/>
          <p:nvPr/>
        </p:nvSpPr>
        <p:spPr>
          <a:xfrm>
            <a:off x="4332122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810555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87331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87331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87331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2A5266"/>
            </a:solidFill>
            <a:prstDash val="solid"/>
          </a:ln>
        </p:spPr>
      </p:sp>
      <p:sp>
        <p:nvSpPr>
          <p:cNvPr id="26" name="bld2_633"/>
          <p:cNvSpPr txBox="1"/>
          <p:nvPr/>
        </p:nvSpPr>
        <p:spPr>
          <a:xfrm>
            <a:off x="4515002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DPG</a:t>
            </a:r>
            <a:endParaRPr lang="en-US" sz="1450" dirty="0"/>
          </a:p>
        </p:txBody>
      </p:sp>
      <p:sp>
        <p:nvSpPr>
          <p:cNvPr id="27" name="bld2_634"/>
          <p:cNvSpPr txBox="1"/>
          <p:nvPr/>
        </p:nvSpPr>
        <p:spPr>
          <a:xfrm>
            <a:off x="4515002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low-odour carrier often used for oil-based or alcohol-free formats.</a:t>
            </a:r>
            <a:endParaRPr lang="en-US" sz="1080" dirty="0"/>
          </a:p>
        </p:txBody>
      </p:sp>
      <p:sp>
        <p:nvSpPr>
          <p:cNvPr id="28" name="bld3_635"/>
          <p:cNvSpPr/>
          <p:nvPr/>
        </p:nvSpPr>
        <p:spPr>
          <a:xfrm>
            <a:off x="8115605" y="2260397"/>
            <a:ext cx="352745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513570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4037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656802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656802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656802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13570" y="2388413"/>
            <a:ext cx="731520" cy="731520"/>
          </a:xfrm>
          <a:prstGeom prst="ellipse">
            <a:avLst/>
          </a:prstGeom>
          <a:ln w="25603">
            <a:solidFill>
              <a:srgbClr val="8AC6E0"/>
            </a:solidFill>
            <a:prstDash val="solid"/>
          </a:ln>
        </p:spPr>
      </p:sp>
      <p:sp>
        <p:nvSpPr>
          <p:cNvPr id="35" name="bld3_637"/>
          <p:cNvSpPr txBox="1"/>
          <p:nvPr/>
        </p:nvSpPr>
        <p:spPr>
          <a:xfrm>
            <a:off x="8298485" y="3211373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</a:t>
            </a:r>
            <a:endParaRPr lang="en-US" sz="1450" dirty="0"/>
          </a:p>
        </p:txBody>
      </p:sp>
      <p:sp>
        <p:nvSpPr>
          <p:cNvPr id="36" name="bld3_638"/>
          <p:cNvSpPr txBox="1"/>
          <p:nvPr/>
        </p:nvSpPr>
        <p:spPr>
          <a:xfrm>
            <a:off x="8298485" y="3522269"/>
            <a:ext cx="31616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common carrier, chosen for specific solubility or format needs.</a:t>
            </a:r>
            <a:endParaRPr lang="en-US" sz="1080" dirty="0"/>
          </a:p>
        </p:txBody>
      </p:sp>
      <p:sp>
        <p:nvSpPr>
          <p:cNvPr id="38" name="trans_fade_4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7" grpId="0"/>
      <p:bldP spid="18" grpId="0"/>
      <p:bldP spid="19" grpId="0"/>
      <p:bldP spid="26" grpId="0"/>
      <p:bldP spid="27" grpId="0"/>
      <p:bldP spid="28" grpId="0"/>
      <p:bldP spid="35" grpId="0"/>
      <p:bldP spid="3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equipment checklist</a:t>
            </a:r>
            <a:endParaRPr lang="en-US" sz="3200" dirty="0"/>
          </a:p>
        </p:txBody>
      </p:sp>
      <p:sp>
        <p:nvSpPr>
          <p:cNvPr id="7" name="bld1_639"/>
          <p:cNvSpPr txBox="1"/>
          <p:nvPr/>
        </p:nvSpPr>
        <p:spPr>
          <a:xfrm>
            <a:off x="548640" y="18013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1250" dirty="0"/>
          </a:p>
        </p:txBody>
      </p:sp>
      <p:sp>
        <p:nvSpPr>
          <p:cNvPr id="8" name="bld1_640"/>
          <p:cNvSpPr/>
          <p:nvPr/>
        </p:nvSpPr>
        <p:spPr>
          <a:xfrm>
            <a:off x="548640" y="2258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9" name="bld1_641"/>
          <p:cNvSpPr txBox="1"/>
          <p:nvPr/>
        </p:nvSpPr>
        <p:spPr>
          <a:xfrm>
            <a:off x="841248" y="2194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00" dirty="0"/>
          </a:p>
        </p:txBody>
      </p:sp>
      <p:sp>
        <p:nvSpPr>
          <p:cNvPr id="10" name="bld1_642"/>
          <p:cNvSpPr/>
          <p:nvPr/>
        </p:nvSpPr>
        <p:spPr>
          <a:xfrm>
            <a:off x="548640" y="2715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1" name="bld1_643"/>
          <p:cNvSpPr txBox="1"/>
          <p:nvPr/>
        </p:nvSpPr>
        <p:spPr>
          <a:xfrm>
            <a:off x="841248" y="2651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stirrer</a:t>
            </a:r>
            <a:endParaRPr lang="en-US" sz="1200" dirty="0"/>
          </a:p>
        </p:txBody>
      </p:sp>
      <p:sp>
        <p:nvSpPr>
          <p:cNvPr id="12" name="bld1_644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3" name="bld1_645"/>
          <p:cNvSpPr txBox="1"/>
          <p:nvPr/>
        </p:nvSpPr>
        <p:spPr>
          <a:xfrm>
            <a:off x="841248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plastic pipettes</a:t>
            </a:r>
            <a:endParaRPr lang="en-US" sz="1200" dirty="0"/>
          </a:p>
        </p:txBody>
      </p:sp>
      <p:sp>
        <p:nvSpPr>
          <p:cNvPr id="14" name="bld1_646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5" name="bld1_647"/>
          <p:cNvSpPr txBox="1"/>
          <p:nvPr/>
        </p:nvSpPr>
        <p:spPr>
          <a:xfrm>
            <a:off x="841248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 strips</a:t>
            </a:r>
            <a:endParaRPr lang="en-US" sz="1200" dirty="0"/>
          </a:p>
        </p:txBody>
      </p:sp>
      <p:sp>
        <p:nvSpPr>
          <p:cNvPr id="16" name="bld1_648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7" name="bld1_649"/>
          <p:cNvSpPr txBox="1"/>
          <p:nvPr/>
        </p:nvSpPr>
        <p:spPr>
          <a:xfrm>
            <a:off x="841248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Spatulas</a:t>
            </a:r>
            <a:endParaRPr lang="en-US" sz="1200" dirty="0"/>
          </a:p>
        </p:txBody>
      </p:sp>
      <p:sp>
        <p:nvSpPr>
          <p:cNvPr id="18" name="bld1_650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9" name="bld1_651"/>
          <p:cNvSpPr txBox="1"/>
          <p:nvPr/>
        </p:nvSpPr>
        <p:spPr>
          <a:xfrm>
            <a:off x="841248" y="4480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Beakers</a:t>
            </a:r>
            <a:endParaRPr lang="en-US" sz="1200" dirty="0"/>
          </a:p>
        </p:txBody>
      </p:sp>
      <p:sp>
        <p:nvSpPr>
          <p:cNvPr id="20" name="bld1_652"/>
          <p:cNvSpPr/>
          <p:nvPr/>
        </p:nvSpPr>
        <p:spPr>
          <a:xfrm>
            <a:off x="548640" y="5001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1" name="bld1_653"/>
          <p:cNvSpPr txBox="1"/>
          <p:nvPr/>
        </p:nvSpPr>
        <p:spPr>
          <a:xfrm>
            <a:off x="841248" y="4937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200" dirty="0"/>
          </a:p>
        </p:txBody>
      </p:sp>
      <p:sp>
        <p:nvSpPr>
          <p:cNvPr id="22" name="bld1_654"/>
          <p:cNvSpPr/>
          <p:nvPr/>
        </p:nvSpPr>
        <p:spPr>
          <a:xfrm>
            <a:off x="548640" y="5458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3" name="bld1_655"/>
          <p:cNvSpPr txBox="1"/>
          <p:nvPr/>
        </p:nvSpPr>
        <p:spPr>
          <a:xfrm>
            <a:off x="841248" y="5394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bottles</a:t>
            </a:r>
            <a:endParaRPr lang="en-US" sz="1200" dirty="0"/>
          </a:p>
        </p:txBody>
      </p:sp>
      <p:sp>
        <p:nvSpPr>
          <p:cNvPr id="24" name="bld1_656"/>
          <p:cNvSpPr/>
          <p:nvPr/>
        </p:nvSpPr>
        <p:spPr>
          <a:xfrm>
            <a:off x="548640" y="5916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5" name="bld1_657"/>
          <p:cNvSpPr txBox="1"/>
          <p:nvPr/>
        </p:nvSpPr>
        <p:spPr>
          <a:xfrm>
            <a:off x="841248" y="5852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</a:t>
            </a:r>
            <a:endParaRPr lang="en-US" sz="1200" dirty="0"/>
          </a:p>
        </p:txBody>
      </p:sp>
      <p:sp>
        <p:nvSpPr>
          <p:cNvPr id="26" name="bld2_658"/>
          <p:cNvSpPr txBox="1"/>
          <p:nvPr/>
        </p:nvSpPr>
        <p:spPr>
          <a:xfrm>
            <a:off x="6255868" y="180136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</a:t>
            </a:r>
            <a:endParaRPr lang="en-US" sz="1250" dirty="0"/>
          </a:p>
        </p:txBody>
      </p:sp>
      <p:sp>
        <p:nvSpPr>
          <p:cNvPr id="27" name="bld2_659"/>
          <p:cNvSpPr/>
          <p:nvPr/>
        </p:nvSpPr>
        <p:spPr>
          <a:xfrm>
            <a:off x="6255868" y="2258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660"/>
          <p:cNvSpPr txBox="1"/>
          <p:nvPr/>
        </p:nvSpPr>
        <p:spPr>
          <a:xfrm>
            <a:off x="6548476" y="21945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printer</a:t>
            </a:r>
            <a:endParaRPr lang="en-US" sz="1200" dirty="0"/>
          </a:p>
        </p:txBody>
      </p:sp>
      <p:sp>
        <p:nvSpPr>
          <p:cNvPr id="29" name="bld2_661"/>
          <p:cNvSpPr/>
          <p:nvPr/>
        </p:nvSpPr>
        <p:spPr>
          <a:xfrm>
            <a:off x="6255868" y="27157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662"/>
          <p:cNvSpPr txBox="1"/>
          <p:nvPr/>
        </p:nvSpPr>
        <p:spPr>
          <a:xfrm>
            <a:off x="6548476" y="26517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Heated magnetic stirrer</a:t>
            </a:r>
            <a:endParaRPr lang="en-US" sz="1200" dirty="0"/>
          </a:p>
        </p:txBody>
      </p:sp>
      <p:sp>
        <p:nvSpPr>
          <p:cNvPr id="31" name="bld2_663"/>
          <p:cNvSpPr/>
          <p:nvPr/>
        </p:nvSpPr>
        <p:spPr>
          <a:xfrm>
            <a:off x="625586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664"/>
          <p:cNvSpPr txBox="1"/>
          <p:nvPr/>
        </p:nvSpPr>
        <p:spPr>
          <a:xfrm>
            <a:off x="6548476" y="31089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 label stock</a:t>
            </a:r>
            <a:endParaRPr lang="en-US" sz="1200" dirty="0"/>
          </a:p>
        </p:txBody>
      </p:sp>
      <p:sp>
        <p:nvSpPr>
          <p:cNvPr id="33" name="bld2_665"/>
          <p:cNvSpPr/>
          <p:nvPr/>
        </p:nvSpPr>
        <p:spPr>
          <a:xfrm>
            <a:off x="625586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666"/>
          <p:cNvSpPr txBox="1"/>
          <p:nvPr/>
        </p:nvSpPr>
        <p:spPr>
          <a:xfrm>
            <a:off x="6548476" y="35661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labels</a:t>
            </a:r>
            <a:endParaRPr lang="en-US" sz="1200" dirty="0"/>
          </a:p>
        </p:txBody>
      </p:sp>
      <p:sp>
        <p:nvSpPr>
          <p:cNvPr id="35" name="bld2_667"/>
          <p:cNvSpPr/>
          <p:nvPr/>
        </p:nvSpPr>
        <p:spPr>
          <a:xfrm>
            <a:off x="625586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6" name="bld2_668"/>
          <p:cNvSpPr txBox="1"/>
          <p:nvPr/>
        </p:nvSpPr>
        <p:spPr>
          <a:xfrm>
            <a:off x="6548476" y="402336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</a:t>
            </a:r>
            <a:endParaRPr lang="en-US" sz="1200" dirty="0"/>
          </a:p>
        </p:txBody>
      </p:sp>
      <p:sp>
        <p:nvSpPr>
          <p:cNvPr id="38" name="trans_fade_4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MONEY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 to waste money 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669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1" name="bld1_67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671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huge lab</a:t>
            </a:r>
            <a:endParaRPr lang="en-US" sz="1450" dirty="0"/>
          </a:p>
        </p:txBody>
      </p:sp>
      <p:sp>
        <p:nvSpPr>
          <p:cNvPr id="13" name="bld1_672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one.</a:t>
            </a:r>
            <a:endParaRPr lang="en-US" sz="1080" dirty="0"/>
          </a:p>
        </p:txBody>
      </p:sp>
      <p:sp>
        <p:nvSpPr>
          <p:cNvPr id="14" name="bld2_673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5" name="bld2_674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2_675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bottles</a:t>
            </a:r>
            <a:endParaRPr lang="en-US" sz="1450" dirty="0"/>
          </a:p>
        </p:txBody>
      </p:sp>
      <p:sp>
        <p:nvSpPr>
          <p:cNvPr id="17" name="bld2_676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immediately.</a:t>
            </a:r>
            <a:endParaRPr lang="en-US" sz="1080" dirty="0"/>
          </a:p>
        </p:txBody>
      </p:sp>
      <p:sp>
        <p:nvSpPr>
          <p:cNvPr id="18" name="bld3_677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19" name="bld3_678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679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21" name="bld3_680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unnecessary.</a:t>
            </a:r>
            <a:endParaRPr lang="en-US" sz="1080" dirty="0"/>
          </a:p>
        </p:txBody>
      </p:sp>
      <p:sp>
        <p:nvSpPr>
          <p:cNvPr id="22" name="bld4_681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3" name="bld4_682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4_683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the glass</a:t>
            </a:r>
            <a:endParaRPr lang="en-US" sz="1450" dirty="0"/>
          </a:p>
        </p:txBody>
      </p:sp>
      <p:sp>
        <p:nvSpPr>
          <p:cNvPr id="25" name="bld4_684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sizes is plenty.</a:t>
            </a:r>
            <a:endParaRPr lang="en-US" sz="1080" dirty="0"/>
          </a:p>
        </p:txBody>
      </p:sp>
      <p:sp>
        <p:nvSpPr>
          <p:cNvPr id="26" name="bld5_685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7" name="bld5_686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8" name="bld5_687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Machinery</a:t>
            </a:r>
            <a:endParaRPr lang="en-US" sz="1450" dirty="0"/>
          </a:p>
        </p:txBody>
      </p:sp>
      <p:sp>
        <p:nvSpPr>
          <p:cNvPr id="29" name="bld5_688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won't teach you anything.</a:t>
            </a:r>
            <a:endParaRPr lang="en-US" sz="1080" dirty="0"/>
          </a:p>
        </p:txBody>
      </p:sp>
      <p:sp>
        <p:nvSpPr>
          <p:cNvPr id="31" name="trans_fade_4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INVESTMENT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moves you forward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1143000" y="3574653"/>
            <a:ext cx="289501" cy="12866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2501" y="3574653"/>
            <a:ext cx="289501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32501" y="3735487"/>
            <a:ext cx="289501" cy="2573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999" y="3992821"/>
            <a:ext cx="482501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49999" y="3703320"/>
            <a:ext cx="193001" cy="28950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66" y="3542486"/>
            <a:ext cx="353834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533" y="3651853"/>
            <a:ext cx="102934" cy="10293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5509" y="3537661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5010" y="3698495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5509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08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174" y="3505494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1_690"/>
          <p:cNvSpPr txBox="1"/>
          <p:nvPr/>
        </p:nvSpPr>
        <p:spPr>
          <a:xfrm>
            <a:off x="-375873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raw materials</a:t>
            </a:r>
            <a:endParaRPr lang="en-US" sz="1250" dirty="0"/>
          </a:p>
        </p:txBody>
      </p:sp>
      <p:sp>
        <p:nvSpPr>
          <p:cNvPr id="22" name="bld2_691"/>
          <p:cNvSpPr txBox="1"/>
          <p:nvPr/>
        </p:nvSpPr>
        <p:spPr>
          <a:xfrm>
            <a:off x="1938528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3695090" y="2953512"/>
            <a:ext cx="1499616" cy="149961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4444898" y="3574653"/>
            <a:ext cx="289501" cy="12866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4399" y="3574653"/>
            <a:ext cx="289501" cy="1608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734399" y="3735487"/>
            <a:ext cx="289501" cy="2573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51898" y="3992821"/>
            <a:ext cx="482501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251898" y="3703320"/>
            <a:ext cx="193001" cy="28950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91064" y="3542486"/>
            <a:ext cx="353834" cy="16083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93432" y="3651853"/>
            <a:ext cx="102934" cy="10293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97407" y="3537661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6908" y="3698495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7407" y="3955829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4906" y="3955829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54072" y="3505494"/>
            <a:ext cx="73984" cy="7398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95090" y="2953512"/>
            <a:ext cx="1499616" cy="149961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7" name="bld2_693"/>
          <p:cNvSpPr txBox="1"/>
          <p:nvPr/>
        </p:nvSpPr>
        <p:spPr>
          <a:xfrm>
            <a:off x="2926025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accurate scale</a:t>
            </a:r>
            <a:endParaRPr lang="en-US" sz="1250" dirty="0"/>
          </a:p>
        </p:txBody>
      </p:sp>
      <p:sp>
        <p:nvSpPr>
          <p:cNvPr id="38" name="bld3_694"/>
          <p:cNvSpPr txBox="1"/>
          <p:nvPr/>
        </p:nvSpPr>
        <p:spPr>
          <a:xfrm>
            <a:off x="5240426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6996989" y="2953512"/>
            <a:ext cx="1499616" cy="149961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0" name="Shape 38"/>
          <p:cNvSpPr/>
          <p:nvPr/>
        </p:nvSpPr>
        <p:spPr>
          <a:xfrm>
            <a:off x="7705857" y="3305622"/>
            <a:ext cx="87494" cy="795396"/>
          </a:xfrm>
          <a:prstGeom prst="roundRect">
            <a:avLst>
              <a:gd name="adj" fmla="val 20902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19573" y="3846491"/>
            <a:ext cx="60062" cy="236239"/>
          </a:xfrm>
          <a:prstGeom prst="roundRect">
            <a:avLst>
              <a:gd name="adj" fmla="val 22836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996989" y="2953512"/>
            <a:ext cx="1499616" cy="149961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3" name="bld3_696"/>
          <p:cNvSpPr txBox="1"/>
          <p:nvPr/>
        </p:nvSpPr>
        <p:spPr>
          <a:xfrm>
            <a:off x="6227924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training</a:t>
            </a:r>
            <a:endParaRPr lang="en-US" sz="1250" dirty="0"/>
          </a:p>
        </p:txBody>
      </p:sp>
      <p:sp>
        <p:nvSpPr>
          <p:cNvPr id="44" name="bld4_697"/>
          <p:cNvSpPr txBox="1"/>
          <p:nvPr/>
        </p:nvSpPr>
        <p:spPr>
          <a:xfrm>
            <a:off x="8542325" y="3410712"/>
            <a:ext cx="171084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88432" y="3223743"/>
            <a:ext cx="120526" cy="95915"/>
          </a:xfrm>
          <a:prstGeom prst="roundRect">
            <a:avLst>
              <a:gd name="adj" fmla="val 38134"/>
            </a:avLst>
          </a:prstGeom>
          <a:solidFill>
            <a:srgbClr val="0E0D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96293" y="3319658"/>
            <a:ext cx="104805" cy="153465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61543" y="3473123"/>
            <a:ext cx="374304" cy="709774"/>
          </a:xfrm>
          <a:prstGeom prst="roundRect">
            <a:avLst>
              <a:gd name="adj" fmla="val 29315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98119" y="3792521"/>
            <a:ext cx="301152" cy="353800"/>
          </a:xfrm>
          <a:prstGeom prst="roundRect">
            <a:avLst>
              <a:gd name="adj" fmla="val 30363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41148">
            <a:solidFill>
              <a:srgbClr val="C1752F"/>
            </a:solidFill>
            <a:prstDash val="solid"/>
          </a:ln>
        </p:spPr>
      </p:sp>
      <p:sp>
        <p:nvSpPr>
          <p:cNvPr id="51" name="bld4_699"/>
          <p:cNvSpPr txBox="1"/>
          <p:nvPr/>
        </p:nvSpPr>
        <p:spPr>
          <a:xfrm>
            <a:off x="9529822" y="4599432"/>
            <a:ext cx="30377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progress</a:t>
            </a:r>
            <a:endParaRPr lang="en-US" sz="1500" dirty="0"/>
          </a:p>
        </p:txBody>
      </p:sp>
      <p:sp>
        <p:nvSpPr>
          <p:cNvPr id="53" name="trans_push_l_4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5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37" grpId="0"/>
      <p:bldP spid="38" grpId="0"/>
      <p:bldP spid="43" grpId="0"/>
      <p:bldP spid="44" grpId="0"/>
      <p:bldP spid="5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TOGETHER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EQUIPMENT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beginner workspace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3566160" y="3902970"/>
            <a:ext cx="476617" cy="21183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42777" y="3902970"/>
            <a:ext cx="476617" cy="2647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042777" y="4167757"/>
            <a:ext cx="476617" cy="423660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8415" y="4591417"/>
            <a:ext cx="794362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248415" y="4114800"/>
            <a:ext cx="317745" cy="47661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83628" y="3850013"/>
            <a:ext cx="582532" cy="26478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81428" y="4030068"/>
            <a:ext cx="169464" cy="169464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81876" y="3842069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8493" y="410685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81876" y="453051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7514" y="4530516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2727" y="3789112"/>
            <a:ext cx="121802" cy="12180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5C42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3A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BENCH</a:t>
            </a:r>
            <a:endParaRPr lang="en-US" sz="1350" dirty="0"/>
          </a:p>
        </p:txBody>
      </p:sp>
      <p:sp>
        <p:nvSpPr>
          <p:cNvPr id="22" name="bld1_700"/>
          <p:cNvSpPr/>
          <p:nvPr/>
        </p:nvSpPr>
        <p:spPr>
          <a:xfrm flipV="1">
            <a:off x="4627778" y="2148840"/>
            <a:ext cx="3232678" cy="1965960"/>
          </a:xfrm>
          <a:prstGeom prst="line">
            <a:avLst/>
          </a:prstGeom>
          <a:noFill/>
          <a:ln w="19050">
            <a:solidFill>
              <a:srgbClr val="C1752F">
                <a:alpha val="75000"/>
              </a:srgbClr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7822692" y="1879092"/>
            <a:ext cx="539496" cy="53949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4" name="Shape 22"/>
          <p:cNvSpPr/>
          <p:nvPr/>
        </p:nvSpPr>
        <p:spPr>
          <a:xfrm>
            <a:off x="8070760" y="1976309"/>
            <a:ext cx="43360" cy="34506"/>
          </a:xfrm>
          <a:prstGeom prst="roundRect">
            <a:avLst>
              <a:gd name="adj" fmla="val 105999"/>
            </a:avLst>
          </a:prstGeom>
          <a:solidFill>
            <a:srgbClr val="0E0D0B"/>
          </a:solidFill>
          <a:ln/>
        </p:spPr>
      </p:sp>
      <p:sp>
        <p:nvSpPr>
          <p:cNvPr id="25" name="Shape 23"/>
          <p:cNvSpPr/>
          <p:nvPr/>
        </p:nvSpPr>
        <p:spPr>
          <a:xfrm>
            <a:off x="8073588" y="2010815"/>
            <a:ext cx="37704" cy="5521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25111" y="2066025"/>
            <a:ext cx="134658" cy="255346"/>
          </a:xfrm>
          <a:prstGeom prst="roundRect">
            <a:avLst>
              <a:gd name="adj" fmla="val 8148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1687" y="2180931"/>
            <a:ext cx="61506" cy="103864"/>
          </a:xfrm>
          <a:prstGeom prst="roundRect">
            <a:avLst>
              <a:gd name="adj" fmla="val 14866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22692" y="1879092"/>
            <a:ext cx="539496" cy="53949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9" name="bld1_702"/>
          <p:cNvSpPr txBox="1"/>
          <p:nvPr/>
        </p:nvSpPr>
        <p:spPr>
          <a:xfrm>
            <a:off x="8499348" y="19751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materials, organised behind</a:t>
            </a:r>
            <a:endParaRPr lang="en-US" sz="1350" dirty="0"/>
          </a:p>
        </p:txBody>
      </p:sp>
      <p:sp>
        <p:nvSpPr>
          <p:cNvPr id="30" name="bld2_703"/>
          <p:cNvSpPr/>
          <p:nvPr/>
        </p:nvSpPr>
        <p:spPr>
          <a:xfrm flipV="1">
            <a:off x="4627778" y="2834640"/>
            <a:ext cx="3232678" cy="1280160"/>
          </a:xfrm>
          <a:prstGeom prst="line">
            <a:avLst/>
          </a:prstGeom>
          <a:noFill/>
          <a:ln w="19050">
            <a:solidFill>
              <a:srgbClr val="5C8A45">
                <a:alpha val="75000"/>
              </a:srgbClr>
            </a:solidFill>
            <a:prstDash val="sysDot"/>
          </a:ln>
        </p:spPr>
      </p:sp>
      <p:sp>
        <p:nvSpPr>
          <p:cNvPr id="31" name="Shape 29"/>
          <p:cNvSpPr/>
          <p:nvPr/>
        </p:nvSpPr>
        <p:spPr>
          <a:xfrm>
            <a:off x="7822692" y="2564892"/>
            <a:ext cx="539496" cy="539496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057723" y="2670525"/>
            <a:ext cx="69433" cy="72905"/>
          </a:xfrm>
          <a:prstGeom prst="ellipse">
            <a:avLst/>
          </a:prstGeom>
          <a:solidFill>
            <a:srgbClr val="4090AF">
              <a:alpha val="85000"/>
            </a:srgbClr>
          </a:solidFill>
          <a:ln w="12700">
            <a:solidFill>
              <a:srgbClr val="4090A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81467" y="2739958"/>
            <a:ext cx="914" cy="195675"/>
          </a:xfrm>
          <a:prstGeom prst="line">
            <a:avLst/>
          </a:prstGeom>
          <a:noFill/>
          <a:ln w="28575">
            <a:solidFill>
              <a:srgbClr val="4090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8082972" y="2935634"/>
            <a:ext cx="18936" cy="50497"/>
          </a:xfrm>
          <a:prstGeom prst="triangle">
            <a:avLst/>
          </a:prstGeom>
          <a:solidFill>
            <a:srgbClr val="4090AF">
              <a:alpha val="8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822692" y="2564892"/>
            <a:ext cx="539496" cy="539496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6" name="bld2_705"/>
          <p:cNvSpPr txBox="1"/>
          <p:nvPr/>
        </p:nvSpPr>
        <p:spPr>
          <a:xfrm>
            <a:off x="8499348" y="26609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Disposable pipettes</a:t>
            </a:r>
            <a:endParaRPr lang="en-US" sz="1350" dirty="0"/>
          </a:p>
        </p:txBody>
      </p:sp>
      <p:sp>
        <p:nvSpPr>
          <p:cNvPr id="37" name="bld3_706"/>
          <p:cNvSpPr/>
          <p:nvPr/>
        </p:nvSpPr>
        <p:spPr>
          <a:xfrm flipV="1">
            <a:off x="4627778" y="3520440"/>
            <a:ext cx="3232678" cy="594360"/>
          </a:xfrm>
          <a:prstGeom prst="line">
            <a:avLst/>
          </a:prstGeom>
          <a:noFill/>
          <a:ln w="19050">
            <a:solidFill>
              <a:srgbClr val="4090AF">
                <a:alpha val="75000"/>
              </a:srgbClr>
            </a:solidFill>
            <a:prstDash val="sysDot"/>
          </a:ln>
        </p:spPr>
      </p:sp>
      <p:sp>
        <p:nvSpPr>
          <p:cNvPr id="38" name="Shape 36"/>
          <p:cNvSpPr/>
          <p:nvPr/>
        </p:nvSpPr>
        <p:spPr>
          <a:xfrm>
            <a:off x="7822692" y="3250692"/>
            <a:ext cx="539496" cy="53949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9" name="Shape 37"/>
          <p:cNvSpPr/>
          <p:nvPr/>
        </p:nvSpPr>
        <p:spPr>
          <a:xfrm>
            <a:off x="8070760" y="3347909"/>
            <a:ext cx="43360" cy="34506"/>
          </a:xfrm>
          <a:prstGeom prst="roundRect">
            <a:avLst>
              <a:gd name="adj" fmla="val 105999"/>
            </a:avLst>
          </a:prstGeom>
          <a:solidFill>
            <a:srgbClr val="0E0D0B"/>
          </a:solidFill>
          <a:ln/>
        </p:spPr>
      </p:sp>
      <p:sp>
        <p:nvSpPr>
          <p:cNvPr id="40" name="Shape 38"/>
          <p:cNvSpPr/>
          <p:nvPr/>
        </p:nvSpPr>
        <p:spPr>
          <a:xfrm>
            <a:off x="8073588" y="3382415"/>
            <a:ext cx="37704" cy="5521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25111" y="3437625"/>
            <a:ext cx="134658" cy="255346"/>
          </a:xfrm>
          <a:prstGeom prst="roundRect">
            <a:avLst>
              <a:gd name="adj" fmla="val 8148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1687" y="3552531"/>
            <a:ext cx="61506" cy="103864"/>
          </a:xfrm>
          <a:prstGeom prst="roundRect">
            <a:avLst>
              <a:gd name="adj" fmla="val 14866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22692" y="3250692"/>
            <a:ext cx="539496" cy="53949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3_708"/>
          <p:cNvSpPr txBox="1"/>
          <p:nvPr/>
        </p:nvSpPr>
        <p:spPr>
          <a:xfrm>
            <a:off x="8499348" y="33467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dilution bottles</a:t>
            </a:r>
            <a:endParaRPr lang="en-US" sz="1350" dirty="0"/>
          </a:p>
        </p:txBody>
      </p:sp>
      <p:sp>
        <p:nvSpPr>
          <p:cNvPr id="45" name="bld4_709"/>
          <p:cNvSpPr/>
          <p:nvPr/>
        </p:nvSpPr>
        <p:spPr>
          <a:xfrm>
            <a:off x="4627778" y="4114800"/>
            <a:ext cx="3232678" cy="91440"/>
          </a:xfrm>
          <a:prstGeom prst="line">
            <a:avLst/>
          </a:prstGeom>
          <a:noFill/>
          <a:ln w="19050">
            <a:solidFill>
              <a:srgbClr val="5C4230">
                <a:alpha val="75000"/>
              </a:srgbClr>
            </a:solidFill>
            <a:prstDash val="sysDot"/>
          </a:ln>
        </p:spPr>
      </p:sp>
      <p:sp>
        <p:nvSpPr>
          <p:cNvPr id="46" name="Shape 44"/>
          <p:cNvSpPr/>
          <p:nvPr/>
        </p:nvSpPr>
        <p:spPr>
          <a:xfrm>
            <a:off x="7822692" y="3936492"/>
            <a:ext cx="539496" cy="53949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7" name="Shape 45"/>
          <p:cNvSpPr/>
          <p:nvPr/>
        </p:nvSpPr>
        <p:spPr>
          <a:xfrm>
            <a:off x="8077712" y="4063166"/>
            <a:ext cx="31476" cy="286149"/>
          </a:xfrm>
          <a:prstGeom prst="roundRect">
            <a:avLst>
              <a:gd name="adj" fmla="val 5810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91428" y="4257747"/>
            <a:ext cx="4044" cy="73280"/>
          </a:xfrm>
          <a:prstGeom prst="roundRect">
            <a:avLst>
              <a:gd name="adj" fmla="val 339169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822692" y="3936492"/>
            <a:ext cx="539496" cy="53949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0" name="bld4_711"/>
          <p:cNvSpPr txBox="1"/>
          <p:nvPr/>
        </p:nvSpPr>
        <p:spPr>
          <a:xfrm>
            <a:off x="8499348" y="40325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Scent strips</a:t>
            </a:r>
            <a:endParaRPr lang="en-US" sz="1350" dirty="0"/>
          </a:p>
        </p:txBody>
      </p:sp>
      <p:sp>
        <p:nvSpPr>
          <p:cNvPr id="51" name="bld5_712"/>
          <p:cNvSpPr/>
          <p:nvPr/>
        </p:nvSpPr>
        <p:spPr>
          <a:xfrm>
            <a:off x="4627778" y="4114800"/>
            <a:ext cx="3232678" cy="777240"/>
          </a:xfrm>
          <a:prstGeom prst="line">
            <a:avLst/>
          </a:prstGeom>
          <a:noFill/>
          <a:ln w="19050">
            <a:solidFill>
              <a:srgbClr val="5C4230">
                <a:alpha val="75000"/>
              </a:srgbClr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7822692" y="4622292"/>
            <a:ext cx="539496" cy="539496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53" name="Shape 51"/>
          <p:cNvSpPr/>
          <p:nvPr/>
        </p:nvSpPr>
        <p:spPr>
          <a:xfrm>
            <a:off x="7882037" y="4681637"/>
            <a:ext cx="420807" cy="420807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935735" y="4786838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7914024" y="4856973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7914024" y="4927107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7935735" y="4997242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7822692" y="4622292"/>
            <a:ext cx="539496" cy="539496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9" name="bld5_714"/>
          <p:cNvSpPr txBox="1"/>
          <p:nvPr/>
        </p:nvSpPr>
        <p:spPr>
          <a:xfrm>
            <a:off x="8499348" y="47183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Weighing vessel</a:t>
            </a:r>
            <a:endParaRPr lang="en-US" sz="1350" dirty="0"/>
          </a:p>
        </p:txBody>
      </p:sp>
      <p:sp>
        <p:nvSpPr>
          <p:cNvPr id="60" name="bld6_715"/>
          <p:cNvSpPr/>
          <p:nvPr/>
        </p:nvSpPr>
        <p:spPr>
          <a:xfrm>
            <a:off x="4627778" y="4114800"/>
            <a:ext cx="3232678" cy="146304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61" name="Shape 59"/>
          <p:cNvSpPr/>
          <p:nvPr/>
        </p:nvSpPr>
        <p:spPr>
          <a:xfrm>
            <a:off x="7822692" y="5308092"/>
            <a:ext cx="539496" cy="53949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2" name="Shape 60"/>
          <p:cNvSpPr/>
          <p:nvPr/>
        </p:nvSpPr>
        <p:spPr>
          <a:xfrm>
            <a:off x="7882037" y="5367437"/>
            <a:ext cx="420807" cy="420807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935735" y="5472638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7914024" y="5542773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7914024" y="5612907"/>
            <a:ext cx="35683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7935735" y="5683042"/>
            <a:ext cx="313409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7822692" y="5308092"/>
            <a:ext cx="539496" cy="53949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8" name="bld6_717"/>
          <p:cNvSpPr txBox="1"/>
          <p:nvPr/>
        </p:nvSpPr>
        <p:spPr>
          <a:xfrm>
            <a:off x="8499348" y="54041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or laptop</a:t>
            </a:r>
            <a:endParaRPr lang="en-US" sz="1350" dirty="0"/>
          </a:p>
        </p:txBody>
      </p:sp>
      <p:sp>
        <p:nvSpPr>
          <p:cNvPr id="69" name="bld7_718"/>
          <p:cNvSpPr/>
          <p:nvPr/>
        </p:nvSpPr>
        <p:spPr>
          <a:xfrm>
            <a:off x="4627778" y="4114800"/>
            <a:ext cx="3232678" cy="2148840"/>
          </a:xfrm>
          <a:prstGeom prst="line">
            <a:avLst/>
          </a:prstGeom>
          <a:noFill/>
          <a:ln w="19050">
            <a:solidFill>
              <a:srgbClr val="4090AF">
                <a:alpha val="75000"/>
              </a:srgbClr>
            </a:solidFill>
            <a:prstDash val="sysDot"/>
          </a:ln>
        </p:spPr>
      </p:sp>
      <p:sp>
        <p:nvSpPr>
          <p:cNvPr id="70" name="Shape 68"/>
          <p:cNvSpPr/>
          <p:nvPr/>
        </p:nvSpPr>
        <p:spPr>
          <a:xfrm>
            <a:off x="7822692" y="5993892"/>
            <a:ext cx="539496" cy="539496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71" name="Shape 69"/>
          <p:cNvSpPr/>
          <p:nvPr/>
        </p:nvSpPr>
        <p:spPr>
          <a:xfrm>
            <a:off x="8073924" y="6116358"/>
            <a:ext cx="37031" cy="82478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08279" y="6175271"/>
            <a:ext cx="168323" cy="235652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35210" y="6269531"/>
            <a:ext cx="114459" cy="135500"/>
          </a:xfrm>
          <a:prstGeom prst="triangle">
            <a:avLst/>
          </a:prstGeom>
          <a:solidFill>
            <a:srgbClr val="4090AF">
              <a:alpha val="9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7822692" y="5993892"/>
            <a:ext cx="539496" cy="539496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75" name="bld7_720"/>
          <p:cNvSpPr txBox="1"/>
          <p:nvPr/>
        </p:nvSpPr>
        <p:spPr>
          <a:xfrm>
            <a:off x="8499348" y="6089904"/>
            <a:ext cx="314370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waste area</a:t>
            </a:r>
            <a:endParaRPr lang="en-US" sz="1350" dirty="0"/>
          </a:p>
        </p:txBody>
      </p:sp>
      <p:sp>
        <p:nvSpPr>
          <p:cNvPr id="77" name="trans_push_l_4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8" name="Text 7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79" name="Text 7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5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9" grpId="0"/>
      <p:bldP spid="30" grpId="0"/>
      <p:bldP spid="36" grpId="0"/>
      <p:bldP spid="37" grpId="0"/>
      <p:bldP spid="44" grpId="0"/>
      <p:bldP spid="45" grpId="0"/>
      <p:bldP spid="50" grpId="0"/>
      <p:bldP spid="51" grpId="0"/>
      <p:bldP spid="59" grpId="0"/>
      <p:bldP spid="60" grpId="0"/>
      <p:bldP spid="68" grpId="0"/>
      <p:bldP spid="69" grpId="0"/>
      <p:bldP spid="7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precise scale and a stack of scent strips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teach you more than any expensive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ever will.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02</a:t>
            </a:r>
            <a:endParaRPr lang="en-US" sz="1100" dirty="0"/>
          </a:p>
        </p:txBody>
      </p:sp>
      <p:sp>
        <p:nvSpPr>
          <p:cNvPr id="10" name="trans_fade_5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3890" y="2086061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4320000">
            <a:off x="10245887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8640000">
            <a:off x="1001212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12960000">
            <a:off x="9255655" y="3250148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7280000">
            <a:off x="9021893" y="2530703"/>
            <a:ext cx="666140" cy="1398895"/>
          </a:xfrm>
          <a:prstGeom prst="ellipse">
            <a:avLst/>
          </a:prstGeom>
          <a:solidFill>
            <a:srgbClr val="6E7A50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647213" y="3109253"/>
            <a:ext cx="639495" cy="639495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03.1 · RAW MATERIALS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&amp; How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 Behave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shop, you need a framework — how perfumers actually think about a raw material.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vocabulary: volatility, diffusion, tenacity, role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natural material families, in real depth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named materials — not just categories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3" name="trans_fade_5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olfactory groups, revisited</a:t>
            </a:r>
            <a:endParaRPr lang="en-US" sz="3200" dirty="0"/>
          </a:p>
        </p:txBody>
      </p:sp>
      <p:sp>
        <p:nvSpPr>
          <p:cNvPr id="7" name="bld1_721"/>
          <p:cNvSpPr/>
          <p:nvPr/>
        </p:nvSpPr>
        <p:spPr>
          <a:xfrm>
            <a:off x="548640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33773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1967723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1982273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52022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865376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723"/>
          <p:cNvSpPr txBox="1"/>
          <p:nvPr/>
        </p:nvSpPr>
        <p:spPr>
          <a:xfrm>
            <a:off x="731520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24" name="bld1_724"/>
          <p:cNvSpPr txBox="1"/>
          <p:nvPr/>
        </p:nvSpPr>
        <p:spPr>
          <a:xfrm>
            <a:off x="731520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volatile top notes</a:t>
            </a:r>
            <a:endParaRPr lang="en-US" sz="1080" dirty="0"/>
          </a:p>
        </p:txBody>
      </p:sp>
      <p:sp>
        <p:nvSpPr>
          <p:cNvPr id="25" name="bld2_725"/>
          <p:cNvSpPr/>
          <p:nvPr/>
        </p:nvSpPr>
        <p:spPr>
          <a:xfrm>
            <a:off x="3386252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4616417" y="193183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4320000">
            <a:off x="4727811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640000">
            <a:off x="4685262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2960000">
            <a:off x="4547571" y="2143718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7280000">
            <a:off x="4505023" y="2012766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618842" y="2118072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3" name="Shape 31"/>
          <p:cNvSpPr/>
          <p:nvPr/>
        </p:nvSpPr>
        <p:spPr>
          <a:xfrm>
            <a:off x="4366146" y="1865376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4" name="bld2_727"/>
          <p:cNvSpPr txBox="1"/>
          <p:nvPr/>
        </p:nvSpPr>
        <p:spPr>
          <a:xfrm>
            <a:off x="3569132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35" name="bld2_728"/>
          <p:cNvSpPr txBox="1"/>
          <p:nvPr/>
        </p:nvSpPr>
        <p:spPr>
          <a:xfrm>
            <a:off x="3569132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most formulas</a:t>
            </a:r>
            <a:endParaRPr lang="en-US" sz="1080" dirty="0"/>
          </a:p>
        </p:txBody>
      </p:sp>
      <p:sp>
        <p:nvSpPr>
          <p:cNvPr id="36" name="bld3_729"/>
          <p:cNvSpPr/>
          <p:nvPr/>
        </p:nvSpPr>
        <p:spPr>
          <a:xfrm>
            <a:off x="6223864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8" name="Shape 36"/>
          <p:cNvSpPr/>
          <p:nvPr/>
        </p:nvSpPr>
        <p:spPr>
          <a:xfrm rot="15300000">
            <a:off x="7350455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3050000">
            <a:off x="7395926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0800000">
            <a:off x="7473429" y="21762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550000">
            <a:off x="7550931" y="2149963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6300000">
            <a:off x="7596403" y="208191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03758" y="1865376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4" name="bld3_731"/>
          <p:cNvSpPr txBox="1"/>
          <p:nvPr/>
        </p:nvSpPr>
        <p:spPr>
          <a:xfrm>
            <a:off x="6406744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45" name="bld3_732"/>
          <p:cNvSpPr txBox="1"/>
          <p:nvPr/>
        </p:nvSpPr>
        <p:spPr>
          <a:xfrm>
            <a:off x="6406744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leafy, unripe</a:t>
            </a:r>
            <a:endParaRPr lang="en-US" sz="1080" dirty="0"/>
          </a:p>
        </p:txBody>
      </p:sp>
      <p:sp>
        <p:nvSpPr>
          <p:cNvPr id="46" name="bld4_733"/>
          <p:cNvSpPr/>
          <p:nvPr/>
        </p:nvSpPr>
        <p:spPr>
          <a:xfrm>
            <a:off x="9061475" y="1737360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53416" y="1996823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46779" y="1987123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2000000">
            <a:off x="10370553" y="1967723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41369" y="1865376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52" name="bld4_735"/>
          <p:cNvSpPr txBox="1"/>
          <p:nvPr/>
        </p:nvSpPr>
        <p:spPr>
          <a:xfrm>
            <a:off x="9244355" y="2578608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53" name="bld4_736"/>
          <p:cNvSpPr txBox="1"/>
          <p:nvPr/>
        </p:nvSpPr>
        <p:spPr>
          <a:xfrm>
            <a:off x="9244355" y="3035808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sweet, often synthetic-assisted</a:t>
            </a:r>
            <a:endParaRPr lang="en-US" sz="1080" dirty="0"/>
          </a:p>
        </p:txBody>
      </p:sp>
      <p:sp>
        <p:nvSpPr>
          <p:cNvPr id="54" name="bld5_737"/>
          <p:cNvSpPr/>
          <p:nvPr/>
        </p:nvSpPr>
        <p:spPr>
          <a:xfrm>
            <a:off x="548640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6" name="Shape 54"/>
          <p:cNvSpPr/>
          <p:nvPr/>
        </p:nvSpPr>
        <p:spPr>
          <a:xfrm>
            <a:off x="1596931" y="3573597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677764" y="3654430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8" name="Shape 56"/>
          <p:cNvSpPr/>
          <p:nvPr/>
        </p:nvSpPr>
        <p:spPr>
          <a:xfrm>
            <a:off x="1758597" y="3735263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810330" y="3786996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60" name="Shape 58"/>
          <p:cNvSpPr/>
          <p:nvPr/>
        </p:nvSpPr>
        <p:spPr>
          <a:xfrm>
            <a:off x="1528534" y="3505200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1" name="bld5_739"/>
          <p:cNvSpPr txBox="1"/>
          <p:nvPr/>
        </p:nvSpPr>
        <p:spPr>
          <a:xfrm>
            <a:off x="731520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62" name="bld5_740"/>
          <p:cNvSpPr txBox="1"/>
          <p:nvPr/>
        </p:nvSpPr>
        <p:spPr>
          <a:xfrm>
            <a:off x="731520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warm structural base</a:t>
            </a:r>
            <a:endParaRPr lang="en-US" sz="1080" dirty="0"/>
          </a:p>
        </p:txBody>
      </p:sp>
      <p:sp>
        <p:nvSpPr>
          <p:cNvPr id="63" name="bld6_741"/>
          <p:cNvSpPr/>
          <p:nvPr/>
        </p:nvSpPr>
        <p:spPr>
          <a:xfrm>
            <a:off x="3386252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65" name="Shape 63"/>
          <p:cNvSpPr/>
          <p:nvPr/>
        </p:nvSpPr>
        <p:spPr>
          <a:xfrm rot="9000000">
            <a:off x="4555792" y="3704547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6000000">
            <a:off x="4492743" y="3675447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1400000">
            <a:off x="4691592" y="3646347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366146" y="3505200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9" name="bld6_743"/>
          <p:cNvSpPr txBox="1"/>
          <p:nvPr/>
        </p:nvSpPr>
        <p:spPr>
          <a:xfrm>
            <a:off x="3569132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70" name="bld6_744"/>
          <p:cNvSpPr txBox="1"/>
          <p:nvPr/>
        </p:nvSpPr>
        <p:spPr>
          <a:xfrm>
            <a:off x="3569132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warm, enveloping</a:t>
            </a:r>
            <a:endParaRPr lang="en-US" sz="1080" dirty="0"/>
          </a:p>
        </p:txBody>
      </p:sp>
      <p:sp>
        <p:nvSpPr>
          <p:cNvPr id="71" name="bld7_745"/>
          <p:cNvSpPr/>
          <p:nvPr/>
        </p:nvSpPr>
        <p:spPr>
          <a:xfrm>
            <a:off x="6223864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3" name="Shape 71"/>
          <p:cNvSpPr/>
          <p:nvPr/>
        </p:nvSpPr>
        <p:spPr>
          <a:xfrm>
            <a:off x="7291555" y="3665747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203758" y="3505200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75" name="bld7_747"/>
          <p:cNvSpPr txBox="1"/>
          <p:nvPr/>
        </p:nvSpPr>
        <p:spPr>
          <a:xfrm>
            <a:off x="6406744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76" name="bld7_748"/>
          <p:cNvSpPr txBox="1"/>
          <p:nvPr/>
        </p:nvSpPr>
        <p:spPr>
          <a:xfrm>
            <a:off x="6406744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Skin-like, radiant, soft</a:t>
            </a:r>
            <a:endParaRPr lang="en-US" sz="1080" dirty="0"/>
          </a:p>
        </p:txBody>
      </p:sp>
      <p:sp>
        <p:nvSpPr>
          <p:cNvPr id="77" name="bld8_749"/>
          <p:cNvSpPr/>
          <p:nvPr/>
        </p:nvSpPr>
        <p:spPr>
          <a:xfrm>
            <a:off x="9061475" y="3377184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79" name="Shape 77"/>
          <p:cNvSpPr/>
          <p:nvPr/>
        </p:nvSpPr>
        <p:spPr>
          <a:xfrm rot="840000">
            <a:off x="10294066" y="3585722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840000">
            <a:off x="10346779" y="3641497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297703" y="365483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2" name="Shape 80"/>
          <p:cNvSpPr/>
          <p:nvPr/>
        </p:nvSpPr>
        <p:spPr>
          <a:xfrm>
            <a:off x="10315163" y="371497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3" name="Shape 81"/>
          <p:cNvSpPr/>
          <p:nvPr/>
        </p:nvSpPr>
        <p:spPr>
          <a:xfrm>
            <a:off x="10332623" y="3775114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4" name="Shape 82"/>
          <p:cNvSpPr/>
          <p:nvPr/>
        </p:nvSpPr>
        <p:spPr>
          <a:xfrm>
            <a:off x="10350083" y="383525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5" name="Shape 83"/>
          <p:cNvSpPr/>
          <p:nvPr/>
        </p:nvSpPr>
        <p:spPr>
          <a:xfrm>
            <a:off x="10367543" y="389539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85003" y="3955533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7" name="Shape 85"/>
          <p:cNvSpPr/>
          <p:nvPr/>
        </p:nvSpPr>
        <p:spPr>
          <a:xfrm>
            <a:off x="10041369" y="3505200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88" name="bld8_751"/>
          <p:cNvSpPr txBox="1"/>
          <p:nvPr/>
        </p:nvSpPr>
        <p:spPr>
          <a:xfrm>
            <a:off x="9244355" y="4218432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89" name="bld8_752"/>
          <p:cNvSpPr txBox="1"/>
          <p:nvPr/>
        </p:nvSpPr>
        <p:spPr>
          <a:xfrm>
            <a:off x="9244355" y="4675632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Edible, sweet, comforting</a:t>
            </a:r>
            <a:endParaRPr lang="en-US" sz="1080" dirty="0"/>
          </a:p>
        </p:txBody>
      </p:sp>
      <p:sp>
        <p:nvSpPr>
          <p:cNvPr id="90" name="bld9_753"/>
          <p:cNvSpPr/>
          <p:nvPr/>
        </p:nvSpPr>
        <p:spPr>
          <a:xfrm>
            <a:off x="548640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2" name="Shape 90"/>
          <p:cNvSpPr/>
          <p:nvPr/>
        </p:nvSpPr>
        <p:spPr>
          <a:xfrm rot="9000000">
            <a:off x="1718180" y="5344371"/>
            <a:ext cx="281299" cy="28129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6000000">
            <a:off x="1655131" y="5315271"/>
            <a:ext cx="174599" cy="174599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11400000">
            <a:off x="1853980" y="5286171"/>
            <a:ext cx="145499" cy="145499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1528534" y="5145024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96" name="bld9_755"/>
          <p:cNvSpPr txBox="1"/>
          <p:nvPr/>
        </p:nvSpPr>
        <p:spPr>
          <a:xfrm>
            <a:off x="731520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Spicy</a:t>
            </a:r>
            <a:endParaRPr lang="en-US" sz="1450" dirty="0"/>
          </a:p>
        </p:txBody>
      </p:sp>
      <p:sp>
        <p:nvSpPr>
          <p:cNvPr id="97" name="bld9_756"/>
          <p:cNvSpPr txBox="1"/>
          <p:nvPr/>
        </p:nvSpPr>
        <p:spPr>
          <a:xfrm>
            <a:off x="731520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sharp, piquant</a:t>
            </a:r>
            <a:endParaRPr lang="en-US" sz="1080" dirty="0"/>
          </a:p>
        </p:txBody>
      </p:sp>
      <p:sp>
        <p:nvSpPr>
          <p:cNvPr id="98" name="bld10_757"/>
          <p:cNvSpPr/>
          <p:nvPr/>
        </p:nvSpPr>
        <p:spPr>
          <a:xfrm>
            <a:off x="3386252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100" name="Shape 98"/>
          <p:cNvSpPr/>
          <p:nvPr/>
        </p:nvSpPr>
        <p:spPr>
          <a:xfrm>
            <a:off x="4640667" y="5295289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2700000">
            <a:off x="4692520" y="5316767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5400000">
            <a:off x="4713999" y="536862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8100000">
            <a:off x="4692520" y="5420474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10800000">
            <a:off x="4640667" y="5441952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13500000">
            <a:off x="4588814" y="5420474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6200000">
            <a:off x="4567335" y="536862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8900000">
            <a:off x="4588814" y="5316767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4638242" y="5417120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109" name="Shape 107"/>
          <p:cNvSpPr/>
          <p:nvPr/>
        </p:nvSpPr>
        <p:spPr>
          <a:xfrm>
            <a:off x="4366146" y="5145024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110" name="bld10_759"/>
          <p:cNvSpPr txBox="1"/>
          <p:nvPr/>
        </p:nvSpPr>
        <p:spPr>
          <a:xfrm>
            <a:off x="3569132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Aromatic</a:t>
            </a:r>
            <a:endParaRPr lang="en-US" sz="1450" dirty="0"/>
          </a:p>
        </p:txBody>
      </p:sp>
      <p:sp>
        <p:nvSpPr>
          <p:cNvPr id="111" name="bld10_760"/>
          <p:cNvSpPr txBox="1"/>
          <p:nvPr/>
        </p:nvSpPr>
        <p:spPr>
          <a:xfrm>
            <a:off x="3569132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Herbal, medicinal, fresh</a:t>
            </a:r>
            <a:endParaRPr lang="en-US" sz="1080" dirty="0"/>
          </a:p>
        </p:txBody>
      </p:sp>
      <p:sp>
        <p:nvSpPr>
          <p:cNvPr id="112" name="bld11_761"/>
          <p:cNvSpPr/>
          <p:nvPr/>
        </p:nvSpPr>
        <p:spPr>
          <a:xfrm>
            <a:off x="6223864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272155" y="5213421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7334045" y="5334671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7309021" y="541550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7309021" y="5496336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8" name="Shape 116"/>
          <p:cNvSpPr/>
          <p:nvPr/>
        </p:nvSpPr>
        <p:spPr>
          <a:xfrm>
            <a:off x="7334045" y="5577169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9" name="Shape 117"/>
          <p:cNvSpPr/>
          <p:nvPr/>
        </p:nvSpPr>
        <p:spPr>
          <a:xfrm>
            <a:off x="7203758" y="5145024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20" name="bld11_763"/>
          <p:cNvSpPr txBox="1"/>
          <p:nvPr/>
        </p:nvSpPr>
        <p:spPr>
          <a:xfrm>
            <a:off x="6406744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121" name="bld11_764"/>
          <p:cNvSpPr txBox="1"/>
          <p:nvPr/>
        </p:nvSpPr>
        <p:spPr>
          <a:xfrm>
            <a:off x="6406744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animalic, dry</a:t>
            </a:r>
            <a:endParaRPr lang="en-US" sz="1080" dirty="0"/>
          </a:p>
        </p:txBody>
      </p:sp>
      <p:sp>
        <p:nvSpPr>
          <p:cNvPr id="122" name="bld12_765"/>
          <p:cNvSpPr/>
          <p:nvPr/>
        </p:nvSpPr>
        <p:spPr>
          <a:xfrm>
            <a:off x="9061475" y="5017008"/>
            <a:ext cx="2581580" cy="1383792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0109766" y="5213421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0163116" y="5453495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163116" y="5392870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0163116" y="5324971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41369" y="5145024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29" name="bld12_767"/>
          <p:cNvSpPr txBox="1"/>
          <p:nvPr/>
        </p:nvSpPr>
        <p:spPr>
          <a:xfrm>
            <a:off x="9244355" y="5858256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/ fresh</a:t>
            </a:r>
            <a:endParaRPr lang="en-US" sz="1450" dirty="0"/>
          </a:p>
        </p:txBody>
      </p:sp>
      <p:sp>
        <p:nvSpPr>
          <p:cNvPr id="130" name="bld12_768"/>
          <p:cNvSpPr txBox="1"/>
          <p:nvPr/>
        </p:nvSpPr>
        <p:spPr>
          <a:xfrm>
            <a:off x="9244355" y="6315456"/>
            <a:ext cx="2215820" cy="-24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clean, airy</a:t>
            </a:r>
            <a:endParaRPr lang="en-US" sz="1080" dirty="0"/>
          </a:p>
        </p:txBody>
      </p:sp>
      <p:sp>
        <p:nvSpPr>
          <p:cNvPr id="132" name="trans_fade_5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3" name="Text 1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34" name="Text 1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9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4" grpId="0"/>
      <p:bldP spid="35" grpId="0"/>
      <p:bldP spid="36" grpId="0"/>
      <p:bldP spid="44" grpId="0"/>
      <p:bldP spid="45" grpId="0"/>
      <p:bldP spid="46" grpId="0"/>
      <p:bldP spid="52" grpId="0"/>
      <p:bldP spid="53" grpId="0"/>
      <p:bldP spid="54" grpId="0"/>
      <p:bldP spid="61" grpId="0"/>
      <p:bldP spid="62" grpId="0"/>
      <p:bldP spid="63" grpId="0"/>
      <p:bldP spid="69" grpId="0"/>
      <p:bldP spid="70" grpId="0"/>
      <p:bldP spid="71" grpId="0"/>
      <p:bldP spid="75" grpId="0"/>
      <p:bldP spid="76" grpId="0"/>
      <p:bldP spid="77" grpId="0"/>
      <p:bldP spid="88" grpId="0"/>
      <p:bldP spid="89" grpId="0"/>
      <p:bldP spid="90" grpId="0"/>
      <p:bldP spid="96" grpId="0"/>
      <p:bldP spid="97" grpId="0"/>
      <p:bldP spid="98" grpId="0"/>
      <p:bldP spid="110" grpId="0"/>
      <p:bldP spid="111" grpId="0"/>
      <p:bldP spid="112" grpId="0"/>
      <p:bldP spid="120" grpId="0"/>
      <p:bldP spid="121" grpId="0"/>
      <p:bldP spid="122" grpId="0"/>
      <p:bldP spid="129" grpId="0"/>
      <p:bldP spid="13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 — how long a material lasts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769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9" name="bld1_770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0" name="bld1_771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</a:t>
            </a:r>
            <a:endParaRPr lang="en-US" sz="1200" dirty="0"/>
          </a:p>
        </p:txBody>
      </p:sp>
      <p:sp>
        <p:nvSpPr>
          <p:cNvPr id="11" name="bld1_772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light greens — gone in under 2 hours</a:t>
            </a:r>
            <a:endParaRPr lang="en-US" sz="1050" dirty="0"/>
          </a:p>
        </p:txBody>
      </p:sp>
      <p:sp>
        <p:nvSpPr>
          <p:cNvPr id="12" name="bld2_773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3" name="bld2_774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14" name="bld2_775"/>
          <p:cNvSpPr txBox="1"/>
          <p:nvPr/>
        </p:nvSpPr>
        <p:spPr>
          <a:xfrm>
            <a:off x="5318608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Medium-lived</a:t>
            </a:r>
            <a:endParaRPr lang="en-US" sz="1200" dirty="0"/>
          </a:p>
        </p:txBody>
      </p:sp>
      <p:sp>
        <p:nvSpPr>
          <p:cNvPr id="15" name="bld2_776"/>
          <p:cNvSpPr txBox="1"/>
          <p:nvPr/>
        </p:nvSpPr>
        <p:spPr>
          <a:xfrm>
            <a:off x="5318608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florals, spices — present for several hours</a:t>
            </a:r>
            <a:endParaRPr lang="en-US" sz="1050" dirty="0"/>
          </a:p>
        </p:txBody>
      </p:sp>
      <p:sp>
        <p:nvSpPr>
          <p:cNvPr id="16" name="bld3_777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3_778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bld3_779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Long-lasting</a:t>
            </a:r>
            <a:endParaRPr lang="en-US" sz="1200" dirty="0"/>
          </a:p>
        </p:txBody>
      </p:sp>
      <p:sp>
        <p:nvSpPr>
          <p:cNvPr id="19" name="bld3_780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Woods, resins, musks — detectable a day or more later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 is a spectrum, not three fixed boxes — most materials sit between these markers.</a:t>
            </a:r>
            <a:endParaRPr lang="en-US" sz="1250" dirty="0"/>
          </a:p>
        </p:txBody>
      </p:sp>
      <p:sp>
        <p:nvSpPr>
          <p:cNvPr id="22" name="trans_push_l_5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BEHAVIOUR, PRECISELY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is not the same as tenacity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7576" y="4449674"/>
            <a:ext cx="1415778" cy="1415778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0614" y="5002713"/>
            <a:ext cx="309701" cy="309701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781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782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783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up close</a:t>
            </a:r>
            <a:endParaRPr lang="en-US" sz="1450" dirty="0"/>
          </a:p>
        </p:txBody>
      </p:sp>
      <p:sp>
        <p:nvSpPr>
          <p:cNvPr id="17" name="bld1_784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only right at the skin or strip — low projection, an "intimate" material.</a:t>
            </a:r>
            <a:endParaRPr lang="en-US" sz="1080" dirty="0"/>
          </a:p>
        </p:txBody>
      </p:sp>
      <p:sp>
        <p:nvSpPr>
          <p:cNvPr id="18" name="bld2_785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786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2_787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Projection</a:t>
            </a:r>
            <a:endParaRPr lang="en-US" sz="1450" dirty="0"/>
          </a:p>
        </p:txBody>
      </p:sp>
      <p:sp>
        <p:nvSpPr>
          <p:cNvPr id="21" name="bld2_788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a material's smell carries into the surrounding space beyond the skin.</a:t>
            </a:r>
            <a:endParaRPr lang="en-US" sz="1080" dirty="0"/>
          </a:p>
        </p:txBody>
      </p:sp>
      <p:sp>
        <p:nvSpPr>
          <p:cNvPr id="22" name="bld3_789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790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3_791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</a:t>
            </a:r>
            <a:endParaRPr lang="en-US" sz="1450" dirty="0"/>
          </a:p>
        </p:txBody>
      </p:sp>
      <p:sp>
        <p:nvSpPr>
          <p:cNvPr id="25" name="bld3_792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easily and quickly a smell spreads and fills a room from a small amount.</a:t>
            </a:r>
            <a:endParaRPr lang="en-US" sz="1080" dirty="0"/>
          </a:p>
        </p:txBody>
      </p:sp>
      <p:sp>
        <p:nvSpPr>
          <p:cNvPr id="26" name="bld4_793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4_794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4_795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Tenacity</a:t>
            </a:r>
            <a:endParaRPr lang="en-US" sz="1450" dirty="0"/>
          </a:p>
        </p:txBody>
      </p:sp>
      <p:sp>
        <p:nvSpPr>
          <p:cNvPr id="29" name="bld4_796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material remains detectable at all, regardless of how strong it is.</a:t>
            </a:r>
            <a:endParaRPr lang="en-US" sz="1080" dirty="0"/>
          </a:p>
        </p:txBody>
      </p:sp>
      <p:sp>
        <p:nvSpPr>
          <p:cNvPr id="31" name="trans_fade_5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OF THE PUZZLE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weight and volatility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molecule diagram tells you a starting hypothesis — your nose confirms it.</a:t>
            </a:r>
            <a:endParaRPr lang="en-US" sz="1050" dirty="0"/>
          </a:p>
        </p:txBody>
      </p:sp>
      <p:sp>
        <p:nvSpPr>
          <p:cNvPr id="24" name="bld1_79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79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Lighter molecules tend to evaporate faster</a:t>
            </a:r>
            <a:endParaRPr lang="en-US" sz="1650" dirty="0"/>
          </a:p>
        </p:txBody>
      </p:sp>
      <p:sp>
        <p:nvSpPr>
          <p:cNvPr id="26" name="bld1_79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light molecules generally move into the air more readily — this is part of why citrus notes read first.</a:t>
            </a:r>
            <a:endParaRPr lang="en-US" sz="1250" dirty="0"/>
          </a:p>
        </p:txBody>
      </p:sp>
      <p:sp>
        <p:nvSpPr>
          <p:cNvPr id="27" name="bld2_80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8" name="bld2_80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it's not the only factor</a:t>
            </a:r>
            <a:endParaRPr lang="en-US" sz="1650" dirty="0"/>
          </a:p>
        </p:txBody>
      </p:sp>
      <p:sp>
        <p:nvSpPr>
          <p:cNvPr id="29" name="bld2_80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Polarity, vapour pressure, and how a material binds to skin or fabric all matter just as much.</a:t>
            </a:r>
            <a:endParaRPr lang="en-US" sz="1250" dirty="0"/>
          </a:p>
        </p:txBody>
      </p:sp>
      <p:sp>
        <p:nvSpPr>
          <p:cNvPr id="30" name="bld3_80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80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it as a rough guide, not a rule</a:t>
            </a:r>
            <a:endParaRPr lang="en-US" sz="1650" dirty="0"/>
          </a:p>
        </p:txBody>
      </p:sp>
      <p:sp>
        <p:nvSpPr>
          <p:cNvPr id="32" name="bld3_80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heavier molecules are surprisingly diffusive; some light ones are surprisingly tenacious. Always confirm by smelling.</a:t>
            </a:r>
            <a:endParaRPr lang="en-US" sz="1250" dirty="0"/>
          </a:p>
        </p:txBody>
      </p:sp>
      <p:sp>
        <p:nvSpPr>
          <p:cNvPr id="34" name="trans_fade_5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EXTRACTION METHODS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naturals are made the same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20402" y="4717807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891337" y="4914653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787849" y="5233156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452955" y="5233156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349467" y="4914653"/>
            <a:ext cx="294905" cy="619300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626300" y="5170781"/>
            <a:ext cx="283108" cy="2831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806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6" name="Shape 14"/>
          <p:cNvSpPr/>
          <p:nvPr/>
        </p:nvSpPr>
        <p:spPr>
          <a:xfrm rot="8100000">
            <a:off x="1413022" y="2611526"/>
            <a:ext cx="285293" cy="2852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8" name="bld1_808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oils</a:t>
            </a:r>
            <a:endParaRPr lang="en-US" sz="1450" dirty="0"/>
          </a:p>
        </p:txBody>
      </p:sp>
      <p:sp>
        <p:nvSpPr>
          <p:cNvPr id="19" name="bld1_809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Steam-distilled or cold-expressed — direct, classic extraction.</a:t>
            </a:r>
            <a:endParaRPr lang="en-US" sz="1080" dirty="0"/>
          </a:p>
        </p:txBody>
      </p:sp>
      <p:sp>
        <p:nvSpPr>
          <p:cNvPr id="20" name="bld2_810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54435" y="2466598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4320000">
            <a:off x="3885487" y="2561813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640000">
            <a:off x="3835430" y="2715874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2960000">
            <a:off x="3673440" y="2715874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7280000">
            <a:off x="3623383" y="2561813"/>
            <a:ext cx="142646" cy="29955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757288" y="2685703"/>
            <a:ext cx="136941" cy="13694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9" name="bld2_812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Absolutes</a:t>
            </a:r>
            <a:endParaRPr lang="en-US" sz="1450" dirty="0"/>
          </a:p>
        </p:txBody>
      </p:sp>
      <p:sp>
        <p:nvSpPr>
          <p:cNvPr id="30" name="bld2_813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Solvent-extracted — richer, truer to the living flower, more expensive.</a:t>
            </a:r>
            <a:endParaRPr lang="en-US" sz="1080" dirty="0"/>
          </a:p>
        </p:txBody>
      </p:sp>
      <p:sp>
        <p:nvSpPr>
          <p:cNvPr id="31" name="bld3_814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3" name="Shape 31"/>
          <p:cNvSpPr/>
          <p:nvPr/>
        </p:nvSpPr>
        <p:spPr>
          <a:xfrm>
            <a:off x="5810555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7331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87331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87331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8" name="bld3_816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CO2 extracts</a:t>
            </a:r>
            <a:endParaRPr lang="en-US" sz="1450" dirty="0"/>
          </a:p>
        </p:txBody>
      </p:sp>
      <p:sp>
        <p:nvSpPr>
          <p:cNvPr id="39" name="bld3_817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under pressure — very clean, often closest to the raw material.</a:t>
            </a:r>
            <a:endParaRPr lang="en-US" sz="1080" dirty="0"/>
          </a:p>
        </p:txBody>
      </p:sp>
      <p:sp>
        <p:nvSpPr>
          <p:cNvPr id="40" name="bld4_818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 rot="9000000">
            <a:off x="8223291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6000000">
            <a:off x="8149115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1400000">
            <a:off x="8383055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6" name="bld4_820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Resinoids</a:t>
            </a:r>
            <a:endParaRPr lang="en-US" sz="1450" dirty="0"/>
          </a:p>
        </p:txBody>
      </p:sp>
      <p:sp>
        <p:nvSpPr>
          <p:cNvPr id="47" name="bld4_821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gums and resins — deep, warm, amber-adjacent.</a:t>
            </a:r>
            <a:endParaRPr lang="en-US" sz="1080" dirty="0"/>
          </a:p>
        </p:txBody>
      </p:sp>
      <p:sp>
        <p:nvSpPr>
          <p:cNvPr id="48" name="bld5_822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06630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610464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44733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581309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5" name="bld5_824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Tinctures</a:t>
            </a:r>
            <a:endParaRPr lang="en-US" sz="1450" dirty="0"/>
          </a:p>
        </p:txBody>
      </p:sp>
      <p:sp>
        <p:nvSpPr>
          <p:cNvPr id="56" name="bld5_825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steeped directly in alcohol — simple, traditional, variable.</a:t>
            </a:r>
            <a:endParaRPr lang="en-US" sz="1080" dirty="0"/>
          </a:p>
        </p:txBody>
      </p:sp>
      <p:sp>
        <p:nvSpPr>
          <p:cNvPr id="58" name="trans_fade_5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9" name="Text 5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29" grpId="0"/>
      <p:bldP spid="30" grpId="0"/>
      <p:bldP spid="31" grpId="0"/>
      <p:bldP spid="38" grpId="0"/>
      <p:bldP spid="39" grpId="0"/>
      <p:bldP spid="40" grpId="0"/>
      <p:bldP spid="46" grpId="0"/>
      <p:bldP spid="47" grpId="0"/>
      <p:bldP spid="48" grpId="0"/>
      <p:bldP spid="55" grpId="0"/>
      <p:bldP spid="5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1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Citrus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F0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78434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16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432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648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296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512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728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9440000">
            <a:off x="1713047" y="3586835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86219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4" name="bld1_827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26" name="Shape 24"/>
          <p:cNvSpPr/>
          <p:nvPr/>
        </p:nvSpPr>
        <p:spPr>
          <a:xfrm>
            <a:off x="2865793" y="3668974"/>
            <a:ext cx="1232942" cy="1232942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52099" y="3755280"/>
            <a:ext cx="1060331" cy="106033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8" name="Shape 26"/>
          <p:cNvSpPr/>
          <p:nvPr/>
        </p:nvSpPr>
        <p:spPr>
          <a:xfrm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16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432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648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864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080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296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512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9440000">
            <a:off x="3451440" y="3792268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420617" y="4223798"/>
            <a:ext cx="123294" cy="12329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9" name="Shape 37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0" name="bld2_829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2" name="Shape 40"/>
          <p:cNvSpPr/>
          <p:nvPr/>
        </p:nvSpPr>
        <p:spPr>
          <a:xfrm>
            <a:off x="4688095" y="3479523"/>
            <a:ext cx="1073117" cy="1073117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3213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216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432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648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864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080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296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512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728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9440000">
            <a:off x="5197825" y="3586835"/>
            <a:ext cx="53656" cy="418515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170997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5" name="Shape 5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6" name="bld3_831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58" name="Shape 56"/>
          <p:cNvSpPr/>
          <p:nvPr/>
        </p:nvSpPr>
        <p:spPr>
          <a:xfrm>
            <a:off x="6430484" y="3748887"/>
            <a:ext cx="1073117" cy="1073117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505602" y="3824005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0" name="Shape 58"/>
          <p:cNvSpPr/>
          <p:nvPr/>
        </p:nvSpPr>
        <p:spPr>
          <a:xfrm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216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432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648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864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080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1296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512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1728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19440000">
            <a:off x="6940214" y="3856199"/>
            <a:ext cx="53656" cy="41851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6913386" y="4231789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1" name="Shape 6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72" name="bld4_833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Orange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74" name="Shape 72"/>
          <p:cNvSpPr/>
          <p:nvPr/>
        </p:nvSpPr>
        <p:spPr>
          <a:xfrm>
            <a:off x="8092960" y="3399610"/>
            <a:ext cx="1232942" cy="1232942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8179266" y="3485916"/>
            <a:ext cx="1060331" cy="106033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6" name="Shape 74"/>
          <p:cNvSpPr/>
          <p:nvPr/>
        </p:nvSpPr>
        <p:spPr>
          <a:xfrm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216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 rot="432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 rot="648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 rot="864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1080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1296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1512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1728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19440000">
            <a:off x="8678608" y="3522904"/>
            <a:ext cx="61647" cy="48084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647784" y="3954434"/>
            <a:ext cx="123294" cy="12329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87" name="Shape 8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88" name="bld5_835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Mandarin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0" name="Shape 88"/>
          <p:cNvSpPr/>
          <p:nvPr/>
        </p:nvSpPr>
        <p:spPr>
          <a:xfrm>
            <a:off x="9915262" y="3748887"/>
            <a:ext cx="1073117" cy="1073117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9990380" y="3824005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216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 rot="432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 rot="648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 rot="864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 rot="1080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 rot="1296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 rot="1512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 rot="1728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19440000">
            <a:off x="10424993" y="3856199"/>
            <a:ext cx="53656" cy="418515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98165" y="4231789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04" name="bld6_837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6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350" dirty="0"/>
          </a:p>
        </p:txBody>
      </p:sp>
      <p:sp>
        <p:nvSpPr>
          <p:cNvPr id="106" name="trans_fade_5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7" name="Text 10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108" name="Text 10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40" grpId="0"/>
      <p:bldP spid="56" grpId="0"/>
      <p:bldP spid="72" grpId="0"/>
      <p:bldP spid="88" grpId="0"/>
      <p:bldP spid="10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CITRUS,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citrus oils — not one smell</a:t>
            </a:r>
            <a:endParaRPr lang="en-US" sz="3200" dirty="0"/>
          </a:p>
        </p:txBody>
      </p:sp>
      <p:sp>
        <p:nvSpPr>
          <p:cNvPr id="7" name="bld1_838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30881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827305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815180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840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450" dirty="0"/>
          </a:p>
        </p:txBody>
      </p:sp>
      <p:sp>
        <p:nvSpPr>
          <p:cNvPr id="24" name="bld1_841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elegant, floral-citrus, slightly bitter. Very fast top note, gone in under 2 hours.</a:t>
            </a:r>
            <a:endParaRPr lang="en-US" sz="1080" dirty="0"/>
          </a:p>
        </p:txBody>
      </p:sp>
      <p:sp>
        <p:nvSpPr>
          <p:cNvPr id="25" name="bld2_842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543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468493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9" name="Shape 27"/>
          <p:cNvSpPr/>
          <p:nvPr/>
        </p:nvSpPr>
        <p:spPr>
          <a:xfrm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216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432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648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864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080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512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728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9440000">
            <a:off x="4664917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52792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0" name="Shape 3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1" name="bld2_844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Lemon</a:t>
            </a:r>
            <a:endParaRPr lang="en-US" sz="1450" dirty="0"/>
          </a:p>
        </p:txBody>
      </p:sp>
      <p:sp>
        <p:nvSpPr>
          <p:cNvPr id="42" name="bld2_845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sharp, sparkling and immediately recognisable. A fleeting, classic freshness lift.</a:t>
            </a:r>
            <a:endParaRPr lang="en-US" sz="1080" dirty="0"/>
          </a:p>
        </p:txBody>
      </p:sp>
      <p:sp>
        <p:nvSpPr>
          <p:cNvPr id="43" name="bld3_846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5" name="Shape 4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306104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7" name="Shape 45"/>
          <p:cNvSpPr/>
          <p:nvPr/>
        </p:nvSpPr>
        <p:spPr>
          <a:xfrm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216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432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48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864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296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512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728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9440000">
            <a:off x="7502529" y="2026530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90404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8" name="Shape 5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59" name="bld3_848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450" dirty="0"/>
          </a:p>
        </p:txBody>
      </p:sp>
      <p:sp>
        <p:nvSpPr>
          <p:cNvPr id="60" name="bld3_849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Sharper, greener and more tart than lemon. Zesty and short-lived.</a:t>
            </a:r>
            <a:endParaRPr lang="en-US" sz="1080" dirty="0"/>
          </a:p>
        </p:txBody>
      </p:sp>
      <p:sp>
        <p:nvSpPr>
          <p:cNvPr id="61" name="bld4_850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63" name="Shape 6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1437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5" name="Shape 63"/>
          <p:cNvSpPr/>
          <p:nvPr/>
        </p:nvSpPr>
        <p:spPr>
          <a:xfrm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216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432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648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864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080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296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512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728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19440000">
            <a:off x="10340140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3280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6" name="Shape 7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77" name="bld4_852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Sweet Orange</a:t>
            </a:r>
            <a:endParaRPr lang="en-US" sz="1450" dirty="0"/>
          </a:p>
        </p:txBody>
      </p:sp>
      <p:sp>
        <p:nvSpPr>
          <p:cNvPr id="78" name="bld4_853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Softer, sweeter, rounder and more juicy than lemon or lime. A warm, candy-like top note.</a:t>
            </a:r>
            <a:endParaRPr lang="en-US" sz="1080" dirty="0"/>
          </a:p>
        </p:txBody>
      </p:sp>
      <p:sp>
        <p:nvSpPr>
          <p:cNvPr id="79" name="bld5_854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81" name="Shape 79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1630881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83" name="Shape 81"/>
          <p:cNvSpPr/>
          <p:nvPr/>
        </p:nvSpPr>
        <p:spPr>
          <a:xfrm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21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43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 rot="64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86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 rot="1080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129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 rot="151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 rot="172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 rot="194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815180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94" name="Shape 9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95" name="bld5_856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Mandarin</a:t>
            </a:r>
            <a:endParaRPr lang="en-US" sz="1450" dirty="0"/>
          </a:p>
        </p:txBody>
      </p:sp>
      <p:sp>
        <p:nvSpPr>
          <p:cNvPr id="96" name="bld5_857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sweet, gentle citrus — a smoother, less acidic alternative to orange.</a:t>
            </a:r>
            <a:endParaRPr lang="en-US" sz="1080" dirty="0"/>
          </a:p>
        </p:txBody>
      </p:sp>
      <p:sp>
        <p:nvSpPr>
          <p:cNvPr id="97" name="bld6_858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9" name="Shape 97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4468493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1" name="Shape 99"/>
          <p:cNvSpPr/>
          <p:nvPr/>
        </p:nvSpPr>
        <p:spPr>
          <a:xfrm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216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432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648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864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080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296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 rot="1512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 rot="1728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 rot="19440000">
            <a:off x="4664917" y="4385682"/>
            <a:ext cx="24250" cy="18914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4652792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2" name="Shape 11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113" name="bld6_860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450" dirty="0"/>
          </a:p>
        </p:txBody>
      </p:sp>
      <p:sp>
        <p:nvSpPr>
          <p:cNvPr id="114" name="bld6_861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fresh, slightly sulphurous depending on quality — reads further into the heart than most citrus.</a:t>
            </a:r>
            <a:endParaRPr lang="en-US" sz="1080" dirty="0"/>
          </a:p>
        </p:txBody>
      </p:sp>
      <p:sp>
        <p:nvSpPr>
          <p:cNvPr id="115" name="bld7_862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6" name="Shape 11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7306104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9" name="Shape 117"/>
          <p:cNvSpPr/>
          <p:nvPr/>
        </p:nvSpPr>
        <p:spPr>
          <a:xfrm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 rot="216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 rot="432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 rot="648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 rot="864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 rot="1080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 rot="1296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 rot="1512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 rot="1728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 rot="19440000">
            <a:off x="7502529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7490404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0" name="Shape 12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131" name="bld7_864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Bitter Orange</a:t>
            </a:r>
            <a:endParaRPr lang="en-US" sz="1450" dirty="0"/>
          </a:p>
        </p:txBody>
      </p:sp>
      <p:sp>
        <p:nvSpPr>
          <p:cNvPr id="132" name="bld7_865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Drier and more tart than sweet orange, with a slightly green, peel-like edge.</a:t>
            </a:r>
            <a:endParaRPr lang="en-US" sz="1080" dirty="0"/>
          </a:p>
        </p:txBody>
      </p:sp>
      <p:sp>
        <p:nvSpPr>
          <p:cNvPr id="133" name="bld8_866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4" name="Shape 13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35" name="Shape 133"/>
          <p:cNvSpPr/>
          <p:nvPr/>
        </p:nvSpPr>
        <p:spPr>
          <a:xfrm>
            <a:off x="10109766" y="4337182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10143716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 rot="216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 rot="432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 rot="648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 rot="864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 rot="1080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 rot="1296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 rot="1512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 rot="1728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 rot="19440000">
            <a:off x="10340140" y="4385682"/>
            <a:ext cx="24250" cy="18914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328015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49" name="bld8_868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Petitgrain</a:t>
            </a:r>
            <a:endParaRPr lang="en-US" sz="1450" dirty="0"/>
          </a:p>
        </p:txBody>
      </p:sp>
      <p:sp>
        <p:nvSpPr>
          <p:cNvPr id="150" name="bld8_869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bitter, twiggy — distilled from leaves and twigs, not fruit. Longer-lived than the peel oils.</a:t>
            </a:r>
            <a:endParaRPr lang="en-US" sz="1080" dirty="0"/>
          </a:p>
        </p:txBody>
      </p:sp>
      <p:sp>
        <p:nvSpPr>
          <p:cNvPr id="152" name="trans_fade_5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3" name="Text 15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154" name="Text 15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41" grpId="0"/>
      <p:bldP spid="42" grpId="0"/>
      <p:bldP spid="43" grpId="0"/>
      <p:bldP spid="59" grpId="0"/>
      <p:bldP spid="60" grpId="0"/>
      <p:bldP spid="61" grpId="0"/>
      <p:bldP spid="77" grpId="0"/>
      <p:bldP spid="78" grpId="0"/>
      <p:bldP spid="79" grpId="0"/>
      <p:bldP spid="95" grpId="0"/>
      <p:bldP spid="96" grpId="0"/>
      <p:bldP spid="97" grpId="0"/>
      <p:bldP spid="113" grpId="0"/>
      <p:bldP spid="114" grpId="0"/>
      <p:bldP spid="115" grpId="0"/>
      <p:bldP spid="131" grpId="0"/>
      <p:bldP spid="132" grpId="0"/>
      <p:bldP spid="133" grpId="0"/>
      <p:bldP spid="149" grpId="0"/>
      <p:bldP spid="15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citrus oils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8" name="Shape 6"/>
          <p:cNvSpPr/>
          <p:nvPr/>
        </p:nvSpPr>
        <p:spPr>
          <a:xfrm>
            <a:off x="1425092" y="1694383"/>
            <a:ext cx="1640434" cy="1640434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39923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2204298" y="1858427"/>
            <a:ext cx="82022" cy="63976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3288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2" name="bld1_871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800" dirty="0"/>
          </a:p>
        </p:txBody>
      </p:sp>
      <p:sp>
        <p:nvSpPr>
          <p:cNvPr id="23" name="bld1_872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4" name="bld1_873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elegant, floral-citrus, slightly bitter</a:t>
            </a:r>
            <a:endParaRPr lang="en-US" sz="1100" dirty="0"/>
          </a:p>
        </p:txBody>
      </p:sp>
      <p:sp>
        <p:nvSpPr>
          <p:cNvPr id="25" name="bld1_874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6" name="bld1_875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fresh opening lift</a:t>
            </a:r>
            <a:endParaRPr lang="en-US" sz="1100" dirty="0"/>
          </a:p>
        </p:txBody>
      </p:sp>
      <p:sp>
        <p:nvSpPr>
          <p:cNvPr id="27" name="bld1_876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8" name="bld1_877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· fleeting · diffusive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8431" y="1694383"/>
            <a:ext cx="1640434" cy="1640434"/>
          </a:xfrm>
          <a:prstGeom prst="ellipse">
            <a:avLst/>
          </a:prstGeom>
          <a:solidFill>
            <a:srgbClr val="C9503E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33261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2" name="Shape 30"/>
          <p:cNvSpPr/>
          <p:nvPr/>
        </p:nvSpPr>
        <p:spPr>
          <a:xfrm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216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432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648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864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1080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296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512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728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9440000">
            <a:off x="5597637" y="1858427"/>
            <a:ext cx="82022" cy="639769"/>
          </a:xfrm>
          <a:prstGeom prst="ellipse">
            <a:avLst/>
          </a:prstGeom>
          <a:solidFill>
            <a:srgbClr val="EC8F72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56626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3" name="Shape 4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44" name="bld2_879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Grapefruit</a:t>
            </a:r>
            <a:endParaRPr lang="en-US" sz="1800" dirty="0"/>
          </a:p>
        </p:txBody>
      </p:sp>
      <p:sp>
        <p:nvSpPr>
          <p:cNvPr id="45" name="bld2_880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6" name="bld2_881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fresh, radiant</a:t>
            </a:r>
            <a:endParaRPr lang="en-US" sz="1100" dirty="0"/>
          </a:p>
        </p:txBody>
      </p:sp>
      <p:sp>
        <p:nvSpPr>
          <p:cNvPr id="47" name="bld2_882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8" name="bld2_883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sparkling brightness</a:t>
            </a:r>
            <a:endParaRPr lang="en-US" sz="1100" dirty="0"/>
          </a:p>
        </p:txBody>
      </p:sp>
      <p:sp>
        <p:nvSpPr>
          <p:cNvPr id="49" name="bld2_884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0" name="bld2_885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· short · diffusive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2" name="Shape 50"/>
          <p:cNvSpPr/>
          <p:nvPr/>
        </p:nvSpPr>
        <p:spPr>
          <a:xfrm>
            <a:off x="8211769" y="1694383"/>
            <a:ext cx="1640434" cy="1640434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26600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4" name="Shape 52"/>
          <p:cNvSpPr/>
          <p:nvPr/>
        </p:nvSpPr>
        <p:spPr>
          <a:xfrm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216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432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648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864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080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296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512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9440000">
            <a:off x="8990975" y="1858427"/>
            <a:ext cx="82022" cy="639769"/>
          </a:xfrm>
          <a:prstGeom prst="ellipse">
            <a:avLst/>
          </a:prstGeom>
          <a:solidFill>
            <a:srgbClr val="8FBF6B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949964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5" name="Shape 6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6" name="bld3_887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Petitgrain</a:t>
            </a:r>
            <a:endParaRPr lang="en-US" sz="1800" dirty="0"/>
          </a:p>
        </p:txBody>
      </p:sp>
      <p:sp>
        <p:nvSpPr>
          <p:cNvPr id="67" name="bld3_888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8" name="bld3_889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bitter, woody-twiggy</a:t>
            </a:r>
            <a:endParaRPr lang="en-US" sz="1100" dirty="0"/>
          </a:p>
        </p:txBody>
      </p:sp>
      <p:sp>
        <p:nvSpPr>
          <p:cNvPr id="69" name="bld3_890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70" name="bld3_891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citrus into the heart</a:t>
            </a:r>
            <a:endParaRPr lang="en-US" sz="1100" dirty="0"/>
          </a:p>
        </p:txBody>
      </p:sp>
      <p:sp>
        <p:nvSpPr>
          <p:cNvPr id="71" name="bld3_892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2" name="bld3_893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 · intimate</a:t>
            </a:r>
            <a:endParaRPr lang="en-US" sz="1100" dirty="0"/>
          </a:p>
        </p:txBody>
      </p:sp>
      <p:sp>
        <p:nvSpPr>
          <p:cNvPr id="74" name="trans_fade_5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5" name="Text 7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66" grpId="0"/>
      <p:bldP spid="67" grpId="0"/>
      <p:bldP spid="68" grpId="0"/>
      <p:bldP spid="69" grpId="0"/>
      <p:bldP spid="70" grpId="0"/>
      <p:bldP spid="71" grpId="0"/>
      <p:bldP spid="7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2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Woods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1E7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71595" y="3747802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75488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4" name="bld1_895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6" name="Shape 14"/>
          <p:cNvSpPr/>
          <p:nvPr/>
        </p:nvSpPr>
        <p:spPr>
          <a:xfrm>
            <a:off x="2865793" y="3668974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071283" y="3874465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8" name="Shape 16"/>
          <p:cNvSpPr/>
          <p:nvPr/>
        </p:nvSpPr>
        <p:spPr>
          <a:xfrm>
            <a:off x="3276773" y="4079955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08287" y="4211469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0" name="Shape 18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2_897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6610" y="3511717"/>
            <a:ext cx="236086" cy="2360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4819600" y="3629759"/>
            <a:ext cx="405053" cy="600516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920697" y="3629759"/>
            <a:ext cx="303956" cy="72782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5082305" y="3629759"/>
            <a:ext cx="142348" cy="71022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24653" y="3629759"/>
            <a:ext cx="9144" cy="788741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24653" y="3629759"/>
            <a:ext cx="142348" cy="71022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24653" y="3629759"/>
            <a:ext cx="303956" cy="72782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24653" y="3629759"/>
            <a:ext cx="405053" cy="600516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2" name="bld3_899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 rot="18900000">
            <a:off x="6634376" y="3802543"/>
            <a:ext cx="665332" cy="965805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61556" y="3963510"/>
            <a:ext cx="914" cy="590214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7" name="bld4_901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2960" y="3399610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98451" y="3605101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41" y="3810591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35455" y="3942105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3" name="Shape 4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4" name="bld5_903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Guaiacwood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9915262" y="3748887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7" name="Shape 45"/>
          <p:cNvSpPr/>
          <p:nvPr/>
        </p:nvSpPr>
        <p:spPr>
          <a:xfrm>
            <a:off x="10183541" y="4017166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87434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9" name="Shape 4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0" name="bld6_905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Amyris</a:t>
            </a:r>
            <a:endParaRPr lang="en-US" sz="1350" dirty="0"/>
          </a:p>
        </p:txBody>
      </p:sp>
      <p:sp>
        <p:nvSpPr>
          <p:cNvPr id="52" name="trans_fade_6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3" name="Text 5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1" grpId="0"/>
      <p:bldP spid="32" grpId="0"/>
      <p:bldP spid="37" grpId="0"/>
      <p:bldP spid="44" grpId="0"/>
      <p:bldP spid="5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WOODS,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base of the formula</a:t>
            </a:r>
            <a:endParaRPr lang="en-US" sz="3200" dirty="0"/>
          </a:p>
        </p:txBody>
      </p:sp>
      <p:sp>
        <p:nvSpPr>
          <p:cNvPr id="7" name="bld1_906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2069866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2191116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283265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3" name="bld1_908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450" dirty="0"/>
          </a:p>
        </p:txBody>
      </p:sp>
      <p:sp>
        <p:nvSpPr>
          <p:cNvPr id="14" name="bld1_909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smooth, warm, soft wood. Base note, very long — the gold standard for smooth woods.</a:t>
            </a:r>
            <a:endParaRPr lang="en-US" sz="1080" dirty="0"/>
          </a:p>
        </p:txBody>
      </p:sp>
      <p:sp>
        <p:nvSpPr>
          <p:cNvPr id="15" name="bld2_910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34182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15015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1" name="Shape 19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2" name="bld2_912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450" dirty="0"/>
          </a:p>
        </p:txBody>
      </p:sp>
      <p:sp>
        <p:nvSpPr>
          <p:cNvPr id="23" name="bld2_913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pencil-like, structured woodiness — character shifts with origin. Base note, long.</a:t>
            </a:r>
            <a:endParaRPr lang="en-US" sz="1080" dirty="0"/>
          </a:p>
        </p:txBody>
      </p:sp>
      <p:sp>
        <p:nvSpPr>
          <p:cNvPr id="24" name="bld3_914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6" name="Shape 24"/>
          <p:cNvSpPr/>
          <p:nvPr/>
        </p:nvSpPr>
        <p:spPr>
          <a:xfrm>
            <a:off x="9825980" y="1992580"/>
            <a:ext cx="106700" cy="106700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flipV="1">
            <a:off x="9696265" y="2045930"/>
            <a:ext cx="183065" cy="271405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9741956" y="2045930"/>
            <a:ext cx="137374" cy="32894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9814996" y="2045930"/>
            <a:ext cx="64334" cy="32099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9330" y="2045930"/>
            <a:ext cx="9144" cy="356473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9330" y="2045930"/>
            <a:ext cx="64334" cy="32099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79330" y="2045930"/>
            <a:ext cx="137374" cy="328940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9330" y="2045930"/>
            <a:ext cx="183065" cy="271405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35" name="bld3_916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450" dirty="0"/>
          </a:p>
        </p:txBody>
      </p:sp>
      <p:sp>
        <p:nvSpPr>
          <p:cNvPr id="36" name="bld3_917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Rooty, earthy, dry, smoky, grassy. Base note, very long, grounding and textured.</a:t>
            </a:r>
            <a:endParaRPr lang="en-US" sz="1080" dirty="0"/>
          </a:p>
        </p:txBody>
      </p:sp>
      <p:sp>
        <p:nvSpPr>
          <p:cNvPr id="37" name="bld4_918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 rot="18900000">
            <a:off x="2162016" y="4361432"/>
            <a:ext cx="300699" cy="436498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306879" y="4434182"/>
            <a:ext cx="914" cy="266749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42" name="bld4_920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450" dirty="0"/>
          </a:p>
        </p:txBody>
      </p:sp>
      <p:sp>
        <p:nvSpPr>
          <p:cNvPr id="43" name="bld4_921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Earthy, woody, damp, camphoraceous or clean depending on quality. Base note, extremely long.</a:t>
            </a:r>
            <a:endParaRPr lang="en-US" sz="1080" dirty="0"/>
          </a:p>
        </p:txBody>
      </p:sp>
      <p:sp>
        <p:nvSpPr>
          <p:cNvPr id="44" name="bld5_922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5853349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34182" y="4418015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6015015" y="4498848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066748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1" name="bld5_924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Guaiacwood</a:t>
            </a:r>
            <a:endParaRPr lang="en-US" sz="1450" dirty="0"/>
          </a:p>
        </p:txBody>
      </p:sp>
      <p:sp>
        <p:nvSpPr>
          <p:cNvPr id="52" name="bld5_925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sweet, woody, slightly rosy. Base note, long — an underused, characterful wood.</a:t>
            </a:r>
            <a:endParaRPr lang="en-US" sz="1080" dirty="0"/>
          </a:p>
        </p:txBody>
      </p:sp>
      <p:sp>
        <p:nvSpPr>
          <p:cNvPr id="53" name="bld6_926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5" name="Shape 53"/>
          <p:cNvSpPr/>
          <p:nvPr/>
        </p:nvSpPr>
        <p:spPr>
          <a:xfrm>
            <a:off x="9636831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6" name="Shape 54"/>
          <p:cNvSpPr/>
          <p:nvPr/>
        </p:nvSpPr>
        <p:spPr>
          <a:xfrm>
            <a:off x="9758081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850230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8" name="Shape 5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9" name="bld6_928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Amyris</a:t>
            </a:r>
            <a:endParaRPr lang="en-US" sz="1450" dirty="0"/>
          </a:p>
        </p:txBody>
      </p:sp>
      <p:sp>
        <p:nvSpPr>
          <p:cNvPr id="60" name="bld6_929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slightly oily, budget-friendly sandalwood-adjacent. Base note, long, inexpensive.</a:t>
            </a:r>
            <a:endParaRPr lang="en-US" sz="1080" dirty="0"/>
          </a:p>
        </p:txBody>
      </p:sp>
      <p:sp>
        <p:nvSpPr>
          <p:cNvPr id="62" name="trans_fade_6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3" name="Text 6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2" grpId="0"/>
      <p:bldP spid="23" grpId="0"/>
      <p:bldP spid="24" grpId="0"/>
      <p:bldP spid="35" grpId="0"/>
      <p:bldP spid="36" grpId="0"/>
      <p:bldP spid="37" grpId="0"/>
      <p:bldP spid="42" grpId="0"/>
      <p:bldP spid="43" grpId="0"/>
      <p:bldP spid="44" grpId="0"/>
      <p:bldP spid="51" grpId="0"/>
      <p:bldP spid="52" grpId="0"/>
      <p:bldP spid="53" grpId="0"/>
      <p:bldP spid="59" grpId="0"/>
      <p:bldP spid="6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woods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9" name="Shape 7"/>
          <p:cNvSpPr/>
          <p:nvPr/>
        </p:nvSpPr>
        <p:spPr>
          <a:xfrm>
            <a:off x="1384802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1" name="Shape 9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2" name="bld1_931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800" dirty="0"/>
          </a:p>
        </p:txBody>
      </p:sp>
      <p:sp>
        <p:nvSpPr>
          <p:cNvPr id="13" name="bld1_932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933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smooth, warm, soft wood</a:t>
            </a:r>
            <a:endParaRPr lang="en-US" sz="1100" dirty="0"/>
          </a:p>
        </p:txBody>
      </p:sp>
      <p:sp>
        <p:nvSpPr>
          <p:cNvPr id="15" name="bld1_934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935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Smoothness, comfort</a:t>
            </a:r>
            <a:endParaRPr lang="en-US" sz="1100" dirty="0"/>
          </a:p>
        </p:txBody>
      </p:sp>
      <p:sp>
        <p:nvSpPr>
          <p:cNvPr id="17" name="bld1_936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937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intimate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027852" y="1801723"/>
            <a:ext cx="333687" cy="333687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flipV="1">
            <a:off x="3622187" y="1968567"/>
            <a:ext cx="572509" cy="84877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765079" y="1968567"/>
            <a:ext cx="429617" cy="1028712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3993500" y="1968567"/>
            <a:ext cx="201196" cy="100384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4696" y="1968567"/>
            <a:ext cx="9144" cy="1114818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94696" y="1968567"/>
            <a:ext cx="201196" cy="100384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94696" y="1968567"/>
            <a:ext cx="429617" cy="1028712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94696" y="1968567"/>
            <a:ext cx="572509" cy="848779"/>
          </a:xfrm>
          <a:prstGeom prst="line">
            <a:avLst/>
          </a:prstGeom>
          <a:noFill/>
          <a:ln w="22225">
            <a:solidFill>
              <a:srgbClr val="8A6339">
                <a:alpha val="9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9" name="bld2_939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Vetiver</a:t>
            </a:r>
            <a:endParaRPr lang="en-US" sz="1800" dirty="0"/>
          </a:p>
        </p:txBody>
      </p:sp>
      <p:sp>
        <p:nvSpPr>
          <p:cNvPr id="30" name="bld2_940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941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Rooty, earthy, dry, smoky</a:t>
            </a:r>
            <a:endParaRPr lang="en-US" sz="1100" dirty="0"/>
          </a:p>
        </p:txBody>
      </p:sp>
      <p:sp>
        <p:nvSpPr>
          <p:cNvPr id="32" name="bld2_942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943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Grounding, texture</a:t>
            </a:r>
            <a:endParaRPr lang="en-US" sz="1100" dirty="0"/>
          </a:p>
        </p:txBody>
      </p:sp>
      <p:sp>
        <p:nvSpPr>
          <p:cNvPr id="34" name="bld2_944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945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moderate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 rot="18900000">
            <a:off x="6155204" y="1832058"/>
            <a:ext cx="940391" cy="1365083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619913" y="2059572"/>
            <a:ext cx="914" cy="83421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40" name="bld3_947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</a:t>
            </a:r>
            <a:endParaRPr lang="en-US" sz="1800" dirty="0"/>
          </a:p>
        </p:txBody>
      </p:sp>
      <p:sp>
        <p:nvSpPr>
          <p:cNvPr id="41" name="bld3_948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2" name="bld3_949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Earthy, woody, damp</a:t>
            </a:r>
            <a:endParaRPr lang="en-US" sz="1100" dirty="0"/>
          </a:p>
        </p:txBody>
      </p:sp>
      <p:sp>
        <p:nvSpPr>
          <p:cNvPr id="43" name="bld3_950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4" name="bld3_951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and grip</a:t>
            </a:r>
            <a:endParaRPr lang="en-US" sz="1100" dirty="0"/>
          </a:p>
        </p:txBody>
      </p:sp>
      <p:sp>
        <p:nvSpPr>
          <p:cNvPr id="45" name="bld3_952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6" name="bld3_953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extremely long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297724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550517" y="2009014"/>
            <a:ext cx="1011173" cy="1011173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0" name="Shape 48"/>
          <p:cNvSpPr/>
          <p:nvPr/>
        </p:nvSpPr>
        <p:spPr>
          <a:xfrm>
            <a:off x="8803310" y="2261807"/>
            <a:ext cx="505586" cy="50558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65098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3" name="bld4_955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800" dirty="0"/>
          </a:p>
        </p:txBody>
      </p:sp>
      <p:sp>
        <p:nvSpPr>
          <p:cNvPr id="54" name="bld4_956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957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pencil-like woodiness</a:t>
            </a:r>
            <a:endParaRPr lang="en-US" sz="1100" dirty="0"/>
          </a:p>
        </p:txBody>
      </p:sp>
      <p:sp>
        <p:nvSpPr>
          <p:cNvPr id="56" name="bld4_958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959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Softness, structure</a:t>
            </a:r>
            <a:endParaRPr lang="en-US" sz="1100" dirty="0"/>
          </a:p>
        </p:txBody>
      </p:sp>
      <p:sp>
        <p:nvSpPr>
          <p:cNvPr id="58" name="bld4_960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961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quiet</a:t>
            </a:r>
            <a:endParaRPr lang="en-US" sz="1100" dirty="0"/>
          </a:p>
        </p:txBody>
      </p:sp>
      <p:sp>
        <p:nvSpPr>
          <p:cNvPr id="61" name="trans_fade_6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3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Florals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AEC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" name="Shape 8"/>
          <p:cNvSpPr/>
          <p:nvPr/>
        </p:nvSpPr>
        <p:spPr>
          <a:xfrm>
            <a:off x="1605735" y="347523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1852209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1758064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1453406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1359261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11101" y="3887307"/>
            <a:ext cx="257548" cy="25754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963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9" name="Shape 17"/>
          <p:cNvSpPr/>
          <p:nvPr/>
        </p:nvSpPr>
        <p:spPr>
          <a:xfrm rot="10800000">
            <a:off x="3395958" y="3668974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4400000">
            <a:off x="3662898" y="3823092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8000000">
            <a:off x="3662898" y="4131328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395958" y="4285445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3600000">
            <a:off x="3129018" y="4131328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7200000">
            <a:off x="3129018" y="3823092"/>
            <a:ext cx="172612" cy="616471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334311" y="4137492"/>
            <a:ext cx="295906" cy="295906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6" name="Shape 24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7" name="bld2_965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9" name="Shape 27"/>
          <p:cNvSpPr/>
          <p:nvPr/>
        </p:nvSpPr>
        <p:spPr>
          <a:xfrm>
            <a:off x="5090513" y="347523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4320000">
            <a:off x="5336987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8640000">
            <a:off x="5242842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2960000">
            <a:off x="4938184" y="3944051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7280000">
            <a:off x="4844040" y="3654304"/>
            <a:ext cx="268279" cy="56338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095879" y="3887307"/>
            <a:ext cx="257548" cy="25754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5" name="Shape 3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6" name="bld3_967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8" name="Shape 36"/>
          <p:cNvSpPr/>
          <p:nvPr/>
        </p:nvSpPr>
        <p:spPr>
          <a:xfrm rot="10800000">
            <a:off x="6891924" y="374888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4400000">
            <a:off x="7124261" y="388302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18000000">
            <a:off x="7124261" y="4151306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91924" y="4285445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3600000">
            <a:off x="6659587" y="4151306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7200000">
            <a:off x="6659587" y="3883027"/>
            <a:ext cx="150236" cy="536558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838268" y="4156671"/>
            <a:ext cx="257548" cy="25754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5" name="Shape 43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6" name="bld4_969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8" name="Shape 46"/>
          <p:cNvSpPr/>
          <p:nvPr/>
        </p:nvSpPr>
        <p:spPr>
          <a:xfrm>
            <a:off x="8616961" y="360773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2700000">
            <a:off x="8748780" y="366233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5400000">
            <a:off x="8803382" y="379415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8100000">
            <a:off x="8748780" y="392597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8616961" y="3980573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3500000">
            <a:off x="8485141" y="3925971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6200000">
            <a:off x="8430540" y="379415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8900000">
            <a:off x="8485141" y="3662332"/>
            <a:ext cx="184941" cy="44385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610796" y="3917446"/>
            <a:ext cx="197271" cy="19727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7" name="Shape 5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8" name="bld5_971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Geranium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60" name="Shape 58"/>
          <p:cNvSpPr/>
          <p:nvPr/>
        </p:nvSpPr>
        <p:spPr>
          <a:xfrm>
            <a:off x="10371337" y="3930029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2700000">
            <a:off x="10486069" y="3977553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5400000">
            <a:off x="10533592" y="4092284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8100000">
            <a:off x="10486069" y="4207016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0800000">
            <a:off x="10371337" y="4254540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3500000">
            <a:off x="10256605" y="4207016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 rot="16200000">
            <a:off x="10209082" y="4092284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18900000">
            <a:off x="10256605" y="3977553"/>
            <a:ext cx="160967" cy="386322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365971" y="4199596"/>
            <a:ext cx="171699" cy="171699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69" name="Shape 6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70" name="bld6_973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Osmanthus</a:t>
            </a:r>
            <a:endParaRPr lang="en-US" sz="1350" dirty="0"/>
          </a:p>
        </p:txBody>
      </p:sp>
      <p:sp>
        <p:nvSpPr>
          <p:cNvPr id="72" name="trans_fade_6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3" name="Text 7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27" grpId="0"/>
      <p:bldP spid="36" grpId="0"/>
      <p:bldP spid="46" grpId="0"/>
      <p:bldP spid="58" grpId="0"/>
      <p:bldP spid="70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FLORALS,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heart of nearly every formula</a:t>
            </a:r>
            <a:endParaRPr lang="en-US" sz="3200" dirty="0"/>
          </a:p>
        </p:txBody>
      </p:sp>
      <p:sp>
        <p:nvSpPr>
          <p:cNvPr id="7" name="bld1_974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>
            <a:off x="1778805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4320000">
            <a:off x="1890200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1847651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2960000">
            <a:off x="1709960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7280000">
            <a:off x="1667411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81230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bld1_976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17" name="bld1_977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spicy. Heart note, medium-long, moderately diffusive — the archetypal floral.</a:t>
            </a:r>
            <a:endParaRPr lang="en-US" sz="1080" dirty="0"/>
          </a:p>
        </p:txBody>
      </p:sp>
      <p:sp>
        <p:nvSpPr>
          <p:cNvPr id="18" name="bld2_978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 rot="10800000">
            <a:off x="4643092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4400000">
            <a:off x="474809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8000000">
            <a:off x="474809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43092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3600000">
            <a:off x="453808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7200000">
            <a:off x="453808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18842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8" name="bld2_980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450" dirty="0"/>
          </a:p>
        </p:txBody>
      </p:sp>
      <p:sp>
        <p:nvSpPr>
          <p:cNvPr id="29" name="bld2_981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Indolic, heady, intensely floral with an animalic edge. Heart note, long-lasting, very diffusive in tiny amounts.</a:t>
            </a:r>
            <a:endParaRPr lang="en-US" sz="1080" dirty="0"/>
          </a:p>
        </p:txBody>
      </p:sp>
      <p:sp>
        <p:nvSpPr>
          <p:cNvPr id="30" name="bld3_982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 rot="10800000">
            <a:off x="7480704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4400000">
            <a:off x="7585709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8000000">
            <a:off x="7585709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80704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3600000">
            <a:off x="7375699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7200000">
            <a:off x="7375699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56454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9" name="Shape 37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0" name="bld3_984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450" dirty="0"/>
          </a:p>
        </p:txBody>
      </p:sp>
      <p:sp>
        <p:nvSpPr>
          <p:cNvPr id="41" name="bld3_985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banana-custard, exotic and heavy. Heart note, long, very diffusive — easy to overdose.</a:t>
            </a:r>
            <a:endParaRPr lang="en-US" sz="1080" dirty="0"/>
          </a:p>
        </p:txBody>
      </p:sp>
      <p:sp>
        <p:nvSpPr>
          <p:cNvPr id="42" name="bld4_986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4" name="Shape 42"/>
          <p:cNvSpPr/>
          <p:nvPr/>
        </p:nvSpPr>
        <p:spPr>
          <a:xfrm>
            <a:off x="10291641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4320000">
            <a:off x="10403035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8640000">
            <a:off x="10360486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2960000">
            <a:off x="10222795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7280000">
            <a:off x="10180246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294066" y="2162329"/>
            <a:ext cx="116399" cy="11639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51" name="bld4_988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450" dirty="0"/>
          </a:p>
        </p:txBody>
      </p:sp>
      <p:sp>
        <p:nvSpPr>
          <p:cNvPr id="52" name="bld4_989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Fresh, bitter-orange-blossom, faintly green. Top-heart note — lighter and fresher than orange blossom absolute.</a:t>
            </a:r>
            <a:endParaRPr lang="en-US" sz="1080" dirty="0"/>
          </a:p>
        </p:txBody>
      </p:sp>
      <p:sp>
        <p:nvSpPr>
          <p:cNvPr id="53" name="bld5_990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5" name="Shape 53"/>
          <p:cNvSpPr/>
          <p:nvPr/>
        </p:nvSpPr>
        <p:spPr>
          <a:xfrm>
            <a:off x="1778805" y="4335242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4320000">
            <a:off x="1890200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8640000">
            <a:off x="1847651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2960000">
            <a:off x="1709960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7280000">
            <a:off x="1667411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781230" y="4521481"/>
            <a:ext cx="116399" cy="11639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1" name="Shape 59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62" name="bld5_992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 Blossom</a:t>
            </a:r>
            <a:endParaRPr lang="en-US" sz="1450" dirty="0"/>
          </a:p>
        </p:txBody>
      </p:sp>
      <p:sp>
        <p:nvSpPr>
          <p:cNvPr id="63" name="bld5_993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and more indolic than neroli, from the same flower via solvent extraction. Heart note, warm and lush.</a:t>
            </a:r>
            <a:endParaRPr lang="en-US" sz="1080" dirty="0"/>
          </a:p>
        </p:txBody>
      </p:sp>
      <p:sp>
        <p:nvSpPr>
          <p:cNvPr id="64" name="bld6_994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BF0E2"/>
          </a:solidFill>
          <a:ln/>
        </p:spPr>
      </p:sp>
      <p:sp>
        <p:nvSpPr>
          <p:cNvPr id="66" name="Shape 64"/>
          <p:cNvSpPr/>
          <p:nvPr/>
        </p:nvSpPr>
        <p:spPr>
          <a:xfrm>
            <a:off x="4640667" y="4419050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 rot="2700000">
            <a:off x="4692520" y="44405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5400000">
            <a:off x="4713999" y="4492381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8100000">
            <a:off x="4692520" y="454423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0800000">
            <a:off x="4640667" y="4565713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3500000">
            <a:off x="4588814" y="4544235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6200000">
            <a:off x="4567335" y="4492381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8900000">
            <a:off x="4588814" y="4440528"/>
            <a:ext cx="72750" cy="174599"/>
          </a:xfrm>
          <a:prstGeom prst="ellipse">
            <a:avLst/>
          </a:prstGeom>
          <a:solidFill>
            <a:srgbClr val="63754A">
              <a:alpha val="9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4638242" y="4540881"/>
            <a:ext cx="77600" cy="77600"/>
          </a:xfrm>
          <a:prstGeom prst="ellipse">
            <a:avLst/>
          </a:prstGeom>
          <a:solidFill>
            <a:srgbClr val="9BAE84"/>
          </a:solidFill>
          <a:ln/>
        </p:spPr>
      </p:sp>
      <p:sp>
        <p:nvSpPr>
          <p:cNvPr id="75" name="Shape 73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63754A"/>
            </a:solidFill>
            <a:prstDash val="solid"/>
          </a:ln>
        </p:spPr>
      </p:sp>
      <p:sp>
        <p:nvSpPr>
          <p:cNvPr id="76" name="bld6_996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Lavender</a:t>
            </a:r>
            <a:endParaRPr lang="en-US" sz="1450" dirty="0"/>
          </a:p>
        </p:txBody>
      </p:sp>
      <p:sp>
        <p:nvSpPr>
          <p:cNvPr id="77" name="bld6_997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Herbal-floral, camphoraceous, clean. Top-heart, medium tenacity — the bridge between aromatic and floral.</a:t>
            </a:r>
            <a:endParaRPr lang="en-US" sz="1080" dirty="0"/>
          </a:p>
        </p:txBody>
      </p:sp>
      <p:sp>
        <p:nvSpPr>
          <p:cNvPr id="78" name="bld7_998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0" name="Shape 78"/>
          <p:cNvSpPr/>
          <p:nvPr/>
        </p:nvSpPr>
        <p:spPr>
          <a:xfrm>
            <a:off x="7478279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 rot="2700000">
            <a:off x="7530132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5400000">
            <a:off x="7551610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8100000">
            <a:off x="7530132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10800000">
            <a:off x="7478279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13500000">
            <a:off x="7426425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 rot="16200000">
            <a:off x="7404947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18900000">
            <a:off x="7426425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7475854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89" name="Shape 87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90" name="bld7_1000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Geranium</a:t>
            </a:r>
            <a:endParaRPr lang="en-US" sz="1450" dirty="0"/>
          </a:p>
        </p:txBody>
      </p:sp>
      <p:sp>
        <p:nvSpPr>
          <p:cNvPr id="91" name="bld7_1001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Rosy but sharper and greener than rose itself, minty-metallic edge. Heart note, medium — a common rose extender.</a:t>
            </a:r>
            <a:endParaRPr lang="en-US" sz="1080" dirty="0"/>
          </a:p>
        </p:txBody>
      </p:sp>
      <p:sp>
        <p:nvSpPr>
          <p:cNvPr id="92" name="bld8_1002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4" name="Shape 92"/>
          <p:cNvSpPr/>
          <p:nvPr/>
        </p:nvSpPr>
        <p:spPr>
          <a:xfrm>
            <a:off x="10315890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 rot="2700000">
            <a:off x="10367744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 rot="5400000">
            <a:off x="1038922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 rot="8100000">
            <a:off x="10367744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 rot="10800000">
            <a:off x="10315890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 rot="13500000">
            <a:off x="1026403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 rot="16200000">
            <a:off x="10242559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18900000">
            <a:off x="1026403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13465" y="4540881"/>
            <a:ext cx="77600" cy="77600"/>
          </a:xfrm>
          <a:prstGeom prst="ellipse">
            <a:avLst/>
          </a:prstGeom>
          <a:solidFill>
            <a:srgbClr val="8A5A2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04" name="bld8_1004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Osmanthus</a:t>
            </a:r>
            <a:endParaRPr lang="en-US" sz="1450" dirty="0"/>
          </a:p>
        </p:txBody>
      </p:sp>
      <p:sp>
        <p:nvSpPr>
          <p:cNvPr id="105" name="bld8_1005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Apricot-suede, tea-like, unusual. Heart note, medium-long — a distinctive, less common floral.</a:t>
            </a:r>
            <a:endParaRPr lang="en-US" sz="1080" dirty="0"/>
          </a:p>
        </p:txBody>
      </p:sp>
      <p:sp>
        <p:nvSpPr>
          <p:cNvPr id="107" name="trans_fade_6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8" name="Text 10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109" name="Text 10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8" grpId="0"/>
      <p:bldP spid="29" grpId="0"/>
      <p:bldP spid="30" grpId="0"/>
      <p:bldP spid="40" grpId="0"/>
      <p:bldP spid="41" grpId="0"/>
      <p:bldP spid="42" grpId="0"/>
      <p:bldP spid="51" grpId="0"/>
      <p:bldP spid="52" grpId="0"/>
      <p:bldP spid="53" grpId="0"/>
      <p:bldP spid="62" grpId="0"/>
      <p:bldP spid="63" grpId="0"/>
      <p:bldP spid="64" grpId="0"/>
      <p:bldP spid="76" grpId="0"/>
      <p:bldP spid="77" grpId="0"/>
      <p:bldP spid="78" grpId="0"/>
      <p:bldP spid="90" grpId="0"/>
      <p:bldP spid="91" grpId="0"/>
      <p:bldP spid="92" grpId="0"/>
      <p:bldP spid="104" grpId="0"/>
      <p:bldP spid="10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florals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1574397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922766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789701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359093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226028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81981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5" name="bld1_1007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800" dirty="0"/>
          </a:p>
        </p:txBody>
      </p:sp>
      <p:sp>
        <p:nvSpPr>
          <p:cNvPr id="16" name="bld1_1008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009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spicy</a:t>
            </a:r>
            <a:endParaRPr lang="en-US" sz="1100" dirty="0"/>
          </a:p>
        </p:txBody>
      </p:sp>
      <p:sp>
        <p:nvSpPr>
          <p:cNvPr id="18" name="bld1_1010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011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and romance</a:t>
            </a:r>
            <a:endParaRPr lang="en-US" sz="1100" dirty="0"/>
          </a:p>
        </p:txBody>
      </p:sp>
      <p:sp>
        <p:nvSpPr>
          <p:cNvPr id="20" name="bld1_1012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013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 · moderate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3" name="Shape 21"/>
          <p:cNvSpPr/>
          <p:nvPr/>
        </p:nvSpPr>
        <p:spPr>
          <a:xfrm rot="10800000">
            <a:off x="4088523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4400000">
            <a:off x="441691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8000000">
            <a:off x="441691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88523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3600000">
            <a:off x="3760135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7200000">
            <a:off x="3760135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bld2_1015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</a:t>
            </a:r>
            <a:endParaRPr lang="en-US" sz="1800" dirty="0"/>
          </a:p>
        </p:txBody>
      </p:sp>
      <p:sp>
        <p:nvSpPr>
          <p:cNvPr id="32" name="bld2_1016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3" name="bld2_1017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Indolic, heady, sensual</a:t>
            </a:r>
            <a:endParaRPr lang="en-US" sz="1100" dirty="0"/>
          </a:p>
        </p:txBody>
      </p:sp>
      <p:sp>
        <p:nvSpPr>
          <p:cNvPr id="34" name="bld2_1018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5" name="bld2_1019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Radiance, depth</a:t>
            </a:r>
            <a:endParaRPr lang="en-US" sz="1100" dirty="0"/>
          </a:p>
        </p:txBody>
      </p:sp>
      <p:sp>
        <p:nvSpPr>
          <p:cNvPr id="36" name="bld2_1020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7" name="bld2_1021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long · very diffusive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9" name="Shape 37"/>
          <p:cNvSpPr/>
          <p:nvPr/>
        </p:nvSpPr>
        <p:spPr>
          <a:xfrm>
            <a:off x="6435805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4320000">
            <a:off x="6784174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640000">
            <a:off x="6651109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2960000">
            <a:off x="6220500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7280000">
            <a:off x="6087435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43388" y="2332589"/>
            <a:ext cx="364022" cy="36402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46" name="bld3_1023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Neroli</a:t>
            </a:r>
            <a:endParaRPr lang="en-US" sz="1800" dirty="0"/>
          </a:p>
        </p:txBody>
      </p:sp>
      <p:sp>
        <p:nvSpPr>
          <p:cNvPr id="47" name="bld3_1024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8" name="bld3_1025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bitter-orange blossom</a:t>
            </a:r>
            <a:endParaRPr lang="en-US" sz="1100" dirty="0"/>
          </a:p>
        </p:txBody>
      </p:sp>
      <p:sp>
        <p:nvSpPr>
          <p:cNvPr id="49" name="bld3_1026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0" name="bld3_1027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Lifts and lightens a floral heart</a:t>
            </a:r>
            <a:endParaRPr lang="en-US" sz="1100" dirty="0"/>
          </a:p>
        </p:txBody>
      </p:sp>
      <p:sp>
        <p:nvSpPr>
          <p:cNvPr id="51" name="bld3_1028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2" name="bld3_1029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 · diffusive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4" name="Shape 52"/>
          <p:cNvSpPr/>
          <p:nvPr/>
        </p:nvSpPr>
        <p:spPr>
          <a:xfrm rot="10800000">
            <a:off x="8949930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4400000">
            <a:off x="9278318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8000000">
            <a:off x="9278318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949930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3600000">
            <a:off x="8621542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7200000">
            <a:off x="8621542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874092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1" name="Shape 59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2" name="bld4_1031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Ylang-Ylang</a:t>
            </a:r>
            <a:endParaRPr lang="en-US" sz="1800" dirty="0"/>
          </a:p>
        </p:txBody>
      </p:sp>
      <p:sp>
        <p:nvSpPr>
          <p:cNvPr id="63" name="bld4_1032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4" name="bld4_1033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exotic, banana-custard</a:t>
            </a:r>
            <a:endParaRPr lang="en-US" sz="1100" dirty="0"/>
          </a:p>
        </p:txBody>
      </p:sp>
      <p:sp>
        <p:nvSpPr>
          <p:cNvPr id="65" name="bld4_1034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6" name="bld4_1035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Lushness, tropical warmth</a:t>
            </a:r>
            <a:endParaRPr lang="en-US" sz="1100" dirty="0"/>
          </a:p>
        </p:txBody>
      </p:sp>
      <p:sp>
        <p:nvSpPr>
          <p:cNvPr id="67" name="bld4_1036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68" name="bld4_1037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long · very diffusive</a:t>
            </a:r>
            <a:endParaRPr lang="en-US" sz="1100" dirty="0"/>
          </a:p>
        </p:txBody>
      </p:sp>
      <p:sp>
        <p:nvSpPr>
          <p:cNvPr id="70" name="trans_fade_6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1" name="Text 6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62" grpId="0"/>
      <p:bldP spid="63" grpId="0"/>
      <p:bldP spid="64" grpId="0"/>
      <p:bldP spid="65" grpId="0"/>
      <p:bldP spid="66" grpId="0"/>
      <p:bldP spid="67" grpId="0"/>
      <p:bldP spid="6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MATERIALS · FAMILY 4 OF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Resins &amp; Balsams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B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RESINS &amp; BALSAMS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" name="Shape 8"/>
          <p:cNvSpPr/>
          <p:nvPr/>
        </p:nvSpPr>
        <p:spPr>
          <a:xfrm rot="9000000">
            <a:off x="1471595" y="3769265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6000000">
            <a:off x="1332090" y="3704878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1400000">
            <a:off x="1772068" y="3640491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4" name="bld1_1039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6" name="Shape 14"/>
          <p:cNvSpPr/>
          <p:nvPr/>
        </p:nvSpPr>
        <p:spPr>
          <a:xfrm rot="9000000">
            <a:off x="3174028" y="4001869"/>
            <a:ext cx="715107" cy="71510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6000000">
            <a:off x="3013746" y="3927892"/>
            <a:ext cx="443859" cy="44385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1400000">
            <a:off x="3519252" y="3853915"/>
            <a:ext cx="369883" cy="369883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0" name="bld2_1041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2" name="Shape 20"/>
          <p:cNvSpPr/>
          <p:nvPr/>
        </p:nvSpPr>
        <p:spPr>
          <a:xfrm rot="9000000">
            <a:off x="4956374" y="3769265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000000">
            <a:off x="4816869" y="3704878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1400000">
            <a:off x="5256846" y="3640491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6" name="bld3_1043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6698763" y="4038629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6559258" y="3974242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6999236" y="3909855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4_1045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Myrrh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4" name="Shape 32"/>
          <p:cNvSpPr/>
          <p:nvPr/>
        </p:nvSpPr>
        <p:spPr>
          <a:xfrm rot="9000000">
            <a:off x="8401196" y="3732505"/>
            <a:ext cx="715107" cy="71510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6000000">
            <a:off x="8240913" y="3658528"/>
            <a:ext cx="443859" cy="44385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1400000">
            <a:off x="8746420" y="3584552"/>
            <a:ext cx="369883" cy="369883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8" name="bld5_1047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 Balsam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 rot="9000000">
            <a:off x="10183541" y="4038629"/>
            <a:ext cx="622408" cy="622408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000000">
            <a:off x="10044036" y="3974242"/>
            <a:ext cx="386322" cy="386322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1400000">
            <a:off x="10484014" y="3909855"/>
            <a:ext cx="321935" cy="321935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6_1049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Tolu Balsam</a:t>
            </a:r>
            <a:endParaRPr lang="en-US" sz="1350" dirty="0"/>
          </a:p>
        </p:txBody>
      </p:sp>
      <p:sp>
        <p:nvSpPr>
          <p:cNvPr id="46" name="trans_fade_6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  <p:bldP spid="38" grpId="0"/>
      <p:bldP spid="4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RESINS &amp; BALSAMS,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differ: sweetness, darkness, smoke</a:t>
            </a:r>
            <a:endParaRPr lang="en-US" sz="3200" dirty="0"/>
          </a:p>
        </p:txBody>
      </p:sp>
      <p:sp>
        <p:nvSpPr>
          <p:cNvPr id="7" name="bld1_1050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9" name="Shape 7"/>
          <p:cNvSpPr/>
          <p:nvPr/>
        </p:nvSpPr>
        <p:spPr>
          <a:xfrm rot="9000000">
            <a:off x="2191116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000000">
            <a:off x="2128066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1400000">
            <a:off x="2326915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3" name="bld1_1052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450" dirty="0"/>
          </a:p>
        </p:txBody>
      </p:sp>
      <p:sp>
        <p:nvSpPr>
          <p:cNvPr id="14" name="bld1_1053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Amber-resinous, leathery, honeyed. Base note, very long, richly diffusive — the backbone of most amber accords.</a:t>
            </a:r>
            <a:endParaRPr lang="en-US" sz="1080" dirty="0"/>
          </a:p>
        </p:txBody>
      </p:sp>
      <p:sp>
        <p:nvSpPr>
          <p:cNvPr id="15" name="bld2_1054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7" name="Shape 15"/>
          <p:cNvSpPr/>
          <p:nvPr/>
        </p:nvSpPr>
        <p:spPr>
          <a:xfrm rot="9000000">
            <a:off x="597459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6000000">
            <a:off x="591154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1400000">
            <a:off x="6110398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1" name="bld2_1056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450" dirty="0"/>
          </a:p>
        </p:txBody>
      </p:sp>
      <p:sp>
        <p:nvSpPr>
          <p:cNvPr id="22" name="bld2_1057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vanilla-like, balsamic. Base note, long, warm and softly diffusive — a natural sweetener and fixative.</a:t>
            </a:r>
            <a:endParaRPr lang="en-US" sz="1080" dirty="0"/>
          </a:p>
        </p:txBody>
      </p:sp>
      <p:sp>
        <p:nvSpPr>
          <p:cNvPr id="23" name="bld3_1058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5" name="Shape 23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29" name="bld3_1060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450" dirty="0"/>
          </a:p>
        </p:txBody>
      </p:sp>
      <p:sp>
        <p:nvSpPr>
          <p:cNvPr id="30" name="bld3_1061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citrusy-piney, faintly smoky. Base-heart, long — cooler and fresher than most resins.</a:t>
            </a:r>
            <a:endParaRPr lang="en-US" sz="1080" dirty="0"/>
          </a:p>
        </p:txBody>
      </p:sp>
      <p:sp>
        <p:nvSpPr>
          <p:cNvPr id="31" name="bld4_1062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3" name="Shape 31"/>
          <p:cNvSpPr/>
          <p:nvPr/>
        </p:nvSpPr>
        <p:spPr>
          <a:xfrm rot="9000000">
            <a:off x="2191116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6000000">
            <a:off x="2128066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1400000">
            <a:off x="2326915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7" name="bld4_1064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Myrrh</a:t>
            </a:r>
            <a:endParaRPr lang="en-US" sz="1450" dirty="0"/>
          </a:p>
        </p:txBody>
      </p:sp>
      <p:sp>
        <p:nvSpPr>
          <p:cNvPr id="38" name="bld4_1065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Bitter, medicinal, dark-resinous. Base note, very long, low diffusion — the darkest and most brooding of the resins.</a:t>
            </a:r>
            <a:endParaRPr lang="en-US" sz="1080" dirty="0"/>
          </a:p>
        </p:txBody>
      </p:sp>
      <p:sp>
        <p:nvSpPr>
          <p:cNvPr id="39" name="bld5_1066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 rot="9000000">
            <a:off x="5974598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6000000">
            <a:off x="5911548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1400000">
            <a:off x="6110398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5" name="bld5_1068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Peru Balsam</a:t>
            </a:r>
            <a:endParaRPr lang="en-US" sz="1450" dirty="0"/>
          </a:p>
        </p:txBody>
      </p:sp>
      <p:sp>
        <p:nvSpPr>
          <p:cNvPr id="46" name="bld5_1069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cinnamon-vanilla, slightly spicy. Base note, long — closer to gourmand than most resins.</a:t>
            </a:r>
            <a:endParaRPr lang="en-US" sz="1080" dirty="0"/>
          </a:p>
        </p:txBody>
      </p:sp>
      <p:sp>
        <p:nvSpPr>
          <p:cNvPr id="47" name="bld6_1070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9" name="Shape 47"/>
          <p:cNvSpPr/>
          <p:nvPr/>
        </p:nvSpPr>
        <p:spPr>
          <a:xfrm rot="9000000">
            <a:off x="9758081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6000000">
            <a:off x="9695031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1400000">
            <a:off x="9893880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53" name="bld6_1072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Tolu Balsam</a:t>
            </a:r>
            <a:endParaRPr lang="en-US" sz="1450" dirty="0"/>
          </a:p>
        </p:txBody>
      </p:sp>
      <p:sp>
        <p:nvSpPr>
          <p:cNvPr id="54" name="bld6_1073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floral-balsamic, softer than Peru balsam. Base note, long, gentle sweetness and fixation.</a:t>
            </a:r>
            <a:endParaRPr lang="en-US" sz="1080" dirty="0"/>
          </a:p>
        </p:txBody>
      </p:sp>
      <p:sp>
        <p:nvSpPr>
          <p:cNvPr id="56" name="trans_fade_6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9" grpId="0"/>
      <p:bldP spid="30" grpId="0"/>
      <p:bldP spid="31" grpId="0"/>
      <p:bldP spid="37" grpId="0"/>
      <p:bldP spid="38" grpId="0"/>
      <p:bldP spid="39" grpId="0"/>
      <p:bldP spid="45" grpId="0"/>
      <p:bldP spid="46" grpId="0"/>
      <p:bldP spid="47" grpId="0"/>
      <p:bldP spid="53" grpId="0"/>
      <p:bldP spid="5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resins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" name="Shape 6"/>
          <p:cNvSpPr/>
          <p:nvPr/>
        </p:nvSpPr>
        <p:spPr>
          <a:xfrm rot="9000000">
            <a:off x="1835201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6000000">
            <a:off x="1621944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1400000">
            <a:off x="2294522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2" name="bld1_1075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800" dirty="0"/>
          </a:p>
        </p:txBody>
      </p:sp>
      <p:sp>
        <p:nvSpPr>
          <p:cNvPr id="13" name="bld1_1076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077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Amber-resinous, leathery, honeyed</a:t>
            </a:r>
            <a:endParaRPr lang="en-US" sz="1100" dirty="0"/>
          </a:p>
        </p:txBody>
      </p:sp>
      <p:sp>
        <p:nvSpPr>
          <p:cNvPr id="15" name="bld1_1078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079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Warmth, fixation</a:t>
            </a:r>
            <a:endParaRPr lang="en-US" sz="1100" dirty="0"/>
          </a:p>
        </p:txBody>
      </p:sp>
      <p:sp>
        <p:nvSpPr>
          <p:cNvPr id="17" name="bld1_1080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081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0" name="Shape 18"/>
          <p:cNvSpPr/>
          <p:nvPr/>
        </p:nvSpPr>
        <p:spPr>
          <a:xfrm rot="9000000">
            <a:off x="5228539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6000000">
            <a:off x="5015283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1400000">
            <a:off x="5687861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4" name="bld2_1083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Benzoin</a:t>
            </a:r>
            <a:endParaRPr lang="en-US" sz="1800" dirty="0"/>
          </a:p>
        </p:txBody>
      </p:sp>
      <p:sp>
        <p:nvSpPr>
          <p:cNvPr id="25" name="bld2_1084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085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vanilla-balsamic</a:t>
            </a:r>
            <a:endParaRPr lang="en-US" sz="1100" dirty="0"/>
          </a:p>
        </p:txBody>
      </p:sp>
      <p:sp>
        <p:nvSpPr>
          <p:cNvPr id="27" name="bld2_1086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087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Softness and sweetness</a:t>
            </a:r>
            <a:endParaRPr lang="en-US" sz="1100" dirty="0"/>
          </a:p>
        </p:txBody>
      </p:sp>
      <p:sp>
        <p:nvSpPr>
          <p:cNvPr id="29" name="bld2_1088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089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gentle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8621878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8408621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081199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6" name="bld3_1091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Frankincense</a:t>
            </a:r>
            <a:endParaRPr lang="en-US" sz="1800" dirty="0"/>
          </a:p>
        </p:txBody>
      </p:sp>
      <p:sp>
        <p:nvSpPr>
          <p:cNvPr id="37" name="bld3_1092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093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Resinous, citrusy-piney, smoky</a:t>
            </a:r>
            <a:endParaRPr lang="en-US" sz="1100" dirty="0"/>
          </a:p>
        </p:txBody>
      </p:sp>
      <p:sp>
        <p:nvSpPr>
          <p:cNvPr id="39" name="bld3_1094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095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Coolness within warmth</a:t>
            </a:r>
            <a:endParaRPr lang="en-US" sz="1100" dirty="0"/>
          </a:p>
        </p:txBody>
      </p:sp>
      <p:sp>
        <p:nvSpPr>
          <p:cNvPr id="41" name="bld3_1096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097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Base-heart · long</a:t>
            </a:r>
            <a:endParaRPr lang="en-US" sz="1100" dirty="0"/>
          </a:p>
        </p:txBody>
      </p:sp>
      <p:sp>
        <p:nvSpPr>
          <p:cNvPr id="44" name="trans_fade_6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FIFTH, SMALLER FAMILY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Minty naturals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1098"/>
          <p:cNvSpPr/>
          <p:nvPr/>
        </p:nvSpPr>
        <p:spPr>
          <a:xfrm>
            <a:off x="548640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2" name="Shape 10"/>
          <p:cNvSpPr/>
          <p:nvPr/>
        </p:nvSpPr>
        <p:spPr>
          <a:xfrm rot="15300000">
            <a:off x="3065061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3050000">
            <a:off x="3118557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0800000">
            <a:off x="3209736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550000">
            <a:off x="3300916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300000">
            <a:off x="3354411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92476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18" name="bld1_1100"/>
          <p:cNvSpPr txBox="1"/>
          <p:nvPr/>
        </p:nvSpPr>
        <p:spPr>
          <a:xfrm>
            <a:off x="731520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Spearmint</a:t>
            </a:r>
            <a:endParaRPr lang="en-US" sz="1450" dirty="0"/>
          </a:p>
        </p:txBody>
      </p:sp>
      <p:sp>
        <p:nvSpPr>
          <p:cNvPr id="19" name="bld1_1101"/>
          <p:cNvSpPr txBox="1"/>
          <p:nvPr/>
        </p:nvSpPr>
        <p:spPr>
          <a:xfrm>
            <a:off x="731520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rounded, slightly fruity mint — softer and less medicinal than peppermint. Top note, short-medium.</a:t>
            </a:r>
            <a:endParaRPr lang="en-US" sz="1080" dirty="0"/>
          </a:p>
        </p:txBody>
      </p:sp>
      <p:sp>
        <p:nvSpPr>
          <p:cNvPr id="20" name="bld2_1102"/>
          <p:cNvSpPr/>
          <p:nvPr/>
        </p:nvSpPr>
        <p:spPr>
          <a:xfrm>
            <a:off x="6223864" y="2260397"/>
            <a:ext cx="541919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2" name="Shape 20"/>
          <p:cNvSpPr/>
          <p:nvPr/>
        </p:nvSpPr>
        <p:spPr>
          <a:xfrm rot="15300000">
            <a:off x="8740284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3050000">
            <a:off x="8793780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0800000">
            <a:off x="8884960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8550000">
            <a:off x="8976139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6300000">
            <a:off x="9029635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67699" y="2388413"/>
            <a:ext cx="731520" cy="731520"/>
          </a:xfrm>
          <a:prstGeom prst="ellipse">
            <a:avLst/>
          </a:prstGeom>
          <a:ln w="25603">
            <a:solidFill>
              <a:srgbClr val="3E5C2E"/>
            </a:solidFill>
            <a:prstDash val="solid"/>
          </a:ln>
        </p:spPr>
      </p:sp>
      <p:sp>
        <p:nvSpPr>
          <p:cNvPr id="28" name="bld2_1104"/>
          <p:cNvSpPr txBox="1"/>
          <p:nvPr/>
        </p:nvSpPr>
        <p:spPr>
          <a:xfrm>
            <a:off x="6406744" y="3211373"/>
            <a:ext cx="505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Peppermint</a:t>
            </a:r>
            <a:endParaRPr lang="en-US" sz="1450" dirty="0"/>
          </a:p>
        </p:txBody>
      </p:sp>
      <p:sp>
        <p:nvSpPr>
          <p:cNvPr id="29" name="bld2_1105"/>
          <p:cNvSpPr txBox="1"/>
          <p:nvPr/>
        </p:nvSpPr>
        <p:spPr>
          <a:xfrm>
            <a:off x="6406744" y="3522269"/>
            <a:ext cx="5053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cool, camphoraceous mint with real bite. Top note, short — reads instantly, fades fast.</a:t>
            </a:r>
            <a:endParaRPr lang="en-US" sz="1080" dirty="0"/>
          </a:p>
        </p:txBody>
      </p:sp>
      <p:sp>
        <p:nvSpPr>
          <p:cNvPr id="31" name="trans_fade_6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8" grpId="0"/>
      <p:bldP spid="2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IMPORTANT CAVEAT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"Natural" does not mean unrestricted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48150" y="2299013"/>
            <a:ext cx="1799116" cy="1799116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3" name="Shape 11"/>
          <p:cNvSpPr/>
          <p:nvPr/>
        </p:nvSpPr>
        <p:spPr>
          <a:xfrm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216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432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48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864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296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512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728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9440000">
            <a:off x="9495408" y="2361773"/>
            <a:ext cx="104600" cy="815878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443108" y="3093971"/>
            <a:ext cx="209200" cy="2092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 natural material is still a material — treat it with the same regulatory diligence as a synthetic.</a:t>
            </a:r>
            <a:endParaRPr lang="en-US" sz="1050" dirty="0"/>
          </a:p>
        </p:txBody>
      </p:sp>
      <p:sp>
        <p:nvSpPr>
          <p:cNvPr id="26" name="bld1_110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1_110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carry real allergens</a:t>
            </a:r>
            <a:endParaRPr lang="en-US" sz="1650" dirty="0"/>
          </a:p>
        </p:txBody>
      </p:sp>
      <p:sp>
        <p:nvSpPr>
          <p:cNvPr id="28" name="bld1_110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oils, for example, naturally contain limonene and linalool — the same allergens declared on synthetic materials that contain them.</a:t>
            </a:r>
            <a:endParaRPr lang="en-US" sz="1250" dirty="0"/>
          </a:p>
        </p:txBody>
      </p:sp>
      <p:sp>
        <p:nvSpPr>
          <p:cNvPr id="29" name="bld2_110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0" name="bld2_111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restricts naturals too</a:t>
            </a:r>
            <a:endParaRPr lang="en-US" sz="1650" dirty="0"/>
          </a:p>
        </p:txBody>
      </p:sp>
      <p:sp>
        <p:nvSpPr>
          <p:cNvPr id="31" name="bld2_111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like oakmoss, treemoss and certain citrus oils carry genuine IFRA usage limits — being natural doesn't exempt a material from Standards.</a:t>
            </a:r>
            <a:endParaRPr lang="en-US" sz="1250" dirty="0"/>
          </a:p>
        </p:txBody>
      </p:sp>
      <p:sp>
        <p:nvSpPr>
          <p:cNvPr id="32" name="bld3_111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3" name="bld3_111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documentation the same way</a:t>
            </a:r>
            <a:endParaRPr lang="en-US" sz="1650" dirty="0"/>
          </a:p>
        </p:txBody>
      </p:sp>
      <p:sp>
        <p:nvSpPr>
          <p:cNvPr id="34" name="bld3_111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natural still deserves an SDS and IFRA check before it goes into a formula — Module 11 covers exactly how.</a:t>
            </a:r>
            <a:endParaRPr lang="en-US" sz="1250" dirty="0"/>
          </a:p>
        </p:txBody>
      </p:sp>
      <p:sp>
        <p:nvSpPr>
          <p:cNvPr id="36" name="trans_fade_7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EXPLORING LATER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naturals to consider, by family</a:t>
            </a:r>
            <a:endParaRPr lang="en-US" sz="3200" dirty="0"/>
          </a:p>
        </p:txBody>
      </p:sp>
      <p:sp>
        <p:nvSpPr>
          <p:cNvPr id="7" name="bld1_1115"/>
          <p:cNvSpPr txBox="1"/>
          <p:nvPr/>
        </p:nvSpPr>
        <p:spPr>
          <a:xfrm>
            <a:off x="548640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CITRUS</a:t>
            </a:r>
            <a:endParaRPr lang="en-US" sz="1250" dirty="0"/>
          </a:p>
        </p:txBody>
      </p:sp>
      <p:sp>
        <p:nvSpPr>
          <p:cNvPr id="8" name="bld1_1116"/>
          <p:cNvSpPr/>
          <p:nvPr/>
        </p:nvSpPr>
        <p:spPr>
          <a:xfrm>
            <a:off x="548640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1117"/>
          <p:cNvSpPr txBox="1"/>
          <p:nvPr/>
        </p:nvSpPr>
        <p:spPr>
          <a:xfrm>
            <a:off x="841248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Yuzu</a:t>
            </a:r>
            <a:endParaRPr lang="en-US" sz="1200" dirty="0"/>
          </a:p>
        </p:txBody>
      </p:sp>
      <p:sp>
        <p:nvSpPr>
          <p:cNvPr id="10" name="bld1_1118"/>
          <p:cNvSpPr/>
          <p:nvPr/>
        </p:nvSpPr>
        <p:spPr>
          <a:xfrm>
            <a:off x="548640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1119"/>
          <p:cNvSpPr txBox="1"/>
          <p:nvPr/>
        </p:nvSpPr>
        <p:spPr>
          <a:xfrm>
            <a:off x="841248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Litsea Cubeba</a:t>
            </a:r>
            <a:endParaRPr lang="en-US" sz="1200" dirty="0"/>
          </a:p>
        </p:txBody>
      </p:sp>
      <p:sp>
        <p:nvSpPr>
          <p:cNvPr id="12" name="bld1_1120"/>
          <p:cNvSpPr/>
          <p:nvPr/>
        </p:nvSpPr>
        <p:spPr>
          <a:xfrm>
            <a:off x="548640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1121"/>
          <p:cNvSpPr txBox="1"/>
          <p:nvPr/>
        </p:nvSpPr>
        <p:spPr>
          <a:xfrm>
            <a:off x="841248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Tangerine</a:t>
            </a:r>
            <a:endParaRPr lang="en-US" sz="1200" dirty="0"/>
          </a:p>
        </p:txBody>
      </p:sp>
      <p:sp>
        <p:nvSpPr>
          <p:cNvPr id="14" name="bld1_1122"/>
          <p:cNvSpPr/>
          <p:nvPr/>
        </p:nvSpPr>
        <p:spPr>
          <a:xfrm>
            <a:off x="548640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1123"/>
          <p:cNvSpPr txBox="1"/>
          <p:nvPr/>
        </p:nvSpPr>
        <p:spPr>
          <a:xfrm>
            <a:off x="841248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Clementine</a:t>
            </a:r>
            <a:endParaRPr lang="en-US" sz="1200" dirty="0"/>
          </a:p>
        </p:txBody>
      </p:sp>
      <p:sp>
        <p:nvSpPr>
          <p:cNvPr id="16" name="bld2_1124"/>
          <p:cNvSpPr txBox="1"/>
          <p:nvPr/>
        </p:nvSpPr>
        <p:spPr>
          <a:xfrm>
            <a:off x="3402254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FLORALS &amp; GREEN</a:t>
            </a:r>
            <a:endParaRPr lang="en-US" sz="1250" dirty="0"/>
          </a:p>
        </p:txBody>
      </p:sp>
      <p:sp>
        <p:nvSpPr>
          <p:cNvPr id="17" name="bld2_1125"/>
          <p:cNvSpPr/>
          <p:nvPr/>
        </p:nvSpPr>
        <p:spPr>
          <a:xfrm>
            <a:off x="3402254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18" name="bld2_1126"/>
          <p:cNvSpPr txBox="1"/>
          <p:nvPr/>
        </p:nvSpPr>
        <p:spPr>
          <a:xfrm>
            <a:off x="3694862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Tuberose</a:t>
            </a:r>
            <a:endParaRPr lang="en-US" sz="1200" dirty="0"/>
          </a:p>
        </p:txBody>
      </p:sp>
      <p:sp>
        <p:nvSpPr>
          <p:cNvPr id="19" name="bld2_1127"/>
          <p:cNvSpPr/>
          <p:nvPr/>
        </p:nvSpPr>
        <p:spPr>
          <a:xfrm>
            <a:off x="3402254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0" name="bld2_1128"/>
          <p:cNvSpPr txBox="1"/>
          <p:nvPr/>
        </p:nvSpPr>
        <p:spPr>
          <a:xfrm>
            <a:off x="3694862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Mimosa</a:t>
            </a:r>
            <a:endParaRPr lang="en-US" sz="1200" dirty="0"/>
          </a:p>
        </p:txBody>
      </p:sp>
      <p:sp>
        <p:nvSpPr>
          <p:cNvPr id="21" name="bld2_1129"/>
          <p:cNvSpPr/>
          <p:nvPr/>
        </p:nvSpPr>
        <p:spPr>
          <a:xfrm>
            <a:off x="3402254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2" name="bld2_1130"/>
          <p:cNvSpPr txBox="1"/>
          <p:nvPr/>
        </p:nvSpPr>
        <p:spPr>
          <a:xfrm>
            <a:off x="3694862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 Leaf</a:t>
            </a:r>
            <a:endParaRPr lang="en-US" sz="1200" dirty="0"/>
          </a:p>
        </p:txBody>
      </p:sp>
      <p:sp>
        <p:nvSpPr>
          <p:cNvPr id="23" name="bld2_1131"/>
          <p:cNvSpPr/>
          <p:nvPr/>
        </p:nvSpPr>
        <p:spPr>
          <a:xfrm>
            <a:off x="3402254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4" name="bld2_1132"/>
          <p:cNvSpPr txBox="1"/>
          <p:nvPr/>
        </p:nvSpPr>
        <p:spPr>
          <a:xfrm>
            <a:off x="3694862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Galbanum</a:t>
            </a:r>
            <a:endParaRPr lang="en-US" sz="1200" dirty="0"/>
          </a:p>
        </p:txBody>
      </p:sp>
      <p:sp>
        <p:nvSpPr>
          <p:cNvPr id="25" name="bld2_1133"/>
          <p:cNvSpPr/>
          <p:nvPr/>
        </p:nvSpPr>
        <p:spPr>
          <a:xfrm>
            <a:off x="3402254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6" name="bld2_1134"/>
          <p:cNvSpPr txBox="1"/>
          <p:nvPr/>
        </p:nvSpPr>
        <p:spPr>
          <a:xfrm>
            <a:off x="3694862" y="47548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Carnation</a:t>
            </a:r>
            <a:endParaRPr lang="en-US" sz="1200" dirty="0"/>
          </a:p>
        </p:txBody>
      </p:sp>
      <p:sp>
        <p:nvSpPr>
          <p:cNvPr id="27" name="bld3_1135"/>
          <p:cNvSpPr txBox="1"/>
          <p:nvPr/>
        </p:nvSpPr>
        <p:spPr>
          <a:xfrm>
            <a:off x="6255868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 &amp; HERB</a:t>
            </a:r>
            <a:endParaRPr lang="en-US" sz="1250" dirty="0"/>
          </a:p>
        </p:txBody>
      </p:sp>
      <p:sp>
        <p:nvSpPr>
          <p:cNvPr id="28" name="bld3_1136"/>
          <p:cNvSpPr/>
          <p:nvPr/>
        </p:nvSpPr>
        <p:spPr>
          <a:xfrm>
            <a:off x="6255868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9" name="bld3_1137"/>
          <p:cNvSpPr txBox="1"/>
          <p:nvPr/>
        </p:nvSpPr>
        <p:spPr>
          <a:xfrm>
            <a:off x="6548476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Pepper</a:t>
            </a:r>
            <a:endParaRPr lang="en-US" sz="1200" dirty="0"/>
          </a:p>
        </p:txBody>
      </p:sp>
      <p:sp>
        <p:nvSpPr>
          <p:cNvPr id="30" name="bld3_1138"/>
          <p:cNvSpPr/>
          <p:nvPr/>
        </p:nvSpPr>
        <p:spPr>
          <a:xfrm>
            <a:off x="6255868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3_1139"/>
          <p:cNvSpPr txBox="1"/>
          <p:nvPr/>
        </p:nvSpPr>
        <p:spPr>
          <a:xfrm>
            <a:off x="6548476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Clove</a:t>
            </a:r>
            <a:endParaRPr lang="en-US" sz="1200" dirty="0"/>
          </a:p>
        </p:txBody>
      </p:sp>
      <p:sp>
        <p:nvSpPr>
          <p:cNvPr id="32" name="bld3_1140"/>
          <p:cNvSpPr/>
          <p:nvPr/>
        </p:nvSpPr>
        <p:spPr>
          <a:xfrm>
            <a:off x="6255868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3_1141"/>
          <p:cNvSpPr txBox="1"/>
          <p:nvPr/>
        </p:nvSpPr>
        <p:spPr>
          <a:xfrm>
            <a:off x="6548476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Cardamom</a:t>
            </a:r>
            <a:endParaRPr lang="en-US" sz="1200" dirty="0"/>
          </a:p>
        </p:txBody>
      </p:sp>
      <p:sp>
        <p:nvSpPr>
          <p:cNvPr id="34" name="bld3_1142"/>
          <p:cNvSpPr/>
          <p:nvPr/>
        </p:nvSpPr>
        <p:spPr>
          <a:xfrm>
            <a:off x="6255868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5" name="bld3_1143"/>
          <p:cNvSpPr txBox="1"/>
          <p:nvPr/>
        </p:nvSpPr>
        <p:spPr>
          <a:xfrm>
            <a:off x="6548476" y="42976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Clary Sage</a:t>
            </a:r>
            <a:endParaRPr lang="en-US" sz="1200" dirty="0"/>
          </a:p>
        </p:txBody>
      </p:sp>
      <p:sp>
        <p:nvSpPr>
          <p:cNvPr id="36" name="bld3_1144"/>
          <p:cNvSpPr/>
          <p:nvPr/>
        </p:nvSpPr>
        <p:spPr>
          <a:xfrm>
            <a:off x="6255868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7" name="bld3_1145"/>
          <p:cNvSpPr txBox="1"/>
          <p:nvPr/>
        </p:nvSpPr>
        <p:spPr>
          <a:xfrm>
            <a:off x="6548476" y="47548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</a:t>
            </a:r>
            <a:endParaRPr lang="en-US" sz="1200" dirty="0"/>
          </a:p>
        </p:txBody>
      </p:sp>
      <p:sp>
        <p:nvSpPr>
          <p:cNvPr id="38" name="bld4_1146"/>
          <p:cNvSpPr txBox="1"/>
          <p:nvPr/>
        </p:nvSpPr>
        <p:spPr>
          <a:xfrm>
            <a:off x="9109481" y="2532888"/>
            <a:ext cx="2533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RESINS</a:t>
            </a:r>
            <a:endParaRPr lang="en-US" sz="1250" dirty="0"/>
          </a:p>
        </p:txBody>
      </p:sp>
      <p:sp>
        <p:nvSpPr>
          <p:cNvPr id="39" name="bld4_1147"/>
          <p:cNvSpPr/>
          <p:nvPr/>
        </p:nvSpPr>
        <p:spPr>
          <a:xfrm>
            <a:off x="9109481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0" name="bld4_1148"/>
          <p:cNvSpPr txBox="1"/>
          <p:nvPr/>
        </p:nvSpPr>
        <p:spPr>
          <a:xfrm>
            <a:off x="9402089" y="29260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Opoponax</a:t>
            </a:r>
            <a:endParaRPr lang="en-US" sz="1200" dirty="0"/>
          </a:p>
        </p:txBody>
      </p:sp>
      <p:sp>
        <p:nvSpPr>
          <p:cNvPr id="41" name="bld4_1149"/>
          <p:cNvSpPr/>
          <p:nvPr/>
        </p:nvSpPr>
        <p:spPr>
          <a:xfrm>
            <a:off x="9109481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2" name="bld4_1150"/>
          <p:cNvSpPr txBox="1"/>
          <p:nvPr/>
        </p:nvSpPr>
        <p:spPr>
          <a:xfrm>
            <a:off x="9402089" y="33832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Elemi</a:t>
            </a:r>
            <a:endParaRPr lang="en-US" sz="1200" dirty="0"/>
          </a:p>
        </p:txBody>
      </p:sp>
      <p:sp>
        <p:nvSpPr>
          <p:cNvPr id="43" name="bld4_1151"/>
          <p:cNvSpPr/>
          <p:nvPr/>
        </p:nvSpPr>
        <p:spPr>
          <a:xfrm>
            <a:off x="9109481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5B3A52"/>
            </a:solidFill>
            <a:prstDash val="solid"/>
          </a:ln>
        </p:spPr>
      </p:sp>
      <p:sp>
        <p:nvSpPr>
          <p:cNvPr id="44" name="bld4_1152"/>
          <p:cNvSpPr txBox="1"/>
          <p:nvPr/>
        </p:nvSpPr>
        <p:spPr>
          <a:xfrm>
            <a:off x="9402089" y="3840480"/>
            <a:ext cx="22135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Copaiba Balsam</a:t>
            </a:r>
            <a:endParaRPr lang="en-US" sz="1200" dirty="0"/>
          </a:p>
        </p:txBody>
      </p:sp>
      <p:sp>
        <p:nvSpPr>
          <p:cNvPr id="46" name="trans_fade_7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7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TRUTH ABOUT NATURALS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 · NATURALS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two harvests smell identical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2656579" y="2540562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26813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03454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2278614" y="3703818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045019" y="2984886"/>
            <a:ext cx="665665" cy="1397896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669892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Shape 12"/>
          <p:cNvSpPr/>
          <p:nvPr/>
        </p:nvSpPr>
        <p:spPr>
          <a:xfrm>
            <a:off x="5763015" y="2540562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4320000">
            <a:off x="637457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614098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5385050" y="3703818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5151455" y="2984886"/>
            <a:ext cx="665665" cy="1397896"/>
          </a:xfrm>
          <a:prstGeom prst="ellipse">
            <a:avLst/>
          </a:prstGeom>
          <a:solidFill>
            <a:srgbClr val="B5652D">
              <a:alpha val="8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776328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9451" y="2540562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4320000">
            <a:off x="948101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640000">
            <a:off x="924741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2960000">
            <a:off x="8491486" y="3703818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7280000">
            <a:off x="8257891" y="2984886"/>
            <a:ext cx="665665" cy="1397896"/>
          </a:xfrm>
          <a:prstGeom prst="ellipse">
            <a:avLst/>
          </a:prstGeom>
          <a:solidFill>
            <a:srgbClr val="6E7A50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82765" y="3563023"/>
            <a:ext cx="639038" cy="63903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Climate, soil, harvest timing and extraction batch all shift the smell of a natural — plan for variation, don't fight it.</a:t>
            </a:r>
            <a:endParaRPr lang="en-US" sz="1200" dirty="0"/>
          </a:p>
        </p:txBody>
      </p:sp>
      <p:sp>
        <p:nvSpPr>
          <p:cNvPr id="28" name="trans_fade_7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bring soul and complexity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they demand respect for their variability.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03.1</a:t>
            </a:r>
            <a:endParaRPr lang="en-US" sz="1100" dirty="0"/>
          </a:p>
        </p:txBody>
      </p:sp>
      <p:sp>
        <p:nvSpPr>
          <p:cNvPr id="10" name="trans_fade_7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9795" y="1881835"/>
            <a:ext cx="3094330" cy="309433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9966960" y="3067995"/>
            <a:ext cx="812262" cy="36100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79222" y="3067995"/>
            <a:ext cx="812262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779222" y="3519251"/>
            <a:ext cx="812262" cy="72201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25452" y="4241262"/>
            <a:ext cx="1353769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9425452" y="3429000"/>
            <a:ext cx="541508" cy="81226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74196" y="2977744"/>
            <a:ext cx="992764" cy="45125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2558" y="3284598"/>
            <a:ext cx="288804" cy="2888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75433" y="2964206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87694" y="3415462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7543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1663" y="4137473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70407" y="2873955"/>
            <a:ext cx="207578" cy="207578"/>
          </a:xfrm>
          <a:prstGeom prst="ellipse">
            <a:avLst/>
          </a:prstGeom>
          <a:solidFill>
            <a:srgbClr val="C9A354"/>
          </a:solidFill>
          <a:ln w="19050">
            <a:solidFill>
              <a:srgbClr val="0E0D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03.2 · RAW MATERIALS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—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perfumery is built on synthetic molecules. This module will change how you see them, for good.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synthetic families, in real depth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— and why using one isn't cheating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Busting the naturals-vs-synthetics myths for good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30" name="trans_fade_7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perfumery runs on synthetics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8258" y="1199550"/>
            <a:ext cx="4458900" cy="44589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59642"/>
            <a:ext cx="1056055" cy="469358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3763" y="2959642"/>
            <a:ext cx="1056055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603763" y="3546339"/>
            <a:ext cx="1056055" cy="93871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43671" y="4485055"/>
            <a:ext cx="1760092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43671" y="3429000"/>
            <a:ext cx="704037" cy="105605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6973" y="2842303"/>
            <a:ext cx="1290734" cy="5866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59964" y="3241257"/>
            <a:ext cx="375486" cy="375486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68822" y="282470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4878" y="3411399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68822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08730" y="4350115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2033" y="2707362"/>
            <a:ext cx="269881" cy="269881"/>
          </a:xfrm>
          <a:prstGeom prst="ellipse">
            <a:avLst/>
          </a:prstGeom>
          <a:solidFill>
            <a:srgbClr val="B5652D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molecule, isolated and perfected — the synthetic advantage.</a:t>
            </a:r>
            <a:endParaRPr lang="en-US" sz="1050" dirty="0"/>
          </a:p>
        </p:txBody>
      </p:sp>
      <p:sp>
        <p:nvSpPr>
          <p:cNvPr id="24" name="bld1_115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1_115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Consistency, batch after batch</a:t>
            </a:r>
            <a:endParaRPr lang="en-US" sz="1650" dirty="0"/>
          </a:p>
        </p:txBody>
      </p:sp>
      <p:sp>
        <p:nvSpPr>
          <p:cNvPr id="26" name="bld1_1155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 molecule smells identical this year and next — naturals simply can't promise that.</a:t>
            </a:r>
            <a:endParaRPr lang="en-US" sz="1250" dirty="0"/>
          </a:p>
        </p:txBody>
      </p:sp>
      <p:sp>
        <p:nvSpPr>
          <p:cNvPr id="27" name="bld2_1156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2_1157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Effects that don't exist in nature</a:t>
            </a:r>
            <a:endParaRPr lang="en-US" sz="1650" dirty="0"/>
          </a:p>
        </p:txBody>
      </p:sp>
      <p:sp>
        <p:nvSpPr>
          <p:cNvPr id="29" name="bld2_1158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Ozonic, radiant, transparent-woody — entire categories of smell with no natural equivalent.</a:t>
            </a:r>
            <a:endParaRPr lang="en-US" sz="1250" dirty="0"/>
          </a:p>
        </p:txBody>
      </p:sp>
      <p:sp>
        <p:nvSpPr>
          <p:cNvPr id="30" name="bld3_1159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1160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sustainability</a:t>
            </a:r>
            <a:endParaRPr lang="en-US" sz="1650" dirty="0"/>
          </a:p>
        </p:txBody>
      </p:sp>
      <p:sp>
        <p:nvSpPr>
          <p:cNvPr id="32" name="bld3_1161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pressure on endangered species and rare harvests — sandalwood and musk deer among them.</a:t>
            </a:r>
            <a:endParaRPr lang="en-US" sz="1250" dirty="0"/>
          </a:p>
        </p:txBody>
      </p:sp>
      <p:sp>
        <p:nvSpPr>
          <p:cNvPr id="33" name="bld4_1162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4" name="bld4_1163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Affordability at scale</a:t>
            </a:r>
            <a:endParaRPr lang="en-US" sz="1650" dirty="0"/>
          </a:p>
        </p:txBody>
      </p:sp>
      <p:sp>
        <p:nvSpPr>
          <p:cNvPr id="35" name="bld4_1164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beautiful perfumery accessible far beyond luxury-only pricing.</a:t>
            </a:r>
            <a:endParaRPr lang="en-US" sz="1250" dirty="0"/>
          </a:p>
        </p:txBody>
      </p:sp>
      <p:sp>
        <p:nvSpPr>
          <p:cNvPr id="37" name="trans_fade_7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major synthetic families</a:t>
            </a:r>
            <a:endParaRPr lang="en-US" sz="3200" dirty="0"/>
          </a:p>
        </p:txBody>
      </p:sp>
      <p:sp>
        <p:nvSpPr>
          <p:cNvPr id="7" name="bld1_1165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9" name="Shape 7"/>
          <p:cNvSpPr/>
          <p:nvPr/>
        </p:nvSpPr>
        <p:spPr>
          <a:xfrm>
            <a:off x="1616331" y="2070180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1" name="bld1_1167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12" name="bld1_1168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Skin-like radiance and fixation</a:t>
            </a:r>
            <a:endParaRPr lang="en-US" sz="1080" dirty="0"/>
          </a:p>
        </p:txBody>
      </p:sp>
      <p:sp>
        <p:nvSpPr>
          <p:cNvPr id="13" name="bld2_1169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5" name="Shape 13"/>
          <p:cNvSpPr/>
          <p:nvPr/>
        </p:nvSpPr>
        <p:spPr>
          <a:xfrm rot="9000000">
            <a:off x="4555792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6000000">
            <a:off x="4492743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1400000">
            <a:off x="4691592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9" name="bld2_1171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/ Ambrox</a:t>
            </a:r>
            <a:endParaRPr lang="en-US" sz="1450" dirty="0"/>
          </a:p>
        </p:txBody>
      </p:sp>
      <p:sp>
        <p:nvSpPr>
          <p:cNvPr id="20" name="bld2_1172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radiant, modern amber effect</a:t>
            </a:r>
            <a:endParaRPr lang="en-US" sz="1080" dirty="0"/>
          </a:p>
        </p:txBody>
      </p:sp>
      <p:sp>
        <p:nvSpPr>
          <p:cNvPr id="21" name="bld3_1173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7272155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352988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7433821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85554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7" name="Shape 2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8" name="bld3_1175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</a:t>
            </a:r>
            <a:endParaRPr lang="en-US" sz="1450" dirty="0"/>
          </a:p>
        </p:txBody>
      </p:sp>
      <p:sp>
        <p:nvSpPr>
          <p:cNvPr id="29" name="bld3_1176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voluminous woodiness</a:t>
            </a:r>
            <a:endParaRPr lang="en-US" sz="1080" dirty="0"/>
          </a:p>
        </p:txBody>
      </p:sp>
      <p:sp>
        <p:nvSpPr>
          <p:cNvPr id="30" name="bld4_1177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91641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4320000">
            <a:off x="10403035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8640000">
            <a:off x="10360486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10222795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10180246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294066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9" name="bld4_1179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</a:t>
            </a:r>
            <a:endParaRPr lang="en-US" sz="1450" dirty="0"/>
          </a:p>
        </p:txBody>
      </p:sp>
      <p:sp>
        <p:nvSpPr>
          <p:cNvPr id="40" name="bld4_1180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hyper-true floral facets</a:t>
            </a:r>
            <a:endParaRPr lang="en-US" sz="1080" dirty="0"/>
          </a:p>
        </p:txBody>
      </p:sp>
      <p:sp>
        <p:nvSpPr>
          <p:cNvPr id="41" name="bld5_1181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630881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1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43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4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6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296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512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728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9440000">
            <a:off x="1827305" y="4385682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815180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6" name="Shape 5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57" name="bld5_1183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/ green</a:t>
            </a:r>
            <a:endParaRPr lang="en-US" sz="1450" dirty="0"/>
          </a:p>
        </p:txBody>
      </p:sp>
      <p:sp>
        <p:nvSpPr>
          <p:cNvPr id="58" name="bld5_1184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Citrus, green, metallic and aldehydic lift</a:t>
            </a:r>
            <a:endParaRPr lang="en-US" sz="1080" dirty="0"/>
          </a:p>
        </p:txBody>
      </p:sp>
      <p:sp>
        <p:nvSpPr>
          <p:cNvPr id="59" name="bld6_1185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1" name="Shape 59"/>
          <p:cNvSpPr/>
          <p:nvPr/>
        </p:nvSpPr>
        <p:spPr>
          <a:xfrm>
            <a:off x="4478193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671555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2000000">
            <a:off x="4695330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5" name="bld6_1187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66" name="bld6_1188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vivid fruit facets</a:t>
            </a:r>
            <a:endParaRPr lang="en-US" sz="1080" dirty="0"/>
          </a:p>
        </p:txBody>
      </p:sp>
      <p:sp>
        <p:nvSpPr>
          <p:cNvPr id="67" name="bld7_1189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9" name="Shape 67"/>
          <p:cNvSpPr/>
          <p:nvPr/>
        </p:nvSpPr>
        <p:spPr>
          <a:xfrm rot="840000">
            <a:off x="7456454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840000">
            <a:off x="7509167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60091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2" name="Shape 70"/>
          <p:cNvSpPr/>
          <p:nvPr/>
        </p:nvSpPr>
        <p:spPr>
          <a:xfrm>
            <a:off x="7477551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3" name="Shape 71"/>
          <p:cNvSpPr/>
          <p:nvPr/>
        </p:nvSpPr>
        <p:spPr>
          <a:xfrm>
            <a:off x="7495011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4" name="Shape 72"/>
          <p:cNvSpPr/>
          <p:nvPr/>
        </p:nvSpPr>
        <p:spPr>
          <a:xfrm>
            <a:off x="7512471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5" name="Shape 73"/>
          <p:cNvSpPr/>
          <p:nvPr/>
        </p:nvSpPr>
        <p:spPr>
          <a:xfrm>
            <a:off x="7529931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6" name="Shape 74"/>
          <p:cNvSpPr/>
          <p:nvPr/>
        </p:nvSpPr>
        <p:spPr>
          <a:xfrm>
            <a:off x="7547391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77" name="Shape 7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78" name="bld7_1191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79" name="bld7_1192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edible, comforting facets</a:t>
            </a:r>
            <a:endParaRPr lang="en-US" sz="1080" dirty="0"/>
          </a:p>
        </p:txBody>
      </p:sp>
      <p:sp>
        <p:nvSpPr>
          <p:cNvPr id="81" name="trans_fade_7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2" name="Text 7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19" grpId="0"/>
      <p:bldP spid="20" grpId="0"/>
      <p:bldP spid="21" grpId="0"/>
      <p:bldP spid="28" grpId="0"/>
      <p:bldP spid="29" grpId="0"/>
      <p:bldP spid="30" grpId="0"/>
      <p:bldP spid="39" grpId="0"/>
      <p:bldP spid="40" grpId="0"/>
      <p:bldP spid="41" grpId="0"/>
      <p:bldP spid="57" grpId="0"/>
      <p:bldP spid="58" grpId="0"/>
      <p:bldP spid="59" grpId="0"/>
      <p:bldP spid="65" grpId="0"/>
      <p:bldP spid="66" grpId="0"/>
      <p:bldP spid="67" grpId="0"/>
      <p:bldP spid="78" grpId="0"/>
      <p:bldP spid="79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MATERIALS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every perfumer knows by name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88" y="1907896"/>
            <a:ext cx="1213407" cy="121340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308964" y="2059572"/>
            <a:ext cx="910056" cy="91005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0640" y="2211248"/>
            <a:ext cx="606704" cy="606704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2316" y="2362924"/>
            <a:ext cx="303352" cy="30335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bld1_1194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800" dirty="0"/>
          </a:p>
        </p:txBody>
      </p:sp>
      <p:sp>
        <p:nvSpPr>
          <p:cNvPr id="16" name="bld1_1195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196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 woody volume</a:t>
            </a:r>
            <a:endParaRPr lang="en-US" sz="1100" dirty="0"/>
          </a:p>
        </p:txBody>
      </p:sp>
      <p:sp>
        <p:nvSpPr>
          <p:cNvPr id="18" name="bld1_1197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198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without weight</a:t>
            </a:r>
            <a:endParaRPr lang="en-US" sz="1100" dirty="0"/>
          </a:p>
        </p:txBody>
      </p:sp>
      <p:sp>
        <p:nvSpPr>
          <p:cNvPr id="20" name="bld1_1199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200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almost everywhere, any dose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3" name="Shape 21"/>
          <p:cNvSpPr/>
          <p:nvPr/>
        </p:nvSpPr>
        <p:spPr>
          <a:xfrm rot="10800000">
            <a:off x="4088523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4400000">
            <a:off x="441691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8000000">
            <a:off x="441691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88523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3600000">
            <a:off x="3760135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7200000">
            <a:off x="3760135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39173" y="1658992"/>
            <a:ext cx="311130" cy="311130"/>
          </a:xfrm>
          <a:prstGeom prst="star5">
            <a:avLst/>
          </a:prstGeom>
          <a:solidFill>
            <a:srgbClr val="EFB0C8">
              <a:alpha val="90000"/>
            </a:srgbClr>
          </a:solidFill>
          <a:ln/>
        </p:spPr>
      </p:sp>
      <p:sp>
        <p:nvSpPr>
          <p:cNvPr id="32" name="bld2_1202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800" dirty="0"/>
          </a:p>
        </p:txBody>
      </p:sp>
      <p:sp>
        <p:nvSpPr>
          <p:cNvPr id="33" name="bld2_1203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204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Airy, jasmine-adjacent radiance</a:t>
            </a:r>
            <a:endParaRPr lang="en-US" sz="1100" dirty="0"/>
          </a:p>
        </p:txBody>
      </p:sp>
      <p:sp>
        <p:nvSpPr>
          <p:cNvPr id="35" name="bld2_1205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206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up space in a formula</a:t>
            </a:r>
            <a:endParaRPr lang="en-US" sz="1100" dirty="0"/>
          </a:p>
        </p:txBody>
      </p:sp>
      <p:sp>
        <p:nvSpPr>
          <p:cNvPr id="37" name="bld2_1207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208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diffusion superpower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 rot="9000000">
            <a:off x="6246210" y="2165745"/>
            <a:ext cx="879720" cy="87972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000000">
            <a:off x="6049031" y="2074740"/>
            <a:ext cx="546033" cy="546033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1400000">
            <a:off x="6670902" y="1983734"/>
            <a:ext cx="455028" cy="455028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4" name="bld3_1210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800" dirty="0"/>
          </a:p>
        </p:txBody>
      </p:sp>
      <p:sp>
        <p:nvSpPr>
          <p:cNvPr id="45" name="bld3_1211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6" name="bld3_1212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</a:t>
            </a:r>
            <a:endParaRPr lang="en-US" sz="1100" dirty="0"/>
          </a:p>
        </p:txBody>
      </p:sp>
      <p:sp>
        <p:nvSpPr>
          <p:cNvPr id="47" name="bld3_1213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8" name="bld3_1214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that carries far</a:t>
            </a:r>
            <a:endParaRPr lang="en-US" sz="1100" dirty="0"/>
          </a:p>
        </p:txBody>
      </p:sp>
      <p:sp>
        <p:nvSpPr>
          <p:cNvPr id="49" name="bld3_1215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0" name="bld3_1216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perfumery's signature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2" name="Shape 50"/>
          <p:cNvSpPr/>
          <p:nvPr/>
        </p:nvSpPr>
        <p:spPr>
          <a:xfrm rot="840000">
            <a:off x="8874092" y="1794139"/>
            <a:ext cx="364022" cy="144092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40000">
            <a:off x="9050617" y="1968567"/>
            <a:ext cx="914" cy="109206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85468" y="201027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5" name="Shape 53"/>
          <p:cNvSpPr/>
          <p:nvPr/>
        </p:nvSpPr>
        <p:spPr>
          <a:xfrm>
            <a:off x="8940071" y="2198356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6" name="Shape 54"/>
          <p:cNvSpPr/>
          <p:nvPr/>
        </p:nvSpPr>
        <p:spPr>
          <a:xfrm>
            <a:off x="8994675" y="2386434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7" name="Shape 55"/>
          <p:cNvSpPr/>
          <p:nvPr/>
        </p:nvSpPr>
        <p:spPr>
          <a:xfrm>
            <a:off x="9049278" y="2574512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8" name="Shape 56"/>
          <p:cNvSpPr/>
          <p:nvPr/>
        </p:nvSpPr>
        <p:spPr>
          <a:xfrm>
            <a:off x="9103881" y="2762590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9" name="Shape 57"/>
          <p:cNvSpPr/>
          <p:nvPr/>
        </p:nvSpPr>
        <p:spPr>
          <a:xfrm>
            <a:off x="9158485" y="295066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60" name="Shape 58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61" name="bld4_1218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800" dirty="0"/>
          </a:p>
        </p:txBody>
      </p:sp>
      <p:sp>
        <p:nvSpPr>
          <p:cNvPr id="62" name="bld4_1219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3" name="bld4_1220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</a:t>
            </a:r>
            <a:endParaRPr lang="en-US" sz="1100" dirty="0"/>
          </a:p>
        </p:txBody>
      </p:sp>
      <p:sp>
        <p:nvSpPr>
          <p:cNvPr id="64" name="bld4_1221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5" name="bld4_1222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sweet, endlessly useful</a:t>
            </a:r>
            <a:endParaRPr lang="en-US" sz="1100" dirty="0"/>
          </a:p>
        </p:txBody>
      </p:sp>
      <p:sp>
        <p:nvSpPr>
          <p:cNvPr id="66" name="bld4_1223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67" name="bld4_1224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and base workhorse</a:t>
            </a:r>
            <a:endParaRPr lang="en-US" sz="1100" dirty="0"/>
          </a:p>
        </p:txBody>
      </p:sp>
      <p:sp>
        <p:nvSpPr>
          <p:cNvPr id="69" name="trans_fade_7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0" name="Text 6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myths, busted</a:t>
            </a:r>
            <a:endParaRPr lang="en-US" sz="3200" dirty="0"/>
          </a:p>
        </p:txBody>
      </p:sp>
      <p:sp>
        <p:nvSpPr>
          <p:cNvPr id="7" name="bld1_1225"/>
          <p:cNvSpPr/>
          <p:nvPr/>
        </p:nvSpPr>
        <p:spPr>
          <a:xfrm>
            <a:off x="548640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1226"/>
          <p:cNvSpPr txBox="1"/>
          <p:nvPr/>
        </p:nvSpPr>
        <p:spPr>
          <a:xfrm>
            <a:off x="749808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9" name="bld1_1227"/>
          <p:cNvSpPr txBox="1"/>
          <p:nvPr/>
        </p:nvSpPr>
        <p:spPr>
          <a:xfrm>
            <a:off x="749808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less safe than naturals</a:t>
            </a:r>
            <a:endParaRPr lang="en-US" sz="1350" dirty="0"/>
          </a:p>
        </p:txBody>
      </p:sp>
      <p:sp>
        <p:nvSpPr>
          <p:cNvPr id="10" name="bld1_1228"/>
          <p:cNvSpPr txBox="1"/>
          <p:nvPr/>
        </p:nvSpPr>
        <p:spPr>
          <a:xfrm>
            <a:off x="749808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1" name="bld1_1229"/>
          <p:cNvSpPr txBox="1"/>
          <p:nvPr/>
        </p:nvSpPr>
        <p:spPr>
          <a:xfrm>
            <a:off x="749808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Synthetics are among the most rigorously tested materials in consumer goods — many naturals contain far more allergens and irritants.</a:t>
            </a:r>
            <a:endParaRPr lang="en-US" sz="1080" dirty="0"/>
          </a:p>
        </p:txBody>
      </p:sp>
      <p:sp>
        <p:nvSpPr>
          <p:cNvPr id="12" name="bld2_1230"/>
          <p:cNvSpPr/>
          <p:nvPr/>
        </p:nvSpPr>
        <p:spPr>
          <a:xfrm>
            <a:off x="4332122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1231"/>
          <p:cNvSpPr txBox="1"/>
          <p:nvPr/>
        </p:nvSpPr>
        <p:spPr>
          <a:xfrm>
            <a:off x="4533290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4" name="bld2_1232"/>
          <p:cNvSpPr txBox="1"/>
          <p:nvPr/>
        </p:nvSpPr>
        <p:spPr>
          <a:xfrm>
            <a:off x="4533290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means cheap</a:t>
            </a:r>
            <a:endParaRPr lang="en-US" sz="1350" dirty="0"/>
          </a:p>
        </p:txBody>
      </p:sp>
      <p:sp>
        <p:nvSpPr>
          <p:cNvPr id="15" name="bld2_1233"/>
          <p:cNvSpPr txBox="1"/>
          <p:nvPr/>
        </p:nvSpPr>
        <p:spPr>
          <a:xfrm>
            <a:off x="4533290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16" name="bld2_1234"/>
          <p:cNvSpPr txBox="1"/>
          <p:nvPr/>
        </p:nvSpPr>
        <p:spPr>
          <a:xfrm>
            <a:off x="4533290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captive synthetic molecules cost more per kilo than gold-standard naturals — exclusivity and R&amp;D drive price, not "natural vs. synthetic."</a:t>
            </a:r>
            <a:endParaRPr lang="en-US" sz="1080" dirty="0"/>
          </a:p>
        </p:txBody>
      </p:sp>
      <p:sp>
        <p:nvSpPr>
          <p:cNvPr id="17" name="bld3_1235"/>
          <p:cNvSpPr/>
          <p:nvPr/>
        </p:nvSpPr>
        <p:spPr>
          <a:xfrm>
            <a:off x="8115605" y="1737360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1236"/>
          <p:cNvSpPr txBox="1"/>
          <p:nvPr/>
        </p:nvSpPr>
        <p:spPr>
          <a:xfrm>
            <a:off x="8316773" y="187452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19" name="bld3_1237"/>
          <p:cNvSpPr txBox="1"/>
          <p:nvPr/>
        </p:nvSpPr>
        <p:spPr>
          <a:xfrm>
            <a:off x="8316773" y="2139696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smell inherently 'chemical'</a:t>
            </a:r>
            <a:endParaRPr lang="en-US" sz="1350" dirty="0"/>
          </a:p>
        </p:txBody>
      </p:sp>
      <p:sp>
        <p:nvSpPr>
          <p:cNvPr id="20" name="bld3_1238"/>
          <p:cNvSpPr txBox="1"/>
          <p:nvPr/>
        </p:nvSpPr>
        <p:spPr>
          <a:xfrm>
            <a:off x="8316773" y="2927360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1" name="bld3_1239"/>
          <p:cNvSpPr txBox="1"/>
          <p:nvPr/>
        </p:nvSpPr>
        <p:spPr>
          <a:xfrm>
            <a:off x="8316773" y="3183392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poorly built formula smells chemical — with any material. Iso E Super and Hedione are beloved precisely because they don't.</a:t>
            </a:r>
            <a:endParaRPr lang="en-US" sz="1080" dirty="0"/>
          </a:p>
        </p:txBody>
      </p:sp>
      <p:sp>
        <p:nvSpPr>
          <p:cNvPr id="22" name="bld4_1240"/>
          <p:cNvSpPr/>
          <p:nvPr/>
        </p:nvSpPr>
        <p:spPr>
          <a:xfrm>
            <a:off x="548640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1241"/>
          <p:cNvSpPr txBox="1"/>
          <p:nvPr/>
        </p:nvSpPr>
        <p:spPr>
          <a:xfrm>
            <a:off x="749808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4" name="bld4_1242"/>
          <p:cNvSpPr txBox="1"/>
          <p:nvPr/>
        </p:nvSpPr>
        <p:spPr>
          <a:xfrm>
            <a:off x="749808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are automatically more sophisticated</a:t>
            </a:r>
            <a:endParaRPr lang="en-US" sz="1350" dirty="0"/>
          </a:p>
        </p:txBody>
      </p:sp>
      <p:sp>
        <p:nvSpPr>
          <p:cNvPr id="25" name="bld4_1243"/>
          <p:cNvSpPr txBox="1"/>
          <p:nvPr/>
        </p:nvSpPr>
        <p:spPr>
          <a:xfrm>
            <a:off x="749808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26" name="bld4_1244"/>
          <p:cNvSpPr txBox="1"/>
          <p:nvPr/>
        </p:nvSpPr>
        <p:spPr>
          <a:xfrm>
            <a:off x="749808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of history's most acclaimed perfumes lean heavily synthetic. Sophistication is about composition, not ingredient origin.</a:t>
            </a:r>
            <a:endParaRPr lang="en-US" sz="1080" dirty="0"/>
          </a:p>
        </p:txBody>
      </p:sp>
      <p:sp>
        <p:nvSpPr>
          <p:cNvPr id="27" name="bld5_1245"/>
          <p:cNvSpPr/>
          <p:nvPr/>
        </p:nvSpPr>
        <p:spPr>
          <a:xfrm>
            <a:off x="4332122" y="4197096"/>
            <a:ext cx="3527450" cy="2203704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1246"/>
          <p:cNvSpPr txBox="1"/>
          <p:nvPr/>
        </p:nvSpPr>
        <p:spPr>
          <a:xfrm>
            <a:off x="4533290" y="433425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000" dirty="0"/>
          </a:p>
        </p:txBody>
      </p:sp>
      <p:sp>
        <p:nvSpPr>
          <p:cNvPr id="29" name="bld5_1247"/>
          <p:cNvSpPr txBox="1"/>
          <p:nvPr/>
        </p:nvSpPr>
        <p:spPr>
          <a:xfrm>
            <a:off x="4533290" y="4599432"/>
            <a:ext cx="3125114" cy="881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i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perfumers avoid synthetics</a:t>
            </a:r>
            <a:endParaRPr lang="en-US" sz="1350" dirty="0"/>
          </a:p>
        </p:txBody>
      </p:sp>
      <p:sp>
        <p:nvSpPr>
          <p:cNvPr id="30" name="bld5_1248"/>
          <p:cNvSpPr txBox="1"/>
          <p:nvPr/>
        </p:nvSpPr>
        <p:spPr>
          <a:xfrm>
            <a:off x="4533290" y="5387096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00" dirty="0"/>
          </a:p>
        </p:txBody>
      </p:sp>
      <p:sp>
        <p:nvSpPr>
          <p:cNvPr id="31" name="bld5_1249"/>
          <p:cNvSpPr txBox="1"/>
          <p:nvPr/>
        </p:nvSpPr>
        <p:spPr>
          <a:xfrm>
            <a:off x="4533290" y="5643128"/>
            <a:ext cx="3125114" cy="669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fine fragrance house uses synthetics extensively — they are the industry standard, not a shortcut.</a:t>
            </a:r>
            <a:endParaRPr lang="en-US" sz="1080" dirty="0"/>
          </a:p>
        </p:txBody>
      </p:sp>
      <p:sp>
        <p:nvSpPr>
          <p:cNvPr id="33" name="trans_fade_7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1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0EBE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6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0" name="Shape 8"/>
          <p:cNvSpPr/>
          <p:nvPr/>
        </p:nvSpPr>
        <p:spPr>
          <a:xfrm>
            <a:off x="1246241" y="3683415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2" name="bld1_1251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4" name="Shape 12"/>
          <p:cNvSpPr/>
          <p:nvPr/>
        </p:nvSpPr>
        <p:spPr>
          <a:xfrm>
            <a:off x="2915110" y="3903233"/>
            <a:ext cx="1134307" cy="76442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6" name="bld2_1253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31019" y="3683415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0" name="bld3_1255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73409" y="3952779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4" name="bld4_1257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Helvetolide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6" name="Shape 24"/>
          <p:cNvSpPr/>
          <p:nvPr/>
        </p:nvSpPr>
        <p:spPr>
          <a:xfrm>
            <a:off x="8142278" y="3633869"/>
            <a:ext cx="1134307" cy="76442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8" name="bld5_1259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Ethylene Brassylate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0" name="Shape 28"/>
          <p:cNvSpPr/>
          <p:nvPr/>
        </p:nvSpPr>
        <p:spPr>
          <a:xfrm>
            <a:off x="9958187" y="3952779"/>
            <a:ext cx="987267" cy="665332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2" name="bld6_1261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B62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Exaltolide</a:t>
            </a:r>
            <a:endParaRPr lang="en-US" sz="1350" dirty="0"/>
          </a:p>
        </p:txBody>
      </p:sp>
      <p:sp>
        <p:nvSpPr>
          <p:cNvPr id="34" name="trans_fade_7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6" grpId="0"/>
      <p:bldP spid="20" grpId="0"/>
      <p:bldP spid="24" grpId="0"/>
      <p:bldP spid="28" grpId="0"/>
      <p:bldP spid="3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 CHEMISTRY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musk families, four different textures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4023" y="4466310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769037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64871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25933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139009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881" y="4992979"/>
            <a:ext cx="329168" cy="3291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1262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1263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AFA495"/>
          </a:solidFill>
          <a:ln/>
        </p:spPr>
      </p:sp>
      <p:sp>
        <p:nvSpPr>
          <p:cNvPr id="16" name="bld1_1264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Macrocyclic</a:t>
            </a:r>
            <a:endParaRPr lang="en-US" sz="1450" dirty="0"/>
          </a:p>
        </p:txBody>
      </p:sp>
      <p:sp>
        <p:nvSpPr>
          <p:cNvPr id="17" name="bld1_1265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Large-ring molecules, closest in character to real natural musk. Soft, warm, skin-like.</a:t>
            </a:r>
            <a:endParaRPr lang="en-US" sz="1080" dirty="0"/>
          </a:p>
        </p:txBody>
      </p:sp>
      <p:sp>
        <p:nvSpPr>
          <p:cNvPr id="18" name="bld2_1266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1267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6B6255"/>
          </a:solidFill>
          <a:ln/>
        </p:spPr>
      </p:sp>
      <p:sp>
        <p:nvSpPr>
          <p:cNvPr id="20" name="bld2_1268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Polycyclic</a:t>
            </a:r>
            <a:endParaRPr lang="en-US" sz="1450" dirty="0"/>
          </a:p>
        </p:txBody>
      </p:sp>
      <p:sp>
        <p:nvSpPr>
          <p:cNvPr id="21" name="bld2_1269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modern class. Clean, "fresh laundry" character, extremely widely used.</a:t>
            </a:r>
            <a:endParaRPr lang="en-US" sz="1080" dirty="0"/>
          </a:p>
        </p:txBody>
      </p:sp>
      <p:sp>
        <p:nvSpPr>
          <p:cNvPr id="22" name="bld3_1270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1271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E8E2DC"/>
          </a:solidFill>
          <a:ln/>
        </p:spPr>
      </p:sp>
      <p:sp>
        <p:nvSpPr>
          <p:cNvPr id="24" name="bld3_1272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Alicyclic</a:t>
            </a:r>
            <a:endParaRPr lang="en-US" sz="1450" dirty="0"/>
          </a:p>
        </p:txBody>
      </p:sp>
      <p:sp>
        <p:nvSpPr>
          <p:cNvPr id="25" name="bld3_1273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generation of ester musks. Very clean and quiet, whisper-soft diffusion.</a:t>
            </a:r>
            <a:endParaRPr lang="en-US" sz="1080" dirty="0"/>
          </a:p>
        </p:txBody>
      </p:sp>
      <p:sp>
        <p:nvSpPr>
          <p:cNvPr id="26" name="bld4_1274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4_1275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8C8272"/>
          </a:solidFill>
          <a:ln/>
        </p:spPr>
      </p:sp>
      <p:sp>
        <p:nvSpPr>
          <p:cNvPr id="28" name="bld4_1276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</a:t>
            </a:r>
            <a:endParaRPr lang="en-US" sz="1450" dirty="0"/>
          </a:p>
        </p:txBody>
      </p:sp>
      <p:sp>
        <p:nvSpPr>
          <p:cNvPr id="29" name="bld4_1277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musk class historically. Largely phased out — covered for context, not active use.</a:t>
            </a:r>
            <a:endParaRPr lang="en-US" sz="1080" dirty="0"/>
          </a:p>
        </p:txBody>
      </p:sp>
      <p:sp>
        <p:nvSpPr>
          <p:cNvPr id="31" name="trans_fade_8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MACROCYCLIC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Macrocyclic musks — the soft, skin-like family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9019" y="4703499"/>
            <a:ext cx="1217671" cy="1217671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4672" y="5179152"/>
            <a:ext cx="266365" cy="26636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1278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576961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8" name="bld1_1280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450" dirty="0"/>
          </a:p>
        </p:txBody>
      </p:sp>
      <p:sp>
        <p:nvSpPr>
          <p:cNvPr id="19" name="bld1_1281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elegant, skin-like, slightly fruity ambrette character. Base note, long — closer to real skin than a lab-clean musk.</a:t>
            </a:r>
            <a:endParaRPr lang="en-US" sz="1080" dirty="0"/>
          </a:p>
        </p:txBody>
      </p:sp>
      <p:sp>
        <p:nvSpPr>
          <p:cNvPr id="20" name="bld2_1282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4414572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4" name="bld2_1284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450" dirty="0"/>
          </a:p>
        </p:txBody>
      </p:sp>
      <p:sp>
        <p:nvSpPr>
          <p:cNvPr id="25" name="bld2_1285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and more metallic than Ambrettolide, still macrocyclic in feel. Base note, very long — real diffusion and body.</a:t>
            </a:r>
            <a:endParaRPr lang="en-US" sz="1080" dirty="0"/>
          </a:p>
        </p:txBody>
      </p:sp>
      <p:sp>
        <p:nvSpPr>
          <p:cNvPr id="26" name="bld3_1286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7252184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0" name="bld3_1288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Ethylene Brassylate</a:t>
            </a:r>
            <a:endParaRPr lang="en-US" sz="1450" dirty="0"/>
          </a:p>
        </p:txBody>
      </p:sp>
      <p:sp>
        <p:nvSpPr>
          <p:cNvPr id="31" name="bld3_1289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rounded, economical macrocyclic lactone. Base note, long — a dependable, affordable background musk.</a:t>
            </a:r>
            <a:endParaRPr lang="en-US" sz="1080" dirty="0"/>
          </a:p>
        </p:txBody>
      </p:sp>
      <p:sp>
        <p:nvSpPr>
          <p:cNvPr id="32" name="bld4_1290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8979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6" name="bld4_1292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Exaltolide</a:t>
            </a:r>
            <a:endParaRPr lang="en-US" sz="1450" dirty="0"/>
          </a:p>
        </p:txBody>
      </p:sp>
      <p:sp>
        <p:nvSpPr>
          <p:cNvPr id="37" name="bld4_1293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naturalistic, very soft diffusion. Base note, long — one of the oldest macrocyclic musks still in use.</a:t>
            </a:r>
            <a:endParaRPr lang="en-US" sz="1080" dirty="0"/>
          </a:p>
        </p:txBody>
      </p:sp>
      <p:sp>
        <p:nvSpPr>
          <p:cNvPr id="39" name="trans_fade_8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24" grpId="0"/>
      <p:bldP spid="25" grpId="0"/>
      <p:bldP spid="26" grpId="0"/>
      <p:bldP spid="30" grpId="0"/>
      <p:bldP spid="31" grpId="0"/>
      <p:bldP spid="32" grpId="0"/>
      <p:bldP spid="36" grpId="0"/>
      <p:bldP spid="3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POLYCYCLIC &amp; ALICYCLIC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clean, modern generations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39993" y="4684473"/>
            <a:ext cx="1255723" cy="1255723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27894" y="4772374"/>
            <a:ext cx="1079922" cy="107992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736461" y="4810046"/>
            <a:ext cx="62786" cy="489732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705068" y="5249549"/>
            <a:ext cx="125572" cy="12557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1294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576961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5" name="bld1_1296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450" dirty="0"/>
          </a:p>
        </p:txBody>
      </p:sp>
      <p:sp>
        <p:nvSpPr>
          <p:cNvPr id="26" name="bld1_1297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laundry-like, soft. Base note, very long, radiant at low % — the polycyclic musk everyone already knows.</a:t>
            </a:r>
            <a:endParaRPr lang="en-US" sz="1080" dirty="0"/>
          </a:p>
        </p:txBody>
      </p:sp>
      <p:sp>
        <p:nvSpPr>
          <p:cNvPr id="27" name="bld2_1298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9" name="Shape 27"/>
          <p:cNvSpPr/>
          <p:nvPr/>
        </p:nvSpPr>
        <p:spPr>
          <a:xfrm>
            <a:off x="4414572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1" name="bld2_1300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Tonalide</a:t>
            </a:r>
            <a:endParaRPr lang="en-US" sz="1450" dirty="0"/>
          </a:p>
        </p:txBody>
      </p:sp>
      <p:sp>
        <p:nvSpPr>
          <p:cNvPr id="32" name="bld2_1301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major polycyclic musk, slightly fruitier and warmer than Galaxolide. Base note, very long.</a:t>
            </a:r>
            <a:endParaRPr lang="en-US" sz="1080" dirty="0"/>
          </a:p>
        </p:txBody>
      </p:sp>
      <p:sp>
        <p:nvSpPr>
          <p:cNvPr id="33" name="bld3_1302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5" name="Shape 33"/>
          <p:cNvSpPr/>
          <p:nvPr/>
        </p:nvSpPr>
        <p:spPr>
          <a:xfrm>
            <a:off x="7252184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37" name="bld3_1304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Helvetolide</a:t>
            </a:r>
            <a:endParaRPr lang="en-US" sz="1450" dirty="0"/>
          </a:p>
        </p:txBody>
      </p:sp>
      <p:sp>
        <p:nvSpPr>
          <p:cNvPr id="38" name="bld3_1305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Fruity, pear-like alicyclic musk. Base note, medium-long, intimate — a gentle, near-invisible effect.</a:t>
            </a:r>
            <a:endParaRPr lang="en-US" sz="1080" dirty="0"/>
          </a:p>
        </p:txBody>
      </p:sp>
      <p:sp>
        <p:nvSpPr>
          <p:cNvPr id="39" name="bld4_1306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89796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43" name="bld4_1308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Romandolide</a:t>
            </a:r>
            <a:endParaRPr lang="en-US" sz="1450" dirty="0"/>
          </a:p>
        </p:txBody>
      </p:sp>
      <p:sp>
        <p:nvSpPr>
          <p:cNvPr id="44" name="bld4_1309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alicyclic musk ester valued for its very clean, quiet radiance. Base note, long, understated.</a:t>
            </a:r>
            <a:endParaRPr lang="en-US" sz="1080" dirty="0"/>
          </a:p>
        </p:txBody>
      </p:sp>
      <p:sp>
        <p:nvSpPr>
          <p:cNvPr id="46" name="trans_fade_8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5" grpId="0"/>
      <p:bldP spid="26" grpId="0"/>
      <p:bldP spid="27" grpId="0"/>
      <p:bldP spid="31" grpId="0"/>
      <p:bldP spid="32" grpId="0"/>
      <p:bldP spid="33" grpId="0"/>
      <p:bldP spid="37" grpId="0"/>
      <p:bldP spid="38" grpId="0"/>
      <p:bldP spid="39" grpId="0"/>
      <p:bldP spid="43" grpId="0"/>
      <p:bldP spid="4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MUSKS, IN DEPTH · NITRO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Nitro musks — a brief history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8585390" y="2550053"/>
            <a:ext cx="1924635" cy="1297037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musk family tree starts here — but modern perfumery has largely moved on.</a:t>
            </a:r>
            <a:endParaRPr lang="en-US" sz="1050" dirty="0"/>
          </a:p>
        </p:txBody>
      </p:sp>
      <p:sp>
        <p:nvSpPr>
          <p:cNvPr id="14" name="bld1_13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13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original musk class</a:t>
            </a:r>
            <a:endParaRPr lang="en-US" sz="1650" dirty="0"/>
          </a:p>
        </p:txBody>
      </p:sp>
      <p:sp>
        <p:nvSpPr>
          <p:cNvPr id="16" name="bld1_131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like Musk Ketone and Musk Xylene were the earliest synthetic musks, discovered well over a century ago.</a:t>
            </a:r>
            <a:endParaRPr lang="en-US" sz="1250" dirty="0"/>
          </a:p>
        </p:txBody>
      </p:sp>
      <p:sp>
        <p:nvSpPr>
          <p:cNvPr id="17" name="bld2_131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2_131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Largely phased out today</a:t>
            </a:r>
            <a:endParaRPr lang="en-US" sz="1650" dirty="0"/>
          </a:p>
        </p:txBody>
      </p:sp>
      <p:sp>
        <p:nvSpPr>
          <p:cNvPr id="19" name="bld2_131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and safety concerns have led to heavy restriction or discontinuation of most nitro musks across the industry.</a:t>
            </a:r>
            <a:endParaRPr lang="en-US" sz="1250" dirty="0"/>
          </a:p>
        </p:txBody>
      </p:sp>
      <p:sp>
        <p:nvSpPr>
          <p:cNvPr id="20" name="bld3_131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3_131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not a recommendation</a:t>
            </a:r>
            <a:endParaRPr lang="en-US" sz="1650" dirty="0"/>
          </a:p>
        </p:txBody>
      </p:sp>
      <p:sp>
        <p:nvSpPr>
          <p:cNvPr id="22" name="bld3_131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name and the history — but always check current regulatory status before considering any nitro musk for real use.</a:t>
            </a:r>
            <a:endParaRPr lang="en-US" sz="1250" dirty="0"/>
          </a:p>
        </p:txBody>
      </p:sp>
      <p:sp>
        <p:nvSpPr>
          <p:cNvPr id="24" name="trans_fade_8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musks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8" name="Shape 6"/>
          <p:cNvSpPr/>
          <p:nvPr/>
        </p:nvSpPr>
        <p:spPr>
          <a:xfrm>
            <a:off x="1490710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10" name="bld1_1320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800" dirty="0"/>
          </a:p>
        </p:txBody>
      </p:sp>
      <p:sp>
        <p:nvSpPr>
          <p:cNvPr id="11" name="bld1_1321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2" name="bld1_1322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laundry-like musk</a:t>
            </a:r>
            <a:endParaRPr lang="en-US" sz="1100" dirty="0"/>
          </a:p>
        </p:txBody>
      </p:sp>
      <p:sp>
        <p:nvSpPr>
          <p:cNvPr id="13" name="bld1_1323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4" name="bld1_1324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"fresh clean" signature</a:t>
            </a:r>
            <a:endParaRPr lang="en-US" sz="1100" dirty="0"/>
          </a:p>
        </p:txBody>
      </p:sp>
      <p:sp>
        <p:nvSpPr>
          <p:cNvPr id="15" name="bld1_1325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6" name="bld1_1326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radiant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4884048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0" name="bld2_1328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800" dirty="0"/>
          </a:p>
        </p:txBody>
      </p:sp>
      <p:sp>
        <p:nvSpPr>
          <p:cNvPr id="21" name="bld2_1329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2" name="bld2_1330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Cleaner, metallic, modern</a:t>
            </a:r>
            <a:endParaRPr lang="en-US" sz="1100" dirty="0"/>
          </a:p>
        </p:txBody>
      </p:sp>
      <p:sp>
        <p:nvSpPr>
          <p:cNvPr id="23" name="bld2_1331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4" name="bld2_1332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diffusion and body</a:t>
            </a:r>
            <a:endParaRPr lang="en-US" sz="1100" dirty="0"/>
          </a:p>
        </p:txBody>
      </p:sp>
      <p:sp>
        <p:nvSpPr>
          <p:cNvPr id="25" name="bld2_1333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6" name="bld2_1334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8" name="Shape 26"/>
          <p:cNvSpPr/>
          <p:nvPr/>
        </p:nvSpPr>
        <p:spPr>
          <a:xfrm>
            <a:off x="8277387" y="2006066"/>
            <a:ext cx="1509199" cy="101706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30" name="bld3_1336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Ambrettolide</a:t>
            </a:r>
            <a:endParaRPr lang="en-US" sz="1800" dirty="0"/>
          </a:p>
        </p:txBody>
      </p:sp>
      <p:sp>
        <p:nvSpPr>
          <p:cNvPr id="31" name="bld3_1337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2" name="bld3_1338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elegant, skin-like</a:t>
            </a:r>
            <a:endParaRPr lang="en-US" sz="1100" dirty="0"/>
          </a:p>
        </p:txBody>
      </p:sp>
      <p:sp>
        <p:nvSpPr>
          <p:cNvPr id="33" name="bld3_1339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4" name="bld3_1340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Natural, skin-like feel</a:t>
            </a:r>
            <a:endParaRPr lang="en-US" sz="1100" dirty="0"/>
          </a:p>
        </p:txBody>
      </p:sp>
      <p:sp>
        <p:nvSpPr>
          <p:cNvPr id="35" name="bld3_1341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AFA4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6" name="bld3_1342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moderate</a:t>
            </a:r>
            <a:endParaRPr lang="en-US" sz="1100" dirty="0"/>
          </a:p>
        </p:txBody>
      </p:sp>
      <p:sp>
        <p:nvSpPr>
          <p:cNvPr id="38" name="trans_fade_8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2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Amber, Ambrox &amp; Radiant Materials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B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&amp; AMBROX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58913" y="3199522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" name="Shape 8"/>
          <p:cNvSpPr/>
          <p:nvPr/>
        </p:nvSpPr>
        <p:spPr>
          <a:xfrm rot="9000000">
            <a:off x="1857014" y="3723100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6000000">
            <a:off x="1691416" y="3646670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1400000">
            <a:off x="2213687" y="3570240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58913" y="3199522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4" name="bld1_1344"/>
          <p:cNvSpPr txBox="1"/>
          <p:nvPr/>
        </p:nvSpPr>
        <p:spPr>
          <a:xfrm>
            <a:off x="914400" y="4978945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850881" y="3347271"/>
            <a:ext cx="1876349" cy="1876349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6" name="Shape 14"/>
          <p:cNvSpPr/>
          <p:nvPr/>
        </p:nvSpPr>
        <p:spPr>
          <a:xfrm rot="9000000">
            <a:off x="4423168" y="3948828"/>
            <a:ext cx="848860" cy="84886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6000000">
            <a:off x="4232906" y="3861015"/>
            <a:ext cx="526879" cy="52687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1400000">
            <a:off x="4832962" y="3773202"/>
            <a:ext cx="439066" cy="43906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850881" y="3347271"/>
            <a:ext cx="1876349" cy="1876349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0" name="bld2_1346"/>
          <p:cNvSpPr txBox="1"/>
          <p:nvPr/>
        </p:nvSpPr>
        <p:spPr>
          <a:xfrm>
            <a:off x="3527984" y="5369924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Ambrofix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6080" y="3199522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2" name="Shape 20"/>
          <p:cNvSpPr/>
          <p:nvPr/>
        </p:nvSpPr>
        <p:spPr>
          <a:xfrm rot="9000000">
            <a:off x="7084181" y="3723100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000000">
            <a:off x="6918583" y="3646670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1400000">
            <a:off x="7440854" y="3570240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86080" y="3199522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6" name="bld3_1348"/>
          <p:cNvSpPr txBox="1"/>
          <p:nvPr/>
        </p:nvSpPr>
        <p:spPr>
          <a:xfrm>
            <a:off x="6141568" y="4978945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199664" y="3468886"/>
            <a:ext cx="1633118" cy="1633118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9697765" y="3992464"/>
            <a:ext cx="738823" cy="738823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9532167" y="3916034"/>
            <a:ext cx="458580" cy="458580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10054438" y="3839604"/>
            <a:ext cx="382150" cy="38215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99664" y="3468886"/>
            <a:ext cx="1633118" cy="1633118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4_1350"/>
          <p:cNvSpPr txBox="1"/>
          <p:nvPr/>
        </p:nvSpPr>
        <p:spPr>
          <a:xfrm>
            <a:off x="8755151" y="5248309"/>
            <a:ext cx="252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7A4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350" dirty="0"/>
          </a:p>
        </p:txBody>
      </p:sp>
      <p:sp>
        <p:nvSpPr>
          <p:cNvPr id="34" name="trans_fade_8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AMBER, AMBROX &amp; RADIANT MATERIALS,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Similar, but not identical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82915" y="4627395"/>
            <a:ext cx="1369879" cy="1369879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767854" y="5152516"/>
            <a:ext cx="359593" cy="159819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27448" y="5152516"/>
            <a:ext cx="359593" cy="19977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127448" y="5352290"/>
            <a:ext cx="359593" cy="319639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126" y="5671928"/>
            <a:ext cx="599322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126" y="5312335"/>
            <a:ext cx="239729" cy="35959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28351" y="5112561"/>
            <a:ext cx="439503" cy="19977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03927" y="5248407"/>
            <a:ext cx="127855" cy="127855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81500" y="5106568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41093" y="5306342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81500" y="5625980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482177" y="5625980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82403" y="5066613"/>
            <a:ext cx="91896" cy="91896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1351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3" name="Shape 21"/>
          <p:cNvSpPr/>
          <p:nvPr/>
        </p:nvSpPr>
        <p:spPr>
          <a:xfrm rot="9000000">
            <a:off x="1696784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6000000">
            <a:off x="1622607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1400000">
            <a:off x="1856547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7" name="bld1_1353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450" dirty="0"/>
          </a:p>
        </p:txBody>
      </p:sp>
      <p:sp>
        <p:nvSpPr>
          <p:cNvPr id="28" name="bld1_1354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 with real skin-warmth. The generic name for the whole effect — the genre-defining reference point.</a:t>
            </a:r>
            <a:endParaRPr lang="en-US" sz="1080" dirty="0"/>
          </a:p>
        </p:txBody>
      </p:sp>
      <p:sp>
        <p:nvSpPr>
          <p:cNvPr id="29" name="bld2_1355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1" name="Shape 29"/>
          <p:cNvSpPr/>
          <p:nvPr/>
        </p:nvSpPr>
        <p:spPr>
          <a:xfrm rot="9000000">
            <a:off x="4534395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6000000">
            <a:off x="4460219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1400000">
            <a:off x="4694159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5" name="bld2_1357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Ambrofix</a:t>
            </a:r>
            <a:endParaRPr lang="en-US" sz="1450" dirty="0"/>
          </a:p>
        </p:txBody>
      </p:sp>
      <p:sp>
        <p:nvSpPr>
          <p:cNvPr id="36" name="bld2_1358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Givaudan's version of the Ambroxan effect — cleaner and more consistent batch to batch. Base note, very long.</a:t>
            </a:r>
            <a:endParaRPr lang="en-US" sz="1080" dirty="0"/>
          </a:p>
        </p:txBody>
      </p:sp>
      <p:sp>
        <p:nvSpPr>
          <p:cNvPr id="37" name="bld3_1359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9" name="Shape 37"/>
          <p:cNvSpPr/>
          <p:nvPr/>
        </p:nvSpPr>
        <p:spPr>
          <a:xfrm rot="9000000">
            <a:off x="7372007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6000000">
            <a:off x="7297831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1400000">
            <a:off x="7531771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3" name="bld3_1361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450" dirty="0"/>
          </a:p>
        </p:txBody>
      </p:sp>
      <p:sp>
        <p:nvSpPr>
          <p:cNvPr id="44" name="bld3_1362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Firmenich's version — softer, rounder, more ambery-woody and less sharp or dry than pure Ambroxan. Base note, long.</a:t>
            </a:r>
            <a:endParaRPr lang="en-US" sz="1080" dirty="0"/>
          </a:p>
        </p:txBody>
      </p:sp>
      <p:sp>
        <p:nvSpPr>
          <p:cNvPr id="45" name="bld4_1363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7" name="Shape 45"/>
          <p:cNvSpPr/>
          <p:nvPr/>
        </p:nvSpPr>
        <p:spPr>
          <a:xfrm rot="9000000">
            <a:off x="10209619" y="2622938"/>
            <a:ext cx="330940" cy="330940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000000">
            <a:off x="10135443" y="2588703"/>
            <a:ext cx="205411" cy="205411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1400000">
            <a:off x="10369383" y="2554468"/>
            <a:ext cx="171176" cy="171176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1" name="bld4_1365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450" dirty="0"/>
          </a:p>
        </p:txBody>
      </p:sp>
      <p:sp>
        <p:nvSpPr>
          <p:cNvPr id="52" name="bld4_1366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woody-amber crossover material, not an Ambroxan variant — bridges the woody and amber families in its own way. Base note, long.</a:t>
            </a:r>
            <a:endParaRPr lang="en-US" sz="1080" dirty="0"/>
          </a:p>
        </p:txBody>
      </p:sp>
      <p:sp>
        <p:nvSpPr>
          <p:cNvPr id="54" name="trans_fade_8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5" name="Text 5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7" grpId="0"/>
      <p:bldP spid="28" grpId="0"/>
      <p:bldP spid="29" grpId="0"/>
      <p:bldP spid="35" grpId="0"/>
      <p:bldP spid="36" grpId="0"/>
      <p:bldP spid="37" grpId="0"/>
      <p:bldP spid="43" grpId="0"/>
      <p:bldP spid="44" grpId="0"/>
      <p:bldP spid="45" grpId="0"/>
      <p:bldP spid="51" grpId="0"/>
      <p:bldP spid="52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amber-radiants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" name="Shape 6"/>
          <p:cNvSpPr/>
          <p:nvPr/>
        </p:nvSpPr>
        <p:spPr>
          <a:xfrm rot="9000000">
            <a:off x="1835201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6000000">
            <a:off x="1621944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1400000">
            <a:off x="2294522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2" name="bld1_1368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800" dirty="0"/>
          </a:p>
        </p:txBody>
      </p:sp>
      <p:sp>
        <p:nvSpPr>
          <p:cNvPr id="13" name="bld1_1369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370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radiant amber-musk</a:t>
            </a:r>
            <a:endParaRPr lang="en-US" sz="1100" dirty="0"/>
          </a:p>
        </p:txBody>
      </p:sp>
      <p:sp>
        <p:nvSpPr>
          <p:cNvPr id="15" name="bld1_1371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372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that carries far</a:t>
            </a:r>
            <a:endParaRPr lang="en-US" sz="1100" dirty="0"/>
          </a:p>
        </p:txBody>
      </p:sp>
      <p:sp>
        <p:nvSpPr>
          <p:cNvPr id="17" name="bld1_1373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374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extreme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0" name="Shape 18"/>
          <p:cNvSpPr/>
          <p:nvPr/>
        </p:nvSpPr>
        <p:spPr>
          <a:xfrm rot="9000000">
            <a:off x="5228539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6000000">
            <a:off x="5015283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1400000">
            <a:off x="5687861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24" name="bld2_1376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Cetalox</a:t>
            </a:r>
            <a:endParaRPr lang="en-US" sz="1800" dirty="0"/>
          </a:p>
        </p:txBody>
      </p:sp>
      <p:sp>
        <p:nvSpPr>
          <p:cNvPr id="25" name="bld2_1377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378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ambery-woody, musky</a:t>
            </a:r>
            <a:endParaRPr lang="en-US" sz="1100" dirty="0"/>
          </a:p>
        </p:txBody>
      </p:sp>
      <p:sp>
        <p:nvSpPr>
          <p:cNvPr id="27" name="bld2_1379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380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gentler radiant glow</a:t>
            </a:r>
            <a:endParaRPr lang="en-US" sz="1100" dirty="0"/>
          </a:p>
        </p:txBody>
      </p:sp>
      <p:sp>
        <p:nvSpPr>
          <p:cNvPr id="29" name="bld2_1381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382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moderate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8621878" y="2137300"/>
            <a:ext cx="951451" cy="951451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8408621" y="2038874"/>
            <a:ext cx="590556" cy="590556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081199" y="1940448"/>
            <a:ext cx="492130" cy="492130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36" name="bld3_1384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Cedramber</a:t>
            </a:r>
            <a:endParaRPr lang="en-US" sz="1800" dirty="0"/>
          </a:p>
        </p:txBody>
      </p:sp>
      <p:sp>
        <p:nvSpPr>
          <p:cNvPr id="37" name="bld3_1385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386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Woody-amber crossover</a:t>
            </a:r>
            <a:endParaRPr lang="en-US" sz="1100" dirty="0"/>
          </a:p>
        </p:txBody>
      </p:sp>
      <p:sp>
        <p:nvSpPr>
          <p:cNvPr id="39" name="bld3_1387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388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wood and amber</a:t>
            </a:r>
            <a:endParaRPr lang="en-US" sz="1100" dirty="0"/>
          </a:p>
        </p:txBody>
      </p:sp>
      <p:sp>
        <p:nvSpPr>
          <p:cNvPr id="41" name="bld3_1389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17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390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diffusive</a:t>
            </a:r>
            <a:endParaRPr lang="en-US" sz="1100" dirty="0"/>
          </a:p>
        </p:txBody>
      </p:sp>
      <p:sp>
        <p:nvSpPr>
          <p:cNvPr id="44" name="trans_fade_8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3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1E7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10628" y="3586835"/>
            <a:ext cx="858493" cy="858493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417940" y="3694146"/>
            <a:ext cx="643870" cy="64387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5251" y="3801458"/>
            <a:ext cx="429247" cy="42924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632563" y="3908770"/>
            <a:ext cx="214623" cy="21462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5488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bld1_1392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9" name="Shape 17"/>
          <p:cNvSpPr/>
          <p:nvPr/>
        </p:nvSpPr>
        <p:spPr>
          <a:xfrm>
            <a:off x="2865793" y="3668974"/>
            <a:ext cx="1232942" cy="123294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0" name="Shape 18"/>
          <p:cNvSpPr/>
          <p:nvPr/>
        </p:nvSpPr>
        <p:spPr>
          <a:xfrm>
            <a:off x="3019910" y="3823092"/>
            <a:ext cx="924707" cy="92470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74028" y="3977210"/>
            <a:ext cx="616471" cy="616471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328146" y="4131328"/>
            <a:ext cx="308236" cy="30823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08287" y="4211469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4" name="Shape 22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5" name="bld2_1394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4688095" y="3479523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8" name="Shape 26"/>
          <p:cNvSpPr/>
          <p:nvPr/>
        </p:nvSpPr>
        <p:spPr>
          <a:xfrm>
            <a:off x="4956374" y="3747802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60266" y="3951694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0" name="Shape 28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1" name="bld3_1396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0484" y="3748887"/>
            <a:ext cx="1073117" cy="107311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4" name="Shape 32"/>
          <p:cNvSpPr/>
          <p:nvPr/>
        </p:nvSpPr>
        <p:spPr>
          <a:xfrm>
            <a:off x="6698763" y="4017166"/>
            <a:ext cx="536558" cy="53655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902655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6" name="Shape 34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7" name="bld4_1398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2960" y="3399610"/>
            <a:ext cx="1232942" cy="123294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298451" y="3605101"/>
            <a:ext cx="821962" cy="82196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41" y="3810591"/>
            <a:ext cx="410981" cy="410981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635455" y="3942105"/>
            <a:ext cx="147953" cy="147953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3" name="Shape 41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4" name="bld5_1400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Ebanol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9915262" y="3748887"/>
            <a:ext cx="1073117" cy="1073117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094115" y="3927740"/>
            <a:ext cx="715411" cy="715411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72968" y="4106593"/>
            <a:ext cx="357706" cy="35770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87434" y="4221058"/>
            <a:ext cx="128774" cy="128774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1" name="bld6_1402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4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Polysantol</a:t>
            </a:r>
            <a:endParaRPr lang="en-US" sz="1350" dirty="0"/>
          </a:p>
        </p:txBody>
      </p:sp>
      <p:sp>
        <p:nvSpPr>
          <p:cNvPr id="53" name="trans_fade_8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25" grpId="0"/>
      <p:bldP spid="31" grpId="0"/>
      <p:bldP spid="37" grpId="0"/>
      <p:bldP spid="44" grpId="0"/>
      <p:bldP spid="51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Dry, creamy, transparent, and textured woods</a:t>
            </a:r>
            <a:endParaRPr lang="en-US" sz="3200" dirty="0"/>
          </a:p>
        </p:txBody>
      </p:sp>
      <p:sp>
        <p:nvSpPr>
          <p:cNvPr id="7" name="bld1_1403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45431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693931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42430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0930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10330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5" name="Shape 13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6" name="bld1_1405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7" name="bld1_1406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transparent, huge volume. Base note, very long — the single most-used woody synthetic in the world. Softens transitions between materials.</a:t>
            </a:r>
            <a:endParaRPr lang="en-US" sz="1080" dirty="0"/>
          </a:p>
        </p:txBody>
      </p:sp>
      <p:sp>
        <p:nvSpPr>
          <p:cNvPr id="18" name="bld2_1407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4434543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1" name="Shape 19"/>
          <p:cNvSpPr/>
          <p:nvPr/>
        </p:nvSpPr>
        <p:spPr>
          <a:xfrm>
            <a:off x="4495168" y="2038655"/>
            <a:ext cx="363748" cy="36374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55792" y="2099280"/>
            <a:ext cx="242499" cy="2424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4616417" y="2159904"/>
            <a:ext cx="121249" cy="12124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647942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6" name="bld2_1409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450" dirty="0"/>
          </a:p>
        </p:txBody>
      </p:sp>
      <p:sp>
        <p:nvSpPr>
          <p:cNvPr id="27" name="bld2_1410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musky, spiced woodiness. Base note, very long, cosy — a comfort-wood texture unlike any natural.</a:t>
            </a:r>
            <a:endParaRPr lang="en-US" sz="1080" dirty="0"/>
          </a:p>
        </p:txBody>
      </p:sp>
      <p:sp>
        <p:nvSpPr>
          <p:cNvPr id="28" name="bld3_1411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0" name="Shape 28"/>
          <p:cNvSpPr/>
          <p:nvPr/>
        </p:nvSpPr>
        <p:spPr>
          <a:xfrm>
            <a:off x="7272155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1" name="Shape 29"/>
          <p:cNvSpPr/>
          <p:nvPr/>
        </p:nvSpPr>
        <p:spPr>
          <a:xfrm>
            <a:off x="7393404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85554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3" name="Shape 3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4" name="bld3_1413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450" dirty="0"/>
          </a:p>
        </p:txBody>
      </p:sp>
      <p:sp>
        <p:nvSpPr>
          <p:cNvPr id="35" name="bld3_1414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creamy, true-to-life sandalwood. Base note, long, intense at tiny doses — a modern sandalwood benchmark.</a:t>
            </a:r>
            <a:endParaRPr lang="en-US" sz="1080" dirty="0"/>
          </a:p>
        </p:txBody>
      </p:sp>
      <p:sp>
        <p:nvSpPr>
          <p:cNvPr id="36" name="bld4_1415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09766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190599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71432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23165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43" name="bld4_1417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Ebanol</a:t>
            </a:r>
            <a:endParaRPr lang="en-US" sz="1450" dirty="0"/>
          </a:p>
        </p:txBody>
      </p:sp>
      <p:sp>
        <p:nvSpPr>
          <p:cNvPr id="44" name="bld4_1418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sandalwood with a drier edge than Javanol. Base note, long — a versatile, affordable sandalwood substitute.</a:t>
            </a:r>
            <a:endParaRPr lang="en-US" sz="1080" dirty="0"/>
          </a:p>
        </p:txBody>
      </p:sp>
      <p:sp>
        <p:nvSpPr>
          <p:cNvPr id="45" name="bld5_1419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7" name="Shape 45"/>
          <p:cNvSpPr/>
          <p:nvPr/>
        </p:nvSpPr>
        <p:spPr>
          <a:xfrm>
            <a:off x="1596931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8" name="Shape 46"/>
          <p:cNvSpPr/>
          <p:nvPr/>
        </p:nvSpPr>
        <p:spPr>
          <a:xfrm>
            <a:off x="1718180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810330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1" name="bld5_1421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450" dirty="0"/>
          </a:p>
        </p:txBody>
      </p:sp>
      <p:sp>
        <p:nvSpPr>
          <p:cNvPr id="52" name="bld5_1422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milky, gentle sandalwood effect. Base note, medium-long — the mildest of the sandalwood synthetics.</a:t>
            </a:r>
            <a:endParaRPr lang="en-US" sz="1080" dirty="0"/>
          </a:p>
        </p:txBody>
      </p:sp>
      <p:sp>
        <p:nvSpPr>
          <p:cNvPr id="53" name="bld6_1423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5" name="Shape 53"/>
          <p:cNvSpPr/>
          <p:nvPr/>
        </p:nvSpPr>
        <p:spPr>
          <a:xfrm>
            <a:off x="4434543" y="4337182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6" name="Shape 54"/>
          <p:cNvSpPr/>
          <p:nvPr/>
        </p:nvSpPr>
        <p:spPr>
          <a:xfrm>
            <a:off x="4555792" y="4458432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647942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8" name="Shape 5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9" name="bld6_1425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Bacdanol</a:t>
            </a:r>
            <a:endParaRPr lang="en-US" sz="1450" dirty="0"/>
          </a:p>
        </p:txBody>
      </p:sp>
      <p:sp>
        <p:nvSpPr>
          <p:cNvPr id="60" name="bld6_1426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woody-balsamic sandalwood facet. Base note, long — adds roundness alongside sharper woods.</a:t>
            </a:r>
            <a:endParaRPr lang="en-US" sz="1080" dirty="0"/>
          </a:p>
        </p:txBody>
      </p:sp>
      <p:sp>
        <p:nvSpPr>
          <p:cNvPr id="61" name="bld7_1427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3" name="Shape 61"/>
          <p:cNvSpPr/>
          <p:nvPr/>
        </p:nvSpPr>
        <p:spPr>
          <a:xfrm>
            <a:off x="7272155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352988" y="4418015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65" name="Shape 63"/>
          <p:cNvSpPr/>
          <p:nvPr/>
        </p:nvSpPr>
        <p:spPr>
          <a:xfrm>
            <a:off x="7433821" y="4498848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485554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67" name="Shape 6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8" name="bld7_1429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Polysantol</a:t>
            </a:r>
            <a:endParaRPr lang="en-US" sz="1450" dirty="0"/>
          </a:p>
        </p:txBody>
      </p:sp>
      <p:sp>
        <p:nvSpPr>
          <p:cNvPr id="69" name="bld7_1430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Intense, creamy-sweet sandalwood character. Base note, long, potent — used in very small amounts.</a:t>
            </a:r>
            <a:endParaRPr lang="en-US" sz="1080" dirty="0"/>
          </a:p>
        </p:txBody>
      </p:sp>
      <p:sp>
        <p:nvSpPr>
          <p:cNvPr id="70" name="bld8_1431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72" name="Shape 70"/>
          <p:cNvSpPr/>
          <p:nvPr/>
        </p:nvSpPr>
        <p:spPr>
          <a:xfrm>
            <a:off x="10109766" y="4337182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158266" y="4385682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4" name="Shape 72"/>
          <p:cNvSpPr/>
          <p:nvPr/>
        </p:nvSpPr>
        <p:spPr>
          <a:xfrm>
            <a:off x="10206766" y="4434182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255266" y="4482681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76" name="Shape 74"/>
          <p:cNvSpPr/>
          <p:nvPr/>
        </p:nvSpPr>
        <p:spPr>
          <a:xfrm>
            <a:off x="10303766" y="4531181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323165" y="4550581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79" name="bld8_1433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Kephalis</a:t>
            </a:r>
            <a:endParaRPr lang="en-US" sz="1450" dirty="0"/>
          </a:p>
        </p:txBody>
      </p:sp>
      <p:sp>
        <p:nvSpPr>
          <p:cNvPr id="80" name="bld8_1434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Dry, vetiver-cedar textured woodiness. Base note, long — adds grain and structure rather than smoothness.</a:t>
            </a:r>
            <a:endParaRPr lang="en-US" sz="1080" dirty="0"/>
          </a:p>
        </p:txBody>
      </p:sp>
      <p:sp>
        <p:nvSpPr>
          <p:cNvPr id="82" name="trans_fade_8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3" name="Text 8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6" grpId="0"/>
      <p:bldP spid="27" grpId="0"/>
      <p:bldP spid="28" grpId="0"/>
      <p:bldP spid="34" grpId="0"/>
      <p:bldP spid="35" grpId="0"/>
      <p:bldP spid="36" grpId="0"/>
      <p:bldP spid="43" grpId="0"/>
      <p:bldP spid="44" grpId="0"/>
      <p:bldP spid="45" grpId="0"/>
      <p:bldP spid="51" grpId="0"/>
      <p:bldP spid="52" grpId="0"/>
      <p:bldP spid="53" grpId="0"/>
      <p:bldP spid="59" grpId="0"/>
      <p:bldP spid="60" grpId="0"/>
      <p:bldP spid="61" grpId="0"/>
      <p:bldP spid="68" grpId="0"/>
      <p:bldP spid="69" grpId="0"/>
      <p:bldP spid="70" grpId="0"/>
      <p:bldP spid="79" grpId="0"/>
      <p:bldP spid="80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woody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1005612" y="1756220"/>
            <a:ext cx="1516759" cy="151675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57288" y="1907896"/>
            <a:ext cx="1213407" cy="1213407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0" name="Shape 8"/>
          <p:cNvSpPr/>
          <p:nvPr/>
        </p:nvSpPr>
        <p:spPr>
          <a:xfrm>
            <a:off x="1308964" y="2059572"/>
            <a:ext cx="910056" cy="91005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0640" y="2211248"/>
            <a:ext cx="606704" cy="606704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12316" y="2362924"/>
            <a:ext cx="303352" cy="303352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72986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bld1_1436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800" dirty="0"/>
          </a:p>
        </p:txBody>
      </p:sp>
      <p:sp>
        <p:nvSpPr>
          <p:cNvPr id="16" name="bld1_1437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7" name="bld1_1438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Velvety, transparent, huge volume</a:t>
            </a:r>
            <a:endParaRPr lang="en-US" sz="1100" dirty="0"/>
          </a:p>
        </p:txBody>
      </p:sp>
      <p:sp>
        <p:nvSpPr>
          <p:cNvPr id="18" name="bld1_1439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9" name="bld1_1440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without weight</a:t>
            </a:r>
            <a:endParaRPr lang="en-US" sz="1100" dirty="0"/>
          </a:p>
        </p:txBody>
      </p:sp>
      <p:sp>
        <p:nvSpPr>
          <p:cNvPr id="20" name="bld1_1441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1" name="bld1_1442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any dose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3" name="Shape 21"/>
          <p:cNvSpPr/>
          <p:nvPr/>
        </p:nvSpPr>
        <p:spPr>
          <a:xfrm>
            <a:off x="3436316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4" name="Shape 22"/>
          <p:cNvSpPr/>
          <p:nvPr/>
        </p:nvSpPr>
        <p:spPr>
          <a:xfrm>
            <a:off x="3625911" y="1945815"/>
            <a:ext cx="1137569" cy="113756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15506" y="2135410"/>
            <a:ext cx="758380" cy="758380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6" name="Shape 24"/>
          <p:cNvSpPr/>
          <p:nvPr/>
        </p:nvSpPr>
        <p:spPr>
          <a:xfrm>
            <a:off x="4005101" y="2325005"/>
            <a:ext cx="379190" cy="37919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03690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29" name="bld2_1444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</a:t>
            </a:r>
            <a:endParaRPr lang="en-US" sz="1800" dirty="0"/>
          </a:p>
        </p:txBody>
      </p:sp>
      <p:sp>
        <p:nvSpPr>
          <p:cNvPr id="30" name="bld2_1445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1446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musky, spiced woodiness</a:t>
            </a:r>
            <a:endParaRPr lang="en-US" sz="1100" dirty="0"/>
          </a:p>
        </p:txBody>
      </p:sp>
      <p:sp>
        <p:nvSpPr>
          <p:cNvPr id="32" name="bld2_1447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1448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Cosy, enveloping warmth</a:t>
            </a:r>
            <a:endParaRPr lang="en-US" sz="1100" dirty="0"/>
          </a:p>
        </p:txBody>
      </p:sp>
      <p:sp>
        <p:nvSpPr>
          <p:cNvPr id="34" name="bld2_1449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1450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7" name="Shape 35"/>
          <p:cNvSpPr/>
          <p:nvPr/>
        </p:nvSpPr>
        <p:spPr>
          <a:xfrm>
            <a:off x="5867020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8" name="Shape 36"/>
          <p:cNvSpPr/>
          <p:nvPr/>
        </p:nvSpPr>
        <p:spPr>
          <a:xfrm>
            <a:off x="6246210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34394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40" name="Shape 38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1" name="bld3_1452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Javanol</a:t>
            </a:r>
            <a:endParaRPr lang="en-US" sz="1800" dirty="0"/>
          </a:p>
        </p:txBody>
      </p:sp>
      <p:sp>
        <p:nvSpPr>
          <p:cNvPr id="42" name="bld3_1453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3" name="bld3_1454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creamy sandalwood</a:t>
            </a:r>
            <a:endParaRPr lang="en-US" sz="1100" dirty="0"/>
          </a:p>
        </p:txBody>
      </p:sp>
      <p:sp>
        <p:nvSpPr>
          <p:cNvPr id="44" name="bld3_1455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5" name="bld3_1456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True-to-life sandalwood, intense</a:t>
            </a:r>
            <a:endParaRPr lang="en-US" sz="1100" dirty="0"/>
          </a:p>
        </p:txBody>
      </p:sp>
      <p:sp>
        <p:nvSpPr>
          <p:cNvPr id="46" name="bld3_1457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7" name="bld3_1458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tiny dose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9" name="Shape 47"/>
          <p:cNvSpPr/>
          <p:nvPr/>
        </p:nvSpPr>
        <p:spPr>
          <a:xfrm>
            <a:off x="8297724" y="1756220"/>
            <a:ext cx="1516759" cy="151675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50" name="Shape 48"/>
          <p:cNvSpPr/>
          <p:nvPr/>
        </p:nvSpPr>
        <p:spPr>
          <a:xfrm>
            <a:off x="8676914" y="2135410"/>
            <a:ext cx="758380" cy="75838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65098" y="2423594"/>
            <a:ext cx="182011" cy="182011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53" name="bld4_1460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Sandalore</a:t>
            </a:r>
            <a:endParaRPr lang="en-US" sz="1800" dirty="0"/>
          </a:p>
        </p:txBody>
      </p:sp>
      <p:sp>
        <p:nvSpPr>
          <p:cNvPr id="54" name="bld4_1461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1462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milky sandalwood</a:t>
            </a:r>
            <a:endParaRPr lang="en-US" sz="1100" dirty="0"/>
          </a:p>
        </p:txBody>
      </p:sp>
      <p:sp>
        <p:nvSpPr>
          <p:cNvPr id="56" name="bld4_1463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1464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mildest sandalwood effect</a:t>
            </a:r>
            <a:endParaRPr lang="en-US" sz="1100" dirty="0"/>
          </a:p>
        </p:txBody>
      </p:sp>
      <p:sp>
        <p:nvSpPr>
          <p:cNvPr id="58" name="bld4_1465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6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1466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medium-long</a:t>
            </a:r>
            <a:endParaRPr lang="en-US" sz="1100" dirty="0"/>
          </a:p>
        </p:txBody>
      </p:sp>
      <p:sp>
        <p:nvSpPr>
          <p:cNvPr id="61" name="trans_fade_9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4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AEC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" name="Shape 8"/>
          <p:cNvSpPr/>
          <p:nvPr/>
        </p:nvSpPr>
        <p:spPr>
          <a:xfrm rot="10800000">
            <a:off x="1824945" y="3379165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4400000">
            <a:off x="2100738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8000000">
            <a:off x="2100738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24945" y="4016081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3600000">
            <a:off x="1549152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7200000">
            <a:off x="1549152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61254" y="3863221"/>
            <a:ext cx="305720" cy="30572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8" name="bld1_1468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>
            <a:off x="3822037" y="3547815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4320000">
            <a:off x="4158185" y="3792042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640000">
            <a:off x="4029788" y="418720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12960000">
            <a:off x="3614285" y="418720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17280000">
            <a:off x="3485888" y="3792042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29354" y="4109819"/>
            <a:ext cx="351252" cy="35125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6" name="Shape 24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7" name="bld2_1470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9" name="Shape 27"/>
          <p:cNvSpPr/>
          <p:nvPr/>
        </p:nvSpPr>
        <p:spPr>
          <a:xfrm rot="10800000">
            <a:off x="6006679" y="3379165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4400000">
            <a:off x="6282472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8000000">
            <a:off x="6282472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06679" y="4016081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3600000">
            <a:off x="5730887" y="3856852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7200000">
            <a:off x="5730887" y="3538394"/>
            <a:ext cx="178337" cy="636916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942988" y="3863221"/>
            <a:ext cx="305720" cy="30572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6" name="Shape 34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7" name="bld3_1472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Benzyl Acetate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1177" y="3863552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2700000">
            <a:off x="8227368" y="3919964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5400000">
            <a:off x="8283781" y="4056156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8100000">
            <a:off x="8227368" y="4192347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0800000">
            <a:off x="8091177" y="4248759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3500000">
            <a:off x="7954986" y="4192347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6200000">
            <a:off x="7898574" y="4056156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8900000">
            <a:off x="7954986" y="3919964"/>
            <a:ext cx="191075" cy="458580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84808" y="4183539"/>
            <a:ext cx="203813" cy="20381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8" name="Shape 46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9" name="bld4_1474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 Ionone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1" name="Shape 49"/>
          <p:cNvSpPr/>
          <p:nvPr/>
        </p:nvSpPr>
        <p:spPr>
          <a:xfrm>
            <a:off x="10094638" y="3278451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4320000">
            <a:off x="10430787" y="352267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640000">
            <a:off x="10302389" y="3917844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2960000">
            <a:off x="9886886" y="3917844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7280000">
            <a:off x="9758489" y="3522678"/>
            <a:ext cx="365888" cy="76836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0101955" y="3840455"/>
            <a:ext cx="351252" cy="35125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7" name="Shape 5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8" name="bld5_1476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4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350" dirty="0"/>
          </a:p>
        </p:txBody>
      </p:sp>
      <p:sp>
        <p:nvSpPr>
          <p:cNvPr id="60" name="trans_fade_9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1" name="Text 5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27" grpId="0"/>
      <p:bldP spid="37" grpId="0"/>
      <p:bldP spid="49" grpId="0"/>
      <p:bldP spid="58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Isolated, hyper-true floral facets</a:t>
            </a:r>
            <a:endParaRPr lang="en-US" sz="3200" dirty="0"/>
          </a:p>
        </p:txBody>
      </p:sp>
      <p:sp>
        <p:nvSpPr>
          <p:cNvPr id="7" name="bld1_1477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521719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62672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62672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1719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41671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41671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97469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479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480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jasmine-like material valued for space, diffusion and radiance — not simply "jasmine."</a:t>
            </a:r>
            <a:endParaRPr lang="en-US" sz="1080" dirty="0"/>
          </a:p>
        </p:txBody>
      </p:sp>
      <p:sp>
        <p:nvSpPr>
          <p:cNvPr id="19" name="bld2_1481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9383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3841237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386271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3841237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3789383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373753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3716052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373753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86958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483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Hydroxycitronellal</a:t>
            </a:r>
            <a:endParaRPr lang="en-US" sz="1450" dirty="0"/>
          </a:p>
        </p:txBody>
      </p:sp>
      <p:sp>
        <p:nvSpPr>
          <p:cNvPr id="32" name="bld2_1484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muguet (lily-of-the-valley) floral. Heart note, medium — a clean, slightly waxy floral lift.</a:t>
            </a:r>
            <a:endParaRPr lang="en-US" sz="1080" dirty="0"/>
          </a:p>
        </p:txBody>
      </p:sp>
      <p:sp>
        <p:nvSpPr>
          <p:cNvPr id="33" name="bld3_1485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223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4320000">
            <a:off x="614661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8640000">
            <a:off x="610406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2960000">
            <a:off x="596637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7280000">
            <a:off x="5923829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037648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1" name="Shape 39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42" name="bld3_1487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450" dirty="0"/>
          </a:p>
        </p:txBody>
      </p:sp>
      <p:sp>
        <p:nvSpPr>
          <p:cNvPr id="43" name="bld3_1488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rosy, slightly honeyed. Heart note, medium — the single most-used rose material in the world.</a:t>
            </a:r>
            <a:endParaRPr lang="en-US" sz="1080" dirty="0"/>
          </a:p>
        </p:txBody>
      </p:sp>
      <p:sp>
        <p:nvSpPr>
          <p:cNvPr id="44" name="bld4_1489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6" name="Shape 44"/>
          <p:cNvSpPr/>
          <p:nvPr/>
        </p:nvSpPr>
        <p:spPr>
          <a:xfrm rot="10800000">
            <a:off x="8331987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4400000">
            <a:off x="8436992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8000000">
            <a:off x="8436992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31987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3600000">
            <a:off x="8226982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7200000">
            <a:off x="8226982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307737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3" name="Shape 51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54" name="bld4_1491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Benzyl Acetate</a:t>
            </a:r>
            <a:endParaRPr lang="en-US" sz="1450" dirty="0"/>
          </a:p>
        </p:txBody>
      </p:sp>
      <p:sp>
        <p:nvSpPr>
          <p:cNvPr id="55" name="bld4_1492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fruity-jasmine, pear-like. Top-heart, medium — a bright lift inside a jasmine accord.</a:t>
            </a:r>
            <a:endParaRPr lang="en-US" sz="1080" dirty="0"/>
          </a:p>
        </p:txBody>
      </p:sp>
      <p:sp>
        <p:nvSpPr>
          <p:cNvPr id="56" name="bld5_1493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599652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2700000">
            <a:off x="10651505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5400000">
            <a:off x="10672983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8100000">
            <a:off x="10651505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0800000">
            <a:off x="10599652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3500000">
            <a:off x="10547798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6200000">
            <a:off x="10526320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8900000">
            <a:off x="10547798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597227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7" name="Shape 65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8" name="bld5_1495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Linalool</a:t>
            </a:r>
            <a:endParaRPr lang="en-US" sz="1450" dirty="0"/>
          </a:p>
        </p:txBody>
      </p:sp>
      <p:sp>
        <p:nvSpPr>
          <p:cNvPr id="69" name="bld5_1496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Floral-woody freshness, occurs naturally too. Top-heart, medium — a foundational, near-invisible freshener.</a:t>
            </a:r>
            <a:endParaRPr lang="en-US" sz="1080" dirty="0"/>
          </a:p>
        </p:txBody>
      </p:sp>
      <p:sp>
        <p:nvSpPr>
          <p:cNvPr id="70" name="bld6_1497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72" name="Shape 70"/>
          <p:cNvSpPr/>
          <p:nvPr/>
        </p:nvSpPr>
        <p:spPr>
          <a:xfrm>
            <a:off x="1519294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2700000">
            <a:off x="157114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5400000">
            <a:off x="1592626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 rot="8100000">
            <a:off x="157114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 rot="10800000">
            <a:off x="1519294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13500000">
            <a:off x="1467441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 rot="16200000">
            <a:off x="144596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 rot="18900000">
            <a:off x="1467441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1516869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81" name="Shape 79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82" name="bld6_1499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Linalyl Acetate</a:t>
            </a:r>
            <a:endParaRPr lang="en-US" sz="1450" dirty="0"/>
          </a:p>
        </p:txBody>
      </p:sp>
      <p:sp>
        <p:nvSpPr>
          <p:cNvPr id="83" name="bld6_1500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pear-like, lavender-adjacent. Top note, medium — rounds out linalool with a fruity edge.</a:t>
            </a:r>
            <a:endParaRPr lang="en-US" sz="1080" dirty="0"/>
          </a:p>
        </p:txBody>
      </p:sp>
      <p:sp>
        <p:nvSpPr>
          <p:cNvPr id="84" name="bld7_1501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6" name="Shape 84"/>
          <p:cNvSpPr/>
          <p:nvPr/>
        </p:nvSpPr>
        <p:spPr>
          <a:xfrm>
            <a:off x="3789383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 rot="2700000">
            <a:off x="3841237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 rot="5400000">
            <a:off x="3862715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8100000">
            <a:off x="3841237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 rot="10800000">
            <a:off x="3789383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 rot="13500000">
            <a:off x="3737530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 rot="16200000">
            <a:off x="3716052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 rot="18900000">
            <a:off x="3737530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3786958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95" name="Shape 9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96" name="bld7_1503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Citronellol</a:t>
            </a:r>
            <a:endParaRPr lang="en-US" sz="1450" dirty="0"/>
          </a:p>
        </p:txBody>
      </p:sp>
      <p:sp>
        <p:nvSpPr>
          <p:cNvPr id="97" name="bld7_1504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rosy-citrus freshness. Top-heart, medium — a common rose extender and freshener.</a:t>
            </a:r>
            <a:endParaRPr lang="en-US" sz="1080" dirty="0"/>
          </a:p>
        </p:txBody>
      </p:sp>
      <p:sp>
        <p:nvSpPr>
          <p:cNvPr id="98" name="bld8_1505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00" name="Shape 98"/>
          <p:cNvSpPr/>
          <p:nvPr/>
        </p:nvSpPr>
        <p:spPr>
          <a:xfrm>
            <a:off x="6059473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 rot="2700000">
            <a:off x="6111326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5400000">
            <a:off x="6132804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8100000">
            <a:off x="6111326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 rot="10800000">
            <a:off x="6059473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 rot="13500000">
            <a:off x="6007619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 rot="16200000">
            <a:off x="5986141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 rot="18900000">
            <a:off x="6007619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6057048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10" name="bld8_1507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Geraniol</a:t>
            </a:r>
            <a:endParaRPr lang="en-US" sz="1450" dirty="0"/>
          </a:p>
        </p:txBody>
      </p:sp>
      <p:sp>
        <p:nvSpPr>
          <p:cNvPr id="111" name="bld8_1508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Rosy, slightly sweet, geranium-adjacent. Heart note, medium — pairs naturally with citronellol.</a:t>
            </a:r>
            <a:endParaRPr lang="en-US" sz="1080" dirty="0"/>
          </a:p>
        </p:txBody>
      </p:sp>
      <p:sp>
        <p:nvSpPr>
          <p:cNvPr id="112" name="bld9_1509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329562" y="4419050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 rot="2700000">
            <a:off x="8381416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 rot="5400000">
            <a:off x="8402894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 rot="8100000">
            <a:off x="8381416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 rot="10800000">
            <a:off x="8329562" y="456571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 rot="13500000">
            <a:off x="8277709" y="4544235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 rot="16200000">
            <a:off x="8256231" y="449238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 rot="18900000">
            <a:off x="8277709" y="444052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327137" y="4540881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24" name="bld9_1511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Ionones</a:t>
            </a:r>
            <a:endParaRPr lang="en-US" sz="1450" dirty="0"/>
          </a:p>
        </p:txBody>
      </p:sp>
      <p:sp>
        <p:nvSpPr>
          <p:cNvPr id="125" name="bld9_1512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beta &amp; methyl ionone — powdery violet-woody-suede. Heart-base, medium-long — the entire "violet" effect comes from this trio.</a:t>
            </a:r>
            <a:endParaRPr lang="en-US" sz="1080" dirty="0"/>
          </a:p>
        </p:txBody>
      </p:sp>
      <p:sp>
        <p:nvSpPr>
          <p:cNvPr id="126" name="bld10_1513"/>
          <p:cNvSpPr/>
          <p:nvPr/>
        </p:nvSpPr>
        <p:spPr>
          <a:xfrm>
            <a:off x="962899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575402" y="4335242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 rot="4320000">
            <a:off x="10686796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 rot="8640000">
            <a:off x="10644247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 rot="12960000">
            <a:off x="10506556" y="4547127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 rot="17280000">
            <a:off x="10464007" y="44161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10577827" y="4521481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35" name="bld10_1515"/>
          <p:cNvSpPr txBox="1"/>
          <p:nvPr/>
        </p:nvSpPr>
        <p:spPr>
          <a:xfrm>
            <a:off x="981187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450" dirty="0"/>
          </a:p>
        </p:txBody>
      </p:sp>
      <p:sp>
        <p:nvSpPr>
          <p:cNvPr id="136" name="bld10_1516"/>
          <p:cNvSpPr txBox="1"/>
          <p:nvPr/>
        </p:nvSpPr>
        <p:spPr>
          <a:xfrm>
            <a:off x="981187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metallic-rosy top facet. Top note, short — a tiny dose gives rose an unmistakable natural sparkle.</a:t>
            </a:r>
            <a:endParaRPr lang="en-US" sz="1080" dirty="0"/>
          </a:p>
        </p:txBody>
      </p:sp>
      <p:sp>
        <p:nvSpPr>
          <p:cNvPr id="138" name="trans_fade_9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39" name="Text 1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140" name="Text 1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2" grpId="0"/>
      <p:bldP spid="43" grpId="0"/>
      <p:bldP spid="44" grpId="0"/>
      <p:bldP spid="54" grpId="0"/>
      <p:bldP spid="55" grpId="0"/>
      <p:bldP spid="56" grpId="0"/>
      <p:bldP spid="68" grpId="0"/>
      <p:bldP spid="69" grpId="0"/>
      <p:bldP spid="70" grpId="0"/>
      <p:bldP spid="82" grpId="0"/>
      <p:bldP spid="83" grpId="0"/>
      <p:bldP spid="84" grpId="0"/>
      <p:bldP spid="96" grpId="0"/>
      <p:bldP spid="97" grpId="0"/>
      <p:bldP spid="98" grpId="0"/>
      <p:bldP spid="110" grpId="0"/>
      <p:bldP spid="111" grpId="0"/>
      <p:bldP spid="112" grpId="0"/>
      <p:bldP spid="124" grpId="0"/>
      <p:bldP spid="125" grpId="0"/>
      <p:bldP spid="126" grpId="0"/>
      <p:bldP spid="135" grpId="0"/>
      <p:bldP spid="136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DISTINCTION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vs. Hedione HC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2297631"/>
            <a:ext cx="1341022" cy="134102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" name="Shape 9"/>
          <p:cNvSpPr/>
          <p:nvPr/>
        </p:nvSpPr>
        <p:spPr>
          <a:xfrm rot="10800000">
            <a:off x="8887790" y="2445144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4400000">
            <a:off x="9114256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8000000">
            <a:off x="9114256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87790" y="2968142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3600000">
            <a:off x="8661325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7200000">
            <a:off x="8661325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835491" y="2842623"/>
            <a:ext cx="251039" cy="25103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8" name="Shape 16"/>
          <p:cNvSpPr/>
          <p:nvPr/>
        </p:nvSpPr>
        <p:spPr>
          <a:xfrm>
            <a:off x="8290499" y="2297631"/>
            <a:ext cx="1341022" cy="134102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3894" y="2297631"/>
            <a:ext cx="1341022" cy="134102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0" name="Shape 18"/>
          <p:cNvSpPr/>
          <p:nvPr/>
        </p:nvSpPr>
        <p:spPr>
          <a:xfrm rot="10800000">
            <a:off x="10061185" y="2445144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4400000">
            <a:off x="10287650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8000000">
            <a:off x="10287650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61185" y="2968142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3600000">
            <a:off x="9834720" y="28373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7200000">
            <a:off x="9834720" y="2575893"/>
            <a:ext cx="146440" cy="5229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008885" y="2842623"/>
            <a:ext cx="251039" cy="25103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7" name="Shape 25"/>
          <p:cNvSpPr/>
          <p:nvPr/>
        </p:nvSpPr>
        <p:spPr>
          <a:xfrm>
            <a:off x="9463894" y="2297631"/>
            <a:ext cx="1341022" cy="134102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them side by side rather than assuming one simply replaces the other.</a:t>
            </a:r>
            <a:endParaRPr lang="en-US" sz="1050" dirty="0"/>
          </a:p>
        </p:txBody>
      </p:sp>
      <p:sp>
        <p:nvSpPr>
          <p:cNvPr id="29" name="bld1_151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bld1_151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Related, not identical</a:t>
            </a:r>
            <a:endParaRPr lang="en-US" sz="1650" dirty="0"/>
          </a:p>
        </p:txBody>
      </p:sp>
      <p:sp>
        <p:nvSpPr>
          <p:cNvPr id="31" name="bld1_151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HC is a distinct material with its own character — a relative of Hedione, not an interchangeable substitute.</a:t>
            </a:r>
            <a:endParaRPr lang="en-US" sz="1250" dirty="0"/>
          </a:p>
        </p:txBody>
      </p:sp>
      <p:sp>
        <p:nvSpPr>
          <p:cNvPr id="32" name="bld2_152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3" name="bld2_152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reads bright and citrus-dewy</a:t>
            </a:r>
            <a:endParaRPr lang="en-US" sz="1650" dirty="0"/>
          </a:p>
        </p:txBody>
      </p:sp>
      <p:sp>
        <p:nvSpPr>
          <p:cNvPr id="34" name="bld2_152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material — airy, radiant, with a fresh green-citrus edge to its jasmine transparency.</a:t>
            </a:r>
            <a:endParaRPr lang="en-US" sz="1250" dirty="0"/>
          </a:p>
        </p:txBody>
      </p:sp>
      <p:sp>
        <p:nvSpPr>
          <p:cNvPr id="35" name="bld3_152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6" name="bld3_152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HC reads smoother and rounder</a:t>
            </a:r>
            <a:endParaRPr lang="en-US" sz="1650" dirty="0"/>
          </a:p>
        </p:txBody>
      </p:sp>
      <p:sp>
        <p:nvSpPr>
          <p:cNvPr id="37" name="bld3_152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softer and more discreet, with different diffusion behaviour worth evaluating on its own strip.</a:t>
            </a:r>
            <a:endParaRPr lang="en-US" sz="1250" dirty="0"/>
          </a:p>
        </p:txBody>
      </p:sp>
      <p:sp>
        <p:nvSpPr>
          <p:cNvPr id="39" name="trans_fade_9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0" name="Text 3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floral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 rot="10800000">
            <a:off x="1657819" y="175622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14400000">
            <a:off x="1986207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8000000">
            <a:off x="1986207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57819" y="2514600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3600000">
            <a:off x="1329431" y="232500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7200000">
            <a:off x="1329431" y="1945815"/>
            <a:ext cx="212346" cy="75838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81981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08470" y="1658992"/>
            <a:ext cx="311130" cy="311130"/>
          </a:xfrm>
          <a:prstGeom prst="star5">
            <a:avLst/>
          </a:prstGeom>
          <a:solidFill>
            <a:srgbClr val="EFB0C8">
              <a:alpha val="90000"/>
            </a:srgbClr>
          </a:solidFill>
          <a:ln/>
        </p:spPr>
      </p:sp>
      <p:sp>
        <p:nvSpPr>
          <p:cNvPr id="17" name="bld1_1527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800" dirty="0"/>
          </a:p>
        </p:txBody>
      </p:sp>
      <p:sp>
        <p:nvSpPr>
          <p:cNvPr id="18" name="bld1_1528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9" name="bld1_1529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Airy, jasmine-adjacent radiance</a:t>
            </a:r>
            <a:endParaRPr lang="en-US" sz="1100" dirty="0"/>
          </a:p>
        </p:txBody>
      </p:sp>
      <p:sp>
        <p:nvSpPr>
          <p:cNvPr id="20" name="bld1_1530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1" name="bld1_1531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space in a formula</a:t>
            </a:r>
            <a:endParaRPr lang="en-US" sz="1100" dirty="0"/>
          </a:p>
        </p:txBody>
      </p:sp>
      <p:sp>
        <p:nvSpPr>
          <p:cNvPr id="22" name="bld1_1532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3" name="bld1_1533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 · diffusive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005101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4320000">
            <a:off x="4353470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8640000">
            <a:off x="4220405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2960000">
            <a:off x="3789797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7280000">
            <a:off x="3656731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12685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1" name="Shape 29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2" name="bld2_1535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Phenylethyl Alcohol</a:t>
            </a:r>
            <a:endParaRPr lang="en-US" sz="1800" dirty="0"/>
          </a:p>
        </p:txBody>
      </p:sp>
      <p:sp>
        <p:nvSpPr>
          <p:cNvPr id="33" name="bld2_1536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537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rosy, honeyed</a:t>
            </a:r>
            <a:endParaRPr lang="en-US" sz="1100" dirty="0"/>
          </a:p>
        </p:txBody>
      </p:sp>
      <p:sp>
        <p:nvSpPr>
          <p:cNvPr id="35" name="bld2_1538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539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most-used rose note</a:t>
            </a:r>
            <a:endParaRPr lang="en-US" sz="1100" dirty="0"/>
          </a:p>
        </p:txBody>
      </p:sp>
      <p:sp>
        <p:nvSpPr>
          <p:cNvPr id="37" name="bld2_1540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541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0" name="Shape 38"/>
          <p:cNvSpPr/>
          <p:nvPr/>
        </p:nvSpPr>
        <p:spPr>
          <a:xfrm>
            <a:off x="6511643" y="2012249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2700000">
            <a:off x="6673806" y="2079420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5400000">
            <a:off x="6740977" y="2241583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8100000">
            <a:off x="6673806" y="240374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0800000">
            <a:off x="6511643" y="247091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3500000">
            <a:off x="6349479" y="2403747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6200000">
            <a:off x="6282309" y="2241583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8900000">
            <a:off x="6349479" y="2079420"/>
            <a:ext cx="227514" cy="54603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504059" y="2393259"/>
            <a:ext cx="242681" cy="242681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9" name="Shape 47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50" name="bld3_1543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Ionones</a:t>
            </a:r>
            <a:endParaRPr lang="en-US" sz="1800" dirty="0"/>
          </a:p>
        </p:txBody>
      </p:sp>
      <p:sp>
        <p:nvSpPr>
          <p:cNvPr id="51" name="bld3_1544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2" name="bld3_1545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 violet-woody-suede</a:t>
            </a:r>
            <a:endParaRPr lang="en-US" sz="1100" dirty="0"/>
          </a:p>
        </p:txBody>
      </p:sp>
      <p:sp>
        <p:nvSpPr>
          <p:cNvPr id="53" name="bld3_1546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4" name="bld3_1547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"violet" effect</a:t>
            </a:r>
            <a:endParaRPr lang="en-US" sz="1100" dirty="0"/>
          </a:p>
        </p:txBody>
      </p:sp>
      <p:sp>
        <p:nvSpPr>
          <p:cNvPr id="55" name="bld3_1548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6" name="bld3_1549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Heart-base · medium-long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8866508" y="1750153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4320000">
            <a:off x="9214878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640000">
            <a:off x="9081813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8651204" y="2412791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8518139" y="2003259"/>
            <a:ext cx="379190" cy="7962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874092" y="2332589"/>
            <a:ext cx="364022" cy="364022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4" name="Shape 62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5" name="bld4_1551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Oxide</a:t>
            </a:r>
            <a:endParaRPr lang="en-US" sz="1800" dirty="0"/>
          </a:p>
        </p:txBody>
      </p:sp>
      <p:sp>
        <p:nvSpPr>
          <p:cNvPr id="66" name="bld4_1552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67" name="bld4_1553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metallic-rosy</a:t>
            </a:r>
            <a:endParaRPr lang="en-US" sz="1100" dirty="0"/>
          </a:p>
        </p:txBody>
      </p:sp>
      <p:sp>
        <p:nvSpPr>
          <p:cNvPr id="68" name="bld4_1554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69" name="bld4_1555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sparkle at a tiny dose</a:t>
            </a:r>
            <a:endParaRPr lang="en-US" sz="1100" dirty="0"/>
          </a:p>
        </p:txBody>
      </p:sp>
      <p:sp>
        <p:nvSpPr>
          <p:cNvPr id="70" name="bld4_1556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7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71" name="bld4_1557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potent</a:t>
            </a:r>
            <a:endParaRPr lang="en-US" sz="1100" dirty="0"/>
          </a:p>
        </p:txBody>
      </p:sp>
      <p:sp>
        <p:nvSpPr>
          <p:cNvPr id="73" name="trans_fade_9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4" name="Text 7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65" grpId="0"/>
      <p:bldP spid="66" grpId="0"/>
      <p:bldP spid="67" grpId="0"/>
      <p:bldP spid="68" grpId="0"/>
      <p:bldP spid="69" grpId="0"/>
      <p:bldP spid="70" grpId="0"/>
      <p:bldP spid="7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5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&amp; Green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EBF3E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GREEN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0" name="Shape 8"/>
          <p:cNvSpPr/>
          <p:nvPr/>
        </p:nvSpPr>
        <p:spPr>
          <a:xfrm>
            <a:off x="1203316" y="3479523"/>
            <a:ext cx="1073117" cy="1073117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278434" y="3554641"/>
            <a:ext cx="922880" cy="92288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16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432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648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864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080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296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512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728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9440000">
            <a:off x="1713047" y="3586835"/>
            <a:ext cx="53656" cy="418515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86219" y="3962426"/>
            <a:ext cx="107312" cy="10731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979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24" name="bld1_1559"/>
          <p:cNvSpPr txBox="1"/>
          <p:nvPr/>
        </p:nvSpPr>
        <p:spPr>
          <a:xfrm>
            <a:off x="914400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6" name="Shape 24"/>
          <p:cNvSpPr/>
          <p:nvPr/>
        </p:nvSpPr>
        <p:spPr>
          <a:xfrm rot="15300000">
            <a:off x="3064844" y="4045564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3050000">
            <a:off x="3180440" y="421856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0800000">
            <a:off x="3377464" y="428544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8550000">
            <a:off x="3574488" y="4218565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6300000">
            <a:off x="3690083" y="4045564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691916" y="3495098"/>
            <a:ext cx="1580695" cy="158069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2" name="bld2_1561"/>
          <p:cNvSpPr txBox="1"/>
          <p:nvPr/>
        </p:nvSpPr>
        <p:spPr>
          <a:xfrm>
            <a:off x="2656789" y="5222097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4" name="Shape 32"/>
          <p:cNvSpPr/>
          <p:nvPr/>
        </p:nvSpPr>
        <p:spPr>
          <a:xfrm rot="15300000">
            <a:off x="4861343" y="3807296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3050000">
            <a:off x="4961954" y="395787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0800000">
            <a:off x="5133438" y="4016081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 rot="8550000">
            <a:off x="5304922" y="395787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6300000">
            <a:off x="5405533" y="3807296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36758" y="3328186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0" name="bld3_1563"/>
          <p:cNvSpPr txBox="1"/>
          <p:nvPr/>
        </p:nvSpPr>
        <p:spPr>
          <a:xfrm>
            <a:off x="4399178" y="4850281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cis-3-Hexenyl Acetate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2" name="Shape 40"/>
          <p:cNvSpPr/>
          <p:nvPr/>
        </p:nvSpPr>
        <p:spPr>
          <a:xfrm rot="15300000">
            <a:off x="6603733" y="407666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3050000">
            <a:off x="6704343" y="4227234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0800000">
            <a:off x="6875827" y="4285445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8550000">
            <a:off x="7047311" y="4227234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6300000">
            <a:off x="7147922" y="4076660"/>
            <a:ext cx="182430" cy="563386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79147" y="3597550"/>
            <a:ext cx="1375791" cy="1375791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8" name="bld4_1565"/>
          <p:cNvSpPr txBox="1"/>
          <p:nvPr/>
        </p:nvSpPr>
        <p:spPr>
          <a:xfrm>
            <a:off x="6141568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Stemone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0" name="Shape 48"/>
          <p:cNvSpPr/>
          <p:nvPr/>
        </p:nvSpPr>
        <p:spPr>
          <a:xfrm rot="15300000">
            <a:off x="8292012" y="3776200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3050000">
            <a:off x="8407607" y="394920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0800000">
            <a:off x="8604631" y="401608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8550000">
            <a:off x="8801655" y="3949201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6300000">
            <a:off x="8917251" y="3776200"/>
            <a:ext cx="209600" cy="647295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19084" y="3225734"/>
            <a:ext cx="1580695" cy="1580695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6" name="bld5_1567"/>
          <p:cNvSpPr txBox="1"/>
          <p:nvPr/>
        </p:nvSpPr>
        <p:spPr>
          <a:xfrm>
            <a:off x="7883957" y="4952733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Triplal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76230" y="3909855"/>
            <a:ext cx="751182" cy="751182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763925" y="3597550"/>
            <a:ext cx="1375791" cy="1375791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60" name="bld6_1569"/>
          <p:cNvSpPr txBox="1"/>
          <p:nvPr/>
        </p:nvSpPr>
        <p:spPr>
          <a:xfrm>
            <a:off x="9626346" y="5119645"/>
            <a:ext cx="16509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E5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</a:t>
            </a:r>
            <a:endParaRPr lang="en-US" sz="1350" dirty="0"/>
          </a:p>
        </p:txBody>
      </p:sp>
      <p:sp>
        <p:nvSpPr>
          <p:cNvPr id="62" name="trans_fade_9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3" name="Text 6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32" grpId="0"/>
      <p:bldP spid="40" grpId="0"/>
      <p:bldP spid="48" grpId="0"/>
      <p:bldP spid="56" grpId="0"/>
      <p:bldP spid="60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&amp; GREEN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kinds of "fresh"</a:t>
            </a:r>
            <a:endParaRPr lang="en-US" sz="3200" dirty="0"/>
          </a:p>
        </p:txBody>
      </p:sp>
      <p:sp>
        <p:nvSpPr>
          <p:cNvPr id="7" name="bld1_1570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9" name="Shape 7"/>
          <p:cNvSpPr/>
          <p:nvPr/>
        </p:nvSpPr>
        <p:spPr>
          <a:xfrm>
            <a:off x="2069866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1038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23002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81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1572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24" name="bld1_1573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freshness. Explosive, citrus-aromatic and clean. Top note, medium — the backbone of the 1990s "fresh" trend.</a:t>
            </a:r>
            <a:endParaRPr lang="en-US" sz="1080" dirty="0"/>
          </a:p>
        </p:txBody>
      </p:sp>
      <p:sp>
        <p:nvSpPr>
          <p:cNvPr id="25" name="bld2_1574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7" name="Shape 25"/>
          <p:cNvSpPr/>
          <p:nvPr/>
        </p:nvSpPr>
        <p:spPr>
          <a:xfrm rot="15300000">
            <a:off x="5931649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3050000">
            <a:off x="5977120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10800000">
            <a:off x="6054623" y="2220529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550000">
            <a:off x="6132125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6300000">
            <a:off x="6177597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3" name="bld2_1576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450" dirty="0"/>
          </a:p>
        </p:txBody>
      </p:sp>
      <p:sp>
        <p:nvSpPr>
          <p:cNvPr id="34" name="bld2_1577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freshness. Sharp, cut-grass green — the exact smell of a freshly mown lawn. Top note, short, dosed carefully.</a:t>
            </a:r>
            <a:endParaRPr lang="en-US" sz="1080" dirty="0"/>
          </a:p>
        </p:txBody>
      </p:sp>
      <p:sp>
        <p:nvSpPr>
          <p:cNvPr id="35" name="bld3_1578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7" name="Shape 35"/>
          <p:cNvSpPr/>
          <p:nvPr/>
        </p:nvSpPr>
        <p:spPr>
          <a:xfrm rot="15300000">
            <a:off x="9715131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13050000">
            <a:off x="9760603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0800000">
            <a:off x="9838105" y="2220529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8550000">
            <a:off x="9915608" y="21942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6300000">
            <a:off x="9961079" y="2126168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43" name="bld3_1580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cis-3-Hexenyl Acetate</a:t>
            </a:r>
            <a:endParaRPr lang="en-US" sz="1450" dirty="0"/>
          </a:p>
        </p:txBody>
      </p:sp>
      <p:sp>
        <p:nvSpPr>
          <p:cNvPr id="44" name="bld3_1581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green freshness. Green-fruity, pear-skin quality — gentler than raw leaf alcohol. Top note, short.</a:t>
            </a:r>
            <a:endParaRPr lang="en-US" sz="1080" dirty="0"/>
          </a:p>
        </p:txBody>
      </p:sp>
      <p:sp>
        <p:nvSpPr>
          <p:cNvPr id="45" name="bld4_1582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7" name="Shape 45"/>
          <p:cNvSpPr/>
          <p:nvPr/>
        </p:nvSpPr>
        <p:spPr>
          <a:xfrm rot="15300000">
            <a:off x="214816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3050000">
            <a:off x="219363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10800000">
            <a:off x="2271140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8550000">
            <a:off x="234864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6300000">
            <a:off x="2394114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8FBF6B"/>
            </a:solidFill>
            <a:prstDash val="solid"/>
          </a:ln>
        </p:spPr>
      </p:sp>
      <p:sp>
        <p:nvSpPr>
          <p:cNvPr id="53" name="bld4_1584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Stemone</a:t>
            </a:r>
            <a:endParaRPr lang="en-US" sz="1450" dirty="0"/>
          </a:p>
        </p:txBody>
      </p:sp>
      <p:sp>
        <p:nvSpPr>
          <p:cNvPr id="54" name="bld4_1585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Watery, metallic freshness. Green, faintly melon-stem. Top note, short-medium — an unusual, modern accent.</a:t>
            </a:r>
            <a:endParaRPr lang="en-US" sz="1080" dirty="0"/>
          </a:p>
        </p:txBody>
      </p:sp>
      <p:sp>
        <p:nvSpPr>
          <p:cNvPr id="55" name="bld5_1586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7" name="Shape 55"/>
          <p:cNvSpPr/>
          <p:nvPr/>
        </p:nvSpPr>
        <p:spPr>
          <a:xfrm rot="15300000">
            <a:off x="593164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3050000">
            <a:off x="5977120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10800000">
            <a:off x="6054623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550000">
            <a:off x="6132125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6300000">
            <a:off x="617759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3" name="bld5_1588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Triplal</a:t>
            </a:r>
            <a:endParaRPr lang="en-US" sz="1450" dirty="0"/>
          </a:p>
        </p:txBody>
      </p:sp>
      <p:sp>
        <p:nvSpPr>
          <p:cNvPr id="64" name="bld5_1589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floral-leafy freshness. Top note, medium — more versatile and less bitter than galbanum.</a:t>
            </a:r>
            <a:endParaRPr lang="en-US" sz="1080" dirty="0"/>
          </a:p>
        </p:txBody>
      </p:sp>
      <p:sp>
        <p:nvSpPr>
          <p:cNvPr id="65" name="bld6_1590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67" name="Shape 65"/>
          <p:cNvSpPr/>
          <p:nvPr/>
        </p:nvSpPr>
        <p:spPr>
          <a:xfrm>
            <a:off x="9709581" y="4409932"/>
            <a:ext cx="339498" cy="339498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9" name="bld6_1592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 (C8–C10–C11–C12 MNA)</a:t>
            </a:r>
            <a:endParaRPr lang="en-US" sz="1450" dirty="0"/>
          </a:p>
        </p:txBody>
      </p:sp>
      <p:sp>
        <p:nvSpPr>
          <p:cNvPr id="70" name="bld6_1593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Aldehydic sparkle. Soapy, waxy, metallic lift. Top note, medium — the classic "aldehydic" perfume effect.</a:t>
            </a:r>
            <a:endParaRPr lang="en-US" sz="1080" dirty="0"/>
          </a:p>
        </p:txBody>
      </p:sp>
      <p:sp>
        <p:nvSpPr>
          <p:cNvPr id="72" name="trans_fade_9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3" name="Text 7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3" grpId="0"/>
      <p:bldP spid="34" grpId="0"/>
      <p:bldP spid="35" grpId="0"/>
      <p:bldP spid="43" grpId="0"/>
      <p:bldP spid="44" grpId="0"/>
      <p:bldP spid="45" grpId="0"/>
      <p:bldP spid="53" grpId="0"/>
      <p:bldP spid="54" grpId="0"/>
      <p:bldP spid="55" grpId="0"/>
      <p:bldP spid="63" grpId="0"/>
      <p:bldP spid="64" grpId="0"/>
      <p:bldP spid="65" grpId="0"/>
      <p:bldP spid="69" grpId="0"/>
      <p:bldP spid="70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fresh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8" name="Shape 6"/>
          <p:cNvSpPr/>
          <p:nvPr/>
        </p:nvSpPr>
        <p:spPr>
          <a:xfrm>
            <a:off x="1425092" y="1694383"/>
            <a:ext cx="1640434" cy="1640434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39923" y="1809214"/>
            <a:ext cx="1410773" cy="141077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2204298" y="1858427"/>
            <a:ext cx="82022" cy="63976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63288" y="2432578"/>
            <a:ext cx="164043" cy="16404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2" name="bld1_1595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800" dirty="0"/>
          </a:p>
        </p:txBody>
      </p:sp>
      <p:sp>
        <p:nvSpPr>
          <p:cNvPr id="23" name="bld1_1596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4" name="bld1_1597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 citrus-fresh lift</a:t>
            </a:r>
            <a:endParaRPr lang="en-US" sz="1100" dirty="0"/>
          </a:p>
        </p:txBody>
      </p:sp>
      <p:sp>
        <p:nvSpPr>
          <p:cNvPr id="25" name="bld1_1598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6" name="bld1_1599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citrus far past 2 hours</a:t>
            </a:r>
            <a:endParaRPr lang="en-US" sz="1100" dirty="0"/>
          </a:p>
        </p:txBody>
      </p:sp>
      <p:sp>
        <p:nvSpPr>
          <p:cNvPr id="27" name="bld1_1600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8" name="bld1_1601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 · diffusive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64496" y="1940448"/>
            <a:ext cx="1148304" cy="1148304"/>
          </a:xfrm>
          <a:prstGeom prst="star5">
            <a:avLst/>
          </a:prstGeom>
          <a:solidFill>
            <a:srgbClr val="9EC24C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32" name="bld2_1603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Aldehydes</a:t>
            </a:r>
            <a:endParaRPr lang="en-US" sz="1800" dirty="0"/>
          </a:p>
        </p:txBody>
      </p:sp>
      <p:sp>
        <p:nvSpPr>
          <p:cNvPr id="33" name="bld2_1604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4" name="bld2_1605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Sparkling, soapy, waxy</a:t>
            </a:r>
            <a:endParaRPr lang="en-US" sz="1100" dirty="0"/>
          </a:p>
        </p:txBody>
      </p:sp>
      <p:sp>
        <p:nvSpPr>
          <p:cNvPr id="35" name="bld2_1606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6" name="bld2_1607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"aldehydic" lift</a:t>
            </a:r>
            <a:endParaRPr lang="en-US" sz="1100" dirty="0"/>
          </a:p>
        </p:txBody>
      </p:sp>
      <p:sp>
        <p:nvSpPr>
          <p:cNvPr id="37" name="bld2_1608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EC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8" name="bld2_1609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0" name="Shape 38"/>
          <p:cNvSpPr/>
          <p:nvPr/>
        </p:nvSpPr>
        <p:spPr>
          <a:xfrm rot="15300000">
            <a:off x="8476608" y="2195437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13050000">
            <a:off x="8630408" y="2425615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0800000">
            <a:off x="8892549" y="2514600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8550000">
            <a:off x="9154690" y="2425615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6300000">
            <a:off x="9308490" y="2195437"/>
            <a:ext cx="278874" cy="861228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46" name="bld3_1611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800" dirty="0"/>
          </a:p>
        </p:txBody>
      </p:sp>
      <p:sp>
        <p:nvSpPr>
          <p:cNvPr id="47" name="bld3_1612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8" name="bld3_1613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cut-grass green</a:t>
            </a:r>
            <a:endParaRPr lang="en-US" sz="1100" dirty="0"/>
          </a:p>
        </p:txBody>
      </p:sp>
      <p:sp>
        <p:nvSpPr>
          <p:cNvPr id="49" name="bld3_1614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0" name="bld3_1615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freshly-mown-lawn effect</a:t>
            </a:r>
            <a:endParaRPr lang="en-US" sz="1100" dirty="0"/>
          </a:p>
        </p:txBody>
      </p:sp>
      <p:sp>
        <p:nvSpPr>
          <p:cNvPr id="51" name="bld3_1616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C8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2" name="bld3_1617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intimate</a:t>
            </a:r>
            <a:endParaRPr lang="en-US" sz="1100" dirty="0"/>
          </a:p>
        </p:txBody>
      </p:sp>
      <p:sp>
        <p:nvSpPr>
          <p:cNvPr id="54" name="trans_fade_9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5" name="Text 5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6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BE4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0" name="Shape 8"/>
          <p:cNvSpPr/>
          <p:nvPr/>
        </p:nvSpPr>
        <p:spPr>
          <a:xfrm>
            <a:off x="1391842" y="3544763"/>
            <a:ext cx="1044543" cy="104454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908627" y="3519287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2000000">
            <a:off x="1932402" y="3468333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4" name="bld1_1619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6" name="Shape 14"/>
          <p:cNvSpPr/>
          <p:nvPr/>
        </p:nvSpPr>
        <p:spPr>
          <a:xfrm>
            <a:off x="3404924" y="3743931"/>
            <a:ext cx="1200113" cy="120011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999494" y="3714660"/>
            <a:ext cx="914" cy="20489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2000000">
            <a:off x="4023269" y="3656118"/>
            <a:ext cx="278075" cy="190262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0" name="bld2_1621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Fructone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2" name="Shape 20"/>
          <p:cNvSpPr/>
          <p:nvPr/>
        </p:nvSpPr>
        <p:spPr>
          <a:xfrm>
            <a:off x="5573576" y="3544763"/>
            <a:ext cx="1044543" cy="1044543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090361" y="3519287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2000000">
            <a:off x="6114136" y="3468333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6" name="bld3_1623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8" name="Shape 26"/>
          <p:cNvSpPr/>
          <p:nvPr/>
        </p:nvSpPr>
        <p:spPr>
          <a:xfrm>
            <a:off x="7664443" y="3814127"/>
            <a:ext cx="1044543" cy="104454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181228" y="3788651"/>
            <a:ext cx="914" cy="17833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2000000">
            <a:off x="8205003" y="3737697"/>
            <a:ext cx="242028" cy="165598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2" name="bld4_1625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Nonalactone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4" name="Shape 32"/>
          <p:cNvSpPr/>
          <p:nvPr/>
        </p:nvSpPr>
        <p:spPr>
          <a:xfrm>
            <a:off x="9677525" y="3474567"/>
            <a:ext cx="1200113" cy="1200113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72095" y="3445296"/>
            <a:ext cx="914" cy="204897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2000000">
            <a:off x="10295870" y="3386754"/>
            <a:ext cx="278075" cy="190262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8" name="bld5_1627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8A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350" dirty="0"/>
          </a:p>
        </p:txBody>
      </p:sp>
      <p:sp>
        <p:nvSpPr>
          <p:cNvPr id="40" name="trans_fade_9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20" grpId="0"/>
      <p:bldP spid="26" grpId="0"/>
      <p:bldP spid="32" grpId="0"/>
      <p:bldP spid="38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Juicy realism versus candy effect</a:t>
            </a:r>
            <a:endParaRPr lang="en-US" sz="3200" dirty="0"/>
          </a:p>
        </p:txBody>
      </p:sp>
      <p:sp>
        <p:nvSpPr>
          <p:cNvPr id="7" name="bld1_1628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" name="Shape 7"/>
          <p:cNvSpPr/>
          <p:nvPr/>
        </p:nvSpPr>
        <p:spPr>
          <a:xfrm>
            <a:off x="2113516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6879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00">
            <a:off x="2330653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3" name="bld1_1630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450" dirty="0"/>
          </a:p>
        </p:txBody>
      </p:sp>
      <p:sp>
        <p:nvSpPr>
          <p:cNvPr id="14" name="bld1_1631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pear-apple, sharp-fruity. Top note, short — instantly recognisable, easily tips into "candy" if overdosed.</a:t>
            </a:r>
            <a:endParaRPr lang="en-US" sz="1080" dirty="0"/>
          </a:p>
        </p:txBody>
      </p:sp>
      <p:sp>
        <p:nvSpPr>
          <p:cNvPr id="15" name="bld2_1632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6999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090361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2000000">
            <a:off x="6114136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21" name="bld2_1634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Fructone</a:t>
            </a:r>
            <a:endParaRPr lang="en-US" sz="1450" dirty="0"/>
          </a:p>
        </p:txBody>
      </p:sp>
      <p:sp>
        <p:nvSpPr>
          <p:cNvPr id="22" name="bld2_1635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apple-like, gentle fruitiness. Top-heart, medium — a rounder, less sharp fruity effect than most esters.</a:t>
            </a:r>
            <a:endParaRPr lang="en-US" sz="1080" dirty="0"/>
          </a:p>
        </p:txBody>
      </p:sp>
      <p:sp>
        <p:nvSpPr>
          <p:cNvPr id="23" name="bld3_1636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5" name="Shape 23"/>
          <p:cNvSpPr/>
          <p:nvPr/>
        </p:nvSpPr>
        <p:spPr>
          <a:xfrm>
            <a:off x="9680481" y="2041080"/>
            <a:ext cx="397698" cy="397698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9873844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2000000">
            <a:off x="9897618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29" name="bld3_1638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450" dirty="0"/>
          </a:p>
        </p:txBody>
      </p:sp>
      <p:sp>
        <p:nvSpPr>
          <p:cNvPr id="30" name="bld3_1639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Ripe, creamy peach — the definitive lactonic peach material. Heart note, medium-long.</a:t>
            </a:r>
            <a:endParaRPr lang="en-US" sz="1080" dirty="0"/>
          </a:p>
        </p:txBody>
      </p:sp>
      <p:sp>
        <p:nvSpPr>
          <p:cNvPr id="31" name="bld4_1640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13516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306879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2000000">
            <a:off x="2330653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37" name="bld4_1642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Nonalactone</a:t>
            </a:r>
            <a:endParaRPr lang="en-US" sz="1450" dirty="0"/>
          </a:p>
        </p:txBody>
      </p:sp>
      <p:sp>
        <p:nvSpPr>
          <p:cNvPr id="38" name="bld4_1643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coconut-peach, milkier than undecalactone. Heart note, medium-long — softer, more gourmand-adjacent.</a:t>
            </a:r>
            <a:endParaRPr lang="en-US" sz="1080" dirty="0"/>
          </a:p>
        </p:txBody>
      </p:sp>
      <p:sp>
        <p:nvSpPr>
          <p:cNvPr id="39" name="bld5_1644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1" name="Shape 39"/>
          <p:cNvSpPr/>
          <p:nvPr/>
        </p:nvSpPr>
        <p:spPr>
          <a:xfrm>
            <a:off x="5896999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90361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2000000">
            <a:off x="6114136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45" name="bld5_1646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450" dirty="0"/>
          </a:p>
        </p:txBody>
      </p:sp>
      <p:sp>
        <p:nvSpPr>
          <p:cNvPr id="46" name="bld5_1647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pineapple-tropical. Top note, medium — a distinctive tropical-fruit accent used in small amounts.</a:t>
            </a:r>
            <a:endParaRPr lang="en-US" sz="1080" dirty="0"/>
          </a:p>
        </p:txBody>
      </p:sp>
      <p:sp>
        <p:nvSpPr>
          <p:cNvPr id="47" name="bld6_1648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49" name="Shape 47"/>
          <p:cNvSpPr/>
          <p:nvPr/>
        </p:nvSpPr>
        <p:spPr>
          <a:xfrm>
            <a:off x="9680481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873844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12000000">
            <a:off x="9897618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53" name="bld6_1650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 &amp; apple esters</a:t>
            </a:r>
            <a:endParaRPr lang="en-US" sz="1450" dirty="0"/>
          </a:p>
        </p:txBody>
      </p:sp>
      <p:sp>
        <p:nvSpPr>
          <p:cNvPr id="54" name="bld6_1651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family of fruity esters behind most crisp pear and apple effects. Top note, short — juicy realism, dose-dependent.</a:t>
            </a:r>
            <a:endParaRPr lang="en-US" sz="1080" dirty="0"/>
          </a:p>
        </p:txBody>
      </p:sp>
      <p:sp>
        <p:nvSpPr>
          <p:cNvPr id="56" name="trans_fade_9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7" name="Text 5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1" grpId="0"/>
      <p:bldP spid="22" grpId="0"/>
      <p:bldP spid="23" grpId="0"/>
      <p:bldP spid="29" grpId="0"/>
      <p:bldP spid="30" grpId="0"/>
      <p:bldP spid="31" grpId="0"/>
      <p:bldP spid="37" grpId="0"/>
      <p:bldP spid="38" grpId="0"/>
      <p:bldP spid="39" grpId="0"/>
      <p:bldP spid="45" grpId="0"/>
      <p:bldP spid="46" grpId="0"/>
      <p:bldP spid="47" grpId="0"/>
      <p:bldP spid="53" grpId="0"/>
      <p:bldP spid="54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fruity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8" name="Shape 6"/>
          <p:cNvSpPr/>
          <p:nvPr/>
        </p:nvSpPr>
        <p:spPr>
          <a:xfrm>
            <a:off x="1572731" y="1907640"/>
            <a:ext cx="1345156" cy="1345156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39823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2000000">
            <a:off x="2263597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93749" y="1463040"/>
            <a:ext cx="2103120" cy="2103120"/>
          </a:xfrm>
          <a:prstGeom prst="ellipse">
            <a:avLst/>
          </a:prstGeom>
          <a:ln w="25603">
            <a:solidFill>
              <a:srgbClr val="EC8F72"/>
            </a:solidFill>
            <a:prstDash val="solid"/>
          </a:ln>
        </p:spPr>
      </p:sp>
      <p:sp>
        <p:nvSpPr>
          <p:cNvPr id="12" name="bld1_1653"/>
          <p:cNvSpPr txBox="1"/>
          <p:nvPr/>
        </p:nvSpPr>
        <p:spPr>
          <a:xfrm>
            <a:off x="685800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Gamma Undecalactone</a:t>
            </a:r>
            <a:endParaRPr lang="en-US" sz="1800" dirty="0"/>
          </a:p>
        </p:txBody>
      </p:sp>
      <p:sp>
        <p:nvSpPr>
          <p:cNvPr id="13" name="bld1_1654"/>
          <p:cNvSpPr txBox="1"/>
          <p:nvPr/>
        </p:nvSpPr>
        <p:spPr>
          <a:xfrm>
            <a:off x="658368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4" name="bld1_1655"/>
          <p:cNvSpPr txBox="1"/>
          <p:nvPr/>
        </p:nvSpPr>
        <p:spPr>
          <a:xfrm>
            <a:off x="658368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Ripe, creamy peach</a:t>
            </a:r>
            <a:endParaRPr lang="en-US" sz="1100" dirty="0"/>
          </a:p>
        </p:txBody>
      </p:sp>
      <p:sp>
        <p:nvSpPr>
          <p:cNvPr id="15" name="bld1_1656"/>
          <p:cNvSpPr txBox="1"/>
          <p:nvPr/>
        </p:nvSpPr>
        <p:spPr>
          <a:xfrm>
            <a:off x="658368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16" name="bld1_1657"/>
          <p:cNvSpPr txBox="1"/>
          <p:nvPr/>
        </p:nvSpPr>
        <p:spPr>
          <a:xfrm>
            <a:off x="658368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definitive peach note</a:t>
            </a:r>
            <a:endParaRPr lang="en-US" sz="1100" dirty="0"/>
          </a:p>
        </p:txBody>
      </p:sp>
      <p:sp>
        <p:nvSpPr>
          <p:cNvPr id="17" name="bld1_1658"/>
          <p:cNvSpPr txBox="1"/>
          <p:nvPr/>
        </p:nvSpPr>
        <p:spPr>
          <a:xfrm>
            <a:off x="658368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18" name="bld1_1659"/>
          <p:cNvSpPr txBox="1"/>
          <p:nvPr/>
        </p:nvSpPr>
        <p:spPr>
          <a:xfrm>
            <a:off x="658368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· medium-long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20" name="Shape 18"/>
          <p:cNvSpPr/>
          <p:nvPr/>
        </p:nvSpPr>
        <p:spPr>
          <a:xfrm>
            <a:off x="4966070" y="1907640"/>
            <a:ext cx="1345156" cy="1345156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633161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2000000">
            <a:off x="5656936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87088" y="1463040"/>
            <a:ext cx="2103120" cy="21031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4" name="bld2_1661"/>
          <p:cNvSpPr txBox="1"/>
          <p:nvPr/>
        </p:nvSpPr>
        <p:spPr>
          <a:xfrm>
            <a:off x="4079138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Butyrate</a:t>
            </a:r>
            <a:endParaRPr lang="en-US" sz="1800" dirty="0"/>
          </a:p>
        </p:txBody>
      </p:sp>
      <p:sp>
        <p:nvSpPr>
          <p:cNvPr id="25" name="bld2_1662"/>
          <p:cNvSpPr txBox="1"/>
          <p:nvPr/>
        </p:nvSpPr>
        <p:spPr>
          <a:xfrm>
            <a:off x="4051706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26" name="bld2_1663"/>
          <p:cNvSpPr txBox="1"/>
          <p:nvPr/>
        </p:nvSpPr>
        <p:spPr>
          <a:xfrm>
            <a:off x="4051706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pear-apple, sharp</a:t>
            </a:r>
            <a:endParaRPr lang="en-US" sz="1100" dirty="0"/>
          </a:p>
        </p:txBody>
      </p:sp>
      <p:sp>
        <p:nvSpPr>
          <p:cNvPr id="27" name="bld2_1664"/>
          <p:cNvSpPr txBox="1"/>
          <p:nvPr/>
        </p:nvSpPr>
        <p:spPr>
          <a:xfrm>
            <a:off x="4051706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8" name="bld2_1665"/>
          <p:cNvSpPr txBox="1"/>
          <p:nvPr/>
        </p:nvSpPr>
        <p:spPr>
          <a:xfrm>
            <a:off x="4051706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fruity recognition</a:t>
            </a:r>
            <a:endParaRPr lang="en-US" sz="1100" dirty="0"/>
          </a:p>
        </p:txBody>
      </p:sp>
      <p:sp>
        <p:nvSpPr>
          <p:cNvPr id="29" name="bld2_1666"/>
          <p:cNvSpPr txBox="1"/>
          <p:nvPr/>
        </p:nvSpPr>
        <p:spPr>
          <a:xfrm>
            <a:off x="4051706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0" name="bld2_1667"/>
          <p:cNvSpPr txBox="1"/>
          <p:nvPr/>
        </p:nvSpPr>
        <p:spPr>
          <a:xfrm>
            <a:off x="4051706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short · potent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32" name="Shape 30"/>
          <p:cNvSpPr/>
          <p:nvPr/>
        </p:nvSpPr>
        <p:spPr>
          <a:xfrm>
            <a:off x="8359408" y="1907640"/>
            <a:ext cx="1345156" cy="1345156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026500" y="1874831"/>
            <a:ext cx="914" cy="229661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2000000">
            <a:off x="9050274" y="1809214"/>
            <a:ext cx="311682" cy="21325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80426" y="1463040"/>
            <a:ext cx="2103120" cy="21031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36" name="bld3_1669"/>
          <p:cNvSpPr txBox="1"/>
          <p:nvPr/>
        </p:nvSpPr>
        <p:spPr>
          <a:xfrm>
            <a:off x="7472477" y="3749040"/>
            <a:ext cx="31190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Allyl Amyl Glycolate</a:t>
            </a:r>
            <a:endParaRPr lang="en-US" sz="1800" dirty="0"/>
          </a:p>
        </p:txBody>
      </p:sp>
      <p:sp>
        <p:nvSpPr>
          <p:cNvPr id="37" name="bld3_1670"/>
          <p:cNvSpPr txBox="1"/>
          <p:nvPr/>
        </p:nvSpPr>
        <p:spPr>
          <a:xfrm>
            <a:off x="7445045" y="4187952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8" name="bld3_1671"/>
          <p:cNvSpPr txBox="1"/>
          <p:nvPr/>
        </p:nvSpPr>
        <p:spPr>
          <a:xfrm>
            <a:off x="7445045" y="4407408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pineapple-tropical</a:t>
            </a:r>
            <a:endParaRPr lang="en-US" sz="1100" dirty="0"/>
          </a:p>
        </p:txBody>
      </p:sp>
      <p:sp>
        <p:nvSpPr>
          <p:cNvPr id="39" name="bld3_1672"/>
          <p:cNvSpPr txBox="1"/>
          <p:nvPr/>
        </p:nvSpPr>
        <p:spPr>
          <a:xfrm>
            <a:off x="7445045" y="4754880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0" name="bld3_1673"/>
          <p:cNvSpPr txBox="1"/>
          <p:nvPr/>
        </p:nvSpPr>
        <p:spPr>
          <a:xfrm>
            <a:off x="7445045" y="4974336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distinctive tropical accent</a:t>
            </a:r>
            <a:endParaRPr lang="en-US" sz="1100" dirty="0"/>
          </a:p>
        </p:txBody>
      </p:sp>
      <p:sp>
        <p:nvSpPr>
          <p:cNvPr id="41" name="bld3_1674"/>
          <p:cNvSpPr txBox="1"/>
          <p:nvPr/>
        </p:nvSpPr>
        <p:spPr>
          <a:xfrm>
            <a:off x="7445045" y="5321808"/>
            <a:ext cx="31738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50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2" name="bld3_1675"/>
          <p:cNvSpPr txBox="1"/>
          <p:nvPr/>
        </p:nvSpPr>
        <p:spPr>
          <a:xfrm>
            <a:off x="7445045" y="5541264"/>
            <a:ext cx="31738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· medium</a:t>
            </a:r>
            <a:endParaRPr lang="en-US" sz="1100" dirty="0"/>
          </a:p>
        </p:txBody>
      </p:sp>
      <p:sp>
        <p:nvSpPr>
          <p:cNvPr id="44" name="trans_fade_10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5" name="Text 4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MATERIALS · FAMILY 7 OF 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 Synthetics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4709160"/>
          </a:xfrm>
          <a:prstGeom prst="roundRect">
            <a:avLst>
              <a:gd name="adj" fmla="val 3107"/>
            </a:avLst>
          </a:prstGeom>
          <a:solidFill>
            <a:srgbClr val="F3E4C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947672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0" name="Shape 8"/>
          <p:cNvSpPr/>
          <p:nvPr/>
        </p:nvSpPr>
        <p:spPr>
          <a:xfrm rot="840000">
            <a:off x="1761254" y="3411011"/>
            <a:ext cx="305720" cy="121014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40000">
            <a:off x="1908627" y="3557502"/>
            <a:ext cx="914" cy="917159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0807" y="3592532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6665" y="3750487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62523" y="3908443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08381" y="4066398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954239" y="4224353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2000097" y="4382308"/>
            <a:ext cx="57322" cy="57322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7554" y="3199522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9" name="bld1_1677"/>
          <p:cNvSpPr txBox="1"/>
          <p:nvPr/>
        </p:nvSpPr>
        <p:spPr>
          <a:xfrm>
            <a:off x="914400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1" name="Shape 19"/>
          <p:cNvSpPr/>
          <p:nvPr/>
        </p:nvSpPr>
        <p:spPr>
          <a:xfrm rot="840000">
            <a:off x="3829354" y="3590258"/>
            <a:ext cx="351252" cy="1390374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3999494" y="3758567"/>
            <a:ext cx="914" cy="105375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331" y="3798814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4" name="Shape 22"/>
          <p:cNvSpPr/>
          <p:nvPr/>
        </p:nvSpPr>
        <p:spPr>
          <a:xfrm>
            <a:off x="3893019" y="3980295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3945707" y="4161775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998395" y="4343256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4051082" y="4524736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4103770" y="4706217"/>
            <a:ext cx="65860" cy="6586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3066806" y="3347271"/>
            <a:ext cx="1876349" cy="1876349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0" name="bld2_1679"/>
          <p:cNvSpPr txBox="1"/>
          <p:nvPr/>
        </p:nvSpPr>
        <p:spPr>
          <a:xfrm>
            <a:off x="3005267" y="5369924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Vanillin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2" name="Shape 30"/>
          <p:cNvSpPr/>
          <p:nvPr/>
        </p:nvSpPr>
        <p:spPr>
          <a:xfrm>
            <a:off x="5458931" y="3379165"/>
            <a:ext cx="1273832" cy="127383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637268" y="3557502"/>
            <a:ext cx="917159" cy="917159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892034" y="3812268"/>
            <a:ext cx="407626" cy="407626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79288" y="3199522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6" name="bld3_1681"/>
          <p:cNvSpPr txBox="1"/>
          <p:nvPr/>
        </p:nvSpPr>
        <p:spPr>
          <a:xfrm>
            <a:off x="5096134" y="4978945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8" name="Shape 36"/>
          <p:cNvSpPr/>
          <p:nvPr/>
        </p:nvSpPr>
        <p:spPr>
          <a:xfrm>
            <a:off x="7549798" y="3648529"/>
            <a:ext cx="1273832" cy="127383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728135" y="3826866"/>
            <a:ext cx="917159" cy="917159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82901" y="4081632"/>
            <a:ext cx="407626" cy="407626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370155" y="3468886"/>
            <a:ext cx="1633118" cy="1633118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2" name="bld4_1683"/>
          <p:cNvSpPr txBox="1"/>
          <p:nvPr/>
        </p:nvSpPr>
        <p:spPr>
          <a:xfrm>
            <a:off x="7187001" y="5248309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Maltol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4" name="Shape 42"/>
          <p:cNvSpPr/>
          <p:nvPr/>
        </p:nvSpPr>
        <p:spPr>
          <a:xfrm>
            <a:off x="9545806" y="3284305"/>
            <a:ext cx="1463552" cy="1463552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50703" y="3489203"/>
            <a:ext cx="1053757" cy="105375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3413" y="3781913"/>
            <a:ext cx="468337" cy="468337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339407" y="3077907"/>
            <a:ext cx="1876349" cy="1876349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8" name="bld5_1685"/>
          <p:cNvSpPr txBox="1"/>
          <p:nvPr/>
        </p:nvSpPr>
        <p:spPr>
          <a:xfrm>
            <a:off x="9277868" y="51005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5C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350" dirty="0"/>
          </a:p>
        </p:txBody>
      </p:sp>
      <p:sp>
        <p:nvSpPr>
          <p:cNvPr id="50" name="trans_fade_10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3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9" grpId="0"/>
      <p:bldP spid="30" grpId="0"/>
      <p:bldP spid="36" grpId="0"/>
      <p:bldP spid="42" grpId="0"/>
      <p:bldP spid="48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SYNTHETICS, IN DEPTH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Vanilla, tonka, caramel, candy, powder, almond</a:t>
            </a:r>
            <a:endParaRPr lang="en-US" sz="3200" dirty="0"/>
          </a:p>
        </p:txBody>
      </p:sp>
      <p:sp>
        <p:nvSpPr>
          <p:cNvPr id="7" name="bld1_1686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" name="Shape 7"/>
          <p:cNvSpPr/>
          <p:nvPr/>
        </p:nvSpPr>
        <p:spPr>
          <a:xfrm rot="840000">
            <a:off x="1781230" y="1990155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40000">
            <a:off x="1833944" y="2045930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4868" y="205926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02328" y="211940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9787" y="217954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37247" y="223968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854707" y="229982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1872167" y="235996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8" name="bld1_1688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450" dirty="0"/>
          </a:p>
        </p:txBody>
      </p:sp>
      <p:sp>
        <p:nvSpPr>
          <p:cNvPr id="19" name="bld1_1689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isolated. Base note, very long, richly diffusive — the single most-used gourmand material.</a:t>
            </a:r>
            <a:endParaRPr lang="en-US" sz="1080" dirty="0"/>
          </a:p>
        </p:txBody>
      </p:sp>
      <p:sp>
        <p:nvSpPr>
          <p:cNvPr id="20" name="bld2_1690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4618842" y="1990155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840000">
            <a:off x="4671555" y="2045930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2479" y="205926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639939" y="211940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57399" y="2179547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74859" y="223968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4692319" y="229982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779" y="2359966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1" name="bld2_1692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Vanillin</a:t>
            </a:r>
            <a:endParaRPr lang="en-US" sz="1450" dirty="0"/>
          </a:p>
        </p:txBody>
      </p:sp>
      <p:sp>
        <p:nvSpPr>
          <p:cNvPr id="32" name="bld2_1693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Sharper, several times stronger than vanillin, less "round." Base note, very long — used in tiny amounts for extra lift.</a:t>
            </a:r>
            <a:endParaRPr lang="en-US" sz="1080" dirty="0"/>
          </a:p>
        </p:txBody>
      </p:sp>
      <p:sp>
        <p:nvSpPr>
          <p:cNvPr id="33" name="bld3_1694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40054" y="2045930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37054" y="2142929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9" name="bld3_1696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450" dirty="0"/>
          </a:p>
        </p:txBody>
      </p:sp>
      <p:sp>
        <p:nvSpPr>
          <p:cNvPr id="40" name="bld3_1697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tonka effect: sweet hay, tonka-like warmth. Base note, long — a fougère and gourmand cornerstone, softly powdery.</a:t>
            </a:r>
            <a:endParaRPr lang="en-US" sz="1080" dirty="0"/>
          </a:p>
        </p:txBody>
      </p:sp>
      <p:sp>
        <p:nvSpPr>
          <p:cNvPr id="41" name="bld4_1698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3" name="Shape 4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177666" y="2045930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274666" y="2142929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47" name="bld4_1700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48" name="bld4_1701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candy effect: cotton-candy sweetness. Top-heart, medium-long, very diffusive — the defining "sugar trend" material.</a:t>
            </a:r>
            <a:endParaRPr lang="en-US" sz="1080" dirty="0"/>
          </a:p>
        </p:txBody>
      </p:sp>
      <p:sp>
        <p:nvSpPr>
          <p:cNvPr id="49" name="bld5_1702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1" name="Shape 49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6648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7618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55" name="bld5_1704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Maltol</a:t>
            </a:r>
            <a:endParaRPr lang="en-US" sz="1450" dirty="0"/>
          </a:p>
        </p:txBody>
      </p:sp>
      <p:sp>
        <p:nvSpPr>
          <p:cNvPr id="56" name="bld5_1705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caramel effect: softer, breadier sweetness than ethyl maltol. Heart note, medium — a gentler caramelised-sugar effect.</a:t>
            </a:r>
            <a:endParaRPr lang="en-US" sz="1080" dirty="0"/>
          </a:p>
        </p:txBody>
      </p:sp>
      <p:sp>
        <p:nvSpPr>
          <p:cNvPr id="57" name="bld6_1706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59" name="Shape 57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502443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599442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63" name="bld6_1708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450" dirty="0"/>
          </a:p>
        </p:txBody>
      </p:sp>
      <p:sp>
        <p:nvSpPr>
          <p:cNvPr id="64" name="bld6_1709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Piperonal — the powder / almond effect. Powdery, sweet almond, faintly floral. Heart-base, medium-long.</a:t>
            </a:r>
            <a:endParaRPr lang="en-US" sz="1080" dirty="0"/>
          </a:p>
        </p:txBody>
      </p:sp>
      <p:sp>
        <p:nvSpPr>
          <p:cNvPr id="65" name="bld7_1710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7" name="Shape 65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340054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7437054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71" name="bld7_1712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Furaneol</a:t>
            </a:r>
            <a:endParaRPr lang="en-US" sz="1450" dirty="0"/>
          </a:p>
        </p:txBody>
      </p:sp>
      <p:sp>
        <p:nvSpPr>
          <p:cNvPr id="72" name="bld7_1713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Caramelised, strawberry-like sweetness. Heart note, medium — an unusual, jammy gourmand accent.</a:t>
            </a:r>
            <a:endParaRPr lang="en-US" sz="1080" dirty="0"/>
          </a:p>
        </p:txBody>
      </p:sp>
      <p:sp>
        <p:nvSpPr>
          <p:cNvPr id="73" name="bld8_1714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75" name="Shape 73"/>
          <p:cNvSpPr/>
          <p:nvPr/>
        </p:nvSpPr>
        <p:spPr>
          <a:xfrm rot="5400000">
            <a:off x="10197066" y="4409932"/>
            <a:ext cx="106700" cy="315249"/>
          </a:xfrm>
          <a:prstGeom prst="wave">
            <a:avLst/>
          </a:prstGeom>
          <a:solidFill>
            <a:srgbClr val="5C4230">
              <a:alpha val="7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 rot="5400000">
            <a:off x="10298916" y="4446307"/>
            <a:ext cx="106700" cy="315249"/>
          </a:xfrm>
          <a:prstGeom prst="wave">
            <a:avLst/>
          </a:prstGeom>
          <a:solidFill>
            <a:srgbClr val="5C4230">
              <a:alpha val="6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 rot="5400000">
            <a:off x="10400765" y="4482681"/>
            <a:ext cx="106700" cy="315249"/>
          </a:xfrm>
          <a:prstGeom prst="wave">
            <a:avLst/>
          </a:prstGeom>
          <a:solidFill>
            <a:srgbClr val="5C4230">
              <a:alpha val="54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9" name="bld8_1716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Guaiacol</a:t>
            </a:r>
            <a:endParaRPr lang="en-US" sz="1450" dirty="0"/>
          </a:p>
        </p:txBody>
      </p:sp>
      <p:sp>
        <p:nvSpPr>
          <p:cNvPr id="80" name="bld8_1717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phenolic, tarry — not a vanilla material. A faint sweet nuance can show in context.</a:t>
            </a:r>
            <a:endParaRPr lang="en-US" sz="1080" dirty="0"/>
          </a:p>
        </p:txBody>
      </p:sp>
      <p:sp>
        <p:nvSpPr>
          <p:cNvPr id="82" name="trans_fade_10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83" name="Text 8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84" name="Text 8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8" grpId="0"/>
      <p:bldP spid="19" grpId="0"/>
      <p:bldP spid="20" grpId="0"/>
      <p:bldP spid="31" grpId="0"/>
      <p:bldP spid="32" grpId="0"/>
      <p:bldP spid="33" grpId="0"/>
      <p:bldP spid="39" grpId="0"/>
      <p:bldP spid="40" grpId="0"/>
      <p:bldP spid="41" grpId="0"/>
      <p:bldP spid="47" grpId="0"/>
      <p:bldP spid="48" grpId="0"/>
      <p:bldP spid="49" grpId="0"/>
      <p:bldP spid="55" grpId="0"/>
      <p:bldP spid="56" grpId="0"/>
      <p:bldP spid="57" grpId="0"/>
      <p:bldP spid="63" grpId="0"/>
      <p:bldP spid="64" grpId="0"/>
      <p:bldP spid="65" grpId="0"/>
      <p:bldP spid="71" grpId="0"/>
      <p:bldP spid="72" grpId="0"/>
      <p:bldP spid="73" grpId="0"/>
      <p:bldP spid="79" grpId="0"/>
      <p:bldP spid="80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TO KNOW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gourmand synthetics to learn cold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" name="Shape 6"/>
          <p:cNvSpPr/>
          <p:nvPr/>
        </p:nvSpPr>
        <p:spPr>
          <a:xfrm rot="840000">
            <a:off x="1581981" y="1794139"/>
            <a:ext cx="364022" cy="1440921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840000">
            <a:off x="1758506" y="1968567"/>
            <a:ext cx="914" cy="1092067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93356" y="201027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1" name="Shape 9"/>
          <p:cNvSpPr/>
          <p:nvPr/>
        </p:nvSpPr>
        <p:spPr>
          <a:xfrm>
            <a:off x="1647960" y="2198356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2" name="Shape 10"/>
          <p:cNvSpPr/>
          <p:nvPr/>
        </p:nvSpPr>
        <p:spPr>
          <a:xfrm>
            <a:off x="1702563" y="2386434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7166" y="2574512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1770" y="2762590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1866373" y="2950668"/>
            <a:ext cx="68254" cy="68254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710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17" name="bld1_1719"/>
          <p:cNvSpPr txBox="1"/>
          <p:nvPr/>
        </p:nvSpPr>
        <p:spPr>
          <a:xfrm>
            <a:off x="685800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800" dirty="0"/>
          </a:p>
        </p:txBody>
      </p:sp>
      <p:sp>
        <p:nvSpPr>
          <p:cNvPr id="18" name="bld1_1720"/>
          <p:cNvSpPr txBox="1"/>
          <p:nvPr/>
        </p:nvSpPr>
        <p:spPr>
          <a:xfrm>
            <a:off x="658368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19" name="bld1_1721"/>
          <p:cNvSpPr txBox="1"/>
          <p:nvPr/>
        </p:nvSpPr>
        <p:spPr>
          <a:xfrm>
            <a:off x="658368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essence of vanilla, isolated</a:t>
            </a:r>
            <a:endParaRPr lang="en-US" sz="1100" dirty="0"/>
          </a:p>
        </p:txBody>
      </p:sp>
      <p:sp>
        <p:nvSpPr>
          <p:cNvPr id="20" name="bld1_1722"/>
          <p:cNvSpPr txBox="1"/>
          <p:nvPr/>
        </p:nvSpPr>
        <p:spPr>
          <a:xfrm>
            <a:off x="658368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21" name="bld1_1723"/>
          <p:cNvSpPr txBox="1"/>
          <p:nvPr/>
        </p:nvSpPr>
        <p:spPr>
          <a:xfrm>
            <a:off x="658368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sweet, endlessly useful</a:t>
            </a:r>
            <a:endParaRPr lang="en-US" sz="1100" dirty="0"/>
          </a:p>
        </p:txBody>
      </p:sp>
      <p:sp>
        <p:nvSpPr>
          <p:cNvPr id="22" name="bld1_1724"/>
          <p:cNvSpPr txBox="1"/>
          <p:nvPr/>
        </p:nvSpPr>
        <p:spPr>
          <a:xfrm>
            <a:off x="658368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23" name="bld1_1725"/>
          <p:cNvSpPr txBox="1"/>
          <p:nvPr/>
        </p:nvSpPr>
        <p:spPr>
          <a:xfrm>
            <a:off x="658368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very long · diffusive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5" name="Shape 23"/>
          <p:cNvSpPr/>
          <p:nvPr/>
        </p:nvSpPr>
        <p:spPr>
          <a:xfrm>
            <a:off x="3436316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48662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952014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2414" y="1542318"/>
            <a:ext cx="1944563" cy="1944563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29" name="bld2_1727"/>
          <p:cNvSpPr txBox="1"/>
          <p:nvPr/>
        </p:nvSpPr>
        <p:spPr>
          <a:xfrm>
            <a:off x="3116504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800" dirty="0"/>
          </a:p>
        </p:txBody>
      </p:sp>
      <p:sp>
        <p:nvSpPr>
          <p:cNvPr id="30" name="bld2_1728"/>
          <p:cNvSpPr txBox="1"/>
          <p:nvPr/>
        </p:nvSpPr>
        <p:spPr>
          <a:xfrm>
            <a:off x="3089072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31" name="bld2_1729"/>
          <p:cNvSpPr txBox="1"/>
          <p:nvPr/>
        </p:nvSpPr>
        <p:spPr>
          <a:xfrm>
            <a:off x="3089072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hay, tonka-like warmth</a:t>
            </a:r>
            <a:endParaRPr lang="en-US" sz="1100" dirty="0"/>
          </a:p>
        </p:txBody>
      </p:sp>
      <p:sp>
        <p:nvSpPr>
          <p:cNvPr id="32" name="bld2_1730"/>
          <p:cNvSpPr txBox="1"/>
          <p:nvPr/>
        </p:nvSpPr>
        <p:spPr>
          <a:xfrm>
            <a:off x="3089072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33" name="bld2_1731"/>
          <p:cNvSpPr txBox="1"/>
          <p:nvPr/>
        </p:nvSpPr>
        <p:spPr>
          <a:xfrm>
            <a:off x="3089072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and sweetens</a:t>
            </a:r>
            <a:endParaRPr lang="en-US" sz="1100" dirty="0"/>
          </a:p>
        </p:txBody>
      </p:sp>
      <p:sp>
        <p:nvSpPr>
          <p:cNvPr id="34" name="bld2_1732"/>
          <p:cNvSpPr txBox="1"/>
          <p:nvPr/>
        </p:nvSpPr>
        <p:spPr>
          <a:xfrm>
            <a:off x="3089072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35" name="bld2_1733"/>
          <p:cNvSpPr txBox="1"/>
          <p:nvPr/>
        </p:nvSpPr>
        <p:spPr>
          <a:xfrm>
            <a:off x="3089072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· long · powdery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7" name="Shape 35"/>
          <p:cNvSpPr/>
          <p:nvPr/>
        </p:nvSpPr>
        <p:spPr>
          <a:xfrm>
            <a:off x="5867020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79366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382718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53118" y="1542318"/>
            <a:ext cx="1944563" cy="1944563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41" name="bld3_1735"/>
          <p:cNvSpPr txBox="1"/>
          <p:nvPr/>
        </p:nvSpPr>
        <p:spPr>
          <a:xfrm>
            <a:off x="5547208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800" dirty="0"/>
          </a:p>
        </p:txBody>
      </p:sp>
      <p:sp>
        <p:nvSpPr>
          <p:cNvPr id="42" name="bld3_1736"/>
          <p:cNvSpPr txBox="1"/>
          <p:nvPr/>
        </p:nvSpPr>
        <p:spPr>
          <a:xfrm>
            <a:off x="5519776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43" name="bld3_1737"/>
          <p:cNvSpPr txBox="1"/>
          <p:nvPr/>
        </p:nvSpPr>
        <p:spPr>
          <a:xfrm>
            <a:off x="5519776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Cotton-candy sweetness</a:t>
            </a:r>
            <a:endParaRPr lang="en-US" sz="1100" dirty="0"/>
          </a:p>
        </p:txBody>
      </p:sp>
      <p:sp>
        <p:nvSpPr>
          <p:cNvPr id="44" name="bld3_1738"/>
          <p:cNvSpPr txBox="1"/>
          <p:nvPr/>
        </p:nvSpPr>
        <p:spPr>
          <a:xfrm>
            <a:off x="5519776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45" name="bld3_1739"/>
          <p:cNvSpPr txBox="1"/>
          <p:nvPr/>
        </p:nvSpPr>
        <p:spPr>
          <a:xfrm>
            <a:off x="5519776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gourmand lift</a:t>
            </a:r>
            <a:endParaRPr lang="en-US" sz="1100" dirty="0"/>
          </a:p>
        </p:txBody>
      </p:sp>
      <p:sp>
        <p:nvSpPr>
          <p:cNvPr id="46" name="bld3_1740"/>
          <p:cNvSpPr txBox="1"/>
          <p:nvPr/>
        </p:nvSpPr>
        <p:spPr>
          <a:xfrm>
            <a:off x="5519776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7" name="bld3_1741"/>
          <p:cNvSpPr txBox="1"/>
          <p:nvPr/>
        </p:nvSpPr>
        <p:spPr>
          <a:xfrm>
            <a:off x="5519776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Top-heart · medium-long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9" name="Shape 47"/>
          <p:cNvSpPr/>
          <p:nvPr/>
        </p:nvSpPr>
        <p:spPr>
          <a:xfrm>
            <a:off x="8297724" y="1756220"/>
            <a:ext cx="1516759" cy="1516759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10070" y="1968567"/>
            <a:ext cx="1092067" cy="1092067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813422" y="2271919"/>
            <a:ext cx="485363" cy="485363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083822" y="1542318"/>
            <a:ext cx="1944563" cy="1944563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53" name="bld4_1743"/>
          <p:cNvSpPr txBox="1"/>
          <p:nvPr/>
        </p:nvSpPr>
        <p:spPr>
          <a:xfrm>
            <a:off x="7977911" y="3669762"/>
            <a:ext cx="215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Heliotropin</a:t>
            </a:r>
            <a:endParaRPr lang="en-US" sz="1800" dirty="0"/>
          </a:p>
        </p:txBody>
      </p:sp>
      <p:sp>
        <p:nvSpPr>
          <p:cNvPr id="54" name="bld4_1744"/>
          <p:cNvSpPr txBox="1"/>
          <p:nvPr/>
        </p:nvSpPr>
        <p:spPr>
          <a:xfrm>
            <a:off x="7950479" y="4108674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50" dirty="0"/>
          </a:p>
        </p:txBody>
      </p:sp>
      <p:sp>
        <p:nvSpPr>
          <p:cNvPr id="55" name="bld4_1745"/>
          <p:cNvSpPr txBox="1"/>
          <p:nvPr/>
        </p:nvSpPr>
        <p:spPr>
          <a:xfrm>
            <a:off x="7950479" y="4328130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Powdery, sweet almond</a:t>
            </a:r>
            <a:endParaRPr lang="en-US" sz="1100" dirty="0"/>
          </a:p>
        </p:txBody>
      </p:sp>
      <p:sp>
        <p:nvSpPr>
          <p:cNvPr id="56" name="bld4_1746"/>
          <p:cNvSpPr txBox="1"/>
          <p:nvPr/>
        </p:nvSpPr>
        <p:spPr>
          <a:xfrm>
            <a:off x="7950479" y="4675602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950" dirty="0"/>
          </a:p>
        </p:txBody>
      </p:sp>
      <p:sp>
        <p:nvSpPr>
          <p:cNvPr id="57" name="bld4_1747"/>
          <p:cNvSpPr txBox="1"/>
          <p:nvPr/>
        </p:nvSpPr>
        <p:spPr>
          <a:xfrm>
            <a:off x="7950479" y="4895058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soft, cosmetic-powder facet</a:t>
            </a:r>
            <a:endParaRPr lang="en-US" sz="1100" dirty="0"/>
          </a:p>
        </p:txBody>
      </p:sp>
      <p:sp>
        <p:nvSpPr>
          <p:cNvPr id="58" name="bld4_1748"/>
          <p:cNvSpPr txBox="1"/>
          <p:nvPr/>
        </p:nvSpPr>
        <p:spPr>
          <a:xfrm>
            <a:off x="7950479" y="5242530"/>
            <a:ext cx="221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8A5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59" name="bld4_1749"/>
          <p:cNvSpPr txBox="1"/>
          <p:nvPr/>
        </p:nvSpPr>
        <p:spPr>
          <a:xfrm>
            <a:off x="7950479" y="5461986"/>
            <a:ext cx="221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Heart-base · medium-long</a:t>
            </a:r>
            <a:endParaRPr lang="en-US" sz="1100" dirty="0"/>
          </a:p>
        </p:txBody>
      </p:sp>
      <p:sp>
        <p:nvSpPr>
          <p:cNvPr id="61" name="trans_fade_10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/>
      <p:bldP spid="54" grpId="0"/>
      <p:bldP spid="55" grpId="0"/>
      <p:bldP spid="56" grpId="0"/>
      <p:bldP spid="57" grpId="0"/>
      <p:bldP spid="58" grpId="0"/>
      <p:bldP spid="5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a formula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your formula.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SINGLE MATERIALS</a:t>
            </a:r>
            <a:endParaRPr lang="en-US" sz="1100" dirty="0"/>
          </a:p>
        </p:txBody>
      </p:sp>
      <p:sp>
        <p:nvSpPr>
          <p:cNvPr id="10" name="trans_fade_10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&amp; SPECIALITIES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base actually is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826148"/>
            <a:ext cx="2514417" cy="2514417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8567085" y="2102734"/>
            <a:ext cx="1961245" cy="1961245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841659" y="2377308"/>
            <a:ext cx="1412097" cy="1412097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233908" y="2769558"/>
            <a:ext cx="627599" cy="627599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826148"/>
            <a:ext cx="2514417" cy="2514417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character and use — never confidential internal compositions.</a:t>
            </a:r>
            <a:endParaRPr lang="en-US" sz="1050" dirty="0"/>
          </a:p>
        </p:txBody>
      </p:sp>
      <p:sp>
        <p:nvSpPr>
          <p:cNvPr id="16" name="bld1_175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1_175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pre-composed mixture that acts like a raw material</a:t>
            </a:r>
            <a:endParaRPr lang="en-US" sz="1650" dirty="0"/>
          </a:p>
        </p:txBody>
      </p:sp>
      <p:sp>
        <p:nvSpPr>
          <p:cNvPr id="18" name="bld1_175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built in advance to deliver a floral, woody, amber, musk or other effect — and can be dropped into a formula and treated much like one complex ingredient.</a:t>
            </a:r>
            <a:endParaRPr lang="en-US" sz="1250" dirty="0"/>
          </a:p>
        </p:txBody>
      </p:sp>
      <p:sp>
        <p:nvSpPr>
          <p:cNvPr id="19" name="bld2_175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2_175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perfumers reach for one</a:t>
            </a:r>
            <a:endParaRPr lang="en-US" sz="1650" dirty="0"/>
          </a:p>
        </p:txBody>
      </p:sp>
      <p:sp>
        <p:nvSpPr>
          <p:cNvPr id="21" name="bld2_175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consistency, complexity, structure and polish — plus reconstructing notes that are genuinely difficult to build from single materials alone.</a:t>
            </a:r>
            <a:endParaRPr lang="en-US" sz="1250" dirty="0"/>
          </a:p>
        </p:txBody>
      </p:sp>
      <p:sp>
        <p:nvSpPr>
          <p:cNvPr id="22" name="bld3_175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175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finished perfume</a:t>
            </a:r>
            <a:endParaRPr lang="en-US" sz="1650" dirty="0"/>
          </a:p>
        </p:txBody>
      </p:sp>
      <p:sp>
        <p:nvSpPr>
          <p:cNvPr id="24" name="bld3_175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base doesn't mean the work is finished — it's a highly capable starting point, extended and modified like any other material.</a:t>
            </a:r>
            <a:endParaRPr lang="en-US" sz="1250" dirty="0"/>
          </a:p>
        </p:txBody>
      </p:sp>
      <p:sp>
        <p:nvSpPr>
          <p:cNvPr id="26" name="trans_fade_10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BASES · A NAMED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Givco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783080" y="2331720"/>
            <a:ext cx="2651760" cy="265176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2850413" y="2615140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325478" y="2960294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144019" y="3518766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2556808" y="3518766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375349" y="2960294"/>
            <a:ext cx="517093" cy="108589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860755" y="3409395"/>
            <a:ext cx="496409" cy="49640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1783080" y="2331720"/>
            <a:ext cx="2651760" cy="2651760"/>
          </a:xfrm>
          <a:prstGeom prst="ellipse">
            <a:avLst/>
          </a:prstGeom>
          <a:ln w="41148">
            <a:solidFill>
              <a:srgbClr val="C79B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5212080"/>
            <a:ext cx="1280160" cy="237744"/>
          </a:xfrm>
          <a:prstGeom prst="roundRect">
            <a:avLst>
              <a:gd name="adj" fmla="val 50000"/>
            </a:avLst>
          </a:prstGeom>
          <a:solidFill>
            <a:srgbClr val="8C3B49">
              <a:alpha val="12000"/>
            </a:srgbClr>
          </a:solidFill>
          <a:ln w="12700">
            <a:solidFill>
              <a:srgbClr val="8C3B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68880" y="5212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2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</a:t>
            </a:r>
            <a:endParaRPr lang="en-US" sz="850" dirty="0"/>
          </a:p>
        </p:txBody>
      </p:sp>
      <p:sp>
        <p:nvSpPr>
          <p:cNvPr id="17" name="bld1_1759"/>
          <p:cNvSpPr txBox="1"/>
          <p:nvPr/>
        </p:nvSpPr>
        <p:spPr>
          <a:xfrm>
            <a:off x="5394960" y="1783080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18" name="bld1_1760"/>
          <p:cNvSpPr txBox="1"/>
          <p:nvPr/>
        </p:nvSpPr>
        <p:spPr>
          <a:xfrm>
            <a:off x="5394960" y="2002536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rose base / speciality — a ready-built rosy floral character, more complex than any single rose chemical used alone.</a:t>
            </a:r>
            <a:endParaRPr lang="en-US" sz="1200" dirty="0"/>
          </a:p>
        </p:txBody>
      </p:sp>
      <p:sp>
        <p:nvSpPr>
          <p:cNvPr id="19" name="bld2_1761"/>
          <p:cNvSpPr txBox="1"/>
          <p:nvPr/>
        </p:nvSpPr>
        <p:spPr>
          <a:xfrm>
            <a:off x="5394960" y="2734056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</a:t>
            </a:r>
            <a:endParaRPr lang="en-US" sz="1000" dirty="0"/>
          </a:p>
        </p:txBody>
      </p:sp>
      <p:sp>
        <p:nvSpPr>
          <p:cNvPr id="20" name="bld2_1762"/>
          <p:cNvSpPr txBox="1"/>
          <p:nvPr/>
        </p:nvSpPr>
        <p:spPr>
          <a:xfrm>
            <a:off x="5394960" y="2953512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rose effects quickly, and as part of a larger floral structure — not a finished perfume by itself.</a:t>
            </a:r>
            <a:endParaRPr lang="en-US" sz="1200" dirty="0"/>
          </a:p>
        </p:txBody>
      </p:sp>
      <p:sp>
        <p:nvSpPr>
          <p:cNvPr id="21" name="bld3_1763"/>
          <p:cNvSpPr txBox="1"/>
          <p:nvPr/>
        </p:nvSpPr>
        <p:spPr>
          <a:xfrm>
            <a:off x="5394960" y="3685032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ROLE</a:t>
            </a:r>
            <a:endParaRPr lang="en-US" sz="1000" dirty="0"/>
          </a:p>
        </p:txBody>
      </p:sp>
      <p:sp>
        <p:nvSpPr>
          <p:cNvPr id="22" name="bld3_1764"/>
          <p:cNvSpPr txBox="1"/>
          <p:nvPr/>
        </p:nvSpPr>
        <p:spPr>
          <a:xfrm>
            <a:off x="5394960" y="3904488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support or replace parts of a hand-built rose accord, depending on how much of the formula's rose character it's asked to carry.</a:t>
            </a:r>
            <a:endParaRPr lang="en-US" sz="1200" dirty="0"/>
          </a:p>
        </p:txBody>
      </p:sp>
      <p:sp>
        <p:nvSpPr>
          <p:cNvPr id="23" name="bld4_1765"/>
          <p:cNvSpPr txBox="1"/>
          <p:nvPr/>
        </p:nvSpPr>
        <p:spPr>
          <a:xfrm>
            <a:off x="5394960" y="4636008"/>
            <a:ext cx="6248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REMEMBERING</a:t>
            </a:r>
            <a:endParaRPr lang="en-US" sz="1000" dirty="0"/>
          </a:p>
        </p:txBody>
      </p:sp>
      <p:sp>
        <p:nvSpPr>
          <p:cNvPr id="24" name="bld4_1766"/>
          <p:cNvSpPr txBox="1"/>
          <p:nvPr/>
        </p:nvSpPr>
        <p:spPr>
          <a:xfrm>
            <a:off x="5394960" y="4855464"/>
            <a:ext cx="6248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Rose Givco does not automatically make the final fragrance a finished rose perfume — it's a starting body, not the destination.</a:t>
            </a:r>
            <a:endParaRPr lang="en-US" sz="1200" dirty="0"/>
          </a:p>
        </p:txBody>
      </p:sp>
      <p:sp>
        <p:nvSpPr>
          <p:cNvPr id="26" name="trans_fade_10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SKILL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rose base could be modified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996787" y="3113791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265444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162827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830748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728130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2636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5" name="bld1_1768"/>
          <p:cNvSpPr txBox="1"/>
          <p:nvPr/>
        </p:nvSpPr>
        <p:spPr>
          <a:xfrm>
            <a:off x="3845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Givco</a:t>
            </a:r>
            <a:endParaRPr lang="en-US" sz="1250" dirty="0"/>
          </a:p>
        </p:txBody>
      </p:sp>
      <p:sp>
        <p:nvSpPr>
          <p:cNvPr id="16" name="bld2_1769"/>
          <p:cNvSpPr txBox="1"/>
          <p:nvPr/>
        </p:nvSpPr>
        <p:spPr>
          <a:xfrm>
            <a:off x="1938528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 rot="10800000">
            <a:off x="3537545" y="3118470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4400000">
            <a:off x="3790792" y="3264682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8000000">
            <a:off x="3790792" y="3557107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37545" y="3703320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3600000">
            <a:off x="3284297" y="3557107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7200000">
            <a:off x="3284297" y="3264682"/>
            <a:ext cx="163758" cy="584850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479060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5" name="Shape 23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6" name="bld2_1771"/>
          <p:cNvSpPr txBox="1"/>
          <p:nvPr/>
        </p:nvSpPr>
        <p:spPr>
          <a:xfrm>
            <a:off x="2480269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Hedione → more airy / diffusive</a:t>
            </a:r>
            <a:endParaRPr lang="en-US" sz="1250" dirty="0"/>
          </a:p>
        </p:txBody>
      </p:sp>
      <p:sp>
        <p:nvSpPr>
          <p:cNvPr id="27" name="bld3_1772"/>
          <p:cNvSpPr txBox="1"/>
          <p:nvPr/>
        </p:nvSpPr>
        <p:spPr>
          <a:xfrm>
            <a:off x="4414952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29" name="Shape 27"/>
          <p:cNvSpPr/>
          <p:nvPr/>
        </p:nvSpPr>
        <p:spPr>
          <a:xfrm rot="15300000">
            <a:off x="5699839" y="3475743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3050000">
            <a:off x="5809505" y="363987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0800000">
            <a:off x="5996423" y="370332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8550000">
            <a:off x="6183341" y="3639870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300000">
            <a:off x="6293007" y="3475743"/>
            <a:ext cx="198849" cy="614093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5" name="bld3_1774"/>
          <p:cNvSpPr txBox="1"/>
          <p:nvPr/>
        </p:nvSpPr>
        <p:spPr>
          <a:xfrm>
            <a:off x="4956693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green materials → greener rose</a:t>
            </a:r>
            <a:endParaRPr lang="en-US" sz="1250" dirty="0"/>
          </a:p>
        </p:txBody>
      </p:sp>
      <p:sp>
        <p:nvSpPr>
          <p:cNvPr id="36" name="bld4_1775"/>
          <p:cNvSpPr txBox="1"/>
          <p:nvPr/>
        </p:nvSpPr>
        <p:spPr>
          <a:xfrm>
            <a:off x="6891376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7" name="Shape 35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8" name="Shape 36"/>
          <p:cNvSpPr/>
          <p:nvPr/>
        </p:nvSpPr>
        <p:spPr>
          <a:xfrm rot="18900000">
            <a:off x="8209664" y="3176955"/>
            <a:ext cx="725214" cy="1052730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566785" y="3352410"/>
            <a:ext cx="914" cy="643335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1" name="bld4_1777"/>
          <p:cNvSpPr txBox="1"/>
          <p:nvPr/>
        </p:nvSpPr>
        <p:spPr>
          <a:xfrm>
            <a:off x="7433116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patchouli → darker rose</a:t>
            </a:r>
            <a:endParaRPr lang="en-US" sz="1250" dirty="0"/>
          </a:p>
        </p:txBody>
      </p:sp>
      <p:sp>
        <p:nvSpPr>
          <p:cNvPr id="42" name="bld5_1778"/>
          <p:cNvSpPr txBox="1"/>
          <p:nvPr/>
        </p:nvSpPr>
        <p:spPr>
          <a:xfrm>
            <a:off x="9367799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43" name="Shape 41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4" name="Shape 42"/>
          <p:cNvSpPr/>
          <p:nvPr/>
        </p:nvSpPr>
        <p:spPr>
          <a:xfrm>
            <a:off x="10510633" y="3340713"/>
            <a:ext cx="1076124" cy="725214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46" name="bld5_1780"/>
          <p:cNvSpPr txBox="1"/>
          <p:nvPr/>
        </p:nvSpPr>
        <p:spPr>
          <a:xfrm>
            <a:off x="9909540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musks → cleaner, modern rose</a:t>
            </a:r>
            <a:endParaRPr lang="en-US" sz="1250" dirty="0"/>
          </a:p>
        </p:txBody>
      </p:sp>
      <p:sp>
        <p:nvSpPr>
          <p:cNvPr id="48" name="trans_push_l_10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9" name="Text 4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26" grpId="0"/>
      <p:bldP spid="27" grpId="0"/>
      <p:bldP spid="35" grpId="0"/>
      <p:bldP spid="36" grpId="0"/>
      <p:bldP spid="41" grpId="0"/>
      <p:bldP spid="42" grpId="0"/>
      <p:bldP spid="46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base types worth knowing</a:t>
            </a:r>
            <a:endParaRPr lang="en-US" sz="3200" dirty="0"/>
          </a:p>
        </p:txBody>
      </p:sp>
      <p:sp>
        <p:nvSpPr>
          <p:cNvPr id="7" name="bld1_1781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521719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62672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62672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1719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416714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416714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97469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783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Jasmine bases</a:t>
            </a:r>
            <a:endParaRPr lang="en-US" sz="1450" dirty="0"/>
          </a:p>
        </p:txBody>
      </p:sp>
      <p:sp>
        <p:nvSpPr>
          <p:cNvPr id="18" name="bld1_1784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indolic, heady florals — major houses each keep proprietary jasmine specialities.</a:t>
            </a:r>
            <a:endParaRPr lang="en-US" sz="1080" dirty="0"/>
          </a:p>
        </p:txBody>
      </p:sp>
      <p:sp>
        <p:nvSpPr>
          <p:cNvPr id="19" name="bld2_1785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9383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3841237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386271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3841237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3789383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373753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3716052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373753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786958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787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Muguet bases</a:t>
            </a:r>
            <a:endParaRPr lang="en-US" sz="1450" dirty="0"/>
          </a:p>
        </p:txBody>
      </p:sp>
      <p:sp>
        <p:nvSpPr>
          <p:cNvPr id="32" name="bld2_1788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Lily-of-the-valley — always synthetic, since muguet yields no usable natural extract.</a:t>
            </a:r>
            <a:endParaRPr lang="en-US" sz="1080" dirty="0"/>
          </a:p>
        </p:txBody>
      </p:sp>
      <p:sp>
        <p:nvSpPr>
          <p:cNvPr id="33" name="bld3_1789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5" name="Shape 33"/>
          <p:cNvSpPr/>
          <p:nvPr/>
        </p:nvSpPr>
        <p:spPr>
          <a:xfrm>
            <a:off x="6042498" y="1992580"/>
            <a:ext cx="106700" cy="106700"/>
          </a:xfrm>
          <a:prstGeom prst="ellipse">
            <a:avLst/>
          </a:prstGeom>
          <a:solidFill>
            <a:srgbClr val="C79BD9">
              <a:alpha val="9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flipV="1">
            <a:off x="5912783" y="2045930"/>
            <a:ext cx="183065" cy="271405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5958474" y="2045930"/>
            <a:ext cx="137374" cy="32894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6031513" y="2045930"/>
            <a:ext cx="64334" cy="32099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95848" y="2045930"/>
            <a:ext cx="9144" cy="356473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5848" y="2045930"/>
            <a:ext cx="64334" cy="32099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5848" y="2045930"/>
            <a:ext cx="137374" cy="328940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95848" y="2045930"/>
            <a:ext cx="183065" cy="271405"/>
          </a:xfrm>
          <a:prstGeom prst="line">
            <a:avLst/>
          </a:prstGeom>
          <a:noFill/>
          <a:ln w="22225">
            <a:solidFill>
              <a:srgbClr val="C79BD9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44" name="bld3_1791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Orris / violet bases</a:t>
            </a:r>
            <a:endParaRPr lang="en-US" sz="1450" dirty="0"/>
          </a:p>
        </p:txBody>
      </p:sp>
      <p:sp>
        <p:nvSpPr>
          <p:cNvPr id="45" name="bld3_1792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Powdery, cool, carroty-woody — built around one of perfumery's costliest naturals.</a:t>
            </a:r>
            <a:endParaRPr lang="en-US" sz="1080" dirty="0"/>
          </a:p>
        </p:txBody>
      </p:sp>
      <p:sp>
        <p:nvSpPr>
          <p:cNvPr id="46" name="bld4_1793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8" name="Shape 46"/>
          <p:cNvSpPr/>
          <p:nvPr/>
        </p:nvSpPr>
        <p:spPr>
          <a:xfrm>
            <a:off x="8123438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49" name="Shape 47"/>
          <p:cNvSpPr/>
          <p:nvPr/>
        </p:nvSpPr>
        <p:spPr>
          <a:xfrm>
            <a:off x="8244688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36837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51" name="Shape 49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2" name="bld4_1795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 bases</a:t>
            </a:r>
            <a:endParaRPr lang="en-US" sz="1450" dirty="0"/>
          </a:p>
        </p:txBody>
      </p:sp>
      <p:sp>
        <p:nvSpPr>
          <p:cNvPr id="53" name="bld4_1796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Creamy, milky wood, blended from naturals and woody synthetics.</a:t>
            </a:r>
            <a:endParaRPr lang="en-US" sz="1080" dirty="0"/>
          </a:p>
        </p:txBody>
      </p:sp>
      <p:sp>
        <p:nvSpPr>
          <p:cNvPr id="54" name="bld5_1797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6" name="Shape 54"/>
          <p:cNvSpPr/>
          <p:nvPr/>
        </p:nvSpPr>
        <p:spPr>
          <a:xfrm rot="9000000">
            <a:off x="10514777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6000000">
            <a:off x="10451727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11400000">
            <a:off x="10650576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0" name="bld5_1799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 bases</a:t>
            </a:r>
            <a:endParaRPr lang="en-US" sz="1450" dirty="0"/>
          </a:p>
        </p:txBody>
      </p:sp>
      <p:sp>
        <p:nvSpPr>
          <p:cNvPr id="61" name="bld5_1800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labdanum-led warmth, or a modern woody-amber build.</a:t>
            </a:r>
            <a:endParaRPr lang="en-US" sz="1080" dirty="0"/>
          </a:p>
        </p:txBody>
      </p:sp>
      <p:sp>
        <p:nvSpPr>
          <p:cNvPr id="62" name="bld6_1801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64" name="Shape 62"/>
          <p:cNvSpPr/>
          <p:nvPr/>
        </p:nvSpPr>
        <p:spPr>
          <a:xfrm>
            <a:off x="1332570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6" name="bld6_1803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 bases</a:t>
            </a:r>
            <a:endParaRPr lang="en-US" sz="1450" dirty="0"/>
          </a:p>
        </p:txBody>
      </p:sp>
      <p:sp>
        <p:nvSpPr>
          <p:cNvPr id="67" name="bld6_1804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skin-layer of a formula — clean, soft or animalic depending on the blend.</a:t>
            </a:r>
            <a:endParaRPr lang="en-US" sz="1080" dirty="0"/>
          </a:p>
        </p:txBody>
      </p:sp>
      <p:sp>
        <p:nvSpPr>
          <p:cNvPr id="68" name="bld7_1805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70" name="Shape 68"/>
          <p:cNvSpPr/>
          <p:nvPr/>
        </p:nvSpPr>
        <p:spPr>
          <a:xfrm>
            <a:off x="358325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364514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3620126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620126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64514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6" name="bld7_1807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 bases</a:t>
            </a:r>
            <a:endParaRPr lang="en-US" sz="1450" dirty="0"/>
          </a:p>
        </p:txBody>
      </p:sp>
      <p:sp>
        <p:nvSpPr>
          <p:cNvPr id="77" name="bld7_1808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Suede, clean, or smoky leather texture — built for effect, not literal realism.</a:t>
            </a:r>
            <a:endParaRPr lang="en-US" sz="1080" dirty="0"/>
          </a:p>
        </p:txBody>
      </p:sp>
      <p:sp>
        <p:nvSpPr>
          <p:cNvPr id="78" name="bld8_1809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80" name="Shape 78"/>
          <p:cNvSpPr/>
          <p:nvPr/>
        </p:nvSpPr>
        <p:spPr>
          <a:xfrm>
            <a:off x="5896999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090361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12000000">
            <a:off x="6114136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84" name="bld8_1811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 bases</a:t>
            </a:r>
            <a:endParaRPr lang="en-US" sz="1450" dirty="0"/>
          </a:p>
        </p:txBody>
      </p:sp>
      <p:sp>
        <p:nvSpPr>
          <p:cNvPr id="85" name="bld8_1812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Convincing tropical or stone-fruit character, built from stacked fruity esters and lactones.</a:t>
            </a:r>
            <a:endParaRPr lang="en-US" sz="1080" dirty="0"/>
          </a:p>
        </p:txBody>
      </p:sp>
      <p:sp>
        <p:nvSpPr>
          <p:cNvPr id="86" name="bld9_1813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88" name="Shape 86"/>
          <p:cNvSpPr/>
          <p:nvPr/>
        </p:nvSpPr>
        <p:spPr>
          <a:xfrm>
            <a:off x="8123438" y="4337182"/>
            <a:ext cx="484998" cy="484998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191338" y="4405082"/>
            <a:ext cx="349198" cy="349198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288337" y="4502081"/>
            <a:ext cx="155199" cy="155199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92" name="bld9_1815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Proprietary</a:t>
            </a:r>
            <a:endParaRPr lang="en-US" sz="1450" dirty="0"/>
          </a:p>
        </p:txBody>
      </p:sp>
      <p:sp>
        <p:nvSpPr>
          <p:cNvPr id="93" name="bld9_1816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Givaudan, Firmenich, IFF, Symrise and Robertet each maintain their own bases across these categories.</a:t>
            </a:r>
            <a:endParaRPr lang="en-US" sz="1080" dirty="0"/>
          </a:p>
        </p:txBody>
      </p:sp>
      <p:sp>
        <p:nvSpPr>
          <p:cNvPr id="95" name="trans_fade_10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96" name="Text 9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000" dirty="0"/>
          </a:p>
        </p:txBody>
      </p:sp>
      <p:sp>
        <p:nvSpPr>
          <p:cNvPr id="97" name="Text 9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4" grpId="0"/>
      <p:bldP spid="45" grpId="0"/>
      <p:bldP spid="46" grpId="0"/>
      <p:bldP spid="52" grpId="0"/>
      <p:bldP spid="53" grpId="0"/>
      <p:bldP spid="54" grpId="0"/>
      <p:bldP spid="60" grpId="0"/>
      <p:bldP spid="61" grpId="0"/>
      <p:bldP spid="62" grpId="0"/>
      <p:bldP spid="66" grpId="0"/>
      <p:bldP spid="67" grpId="0"/>
      <p:bldP spid="68" grpId="0"/>
      <p:bldP spid="76" grpId="0"/>
      <p:bldP spid="77" grpId="0"/>
      <p:bldP spid="78" grpId="0"/>
      <p:bldP spid="84" grpId="0"/>
      <p:bldP spid="85" grpId="0"/>
      <p:bldP spid="86" grpId="0"/>
      <p:bldP spid="92" grpId="0"/>
      <p:bldP spid="93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17150F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4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FOR THE FUN PART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Superpower materials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55076" y="1536869"/>
            <a:ext cx="4881543" cy="4881543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9401" y="1507579"/>
            <a:ext cx="292893" cy="29289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0" name="Shape 8"/>
          <p:cNvSpPr/>
          <p:nvPr/>
        </p:nvSpPr>
        <p:spPr>
          <a:xfrm>
            <a:off x="2545635" y="427427"/>
            <a:ext cx="7100426" cy="7100426"/>
          </a:xfrm>
          <a:prstGeom prst="ellipse">
            <a:avLst/>
          </a:prstGeom>
          <a:ln w="16459">
            <a:solidFill>
              <a:srgbClr val="B565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321" y="1448113"/>
            <a:ext cx="5059053" cy="5059053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095848" y="3445108"/>
            <a:ext cx="1198197" cy="5325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4044" y="3445108"/>
            <a:ext cx="1198197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294044" y="4110773"/>
            <a:ext cx="1198197" cy="106506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97050" y="5175837"/>
            <a:ext cx="1996995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5297050" y="3977640"/>
            <a:ext cx="798798" cy="11981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31385" y="3311975"/>
            <a:ext cx="1464463" cy="665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2835" y="3764627"/>
            <a:ext cx="426026" cy="4260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40942" y="3292005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138" y="3957670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40942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3947" y="5022734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8282" y="3158872"/>
            <a:ext cx="306206" cy="30620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materials that can transform a formula at less than 1% of the concentrate.</a:t>
            </a:r>
            <a:endParaRPr lang="en-US" sz="1200" dirty="0"/>
          </a:p>
        </p:txBody>
      </p:sp>
      <p:sp>
        <p:nvSpPr>
          <p:cNvPr id="26" name="trans_fade_10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 · SYNTHETICS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doses, massive effect</a:t>
            </a:r>
            <a:endParaRPr lang="en-US" sz="3200" dirty="0"/>
          </a:p>
        </p:txBody>
      </p:sp>
      <p:sp>
        <p:nvSpPr>
          <p:cNvPr id="7" name="bld1_1817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2278415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2383420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2383420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278415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2173410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2173410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54165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17" name="bld1_1819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820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space and diffusion — makes an entire formula feel airier.</a:t>
            </a:r>
            <a:endParaRPr lang="en-US" sz="1080" dirty="0"/>
          </a:p>
        </p:txBody>
      </p:sp>
      <p:sp>
        <p:nvSpPr>
          <p:cNvPr id="19" name="bld2_1821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901848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3" name="Shape 21"/>
          <p:cNvSpPr/>
          <p:nvPr/>
        </p:nvSpPr>
        <p:spPr>
          <a:xfrm>
            <a:off x="5950348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998848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47348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BE9A66"/>
            </a:solidFill>
            <a:prstDash val="solid"/>
          </a:ln>
        </p:spPr>
      </p:sp>
      <p:sp>
        <p:nvSpPr>
          <p:cNvPr id="28" name="bld2_1823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29" name="bld2_1824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volume and a transparent woody glow around everything else.</a:t>
            </a:r>
            <a:endParaRPr lang="en-US" sz="1080" dirty="0"/>
          </a:p>
        </p:txBody>
      </p:sp>
      <p:sp>
        <p:nvSpPr>
          <p:cNvPr id="30" name="bld3_1825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2" name="Shape 30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36" name="bld3_1827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 materials</a:t>
            </a:r>
            <a:endParaRPr lang="en-US" sz="1450" dirty="0"/>
          </a:p>
        </p:txBody>
      </p:sp>
      <p:sp>
        <p:nvSpPr>
          <p:cNvPr id="37" name="bld3_1828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and persistence — extends how far and how long a formula reads.</a:t>
            </a:r>
            <a:endParaRPr lang="en-US" sz="1080" dirty="0"/>
          </a:p>
        </p:txBody>
      </p:sp>
      <p:sp>
        <p:nvSpPr>
          <p:cNvPr id="38" name="bld4_1829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0" name="Shape 38"/>
          <p:cNvSpPr/>
          <p:nvPr/>
        </p:nvSpPr>
        <p:spPr>
          <a:xfrm>
            <a:off x="2089266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E8E2DC"/>
            </a:solidFill>
            <a:prstDash val="solid"/>
          </a:ln>
        </p:spPr>
      </p:sp>
      <p:sp>
        <p:nvSpPr>
          <p:cNvPr id="42" name="bld4_1831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43" name="bld4_1832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Body, texture and fixation — the skin-like glue that holds a formula together.</a:t>
            </a:r>
            <a:endParaRPr lang="en-US" sz="1080" dirty="0"/>
          </a:p>
        </p:txBody>
      </p:sp>
      <p:sp>
        <p:nvSpPr>
          <p:cNvPr id="44" name="bld5_1833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6" name="Shape 44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887299" y="4371132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8" name="Shape 46"/>
          <p:cNvSpPr/>
          <p:nvPr/>
        </p:nvSpPr>
        <p:spPr>
          <a:xfrm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216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432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648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864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080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296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512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728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19440000">
            <a:off x="6083723" y="4385682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071598" y="4555431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9" name="Shape 57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60" name="bld5_1835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61" name="bld5_1836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explosive, fresh lift — instantly brightens an opening.</a:t>
            </a:r>
            <a:endParaRPr lang="en-US" sz="1080" dirty="0"/>
          </a:p>
        </p:txBody>
      </p:sp>
      <p:sp>
        <p:nvSpPr>
          <p:cNvPr id="62" name="bld6_1837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17150F"/>
          </a:solidFill>
          <a:ln w="12700">
            <a:solidFill>
              <a:srgbClr val="3532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64" name="Shape 62"/>
          <p:cNvSpPr/>
          <p:nvPr/>
        </p:nvSpPr>
        <p:spPr>
          <a:xfrm>
            <a:off x="96368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047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8017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68" name="bld6_1839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69" name="bld6_1840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 and gourmand impact — can flip a formula's whole character.</a:t>
            </a:r>
            <a:endParaRPr lang="en-US" sz="1080" dirty="0"/>
          </a:p>
        </p:txBody>
      </p:sp>
      <p:sp>
        <p:nvSpPr>
          <p:cNvPr id="71" name="trans_fade_1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2" name="Text 6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28" grpId="0"/>
      <p:bldP spid="29" grpId="0"/>
      <p:bldP spid="30" grpId="0"/>
      <p:bldP spid="36" grpId="0"/>
      <p:bldP spid="37" grpId="0"/>
      <p:bldP spid="38" grpId="0"/>
      <p:bldP spid="42" grpId="0"/>
      <p:bldP spid="43" grpId="0"/>
      <p:bldP spid="44" grpId="0"/>
      <p:bldP spid="60" grpId="0"/>
      <p:bldP spid="61" grpId="0"/>
      <p:bldP spid="62" grpId="0"/>
      <p:bldP spid="68" grpId="0"/>
      <p:bldP spid="69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fraction of a percent can change everything.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Synthetics are precision instruments,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shortcuts.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03.2</a:t>
            </a:r>
            <a:endParaRPr lang="en-US" sz="1100" dirty="0"/>
          </a:p>
        </p:txBody>
      </p:sp>
      <p:sp>
        <p:nvSpPr>
          <p:cNvPr id="10" name="trans_fade_1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8726" y="2010766"/>
            <a:ext cx="2836469" cy="2836469"/>
          </a:xfrm>
          <a:prstGeom prst="ellipse">
            <a:avLst/>
          </a:prstGeom>
          <a:solidFill>
            <a:srgbClr val="6E7A50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47278" y="2209318"/>
            <a:ext cx="2439363" cy="243936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7" name="Shape 5"/>
          <p:cNvSpPr/>
          <p:nvPr/>
        </p:nvSpPr>
        <p:spPr>
          <a:xfrm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1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64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080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512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728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9440000">
            <a:off x="9896048" y="2294412"/>
            <a:ext cx="141823" cy="1106223"/>
          </a:xfrm>
          <a:prstGeom prst="ellipse">
            <a:avLst/>
          </a:prstGeom>
          <a:solidFill>
            <a:srgbClr val="6E7A50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825137" y="3287177"/>
            <a:ext cx="283647" cy="283647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WHAT TO ORDER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Palette</a:t>
            </a:r>
            <a:endParaRPr lang="en-US" sz="4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actually order first? A practical, no-nonsense shopping module.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30 materials, then the next 30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by family, not by impulse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starter-perfumer checklist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30" name="trans_fade_1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buy three hundred materials.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balanced palette, not a chemical hoard.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BEFORE YOU SHOP</a:t>
            </a:r>
            <a:endParaRPr lang="en-US" sz="1100" dirty="0"/>
          </a:p>
        </p:txBody>
      </p:sp>
      <p:sp>
        <p:nvSpPr>
          <p:cNvPr id="10" name="trans_fade_1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WOODS, AMBER &amp; MUSK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— part 1</a:t>
            </a:r>
            <a:endParaRPr lang="en-US" sz="3200" dirty="0"/>
          </a:p>
        </p:txBody>
      </p:sp>
      <p:sp>
        <p:nvSpPr>
          <p:cNvPr id="7" name="bld1_1841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313170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61670" y="2026530"/>
            <a:ext cx="387998" cy="387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10169" y="2075030"/>
            <a:ext cx="290999" cy="2909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58669" y="2123529"/>
            <a:ext cx="193999" cy="193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507169" y="2172029"/>
            <a:ext cx="97000" cy="97000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26569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5" name="Shape 13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6" name="bld1_1843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</a:t>
            </a:r>
            <a:endParaRPr lang="en-US" sz="1450" dirty="0"/>
          </a:p>
        </p:txBody>
      </p:sp>
      <p:sp>
        <p:nvSpPr>
          <p:cNvPr id="17" name="bld1_1844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Nearly impossible to overdose — the safest material to practice with.</a:t>
            </a:r>
            <a:endParaRPr lang="en-US" sz="1080" dirty="0"/>
          </a:p>
        </p:txBody>
      </p:sp>
      <p:sp>
        <p:nvSpPr>
          <p:cNvPr id="18" name="bld2_1845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0" name="Shape 18"/>
          <p:cNvSpPr/>
          <p:nvPr/>
        </p:nvSpPr>
        <p:spPr>
          <a:xfrm>
            <a:off x="3583259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64092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2" name="Shape 20"/>
          <p:cNvSpPr/>
          <p:nvPr/>
        </p:nvSpPr>
        <p:spPr>
          <a:xfrm>
            <a:off x="3744925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79665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24" name="Shape 22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5" name="bld2_1847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Cedarwood</a:t>
            </a:r>
            <a:endParaRPr lang="en-US" sz="1450" dirty="0"/>
          </a:p>
        </p:txBody>
      </p:sp>
      <p:sp>
        <p:nvSpPr>
          <p:cNvPr id="26" name="bld2_1848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An affordable natural that teaches real wood character early.</a:t>
            </a:r>
            <a:endParaRPr lang="en-US" sz="1080" dirty="0"/>
          </a:p>
        </p:txBody>
      </p:sp>
      <p:sp>
        <p:nvSpPr>
          <p:cNvPr id="27" name="bld3_1849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3349" y="1978030"/>
            <a:ext cx="484998" cy="484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74598" y="2099280"/>
            <a:ext cx="242499" cy="242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066748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2" name="Shape 30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33" name="bld3_1851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</a:t>
            </a:r>
            <a:endParaRPr lang="en-US" sz="1450" dirty="0"/>
          </a:p>
        </p:txBody>
      </p:sp>
      <p:sp>
        <p:nvSpPr>
          <p:cNvPr id="34" name="bld3_1852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Woody. The reference point for creamy, smooth wood.</a:t>
            </a:r>
            <a:endParaRPr lang="en-US" sz="1080" dirty="0"/>
          </a:p>
        </p:txBody>
      </p:sp>
      <p:sp>
        <p:nvSpPr>
          <p:cNvPr id="35" name="bld4_1853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7" name="Shape 35"/>
          <p:cNvSpPr/>
          <p:nvPr/>
        </p:nvSpPr>
        <p:spPr>
          <a:xfrm rot="9000000">
            <a:off x="824468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6000000">
            <a:off x="818163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11400000">
            <a:off x="8380487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1" name="bld4_1855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Ambroxan</a:t>
            </a:r>
            <a:endParaRPr lang="en-US" sz="1450" dirty="0"/>
          </a:p>
        </p:txBody>
      </p:sp>
      <p:sp>
        <p:nvSpPr>
          <p:cNvPr id="42" name="bld4_1856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Amber. Huge effect at a tiny dose — the single most important modern base material.</a:t>
            </a:r>
            <a:endParaRPr lang="en-US" sz="1080" dirty="0"/>
          </a:p>
        </p:txBody>
      </p:sp>
      <p:sp>
        <p:nvSpPr>
          <p:cNvPr id="43" name="bld5_1857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5" name="Shape 43"/>
          <p:cNvSpPr/>
          <p:nvPr/>
        </p:nvSpPr>
        <p:spPr>
          <a:xfrm rot="9000000">
            <a:off x="10514777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6000000">
            <a:off x="10451727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1400000">
            <a:off x="10650576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E7AC55"/>
            </a:solidFill>
            <a:prstDash val="solid"/>
          </a:ln>
        </p:spPr>
      </p:sp>
      <p:sp>
        <p:nvSpPr>
          <p:cNvPr id="49" name="bld5_1859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Labdanum</a:t>
            </a:r>
            <a:endParaRPr lang="en-US" sz="1450" dirty="0"/>
          </a:p>
        </p:txBody>
      </p:sp>
      <p:sp>
        <p:nvSpPr>
          <p:cNvPr id="50" name="bld5_1860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Amber. The natural amber backbone — teaches fixation and warmth.</a:t>
            </a:r>
            <a:endParaRPr lang="en-US" sz="1080" dirty="0"/>
          </a:p>
        </p:txBody>
      </p:sp>
      <p:sp>
        <p:nvSpPr>
          <p:cNvPr id="51" name="bld6_1861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3" name="Shape 51"/>
          <p:cNvSpPr/>
          <p:nvPr/>
        </p:nvSpPr>
        <p:spPr>
          <a:xfrm>
            <a:off x="1332570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55" name="bld6_1863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Galaxolide</a:t>
            </a:r>
            <a:endParaRPr lang="en-US" sz="1450" dirty="0"/>
          </a:p>
        </p:txBody>
      </p:sp>
      <p:sp>
        <p:nvSpPr>
          <p:cNvPr id="56" name="bld6_1864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Musk. The cheapest way to learn what a clean base musk actually does.</a:t>
            </a:r>
            <a:endParaRPr lang="en-US" sz="1080" dirty="0"/>
          </a:p>
        </p:txBody>
      </p:sp>
      <p:sp>
        <p:nvSpPr>
          <p:cNvPr id="57" name="bld7_1865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9" name="Shape 57"/>
          <p:cNvSpPr/>
          <p:nvPr/>
        </p:nvSpPr>
        <p:spPr>
          <a:xfrm>
            <a:off x="3602659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61" name="bld7_1867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Habanolide</a:t>
            </a:r>
            <a:endParaRPr lang="en-US" sz="1450" dirty="0"/>
          </a:p>
        </p:txBody>
      </p:sp>
      <p:sp>
        <p:nvSpPr>
          <p:cNvPr id="62" name="bld7_1868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Musk. A modern, more metallic musk to compare directly against Galaxolide.</a:t>
            </a:r>
            <a:endParaRPr lang="en-US" sz="1080" dirty="0"/>
          </a:p>
        </p:txBody>
      </p:sp>
      <p:sp>
        <p:nvSpPr>
          <p:cNvPr id="64" name="trans_fade_1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5" name="Text 6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18" grpId="0"/>
      <p:bldP spid="25" grpId="0"/>
      <p:bldP spid="26" grpId="0"/>
      <p:bldP spid="27" grpId="0"/>
      <p:bldP spid="33" grpId="0"/>
      <p:bldP spid="34" grpId="0"/>
      <p:bldP spid="35" grpId="0"/>
      <p:bldP spid="41" grpId="0"/>
      <p:bldP spid="42" grpId="0"/>
      <p:bldP spid="43" grpId="0"/>
      <p:bldP spid="49" grpId="0"/>
      <p:bldP spid="50" grpId="0"/>
      <p:bldP spid="51" grpId="0"/>
      <p:bldP spid="55" grpId="0"/>
      <p:bldP spid="56" grpId="0"/>
      <p:bldP spid="57" grpId="0"/>
      <p:bldP spid="61" grpId="0"/>
      <p:bldP spid="62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FLORAL, CITRUS, GREEN &amp; GOURMAND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 — part 2</a:t>
            </a:r>
            <a:endParaRPr lang="en-US" sz="3200" dirty="0"/>
          </a:p>
        </p:txBody>
      </p:sp>
      <p:sp>
        <p:nvSpPr>
          <p:cNvPr id="7" name="bld1_1869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 rot="10800000">
            <a:off x="1805480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14400000">
            <a:off x="1910485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8000000">
            <a:off x="1910485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805480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3600000">
            <a:off x="1700475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7200000">
            <a:off x="1700475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781230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7" name="bld1_1871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</a:t>
            </a:r>
            <a:endParaRPr lang="en-US" sz="1450" dirty="0"/>
          </a:p>
        </p:txBody>
      </p:sp>
      <p:sp>
        <p:nvSpPr>
          <p:cNvPr id="18" name="bld1_1872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Floral. Teaches diffusion and radiance — a genuinely formula-changing material.</a:t>
            </a:r>
            <a:endParaRPr lang="en-US" sz="1080" dirty="0"/>
          </a:p>
        </p:txBody>
      </p:sp>
      <p:sp>
        <p:nvSpPr>
          <p:cNvPr id="19" name="bld2_1873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40667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2700000">
            <a:off x="4692520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5400000">
            <a:off x="4713999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8100000">
            <a:off x="4692520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10800000">
            <a:off x="4640667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3500000">
            <a:off x="4588814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6200000">
            <a:off x="4567335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8900000">
            <a:off x="4588814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638242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1" name="bld2_1875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Linalool</a:t>
            </a:r>
            <a:endParaRPr lang="en-US" sz="1450" dirty="0"/>
          </a:p>
        </p:txBody>
      </p:sp>
      <p:sp>
        <p:nvSpPr>
          <p:cNvPr id="32" name="bld2_1876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Floral. Gentle, forgiving, very hard to overdose — a safe floral-fresh starting point.</a:t>
            </a:r>
            <a:endParaRPr lang="en-US" sz="1080" dirty="0"/>
          </a:p>
        </p:txBody>
      </p:sp>
      <p:sp>
        <p:nvSpPr>
          <p:cNvPr id="33" name="bld3_1877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35" name="Shape 33"/>
          <p:cNvSpPr/>
          <p:nvPr/>
        </p:nvSpPr>
        <p:spPr>
          <a:xfrm>
            <a:off x="7272155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306104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37" name="Shape 35"/>
          <p:cNvSpPr/>
          <p:nvPr/>
        </p:nvSpPr>
        <p:spPr>
          <a:xfrm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 rot="216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 rot="432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 rot="648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 rot="864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1080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1296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1512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728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9440000">
            <a:off x="7502529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490404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8" name="Shape 46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49" name="bld3_1879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</a:t>
            </a:r>
            <a:endParaRPr lang="en-US" sz="1450" dirty="0"/>
          </a:p>
        </p:txBody>
      </p:sp>
      <p:sp>
        <p:nvSpPr>
          <p:cNvPr id="50" name="bld3_1880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Citrus. The classic opening lift — every beginner formula needs a citrus reference.</a:t>
            </a:r>
            <a:endParaRPr lang="en-US" sz="1080" dirty="0"/>
          </a:p>
        </p:txBody>
      </p:sp>
      <p:sp>
        <p:nvSpPr>
          <p:cNvPr id="51" name="bld4_1881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3" name="Shape 51"/>
          <p:cNvSpPr/>
          <p:nvPr/>
        </p:nvSpPr>
        <p:spPr>
          <a:xfrm>
            <a:off x="10109766" y="1978030"/>
            <a:ext cx="484998" cy="484998"/>
          </a:xfrm>
          <a:prstGeom prst="ellipse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143716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5" name="Shape 53"/>
          <p:cNvSpPr/>
          <p:nvPr/>
        </p:nvSpPr>
        <p:spPr>
          <a:xfrm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216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432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648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864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080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512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1728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19440000">
            <a:off x="10340140" y="2026530"/>
            <a:ext cx="24250" cy="189149"/>
          </a:xfrm>
          <a:prstGeom prst="ellipse">
            <a:avLst/>
          </a:prstGeom>
          <a:solidFill>
            <a:srgbClr val="5C8A45">
              <a:alpha val="8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328015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F2C348"/>
            </a:solidFill>
            <a:prstDash val="solid"/>
          </a:ln>
        </p:spPr>
      </p:sp>
      <p:sp>
        <p:nvSpPr>
          <p:cNvPr id="67" name="bld4_1883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Dihydromyrcenol</a:t>
            </a:r>
            <a:endParaRPr lang="en-US" sz="1450" dirty="0"/>
          </a:p>
        </p:txBody>
      </p:sp>
      <p:sp>
        <p:nvSpPr>
          <p:cNvPr id="68" name="bld4_1884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Fresh. Explosive citrus-aromatic lift — teaches what "fresh" synthetics do.</a:t>
            </a:r>
            <a:endParaRPr lang="en-US" sz="1080" dirty="0"/>
          </a:p>
        </p:txBody>
      </p:sp>
      <p:sp>
        <p:nvSpPr>
          <p:cNvPr id="69" name="bld5_1885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71" name="Shape 69"/>
          <p:cNvSpPr/>
          <p:nvPr/>
        </p:nvSpPr>
        <p:spPr>
          <a:xfrm rot="15300000">
            <a:off x="1675231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13050000">
            <a:off x="172070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10800000">
            <a:off x="1798205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 rot="8550000">
            <a:off x="187570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 rot="6300000">
            <a:off x="192117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77" name="bld5_1887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cis-3-Hexenol</a:t>
            </a:r>
            <a:endParaRPr lang="en-US" sz="1450" dirty="0"/>
          </a:p>
        </p:txBody>
      </p:sp>
      <p:sp>
        <p:nvSpPr>
          <p:cNvPr id="78" name="bld5_1888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Green. The exact smell of cut grass — dose tiny, it teaches restraint fast.</a:t>
            </a:r>
            <a:endParaRPr lang="en-US" sz="1080" dirty="0"/>
          </a:p>
        </p:txBody>
      </p:sp>
      <p:sp>
        <p:nvSpPr>
          <p:cNvPr id="79" name="bld6_1889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1" name="Shape 79"/>
          <p:cNvSpPr/>
          <p:nvPr/>
        </p:nvSpPr>
        <p:spPr>
          <a:xfrm rot="840000">
            <a:off x="4618842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840000">
            <a:off x="4671555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622479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4" name="Shape 82"/>
          <p:cNvSpPr/>
          <p:nvPr/>
        </p:nvSpPr>
        <p:spPr>
          <a:xfrm>
            <a:off x="4639939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5" name="Shape 83"/>
          <p:cNvSpPr/>
          <p:nvPr/>
        </p:nvSpPr>
        <p:spPr>
          <a:xfrm>
            <a:off x="4657399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6" name="Shape 84"/>
          <p:cNvSpPr/>
          <p:nvPr/>
        </p:nvSpPr>
        <p:spPr>
          <a:xfrm>
            <a:off x="4674859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7" name="Shape 85"/>
          <p:cNvSpPr/>
          <p:nvPr/>
        </p:nvSpPr>
        <p:spPr>
          <a:xfrm>
            <a:off x="4692319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8" name="Shape 86"/>
          <p:cNvSpPr/>
          <p:nvPr/>
        </p:nvSpPr>
        <p:spPr>
          <a:xfrm>
            <a:off x="4709779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90" name="bld6_1891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</a:t>
            </a:r>
            <a:endParaRPr lang="en-US" sz="1450" dirty="0"/>
          </a:p>
        </p:txBody>
      </p:sp>
      <p:sp>
        <p:nvSpPr>
          <p:cNvPr id="91" name="bld6_1892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Warm, cheap and endlessly useful — the most-used gourmand material.</a:t>
            </a:r>
            <a:endParaRPr lang="en-US" sz="1080" dirty="0"/>
          </a:p>
        </p:txBody>
      </p:sp>
      <p:sp>
        <p:nvSpPr>
          <p:cNvPr id="92" name="bld7_1893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94" name="Shape 92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7340054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437054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5C3A1E"/>
            </a:solidFill>
            <a:prstDash val="solid"/>
          </a:ln>
        </p:spPr>
      </p:sp>
      <p:sp>
        <p:nvSpPr>
          <p:cNvPr id="98" name="bld7_1895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Ethyl Maltol</a:t>
            </a:r>
            <a:endParaRPr lang="en-US" sz="1450" dirty="0"/>
          </a:p>
        </p:txBody>
      </p:sp>
      <p:sp>
        <p:nvSpPr>
          <p:cNvPr id="99" name="bld7_1896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Instant candy-sweet lift — teaches how little you actually need.</a:t>
            </a:r>
            <a:endParaRPr lang="en-US" sz="1080" dirty="0"/>
          </a:p>
        </p:txBody>
      </p:sp>
      <p:sp>
        <p:nvSpPr>
          <p:cNvPr id="100" name="bld8_1897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1" name="Shape 99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109766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10177666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74666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D9A05B"/>
            </a:solidFill>
            <a:prstDash val="solid"/>
          </a:ln>
        </p:spPr>
      </p:sp>
      <p:sp>
        <p:nvSpPr>
          <p:cNvPr id="106" name="bld8_1899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Coumarin</a:t>
            </a:r>
            <a:endParaRPr lang="en-US" sz="1450" dirty="0"/>
          </a:p>
        </p:txBody>
      </p:sp>
      <p:sp>
        <p:nvSpPr>
          <p:cNvPr id="107" name="bld8_1900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Gourmand. Sweet hay warmth — a fougère and gourmand cornerstone.</a:t>
            </a:r>
            <a:endParaRPr lang="en-US" sz="1080" dirty="0"/>
          </a:p>
        </p:txBody>
      </p:sp>
      <p:sp>
        <p:nvSpPr>
          <p:cNvPr id="109" name="trans_fade_1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0" name="Text 10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1000" dirty="0"/>
          </a:p>
        </p:txBody>
      </p:sp>
      <p:sp>
        <p:nvSpPr>
          <p:cNvPr id="111" name="Text 10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7" grpId="0"/>
      <p:bldP spid="18" grpId="0"/>
      <p:bldP spid="19" grpId="0"/>
      <p:bldP spid="31" grpId="0"/>
      <p:bldP spid="32" grpId="0"/>
      <p:bldP spid="33" grpId="0"/>
      <p:bldP spid="49" grpId="0"/>
      <p:bldP spid="50" grpId="0"/>
      <p:bldP spid="51" grpId="0"/>
      <p:bldP spid="67" grpId="0"/>
      <p:bldP spid="68" grpId="0"/>
      <p:bldP spid="69" grpId="0"/>
      <p:bldP spid="77" grpId="0"/>
      <p:bldP spid="78" grpId="0"/>
      <p:bldP spid="79" grpId="0"/>
      <p:bldP spid="90" grpId="0"/>
      <p:bldP spid="91" grpId="0"/>
      <p:bldP spid="92" grpId="0"/>
      <p:bldP spid="98" grpId="0"/>
      <p:bldP spid="99" grpId="0"/>
      <p:bldP spid="100" grpId="0"/>
      <p:bldP spid="106" grpId="0"/>
      <p:bldP spid="107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30, A to Z</a:t>
            </a:r>
            <a:endParaRPr lang="en-US" sz="3200" dirty="0"/>
          </a:p>
        </p:txBody>
      </p:sp>
      <p:sp>
        <p:nvSpPr>
          <p:cNvPr id="7" name="bld1_1901"/>
          <p:cNvSpPr txBox="1"/>
          <p:nvPr/>
        </p:nvSpPr>
        <p:spPr>
          <a:xfrm>
            <a:off x="548640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– F</a:t>
            </a:r>
            <a:endParaRPr lang="en-US" sz="1250" dirty="0"/>
          </a:p>
        </p:txBody>
      </p:sp>
      <p:sp>
        <p:nvSpPr>
          <p:cNvPr id="8" name="bld1_1902"/>
          <p:cNvSpPr/>
          <p:nvPr/>
        </p:nvSpPr>
        <p:spPr>
          <a:xfrm>
            <a:off x="548640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bld1_1903"/>
          <p:cNvSpPr txBox="1"/>
          <p:nvPr/>
        </p:nvSpPr>
        <p:spPr>
          <a:xfrm>
            <a:off x="841248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</a:t>
            </a:r>
            <a:endParaRPr lang="en-US" sz="1200" dirty="0"/>
          </a:p>
        </p:txBody>
      </p:sp>
      <p:sp>
        <p:nvSpPr>
          <p:cNvPr id="10" name="bld1_1904"/>
          <p:cNvSpPr/>
          <p:nvPr/>
        </p:nvSpPr>
        <p:spPr>
          <a:xfrm>
            <a:off x="548640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bld1_1905"/>
          <p:cNvSpPr txBox="1"/>
          <p:nvPr/>
        </p:nvSpPr>
        <p:spPr>
          <a:xfrm>
            <a:off x="841248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</a:t>
            </a:r>
            <a:endParaRPr lang="en-US" sz="1200" dirty="0"/>
          </a:p>
        </p:txBody>
      </p:sp>
      <p:sp>
        <p:nvSpPr>
          <p:cNvPr id="12" name="bld1_1906"/>
          <p:cNvSpPr/>
          <p:nvPr/>
        </p:nvSpPr>
        <p:spPr>
          <a:xfrm>
            <a:off x="548640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bld1_1907"/>
          <p:cNvSpPr txBox="1"/>
          <p:nvPr/>
        </p:nvSpPr>
        <p:spPr>
          <a:xfrm>
            <a:off x="841248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Cedarwood</a:t>
            </a:r>
            <a:endParaRPr lang="en-US" sz="1200" dirty="0"/>
          </a:p>
        </p:txBody>
      </p:sp>
      <p:sp>
        <p:nvSpPr>
          <p:cNvPr id="14" name="bld1_1908"/>
          <p:cNvSpPr/>
          <p:nvPr/>
        </p:nvSpPr>
        <p:spPr>
          <a:xfrm>
            <a:off x="548640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5" name="bld1_1909"/>
          <p:cNvSpPr txBox="1"/>
          <p:nvPr/>
        </p:nvSpPr>
        <p:spPr>
          <a:xfrm>
            <a:off x="841248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</a:t>
            </a:r>
            <a:endParaRPr lang="en-US" sz="1200" dirty="0"/>
          </a:p>
        </p:txBody>
      </p:sp>
      <p:sp>
        <p:nvSpPr>
          <p:cNvPr id="16" name="bld1_1910"/>
          <p:cNvSpPr/>
          <p:nvPr/>
        </p:nvSpPr>
        <p:spPr>
          <a:xfrm>
            <a:off x="548640" y="44531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7" name="bld1_1911"/>
          <p:cNvSpPr txBox="1"/>
          <p:nvPr/>
        </p:nvSpPr>
        <p:spPr>
          <a:xfrm>
            <a:off x="841248" y="43891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</a:t>
            </a:r>
            <a:endParaRPr lang="en-US" sz="1200" dirty="0"/>
          </a:p>
        </p:txBody>
      </p:sp>
      <p:sp>
        <p:nvSpPr>
          <p:cNvPr id="18" name="bld1_1912"/>
          <p:cNvSpPr/>
          <p:nvPr/>
        </p:nvSpPr>
        <p:spPr>
          <a:xfrm>
            <a:off x="548640" y="4910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9" name="bld1_1913"/>
          <p:cNvSpPr txBox="1"/>
          <p:nvPr/>
        </p:nvSpPr>
        <p:spPr>
          <a:xfrm>
            <a:off x="841248" y="4846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Dihydromyrcenol</a:t>
            </a:r>
            <a:endParaRPr lang="en-US" sz="1200" dirty="0"/>
          </a:p>
        </p:txBody>
      </p:sp>
      <p:sp>
        <p:nvSpPr>
          <p:cNvPr id="20" name="bld1_1914"/>
          <p:cNvSpPr/>
          <p:nvPr/>
        </p:nvSpPr>
        <p:spPr>
          <a:xfrm>
            <a:off x="548640" y="5367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21" name="bld1_1915"/>
          <p:cNvSpPr txBox="1"/>
          <p:nvPr/>
        </p:nvSpPr>
        <p:spPr>
          <a:xfrm>
            <a:off x="841248" y="5303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</a:t>
            </a:r>
            <a:endParaRPr lang="en-US" sz="1200" dirty="0"/>
          </a:p>
        </p:txBody>
      </p:sp>
      <p:sp>
        <p:nvSpPr>
          <p:cNvPr id="22" name="bld2_1916"/>
          <p:cNvSpPr txBox="1"/>
          <p:nvPr/>
        </p:nvSpPr>
        <p:spPr>
          <a:xfrm>
            <a:off x="4353458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– L</a:t>
            </a:r>
            <a:endParaRPr lang="en-US" sz="1250" dirty="0"/>
          </a:p>
        </p:txBody>
      </p:sp>
      <p:sp>
        <p:nvSpPr>
          <p:cNvPr id="23" name="bld2_1917"/>
          <p:cNvSpPr/>
          <p:nvPr/>
        </p:nvSpPr>
        <p:spPr>
          <a:xfrm>
            <a:off x="4353458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1918"/>
          <p:cNvSpPr txBox="1"/>
          <p:nvPr/>
        </p:nvSpPr>
        <p:spPr>
          <a:xfrm>
            <a:off x="4646066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</a:t>
            </a:r>
            <a:endParaRPr lang="en-US" sz="1200" dirty="0"/>
          </a:p>
        </p:txBody>
      </p:sp>
      <p:sp>
        <p:nvSpPr>
          <p:cNvPr id="25" name="bld2_1919"/>
          <p:cNvSpPr/>
          <p:nvPr/>
        </p:nvSpPr>
        <p:spPr>
          <a:xfrm>
            <a:off x="4353458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1920"/>
          <p:cNvSpPr txBox="1"/>
          <p:nvPr/>
        </p:nvSpPr>
        <p:spPr>
          <a:xfrm>
            <a:off x="4646066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Habanolide</a:t>
            </a:r>
            <a:endParaRPr lang="en-US" sz="1200" dirty="0"/>
          </a:p>
        </p:txBody>
      </p:sp>
      <p:sp>
        <p:nvSpPr>
          <p:cNvPr id="27" name="bld2_1921"/>
          <p:cNvSpPr/>
          <p:nvPr/>
        </p:nvSpPr>
        <p:spPr>
          <a:xfrm>
            <a:off x="4353458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2_1922"/>
          <p:cNvSpPr txBox="1"/>
          <p:nvPr/>
        </p:nvSpPr>
        <p:spPr>
          <a:xfrm>
            <a:off x="4646066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</a:t>
            </a:r>
            <a:endParaRPr lang="en-US" sz="1200" dirty="0"/>
          </a:p>
        </p:txBody>
      </p:sp>
      <p:sp>
        <p:nvSpPr>
          <p:cNvPr id="29" name="bld2_1923"/>
          <p:cNvSpPr/>
          <p:nvPr/>
        </p:nvSpPr>
        <p:spPr>
          <a:xfrm>
            <a:off x="4353458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0" name="bld2_1924"/>
          <p:cNvSpPr txBox="1"/>
          <p:nvPr/>
        </p:nvSpPr>
        <p:spPr>
          <a:xfrm>
            <a:off x="4646066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</a:t>
            </a:r>
            <a:endParaRPr lang="en-US" sz="1200" dirty="0"/>
          </a:p>
        </p:txBody>
      </p:sp>
      <p:sp>
        <p:nvSpPr>
          <p:cNvPr id="31" name="bld2_1925"/>
          <p:cNvSpPr/>
          <p:nvPr/>
        </p:nvSpPr>
        <p:spPr>
          <a:xfrm>
            <a:off x="4353458" y="44531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2" name="bld2_1926"/>
          <p:cNvSpPr txBox="1"/>
          <p:nvPr/>
        </p:nvSpPr>
        <p:spPr>
          <a:xfrm>
            <a:off x="4646066" y="43891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Labdanum</a:t>
            </a:r>
            <a:endParaRPr lang="en-US" sz="1200" dirty="0"/>
          </a:p>
        </p:txBody>
      </p:sp>
      <p:sp>
        <p:nvSpPr>
          <p:cNvPr id="33" name="bld2_1927"/>
          <p:cNvSpPr/>
          <p:nvPr/>
        </p:nvSpPr>
        <p:spPr>
          <a:xfrm>
            <a:off x="4353458" y="4910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34" name="bld2_1928"/>
          <p:cNvSpPr txBox="1"/>
          <p:nvPr/>
        </p:nvSpPr>
        <p:spPr>
          <a:xfrm>
            <a:off x="4646066" y="4846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</a:t>
            </a:r>
            <a:endParaRPr lang="en-US" sz="1200" dirty="0"/>
          </a:p>
        </p:txBody>
      </p:sp>
      <p:sp>
        <p:nvSpPr>
          <p:cNvPr id="35" name="bld3_1929"/>
          <p:cNvSpPr txBox="1"/>
          <p:nvPr/>
        </p:nvSpPr>
        <p:spPr>
          <a:xfrm>
            <a:off x="8158277" y="21671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– V</a:t>
            </a:r>
            <a:endParaRPr lang="en-US" sz="1250" dirty="0"/>
          </a:p>
        </p:txBody>
      </p:sp>
      <p:sp>
        <p:nvSpPr>
          <p:cNvPr id="36" name="bld3_1930"/>
          <p:cNvSpPr/>
          <p:nvPr/>
        </p:nvSpPr>
        <p:spPr>
          <a:xfrm>
            <a:off x="8158277" y="26243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7" name="bld3_1931"/>
          <p:cNvSpPr txBox="1"/>
          <p:nvPr/>
        </p:nvSpPr>
        <p:spPr>
          <a:xfrm>
            <a:off x="8450885" y="25603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</a:t>
            </a:r>
            <a:endParaRPr lang="en-US" sz="1200" dirty="0"/>
          </a:p>
        </p:txBody>
      </p:sp>
      <p:sp>
        <p:nvSpPr>
          <p:cNvPr id="38" name="bld3_1932"/>
          <p:cNvSpPr/>
          <p:nvPr/>
        </p:nvSpPr>
        <p:spPr>
          <a:xfrm>
            <a:off x="8158277" y="30815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9" name="bld3_1933"/>
          <p:cNvSpPr txBox="1"/>
          <p:nvPr/>
        </p:nvSpPr>
        <p:spPr>
          <a:xfrm>
            <a:off x="8450885" y="30175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</a:t>
            </a:r>
            <a:endParaRPr lang="en-US" sz="1200" dirty="0"/>
          </a:p>
        </p:txBody>
      </p:sp>
      <p:sp>
        <p:nvSpPr>
          <p:cNvPr id="41" name="trans_fade_1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2" name="Text 3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5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30 — expanding possibilities</a:t>
            </a:r>
            <a:endParaRPr lang="en-US" sz="3200" dirty="0"/>
          </a:p>
        </p:txBody>
      </p:sp>
      <p:sp>
        <p:nvSpPr>
          <p:cNvPr id="7" name="bld1_1934"/>
          <p:cNvSpPr txBox="1"/>
          <p:nvPr/>
        </p:nvSpPr>
        <p:spPr>
          <a:xfrm>
            <a:off x="548640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WOODS &amp; AMBER</a:t>
            </a:r>
            <a:endParaRPr lang="en-US" sz="1250" dirty="0"/>
          </a:p>
        </p:txBody>
      </p:sp>
      <p:sp>
        <p:nvSpPr>
          <p:cNvPr id="8" name="bld1_1935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9" name="bld1_1936"/>
          <p:cNvSpPr txBox="1"/>
          <p:nvPr/>
        </p:nvSpPr>
        <p:spPr>
          <a:xfrm>
            <a:off x="841248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</a:t>
            </a:r>
            <a:endParaRPr lang="en-US" sz="1200" dirty="0"/>
          </a:p>
        </p:txBody>
      </p:sp>
      <p:sp>
        <p:nvSpPr>
          <p:cNvPr id="10" name="bld1_1937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1" name="bld1_1938"/>
          <p:cNvSpPr txBox="1"/>
          <p:nvPr/>
        </p:nvSpPr>
        <p:spPr>
          <a:xfrm>
            <a:off x="841248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Vetiver</a:t>
            </a:r>
            <a:endParaRPr lang="en-US" sz="1200" dirty="0"/>
          </a:p>
        </p:txBody>
      </p:sp>
      <p:sp>
        <p:nvSpPr>
          <p:cNvPr id="12" name="bld1_1939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9C7A34"/>
            </a:solidFill>
            <a:prstDash val="solid"/>
          </a:ln>
        </p:spPr>
      </p:sp>
      <p:sp>
        <p:nvSpPr>
          <p:cNvPr id="13" name="bld1_1940"/>
          <p:cNvSpPr txBox="1"/>
          <p:nvPr/>
        </p:nvSpPr>
        <p:spPr>
          <a:xfrm>
            <a:off x="841248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Norlimbanol</a:t>
            </a:r>
            <a:endParaRPr lang="en-US" sz="1200" dirty="0"/>
          </a:p>
        </p:txBody>
      </p:sp>
      <p:sp>
        <p:nvSpPr>
          <p:cNvPr id="14" name="bld2_1941"/>
          <p:cNvSpPr txBox="1"/>
          <p:nvPr/>
        </p:nvSpPr>
        <p:spPr>
          <a:xfrm>
            <a:off x="2831531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MUSKS</a:t>
            </a:r>
            <a:endParaRPr lang="en-US" sz="1250" dirty="0"/>
          </a:p>
        </p:txBody>
      </p:sp>
      <p:sp>
        <p:nvSpPr>
          <p:cNvPr id="15" name="bld2_1942"/>
          <p:cNvSpPr/>
          <p:nvPr/>
        </p:nvSpPr>
        <p:spPr>
          <a:xfrm>
            <a:off x="2831531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FC5AE"/>
            </a:solidFill>
            <a:prstDash val="solid"/>
          </a:ln>
        </p:spPr>
      </p:sp>
      <p:sp>
        <p:nvSpPr>
          <p:cNvPr id="16" name="bld2_1943"/>
          <p:cNvSpPr txBox="1"/>
          <p:nvPr/>
        </p:nvSpPr>
        <p:spPr>
          <a:xfrm>
            <a:off x="3124139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Ambrettolide</a:t>
            </a:r>
            <a:endParaRPr lang="en-US" sz="1200" dirty="0"/>
          </a:p>
        </p:txBody>
      </p:sp>
      <p:sp>
        <p:nvSpPr>
          <p:cNvPr id="17" name="bld3_1944"/>
          <p:cNvSpPr txBox="1"/>
          <p:nvPr/>
        </p:nvSpPr>
        <p:spPr>
          <a:xfrm>
            <a:off x="5114422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FLORALS</a:t>
            </a:r>
            <a:endParaRPr lang="en-US" sz="1250" dirty="0"/>
          </a:p>
        </p:txBody>
      </p:sp>
      <p:sp>
        <p:nvSpPr>
          <p:cNvPr id="18" name="bld3_1945"/>
          <p:cNvSpPr/>
          <p:nvPr/>
        </p:nvSpPr>
        <p:spPr>
          <a:xfrm>
            <a:off x="5114422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19" name="bld3_1946"/>
          <p:cNvSpPr txBox="1"/>
          <p:nvPr/>
        </p:nvSpPr>
        <p:spPr>
          <a:xfrm>
            <a:off x="5407030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</a:t>
            </a:r>
            <a:endParaRPr lang="en-US" sz="1200" dirty="0"/>
          </a:p>
        </p:txBody>
      </p:sp>
      <p:sp>
        <p:nvSpPr>
          <p:cNvPr id="20" name="bld3_1947"/>
          <p:cNvSpPr/>
          <p:nvPr/>
        </p:nvSpPr>
        <p:spPr>
          <a:xfrm>
            <a:off x="5114422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8C3B49"/>
            </a:solidFill>
            <a:prstDash val="solid"/>
          </a:ln>
        </p:spPr>
      </p:sp>
      <p:sp>
        <p:nvSpPr>
          <p:cNvPr id="21" name="bld3_1948"/>
          <p:cNvSpPr txBox="1"/>
          <p:nvPr/>
        </p:nvSpPr>
        <p:spPr>
          <a:xfrm>
            <a:off x="5407030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</a:t>
            </a:r>
            <a:endParaRPr lang="en-US" sz="1200" dirty="0"/>
          </a:p>
        </p:txBody>
      </p:sp>
      <p:sp>
        <p:nvSpPr>
          <p:cNvPr id="22" name="bld4_1949"/>
          <p:cNvSpPr txBox="1"/>
          <p:nvPr/>
        </p:nvSpPr>
        <p:spPr>
          <a:xfrm>
            <a:off x="7397313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 &amp; GREEN</a:t>
            </a:r>
            <a:endParaRPr lang="en-US" sz="1250" dirty="0"/>
          </a:p>
        </p:txBody>
      </p:sp>
      <p:sp>
        <p:nvSpPr>
          <p:cNvPr id="23" name="bld4_1950"/>
          <p:cNvSpPr/>
          <p:nvPr/>
        </p:nvSpPr>
        <p:spPr>
          <a:xfrm>
            <a:off x="7397313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4_1951"/>
          <p:cNvSpPr txBox="1"/>
          <p:nvPr/>
        </p:nvSpPr>
        <p:spPr>
          <a:xfrm>
            <a:off x="7689921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Allyl amyl glycolate</a:t>
            </a:r>
            <a:endParaRPr lang="en-US" sz="1200" dirty="0"/>
          </a:p>
        </p:txBody>
      </p:sp>
      <p:sp>
        <p:nvSpPr>
          <p:cNvPr id="25" name="bld4_1952"/>
          <p:cNvSpPr/>
          <p:nvPr/>
        </p:nvSpPr>
        <p:spPr>
          <a:xfrm>
            <a:off x="7397313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4_1953"/>
          <p:cNvSpPr txBox="1"/>
          <p:nvPr/>
        </p:nvSpPr>
        <p:spPr>
          <a:xfrm>
            <a:off x="7689921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Galbanum</a:t>
            </a:r>
            <a:endParaRPr lang="en-US" sz="1200" dirty="0"/>
          </a:p>
        </p:txBody>
      </p:sp>
      <p:sp>
        <p:nvSpPr>
          <p:cNvPr id="27" name="bld4_1954"/>
          <p:cNvSpPr/>
          <p:nvPr/>
        </p:nvSpPr>
        <p:spPr>
          <a:xfrm>
            <a:off x="7397313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8" name="bld4_1955"/>
          <p:cNvSpPr txBox="1"/>
          <p:nvPr/>
        </p:nvSpPr>
        <p:spPr>
          <a:xfrm>
            <a:off x="7689921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Prunolide</a:t>
            </a:r>
            <a:endParaRPr lang="en-US" sz="1200" dirty="0"/>
          </a:p>
        </p:txBody>
      </p:sp>
      <p:sp>
        <p:nvSpPr>
          <p:cNvPr id="29" name="bld5_1956"/>
          <p:cNvSpPr txBox="1"/>
          <p:nvPr/>
        </p:nvSpPr>
        <p:spPr>
          <a:xfrm>
            <a:off x="9680204" y="2898648"/>
            <a:ext cx="19628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GOURMAND &amp; FRESH</a:t>
            </a:r>
            <a:endParaRPr lang="en-US" sz="1250" dirty="0"/>
          </a:p>
        </p:txBody>
      </p:sp>
      <p:sp>
        <p:nvSpPr>
          <p:cNvPr id="30" name="bld5_1957"/>
          <p:cNvSpPr/>
          <p:nvPr/>
        </p:nvSpPr>
        <p:spPr>
          <a:xfrm>
            <a:off x="9680204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5_1958"/>
          <p:cNvSpPr txBox="1"/>
          <p:nvPr/>
        </p:nvSpPr>
        <p:spPr>
          <a:xfrm>
            <a:off x="9972812" y="32918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Calone</a:t>
            </a:r>
            <a:endParaRPr lang="en-US" sz="1200" dirty="0"/>
          </a:p>
        </p:txBody>
      </p:sp>
      <p:sp>
        <p:nvSpPr>
          <p:cNvPr id="32" name="bld5_1959"/>
          <p:cNvSpPr/>
          <p:nvPr/>
        </p:nvSpPr>
        <p:spPr>
          <a:xfrm>
            <a:off x="9680204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5_1960"/>
          <p:cNvSpPr txBox="1"/>
          <p:nvPr/>
        </p:nvSpPr>
        <p:spPr>
          <a:xfrm>
            <a:off x="9972812" y="37490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Heliotropin</a:t>
            </a:r>
            <a:endParaRPr lang="en-US" sz="1200" dirty="0"/>
          </a:p>
        </p:txBody>
      </p:sp>
      <p:sp>
        <p:nvSpPr>
          <p:cNvPr id="34" name="bld5_1961"/>
          <p:cNvSpPr/>
          <p:nvPr/>
        </p:nvSpPr>
        <p:spPr>
          <a:xfrm>
            <a:off x="9680204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5" name="bld5_1962"/>
          <p:cNvSpPr txBox="1"/>
          <p:nvPr/>
        </p:nvSpPr>
        <p:spPr>
          <a:xfrm>
            <a:off x="9972812" y="4206240"/>
            <a:ext cx="1642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</a:t>
            </a:r>
            <a:endParaRPr lang="en-US" sz="1200" dirty="0"/>
          </a:p>
        </p:txBody>
      </p:sp>
      <p:sp>
        <p:nvSpPr>
          <p:cNvPr id="37" name="trans_fade_1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BY FAMILY, NOT BY IMPULSE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 every purchase around the palette</a:t>
            </a:r>
            <a:endParaRPr lang="en-US" sz="3200" dirty="0"/>
          </a:p>
        </p:txBody>
      </p:sp>
      <p:sp>
        <p:nvSpPr>
          <p:cNvPr id="7" name="bld1_1963"/>
          <p:cNvSpPr/>
          <p:nvPr/>
        </p:nvSpPr>
        <p:spPr>
          <a:xfrm>
            <a:off x="548640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>
            <a:off x="1313170" y="1978030"/>
            <a:ext cx="484998" cy="4849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394003" y="2058863"/>
            <a:ext cx="323332" cy="323332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1" name="Shape 9"/>
          <p:cNvSpPr/>
          <p:nvPr/>
        </p:nvSpPr>
        <p:spPr>
          <a:xfrm>
            <a:off x="1474836" y="2139696"/>
            <a:ext cx="161666" cy="16166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526569" y="2191429"/>
            <a:ext cx="58200" cy="5820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3" name="Shape 11"/>
          <p:cNvSpPr/>
          <p:nvPr/>
        </p:nvSpPr>
        <p:spPr>
          <a:xfrm>
            <a:off x="1244773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4" name="bld1_1965"/>
          <p:cNvSpPr txBox="1"/>
          <p:nvPr/>
        </p:nvSpPr>
        <p:spPr>
          <a:xfrm>
            <a:off x="731520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15" name="bld1_1966"/>
          <p:cNvSpPr txBox="1"/>
          <p:nvPr/>
        </p:nvSpPr>
        <p:spPr>
          <a:xfrm>
            <a:off x="731520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base</a:t>
            </a:r>
            <a:endParaRPr lang="en-US" sz="1080" dirty="0"/>
          </a:p>
        </p:txBody>
      </p:sp>
      <p:sp>
        <p:nvSpPr>
          <p:cNvPr id="16" name="bld2_1967"/>
          <p:cNvSpPr/>
          <p:nvPr/>
        </p:nvSpPr>
        <p:spPr>
          <a:xfrm>
            <a:off x="281872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02659" y="2070180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14862" y="1909633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20" name="bld2_1969"/>
          <p:cNvSpPr txBox="1"/>
          <p:nvPr/>
        </p:nvSpPr>
        <p:spPr>
          <a:xfrm>
            <a:off x="300160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Musks</a:t>
            </a:r>
            <a:endParaRPr lang="en-US" sz="1450" dirty="0"/>
          </a:p>
        </p:txBody>
      </p:sp>
      <p:sp>
        <p:nvSpPr>
          <p:cNvPr id="21" name="bld2_1970"/>
          <p:cNvSpPr txBox="1"/>
          <p:nvPr/>
        </p:nvSpPr>
        <p:spPr>
          <a:xfrm>
            <a:off x="300160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fixation</a:t>
            </a:r>
            <a:endParaRPr lang="en-US" sz="1080" dirty="0"/>
          </a:p>
        </p:txBody>
      </p:sp>
      <p:sp>
        <p:nvSpPr>
          <p:cNvPr id="22" name="bld3_1971"/>
          <p:cNvSpPr/>
          <p:nvPr/>
        </p:nvSpPr>
        <p:spPr>
          <a:xfrm>
            <a:off x="5088819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4" name="Shape 22"/>
          <p:cNvSpPr/>
          <p:nvPr/>
        </p:nvSpPr>
        <p:spPr>
          <a:xfrm rot="9000000">
            <a:off x="5974598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6000000">
            <a:off x="5911548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11400000">
            <a:off x="6110398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28" name="bld3_1973"/>
          <p:cNvSpPr txBox="1"/>
          <p:nvPr/>
        </p:nvSpPr>
        <p:spPr>
          <a:xfrm>
            <a:off x="5271699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Ambers</a:t>
            </a:r>
            <a:endParaRPr lang="en-US" sz="1450" dirty="0"/>
          </a:p>
        </p:txBody>
      </p:sp>
      <p:sp>
        <p:nvSpPr>
          <p:cNvPr id="29" name="bld3_1974"/>
          <p:cNvSpPr txBox="1"/>
          <p:nvPr/>
        </p:nvSpPr>
        <p:spPr>
          <a:xfrm>
            <a:off x="5271699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</a:t>
            </a:r>
            <a:endParaRPr lang="en-US" sz="1080" dirty="0"/>
          </a:p>
        </p:txBody>
      </p:sp>
      <p:sp>
        <p:nvSpPr>
          <p:cNvPr id="30" name="bld4_1975"/>
          <p:cNvSpPr/>
          <p:nvPr/>
        </p:nvSpPr>
        <p:spPr>
          <a:xfrm>
            <a:off x="735890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32" name="Shape 30"/>
          <p:cNvSpPr/>
          <p:nvPr/>
        </p:nvSpPr>
        <p:spPr>
          <a:xfrm>
            <a:off x="8305312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4320000">
            <a:off x="841670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8640000">
            <a:off x="837415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2960000">
            <a:off x="823646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17280000">
            <a:off x="8193918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07737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8" name="Shape 36"/>
          <p:cNvSpPr/>
          <p:nvPr/>
        </p:nvSpPr>
        <p:spPr>
          <a:xfrm>
            <a:off x="8055041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9" name="bld4_1977"/>
          <p:cNvSpPr txBox="1"/>
          <p:nvPr/>
        </p:nvSpPr>
        <p:spPr>
          <a:xfrm>
            <a:off x="754178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Florals</a:t>
            </a:r>
            <a:endParaRPr lang="en-US" sz="1450" dirty="0"/>
          </a:p>
        </p:txBody>
      </p:sp>
      <p:sp>
        <p:nvSpPr>
          <p:cNvPr id="40" name="bld4_1978"/>
          <p:cNvSpPr txBox="1"/>
          <p:nvPr/>
        </p:nvSpPr>
        <p:spPr>
          <a:xfrm>
            <a:off x="754178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080" dirty="0"/>
          </a:p>
        </p:txBody>
      </p:sp>
      <p:sp>
        <p:nvSpPr>
          <p:cNvPr id="41" name="bld5_1979"/>
          <p:cNvSpPr/>
          <p:nvPr/>
        </p:nvSpPr>
        <p:spPr>
          <a:xfrm>
            <a:off x="9628998" y="1781617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93528" y="1978030"/>
            <a:ext cx="484998" cy="484998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427477" y="2011980"/>
            <a:ext cx="417098" cy="41709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216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432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48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64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296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512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728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 rot="19440000">
            <a:off x="10623902" y="2026530"/>
            <a:ext cx="24250" cy="189149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11777" y="2196279"/>
            <a:ext cx="48500" cy="48500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25130" y="1909633"/>
            <a:ext cx="621792" cy="621792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57" name="bld5_1981"/>
          <p:cNvSpPr txBox="1"/>
          <p:nvPr/>
        </p:nvSpPr>
        <p:spPr>
          <a:xfrm>
            <a:off x="9811878" y="2622865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</a:t>
            </a:r>
            <a:endParaRPr lang="en-US" sz="1450" dirty="0"/>
          </a:p>
        </p:txBody>
      </p:sp>
      <p:sp>
        <p:nvSpPr>
          <p:cNvPr id="58" name="bld5_1982"/>
          <p:cNvSpPr txBox="1"/>
          <p:nvPr/>
        </p:nvSpPr>
        <p:spPr>
          <a:xfrm>
            <a:off x="9811878" y="3080065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lift</a:t>
            </a:r>
            <a:endParaRPr lang="en-US" sz="1080" dirty="0"/>
          </a:p>
        </p:txBody>
      </p:sp>
      <p:sp>
        <p:nvSpPr>
          <p:cNvPr id="59" name="bld6_1983"/>
          <p:cNvSpPr/>
          <p:nvPr/>
        </p:nvSpPr>
        <p:spPr>
          <a:xfrm>
            <a:off x="548640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1" name="Shape 59"/>
          <p:cNvSpPr/>
          <p:nvPr/>
        </p:nvSpPr>
        <p:spPr>
          <a:xfrm>
            <a:off x="1356820" y="4400232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550182" y="4390532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12000000">
            <a:off x="1573957" y="4371132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244773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5" name="bld6_1985"/>
          <p:cNvSpPr txBox="1"/>
          <p:nvPr/>
        </p:nvSpPr>
        <p:spPr>
          <a:xfrm>
            <a:off x="731520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66" name="bld6_1986"/>
          <p:cNvSpPr txBox="1"/>
          <p:nvPr/>
        </p:nvSpPr>
        <p:spPr>
          <a:xfrm>
            <a:off x="731520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Juiciness</a:t>
            </a:r>
            <a:endParaRPr lang="en-US" sz="1080" dirty="0"/>
          </a:p>
        </p:txBody>
      </p:sp>
      <p:sp>
        <p:nvSpPr>
          <p:cNvPr id="67" name="bld7_1987"/>
          <p:cNvSpPr/>
          <p:nvPr/>
        </p:nvSpPr>
        <p:spPr>
          <a:xfrm>
            <a:off x="281872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69" name="Shape 67"/>
          <p:cNvSpPr/>
          <p:nvPr/>
        </p:nvSpPr>
        <p:spPr>
          <a:xfrm rot="15300000">
            <a:off x="366155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 rot="13050000">
            <a:off x="3707031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 rot="10800000">
            <a:off x="3784533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 rot="8550000">
            <a:off x="3862036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 rot="6300000">
            <a:off x="390750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514862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75" name="bld7_1989"/>
          <p:cNvSpPr txBox="1"/>
          <p:nvPr/>
        </p:nvSpPr>
        <p:spPr>
          <a:xfrm>
            <a:off x="300160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</a:t>
            </a:r>
            <a:endParaRPr lang="en-US" sz="1450" dirty="0"/>
          </a:p>
        </p:txBody>
      </p:sp>
      <p:sp>
        <p:nvSpPr>
          <p:cNvPr id="76" name="bld7_1990"/>
          <p:cNvSpPr txBox="1"/>
          <p:nvPr/>
        </p:nvSpPr>
        <p:spPr>
          <a:xfrm>
            <a:off x="300160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080" dirty="0"/>
          </a:p>
        </p:txBody>
      </p:sp>
      <p:sp>
        <p:nvSpPr>
          <p:cNvPr id="77" name="bld8_1991"/>
          <p:cNvSpPr/>
          <p:nvPr/>
        </p:nvSpPr>
        <p:spPr>
          <a:xfrm>
            <a:off x="5088819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79" name="Shape 77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906698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5906698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906698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84" name="bld8_1993"/>
          <p:cNvSpPr txBox="1"/>
          <p:nvPr/>
        </p:nvSpPr>
        <p:spPr>
          <a:xfrm>
            <a:off x="5271699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/ Aquatic</a:t>
            </a:r>
            <a:endParaRPr lang="en-US" sz="1450" dirty="0"/>
          </a:p>
        </p:txBody>
      </p:sp>
      <p:sp>
        <p:nvSpPr>
          <p:cNvPr id="85" name="bld8_1994"/>
          <p:cNvSpPr txBox="1"/>
          <p:nvPr/>
        </p:nvSpPr>
        <p:spPr>
          <a:xfrm>
            <a:off x="5271699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Airiness</a:t>
            </a:r>
            <a:endParaRPr lang="en-US" sz="1080" dirty="0"/>
          </a:p>
        </p:txBody>
      </p:sp>
      <p:sp>
        <p:nvSpPr>
          <p:cNvPr id="86" name="bld9_1995"/>
          <p:cNvSpPr/>
          <p:nvPr/>
        </p:nvSpPr>
        <p:spPr>
          <a:xfrm>
            <a:off x="735890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88" name="Shape 86"/>
          <p:cNvSpPr/>
          <p:nvPr/>
        </p:nvSpPr>
        <p:spPr>
          <a:xfrm rot="840000">
            <a:off x="8307737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 rot="840000">
            <a:off x="8360451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11375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1" name="Shape 89"/>
          <p:cNvSpPr/>
          <p:nvPr/>
        </p:nvSpPr>
        <p:spPr>
          <a:xfrm>
            <a:off x="8328835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2" name="Shape 90"/>
          <p:cNvSpPr/>
          <p:nvPr/>
        </p:nvSpPr>
        <p:spPr>
          <a:xfrm>
            <a:off x="8346295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3" name="Shape 91"/>
          <p:cNvSpPr/>
          <p:nvPr/>
        </p:nvSpPr>
        <p:spPr>
          <a:xfrm>
            <a:off x="8363755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4" name="Shape 92"/>
          <p:cNvSpPr/>
          <p:nvPr/>
        </p:nvSpPr>
        <p:spPr>
          <a:xfrm>
            <a:off x="8381214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5" name="Shape 93"/>
          <p:cNvSpPr/>
          <p:nvPr/>
        </p:nvSpPr>
        <p:spPr>
          <a:xfrm>
            <a:off x="8398674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96" name="Shape 94"/>
          <p:cNvSpPr/>
          <p:nvPr/>
        </p:nvSpPr>
        <p:spPr>
          <a:xfrm>
            <a:off x="8055041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97" name="bld9_1997"/>
          <p:cNvSpPr txBox="1"/>
          <p:nvPr/>
        </p:nvSpPr>
        <p:spPr>
          <a:xfrm>
            <a:off x="754178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Gourmand</a:t>
            </a:r>
            <a:endParaRPr lang="en-US" sz="1450" dirty="0"/>
          </a:p>
        </p:txBody>
      </p:sp>
      <p:sp>
        <p:nvSpPr>
          <p:cNvPr id="98" name="bld9_1998"/>
          <p:cNvSpPr txBox="1"/>
          <p:nvPr/>
        </p:nvSpPr>
        <p:spPr>
          <a:xfrm>
            <a:off x="754178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Sweetness</a:t>
            </a:r>
            <a:endParaRPr lang="en-US" sz="1080" dirty="0"/>
          </a:p>
        </p:txBody>
      </p:sp>
      <p:sp>
        <p:nvSpPr>
          <p:cNvPr id="99" name="bld10_1999"/>
          <p:cNvSpPr/>
          <p:nvPr/>
        </p:nvSpPr>
        <p:spPr>
          <a:xfrm>
            <a:off x="9628998" y="4140769"/>
            <a:ext cx="2014057" cy="210312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01" name="Shape 99"/>
          <p:cNvSpPr/>
          <p:nvPr/>
        </p:nvSpPr>
        <p:spPr>
          <a:xfrm rot="9000000">
            <a:off x="10514777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 rot="6000000">
            <a:off x="10451727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 rot="11400000">
            <a:off x="10650576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10325130" y="4268785"/>
            <a:ext cx="621792" cy="621792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105" name="bld10_2001"/>
          <p:cNvSpPr txBox="1"/>
          <p:nvPr/>
        </p:nvSpPr>
        <p:spPr>
          <a:xfrm>
            <a:off x="9811878" y="4982017"/>
            <a:ext cx="16482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</a:t>
            </a:r>
            <a:endParaRPr lang="en-US" sz="1450" dirty="0"/>
          </a:p>
        </p:txBody>
      </p:sp>
      <p:sp>
        <p:nvSpPr>
          <p:cNvPr id="106" name="bld10_2002"/>
          <p:cNvSpPr txBox="1"/>
          <p:nvPr/>
        </p:nvSpPr>
        <p:spPr>
          <a:xfrm>
            <a:off x="9811878" y="5439217"/>
            <a:ext cx="1648297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&amp; soul</a:t>
            </a:r>
            <a:endParaRPr lang="en-US" sz="1080" dirty="0"/>
          </a:p>
        </p:txBody>
      </p:sp>
      <p:sp>
        <p:nvSpPr>
          <p:cNvPr id="108" name="trans_fade_1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09" name="Text 10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1000" dirty="0"/>
          </a:p>
        </p:txBody>
      </p:sp>
      <p:sp>
        <p:nvSpPr>
          <p:cNvPr id="110" name="Text 10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4" grpId="0"/>
      <p:bldP spid="15" grpId="0"/>
      <p:bldP spid="16" grpId="0"/>
      <p:bldP spid="20" grpId="0"/>
      <p:bldP spid="21" grpId="0"/>
      <p:bldP spid="22" grpId="0"/>
      <p:bldP spid="28" grpId="0"/>
      <p:bldP spid="29" grpId="0"/>
      <p:bldP spid="30" grpId="0"/>
      <p:bldP spid="39" grpId="0"/>
      <p:bldP spid="40" grpId="0"/>
      <p:bldP spid="41" grpId="0"/>
      <p:bldP spid="57" grpId="0"/>
      <p:bldP spid="58" grpId="0"/>
      <p:bldP spid="59" grpId="0"/>
      <p:bldP spid="65" grpId="0"/>
      <p:bldP spid="66" grpId="0"/>
      <p:bldP spid="67" grpId="0"/>
      <p:bldP spid="75" grpId="0"/>
      <p:bldP spid="76" grpId="0"/>
      <p:bldP spid="77" grpId="0"/>
      <p:bldP spid="84" grpId="0"/>
      <p:bldP spid="85" grpId="0"/>
      <p:bldP spid="86" grpId="0"/>
      <p:bldP spid="97" grpId="0"/>
      <p:bldP spid="98" grpId="0"/>
      <p:bldP spid="99" grpId="0"/>
      <p:bldP spid="105" grpId="0"/>
      <p:bldP spid="106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beats curiosity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4313" y="3177558"/>
            <a:ext cx="502883" cy="502883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8835289" y="3177558"/>
            <a:ext cx="502883" cy="502883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2" name="Shape 10"/>
          <p:cNvSpPr/>
          <p:nvPr/>
        </p:nvSpPr>
        <p:spPr>
          <a:xfrm>
            <a:off x="9296266" y="3177558"/>
            <a:ext cx="502883" cy="502883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57242" y="3177558"/>
            <a:ext cx="502883" cy="502883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18219" y="3177558"/>
            <a:ext cx="502883" cy="502883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palette, not a random hoard.</a:t>
            </a:r>
            <a:endParaRPr lang="en-US" sz="1050" dirty="0"/>
          </a:p>
        </p:txBody>
      </p:sp>
      <p:sp>
        <p:nvSpPr>
          <p:cNvPr id="16" name="bld1_200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1_200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every family first</a:t>
            </a:r>
            <a:endParaRPr lang="en-US" sz="1650" dirty="0"/>
          </a:p>
        </p:txBody>
      </p:sp>
      <p:sp>
        <p:nvSpPr>
          <p:cNvPr id="18" name="bld1_200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from each of the ten categories teaches you more than ten materials from one category.</a:t>
            </a:r>
            <a:endParaRPr lang="en-US" sz="1250" dirty="0"/>
          </a:p>
        </p:txBody>
      </p:sp>
      <p:sp>
        <p:nvSpPr>
          <p:cNvPr id="19" name="bld2_200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2_200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 the rare and expensive</a:t>
            </a:r>
            <a:endParaRPr lang="en-US" sz="1650" dirty="0"/>
          </a:p>
        </p:txBody>
      </p:sp>
      <p:sp>
        <p:nvSpPr>
          <p:cNvPr id="21" name="bld2_200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exotic captive material is exciting — but useless without the fundamentals to build around it.</a:t>
            </a:r>
            <a:endParaRPr lang="en-US" sz="1250" dirty="0"/>
          </a:p>
        </p:txBody>
      </p:sp>
      <p:sp>
        <p:nvSpPr>
          <p:cNvPr id="22" name="bld3_200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201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comes later</a:t>
            </a:r>
            <a:endParaRPr lang="en-US" sz="1650" dirty="0"/>
          </a:p>
        </p:txBody>
      </p:sp>
      <p:sp>
        <p:nvSpPr>
          <p:cNvPr id="24" name="bld3_201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first 60 materials are familiar, specialise into what you actually love working with.</a:t>
            </a:r>
            <a:endParaRPr lang="en-US" sz="1250" dirty="0"/>
          </a:p>
        </p:txBody>
      </p:sp>
      <p:sp>
        <p:nvSpPr>
          <p:cNvPr id="26" name="trans_fade_1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ORDER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SHOPPING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starter-perfumer checklist</a:t>
            </a:r>
            <a:endParaRPr lang="en-US" sz="3200" dirty="0"/>
          </a:p>
        </p:txBody>
      </p:sp>
      <p:sp>
        <p:nvSpPr>
          <p:cNvPr id="7" name="bld1_2012"/>
          <p:cNvSpPr txBox="1"/>
          <p:nvPr/>
        </p:nvSpPr>
        <p:spPr>
          <a:xfrm>
            <a:off x="548640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250" dirty="0"/>
          </a:p>
        </p:txBody>
      </p:sp>
      <p:sp>
        <p:nvSpPr>
          <p:cNvPr id="8" name="bld1_2013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014"/>
          <p:cNvSpPr txBox="1"/>
          <p:nvPr/>
        </p:nvSpPr>
        <p:spPr>
          <a:xfrm>
            <a:off x="841248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list complete</a:t>
            </a:r>
            <a:endParaRPr lang="en-US" sz="1200" dirty="0"/>
          </a:p>
        </p:txBody>
      </p:sp>
      <p:sp>
        <p:nvSpPr>
          <p:cNvPr id="10" name="bld1_2015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016"/>
          <p:cNvSpPr txBox="1"/>
          <p:nvPr/>
        </p:nvSpPr>
        <p:spPr>
          <a:xfrm>
            <a:off x="841248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per family minimum</a:t>
            </a:r>
            <a:endParaRPr lang="en-US" sz="1200" dirty="0"/>
          </a:p>
        </p:txBody>
      </p:sp>
      <p:sp>
        <p:nvSpPr>
          <p:cNvPr id="12" name="bld1_2017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018"/>
          <p:cNvSpPr txBox="1"/>
          <p:nvPr/>
        </p:nvSpPr>
        <p:spPr>
          <a:xfrm>
            <a:off x="841248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 + synthetics both represented</a:t>
            </a:r>
            <a:endParaRPr lang="en-US" sz="1200" dirty="0"/>
          </a:p>
        </p:txBody>
      </p:sp>
      <p:sp>
        <p:nvSpPr>
          <p:cNvPr id="14" name="bld2_2019"/>
          <p:cNvSpPr txBox="1"/>
          <p:nvPr/>
        </p:nvSpPr>
        <p:spPr>
          <a:xfrm>
            <a:off x="4353458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50" dirty="0"/>
          </a:p>
        </p:txBody>
      </p:sp>
      <p:sp>
        <p:nvSpPr>
          <p:cNvPr id="15" name="bld2_2020"/>
          <p:cNvSpPr/>
          <p:nvPr/>
        </p:nvSpPr>
        <p:spPr>
          <a:xfrm>
            <a:off x="435345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2021"/>
          <p:cNvSpPr txBox="1"/>
          <p:nvPr/>
        </p:nvSpPr>
        <p:spPr>
          <a:xfrm>
            <a:off x="4646066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0.001g scale</a:t>
            </a:r>
            <a:endParaRPr lang="en-US" sz="1200" dirty="0"/>
          </a:p>
        </p:txBody>
      </p:sp>
      <p:sp>
        <p:nvSpPr>
          <p:cNvPr id="17" name="bld2_2022"/>
          <p:cNvSpPr/>
          <p:nvPr/>
        </p:nvSpPr>
        <p:spPr>
          <a:xfrm>
            <a:off x="435345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8" name="bld2_2023"/>
          <p:cNvSpPr txBox="1"/>
          <p:nvPr/>
        </p:nvSpPr>
        <p:spPr>
          <a:xfrm>
            <a:off x="4646066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 pipettes</a:t>
            </a:r>
            <a:endParaRPr lang="en-US" sz="1200" dirty="0"/>
          </a:p>
        </p:txBody>
      </p:sp>
      <p:sp>
        <p:nvSpPr>
          <p:cNvPr id="19" name="bld2_2024"/>
          <p:cNvSpPr/>
          <p:nvPr/>
        </p:nvSpPr>
        <p:spPr>
          <a:xfrm>
            <a:off x="435345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0" name="bld2_2025"/>
          <p:cNvSpPr txBox="1"/>
          <p:nvPr/>
        </p:nvSpPr>
        <p:spPr>
          <a:xfrm>
            <a:off x="4646066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bottles + scent strips</a:t>
            </a:r>
            <a:endParaRPr lang="en-US" sz="1200" dirty="0"/>
          </a:p>
        </p:txBody>
      </p:sp>
      <p:sp>
        <p:nvSpPr>
          <p:cNvPr id="21" name="bld3_2026"/>
          <p:cNvSpPr txBox="1"/>
          <p:nvPr/>
        </p:nvSpPr>
        <p:spPr>
          <a:xfrm>
            <a:off x="8158277" y="289864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250" dirty="0"/>
          </a:p>
        </p:txBody>
      </p:sp>
      <p:sp>
        <p:nvSpPr>
          <p:cNvPr id="22" name="bld3_2027"/>
          <p:cNvSpPr/>
          <p:nvPr/>
        </p:nvSpPr>
        <p:spPr>
          <a:xfrm>
            <a:off x="8158277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3" name="bld3_2028"/>
          <p:cNvSpPr txBox="1"/>
          <p:nvPr/>
        </p:nvSpPr>
        <p:spPr>
          <a:xfrm>
            <a:off x="8450885" y="32918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log started</a:t>
            </a:r>
            <a:endParaRPr lang="en-US" sz="1200" dirty="0"/>
          </a:p>
        </p:txBody>
      </p:sp>
      <p:sp>
        <p:nvSpPr>
          <p:cNvPr id="24" name="bld3_2029"/>
          <p:cNvSpPr/>
          <p:nvPr/>
        </p:nvSpPr>
        <p:spPr>
          <a:xfrm>
            <a:off x="8158277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5" name="bld3_2030"/>
          <p:cNvSpPr txBox="1"/>
          <p:nvPr/>
        </p:nvSpPr>
        <p:spPr>
          <a:xfrm>
            <a:off x="8450885" y="37490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boxes labelled</a:t>
            </a:r>
            <a:endParaRPr lang="en-US" sz="1200" dirty="0"/>
          </a:p>
        </p:txBody>
      </p:sp>
      <p:sp>
        <p:nvSpPr>
          <p:cNvPr id="26" name="bld3_2031"/>
          <p:cNvSpPr/>
          <p:nvPr/>
        </p:nvSpPr>
        <p:spPr>
          <a:xfrm>
            <a:off x="8158277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7" name="bld3_2032"/>
          <p:cNvSpPr txBox="1"/>
          <p:nvPr/>
        </p:nvSpPr>
        <p:spPr>
          <a:xfrm>
            <a:off x="8450885" y="420624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bottles ready</a:t>
            </a:r>
            <a:endParaRPr lang="en-US" sz="1200" dirty="0"/>
          </a:p>
        </p:txBody>
      </p:sp>
      <p:sp>
        <p:nvSpPr>
          <p:cNvPr id="29" name="trans_fade_1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beats width. Thirty materials you know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intimately beat three hundred you've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really smelled.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03</a:t>
            </a:r>
            <a:endParaRPr lang="en-US" sz="1100" dirty="0"/>
          </a:p>
        </p:txBody>
      </p:sp>
      <p:sp>
        <p:nvSpPr>
          <p:cNvPr id="10" name="trans_fade_1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C9A354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DILUTION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Dilute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Confidence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 is the skill that makes every other skill in this course possible.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 at 10%, 1% and 0.1%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Diluting liquids vs. solids, step by step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label a dilution so it's never a mystery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0" name="trans_fade_1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DILUTE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reasons every perfumer dilutes</a:t>
            </a:r>
            <a:endParaRPr lang="en-US" sz="3200" dirty="0"/>
          </a:p>
        </p:txBody>
      </p:sp>
      <p:sp>
        <p:nvSpPr>
          <p:cNvPr id="7" name="bld1_2033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034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035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450" dirty="0"/>
          </a:p>
        </p:txBody>
      </p:sp>
      <p:sp>
        <p:nvSpPr>
          <p:cNvPr id="10" name="bld1_2036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Weighing 0.05g of pure material is unreliable — weighing it diluted is precise.</a:t>
            </a:r>
            <a:endParaRPr lang="en-US" sz="1080" dirty="0"/>
          </a:p>
        </p:txBody>
      </p:sp>
      <p:sp>
        <p:nvSpPr>
          <p:cNvPr id="11" name="bld2_2037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038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039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evaluation</a:t>
            </a:r>
            <a:endParaRPr lang="en-US" sz="1450" dirty="0"/>
          </a:p>
        </p:txBody>
      </p:sp>
      <p:sp>
        <p:nvSpPr>
          <p:cNvPr id="14" name="bld2_2040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diluted material is safer and clearer to smell on a strip.</a:t>
            </a:r>
            <a:endParaRPr lang="en-US" sz="1080" dirty="0"/>
          </a:p>
        </p:txBody>
      </p:sp>
      <p:sp>
        <p:nvSpPr>
          <p:cNvPr id="15" name="bld3_2041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042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043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dosing</a:t>
            </a:r>
            <a:endParaRPr lang="en-US" sz="1450" dirty="0"/>
          </a:p>
        </p:txBody>
      </p:sp>
      <p:sp>
        <p:nvSpPr>
          <p:cNvPr id="18" name="bld3_2044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controlled doses become achievable at any strength.</a:t>
            </a:r>
            <a:endParaRPr lang="en-US" sz="1080" dirty="0"/>
          </a:p>
        </p:txBody>
      </p:sp>
      <p:sp>
        <p:nvSpPr>
          <p:cNvPr id="19" name="bld4_2045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046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047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potency</a:t>
            </a:r>
            <a:endParaRPr lang="en-US" sz="1450" dirty="0"/>
          </a:p>
        </p:txBody>
      </p:sp>
      <p:sp>
        <p:nvSpPr>
          <p:cNvPr id="22" name="bld4_2048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materials reveal their true character only once tamed.</a:t>
            </a:r>
            <a:endParaRPr lang="en-US" sz="1080" dirty="0"/>
          </a:p>
        </p:txBody>
      </p:sp>
      <p:sp>
        <p:nvSpPr>
          <p:cNvPr id="23" name="bld5_2049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050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5" name="bld5_2051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solids</a:t>
            </a:r>
            <a:endParaRPr lang="en-US" sz="1450" dirty="0"/>
          </a:p>
        </p:txBody>
      </p:sp>
      <p:sp>
        <p:nvSpPr>
          <p:cNvPr id="26" name="bld5_2052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materials become usable liquids once dissolved.</a:t>
            </a:r>
            <a:endParaRPr lang="en-US" sz="1080" dirty="0"/>
          </a:p>
        </p:txBody>
      </p:sp>
      <p:sp>
        <p:nvSpPr>
          <p:cNvPr id="27" name="bld6_2053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054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bld6_2055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development</a:t>
            </a:r>
            <a:endParaRPr lang="en-US" sz="1450" dirty="0"/>
          </a:p>
        </p:txBody>
      </p:sp>
      <p:sp>
        <p:nvSpPr>
          <p:cNvPr id="30" name="bld6_2056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stocks let you iterate a formula quickly and repeatably.</a:t>
            </a:r>
            <a:endParaRPr lang="en-US" sz="1080" dirty="0"/>
          </a:p>
        </p:txBody>
      </p:sp>
      <p:sp>
        <p:nvSpPr>
          <p:cNvPr id="32" name="trans_fade_1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DILUTION LADDER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working strengths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057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058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1_2059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450" dirty="0"/>
          </a:p>
        </p:txBody>
      </p:sp>
      <p:sp>
        <p:nvSpPr>
          <p:cNvPr id="24" name="bld1_2060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Neat material — undiluted</a:t>
            </a:r>
            <a:endParaRPr lang="en-US" sz="1080" dirty="0"/>
          </a:p>
        </p:txBody>
      </p:sp>
      <p:sp>
        <p:nvSpPr>
          <p:cNvPr id="25" name="bld2_2061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062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bld2_2063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1450" dirty="0"/>
          </a:p>
        </p:txBody>
      </p:sp>
      <p:sp>
        <p:nvSpPr>
          <p:cNvPr id="28" name="bld2_2064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strength — strong materials</a:t>
            </a:r>
            <a:endParaRPr lang="en-US" sz="1080" dirty="0"/>
          </a:p>
        </p:txBody>
      </p:sp>
      <p:sp>
        <p:nvSpPr>
          <p:cNvPr id="29" name="bld3_2065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066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067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450" dirty="0"/>
          </a:p>
        </p:txBody>
      </p:sp>
      <p:sp>
        <p:nvSpPr>
          <p:cNvPr id="32" name="bld3_2068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working dilution</a:t>
            </a:r>
            <a:endParaRPr lang="en-US" sz="1080" dirty="0"/>
          </a:p>
        </p:txBody>
      </p:sp>
      <p:sp>
        <p:nvSpPr>
          <p:cNvPr id="33" name="bld4_2069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070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071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</a:t>
            </a:r>
            <a:endParaRPr lang="en-US" sz="1450" dirty="0"/>
          </a:p>
        </p:txBody>
      </p:sp>
      <p:sp>
        <p:nvSpPr>
          <p:cNvPr id="36" name="bld4_2072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very potent materials</a:t>
            </a:r>
            <a:endParaRPr lang="en-US" sz="1080" dirty="0"/>
          </a:p>
        </p:txBody>
      </p:sp>
      <p:sp>
        <p:nvSpPr>
          <p:cNvPr id="37" name="bld5_2073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5_2074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9" name="bld5_2075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</a:t>
            </a:r>
            <a:endParaRPr lang="en-US" sz="1450" dirty="0"/>
          </a:p>
        </p:txBody>
      </p:sp>
      <p:sp>
        <p:nvSpPr>
          <p:cNvPr id="40" name="bld5_2076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most powerful trace materials</a:t>
            </a:r>
            <a:endParaRPr lang="en-US" sz="1080" dirty="0"/>
          </a:p>
        </p:txBody>
      </p:sp>
      <p:sp>
        <p:nvSpPr>
          <p:cNvPr id="42" name="trans_fade_1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QUESTION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"Eau de Parfum" actually mean?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9439928" y="2340853"/>
            <a:ext cx="215559" cy="171544"/>
          </a:xfrm>
          <a:prstGeom prst="roundRect">
            <a:avLst>
              <a:gd name="adj" fmla="val 21322"/>
            </a:avLst>
          </a:prstGeom>
          <a:solidFill>
            <a:srgbClr val="0E0D0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53986" y="2512397"/>
            <a:ext cx="187443" cy="274470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12988" y="2786867"/>
            <a:ext cx="669438" cy="1269423"/>
          </a:xfrm>
          <a:prstGeom prst="roundRect">
            <a:avLst>
              <a:gd name="adj" fmla="val 1639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49564" y="3358107"/>
            <a:ext cx="596286" cy="661606"/>
          </a:xfrm>
          <a:prstGeom prst="roundRect">
            <a:avLst>
              <a:gd name="adj" fmla="val 15335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"EDP" is a useful shorthand, not a precise specification.</a:t>
            </a:r>
            <a:endParaRPr lang="en-US" sz="1050" dirty="0"/>
          </a:p>
        </p:txBody>
      </p:sp>
      <p:sp>
        <p:nvSpPr>
          <p:cNvPr id="17" name="bld1_2077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1_2078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 is commonly associated with EDP</a:t>
            </a:r>
            <a:endParaRPr lang="en-US" sz="1650" dirty="0"/>
          </a:p>
        </p:txBody>
      </p:sp>
      <p:sp>
        <p:nvSpPr>
          <p:cNvPr id="19" name="bld1_2079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rough, widely-used reference point, Eau de Parfum concentrate sits around 20% of the finished bottle.</a:t>
            </a:r>
            <a:endParaRPr lang="en-US" sz="1250" dirty="0"/>
          </a:p>
        </p:txBody>
      </p:sp>
      <p:sp>
        <p:nvSpPr>
          <p:cNvPr id="20" name="bld2_2080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2_2081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there's no single fixed rule</a:t>
            </a:r>
            <a:endParaRPr lang="en-US" sz="1650" dirty="0"/>
          </a:p>
        </p:txBody>
      </p:sp>
      <p:sp>
        <p:nvSpPr>
          <p:cNvPr id="22" name="bld2_2082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terminology (EDT, EDP, extrait, and so on) is not governed by one universal, legally fixed percentage — usage varies by brand and region.</a:t>
            </a:r>
            <a:endParaRPr lang="en-US" sz="1250" dirty="0"/>
          </a:p>
        </p:txBody>
      </p:sp>
      <p:sp>
        <p:nvSpPr>
          <p:cNvPr id="23" name="bld3_2083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084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strength is what matters, not the label</a:t>
            </a:r>
            <a:endParaRPr lang="en-US" sz="1650" dirty="0"/>
          </a:p>
        </p:txBody>
      </p:sp>
      <p:sp>
        <p:nvSpPr>
          <p:cNvPr id="25" name="bld3_2085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actual concentrate percentage in your formula rather than chasing a specific category name.</a:t>
            </a:r>
            <a:endParaRPr lang="en-US" sz="1250" dirty="0"/>
          </a:p>
        </p:txBody>
      </p:sp>
      <p:sp>
        <p:nvSpPr>
          <p:cNvPr id="27" name="trans_fade_1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material to labelled bottle</a:t>
            </a:r>
            <a:endParaRPr lang="en-US" sz="3200" dirty="0"/>
          </a:p>
        </p:txBody>
      </p:sp>
      <p:sp>
        <p:nvSpPr>
          <p:cNvPr id="7" name="bld1_2086"/>
          <p:cNvSpPr txBox="1"/>
          <p:nvPr/>
        </p:nvSpPr>
        <p:spPr>
          <a:xfrm>
            <a:off x="2112264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FBF0CE"/>
          </a:solidFill>
          <a:ln/>
        </p:spPr>
      </p:sp>
      <p:sp>
        <p:nvSpPr>
          <p:cNvPr id="9" name="Shape 7"/>
          <p:cNvSpPr/>
          <p:nvPr/>
        </p:nvSpPr>
        <p:spPr>
          <a:xfrm>
            <a:off x="511150" y="3117190"/>
            <a:ext cx="1355141" cy="1355141"/>
          </a:xfrm>
          <a:prstGeom prst="ellipse">
            <a:avLst/>
          </a:prstGeom>
          <a:solidFill>
            <a:srgbClr val="9EC24C">
              <a:alpha val="9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06009" y="3212049"/>
            <a:ext cx="1165421" cy="1165421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1" name="Shape 9"/>
          <p:cNvSpPr/>
          <p:nvPr/>
        </p:nvSpPr>
        <p:spPr>
          <a:xfrm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216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432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648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64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296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512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728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9440000">
            <a:off x="1154841" y="3252704"/>
            <a:ext cx="67757" cy="528505"/>
          </a:xfrm>
          <a:prstGeom prst="ellipse">
            <a:avLst/>
          </a:prstGeom>
          <a:solidFill>
            <a:srgbClr val="9EC24C">
              <a:alpha val="8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20963" y="3727003"/>
            <a:ext cx="135514" cy="135514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9EC24C"/>
            </a:solidFill>
            <a:prstDash val="solid"/>
          </a:ln>
        </p:spPr>
      </p:sp>
      <p:sp>
        <p:nvSpPr>
          <p:cNvPr id="23" name="bld1_2088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</a:t>
            </a:r>
            <a:endParaRPr lang="en-US" sz="1400" dirty="0"/>
          </a:p>
        </p:txBody>
      </p:sp>
      <p:sp>
        <p:nvSpPr>
          <p:cNvPr id="24" name="bld1_2089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material you're diluting</a:t>
            </a:r>
            <a:endParaRPr lang="en-US" sz="1050" dirty="0"/>
          </a:p>
        </p:txBody>
      </p:sp>
      <p:sp>
        <p:nvSpPr>
          <p:cNvPr id="25" name="bld2_2090"/>
          <p:cNvSpPr txBox="1"/>
          <p:nvPr/>
        </p:nvSpPr>
        <p:spPr>
          <a:xfrm>
            <a:off x="5383682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591458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3782568" y="3117190"/>
            <a:ext cx="1355141" cy="1355141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931633" y="3787984"/>
            <a:ext cx="1057010" cy="203271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931633" y="3618592"/>
            <a:ext cx="1057010" cy="203271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931633" y="3428872"/>
            <a:ext cx="1057010" cy="203271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91458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2" name="bld2_2092"/>
          <p:cNvSpPr txBox="1"/>
          <p:nvPr/>
        </p:nvSpPr>
        <p:spPr>
          <a:xfrm>
            <a:off x="350001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Solvent</a:t>
            </a:r>
            <a:endParaRPr lang="en-US" sz="1400" dirty="0"/>
          </a:p>
        </p:txBody>
      </p:sp>
      <p:sp>
        <p:nvSpPr>
          <p:cNvPr id="33" name="bld2_2093"/>
          <p:cNvSpPr txBox="1"/>
          <p:nvPr/>
        </p:nvSpPr>
        <p:spPr>
          <a:xfrm>
            <a:off x="350001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Ethanol, DPG or similar</a:t>
            </a:r>
            <a:endParaRPr lang="en-US" sz="1050" dirty="0"/>
          </a:p>
        </p:txBody>
      </p:sp>
      <p:sp>
        <p:nvSpPr>
          <p:cNvPr id="34" name="bld3_2094"/>
          <p:cNvSpPr txBox="1"/>
          <p:nvPr/>
        </p:nvSpPr>
        <p:spPr>
          <a:xfrm>
            <a:off x="8655101" y="3538728"/>
            <a:ext cx="142433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862877" y="2926080"/>
            <a:ext cx="1737360" cy="173736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6" name="Shape 34"/>
          <p:cNvSpPr/>
          <p:nvPr/>
        </p:nvSpPr>
        <p:spPr>
          <a:xfrm>
            <a:off x="7053986" y="3117190"/>
            <a:ext cx="1355141" cy="1355141"/>
          </a:xfrm>
          <a:prstGeom prst="ellipse">
            <a:avLst/>
          </a:prstGeom>
          <a:solidFill>
            <a:srgbClr val="C1752F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43706" y="3306909"/>
            <a:ext cx="975701" cy="975701"/>
          </a:xfrm>
          <a:prstGeom prst="donut">
            <a:avLst/>
          </a:prstGeom>
          <a:solidFill>
            <a:srgbClr val="E7AC55">
              <a:alpha val="4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514734" y="3577937"/>
            <a:ext cx="433645" cy="433645"/>
          </a:xfrm>
          <a:prstGeom prst="ellipse">
            <a:avLst/>
          </a:prstGeom>
          <a:solidFill>
            <a:srgbClr val="E7AC55">
              <a:alpha val="9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62877" y="2926080"/>
            <a:ext cx="1737360" cy="173736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0" name="bld3_2096"/>
          <p:cNvSpPr txBox="1"/>
          <p:nvPr/>
        </p:nvSpPr>
        <p:spPr>
          <a:xfrm>
            <a:off x="6771437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dilution</a:t>
            </a:r>
            <a:endParaRPr lang="en-US" sz="1400" dirty="0"/>
          </a:p>
        </p:txBody>
      </p:sp>
      <p:sp>
        <p:nvSpPr>
          <p:cNvPr id="41" name="bld3_2097"/>
          <p:cNvSpPr txBox="1"/>
          <p:nvPr/>
        </p:nvSpPr>
        <p:spPr>
          <a:xfrm>
            <a:off x="6771437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Weighed, combined, stirred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933158" y="3239152"/>
            <a:ext cx="139634" cy="111122"/>
          </a:xfrm>
          <a:prstGeom prst="roundRect">
            <a:avLst>
              <a:gd name="adj" fmla="val 32915"/>
            </a:avLst>
          </a:prstGeom>
          <a:solidFill>
            <a:srgbClr val="0E0D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42265" y="3350274"/>
            <a:ext cx="121421" cy="177794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86153" y="3528068"/>
            <a:ext cx="433645" cy="822299"/>
          </a:xfrm>
          <a:prstGeom prst="roundRect">
            <a:avLst>
              <a:gd name="adj" fmla="val 25304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822729" y="3898103"/>
            <a:ext cx="360493" cy="415689"/>
          </a:xfrm>
          <a:prstGeom prst="roundRect">
            <a:avLst>
              <a:gd name="adj" fmla="val 25365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8" name="bld4_2099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bottle</a:t>
            </a:r>
            <a:endParaRPr lang="en-US" sz="1400" dirty="0"/>
          </a:p>
        </p:txBody>
      </p:sp>
      <p:sp>
        <p:nvSpPr>
          <p:cNvPr id="49" name="bld4_2100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%, solvent (date optional)</a:t>
            </a:r>
            <a:endParaRPr lang="en-US" sz="1050" dirty="0"/>
          </a:p>
        </p:txBody>
      </p:sp>
      <p:sp>
        <p:nvSpPr>
          <p:cNvPr id="51" name="trans_push_l_1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2" name="Text 4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3" grpId="0"/>
      <p:bldP spid="24" grpId="0"/>
      <p:bldP spid="25" grpId="0"/>
      <p:bldP spid="32" grpId="0"/>
      <p:bldP spid="33" grpId="0"/>
      <p:bldP spid="34" grpId="0"/>
      <p:bldP spid="40" grpId="0"/>
      <p:bldP spid="41" grpId="0"/>
      <p:bldP spid="48" grpId="0"/>
      <p:bldP spid="49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liquid material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2871" y="1773735"/>
            <a:ext cx="2849673" cy="2849673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 rot="8100000">
            <a:off x="8992021" y="2642885"/>
            <a:ext cx="1111372" cy="1111372"/>
          </a:xfrm>
          <a:prstGeom prst="teardrop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22871" y="1773735"/>
            <a:ext cx="2849673" cy="2849673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10% dilution.</a:t>
            </a:r>
            <a:endParaRPr lang="en-US" sz="1050" dirty="0"/>
          </a:p>
        </p:txBody>
      </p:sp>
      <p:sp>
        <p:nvSpPr>
          <p:cNvPr id="14" name="bld1_210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210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weigh the material</a:t>
            </a:r>
            <a:endParaRPr lang="en-US" sz="1650" dirty="0"/>
          </a:p>
        </p:txBody>
      </p:sp>
      <p:sp>
        <p:nvSpPr>
          <p:cNvPr id="16" name="bld1_210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bottle on the scale, tare, and weigh out exactly 1g of material.</a:t>
            </a:r>
            <a:endParaRPr lang="en-US" sz="1250" dirty="0"/>
          </a:p>
        </p:txBody>
      </p:sp>
      <p:sp>
        <p:nvSpPr>
          <p:cNvPr id="17" name="bld2_210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2_210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add solvent</a:t>
            </a:r>
            <a:endParaRPr lang="en-US" sz="1650" dirty="0"/>
          </a:p>
        </p:txBody>
      </p:sp>
      <p:sp>
        <p:nvSpPr>
          <p:cNvPr id="19" name="bld2_210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9g of your chosen solvent (often ethanol or DPG) to the same bottle.</a:t>
            </a:r>
            <a:endParaRPr lang="en-US" sz="1250" dirty="0"/>
          </a:p>
        </p:txBody>
      </p:sp>
      <p:sp>
        <p:nvSpPr>
          <p:cNvPr id="20" name="bld3_210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3_210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you now have 10%</a:t>
            </a:r>
            <a:endParaRPr lang="en-US" sz="1650" dirty="0"/>
          </a:p>
        </p:txBody>
      </p:sp>
      <p:sp>
        <p:nvSpPr>
          <p:cNvPr id="22" name="bld3_210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material + 9g solvent = 10g total, and the material is 10% of that total.</a:t>
            </a:r>
            <a:endParaRPr lang="en-US" sz="1250" dirty="0"/>
          </a:p>
        </p:txBody>
      </p:sp>
      <p:sp>
        <p:nvSpPr>
          <p:cNvPr id="24" name="trans_fade_1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down to 1% and 0.1%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710934"/>
            <a:ext cx="2514417" cy="2514417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09569" y="2130003"/>
            <a:ext cx="1676278" cy="1676278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28638" y="2549073"/>
            <a:ext cx="838139" cy="838139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dilution is built from the one before it — a chain, not three separate weighings.</a:t>
            </a:r>
            <a:endParaRPr lang="en-US" sz="1050" dirty="0"/>
          </a:p>
        </p:txBody>
      </p:sp>
      <p:sp>
        <p:nvSpPr>
          <p:cNvPr id="14" name="bld1_21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5" name="bld1_21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1%, straight from raw material</a:t>
            </a:r>
            <a:endParaRPr lang="en-US" sz="1650" dirty="0"/>
          </a:p>
        </p:txBody>
      </p:sp>
      <p:sp>
        <p:nvSpPr>
          <p:cNvPr id="16" name="bld1_211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0.1g material + 9.9g solvent = 10g total, and the material is 1% of that total.</a:t>
            </a:r>
            <a:endParaRPr lang="en-US" sz="1250" dirty="0"/>
          </a:p>
        </p:txBody>
      </p:sp>
      <p:sp>
        <p:nvSpPr>
          <p:cNvPr id="17" name="bld2_211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2_211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1%, the easier way — from a 10% stock</a:t>
            </a:r>
            <a:endParaRPr lang="en-US" sz="1650" dirty="0"/>
          </a:p>
        </p:txBody>
      </p:sp>
      <p:sp>
        <p:nvSpPr>
          <p:cNvPr id="19" name="bld2_211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of your existing 10% stock + 9g solvent = 10g at 1%. No need to weigh a tiny 0.1g amount twice.</a:t>
            </a:r>
            <a:endParaRPr lang="en-US" sz="1250" dirty="0"/>
          </a:p>
        </p:txBody>
      </p:sp>
      <p:sp>
        <p:nvSpPr>
          <p:cNvPr id="20" name="bld3_211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3_211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0.1%, the same trick again</a:t>
            </a:r>
            <a:endParaRPr lang="en-US" sz="1650" dirty="0"/>
          </a:p>
        </p:txBody>
      </p:sp>
      <p:sp>
        <p:nvSpPr>
          <p:cNvPr id="22" name="bld3_211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 of your 1% stock + 9g solvent = 10g at 0.1%. Each stock becomes the starting point for the next.</a:t>
            </a:r>
            <a:endParaRPr lang="en-US" sz="1250" dirty="0"/>
          </a:p>
        </p:txBody>
      </p:sp>
      <p:sp>
        <p:nvSpPr>
          <p:cNvPr id="24" name="trans_fade_1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HOW LOW TO GO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some materials need lower dilutions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119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12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121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potency</a:t>
            </a:r>
            <a:endParaRPr lang="en-US" sz="1450" dirty="0"/>
          </a:p>
        </p:txBody>
      </p:sp>
      <p:sp>
        <p:nvSpPr>
          <p:cNvPr id="24" name="bld1_2122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are so powerful that even 10% overwhelms a scent strip — 1% or lower reveals their real character.</a:t>
            </a:r>
            <a:endParaRPr lang="en-US" sz="1080" dirty="0"/>
          </a:p>
        </p:txBody>
      </p:sp>
      <p:sp>
        <p:nvSpPr>
          <p:cNvPr id="25" name="bld2_2123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124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2_2125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dosing in a formula</a:t>
            </a:r>
            <a:endParaRPr lang="en-US" sz="1450" dirty="0"/>
          </a:p>
        </p:txBody>
      </p:sp>
      <p:sp>
        <p:nvSpPr>
          <p:cNvPr id="28" name="bld2_2126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used at 0.05% of a formula needs a dilute stock — otherwise you simply can't weigh a small enough amount of the neat material.</a:t>
            </a:r>
            <a:endParaRPr lang="en-US" sz="1080" dirty="0"/>
          </a:p>
        </p:txBody>
      </p:sp>
      <p:sp>
        <p:nvSpPr>
          <p:cNvPr id="29" name="bld3_2127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128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1" name="bld3_2129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usage limits</a:t>
            </a:r>
            <a:endParaRPr lang="en-US" sz="1450" dirty="0"/>
          </a:p>
        </p:txBody>
      </p:sp>
      <p:sp>
        <p:nvSpPr>
          <p:cNvPr id="32" name="bld3_2130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and other guidelines cap some materials at very low percentages — a pre-made low dilution keeps you safely under the limit by default.</a:t>
            </a:r>
            <a:endParaRPr lang="en-US" sz="1080" dirty="0"/>
          </a:p>
        </p:txBody>
      </p:sp>
      <p:sp>
        <p:nvSpPr>
          <p:cNvPr id="34" name="trans_fade_1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Diluting a solid material</a:t>
            </a:r>
            <a:endParaRPr lang="en-US" sz="3200" dirty="0"/>
          </a:p>
        </p:txBody>
      </p:sp>
      <p:sp>
        <p:nvSpPr>
          <p:cNvPr id="7" name="bld1_2131"/>
          <p:cNvSpPr txBox="1"/>
          <p:nvPr/>
        </p:nvSpPr>
        <p:spPr>
          <a:xfrm>
            <a:off x="2112264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188720" y="3645695"/>
            <a:ext cx="335397" cy="149065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117" y="3645695"/>
            <a:ext cx="335397" cy="186332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24117" y="3832026"/>
            <a:ext cx="335397" cy="298131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5122" y="4130157"/>
            <a:ext cx="558996" cy="9144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65122" y="3794760"/>
            <a:ext cx="223598" cy="335397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8790" y="3608428"/>
            <a:ext cx="409930" cy="186332"/>
          </a:xfrm>
          <a:prstGeom prst="line">
            <a:avLst/>
          </a:prstGeom>
          <a:noFill/>
          <a:ln w="25400">
            <a:solidFill>
              <a:srgbClr val="3A28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094" y="3735134"/>
            <a:ext cx="119252" cy="119252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1261" y="3602838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6658" y="3789170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1261" y="4087301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265" y="4087301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5934" y="3565572"/>
            <a:ext cx="85713" cy="85713"/>
          </a:xfrm>
          <a:prstGeom prst="ellipse">
            <a:avLst/>
          </a:prstGeom>
          <a:solidFill>
            <a:srgbClr val="5C4230"/>
          </a:solidFill>
          <a:ln w="19050">
            <a:solidFill>
              <a:srgbClr val="EFE2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2" name="bld1_2133"/>
          <p:cNvSpPr txBox="1"/>
          <p:nvPr/>
        </p:nvSpPr>
        <p:spPr>
          <a:xfrm>
            <a:off x="228600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00" dirty="0"/>
          </a:p>
        </p:txBody>
      </p:sp>
      <p:sp>
        <p:nvSpPr>
          <p:cNvPr id="23" name="bld1_2134"/>
          <p:cNvSpPr txBox="1"/>
          <p:nvPr/>
        </p:nvSpPr>
        <p:spPr>
          <a:xfrm>
            <a:off x="228600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beaker or weighing vessel/paper</a:t>
            </a:r>
            <a:endParaRPr lang="en-US" sz="1050" dirty="0"/>
          </a:p>
        </p:txBody>
      </p:sp>
      <p:sp>
        <p:nvSpPr>
          <p:cNvPr id="24" name="bld2_2135"/>
          <p:cNvSpPr txBox="1"/>
          <p:nvPr/>
        </p:nvSpPr>
        <p:spPr>
          <a:xfrm>
            <a:off x="4565828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2964713" y="3117190"/>
            <a:ext cx="1355141" cy="1355141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113779" y="3787984"/>
            <a:ext cx="1057010" cy="203271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113779" y="3618592"/>
            <a:ext cx="1057010" cy="203271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113779" y="3428872"/>
            <a:ext cx="1057010" cy="203271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773604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31" name="bld2_2137"/>
          <p:cNvSpPr txBox="1"/>
          <p:nvPr/>
        </p:nvSpPr>
        <p:spPr>
          <a:xfrm>
            <a:off x="2682164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solvent</a:t>
            </a:r>
            <a:endParaRPr lang="en-US" sz="1400" dirty="0"/>
          </a:p>
        </p:txBody>
      </p:sp>
      <p:sp>
        <p:nvSpPr>
          <p:cNvPr id="32" name="bld2_2138"/>
          <p:cNvSpPr txBox="1"/>
          <p:nvPr/>
        </p:nvSpPr>
        <p:spPr>
          <a:xfrm>
            <a:off x="2682164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calculated weight</a:t>
            </a:r>
            <a:endParaRPr lang="en-US" sz="1050" dirty="0"/>
          </a:p>
        </p:txBody>
      </p:sp>
      <p:sp>
        <p:nvSpPr>
          <p:cNvPr id="33" name="bld3_2139"/>
          <p:cNvSpPr txBox="1"/>
          <p:nvPr/>
        </p:nvSpPr>
        <p:spPr>
          <a:xfrm>
            <a:off x="7019392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 rot="8100000">
            <a:off x="5757062" y="3455975"/>
            <a:ext cx="677570" cy="677570"/>
          </a:xfrm>
          <a:prstGeom prst="teardrop">
            <a:avLst/>
          </a:prstGeom>
          <a:solidFill>
            <a:srgbClr val="8A5A2E">
              <a:alpha val="9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227168" y="2926080"/>
            <a:ext cx="1737360" cy="1737360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7" name="bld3_2141"/>
          <p:cNvSpPr txBox="1"/>
          <p:nvPr/>
        </p:nvSpPr>
        <p:spPr>
          <a:xfrm>
            <a:off x="5135728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 gently</a:t>
            </a:r>
            <a:endParaRPr lang="en-US" sz="1400" dirty="0"/>
          </a:p>
        </p:txBody>
      </p:sp>
      <p:sp>
        <p:nvSpPr>
          <p:cNvPr id="38" name="bld3_2142"/>
          <p:cNvSpPr txBox="1"/>
          <p:nvPr/>
        </p:nvSpPr>
        <p:spPr>
          <a:xfrm>
            <a:off x="5135728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needed</a:t>
            </a:r>
            <a:endParaRPr lang="en-US" sz="1050" dirty="0"/>
          </a:p>
        </p:txBody>
      </p:sp>
      <p:sp>
        <p:nvSpPr>
          <p:cNvPr id="39" name="bld4_2143"/>
          <p:cNvSpPr txBox="1"/>
          <p:nvPr/>
        </p:nvSpPr>
        <p:spPr>
          <a:xfrm>
            <a:off x="9472955" y="3538728"/>
            <a:ext cx="6064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41" name="Shape 39"/>
          <p:cNvSpPr/>
          <p:nvPr/>
        </p:nvSpPr>
        <p:spPr>
          <a:xfrm rot="8100000">
            <a:off x="8210626" y="3455975"/>
            <a:ext cx="677570" cy="677570"/>
          </a:xfrm>
          <a:prstGeom prst="teardrop">
            <a:avLst/>
          </a:prstGeom>
          <a:solidFill>
            <a:srgbClr val="4090AF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80731" y="2926080"/>
            <a:ext cx="1737360" cy="173736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3" name="bld4_2145"/>
          <p:cNvSpPr txBox="1"/>
          <p:nvPr/>
        </p:nvSpPr>
        <p:spPr>
          <a:xfrm>
            <a:off x="7589291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00" dirty="0"/>
          </a:p>
        </p:txBody>
      </p:sp>
      <p:sp>
        <p:nvSpPr>
          <p:cNvPr id="44" name="bld4_2146"/>
          <p:cNvSpPr txBox="1"/>
          <p:nvPr/>
        </p:nvSpPr>
        <p:spPr>
          <a:xfrm>
            <a:off x="7589291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fully dissolved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25405" y="3117190"/>
            <a:ext cx="1355141" cy="1355141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498333" y="3455975"/>
            <a:ext cx="10092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428415" y="3681832"/>
            <a:ext cx="1149121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428415" y="3907688"/>
            <a:ext cx="1149121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498333" y="4133545"/>
            <a:ext cx="10092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0134295" y="2926080"/>
            <a:ext cx="1737360" cy="173736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52" name="bld5_2148"/>
          <p:cNvSpPr txBox="1"/>
          <p:nvPr/>
        </p:nvSpPr>
        <p:spPr>
          <a:xfrm>
            <a:off x="10042855" y="48280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53" name="bld5_2149"/>
          <p:cNvSpPr txBox="1"/>
          <p:nvPr/>
        </p:nvSpPr>
        <p:spPr>
          <a:xfrm>
            <a:off x="10042855" y="51755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%, solvent (date optional)</a:t>
            </a:r>
            <a:endParaRPr lang="en-US" sz="1050" dirty="0"/>
          </a:p>
        </p:txBody>
      </p:sp>
      <p:sp>
        <p:nvSpPr>
          <p:cNvPr id="55" name="trans_push_l_1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1" grpId="0"/>
      <p:bldP spid="32" grpId="0"/>
      <p:bldP spid="33" grpId="0"/>
      <p:bldP spid="37" grpId="0"/>
      <p:bldP spid="38" grpId="0"/>
      <p:bldP spid="39" grpId="0"/>
      <p:bldP spid="43" grpId="0"/>
      <p:bldP spid="44" grpId="0"/>
      <p:bldP spid="52" grpId="0"/>
      <p:bldP spid="53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STRENGTH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 depends on potency and purpose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40543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046956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2150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2151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2" name="bld1_2152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100%</a:t>
            </a:r>
            <a:endParaRPr lang="en-US" sz="1450" dirty="0"/>
          </a:p>
        </p:txBody>
      </p:sp>
      <p:sp>
        <p:nvSpPr>
          <p:cNvPr id="13" name="bld1_2153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Gentle, low-impact materials — many light woods and musks.</a:t>
            </a:r>
            <a:endParaRPr lang="en-US" sz="1080" dirty="0"/>
          </a:p>
        </p:txBody>
      </p:sp>
      <p:sp>
        <p:nvSpPr>
          <p:cNvPr id="14" name="bld2_2154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2155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bld2_2156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10%</a:t>
            </a:r>
            <a:endParaRPr lang="en-US" sz="1450" dirty="0"/>
          </a:p>
        </p:txBody>
      </p:sp>
      <p:sp>
        <p:nvSpPr>
          <p:cNvPr id="17" name="bld2_2157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for most working materials in a formula.</a:t>
            </a:r>
            <a:endParaRPr lang="en-US" sz="1080" dirty="0"/>
          </a:p>
        </p:txBody>
      </p:sp>
      <p:sp>
        <p:nvSpPr>
          <p:cNvPr id="18" name="bld3_2158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2159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160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Often evaluated at 1%</a:t>
            </a:r>
            <a:endParaRPr lang="en-US" sz="1450" dirty="0"/>
          </a:p>
        </p:txBody>
      </p:sp>
      <p:sp>
        <p:nvSpPr>
          <p:cNvPr id="21" name="bld3_2161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trace materials — strong musks, some florals, superpower synthetics.</a:t>
            </a:r>
            <a:endParaRPr lang="en-US" sz="1080" dirty="0"/>
          </a:p>
        </p:txBody>
      </p:sp>
      <p:sp>
        <p:nvSpPr>
          <p:cNvPr id="23" name="trans_fade_1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THIS EVERY TIME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DILUTION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ideal dilution label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158712" y="2265883"/>
            <a:ext cx="1214617" cy="342351"/>
          </a:xfrm>
          <a:prstGeom prst="roundRect">
            <a:avLst>
              <a:gd name="adj" fmla="val 10684"/>
            </a:avLst>
          </a:prstGeom>
          <a:solidFill>
            <a:srgbClr val="0E0D0B"/>
          </a:solidFill>
          <a:ln/>
        </p:spPr>
      </p:sp>
      <p:sp>
        <p:nvSpPr>
          <p:cNvPr id="9" name="Shape 7"/>
          <p:cNvSpPr/>
          <p:nvPr/>
        </p:nvSpPr>
        <p:spPr>
          <a:xfrm>
            <a:off x="3237926" y="2608235"/>
            <a:ext cx="1056188" cy="547762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79970" y="3155997"/>
            <a:ext cx="3772101" cy="2533400"/>
          </a:xfrm>
          <a:prstGeom prst="roundRect">
            <a:avLst>
              <a:gd name="adj" fmla="val 4331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16546" y="4296027"/>
            <a:ext cx="3698949" cy="1356794"/>
          </a:xfrm>
          <a:prstGeom prst="roundRect">
            <a:avLst>
              <a:gd name="adj" fmla="val 6739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408064" y="4017353"/>
            <a:ext cx="2715913" cy="658684"/>
          </a:xfrm>
          <a:prstGeom prst="roundRect">
            <a:avLst>
              <a:gd name="adj" fmla="val 4165"/>
            </a:avLst>
          </a:prstGeom>
          <a:solidFill>
            <a:srgbClr val="FAF6EC">
              <a:alpha val="92000"/>
            </a:srgbClr>
          </a:solidFill>
          <a:ln w="9525">
            <a:solidFill>
              <a:srgbClr val="CFC5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17736" y="2646274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Material:  Hedione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17736" y="3264408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Dilution:  10% in DPG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17736" y="3882542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Solvent:  DPG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317736" y="4500677"/>
            <a:ext cx="46596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optional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dilution and solvent — every single bottle, no exceptions. Date is a nice-to-have, not a requirement.</a:t>
            </a:r>
            <a:endParaRPr lang="en-US" sz="1200" dirty="0"/>
          </a:p>
        </p:txBody>
      </p:sp>
      <p:sp>
        <p:nvSpPr>
          <p:cNvPr id="19" name="trans_fade_1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dilute. You can always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stronger — you can't un-smell overload.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04</a:t>
            </a:r>
            <a:endParaRPr lang="en-US" sz="1100" dirty="0"/>
          </a:p>
        </p:txBody>
      </p:sp>
      <p:sp>
        <p:nvSpPr>
          <p:cNvPr id="10" name="trans_fade_13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NOSE TRAINING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Your Nose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Perfumer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nose is a muscle. This module is how professionals actually train 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 strip across 48 real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record, every single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actually build lasting scent memory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19" name="trans_fade_13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HABIT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on a strip, across real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2162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9" name="bld1_2163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0" name="bld1_2164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bld1_2165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</a:t>
            </a:r>
            <a:endParaRPr lang="en-US" sz="1050" dirty="0"/>
          </a:p>
        </p:txBody>
      </p:sp>
      <p:sp>
        <p:nvSpPr>
          <p:cNvPr id="12" name="bld2_2166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3" name="bld2_2167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4" name="bld2_2168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5" name="bld2_2169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 settling</a:t>
            </a:r>
            <a:endParaRPr lang="en-US" sz="1050" dirty="0"/>
          </a:p>
        </p:txBody>
      </p:sp>
      <p:sp>
        <p:nvSpPr>
          <p:cNvPr id="16" name="bld3_2170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bld3_2171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8" name="bld3_2172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</a:t>
            </a:r>
            <a:endParaRPr lang="en-US" sz="1200" dirty="0"/>
          </a:p>
        </p:txBody>
      </p:sp>
      <p:sp>
        <p:nvSpPr>
          <p:cNvPr id="19" name="bld3_2173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emerging</a:t>
            </a:r>
            <a:endParaRPr lang="en-US" sz="1050" dirty="0"/>
          </a:p>
        </p:txBody>
      </p:sp>
      <p:sp>
        <p:nvSpPr>
          <p:cNvPr id="20" name="bld4_2174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4_2175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2" name="bld4_2176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</a:t>
            </a:r>
            <a:endParaRPr lang="en-US" sz="1200" dirty="0"/>
          </a:p>
        </p:txBody>
      </p:sp>
      <p:sp>
        <p:nvSpPr>
          <p:cNvPr id="23" name="bld4_2177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maturing</a:t>
            </a:r>
            <a:endParaRPr lang="en-US" sz="1050" dirty="0"/>
          </a:p>
        </p:txBody>
      </p:sp>
      <p:sp>
        <p:nvSpPr>
          <p:cNvPr id="24" name="bld5_2178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179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bld5_2180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bld5_2181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bld6_2182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bld6_2183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bld6_2184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bld6_2185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Final, true character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 you only smelled at 0 minutes is a material you don't actually know yet.</a:t>
            </a:r>
            <a:endParaRPr lang="en-US" sz="1250" dirty="0"/>
          </a:p>
        </p:txBody>
      </p:sp>
      <p:sp>
        <p:nvSpPr>
          <p:cNvPr id="34" name="trans_push_l_13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EVALUATION, EVERY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to ask when evaluating a material</a:t>
            </a:r>
            <a:endParaRPr lang="en-US" sz="3200" dirty="0"/>
          </a:p>
        </p:txBody>
      </p:sp>
      <p:sp>
        <p:nvSpPr>
          <p:cNvPr id="7" name="bld1_2186"/>
          <p:cNvSpPr txBox="1"/>
          <p:nvPr/>
        </p:nvSpPr>
        <p:spPr>
          <a:xfrm>
            <a:off x="548640" y="253288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MATERIAL</a:t>
            </a:r>
            <a:endParaRPr lang="en-US" sz="1250" dirty="0"/>
          </a:p>
        </p:txBody>
      </p:sp>
      <p:sp>
        <p:nvSpPr>
          <p:cNvPr id="8" name="bld1_2187"/>
          <p:cNvSpPr/>
          <p:nvPr/>
        </p:nvSpPr>
        <p:spPr>
          <a:xfrm>
            <a:off x="548640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188"/>
          <p:cNvSpPr txBox="1"/>
          <p:nvPr/>
        </p:nvSpPr>
        <p:spPr>
          <a:xfrm>
            <a:off x="841248" y="29260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first impression?</a:t>
            </a:r>
            <a:endParaRPr lang="en-US" sz="1200" dirty="0"/>
          </a:p>
        </p:txBody>
      </p:sp>
      <p:sp>
        <p:nvSpPr>
          <p:cNvPr id="10" name="bld1_2189"/>
          <p:cNvSpPr/>
          <p:nvPr/>
        </p:nvSpPr>
        <p:spPr>
          <a:xfrm>
            <a:off x="548640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190"/>
          <p:cNvSpPr txBox="1"/>
          <p:nvPr/>
        </p:nvSpPr>
        <p:spPr>
          <a:xfrm>
            <a:off x="841248" y="33832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olfactory family does it belong to?</a:t>
            </a:r>
            <a:endParaRPr lang="en-US" sz="1200" dirty="0"/>
          </a:p>
        </p:txBody>
      </p:sp>
      <p:sp>
        <p:nvSpPr>
          <p:cNvPr id="12" name="bld1_2191"/>
          <p:cNvSpPr/>
          <p:nvPr/>
        </p:nvSpPr>
        <p:spPr>
          <a:xfrm>
            <a:off x="548640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192"/>
          <p:cNvSpPr txBox="1"/>
          <p:nvPr/>
        </p:nvSpPr>
        <p:spPr>
          <a:xfrm>
            <a:off x="841248" y="38404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 it?</a:t>
            </a:r>
            <a:endParaRPr lang="en-US" sz="1200" dirty="0"/>
          </a:p>
        </p:txBody>
      </p:sp>
      <p:sp>
        <p:nvSpPr>
          <p:cNvPr id="14" name="bld1_2193"/>
          <p:cNvSpPr/>
          <p:nvPr/>
        </p:nvSpPr>
        <p:spPr>
          <a:xfrm>
            <a:off x="548640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2194"/>
          <p:cNvSpPr txBox="1"/>
          <p:nvPr/>
        </p:nvSpPr>
        <p:spPr>
          <a:xfrm>
            <a:off x="841248" y="42976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diffusive is it?</a:t>
            </a:r>
            <a:endParaRPr lang="en-US" sz="1200" dirty="0"/>
          </a:p>
        </p:txBody>
      </p:sp>
      <p:sp>
        <p:nvSpPr>
          <p:cNvPr id="16" name="bld2_2195"/>
          <p:cNvSpPr txBox="1"/>
          <p:nvPr/>
        </p:nvSpPr>
        <p:spPr>
          <a:xfrm>
            <a:off x="6255868" y="253288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ITS USE</a:t>
            </a:r>
            <a:endParaRPr lang="en-US" sz="1250" dirty="0"/>
          </a:p>
        </p:txBody>
      </p:sp>
      <p:sp>
        <p:nvSpPr>
          <p:cNvPr id="17" name="bld2_2196"/>
          <p:cNvSpPr/>
          <p:nvPr/>
        </p:nvSpPr>
        <p:spPr>
          <a:xfrm>
            <a:off x="6255868" y="29900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2197"/>
          <p:cNvSpPr txBox="1"/>
          <p:nvPr/>
        </p:nvSpPr>
        <p:spPr>
          <a:xfrm>
            <a:off x="6548476" y="29260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change over 15 min, 1 hour, several hours?</a:t>
            </a:r>
            <a:endParaRPr lang="en-US" sz="1200" dirty="0"/>
          </a:p>
        </p:txBody>
      </p:sp>
      <p:sp>
        <p:nvSpPr>
          <p:cNvPr id="19" name="bld2_2198"/>
          <p:cNvSpPr/>
          <p:nvPr/>
        </p:nvSpPr>
        <p:spPr>
          <a:xfrm>
            <a:off x="6255868" y="34472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2199"/>
          <p:cNvSpPr txBox="1"/>
          <p:nvPr/>
        </p:nvSpPr>
        <p:spPr>
          <a:xfrm>
            <a:off x="6548476" y="33832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remind you of another material?</a:t>
            </a:r>
            <a:endParaRPr lang="en-US" sz="1200" dirty="0"/>
          </a:p>
        </p:txBody>
      </p:sp>
      <p:sp>
        <p:nvSpPr>
          <p:cNvPr id="21" name="bld2_2200"/>
          <p:cNvSpPr/>
          <p:nvPr/>
        </p:nvSpPr>
        <p:spPr>
          <a:xfrm>
            <a:off x="6255868" y="39044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2201"/>
          <p:cNvSpPr txBox="1"/>
          <p:nvPr/>
        </p:nvSpPr>
        <p:spPr>
          <a:xfrm>
            <a:off x="6548476" y="38404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materials might it pair well with?</a:t>
            </a:r>
            <a:endParaRPr lang="en-US" sz="1200" dirty="0"/>
          </a:p>
        </p:txBody>
      </p:sp>
      <p:sp>
        <p:nvSpPr>
          <p:cNvPr id="23" name="bld2_2202"/>
          <p:cNvSpPr/>
          <p:nvPr/>
        </p:nvSpPr>
        <p:spPr>
          <a:xfrm>
            <a:off x="6255868" y="43616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2203"/>
          <p:cNvSpPr txBox="1"/>
          <p:nvPr/>
        </p:nvSpPr>
        <p:spPr>
          <a:xfrm>
            <a:off x="6548476" y="42976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Top, heart, base — or several stages at once?</a:t>
            </a:r>
            <a:endParaRPr lang="en-US" sz="1200" dirty="0"/>
          </a:p>
        </p:txBody>
      </p:sp>
      <p:sp>
        <p:nvSpPr>
          <p:cNvPr id="25" name="bld2_2204"/>
          <p:cNvSpPr/>
          <p:nvPr/>
        </p:nvSpPr>
        <p:spPr>
          <a:xfrm>
            <a:off x="6255868" y="481888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6" name="bld2_2205"/>
          <p:cNvSpPr txBox="1"/>
          <p:nvPr/>
        </p:nvSpPr>
        <p:spPr>
          <a:xfrm>
            <a:off x="6548476" y="475488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effect could it create in a formula?</a:t>
            </a:r>
            <a:endParaRPr lang="en-US" sz="1200" dirty="0"/>
          </a:p>
        </p:txBody>
      </p:sp>
      <p:sp>
        <p:nvSpPr>
          <p:cNvPr id="28" name="trans_fade_13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7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MISTAKE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Neat alone can mislead you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1454" y="4206697"/>
            <a:ext cx="390796" cy="932231"/>
          </a:xfrm>
          <a:prstGeom prst="roundRect">
            <a:avLst>
              <a:gd name="adj" fmla="val 3510"/>
            </a:avLst>
          </a:prstGeom>
          <a:solidFill>
            <a:srgbClr val="5B3A52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9128" y="3446282"/>
            <a:ext cx="390796" cy="1692646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26801" y="2685867"/>
            <a:ext cx="390796" cy="2453061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material, three strengths — three different lessons.</a:t>
            </a:r>
            <a:endParaRPr lang="en-US" sz="1050" dirty="0"/>
          </a:p>
        </p:txBody>
      </p:sp>
      <p:sp>
        <p:nvSpPr>
          <p:cNvPr id="17" name="bld1_220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bld1_220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Powerful materials overwhelm at 100%</a:t>
            </a:r>
            <a:endParaRPr lang="en-US" sz="1650" dirty="0"/>
          </a:p>
        </p:txBody>
      </p:sp>
      <p:sp>
        <p:nvSpPr>
          <p:cNvPr id="19" name="bld1_220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are so potent neat that your nose can't parse their real character.</a:t>
            </a:r>
            <a:endParaRPr lang="en-US" sz="1250" dirty="0"/>
          </a:p>
        </p:txBody>
      </p:sp>
      <p:sp>
        <p:nvSpPr>
          <p:cNvPr id="20" name="bld2_220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221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rarely use materials neat</a:t>
            </a:r>
            <a:endParaRPr lang="en-US" sz="1650" dirty="0"/>
          </a:p>
        </p:txBody>
      </p:sp>
      <p:sp>
        <p:nvSpPr>
          <p:cNvPr id="22" name="bld2_221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almost always work with the material diluted — so evaluate it the way you'll actually use it.</a:t>
            </a:r>
            <a:endParaRPr lang="en-US" sz="1250" dirty="0"/>
          </a:p>
        </p:txBody>
      </p:sp>
      <p:sp>
        <p:nvSpPr>
          <p:cNvPr id="23" name="bld3_221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3_221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across the dilution ladder</a:t>
            </a:r>
            <a:endParaRPr lang="en-US" sz="1650" dirty="0"/>
          </a:p>
        </p:txBody>
      </p:sp>
      <p:sp>
        <p:nvSpPr>
          <p:cNvPr id="25" name="bld3_221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material at 100%, 10% and 1% to understand how its character shifts with concentration.</a:t>
            </a:r>
            <a:endParaRPr lang="en-US" sz="1250" dirty="0"/>
          </a:p>
        </p:txBody>
      </p:sp>
      <p:sp>
        <p:nvSpPr>
          <p:cNvPr id="27" name="trans_fade_13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DIGITAL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material log should track</a:t>
            </a:r>
            <a:endParaRPr lang="en-US" sz="3200" dirty="0"/>
          </a:p>
        </p:txBody>
      </p:sp>
      <p:sp>
        <p:nvSpPr>
          <p:cNvPr id="7" name="bld1_2215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216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217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0" name="bld1_2218"/>
          <p:cNvSpPr txBox="1"/>
          <p:nvPr/>
        </p:nvSpPr>
        <p:spPr>
          <a:xfrm>
            <a:off x="731520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 and CAS if known.</a:t>
            </a:r>
            <a:endParaRPr lang="en-US" sz="1080" dirty="0"/>
          </a:p>
        </p:txBody>
      </p:sp>
      <p:sp>
        <p:nvSpPr>
          <p:cNvPr id="11" name="bld2_2219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220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221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</a:t>
            </a:r>
            <a:endParaRPr lang="en-US" sz="1450" dirty="0"/>
          </a:p>
        </p:txBody>
      </p:sp>
      <p:sp>
        <p:nvSpPr>
          <p:cNvPr id="14" name="bld2_2222"/>
          <p:cNvSpPr txBox="1"/>
          <p:nvPr/>
        </p:nvSpPr>
        <p:spPr>
          <a:xfrm>
            <a:off x="3569132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was sourced.</a:t>
            </a:r>
            <a:endParaRPr lang="en-US" sz="1080" dirty="0"/>
          </a:p>
        </p:txBody>
      </p:sp>
      <p:sp>
        <p:nvSpPr>
          <p:cNvPr id="15" name="bld3_2223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224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225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Dilution</a:t>
            </a:r>
            <a:endParaRPr lang="en-US" sz="1450" dirty="0"/>
          </a:p>
        </p:txBody>
      </p:sp>
      <p:sp>
        <p:nvSpPr>
          <p:cNvPr id="18" name="bld3_2226"/>
          <p:cNvSpPr txBox="1"/>
          <p:nvPr/>
        </p:nvSpPr>
        <p:spPr>
          <a:xfrm>
            <a:off x="6406744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solvent used.</a:t>
            </a:r>
            <a:endParaRPr lang="en-US" sz="1080" dirty="0"/>
          </a:p>
        </p:txBody>
      </p:sp>
      <p:sp>
        <p:nvSpPr>
          <p:cNvPr id="19" name="bld4_2227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228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229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Description</a:t>
            </a:r>
            <a:endParaRPr lang="en-US" sz="1450" dirty="0"/>
          </a:p>
        </p:txBody>
      </p:sp>
      <p:sp>
        <p:nvSpPr>
          <p:cNvPr id="22" name="bld4_2230"/>
          <p:cNvSpPr txBox="1"/>
          <p:nvPr/>
        </p:nvSpPr>
        <p:spPr>
          <a:xfrm>
            <a:off x="9244355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written evaluation.</a:t>
            </a:r>
            <a:endParaRPr lang="en-US" sz="1080" dirty="0"/>
          </a:p>
        </p:txBody>
      </p:sp>
      <p:sp>
        <p:nvSpPr>
          <p:cNvPr id="23" name="bld5_2231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232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233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Longevity</a:t>
            </a:r>
            <a:endParaRPr lang="en-US" sz="1450" dirty="0"/>
          </a:p>
        </p:txBody>
      </p:sp>
      <p:sp>
        <p:nvSpPr>
          <p:cNvPr id="26" name="bld5_2234"/>
          <p:cNvSpPr txBox="1"/>
          <p:nvPr/>
        </p:nvSpPr>
        <p:spPr>
          <a:xfrm>
            <a:off x="731520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it lasted on strip.</a:t>
            </a:r>
            <a:endParaRPr lang="en-US" sz="1080" dirty="0"/>
          </a:p>
        </p:txBody>
      </p:sp>
      <p:sp>
        <p:nvSpPr>
          <p:cNvPr id="27" name="bld6_2235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236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237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450" dirty="0"/>
          </a:p>
        </p:txBody>
      </p:sp>
      <p:sp>
        <p:nvSpPr>
          <p:cNvPr id="30" name="bld6_2238"/>
          <p:cNvSpPr txBox="1"/>
          <p:nvPr/>
        </p:nvSpPr>
        <p:spPr>
          <a:xfrm>
            <a:off x="3569132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olfactory group it belongs to.</a:t>
            </a:r>
            <a:endParaRPr lang="en-US" sz="1080" dirty="0"/>
          </a:p>
        </p:txBody>
      </p:sp>
      <p:sp>
        <p:nvSpPr>
          <p:cNvPr id="31" name="bld7_2239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bld7_2240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3" name="bld7_2241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usage</a:t>
            </a:r>
            <a:endParaRPr lang="en-US" sz="1450" dirty="0"/>
          </a:p>
        </p:txBody>
      </p:sp>
      <p:sp>
        <p:nvSpPr>
          <p:cNvPr id="34" name="bld7_2242"/>
          <p:cNvSpPr txBox="1"/>
          <p:nvPr/>
        </p:nvSpPr>
        <p:spPr>
          <a:xfrm>
            <a:off x="6406744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formulas it's appeared in.</a:t>
            </a:r>
            <a:endParaRPr lang="en-US" sz="1080" dirty="0"/>
          </a:p>
        </p:txBody>
      </p:sp>
      <p:sp>
        <p:nvSpPr>
          <p:cNvPr id="36" name="trans_fade_13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7" name="Text 3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7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GAME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build scent memory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29090" y="4361188"/>
            <a:ext cx="1592750" cy="1592750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625465" y="4971743"/>
            <a:ext cx="418097" cy="185821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43562" y="4971743"/>
            <a:ext cx="41809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1043562" y="5204019"/>
            <a:ext cx="418097" cy="37164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46734" y="5575660"/>
            <a:ext cx="696828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346734" y="5157563"/>
            <a:ext cx="278731" cy="41809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14457" y="4925287"/>
            <a:ext cx="511007" cy="232276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51136" y="5083235"/>
            <a:ext cx="148657" cy="14865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90138" y="4918319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08235" y="5150595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90138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93310" y="5522237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61034" y="4871864"/>
            <a:ext cx="106847" cy="106847"/>
          </a:xfrm>
          <a:prstGeom prst="ellipse">
            <a:avLst/>
          </a:prstGeom>
          <a:solidFill>
            <a:srgbClr val="6E7A50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bld1_2243"/>
          <p:cNvSpPr/>
          <p:nvPr/>
        </p:nvSpPr>
        <p:spPr>
          <a:xfrm>
            <a:off x="548640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244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245"/>
          <p:cNvSpPr txBox="1"/>
          <p:nvPr/>
        </p:nvSpPr>
        <p:spPr>
          <a:xfrm>
            <a:off x="731520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relatives</a:t>
            </a:r>
            <a:endParaRPr lang="en-US" sz="1450" dirty="0"/>
          </a:p>
        </p:txBody>
      </p:sp>
      <p:sp>
        <p:nvSpPr>
          <p:cNvPr id="24" name="bld1_2246"/>
          <p:cNvSpPr txBox="1"/>
          <p:nvPr/>
        </p:nvSpPr>
        <p:spPr>
          <a:xfrm>
            <a:off x="731520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close relatives side by side — Ambroxan against Cetalox, or Galaxolide against Ambrettolide — the differences teach far more than either smelled alone.</a:t>
            </a:r>
            <a:endParaRPr lang="en-US" sz="1080" dirty="0"/>
          </a:p>
        </p:txBody>
      </p:sp>
      <p:sp>
        <p:nvSpPr>
          <p:cNvPr id="25" name="bld2_2247"/>
          <p:cNvSpPr/>
          <p:nvPr/>
        </p:nvSpPr>
        <p:spPr>
          <a:xfrm>
            <a:off x="3386252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248"/>
          <p:cNvSpPr/>
          <p:nvPr/>
        </p:nvSpPr>
        <p:spPr>
          <a:xfrm>
            <a:off x="355998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2249"/>
          <p:cNvSpPr txBox="1"/>
          <p:nvPr/>
        </p:nvSpPr>
        <p:spPr>
          <a:xfrm>
            <a:off x="3569132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 monthly</a:t>
            </a:r>
            <a:endParaRPr lang="en-US" sz="1450" dirty="0"/>
          </a:p>
        </p:txBody>
      </p:sp>
      <p:sp>
        <p:nvSpPr>
          <p:cNvPr id="28" name="bld2_2250"/>
          <p:cNvSpPr txBox="1"/>
          <p:nvPr/>
        </p:nvSpPr>
        <p:spPr>
          <a:xfrm>
            <a:off x="3569132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Re-smell materials you "know" every few weeks. Memory fades faster than confidence does.</a:t>
            </a:r>
            <a:endParaRPr lang="en-US" sz="1080" dirty="0"/>
          </a:p>
        </p:txBody>
      </p:sp>
      <p:sp>
        <p:nvSpPr>
          <p:cNvPr id="29" name="bld3_2251"/>
          <p:cNvSpPr/>
          <p:nvPr/>
        </p:nvSpPr>
        <p:spPr>
          <a:xfrm>
            <a:off x="6223864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252"/>
          <p:cNvSpPr/>
          <p:nvPr/>
        </p:nvSpPr>
        <p:spPr>
          <a:xfrm>
            <a:off x="6397600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253"/>
          <p:cNvSpPr txBox="1"/>
          <p:nvPr/>
        </p:nvSpPr>
        <p:spPr>
          <a:xfrm>
            <a:off x="6406744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opposites</a:t>
            </a:r>
            <a:endParaRPr lang="en-US" sz="1450" dirty="0"/>
          </a:p>
        </p:txBody>
      </p:sp>
      <p:sp>
        <p:nvSpPr>
          <p:cNvPr id="32" name="bld3_2254"/>
          <p:cNvSpPr txBox="1"/>
          <p:nvPr/>
        </p:nvSpPr>
        <p:spPr>
          <a:xfrm>
            <a:off x="6406744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two contrasting materials back to back — a sharp citrus against a soft musk sharpens perception of both.</a:t>
            </a:r>
            <a:endParaRPr lang="en-US" sz="1080" dirty="0"/>
          </a:p>
        </p:txBody>
      </p:sp>
      <p:sp>
        <p:nvSpPr>
          <p:cNvPr id="33" name="bld4_2255"/>
          <p:cNvSpPr/>
          <p:nvPr/>
        </p:nvSpPr>
        <p:spPr>
          <a:xfrm>
            <a:off x="9061475" y="2330806"/>
            <a:ext cx="258158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bld4_2256"/>
          <p:cNvSpPr/>
          <p:nvPr/>
        </p:nvSpPr>
        <p:spPr>
          <a:xfrm>
            <a:off x="9235211" y="2504542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5" name="bld4_2257"/>
          <p:cNvSpPr txBox="1"/>
          <p:nvPr/>
        </p:nvSpPr>
        <p:spPr>
          <a:xfrm>
            <a:off x="9244355" y="2788006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associations</a:t>
            </a:r>
            <a:endParaRPr lang="en-US" sz="1450" dirty="0"/>
          </a:p>
        </p:txBody>
      </p:sp>
      <p:sp>
        <p:nvSpPr>
          <p:cNvPr id="36" name="bld4_2258"/>
          <p:cNvSpPr txBox="1"/>
          <p:nvPr/>
        </p:nvSpPr>
        <p:spPr>
          <a:xfrm>
            <a:off x="9244355" y="3117190"/>
            <a:ext cx="22158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smell to a vivid image or memory of your own — invented associations stick better than technical descriptions.</a:t>
            </a:r>
            <a:endParaRPr lang="en-US" sz="1080" dirty="0"/>
          </a:p>
        </p:txBody>
      </p:sp>
      <p:sp>
        <p:nvSpPr>
          <p:cNvPr id="38" name="trans_fade_13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9" name="Text 3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RECORD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actually log your evaluations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17576" y="4449674"/>
            <a:ext cx="1415778" cy="1415778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0614" y="5002713"/>
            <a:ext cx="309701" cy="309701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37885" y="4869984"/>
            <a:ext cx="575160" cy="575160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5156" y="4737254"/>
            <a:ext cx="840618" cy="8406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2259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2260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2261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software</a:t>
            </a:r>
            <a:endParaRPr lang="en-US" sz="1450" dirty="0"/>
          </a:p>
        </p:txBody>
      </p:sp>
      <p:sp>
        <p:nvSpPr>
          <p:cNvPr id="17" name="bld1_2262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dedicated perfumery software used throughout this course — built for exactly this.</a:t>
            </a:r>
            <a:endParaRPr lang="en-US" sz="1080" dirty="0"/>
          </a:p>
        </p:txBody>
      </p:sp>
      <p:sp>
        <p:nvSpPr>
          <p:cNvPr id="18" name="bld2_2263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2264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2265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or Google Sheets</a:t>
            </a:r>
            <a:endParaRPr lang="en-US" sz="1450" dirty="0"/>
          </a:p>
        </p:txBody>
      </p:sp>
      <p:sp>
        <p:nvSpPr>
          <p:cNvPr id="21" name="bld2_2266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spreadsheet works perfectly well — searchable, backed up, and free.</a:t>
            </a:r>
            <a:endParaRPr lang="en-US" sz="1080" dirty="0"/>
          </a:p>
        </p:txBody>
      </p:sp>
      <p:sp>
        <p:nvSpPr>
          <p:cNvPr id="22" name="bld3_2267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2268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269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physical notebook</a:t>
            </a:r>
            <a:endParaRPr lang="en-US" sz="1450" dirty="0"/>
          </a:p>
        </p:txBody>
      </p:sp>
      <p:sp>
        <p:nvSpPr>
          <p:cNvPr id="25" name="bld3_2270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tactile. The trade-off is no easy search — fine if you're consistent about it.</a:t>
            </a:r>
            <a:endParaRPr lang="en-US" sz="1080" dirty="0"/>
          </a:p>
        </p:txBody>
      </p:sp>
      <p:sp>
        <p:nvSpPr>
          <p:cNvPr id="27" name="trans_fade_14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600200"/>
            <a:ext cx="11094415" cy="4754880"/>
          </a:xfrm>
          <a:prstGeom prst="roundRect">
            <a:avLst>
              <a:gd name="adj" fmla="val 3077"/>
            </a:avLst>
          </a:prstGeom>
          <a:solidFill>
            <a:srgbClr val="EFE6D2"/>
          </a:solidFill>
          <a:ln/>
        </p:spPr>
      </p:sp>
      <p:sp>
        <p:nvSpPr>
          <p:cNvPr id="3" name="Shape 1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NOSE TRAINING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one material evaluation looks like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36193" y="2075688"/>
            <a:ext cx="9319309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73937" y="2313432"/>
            <a:ext cx="256032" cy="25603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076273" y="2295144"/>
            <a:ext cx="840490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Absolute — Bulgarian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801953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801953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2852928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DILUTION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3072384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in DPG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801953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801953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Medium–long (8h+)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095848" y="3419856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3639312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slightly spiced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801953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801953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Soft, powdery, lightly sweet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3986784"/>
            <a:ext cx="41110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USE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4206240"/>
            <a:ext cx="41110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of a floral formula, rounds out fruity accords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shape of a good digital material card — recreate it for every material you own.</a:t>
            </a:r>
            <a:endParaRPr lang="en-US" sz="1200" dirty="0"/>
          </a:p>
        </p:txBody>
      </p:sp>
      <p:sp>
        <p:nvSpPr>
          <p:cNvPr id="25" name="trans_fade_14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nose is a muscle. Train it daily,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writing — not just in passing sniffs.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05</a:t>
            </a:r>
            <a:endParaRPr lang="en-US" sz="1100" dirty="0"/>
          </a:p>
        </p:txBody>
      </p:sp>
      <p:sp>
        <p:nvSpPr>
          <p:cNvPr id="10" name="trans_fade_14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62772" y="1924812"/>
            <a:ext cx="3008376" cy="3008376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8100000">
            <a:off x="9279331" y="2741371"/>
            <a:ext cx="1375258" cy="1375258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BUILDING ACCORDS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Materials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Accords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perfumery gets creative — combining individual materials into one recognisable smell.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apple, amber and leather into facets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Jean Carles method, step by step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 accord until it reads true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19" name="trans_fade_14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accord?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1839115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71790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17478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611544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 four materials → one unmistakable rose, none of which smell like rose alone.</a:t>
            </a:r>
            <a:endParaRPr lang="en-US" sz="1050" dirty="0"/>
          </a:p>
        </p:txBody>
      </p:sp>
      <p:sp>
        <p:nvSpPr>
          <p:cNvPr id="17" name="bld1_227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227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blend, not a mixture</a:t>
            </a:r>
            <a:endParaRPr lang="en-US" sz="1650" dirty="0"/>
          </a:p>
        </p:txBody>
      </p:sp>
      <p:sp>
        <p:nvSpPr>
          <p:cNvPr id="19" name="bld1_2273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accord is materials chosen and balanced on purpose so they merge into one new, coherent impression — not several smells layered on top of each other.</a:t>
            </a:r>
            <a:endParaRPr lang="en-US" sz="1250" dirty="0"/>
          </a:p>
        </p:txBody>
      </p:sp>
      <p:sp>
        <p:nvSpPr>
          <p:cNvPr id="20" name="bld2_2274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1" name="bld2_2275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from randomly combining materials</a:t>
            </a:r>
            <a:endParaRPr lang="en-US" sz="1650" dirty="0"/>
          </a:p>
        </p:txBody>
      </p:sp>
      <p:sp>
        <p:nvSpPr>
          <p:cNvPr id="22" name="bld2_2276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Throwing materials together usually produces mud. An accord works because each material is given a specific role, so the result reads as intentional.</a:t>
            </a:r>
            <a:endParaRPr lang="en-US" sz="1250" dirty="0"/>
          </a:p>
        </p:txBody>
      </p:sp>
      <p:sp>
        <p:nvSpPr>
          <p:cNvPr id="23" name="bld3_2277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3_2278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 smell like something no single material does</a:t>
            </a:r>
            <a:endParaRPr lang="en-US" sz="1650" dirty="0"/>
          </a:p>
        </p:txBody>
      </p:sp>
      <p:sp>
        <p:nvSpPr>
          <p:cNvPr id="25" name="bld3_2279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convincing rose or leather accord is built from materials that individually smell nothing like the target — the character only emerges once they're combined correctly.</a:t>
            </a:r>
            <a:endParaRPr lang="en-US" sz="1250" dirty="0"/>
          </a:p>
        </p:txBody>
      </p:sp>
      <p:sp>
        <p:nvSpPr>
          <p:cNvPr id="26" name="bld4_2280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7" name="bld4_2281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building block for bigger perfumes</a:t>
            </a:r>
            <a:endParaRPr lang="en-US" sz="1650" dirty="0"/>
          </a:p>
        </p:txBody>
      </p:sp>
      <p:sp>
        <p:nvSpPr>
          <p:cNvPr id="28" name="bld4_2282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perfume is really a composition of several accords working together, not one long list of raw materials.</a:t>
            </a:r>
            <a:endParaRPr lang="en-US" sz="1250" dirty="0"/>
          </a:p>
        </p:txBody>
      </p:sp>
      <p:sp>
        <p:nvSpPr>
          <p:cNvPr id="30" name="trans_fade_14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ACCORD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target, then build outward</a:t>
            </a:r>
            <a:endParaRPr lang="en-US" sz="3200" dirty="0"/>
          </a:p>
        </p:txBody>
      </p:sp>
      <p:sp>
        <p:nvSpPr>
          <p:cNvPr id="7" name="bld1_2283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284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285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the target</a:t>
            </a:r>
            <a:endParaRPr lang="en-US" sz="1450" dirty="0"/>
          </a:p>
        </p:txBody>
      </p:sp>
      <p:sp>
        <p:nvSpPr>
          <p:cNvPr id="10" name="bld1_2286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exactly what you're building — e.g. "a bright, honeyed rose."</a:t>
            </a:r>
            <a:endParaRPr lang="en-US" sz="1000" dirty="0"/>
          </a:p>
        </p:txBody>
      </p:sp>
      <p:sp>
        <p:nvSpPr>
          <p:cNvPr id="11" name="bld1_2287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288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289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290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the lead material</a:t>
            </a:r>
            <a:endParaRPr lang="en-US" sz="1450" dirty="0"/>
          </a:p>
        </p:txBody>
      </p:sp>
      <p:sp>
        <p:nvSpPr>
          <p:cNvPr id="15" name="bld2_2291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material carries the core identity — e.g. Phenylethyl Alcohol for rose.</a:t>
            </a:r>
            <a:endParaRPr lang="en-US" sz="1000" dirty="0"/>
          </a:p>
        </p:txBody>
      </p:sp>
      <p:sp>
        <p:nvSpPr>
          <p:cNvPr id="16" name="bld2_2292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293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294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295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supporting materials</a:t>
            </a:r>
            <a:endParaRPr lang="en-US" sz="1450" dirty="0"/>
          </a:p>
        </p:txBody>
      </p:sp>
      <p:sp>
        <p:nvSpPr>
          <p:cNvPr id="20" name="bld3_2296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out the character — e.g. citronellol and geraniol extend the rose body.</a:t>
            </a:r>
            <a:endParaRPr lang="en-US" sz="1000" dirty="0"/>
          </a:p>
        </p:txBody>
      </p:sp>
      <p:sp>
        <p:nvSpPr>
          <p:cNvPr id="21" name="bld3_2297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298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299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300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contrast</a:t>
            </a:r>
            <a:endParaRPr lang="en-US" sz="1450" dirty="0"/>
          </a:p>
        </p:txBody>
      </p:sp>
      <p:sp>
        <p:nvSpPr>
          <p:cNvPr id="25" name="bld4_2301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facet that isn't already there — e.g. a green or spicy edge against the sweetness.</a:t>
            </a:r>
            <a:endParaRPr lang="en-US" sz="1000" dirty="0"/>
          </a:p>
        </p:txBody>
      </p:sp>
      <p:sp>
        <p:nvSpPr>
          <p:cNvPr id="27" name="trans_push_l_14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ACCORD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it volume, then refine it</a:t>
            </a:r>
            <a:endParaRPr lang="en-US" sz="3200" dirty="0"/>
          </a:p>
        </p:txBody>
      </p:sp>
      <p:sp>
        <p:nvSpPr>
          <p:cNvPr id="7" name="bld1_2302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303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304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volume &amp; diffusion</a:t>
            </a:r>
            <a:endParaRPr lang="en-US" sz="1450" dirty="0"/>
          </a:p>
        </p:txBody>
      </p:sp>
      <p:sp>
        <p:nvSpPr>
          <p:cNvPr id="10" name="bld1_2305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carry — e.g. Hedione opens space around the rose.</a:t>
            </a:r>
            <a:endParaRPr lang="en-US" sz="1000" dirty="0"/>
          </a:p>
        </p:txBody>
      </p:sp>
      <p:sp>
        <p:nvSpPr>
          <p:cNvPr id="11" name="bld1_2306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307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308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309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fixative / base support</a:t>
            </a:r>
            <a:endParaRPr lang="en-US" sz="1450" dirty="0"/>
          </a:p>
        </p:txBody>
      </p:sp>
      <p:sp>
        <p:nvSpPr>
          <p:cNvPr id="15" name="bld2_2310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it so it lasts — e.g. a soft musk underneath.</a:t>
            </a:r>
            <a:endParaRPr lang="en-US" sz="1000" dirty="0"/>
          </a:p>
        </p:txBody>
      </p:sp>
      <p:sp>
        <p:nvSpPr>
          <p:cNvPr id="16" name="bld2_2311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312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313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314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0" name="bld3_2315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it on a fresh strip, honestly, against the original target.</a:t>
            </a:r>
            <a:endParaRPr lang="en-US" sz="1000" dirty="0"/>
          </a:p>
        </p:txBody>
      </p:sp>
      <p:sp>
        <p:nvSpPr>
          <p:cNvPr id="21" name="bld3_2316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317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318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319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 proportions</a:t>
            </a:r>
            <a:endParaRPr lang="en-US" sz="1450" dirty="0"/>
          </a:p>
        </p:txBody>
      </p:sp>
      <p:sp>
        <p:nvSpPr>
          <p:cNvPr id="25" name="bld4_2320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one material or ratio based on what's missing or dominating.</a:t>
            </a:r>
            <a:endParaRPr lang="en-US" sz="1000" dirty="0"/>
          </a:p>
        </p:txBody>
      </p:sp>
      <p:sp>
        <p:nvSpPr>
          <p:cNvPr id="26" name="bld4_2321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322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323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324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50" dirty="0"/>
          </a:p>
        </p:txBody>
      </p:sp>
      <p:sp>
        <p:nvSpPr>
          <p:cNvPr id="30" name="bld5_2325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cycling evaluate → modify until it reads true.</a:t>
            </a:r>
            <a:endParaRPr lang="en-US" sz="1000" dirty="0"/>
          </a:p>
        </p:txBody>
      </p:sp>
      <p:sp>
        <p:nvSpPr>
          <p:cNvPr id="32" name="trans_push_l_14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1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TARGETS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you already know</a:t>
            </a:r>
            <a:endParaRPr lang="en-US" sz="3200" dirty="0"/>
          </a:p>
        </p:txBody>
      </p:sp>
      <p:sp>
        <p:nvSpPr>
          <p:cNvPr id="7" name="bld1_2326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9" name="Shape 7"/>
          <p:cNvSpPr/>
          <p:nvPr/>
        </p:nvSpPr>
        <p:spPr>
          <a:xfrm>
            <a:off x="2113516" y="2041080"/>
            <a:ext cx="397698" cy="397698"/>
          </a:xfrm>
          <a:prstGeom prst="ellipse">
            <a:avLst/>
          </a:prstGeom>
          <a:solidFill>
            <a:srgbClr val="C9503E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306879" y="2031380"/>
            <a:ext cx="914" cy="6790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2000000">
            <a:off x="2330653" y="2011980"/>
            <a:ext cx="92150" cy="6305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13" name="bld1_2328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1450" dirty="0"/>
          </a:p>
        </p:txBody>
      </p:sp>
      <p:sp>
        <p:nvSpPr>
          <p:cNvPr id="14" name="bld1_2329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Juicy, green, slightly sweet.</a:t>
            </a:r>
            <a:endParaRPr lang="en-US" sz="1080" dirty="0"/>
          </a:p>
        </p:txBody>
      </p:sp>
      <p:sp>
        <p:nvSpPr>
          <p:cNvPr id="15" name="bld2_2330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223" y="1976090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4320000">
            <a:off x="6146617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8640000">
            <a:off x="6104068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2960000">
            <a:off x="5966377" y="2187975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7280000">
            <a:off x="5923829" y="2057023"/>
            <a:ext cx="121249" cy="254624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037648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3" name="Shape 21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4" name="bld2_2332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</a:t>
            </a:r>
            <a:endParaRPr lang="en-US" sz="1450" dirty="0"/>
          </a:p>
        </p:txBody>
      </p:sp>
      <p:sp>
        <p:nvSpPr>
          <p:cNvPr id="25" name="bld2_2333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Honeyed, green, floral.</a:t>
            </a:r>
            <a:endParaRPr lang="en-US" sz="1080" dirty="0"/>
          </a:p>
        </p:txBody>
      </p:sp>
      <p:sp>
        <p:nvSpPr>
          <p:cNvPr id="26" name="bld3_2334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 rot="9000000">
            <a:off x="9758081" y="2108979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6000000">
            <a:off x="9695031" y="2079880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11400000">
            <a:off x="9893880" y="2050780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2" name="bld3_2336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1450" dirty="0"/>
          </a:p>
        </p:txBody>
      </p:sp>
      <p:sp>
        <p:nvSpPr>
          <p:cNvPr id="33" name="bld3_2337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resinous, enveloping.</a:t>
            </a:r>
            <a:endParaRPr lang="en-US" sz="1080" dirty="0"/>
          </a:p>
        </p:txBody>
      </p:sp>
      <p:sp>
        <p:nvSpPr>
          <p:cNvPr id="34" name="bld4_2338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2069866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131756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106733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106733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2131756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2" name="bld4_2340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Leather</a:t>
            </a:r>
            <a:endParaRPr lang="en-US" sz="1450" dirty="0"/>
          </a:p>
        </p:txBody>
      </p:sp>
      <p:sp>
        <p:nvSpPr>
          <p:cNvPr id="43" name="bld4_2341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Smoky, dry, animalic.</a:t>
            </a:r>
            <a:endParaRPr lang="en-US" sz="1080" dirty="0"/>
          </a:p>
        </p:txBody>
      </p:sp>
      <p:sp>
        <p:nvSpPr>
          <p:cNvPr id="44" name="bld5_2342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46" name="Shape 44"/>
          <p:cNvSpPr/>
          <p:nvPr/>
        </p:nvSpPr>
        <p:spPr>
          <a:xfrm rot="840000">
            <a:off x="6037648" y="4349307"/>
            <a:ext cx="116399" cy="460748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840000">
            <a:off x="6090361" y="4405082"/>
            <a:ext cx="914" cy="349198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41285" y="441841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9" name="Shape 47"/>
          <p:cNvSpPr/>
          <p:nvPr/>
        </p:nvSpPr>
        <p:spPr>
          <a:xfrm>
            <a:off x="6058745" y="447855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0" name="Shape 48"/>
          <p:cNvSpPr/>
          <p:nvPr/>
        </p:nvSpPr>
        <p:spPr>
          <a:xfrm>
            <a:off x="6076205" y="4538699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1" name="Shape 49"/>
          <p:cNvSpPr/>
          <p:nvPr/>
        </p:nvSpPr>
        <p:spPr>
          <a:xfrm>
            <a:off x="6093665" y="459883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2" name="Shape 50"/>
          <p:cNvSpPr/>
          <p:nvPr/>
        </p:nvSpPr>
        <p:spPr>
          <a:xfrm>
            <a:off x="6111125" y="465897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3" name="Shape 51"/>
          <p:cNvSpPr/>
          <p:nvPr/>
        </p:nvSpPr>
        <p:spPr>
          <a:xfrm>
            <a:off x="6128585" y="4719118"/>
            <a:ext cx="21825" cy="21825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54" name="Shape 52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55" name="bld5_2344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56" name="bld5_2345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Sweet, warm, gourmand.</a:t>
            </a:r>
            <a:endParaRPr lang="en-US" sz="1080" dirty="0"/>
          </a:p>
        </p:txBody>
      </p:sp>
      <p:sp>
        <p:nvSpPr>
          <p:cNvPr id="57" name="bld6_2346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9" name="Shape 57"/>
          <p:cNvSpPr/>
          <p:nvPr/>
        </p:nvSpPr>
        <p:spPr>
          <a:xfrm rot="15300000">
            <a:off x="9715131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13050000">
            <a:off x="976060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0800000">
            <a:off x="9838105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8550000">
            <a:off x="991560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 rot="6300000">
            <a:off x="9961079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5" name="bld6_2348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Fresh-cut grass</a:t>
            </a:r>
            <a:endParaRPr lang="en-US" sz="1450" dirty="0"/>
          </a:p>
        </p:txBody>
      </p:sp>
      <p:sp>
        <p:nvSpPr>
          <p:cNvPr id="66" name="bld6_2349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Sharp, green, sappy.</a:t>
            </a:r>
            <a:endParaRPr lang="en-US" sz="1080" dirty="0"/>
          </a:p>
        </p:txBody>
      </p:sp>
      <p:sp>
        <p:nvSpPr>
          <p:cNvPr id="68" name="trans_fade_14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9" name="Text 6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3" grpId="0"/>
      <p:bldP spid="14" grpId="0"/>
      <p:bldP spid="15" grpId="0"/>
      <p:bldP spid="24" grpId="0"/>
      <p:bldP spid="25" grpId="0"/>
      <p:bldP spid="26" grpId="0"/>
      <p:bldP spid="32" grpId="0"/>
      <p:bldP spid="33" grpId="0"/>
      <p:bldP spid="34" grpId="0"/>
      <p:bldP spid="42" grpId="0"/>
      <p:bldP spid="43" grpId="0"/>
      <p:bldP spid="44" grpId="0"/>
      <p:bldP spid="55" grpId="0"/>
      <p:bldP spid="56" grpId="0"/>
      <p:bldP spid="57" grpId="0"/>
      <p:bldP spid="65" grpId="0"/>
      <p:bldP spid="66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— ROSE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rose into its facets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8" name="Shape 6"/>
          <p:cNvSpPr/>
          <p:nvPr/>
        </p:nvSpPr>
        <p:spPr>
          <a:xfrm>
            <a:off x="3325444" y="314423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3767745" y="346558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3598801" y="3985541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3052087" y="3985541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2883143" y="3465584"/>
            <a:ext cx="481432" cy="1011006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35073" y="3883713"/>
            <a:ext cx="462174" cy="462174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C79B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8A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</a:t>
            </a:r>
            <a:endParaRPr lang="en-US" sz="1350" dirty="0"/>
          </a:p>
        </p:txBody>
      </p:sp>
      <p:sp>
        <p:nvSpPr>
          <p:cNvPr id="16" name="bld1_2350"/>
          <p:cNvSpPr/>
          <p:nvPr/>
        </p:nvSpPr>
        <p:spPr>
          <a:xfrm flipV="1">
            <a:off x="4627778" y="2148840"/>
            <a:ext cx="3173700" cy="196596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7754112" y="181051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8026466" y="188283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4320000">
            <a:off x="8147689" y="1970907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8640000">
            <a:off x="8101386" y="211341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2960000">
            <a:off x="7951546" y="2113413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17280000">
            <a:off x="7905243" y="1970907"/>
            <a:ext cx="131948" cy="27709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29105" y="2085505"/>
            <a:ext cx="126670" cy="12667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4" name="Shape 22"/>
          <p:cNvSpPr/>
          <p:nvPr/>
        </p:nvSpPr>
        <p:spPr>
          <a:xfrm>
            <a:off x="7754112" y="181051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5" name="bld1_2352"/>
          <p:cNvSpPr txBox="1"/>
          <p:nvPr/>
        </p:nvSpPr>
        <p:spPr>
          <a:xfrm>
            <a:off x="8567928" y="197510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body</a:t>
            </a:r>
            <a:endParaRPr lang="en-US" sz="1350" dirty="0"/>
          </a:p>
        </p:txBody>
      </p:sp>
      <p:sp>
        <p:nvSpPr>
          <p:cNvPr id="26" name="bld2_2353"/>
          <p:cNvSpPr/>
          <p:nvPr/>
        </p:nvSpPr>
        <p:spPr>
          <a:xfrm flipV="1">
            <a:off x="4627778" y="2971800"/>
            <a:ext cx="3173700" cy="114300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7754112" y="263347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8" name="Shape 26"/>
          <p:cNvSpPr/>
          <p:nvPr/>
        </p:nvSpPr>
        <p:spPr>
          <a:xfrm>
            <a:off x="8052856" y="2796995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2700000">
            <a:off x="8109284" y="282036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5400000">
            <a:off x="8132658" y="287679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8100000">
            <a:off x="8109284" y="293322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0800000">
            <a:off x="8052856" y="2956600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3500000">
            <a:off x="7996427" y="293322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6200000">
            <a:off x="7973054" y="287679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 rot="18900000">
            <a:off x="7996427" y="282036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50217" y="2929577"/>
            <a:ext cx="84447" cy="84447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7" name="Shape 35"/>
          <p:cNvSpPr/>
          <p:nvPr/>
        </p:nvSpPr>
        <p:spPr>
          <a:xfrm>
            <a:off x="7754112" y="263347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8" name="bld2_2355"/>
          <p:cNvSpPr txBox="1"/>
          <p:nvPr/>
        </p:nvSpPr>
        <p:spPr>
          <a:xfrm>
            <a:off x="8567928" y="279806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floral lift</a:t>
            </a:r>
            <a:endParaRPr lang="en-US" sz="1350" dirty="0"/>
          </a:p>
        </p:txBody>
      </p:sp>
      <p:sp>
        <p:nvSpPr>
          <p:cNvPr id="39" name="bld3_2356"/>
          <p:cNvSpPr/>
          <p:nvPr/>
        </p:nvSpPr>
        <p:spPr>
          <a:xfrm flipV="1">
            <a:off x="4627778" y="3794760"/>
            <a:ext cx="3173700" cy="320040"/>
          </a:xfrm>
          <a:prstGeom prst="line">
            <a:avLst/>
          </a:prstGeom>
          <a:noFill/>
          <a:ln w="19050">
            <a:solidFill>
              <a:srgbClr val="C79BD9">
                <a:alpha val="75000"/>
              </a:srgbClr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7754112" y="3456432"/>
            <a:ext cx="676656" cy="67665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1" name="Shape 39"/>
          <p:cNvSpPr/>
          <p:nvPr/>
        </p:nvSpPr>
        <p:spPr>
          <a:xfrm>
            <a:off x="8052856" y="3619955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109284" y="364332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 rot="5400000">
            <a:off x="8132658" y="369975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8100000">
            <a:off x="8109284" y="375618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0800000">
            <a:off x="8052856" y="3779560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3500000">
            <a:off x="7996427" y="3756186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6200000">
            <a:off x="7973054" y="3699757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18900000">
            <a:off x="7996427" y="3643329"/>
            <a:ext cx="79169" cy="190005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50217" y="3752537"/>
            <a:ext cx="84447" cy="84447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0" name="Shape 48"/>
          <p:cNvSpPr/>
          <p:nvPr/>
        </p:nvSpPr>
        <p:spPr>
          <a:xfrm>
            <a:off x="7754112" y="3456432"/>
            <a:ext cx="676656" cy="67665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1" name="bld3_2358"/>
          <p:cNvSpPr txBox="1"/>
          <p:nvPr/>
        </p:nvSpPr>
        <p:spPr>
          <a:xfrm>
            <a:off x="8567928" y="362102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/ geranium facet</a:t>
            </a:r>
            <a:endParaRPr lang="en-US" sz="1350" dirty="0"/>
          </a:p>
        </p:txBody>
      </p:sp>
      <p:sp>
        <p:nvSpPr>
          <p:cNvPr id="52" name="bld4_2359"/>
          <p:cNvSpPr/>
          <p:nvPr/>
        </p:nvSpPr>
        <p:spPr>
          <a:xfrm>
            <a:off x="4627778" y="4114800"/>
            <a:ext cx="3173700" cy="502920"/>
          </a:xfrm>
          <a:prstGeom prst="line">
            <a:avLst/>
          </a:prstGeom>
          <a:noFill/>
          <a:ln w="19050">
            <a:solidFill>
              <a:srgbClr val="5C8A45">
                <a:alpha val="75000"/>
              </a:srgbClr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7754112" y="4279392"/>
            <a:ext cx="676656" cy="67665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54" name="Shape 52"/>
          <p:cNvSpPr/>
          <p:nvPr/>
        </p:nvSpPr>
        <p:spPr>
          <a:xfrm rot="15300000">
            <a:off x="7913753" y="4515033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 rot="13050000">
            <a:off x="7963237" y="458909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 rot="10800000">
            <a:off x="8047578" y="461772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 rot="8550000">
            <a:off x="8131919" y="4589090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 rot="6300000">
            <a:off x="8181402" y="4515033"/>
            <a:ext cx="89725" cy="277091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754112" y="4279392"/>
            <a:ext cx="676656" cy="67665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60" name="bld4_2361"/>
          <p:cNvSpPr txBox="1"/>
          <p:nvPr/>
        </p:nvSpPr>
        <p:spPr>
          <a:xfrm>
            <a:off x="8567928" y="444398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stem</a:t>
            </a:r>
            <a:endParaRPr lang="en-US" sz="1350" dirty="0"/>
          </a:p>
        </p:txBody>
      </p:sp>
      <p:sp>
        <p:nvSpPr>
          <p:cNvPr id="61" name="bld5_2362"/>
          <p:cNvSpPr/>
          <p:nvPr/>
        </p:nvSpPr>
        <p:spPr>
          <a:xfrm>
            <a:off x="4627778" y="4114800"/>
            <a:ext cx="3173700" cy="1325880"/>
          </a:xfrm>
          <a:prstGeom prst="line">
            <a:avLst/>
          </a:prstGeom>
          <a:noFill/>
          <a:ln w="19050">
            <a:solidFill>
              <a:srgbClr val="A6402A">
                <a:alpha val="75000"/>
              </a:srgbClr>
            </a:solidFill>
            <a:prstDash val="sysDot"/>
          </a:ln>
        </p:spPr>
      </p:sp>
      <p:sp>
        <p:nvSpPr>
          <p:cNvPr id="62" name="Shape 60"/>
          <p:cNvSpPr/>
          <p:nvPr/>
        </p:nvSpPr>
        <p:spPr>
          <a:xfrm>
            <a:off x="7754112" y="5102352"/>
            <a:ext cx="676656" cy="676656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63" name="Shape 61"/>
          <p:cNvSpPr/>
          <p:nvPr/>
        </p:nvSpPr>
        <p:spPr>
          <a:xfrm rot="9000000">
            <a:off x="7960492" y="5319288"/>
            <a:ext cx="306119" cy="306119"/>
          </a:xfrm>
          <a:prstGeom prst="teardrop">
            <a:avLst/>
          </a:prstGeom>
          <a:solidFill>
            <a:srgbClr val="A6402A">
              <a:alpha val="94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 rot="6000000">
            <a:off x="7891879" y="5287620"/>
            <a:ext cx="190005" cy="190005"/>
          </a:xfrm>
          <a:prstGeom prst="teardrop">
            <a:avLst/>
          </a:prstGeom>
          <a:solidFill>
            <a:srgbClr val="E07A46">
              <a:alpha val="94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 rot="11400000">
            <a:off x="8108274" y="5255953"/>
            <a:ext cx="158338" cy="158338"/>
          </a:xfrm>
          <a:prstGeom prst="teardrop">
            <a:avLst/>
          </a:prstGeom>
          <a:solidFill>
            <a:srgbClr val="6B2A1A">
              <a:alpha val="94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754112" y="5102352"/>
            <a:ext cx="676656" cy="676656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67" name="bld5_2364"/>
          <p:cNvSpPr txBox="1"/>
          <p:nvPr/>
        </p:nvSpPr>
        <p:spPr>
          <a:xfrm>
            <a:off x="8567928" y="526694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350" dirty="0"/>
          </a:p>
        </p:txBody>
      </p:sp>
      <p:sp>
        <p:nvSpPr>
          <p:cNvPr id="68" name="bld6_2365"/>
          <p:cNvSpPr/>
          <p:nvPr/>
        </p:nvSpPr>
        <p:spPr>
          <a:xfrm>
            <a:off x="4627778" y="4114800"/>
            <a:ext cx="3173700" cy="2148840"/>
          </a:xfrm>
          <a:prstGeom prst="line">
            <a:avLst/>
          </a:prstGeom>
          <a:noFill/>
          <a:ln w="19050">
            <a:solidFill>
              <a:srgbClr val="AFA495">
                <a:alpha val="75000"/>
              </a:srgbClr>
            </a:solidFill>
            <a:prstDash val="sysDot"/>
          </a:ln>
        </p:spPr>
      </p:sp>
      <p:sp>
        <p:nvSpPr>
          <p:cNvPr id="69" name="Shape 67"/>
          <p:cNvSpPr/>
          <p:nvPr/>
        </p:nvSpPr>
        <p:spPr>
          <a:xfrm>
            <a:off x="7754112" y="5925312"/>
            <a:ext cx="676656" cy="67665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0" name="Shape 68"/>
          <p:cNvSpPr/>
          <p:nvPr/>
        </p:nvSpPr>
        <p:spPr>
          <a:xfrm>
            <a:off x="7849656" y="6100025"/>
            <a:ext cx="485568" cy="327231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754112" y="5925312"/>
            <a:ext cx="676656" cy="67665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72" name="bld6_2367"/>
          <p:cNvSpPr txBox="1"/>
          <p:nvPr/>
        </p:nvSpPr>
        <p:spPr>
          <a:xfrm>
            <a:off x="8567928" y="6089904"/>
            <a:ext cx="30751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&amp; musk support</a:t>
            </a:r>
            <a:endParaRPr lang="en-US" sz="1350" dirty="0"/>
          </a:p>
        </p:txBody>
      </p:sp>
      <p:sp>
        <p:nvSpPr>
          <p:cNvPr id="74" name="trans_push_l_14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5" name="Text 7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1000" dirty="0"/>
          </a:p>
        </p:txBody>
      </p:sp>
      <p:sp>
        <p:nvSpPr>
          <p:cNvPr id="76" name="Text 7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9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25" grpId="0"/>
      <p:bldP spid="26" grpId="0"/>
      <p:bldP spid="38" grpId="0"/>
      <p:bldP spid="39" grpId="0"/>
      <p:bldP spid="51" grpId="0"/>
      <p:bldP spid="52" grpId="0"/>
      <p:bldP spid="60" grpId="0"/>
      <p:bldP spid="61" grpId="0"/>
      <p:bldP spid="67" grpId="0"/>
      <p:bldP spid="68" grpId="0"/>
      <p:bldP spid="72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IN DEPTH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accord — structure and how to modify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2069544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40521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948338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948338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40521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841973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increase is a trade — nothing improves for free.</a:t>
            </a:r>
            <a:endParaRPr lang="en-US" sz="1050" dirty="0"/>
          </a:p>
        </p:txBody>
      </p:sp>
      <p:sp>
        <p:nvSpPr>
          <p:cNvPr id="17" name="bld1_236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236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roles, not fixed percentages</a:t>
            </a:r>
            <a:endParaRPr lang="en-US" sz="1650" dirty="0"/>
          </a:p>
        </p:txBody>
      </p:sp>
      <p:sp>
        <p:nvSpPr>
          <p:cNvPr id="19" name="bld1_237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Phenylethyl alcohol carries most of the weight as the rose body; fresh floral lift, citrus/geranium facet, green stem, spice and diffusion/musk support sit around it in smaller amounts.</a:t>
            </a:r>
            <a:endParaRPr lang="en-US" sz="1250" dirty="0"/>
          </a:p>
        </p:txBody>
      </p:sp>
      <p:sp>
        <p:nvSpPr>
          <p:cNvPr id="20" name="bld2_237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2_237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the rose body → simpler, more linear</a:t>
            </a:r>
            <a:endParaRPr lang="en-US" sz="1650" dirty="0"/>
          </a:p>
        </p:txBody>
      </p:sp>
      <p:sp>
        <p:nvSpPr>
          <p:cNvPr id="22" name="bld2_237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phenylethyl alcohol higher and the accord reads more like a single-note soliflore — less complex, more direct.</a:t>
            </a:r>
            <a:endParaRPr lang="en-US" sz="1250" dirty="0"/>
          </a:p>
        </p:txBody>
      </p:sp>
      <p:sp>
        <p:nvSpPr>
          <p:cNvPr id="23" name="bld3_237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4" name="bld3_237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green stem or spice → sharper, less sweet</a:t>
            </a:r>
            <a:endParaRPr lang="en-US" sz="1650" dirty="0"/>
          </a:p>
        </p:txBody>
      </p:sp>
      <p:sp>
        <p:nvSpPr>
          <p:cNvPr id="25" name="bld3_237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cis-3-hexenol or a clove-type facet cuts the honeyed sweetness and adds edge.</a:t>
            </a:r>
            <a:endParaRPr lang="en-US" sz="1250" dirty="0"/>
          </a:p>
        </p:txBody>
      </p:sp>
      <p:sp>
        <p:nvSpPr>
          <p:cNvPr id="26" name="bld4_237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7" name="bld4_237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diffusion &amp; musk support → softer, more wearable</a:t>
            </a:r>
            <a:endParaRPr lang="en-US" sz="1650" dirty="0"/>
          </a:p>
        </p:txBody>
      </p:sp>
      <p:sp>
        <p:nvSpPr>
          <p:cNvPr id="28" name="bld4_237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Hedione or musk makes the rose read further and smoother, at the cost of some precision.</a:t>
            </a:r>
            <a:endParaRPr lang="en-US" sz="1250" dirty="0"/>
          </a:p>
        </p:txBody>
      </p:sp>
      <p:sp>
        <p:nvSpPr>
          <p:cNvPr id="30" name="trans_fade_14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with materials vs. starting with a base</a:t>
            </a:r>
            <a:endParaRPr lang="en-US" sz="3200" dirty="0"/>
          </a:p>
        </p:txBody>
      </p:sp>
      <p:sp>
        <p:nvSpPr>
          <p:cNvPr id="7" name="bld1_2380"/>
          <p:cNvSpPr/>
          <p:nvPr/>
        </p:nvSpPr>
        <p:spPr>
          <a:xfrm>
            <a:off x="548640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F0E4DA"/>
          </a:solidFill>
          <a:ln/>
        </p:spPr>
      </p:sp>
      <p:sp>
        <p:nvSpPr>
          <p:cNvPr id="8" name="bld1_2381"/>
          <p:cNvSpPr/>
          <p:nvPr/>
        </p:nvSpPr>
        <p:spPr>
          <a:xfrm>
            <a:off x="777240" y="2011680"/>
            <a:ext cx="274320" cy="27432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bld1_2382"/>
          <p:cNvSpPr txBox="1"/>
          <p:nvPr/>
        </p:nvSpPr>
        <p:spPr>
          <a:xfrm>
            <a:off x="1188720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materials</a:t>
            </a:r>
            <a:endParaRPr lang="en-US" sz="1800" dirty="0"/>
          </a:p>
        </p:txBody>
      </p:sp>
      <p:sp>
        <p:nvSpPr>
          <p:cNvPr id="10" name="bld1_2383"/>
          <p:cNvSpPr txBox="1"/>
          <p:nvPr/>
        </p:nvSpPr>
        <p:spPr>
          <a:xfrm>
            <a:off x="914400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Phenylethyl alcohol, citronellol, geraniol and rose oxide, balanced by hand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every facet from the very first drop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each facet is tuned material by material</a:t>
            </a:r>
            <a:endParaRPr lang="en-US" sz="1300" dirty="0"/>
          </a:p>
        </p:txBody>
      </p:sp>
      <p:sp>
        <p:nvSpPr>
          <p:cNvPr id="11" name="bld1_2384"/>
          <p:cNvSpPr/>
          <p:nvPr/>
        </p:nvSpPr>
        <p:spPr>
          <a:xfrm>
            <a:off x="5099152" y="5586984"/>
            <a:ext cx="621792" cy="621792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2" name="bld1_2385"/>
          <p:cNvSpPr/>
          <p:nvPr/>
        </p:nvSpPr>
        <p:spPr>
          <a:xfrm rot="8100000">
            <a:off x="5291176" y="5779008"/>
            <a:ext cx="237744" cy="237744"/>
          </a:xfrm>
          <a:prstGeom prst="teardrop">
            <a:avLst/>
          </a:prstGeom>
          <a:solidFill>
            <a:srgbClr val="B5652D">
              <a:alpha val="92000"/>
            </a:srgbClr>
          </a:solidFill>
          <a:ln/>
        </p:spPr>
      </p:sp>
      <p:sp>
        <p:nvSpPr>
          <p:cNvPr id="13" name="bld2_2386"/>
          <p:cNvSpPr/>
          <p:nvPr/>
        </p:nvSpPr>
        <p:spPr>
          <a:xfrm>
            <a:off x="6278728" y="1783080"/>
            <a:ext cx="5364328" cy="4617720"/>
          </a:xfrm>
          <a:prstGeom prst="roundRect">
            <a:avLst>
              <a:gd name="adj" fmla="val 2376"/>
            </a:avLst>
          </a:prstGeom>
          <a:solidFill>
            <a:srgbClr val="EFE4EC"/>
          </a:solidFill>
          <a:ln/>
        </p:spPr>
      </p:sp>
      <p:sp>
        <p:nvSpPr>
          <p:cNvPr id="14" name="bld2_2387"/>
          <p:cNvSpPr/>
          <p:nvPr/>
        </p:nvSpPr>
        <p:spPr>
          <a:xfrm>
            <a:off x="6507328" y="2011680"/>
            <a:ext cx="274320" cy="274320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bld2_2388"/>
          <p:cNvSpPr txBox="1"/>
          <p:nvPr/>
        </p:nvSpPr>
        <p:spPr>
          <a:xfrm>
            <a:off x="6918808" y="2002536"/>
            <a:ext cx="444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commercial rose base</a:t>
            </a:r>
            <a:endParaRPr lang="en-US" sz="1800" dirty="0"/>
          </a:p>
        </p:txBody>
      </p:sp>
      <p:sp>
        <p:nvSpPr>
          <p:cNvPr id="16" name="bld2_2389"/>
          <p:cNvSpPr txBox="1"/>
          <p:nvPr/>
        </p:nvSpPr>
        <p:spPr>
          <a:xfrm>
            <a:off x="6644488" y="256032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like Rose Givco arrives with the rose body already built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starting point — you modify it, rather than construct from zero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shaping with modifiers before it reads as a finished accord</a:t>
            </a:r>
            <a:endParaRPr lang="en-US" sz="1300" dirty="0"/>
          </a:p>
        </p:txBody>
      </p:sp>
      <p:sp>
        <p:nvSpPr>
          <p:cNvPr id="17" name="bld2_2390"/>
          <p:cNvSpPr/>
          <p:nvPr/>
        </p:nvSpPr>
        <p:spPr>
          <a:xfrm>
            <a:off x="10829239" y="5586984"/>
            <a:ext cx="621792" cy="621792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8" name="bld2_2391"/>
          <p:cNvSpPr/>
          <p:nvPr/>
        </p:nvSpPr>
        <p:spPr>
          <a:xfrm rot="8100000">
            <a:off x="11021263" y="5779008"/>
            <a:ext cx="237744" cy="237744"/>
          </a:xfrm>
          <a:prstGeom prst="teardrop">
            <a:avLst/>
          </a:prstGeom>
          <a:solidFill>
            <a:srgbClr val="5B3A52">
              <a:alpha val="92000"/>
            </a:srgbClr>
          </a:solidFill>
          <a:ln/>
        </p:spPr>
      </p:sp>
      <p:sp>
        <p:nvSpPr>
          <p:cNvPr id="20" name="trans_wipe_l_15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— SANDALWOOD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Creamy, milky, woody — one facet at a time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>
            <a:off x="2603297" y="3151937"/>
            <a:ext cx="1925726" cy="1925726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9" name="Shape 7"/>
          <p:cNvSpPr/>
          <p:nvPr/>
        </p:nvSpPr>
        <p:spPr>
          <a:xfrm>
            <a:off x="3084728" y="3633368"/>
            <a:ext cx="962863" cy="96286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450616" y="3999256"/>
            <a:ext cx="231087" cy="231087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1" name="Shape 9"/>
          <p:cNvSpPr/>
          <p:nvPr/>
        </p:nvSpPr>
        <p:spPr>
          <a:xfrm>
            <a:off x="2331720" y="2880360"/>
            <a:ext cx="2468880" cy="2468880"/>
          </a:xfrm>
          <a:prstGeom prst="ellipse">
            <a:avLst/>
          </a:prstGeom>
          <a:ln w="36576">
            <a:solidFill>
              <a:srgbClr val="8A633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03120" y="5513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spc="200" kern="0" dirty="0">
                <a:solidFill>
                  <a:srgbClr val="5C4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</a:t>
            </a:r>
            <a:endParaRPr lang="en-US" sz="1350" dirty="0"/>
          </a:p>
        </p:txBody>
      </p:sp>
      <p:sp>
        <p:nvSpPr>
          <p:cNvPr id="13" name="bld1_2392"/>
          <p:cNvSpPr/>
          <p:nvPr/>
        </p:nvSpPr>
        <p:spPr>
          <a:xfrm flipV="1">
            <a:off x="4627778" y="2148840"/>
            <a:ext cx="2977104" cy="196596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25512" y="1581912"/>
            <a:ext cx="1133856" cy="113385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50236" y="1706636"/>
            <a:ext cx="884408" cy="88440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7871338" y="1927738"/>
            <a:ext cx="442204" cy="442204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039376" y="2095776"/>
            <a:ext cx="106129" cy="10612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8" name="Shape 16"/>
          <p:cNvSpPr/>
          <p:nvPr/>
        </p:nvSpPr>
        <p:spPr>
          <a:xfrm>
            <a:off x="7525512" y="1581912"/>
            <a:ext cx="1133856" cy="113385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9" name="bld1_2394"/>
          <p:cNvSpPr txBox="1"/>
          <p:nvPr/>
        </p:nvSpPr>
        <p:spPr>
          <a:xfrm>
            <a:off x="8796528" y="19751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Creamy body</a:t>
            </a:r>
            <a:endParaRPr lang="en-US" sz="1350" dirty="0"/>
          </a:p>
        </p:txBody>
      </p:sp>
      <p:sp>
        <p:nvSpPr>
          <p:cNvPr id="20" name="bld2_2395"/>
          <p:cNvSpPr/>
          <p:nvPr/>
        </p:nvSpPr>
        <p:spPr>
          <a:xfrm flipV="1">
            <a:off x="4627778" y="3520440"/>
            <a:ext cx="2977104" cy="594360"/>
          </a:xfrm>
          <a:prstGeom prst="line">
            <a:avLst/>
          </a:prstGeom>
          <a:noFill/>
          <a:ln w="19050">
            <a:solidFill>
              <a:srgbClr val="AFA495">
                <a:alpha val="75000"/>
              </a:srgbClr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7525512" y="2953512"/>
            <a:ext cx="1133856" cy="1133856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22" name="Shape 20"/>
          <p:cNvSpPr/>
          <p:nvPr/>
        </p:nvSpPr>
        <p:spPr>
          <a:xfrm>
            <a:off x="7685612" y="3246274"/>
            <a:ext cx="813655" cy="54833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2953512"/>
            <a:ext cx="1133856" cy="1133856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24" name="bld2_2397"/>
          <p:cNvSpPr txBox="1"/>
          <p:nvPr/>
        </p:nvSpPr>
        <p:spPr>
          <a:xfrm>
            <a:off x="8796528" y="33467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Milky softness</a:t>
            </a:r>
            <a:endParaRPr lang="en-US" sz="1350" dirty="0"/>
          </a:p>
        </p:txBody>
      </p:sp>
      <p:sp>
        <p:nvSpPr>
          <p:cNvPr id="25" name="bld3_2398"/>
          <p:cNvSpPr/>
          <p:nvPr/>
        </p:nvSpPr>
        <p:spPr>
          <a:xfrm>
            <a:off x="4627778" y="4114800"/>
            <a:ext cx="2977104" cy="777240"/>
          </a:xfrm>
          <a:prstGeom prst="line">
            <a:avLst/>
          </a:prstGeom>
          <a:noFill/>
          <a:ln w="19050">
            <a:solidFill>
              <a:srgbClr val="8A6339">
                <a:alpha val="75000"/>
              </a:srgbClr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7525512" y="4325112"/>
            <a:ext cx="1133856" cy="113385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7" name="Shape 25"/>
          <p:cNvSpPr/>
          <p:nvPr/>
        </p:nvSpPr>
        <p:spPr>
          <a:xfrm>
            <a:off x="7650236" y="4449836"/>
            <a:ext cx="884408" cy="88440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797637" y="4597237"/>
            <a:ext cx="589605" cy="589605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29" name="Shape 27"/>
          <p:cNvSpPr/>
          <p:nvPr/>
        </p:nvSpPr>
        <p:spPr>
          <a:xfrm>
            <a:off x="7945039" y="4744639"/>
            <a:ext cx="294803" cy="29480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039376" y="4838976"/>
            <a:ext cx="106129" cy="10612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1" name="Shape 29"/>
          <p:cNvSpPr/>
          <p:nvPr/>
        </p:nvSpPr>
        <p:spPr>
          <a:xfrm>
            <a:off x="7525512" y="4325112"/>
            <a:ext cx="1133856" cy="113385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2" name="bld3_2400"/>
          <p:cNvSpPr txBox="1"/>
          <p:nvPr/>
        </p:nvSpPr>
        <p:spPr>
          <a:xfrm>
            <a:off x="8796528" y="47183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structure</a:t>
            </a:r>
            <a:endParaRPr lang="en-US" sz="1350" dirty="0"/>
          </a:p>
        </p:txBody>
      </p:sp>
      <p:sp>
        <p:nvSpPr>
          <p:cNvPr id="33" name="bld4_2401"/>
          <p:cNvSpPr/>
          <p:nvPr/>
        </p:nvSpPr>
        <p:spPr>
          <a:xfrm>
            <a:off x="4627778" y="4114800"/>
            <a:ext cx="2977104" cy="2148840"/>
          </a:xfrm>
          <a:prstGeom prst="line">
            <a:avLst/>
          </a:prstGeom>
          <a:noFill/>
          <a:ln w="19050">
            <a:solidFill>
              <a:srgbClr val="8A5A2E">
                <a:alpha val="75000"/>
              </a:srgbClr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7525512" y="5696712"/>
            <a:ext cx="1133856" cy="1133856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5" name="Shape 33"/>
          <p:cNvSpPr/>
          <p:nvPr/>
        </p:nvSpPr>
        <p:spPr>
          <a:xfrm rot="840000">
            <a:off x="7986311" y="5843546"/>
            <a:ext cx="212258" cy="840187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 rot="840000">
            <a:off x="8086954" y="5945253"/>
            <a:ext cx="914" cy="636774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92944" y="5969574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8" name="Shape 36"/>
          <p:cNvSpPr/>
          <p:nvPr/>
        </p:nvSpPr>
        <p:spPr>
          <a:xfrm>
            <a:off x="8024783" y="6079241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9" name="Shape 37"/>
          <p:cNvSpPr/>
          <p:nvPr/>
        </p:nvSpPr>
        <p:spPr>
          <a:xfrm>
            <a:off x="8056621" y="6188908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0" name="Shape 38"/>
          <p:cNvSpPr/>
          <p:nvPr/>
        </p:nvSpPr>
        <p:spPr>
          <a:xfrm>
            <a:off x="8088460" y="6298574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1" name="Shape 39"/>
          <p:cNvSpPr/>
          <p:nvPr/>
        </p:nvSpPr>
        <p:spPr>
          <a:xfrm>
            <a:off x="8120299" y="6408241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2" name="Shape 40"/>
          <p:cNvSpPr/>
          <p:nvPr/>
        </p:nvSpPr>
        <p:spPr>
          <a:xfrm>
            <a:off x="8152138" y="6517907"/>
            <a:ext cx="39798" cy="39798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43" name="Shape 41"/>
          <p:cNvSpPr/>
          <p:nvPr/>
        </p:nvSpPr>
        <p:spPr>
          <a:xfrm>
            <a:off x="7525512" y="5696712"/>
            <a:ext cx="1133856" cy="1133856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4" name="bld4_2403"/>
          <p:cNvSpPr txBox="1"/>
          <p:nvPr/>
        </p:nvSpPr>
        <p:spPr>
          <a:xfrm>
            <a:off x="8796528" y="6089904"/>
            <a:ext cx="284652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Warmth</a:t>
            </a:r>
            <a:endParaRPr lang="en-US" sz="1350" dirty="0"/>
          </a:p>
        </p:txBody>
      </p:sp>
      <p:sp>
        <p:nvSpPr>
          <p:cNvPr id="46" name="trans_push_l_15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7" name="Text 4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9" grpId="0"/>
      <p:bldP spid="20" grpId="0"/>
      <p:bldP spid="24" grpId="0"/>
      <p:bldP spid="25" grpId="0"/>
      <p:bldP spid="32" grpId="0"/>
      <p:bldP spid="33" grpId="0"/>
      <p:bldP spid="44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SANDALWOOD, IN DEPTH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Sandalwood — structure and how to modify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67085" y="2217949"/>
            <a:ext cx="1961245" cy="1961245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7396" y="2708260"/>
            <a:ext cx="980623" cy="980623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430033" y="3080896"/>
            <a:ext cx="235349" cy="235349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90499" y="1941363"/>
            <a:ext cx="2514417" cy="2514417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four facets, four different directions depending on what you push.</a:t>
            </a:r>
            <a:endParaRPr lang="en-US" sz="1050" dirty="0"/>
          </a:p>
        </p:txBody>
      </p:sp>
      <p:sp>
        <p:nvSpPr>
          <p:cNvPr id="16" name="bld1_240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7" name="bld1_240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Approximate roles, not fixed percentages</a:t>
            </a:r>
            <a:endParaRPr lang="en-US" sz="1650" dirty="0"/>
          </a:p>
        </p:txBody>
      </p:sp>
      <p:sp>
        <p:nvSpPr>
          <p:cNvPr id="18" name="bld1_2406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Creamy body (natural sandalwood or Javanol) is the anchor; milky softness, woody structure and warmth sit around it in smaller amounts.</a:t>
            </a:r>
            <a:endParaRPr lang="en-US" sz="1250" dirty="0"/>
          </a:p>
        </p:txBody>
      </p:sp>
      <p:sp>
        <p:nvSpPr>
          <p:cNvPr id="19" name="bld2_2407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2408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the creamy body → richer, more indulgent</a:t>
            </a:r>
            <a:endParaRPr lang="en-US" sz="1650" dirty="0"/>
          </a:p>
        </p:txBody>
      </p:sp>
      <p:sp>
        <p:nvSpPr>
          <p:cNvPr id="21" name="bld2_2409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Javanol or natural sandalwood makes the accord thicker and more luxurious — but can start to feel heavy.</a:t>
            </a:r>
            <a:endParaRPr lang="en-US" sz="1250" dirty="0"/>
          </a:p>
        </p:txBody>
      </p:sp>
      <p:sp>
        <p:nvSpPr>
          <p:cNvPr id="22" name="bld3_2410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3_2411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woody structure → drier, sharper</a:t>
            </a:r>
            <a:endParaRPr lang="en-US" sz="1650" dirty="0"/>
          </a:p>
        </p:txBody>
      </p:sp>
      <p:sp>
        <p:nvSpPr>
          <p:cNvPr id="24" name="bld3_2412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cedarwood cuts the creaminess and gives the accord a drier, more structured edge.</a:t>
            </a:r>
            <a:endParaRPr lang="en-US" sz="1250" dirty="0"/>
          </a:p>
        </p:txBody>
      </p:sp>
      <p:sp>
        <p:nvSpPr>
          <p:cNvPr id="25" name="bld4_241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6" name="bld4_2414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warmth → sweeter, cosier</a:t>
            </a:r>
            <a:endParaRPr lang="en-US" sz="1650" dirty="0"/>
          </a:p>
        </p:txBody>
      </p:sp>
      <p:sp>
        <p:nvSpPr>
          <p:cNvPr id="27" name="bld4_2415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vanillin pulls the whole accord toward gourmand territory.</a:t>
            </a:r>
            <a:endParaRPr lang="en-US" sz="1250" dirty="0"/>
          </a:p>
        </p:txBody>
      </p:sp>
      <p:sp>
        <p:nvSpPr>
          <p:cNvPr id="29" name="trans_fade_15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0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BASES &amp; SPECIALITIES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you buy vs. accords you build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8477" y="2329929"/>
            <a:ext cx="1045998" cy="1045998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8359226" y="2460679"/>
            <a:ext cx="784498" cy="784498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489976" y="2591429"/>
            <a:ext cx="522999" cy="522999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14" name="Shape 12"/>
          <p:cNvSpPr/>
          <p:nvPr/>
        </p:nvSpPr>
        <p:spPr>
          <a:xfrm>
            <a:off x="8620726" y="2722178"/>
            <a:ext cx="261499" cy="261499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8716" y="2790168"/>
            <a:ext cx="125520" cy="12552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0964" y="2182417"/>
            <a:ext cx="1341022" cy="134102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18" name="Shape 16"/>
          <p:cNvSpPr/>
          <p:nvPr/>
        </p:nvSpPr>
        <p:spPr>
          <a:xfrm>
            <a:off x="9915081" y="2465909"/>
            <a:ext cx="857718" cy="857718"/>
          </a:xfrm>
          <a:prstGeom prst="ellipse">
            <a:avLst/>
          </a:prstGeom>
          <a:solidFill>
            <a:srgbClr val="C79BD9">
              <a:alpha val="9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38453" y="2444989"/>
            <a:ext cx="914" cy="146440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2000000">
            <a:off x="10362228" y="2403149"/>
            <a:ext cx="198740" cy="135980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673428" y="2182417"/>
            <a:ext cx="1341022" cy="134102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03.2 covers commercial bases like Rose Givco in full — this is the same idea, different names.</a:t>
            </a:r>
            <a:endParaRPr lang="en-US" sz="1050" dirty="0"/>
          </a:p>
        </p:txBody>
      </p:sp>
      <p:sp>
        <p:nvSpPr>
          <p:cNvPr id="23" name="bld1_241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1_241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pre-composed by a supplier</a:t>
            </a:r>
            <a:endParaRPr lang="en-US" sz="1650" dirty="0"/>
          </a:p>
        </p:txBody>
      </p:sp>
      <p:sp>
        <p:nvSpPr>
          <p:cNvPr id="25" name="bld1_2418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base or speciality is bought ready-made and used like a single complex raw material — you don't build it yourself.</a:t>
            </a:r>
            <a:endParaRPr lang="en-US" sz="1250" dirty="0"/>
          </a:p>
        </p:txBody>
      </p:sp>
      <p:sp>
        <p:nvSpPr>
          <p:cNvPr id="26" name="bld2_2419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7" name="bld2_2420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and consistency, less control</a:t>
            </a:r>
            <a:endParaRPr lang="en-US" sz="1650" dirty="0"/>
          </a:p>
        </p:txBody>
      </p:sp>
      <p:sp>
        <p:nvSpPr>
          <p:cNvPr id="28" name="bld2_2421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saves real time and always reads the same batch to batch — but you have less say over each individual facet than building an accord from scratch.</a:t>
            </a:r>
            <a:endParaRPr lang="en-US" sz="1250" dirty="0"/>
          </a:p>
        </p:txBody>
      </p:sp>
      <p:sp>
        <p:nvSpPr>
          <p:cNvPr id="29" name="bld3_2422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bld3_2423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knowing by name</a:t>
            </a:r>
            <a:endParaRPr lang="en-US" sz="1650" dirty="0"/>
          </a:p>
        </p:txBody>
      </p:sp>
      <p:sp>
        <p:nvSpPr>
          <p:cNvPr id="31" name="bld3_2424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Agar (oud-style, smoky-woody-animalic complexity), Cassis Base (tart, blackcurrant-bud character) and Suederal (soft, napped-suede texture) are all real commercial specialities used as single ingredients inside larger perfumes.</a:t>
            </a:r>
            <a:endParaRPr lang="en-US" sz="1250" dirty="0"/>
          </a:p>
        </p:txBody>
      </p:sp>
      <p:sp>
        <p:nvSpPr>
          <p:cNvPr id="33" name="trans_fade_15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4" name="Text 3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TO TRY AT HOME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more accords worth building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9019" y="4703499"/>
            <a:ext cx="1217671" cy="1217671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34672" y="5179152"/>
            <a:ext cx="266365" cy="26636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0515" y="5064995"/>
            <a:ext cx="494679" cy="494679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6358" y="4950839"/>
            <a:ext cx="722992" cy="722992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4" name="bld1_2425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293199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18" name="bld1_2427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</a:t>
            </a:r>
            <a:endParaRPr lang="en-US" sz="1450" dirty="0"/>
          </a:p>
        </p:txBody>
      </p:sp>
      <p:sp>
        <p:nvSpPr>
          <p:cNvPr id="19" name="bld1_2428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as the clean base, softened with ethylene brassylate for skin-warmth.</a:t>
            </a:r>
            <a:endParaRPr lang="en-US" sz="1080" dirty="0"/>
          </a:p>
        </p:txBody>
      </p:sp>
      <p:sp>
        <p:nvSpPr>
          <p:cNvPr id="20" name="bld2_2429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22" name="Shape 20"/>
          <p:cNvSpPr/>
          <p:nvPr/>
        </p:nvSpPr>
        <p:spPr>
          <a:xfrm rot="840000">
            <a:off x="3757288" y="2483145"/>
            <a:ext cx="136941" cy="542056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840000">
            <a:off x="3820272" y="2548762"/>
            <a:ext cx="914" cy="410822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1567" y="2564453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5" name="Shape 23"/>
          <p:cNvSpPr/>
          <p:nvPr/>
        </p:nvSpPr>
        <p:spPr>
          <a:xfrm>
            <a:off x="3782108" y="2635206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6" name="Shape 24"/>
          <p:cNvSpPr/>
          <p:nvPr/>
        </p:nvSpPr>
        <p:spPr>
          <a:xfrm>
            <a:off x="3802649" y="2705958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7" name="Shape 25"/>
          <p:cNvSpPr/>
          <p:nvPr/>
        </p:nvSpPr>
        <p:spPr>
          <a:xfrm>
            <a:off x="3823191" y="2776711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3732" y="2847464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29" name="Shape 27"/>
          <p:cNvSpPr/>
          <p:nvPr/>
        </p:nvSpPr>
        <p:spPr>
          <a:xfrm>
            <a:off x="3864273" y="2918216"/>
            <a:ext cx="25676" cy="25676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30" name="Shape 28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31" name="bld2_2431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</a:t>
            </a:r>
            <a:endParaRPr lang="en-US" sz="1450" dirty="0"/>
          </a:p>
        </p:txBody>
      </p:sp>
      <p:sp>
        <p:nvSpPr>
          <p:cNvPr id="32" name="bld2_2432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as the core, softened with coumarin, rounded with a trace of benzoin.</a:t>
            </a:r>
            <a:endParaRPr lang="en-US" sz="1080" dirty="0"/>
          </a:p>
        </p:txBody>
      </p:sp>
      <p:sp>
        <p:nvSpPr>
          <p:cNvPr id="33" name="bld3_2433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5" name="Shape 33"/>
          <p:cNvSpPr/>
          <p:nvPr/>
        </p:nvSpPr>
        <p:spPr>
          <a:xfrm>
            <a:off x="5810555" y="2468880"/>
            <a:ext cx="570586" cy="570586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05652" y="2563978"/>
            <a:ext cx="380390" cy="380390"/>
          </a:xfrm>
          <a:prstGeom prst="donut">
            <a:avLst/>
          </a:prstGeom>
          <a:solidFill>
            <a:srgbClr val="BE9A66"/>
          </a:solidFill>
          <a:ln/>
        </p:spPr>
      </p:sp>
      <p:sp>
        <p:nvSpPr>
          <p:cNvPr id="37" name="Shape 35"/>
          <p:cNvSpPr/>
          <p:nvPr/>
        </p:nvSpPr>
        <p:spPr>
          <a:xfrm>
            <a:off x="6000750" y="2659075"/>
            <a:ext cx="190195" cy="190195"/>
          </a:xfrm>
          <a:prstGeom prst="donut">
            <a:avLst/>
          </a:prstGeom>
          <a:solidFill>
            <a:srgbClr val="8A6339">
              <a:alpha val="9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061612" y="2719938"/>
            <a:ext cx="68470" cy="68470"/>
          </a:xfrm>
          <a:prstGeom prst="ellipse">
            <a:avLst/>
          </a:prstGeom>
          <a:solidFill>
            <a:srgbClr val="8A6339"/>
          </a:solidFill>
          <a:ln/>
        </p:spPr>
      </p:sp>
      <p:sp>
        <p:nvSpPr>
          <p:cNvPr id="39" name="Shape 37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0" name="bld3_2435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Woods</a:t>
            </a:r>
            <a:endParaRPr lang="en-US" sz="1450" dirty="0"/>
          </a:p>
        </p:txBody>
      </p:sp>
      <p:sp>
        <p:nvSpPr>
          <p:cNvPr id="41" name="bld3_2436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for volume, sandalwood for cream, cedarwood for dry structure.</a:t>
            </a:r>
            <a:endParaRPr lang="en-US" sz="1080" dirty="0"/>
          </a:p>
        </p:txBody>
      </p:sp>
      <p:sp>
        <p:nvSpPr>
          <p:cNvPr id="42" name="bld4_2437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44" name="Shape 42"/>
          <p:cNvSpPr/>
          <p:nvPr/>
        </p:nvSpPr>
        <p:spPr>
          <a:xfrm rot="15300000">
            <a:off x="8172762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13050000">
            <a:off x="8226258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0800000">
            <a:off x="8317437" y="2754173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8550000">
            <a:off x="8408617" y="2723222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6300000">
            <a:off x="8462112" y="2643160"/>
            <a:ext cx="97000" cy="29955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50" name="bld4_2439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Fresh-cut grass</a:t>
            </a:r>
            <a:endParaRPr lang="en-US" sz="1450" dirty="0"/>
          </a:p>
        </p:txBody>
      </p:sp>
      <p:sp>
        <p:nvSpPr>
          <p:cNvPr id="51" name="bld4_2440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Cis-3-hexenol for the cut-leaf bite, stemone for green freshness.</a:t>
            </a:r>
            <a:endParaRPr lang="en-US" sz="1080" dirty="0"/>
          </a:p>
        </p:txBody>
      </p:sp>
      <p:sp>
        <p:nvSpPr>
          <p:cNvPr id="52" name="bld5_2441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02086" y="2543056"/>
            <a:ext cx="467880" cy="467880"/>
          </a:xfrm>
          <a:prstGeom prst="ellipse">
            <a:avLst/>
          </a:prstGeom>
          <a:solidFill>
            <a:srgbClr val="E8A85E">
              <a:alpha val="96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0630540" y="2531644"/>
            <a:ext cx="914" cy="79882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2000000">
            <a:off x="10654314" y="2508821"/>
            <a:ext cx="108411" cy="74176"/>
          </a:xfrm>
          <a:prstGeom prst="teardrop">
            <a:avLst/>
          </a:prstGeom>
          <a:solidFill>
            <a:srgbClr val="5C8A45">
              <a:alpha val="94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58" name="bld5_2443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Fruity</a:t>
            </a:r>
            <a:endParaRPr lang="en-US" sz="1450" dirty="0"/>
          </a:p>
        </p:txBody>
      </p:sp>
      <p:sp>
        <p:nvSpPr>
          <p:cNvPr id="59" name="bld5_2444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undecalactone for peach, ethyl butyrate for a sharp juicy top.</a:t>
            </a:r>
            <a:endParaRPr lang="en-US" sz="1080" dirty="0"/>
          </a:p>
        </p:txBody>
      </p:sp>
      <p:sp>
        <p:nvSpPr>
          <p:cNvPr id="61" name="trans_fade_15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2" name="Text 5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8" grpId="0"/>
      <p:bldP spid="19" grpId="0"/>
      <p:bldP spid="20" grpId="0"/>
      <p:bldP spid="31" grpId="0"/>
      <p:bldP spid="32" grpId="0"/>
      <p:bldP spid="33" grpId="0"/>
      <p:bldP spid="40" grpId="0"/>
      <p:bldP spid="41" grpId="0"/>
      <p:bldP spid="42" grpId="0"/>
      <p:bldP spid="50" grpId="0"/>
      <p:bldP spid="51" grpId="0"/>
      <p:bldP spid="52" grpId="0"/>
      <p:bldP spid="58" grpId="0"/>
      <p:bldP spid="59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6E7A50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6E7A50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6E7A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 formulas are starting structures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build upon — not finished perfumes.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100" dirty="0"/>
          </a:p>
        </p:txBody>
      </p:sp>
      <p:sp>
        <p:nvSpPr>
          <p:cNvPr id="10" name="trans_fade_15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METHOD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Jean Carles method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09569" y="2549073"/>
            <a:ext cx="838139" cy="838139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547708" y="2549073"/>
            <a:ext cx="838139" cy="838139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systematic, repeatable way to explore a relationship between materials.</a:t>
            </a:r>
            <a:endParaRPr lang="en-US" sz="1050" dirty="0"/>
          </a:p>
        </p:txBody>
      </p:sp>
      <p:sp>
        <p:nvSpPr>
          <p:cNvPr id="13" name="bld1_244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4" name="bld1_244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two materials, A and B</a:t>
            </a:r>
            <a:endParaRPr lang="en-US" sz="1650" dirty="0"/>
          </a:p>
        </p:txBody>
      </p:sp>
      <p:sp>
        <p:nvSpPr>
          <p:cNvPr id="15" name="bld1_244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just two — nothing more — so you can see their interaction clearly.</a:t>
            </a:r>
            <a:endParaRPr lang="en-US" sz="1250" dirty="0"/>
          </a:p>
        </p:txBody>
      </p:sp>
      <p:sp>
        <p:nvSpPr>
          <p:cNvPr id="16" name="bld2_244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2_244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ratios methodically</a:t>
            </a:r>
            <a:endParaRPr lang="en-US" sz="1650" dirty="0"/>
          </a:p>
        </p:txBody>
      </p:sp>
      <p:sp>
        <p:nvSpPr>
          <p:cNvPr id="18" name="bld2_245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them at different proportions and evaluate each one on its own strip.</a:t>
            </a:r>
            <a:endParaRPr lang="en-US" sz="1250" dirty="0"/>
          </a:p>
        </p:txBody>
      </p:sp>
      <p:sp>
        <p:nvSpPr>
          <p:cNvPr id="19" name="bld3_245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45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how they behave together</a:t>
            </a:r>
            <a:endParaRPr lang="en-US" sz="1650" dirty="0"/>
          </a:p>
        </p:txBody>
      </p:sp>
      <p:sp>
        <p:nvSpPr>
          <p:cNvPr id="21" name="bld3_245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mapping the relationship between A and B before adding any complexity.</a:t>
            </a:r>
            <a:endParaRPr lang="en-US" sz="1250" dirty="0"/>
          </a:p>
        </p:txBody>
      </p:sp>
      <p:sp>
        <p:nvSpPr>
          <p:cNvPr id="23" name="trans_fade_15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EXPERIMENTS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: B, explored step by step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3333" y="4405431"/>
            <a:ext cx="1504264" cy="1504264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4857" y="5046956"/>
            <a:ext cx="221215" cy="221215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2454"/>
          <p:cNvSpPr/>
          <p:nvPr/>
        </p:nvSpPr>
        <p:spPr>
          <a:xfrm>
            <a:off x="548640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2455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2456"/>
          <p:cNvSpPr txBox="1"/>
          <p:nvPr/>
        </p:nvSpPr>
        <p:spPr>
          <a:xfrm>
            <a:off x="731520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: 10</a:t>
            </a:r>
            <a:endParaRPr lang="en-US" sz="1450" dirty="0"/>
          </a:p>
        </p:txBody>
      </p:sp>
      <p:sp>
        <p:nvSpPr>
          <p:cNvPr id="13" name="bld1_2457"/>
          <p:cNvSpPr txBox="1"/>
          <p:nvPr/>
        </p:nvSpPr>
        <p:spPr>
          <a:xfrm>
            <a:off x="731520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entirely A</a:t>
            </a:r>
            <a:endParaRPr lang="en-US" sz="1080" dirty="0"/>
          </a:p>
        </p:txBody>
      </p:sp>
      <p:sp>
        <p:nvSpPr>
          <p:cNvPr id="14" name="bld2_2458"/>
          <p:cNvSpPr/>
          <p:nvPr/>
        </p:nvSpPr>
        <p:spPr>
          <a:xfrm>
            <a:off x="281872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2459"/>
          <p:cNvSpPr/>
          <p:nvPr/>
        </p:nvSpPr>
        <p:spPr>
          <a:xfrm>
            <a:off x="2992465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2_2460"/>
          <p:cNvSpPr txBox="1"/>
          <p:nvPr/>
        </p:nvSpPr>
        <p:spPr>
          <a:xfrm>
            <a:off x="300160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: 20</a:t>
            </a:r>
            <a:endParaRPr lang="en-US" sz="1450" dirty="0"/>
          </a:p>
        </p:txBody>
      </p:sp>
      <p:sp>
        <p:nvSpPr>
          <p:cNvPr id="17" name="bld2_2461"/>
          <p:cNvSpPr txBox="1"/>
          <p:nvPr/>
        </p:nvSpPr>
        <p:spPr>
          <a:xfrm>
            <a:off x="300160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 lean</a:t>
            </a:r>
            <a:endParaRPr lang="en-US" sz="1080" dirty="0"/>
          </a:p>
        </p:txBody>
      </p:sp>
      <p:sp>
        <p:nvSpPr>
          <p:cNvPr id="18" name="bld3_2462"/>
          <p:cNvSpPr/>
          <p:nvPr/>
        </p:nvSpPr>
        <p:spPr>
          <a:xfrm>
            <a:off x="5088819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2463"/>
          <p:cNvSpPr/>
          <p:nvPr/>
        </p:nvSpPr>
        <p:spPr>
          <a:xfrm>
            <a:off x="5262555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2464"/>
          <p:cNvSpPr txBox="1"/>
          <p:nvPr/>
        </p:nvSpPr>
        <p:spPr>
          <a:xfrm>
            <a:off x="5271699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: 30</a:t>
            </a:r>
            <a:endParaRPr lang="en-US" sz="1450" dirty="0"/>
          </a:p>
        </p:txBody>
      </p:sp>
      <p:sp>
        <p:nvSpPr>
          <p:cNvPr id="21" name="bld3_2465"/>
          <p:cNvSpPr txBox="1"/>
          <p:nvPr/>
        </p:nvSpPr>
        <p:spPr>
          <a:xfrm>
            <a:off x="5271699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dominant</a:t>
            </a:r>
            <a:endParaRPr lang="en-US" sz="1080" dirty="0"/>
          </a:p>
        </p:txBody>
      </p:sp>
      <p:sp>
        <p:nvSpPr>
          <p:cNvPr id="22" name="bld4_2466"/>
          <p:cNvSpPr/>
          <p:nvPr/>
        </p:nvSpPr>
        <p:spPr>
          <a:xfrm>
            <a:off x="735890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467"/>
          <p:cNvSpPr/>
          <p:nvPr/>
        </p:nvSpPr>
        <p:spPr>
          <a:xfrm>
            <a:off x="7532644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4_2468"/>
          <p:cNvSpPr txBox="1"/>
          <p:nvPr/>
        </p:nvSpPr>
        <p:spPr>
          <a:xfrm>
            <a:off x="754178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: 40</a:t>
            </a:r>
            <a:endParaRPr lang="en-US" sz="1450" dirty="0"/>
          </a:p>
        </p:txBody>
      </p:sp>
      <p:sp>
        <p:nvSpPr>
          <p:cNvPr id="25" name="bld4_2469"/>
          <p:cNvSpPr txBox="1"/>
          <p:nvPr/>
        </p:nvSpPr>
        <p:spPr>
          <a:xfrm>
            <a:off x="754178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</a:t>
            </a:r>
            <a:endParaRPr lang="en-US" sz="1080" dirty="0"/>
          </a:p>
        </p:txBody>
      </p:sp>
      <p:sp>
        <p:nvSpPr>
          <p:cNvPr id="26" name="bld5_2470"/>
          <p:cNvSpPr/>
          <p:nvPr/>
        </p:nvSpPr>
        <p:spPr>
          <a:xfrm>
            <a:off x="9628998" y="2330806"/>
            <a:ext cx="2014057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bld5_2471"/>
          <p:cNvSpPr/>
          <p:nvPr/>
        </p:nvSpPr>
        <p:spPr>
          <a:xfrm>
            <a:off x="9802734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5_2472"/>
          <p:cNvSpPr txBox="1"/>
          <p:nvPr/>
        </p:nvSpPr>
        <p:spPr>
          <a:xfrm>
            <a:off x="9811878" y="2788006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: 50</a:t>
            </a:r>
            <a:endParaRPr lang="en-US" sz="1450" dirty="0"/>
          </a:p>
        </p:txBody>
      </p:sp>
      <p:sp>
        <p:nvSpPr>
          <p:cNvPr id="29" name="bld5_2473"/>
          <p:cNvSpPr txBox="1"/>
          <p:nvPr/>
        </p:nvSpPr>
        <p:spPr>
          <a:xfrm>
            <a:off x="9811878" y="3117190"/>
            <a:ext cx="1648297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midpoint</a:t>
            </a:r>
            <a:endParaRPr lang="en-US" sz="1080" dirty="0"/>
          </a:p>
        </p:txBody>
      </p:sp>
      <p:sp>
        <p:nvSpPr>
          <p:cNvPr id="31" name="trans_fade_15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AN ACCORD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ACCORDS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accord development loop</a:t>
            </a:r>
            <a:endParaRPr lang="en-US" sz="3200" dirty="0"/>
          </a:p>
        </p:txBody>
      </p:sp>
      <p:sp>
        <p:nvSpPr>
          <p:cNvPr id="7" name="bld1_2474"/>
          <p:cNvSpPr/>
          <p:nvPr/>
        </p:nvSpPr>
        <p:spPr>
          <a:xfrm>
            <a:off x="548640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475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476"/>
          <p:cNvSpPr txBox="1"/>
          <p:nvPr/>
        </p:nvSpPr>
        <p:spPr>
          <a:xfrm>
            <a:off x="713232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1</a:t>
            </a:r>
            <a:endParaRPr lang="en-US" sz="1450" dirty="0"/>
          </a:p>
        </p:txBody>
      </p:sp>
      <p:sp>
        <p:nvSpPr>
          <p:cNvPr id="10" name="bld1_2477"/>
          <p:cNvSpPr txBox="1"/>
          <p:nvPr/>
        </p:nvSpPr>
        <p:spPr>
          <a:xfrm>
            <a:off x="713232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pass at the accord.</a:t>
            </a:r>
            <a:endParaRPr lang="en-US" sz="1000" dirty="0"/>
          </a:p>
        </p:txBody>
      </p:sp>
      <p:sp>
        <p:nvSpPr>
          <p:cNvPr id="11" name="bld1_2478"/>
          <p:cNvSpPr txBox="1"/>
          <p:nvPr/>
        </p:nvSpPr>
        <p:spPr>
          <a:xfrm>
            <a:off x="251149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479"/>
          <p:cNvSpPr/>
          <p:nvPr/>
        </p:nvSpPr>
        <p:spPr>
          <a:xfrm>
            <a:off x="2831531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480"/>
          <p:cNvSpPr txBox="1"/>
          <p:nvPr/>
        </p:nvSpPr>
        <p:spPr>
          <a:xfrm>
            <a:off x="299612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481"/>
          <p:cNvSpPr txBox="1"/>
          <p:nvPr/>
        </p:nvSpPr>
        <p:spPr>
          <a:xfrm>
            <a:off x="2996123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it</a:t>
            </a:r>
            <a:endParaRPr lang="en-US" sz="1450" dirty="0"/>
          </a:p>
        </p:txBody>
      </p:sp>
      <p:sp>
        <p:nvSpPr>
          <p:cNvPr id="15" name="bld2_2482"/>
          <p:cNvSpPr txBox="1"/>
          <p:nvPr/>
        </p:nvSpPr>
        <p:spPr>
          <a:xfrm>
            <a:off x="2996123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a fresh scent strip.</a:t>
            </a:r>
            <a:endParaRPr lang="en-US" sz="1000" dirty="0"/>
          </a:p>
        </p:txBody>
      </p:sp>
      <p:sp>
        <p:nvSpPr>
          <p:cNvPr id="16" name="bld2_2483"/>
          <p:cNvSpPr txBox="1"/>
          <p:nvPr/>
        </p:nvSpPr>
        <p:spPr>
          <a:xfrm>
            <a:off x="47943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484"/>
          <p:cNvSpPr/>
          <p:nvPr/>
        </p:nvSpPr>
        <p:spPr>
          <a:xfrm>
            <a:off x="5114422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485"/>
          <p:cNvSpPr txBox="1"/>
          <p:nvPr/>
        </p:nvSpPr>
        <p:spPr>
          <a:xfrm>
            <a:off x="52790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486"/>
          <p:cNvSpPr txBox="1"/>
          <p:nvPr/>
        </p:nvSpPr>
        <p:spPr>
          <a:xfrm>
            <a:off x="5279014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problem</a:t>
            </a:r>
            <a:endParaRPr lang="en-US" sz="1450" dirty="0"/>
          </a:p>
        </p:txBody>
      </p:sp>
      <p:sp>
        <p:nvSpPr>
          <p:cNvPr id="20" name="bld3_2487"/>
          <p:cNvSpPr txBox="1"/>
          <p:nvPr/>
        </p:nvSpPr>
        <p:spPr>
          <a:xfrm>
            <a:off x="5279014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missing, dominant, or off?</a:t>
            </a:r>
            <a:endParaRPr lang="en-US" sz="1000" dirty="0"/>
          </a:p>
        </p:txBody>
      </p:sp>
      <p:sp>
        <p:nvSpPr>
          <p:cNvPr id="21" name="bld3_2488"/>
          <p:cNvSpPr txBox="1"/>
          <p:nvPr/>
        </p:nvSpPr>
        <p:spPr>
          <a:xfrm>
            <a:off x="70772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489"/>
          <p:cNvSpPr/>
          <p:nvPr/>
        </p:nvSpPr>
        <p:spPr>
          <a:xfrm>
            <a:off x="7397313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490"/>
          <p:cNvSpPr txBox="1"/>
          <p:nvPr/>
        </p:nvSpPr>
        <p:spPr>
          <a:xfrm>
            <a:off x="75619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491"/>
          <p:cNvSpPr txBox="1"/>
          <p:nvPr/>
        </p:nvSpPr>
        <p:spPr>
          <a:xfrm>
            <a:off x="7561905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</a:t>
            </a:r>
            <a:endParaRPr lang="en-US" sz="1450" dirty="0"/>
          </a:p>
        </p:txBody>
      </p:sp>
      <p:sp>
        <p:nvSpPr>
          <p:cNvPr id="25" name="bld4_2492"/>
          <p:cNvSpPr txBox="1"/>
          <p:nvPr/>
        </p:nvSpPr>
        <p:spPr>
          <a:xfrm>
            <a:off x="7561905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a single material or ratio.</a:t>
            </a:r>
            <a:endParaRPr lang="en-US" sz="1000" dirty="0"/>
          </a:p>
        </p:txBody>
      </p:sp>
      <p:sp>
        <p:nvSpPr>
          <p:cNvPr id="26" name="bld4_2493"/>
          <p:cNvSpPr txBox="1"/>
          <p:nvPr/>
        </p:nvSpPr>
        <p:spPr>
          <a:xfrm>
            <a:off x="936016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494"/>
          <p:cNvSpPr/>
          <p:nvPr/>
        </p:nvSpPr>
        <p:spPr>
          <a:xfrm>
            <a:off x="9680204" y="2922422"/>
            <a:ext cx="1962851" cy="2148840"/>
          </a:xfrm>
          <a:prstGeom prst="roundRect">
            <a:avLst>
              <a:gd name="adj" fmla="val 4659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495"/>
          <p:cNvSpPr txBox="1"/>
          <p:nvPr/>
        </p:nvSpPr>
        <p:spPr>
          <a:xfrm>
            <a:off x="984479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496"/>
          <p:cNvSpPr txBox="1"/>
          <p:nvPr/>
        </p:nvSpPr>
        <p:spPr>
          <a:xfrm>
            <a:off x="9844796" y="3452774"/>
            <a:ext cx="163366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Smell again</a:t>
            </a:r>
            <a:endParaRPr lang="en-US" sz="1450" dirty="0"/>
          </a:p>
        </p:txBody>
      </p:sp>
      <p:sp>
        <p:nvSpPr>
          <p:cNvPr id="30" name="bld5_2497"/>
          <p:cNvSpPr txBox="1"/>
          <p:nvPr/>
        </p:nvSpPr>
        <p:spPr>
          <a:xfrm>
            <a:off x="9844796" y="3946550"/>
            <a:ext cx="163366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accord reads true.</a:t>
            </a:r>
            <a:endParaRPr lang="en-US" sz="1000" dirty="0"/>
          </a:p>
        </p:txBody>
      </p:sp>
      <p:sp>
        <p:nvSpPr>
          <p:cNvPr id="32" name="trans_push_l_15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1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one variable at a time. Change three,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you'll never know which one mattered.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06</a:t>
            </a:r>
            <a:endParaRPr lang="en-US" sz="1100" dirty="0"/>
          </a:p>
        </p:txBody>
      </p:sp>
      <p:sp>
        <p:nvSpPr>
          <p:cNvPr id="10" name="trans_fade_15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1702" y="2053742"/>
            <a:ext cx="2750515" cy="2750515"/>
          </a:xfrm>
          <a:prstGeom prst="ellipse">
            <a:avLst/>
          </a:prstGeom>
          <a:solidFill>
            <a:srgbClr val="5B3A52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6122" y="3128162"/>
            <a:ext cx="601675" cy="601675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08262" y="2870302"/>
            <a:ext cx="1117397" cy="1117397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50401" y="2612441"/>
            <a:ext cx="1633118" cy="1633118"/>
          </a:xfrm>
          <a:prstGeom prst="ellipse">
            <a:avLst/>
          </a:prstGeom>
          <a:ln w="10973">
            <a:solidFill>
              <a:srgbClr val="5B3A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FORMULA CONSTRUCTION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Accords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Full Formula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individual materials and accords come together into a complete, structured perfume.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formula's anatomy, from idea to base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eight-step process for building a full perfume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 worked formulas, plus a professional-style deep dive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3" name="trans_fade_16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has the same basic anatomy</a:t>
            </a:r>
            <a:endParaRPr lang="en-US" sz="3200" dirty="0"/>
          </a:p>
        </p:txBody>
      </p:sp>
      <p:sp>
        <p:nvSpPr>
          <p:cNvPr id="7" name="bld1_2498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499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500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idea</a:t>
            </a:r>
            <a:endParaRPr lang="en-US" sz="1450" dirty="0"/>
          </a:p>
        </p:txBody>
      </p:sp>
      <p:sp>
        <p:nvSpPr>
          <p:cNvPr id="10" name="bld1_2501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concept the whole formula serves.</a:t>
            </a:r>
            <a:endParaRPr lang="en-US" sz="1080" dirty="0"/>
          </a:p>
        </p:txBody>
      </p:sp>
      <p:sp>
        <p:nvSpPr>
          <p:cNvPr id="11" name="bld2_2502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503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504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accord</a:t>
            </a:r>
            <a:endParaRPr lang="en-US" sz="1450" dirty="0"/>
          </a:p>
        </p:txBody>
      </p:sp>
      <p:sp>
        <p:nvSpPr>
          <p:cNvPr id="14" name="bld2_2505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that carries the main idea.</a:t>
            </a:r>
            <a:endParaRPr lang="en-US" sz="1080" dirty="0"/>
          </a:p>
        </p:txBody>
      </p:sp>
      <p:sp>
        <p:nvSpPr>
          <p:cNvPr id="15" name="bld3_2506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507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508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450" dirty="0"/>
          </a:p>
        </p:txBody>
      </p:sp>
      <p:sp>
        <p:nvSpPr>
          <p:cNvPr id="18" name="bld3_2509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adjustments that shape character.</a:t>
            </a:r>
            <a:endParaRPr lang="en-US" sz="1080" dirty="0"/>
          </a:p>
        </p:txBody>
      </p:sp>
      <p:sp>
        <p:nvSpPr>
          <p:cNvPr id="19" name="bld4_2510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511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512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materials</a:t>
            </a:r>
            <a:endParaRPr lang="en-US" sz="1450" dirty="0"/>
          </a:p>
        </p:txBody>
      </p:sp>
      <p:sp>
        <p:nvSpPr>
          <p:cNvPr id="22" name="bld4_2513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the formula project and spread.</a:t>
            </a:r>
            <a:endParaRPr lang="en-US" sz="1080" dirty="0"/>
          </a:p>
        </p:txBody>
      </p:sp>
      <p:sp>
        <p:nvSpPr>
          <p:cNvPr id="23" name="bld5_2514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515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2516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structure</a:t>
            </a:r>
            <a:endParaRPr lang="en-US" sz="1450" dirty="0"/>
          </a:p>
        </p:txBody>
      </p:sp>
      <p:sp>
        <p:nvSpPr>
          <p:cNvPr id="26" name="bld5_2517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that anchors the drydown.</a:t>
            </a:r>
            <a:endParaRPr lang="en-US" sz="1080" dirty="0"/>
          </a:p>
        </p:txBody>
      </p:sp>
      <p:sp>
        <p:nvSpPr>
          <p:cNvPr id="27" name="bld6_2518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519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520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materials</a:t>
            </a:r>
            <a:endParaRPr lang="en-US" sz="1450" dirty="0"/>
          </a:p>
        </p:txBody>
      </p:sp>
      <p:sp>
        <p:nvSpPr>
          <p:cNvPr id="30" name="bld6_2521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doses with outsized influence.</a:t>
            </a:r>
            <a:endParaRPr lang="en-US" sz="1080" dirty="0"/>
          </a:p>
        </p:txBody>
      </p:sp>
      <p:sp>
        <p:nvSpPr>
          <p:cNvPr id="32" name="trans_fade_16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starts as a sentence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682748" y="2103183"/>
            <a:ext cx="1729919" cy="1729919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2" name="Shape 10"/>
          <p:cNvSpPr/>
          <p:nvPr/>
        </p:nvSpPr>
        <p:spPr>
          <a:xfrm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27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54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81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08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35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62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8900000">
            <a:off x="9497419" y="2163529"/>
            <a:ext cx="100577" cy="78449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447131" y="2867566"/>
            <a:ext cx="201153" cy="201153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sentence, broken into buildable pieces.</a:t>
            </a:r>
            <a:endParaRPr lang="en-US" sz="1050" dirty="0"/>
          </a:p>
        </p:txBody>
      </p:sp>
      <p:sp>
        <p:nvSpPr>
          <p:cNvPr id="22" name="bld1_252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3" name="bld1_252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"Cold mineral citrus with smoky woods"</a:t>
            </a:r>
            <a:endParaRPr lang="en-US" sz="1650" dirty="0"/>
          </a:p>
        </p:txBody>
      </p:sp>
      <p:sp>
        <p:nvSpPr>
          <p:cNvPr id="24" name="bld1_252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starting idea — vivid, specific, and evocative rather than technical.</a:t>
            </a:r>
            <a:endParaRPr lang="en-US" sz="1250" dirty="0"/>
          </a:p>
        </p:txBody>
      </p:sp>
      <p:sp>
        <p:nvSpPr>
          <p:cNvPr id="25" name="bld2_252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6" name="bld2_252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into olfactory components</a:t>
            </a:r>
            <a:endParaRPr lang="en-US" sz="1650" dirty="0"/>
          </a:p>
        </p:txBody>
      </p:sp>
      <p:sp>
        <p:nvSpPr>
          <p:cNvPr id="27" name="bld2_252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mineral. Citrus. Smoky. Woods. Four distinct pieces to build separately.</a:t>
            </a:r>
            <a:endParaRPr lang="en-US" sz="1250" dirty="0"/>
          </a:p>
        </p:txBody>
      </p:sp>
      <p:sp>
        <p:nvSpPr>
          <p:cNvPr id="28" name="bld3_252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9" name="bld3_252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piece becomes its own accord</a:t>
            </a:r>
            <a:endParaRPr lang="en-US" sz="1650" dirty="0"/>
          </a:p>
        </p:txBody>
      </p:sp>
      <p:sp>
        <p:nvSpPr>
          <p:cNvPr id="30" name="bld3_253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construct a small accord for each component, then combine them.</a:t>
            </a:r>
            <a:endParaRPr lang="en-US" sz="1250" dirty="0"/>
          </a:p>
        </p:txBody>
      </p:sp>
      <p:sp>
        <p:nvSpPr>
          <p:cNvPr id="32" name="trans_fade_16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 THE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 combine into a fragrance</a:t>
            </a:r>
            <a:endParaRPr lang="en-US" sz="3200" dirty="0"/>
          </a:p>
        </p:txBody>
      </p:sp>
      <p:sp>
        <p:nvSpPr>
          <p:cNvPr id="7" name="bld1_2531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532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533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Citrus accord</a:t>
            </a:r>
            <a:endParaRPr lang="en-US" sz="1450" dirty="0"/>
          </a:p>
        </p:txBody>
      </p:sp>
      <p:sp>
        <p:nvSpPr>
          <p:cNvPr id="10" name="bld1_2534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cold, bright opening.</a:t>
            </a:r>
            <a:endParaRPr lang="en-US" sz="1000" dirty="0"/>
          </a:p>
        </p:txBody>
      </p:sp>
      <p:sp>
        <p:nvSpPr>
          <p:cNvPr id="11" name="bld1_2535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536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537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538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accord</a:t>
            </a:r>
            <a:endParaRPr lang="en-US" sz="1450" dirty="0"/>
          </a:p>
        </p:txBody>
      </p:sp>
      <p:sp>
        <p:nvSpPr>
          <p:cNvPr id="15" name="bld2_2539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cool, stony transparency.</a:t>
            </a:r>
            <a:endParaRPr lang="en-US" sz="1000" dirty="0"/>
          </a:p>
        </p:txBody>
      </p:sp>
      <p:sp>
        <p:nvSpPr>
          <p:cNvPr id="16" name="bld2_2540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541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542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543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Woody base</a:t>
            </a:r>
            <a:endParaRPr lang="en-US" sz="1450" dirty="0"/>
          </a:p>
        </p:txBody>
      </p:sp>
      <p:sp>
        <p:nvSpPr>
          <p:cNvPr id="20" name="bld3_2544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dry, structural foundation.</a:t>
            </a:r>
            <a:endParaRPr lang="en-US" sz="1000" dirty="0"/>
          </a:p>
        </p:txBody>
      </p:sp>
      <p:sp>
        <p:nvSpPr>
          <p:cNvPr id="21" name="bld3_2545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546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547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548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Musk structure</a:t>
            </a:r>
            <a:endParaRPr lang="en-US" sz="1450" dirty="0"/>
          </a:p>
        </p:txBody>
      </p:sp>
      <p:sp>
        <p:nvSpPr>
          <p:cNvPr id="25" name="bld4_2549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skin-like glue holding it together.</a:t>
            </a:r>
            <a:endParaRPr lang="en-US" sz="1000" dirty="0"/>
          </a:p>
        </p:txBody>
      </p:sp>
      <p:sp>
        <p:nvSpPr>
          <p:cNvPr id="27" name="trans_push_l_16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METHOD, BIGGER SCALE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Jean Carles at the formula level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2429" y="2758608"/>
            <a:ext cx="419070" cy="419070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9592" y="2758608"/>
            <a:ext cx="419070" cy="419070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9526754" y="2758608"/>
            <a:ext cx="419070" cy="419070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Shape 11"/>
          <p:cNvSpPr/>
          <p:nvPr/>
        </p:nvSpPr>
        <p:spPr>
          <a:xfrm>
            <a:off x="9903917" y="2758608"/>
            <a:ext cx="419070" cy="419070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systematic ratio testing, scaled from materials to full accords.</a:t>
            </a:r>
            <a:endParaRPr lang="en-US" sz="1050" dirty="0"/>
          </a:p>
        </p:txBody>
      </p:sp>
      <p:sp>
        <p:nvSpPr>
          <p:cNvPr id="15" name="bld1_255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1_255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accord-to-accord ratios</a:t>
            </a:r>
            <a:endParaRPr lang="en-US" sz="1650" dirty="0"/>
          </a:p>
        </p:txBody>
      </p:sp>
      <p:sp>
        <p:nvSpPr>
          <p:cNvPr id="17" name="bld1_255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each accord exists individually, blend pairs of them systematically, just like material A:B testing.</a:t>
            </a:r>
            <a:endParaRPr lang="en-US" sz="1250" dirty="0"/>
          </a:p>
        </p:txBody>
      </p:sp>
      <p:sp>
        <p:nvSpPr>
          <p:cNvPr id="18" name="bld2_255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9" name="bld2_255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right balance point</a:t>
            </a:r>
            <a:endParaRPr lang="en-US" sz="1650" dirty="0"/>
          </a:p>
        </p:txBody>
      </p:sp>
      <p:sp>
        <p:nvSpPr>
          <p:cNvPr id="20" name="bld2_255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citrus and the woods disappear; too much wood and the opening feels dull.</a:t>
            </a:r>
            <a:endParaRPr lang="en-US" sz="1250" dirty="0"/>
          </a:p>
        </p:txBody>
      </p:sp>
      <p:sp>
        <p:nvSpPr>
          <p:cNvPr id="21" name="bld3_255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3_255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up, don't dump in</a:t>
            </a:r>
            <a:endParaRPr lang="en-US" sz="1650" dirty="0"/>
          </a:p>
        </p:txBody>
      </p:sp>
      <p:sp>
        <p:nvSpPr>
          <p:cNvPr id="23" name="bld3_255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accord at a time, evaluating after each addition — never combine everything at once.</a:t>
            </a:r>
            <a:endParaRPr lang="en-US" sz="1250" dirty="0"/>
          </a:p>
        </p:txBody>
      </p:sp>
      <p:sp>
        <p:nvSpPr>
          <p:cNvPr id="25" name="trans_fade_16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6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formula must total 100%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percentages of every formula always sum to 100%.</a:t>
            </a:r>
            <a:endParaRPr lang="en-US" sz="1050" dirty="0"/>
          </a:p>
        </p:txBody>
      </p:sp>
      <p:sp>
        <p:nvSpPr>
          <p:cNvPr id="13" name="bld1_255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1_256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gets a percentage</a:t>
            </a:r>
            <a:endParaRPr lang="en-US" sz="1650" dirty="0"/>
          </a:p>
        </p:txBody>
      </p:sp>
      <p:sp>
        <p:nvSpPr>
          <p:cNvPr id="15" name="bld1_256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total concentrate, before dilution — every material's share must be tracked.</a:t>
            </a:r>
            <a:endParaRPr lang="en-US" sz="1250" dirty="0"/>
          </a:p>
        </p:txBody>
      </p:sp>
      <p:sp>
        <p:nvSpPr>
          <p:cNvPr id="16" name="bld2_256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256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percentages always sum to 100</a:t>
            </a:r>
            <a:endParaRPr lang="en-US" sz="1650" dirty="0"/>
          </a:p>
        </p:txBody>
      </p:sp>
      <p:sp>
        <p:nvSpPr>
          <p:cNvPr id="18" name="bld2_256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optional — it's how you know your formula sheet is complete and correct.</a:t>
            </a:r>
            <a:endParaRPr lang="en-US" sz="1250" dirty="0"/>
          </a:p>
        </p:txBody>
      </p:sp>
      <p:sp>
        <p:nvSpPr>
          <p:cNvPr id="19" name="bld3_256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3_256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makes this effortless</a:t>
            </a:r>
            <a:endParaRPr lang="en-US" sz="1650" dirty="0"/>
          </a:p>
        </p:txBody>
      </p:sp>
      <p:sp>
        <p:nvSpPr>
          <p:cNvPr id="21" name="bld3_256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spreadsheet with a running total column catches errors instantly.</a:t>
            </a:r>
            <a:endParaRPr lang="en-US" sz="1250" dirty="0"/>
          </a:p>
        </p:txBody>
      </p:sp>
      <p:sp>
        <p:nvSpPr>
          <p:cNvPr id="23" name="trans_fade_16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CRAFT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a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83848" y="2590980"/>
            <a:ext cx="754325" cy="754325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9547708" y="2381445"/>
            <a:ext cx="1173395" cy="1173395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loud material balanced against a larger, quiet one — not equal size, equal impact.</a:t>
            </a:r>
            <a:endParaRPr lang="en-US" sz="1050" dirty="0"/>
          </a:p>
        </p:txBody>
      </p:sp>
      <p:sp>
        <p:nvSpPr>
          <p:cNvPr id="13" name="bld1_256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256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Contrast, not sameness</a:t>
            </a:r>
            <a:endParaRPr lang="en-US" sz="1650" dirty="0"/>
          </a:p>
        </p:txBody>
      </p:sp>
      <p:sp>
        <p:nvSpPr>
          <p:cNvPr id="15" name="bld1_257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opposing textures — a bright citrus against heavy woods, a sharp green against a soft musk. Contrast is what keeps a formula interesting.</a:t>
            </a:r>
            <a:endParaRPr lang="en-US" sz="1250" dirty="0"/>
          </a:p>
        </p:txBody>
      </p:sp>
      <p:sp>
        <p:nvSpPr>
          <p:cNvPr id="16" name="bld2_257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257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volume to intention</a:t>
            </a:r>
            <a:endParaRPr lang="en-US" sz="1650" dirty="0"/>
          </a:p>
        </p:txBody>
      </p:sp>
      <p:sp>
        <p:nvSpPr>
          <p:cNvPr id="18" name="bld2_257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loud, diffusive material earns a small percentage; a quiet fixative can carry a much larger share without overwhelming anything.</a:t>
            </a:r>
            <a:endParaRPr lang="en-US" sz="1250" dirty="0"/>
          </a:p>
        </p:txBody>
      </p:sp>
      <p:sp>
        <p:nvSpPr>
          <p:cNvPr id="19" name="bld3_257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0" name="bld3_257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diffusive and fixative roles deliberately</a:t>
            </a:r>
            <a:endParaRPr lang="en-US" sz="1650" dirty="0"/>
          </a:p>
        </p:txBody>
      </p:sp>
      <p:sp>
        <p:nvSpPr>
          <p:cNvPr id="21" name="bld3_257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Diffusive materials (Hedione, citrus) carry the formula outward; fixatives (musks, resins, heavy woods) slow evaporation and anchor the base. Every formula needs both.</a:t>
            </a:r>
            <a:endParaRPr lang="en-US" sz="1250" dirty="0"/>
          </a:p>
        </p:txBody>
      </p:sp>
      <p:sp>
        <p:nvSpPr>
          <p:cNvPr id="22" name="bld4_257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3" name="bld4_257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around one central idea</a:t>
            </a:r>
            <a:endParaRPr lang="en-US" sz="1650" dirty="0"/>
          </a:p>
        </p:txBody>
      </p:sp>
      <p:sp>
        <p:nvSpPr>
          <p:cNvPr id="24" name="bld4_257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should serve the one-sentence idea from the previous slide — if it doesn't, it's a candidate for removal.</a:t>
            </a:r>
            <a:endParaRPr lang="en-US" sz="1250" dirty="0"/>
          </a:p>
        </p:txBody>
      </p:sp>
      <p:sp>
        <p:nvSpPr>
          <p:cNvPr id="26" name="trans_fade_16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FORMULA IS MADE OF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you've learned, in one equation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8" name="Shape 6"/>
          <p:cNvSpPr/>
          <p:nvPr/>
        </p:nvSpPr>
        <p:spPr>
          <a:xfrm flipV="1">
            <a:off x="1143000" y="3574653"/>
            <a:ext cx="289501" cy="12866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32501" y="3574653"/>
            <a:ext cx="289501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432501" y="3735487"/>
            <a:ext cx="289501" cy="2573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9999" y="3992821"/>
            <a:ext cx="482501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49999" y="3703320"/>
            <a:ext cx="193001" cy="28950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66" y="3542486"/>
            <a:ext cx="353834" cy="16083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533" y="3651853"/>
            <a:ext cx="102934" cy="10293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95509" y="3537661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85010" y="3698495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95509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008" y="3955829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2174" y="3505494"/>
            <a:ext cx="73984" cy="73984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" y="2953512"/>
            <a:ext cx="1499616" cy="1499616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1" name="bld1_2581"/>
          <p:cNvSpPr txBox="1"/>
          <p:nvPr/>
        </p:nvSpPr>
        <p:spPr>
          <a:xfrm>
            <a:off x="3845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</a:t>
            </a:r>
            <a:endParaRPr lang="en-US" sz="1250" dirty="0"/>
          </a:p>
        </p:txBody>
      </p:sp>
      <p:sp>
        <p:nvSpPr>
          <p:cNvPr id="22" name="bld2_2582"/>
          <p:cNvSpPr txBox="1"/>
          <p:nvPr/>
        </p:nvSpPr>
        <p:spPr>
          <a:xfrm>
            <a:off x="1938528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3211" y="3113791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4320000">
            <a:off x="3741868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8640000">
            <a:off x="3639250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12960000">
            <a:off x="3307172" y="3624807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17280000">
            <a:off x="3204554" y="3308982"/>
            <a:ext cx="292425" cy="614093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79060" y="3562956"/>
            <a:ext cx="280728" cy="280728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0" name="Shape 28"/>
          <p:cNvSpPr/>
          <p:nvPr/>
        </p:nvSpPr>
        <p:spPr>
          <a:xfrm>
            <a:off x="2869616" y="2953512"/>
            <a:ext cx="1499616" cy="1499616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1" name="bld2_2584"/>
          <p:cNvSpPr txBox="1"/>
          <p:nvPr/>
        </p:nvSpPr>
        <p:spPr>
          <a:xfrm>
            <a:off x="2480269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</a:t>
            </a:r>
            <a:endParaRPr lang="en-US" sz="1250" dirty="0"/>
          </a:p>
        </p:txBody>
      </p:sp>
      <p:sp>
        <p:nvSpPr>
          <p:cNvPr id="32" name="bld3_2585"/>
          <p:cNvSpPr txBox="1"/>
          <p:nvPr/>
        </p:nvSpPr>
        <p:spPr>
          <a:xfrm>
            <a:off x="4414952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34" name="Shape 32"/>
          <p:cNvSpPr/>
          <p:nvPr/>
        </p:nvSpPr>
        <p:spPr>
          <a:xfrm>
            <a:off x="6044381" y="3293925"/>
            <a:ext cx="102934" cy="2292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1908" y="3457683"/>
            <a:ext cx="467880" cy="655032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36768" y="3719696"/>
            <a:ext cx="318159" cy="376644"/>
          </a:xfrm>
          <a:prstGeom prst="triangle">
            <a:avLst/>
          </a:prstGeom>
          <a:solidFill>
            <a:srgbClr val="5C8A45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46040" y="2953512"/>
            <a:ext cx="1499616" cy="1499616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38" name="bld3_2587"/>
          <p:cNvSpPr txBox="1"/>
          <p:nvPr/>
        </p:nvSpPr>
        <p:spPr>
          <a:xfrm>
            <a:off x="4956693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</a:t>
            </a:r>
            <a:endParaRPr lang="en-US" sz="1250" dirty="0"/>
          </a:p>
        </p:txBody>
      </p:sp>
      <p:sp>
        <p:nvSpPr>
          <p:cNvPr id="39" name="bld4_2588"/>
          <p:cNvSpPr txBox="1"/>
          <p:nvPr/>
        </p:nvSpPr>
        <p:spPr>
          <a:xfrm>
            <a:off x="6891376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 rot="8100000">
            <a:off x="8279846" y="3410895"/>
            <a:ext cx="584850" cy="584850"/>
          </a:xfrm>
          <a:prstGeom prst="teardrop">
            <a:avLst/>
          </a:prstGeom>
          <a:solidFill>
            <a:srgbClr val="C1752F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822463" y="2953512"/>
            <a:ext cx="1499616" cy="1499616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3" name="bld4_2590"/>
          <p:cNvSpPr txBox="1"/>
          <p:nvPr/>
        </p:nvSpPr>
        <p:spPr>
          <a:xfrm>
            <a:off x="7433116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Modifiers</a:t>
            </a:r>
            <a:endParaRPr lang="en-US" sz="1250" dirty="0"/>
          </a:p>
        </p:txBody>
      </p:sp>
      <p:sp>
        <p:nvSpPr>
          <p:cNvPr id="44" name="bld5_2591"/>
          <p:cNvSpPr txBox="1"/>
          <p:nvPr/>
        </p:nvSpPr>
        <p:spPr>
          <a:xfrm>
            <a:off x="9367799" y="3410712"/>
            <a:ext cx="885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C7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88432" y="3223743"/>
            <a:ext cx="120526" cy="95915"/>
          </a:xfrm>
          <a:prstGeom prst="roundRect">
            <a:avLst>
              <a:gd name="adj" fmla="val 38134"/>
            </a:avLst>
          </a:prstGeom>
          <a:solidFill>
            <a:srgbClr val="0E0D0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96293" y="3319658"/>
            <a:ext cx="104805" cy="153465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61543" y="3473123"/>
            <a:ext cx="374304" cy="709774"/>
          </a:xfrm>
          <a:prstGeom prst="roundRect">
            <a:avLst>
              <a:gd name="adj" fmla="val 29315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98119" y="3792521"/>
            <a:ext cx="301152" cy="353800"/>
          </a:xfrm>
          <a:prstGeom prst="roundRect">
            <a:avLst>
              <a:gd name="adj" fmla="val 30363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298887" y="2953512"/>
            <a:ext cx="1499616" cy="1499616"/>
          </a:xfrm>
          <a:prstGeom prst="ellipse">
            <a:avLst/>
          </a:prstGeom>
          <a:ln w="41148">
            <a:solidFill>
              <a:srgbClr val="C1752F"/>
            </a:solidFill>
            <a:prstDash val="solid"/>
          </a:ln>
        </p:spPr>
      </p:sp>
      <p:sp>
        <p:nvSpPr>
          <p:cNvPr id="51" name="bld5_2593"/>
          <p:cNvSpPr txBox="1"/>
          <p:nvPr/>
        </p:nvSpPr>
        <p:spPr>
          <a:xfrm>
            <a:off x="9909540" y="4599432"/>
            <a:ext cx="22783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Perfume</a:t>
            </a:r>
            <a:endParaRPr lang="en-US" sz="1500" dirty="0"/>
          </a:p>
        </p:txBody>
      </p:sp>
      <p:sp>
        <p:nvSpPr>
          <p:cNvPr id="53" name="trans_push_l_16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4" name="Text 5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31" grpId="0"/>
      <p:bldP spid="32" grpId="0"/>
      <p:bldP spid="38" grpId="0"/>
      <p:bldP spid="39" grpId="0"/>
      <p:bldP spid="43" grpId="0"/>
      <p:bldP spid="44" grpId="0"/>
      <p:bldP spid="51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is a starting point, not a finished formula.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Rose Givco doesn't mean the work is done.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MAJOR LESSON</a:t>
            </a:r>
            <a:endParaRPr lang="en-US" sz="1100" dirty="0"/>
          </a:p>
        </p:txBody>
      </p:sp>
      <p:sp>
        <p:nvSpPr>
          <p:cNvPr id="10" name="trans_fade_16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BASE GET BUILT 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rose base, four different directions</a:t>
            </a:r>
            <a:endParaRPr lang="en-US" sz="3200" dirty="0"/>
          </a:p>
        </p:txBody>
      </p:sp>
      <p:sp>
        <p:nvSpPr>
          <p:cNvPr id="7" name="bld1_2594"/>
          <p:cNvSpPr txBox="1"/>
          <p:nvPr/>
        </p:nvSpPr>
        <p:spPr>
          <a:xfrm>
            <a:off x="1901419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30885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9" name="Shape 7"/>
          <p:cNvSpPr/>
          <p:nvPr/>
        </p:nvSpPr>
        <p:spPr>
          <a:xfrm>
            <a:off x="1060442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4320000">
            <a:off x="1296145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8640000">
            <a:off x="1206115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2960000">
            <a:off x="914770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7280000">
            <a:off x="824739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5573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885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6" name="bld1_2596"/>
          <p:cNvSpPr txBox="1"/>
          <p:nvPr/>
        </p:nvSpPr>
        <p:spPr>
          <a:xfrm>
            <a:off x="416585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 BASE</a:t>
            </a:r>
            <a:endParaRPr lang="en-US" sz="1400" dirty="0"/>
          </a:p>
        </p:txBody>
      </p:sp>
      <p:sp>
        <p:nvSpPr>
          <p:cNvPr id="17" name="bld2_2597"/>
          <p:cNvSpPr txBox="1"/>
          <p:nvPr/>
        </p:nvSpPr>
        <p:spPr>
          <a:xfrm>
            <a:off x="3537128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166595" y="3136925"/>
            <a:ext cx="1315669" cy="1315669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19" name="Shape 17"/>
          <p:cNvSpPr/>
          <p:nvPr/>
        </p:nvSpPr>
        <p:spPr>
          <a:xfrm rot="15300000">
            <a:off x="2476996" y="3595098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13050000">
            <a:off x="2573210" y="3739093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10800000">
            <a:off x="2737200" y="3794760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8550000">
            <a:off x="2901190" y="3739093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6300000">
            <a:off x="2997405" y="3595098"/>
            <a:ext cx="174458" cy="538767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66595" y="3136925"/>
            <a:ext cx="1315669" cy="1315669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25" name="bld2_2599"/>
          <p:cNvSpPr txBox="1"/>
          <p:nvPr/>
        </p:nvSpPr>
        <p:spPr>
          <a:xfrm>
            <a:off x="2052295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GREEN</a:t>
            </a:r>
            <a:endParaRPr lang="en-US" sz="1400" dirty="0"/>
          </a:p>
        </p:txBody>
      </p:sp>
      <p:sp>
        <p:nvSpPr>
          <p:cNvPr id="26" name="bld3_2600"/>
          <p:cNvSpPr txBox="1"/>
          <p:nvPr/>
        </p:nvSpPr>
        <p:spPr>
          <a:xfrm>
            <a:off x="5172837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802304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8" name="Shape 26"/>
          <p:cNvSpPr/>
          <p:nvPr/>
        </p:nvSpPr>
        <p:spPr>
          <a:xfrm>
            <a:off x="4331861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4320000">
            <a:off x="4567563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640000">
            <a:off x="4477533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2960000">
            <a:off x="4186188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7280000">
            <a:off x="4096158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336992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4" name="Shape 32"/>
          <p:cNvSpPr/>
          <p:nvPr/>
        </p:nvSpPr>
        <p:spPr>
          <a:xfrm>
            <a:off x="3802304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35" name="bld3_2602"/>
          <p:cNvSpPr txBox="1"/>
          <p:nvPr/>
        </p:nvSpPr>
        <p:spPr>
          <a:xfrm>
            <a:off x="3688004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ROSE</a:t>
            </a:r>
            <a:endParaRPr lang="en-US" sz="1400" dirty="0"/>
          </a:p>
        </p:txBody>
      </p:sp>
      <p:sp>
        <p:nvSpPr>
          <p:cNvPr id="36" name="bld4_2603"/>
          <p:cNvSpPr txBox="1"/>
          <p:nvPr/>
        </p:nvSpPr>
        <p:spPr>
          <a:xfrm>
            <a:off x="6808546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38013" y="3136925"/>
            <a:ext cx="1315669" cy="1315669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38" name="Shape 36"/>
          <p:cNvSpPr/>
          <p:nvPr/>
        </p:nvSpPr>
        <p:spPr>
          <a:xfrm>
            <a:off x="5623785" y="3476631"/>
            <a:ext cx="944124" cy="636258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38013" y="3136925"/>
            <a:ext cx="1315669" cy="1315669"/>
          </a:xfrm>
          <a:prstGeom prst="ellipse">
            <a:avLst/>
          </a:prstGeom>
          <a:ln w="25603">
            <a:solidFill>
              <a:srgbClr val="AFA495"/>
            </a:solidFill>
            <a:prstDash val="solid"/>
          </a:ln>
        </p:spPr>
      </p:sp>
      <p:sp>
        <p:nvSpPr>
          <p:cNvPr id="40" name="bld4_2605"/>
          <p:cNvSpPr txBox="1"/>
          <p:nvPr/>
        </p:nvSpPr>
        <p:spPr>
          <a:xfrm>
            <a:off x="5323713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MUSK + HEDIONE</a:t>
            </a:r>
            <a:endParaRPr lang="en-US" sz="1400" dirty="0"/>
          </a:p>
        </p:txBody>
      </p:sp>
      <p:sp>
        <p:nvSpPr>
          <p:cNvPr id="41" name="bld5_2606"/>
          <p:cNvSpPr txBox="1"/>
          <p:nvPr/>
        </p:nvSpPr>
        <p:spPr>
          <a:xfrm>
            <a:off x="8444255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073722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3" name="Shape 41"/>
          <p:cNvSpPr/>
          <p:nvPr/>
        </p:nvSpPr>
        <p:spPr>
          <a:xfrm>
            <a:off x="7603279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 rot="4320000">
            <a:off x="7838982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 rot="8640000">
            <a:off x="7748951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 rot="12960000">
            <a:off x="7457607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17280000">
            <a:off x="7367576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608410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49" name="Shape 47"/>
          <p:cNvSpPr/>
          <p:nvPr/>
        </p:nvSpPr>
        <p:spPr>
          <a:xfrm>
            <a:off x="7073722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0" name="bld5_2608"/>
          <p:cNvSpPr txBox="1"/>
          <p:nvPr/>
        </p:nvSpPr>
        <p:spPr>
          <a:xfrm>
            <a:off x="6959422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MODERN ROSE</a:t>
            </a:r>
            <a:endParaRPr lang="en-US" sz="1400" dirty="0"/>
          </a:p>
        </p:txBody>
      </p:sp>
      <p:sp>
        <p:nvSpPr>
          <p:cNvPr id="51" name="bld6_2609"/>
          <p:cNvSpPr txBox="1"/>
          <p:nvPr/>
        </p:nvSpPr>
        <p:spPr>
          <a:xfrm>
            <a:off x="10079965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8709431" y="3136925"/>
            <a:ext cx="1315669" cy="1315669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3" name="Shape 51"/>
          <p:cNvSpPr/>
          <p:nvPr/>
        </p:nvSpPr>
        <p:spPr>
          <a:xfrm rot="18900000">
            <a:off x="9049137" y="3332960"/>
            <a:ext cx="636258" cy="923600"/>
          </a:xfrm>
          <a:prstGeom prst="teardrop">
            <a:avLst/>
          </a:prstGeom>
          <a:solidFill>
            <a:srgbClr val="8A633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61780" y="3486893"/>
            <a:ext cx="914" cy="564422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09431" y="3136925"/>
            <a:ext cx="1315669" cy="1315669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56" name="bld6_2611"/>
          <p:cNvSpPr txBox="1"/>
          <p:nvPr/>
        </p:nvSpPr>
        <p:spPr>
          <a:xfrm>
            <a:off x="8595131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PATCHOULI + WOODS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0345141" y="3136925"/>
            <a:ext cx="1315669" cy="1315669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58" name="Shape 56"/>
          <p:cNvSpPr/>
          <p:nvPr/>
        </p:nvSpPr>
        <p:spPr>
          <a:xfrm>
            <a:off x="10874697" y="3277544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 rot="4320000">
            <a:off x="11110400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 rot="8640000">
            <a:off x="11020370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 rot="12960000">
            <a:off x="10729025" y="3725878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 rot="17280000">
            <a:off x="10638995" y="3448792"/>
            <a:ext cx="256555" cy="53876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879829" y="3671613"/>
            <a:ext cx="246293" cy="24629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64" name="Shape 62"/>
          <p:cNvSpPr/>
          <p:nvPr/>
        </p:nvSpPr>
        <p:spPr>
          <a:xfrm>
            <a:off x="10345141" y="3136925"/>
            <a:ext cx="1315669" cy="1315669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65" name="bld7_2613"/>
          <p:cNvSpPr txBox="1"/>
          <p:nvPr/>
        </p:nvSpPr>
        <p:spPr>
          <a:xfrm>
            <a:off x="10230841" y="4617187"/>
            <a:ext cx="154426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WOODY ROSE</a:t>
            </a:r>
            <a:endParaRPr lang="en-US" sz="1400" dirty="0"/>
          </a:p>
        </p:txBody>
      </p:sp>
      <p:sp>
        <p:nvSpPr>
          <p:cNvPr id="67" name="trans_push_l_16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8" name="Text 6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6" grpId="0"/>
      <p:bldP spid="17" grpId="0"/>
      <p:bldP spid="25" grpId="0"/>
      <p:bldP spid="26" grpId="0"/>
      <p:bldP spid="35" grpId="0"/>
      <p:bldP spid="36" grpId="0"/>
      <p:bldP spid="40" grpId="0"/>
      <p:bldP spid="41" grpId="0"/>
      <p:bldP spid="50" grpId="0"/>
      <p:bldP spid="51" grpId="0"/>
      <p:bldP spid="56" grpId="0"/>
      <p:bldP spid="65" grpId="0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EFFICIENTLY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personal base library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90499" y="1710934"/>
            <a:ext cx="2514417" cy="2514417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2452" y="2632887"/>
            <a:ext cx="670511" cy="670511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shelf of reliable accords, ready whenever a new idea needs one.</a:t>
            </a:r>
            <a:endParaRPr lang="en-US" sz="1050" dirty="0"/>
          </a:p>
        </p:txBody>
      </p:sp>
      <p:sp>
        <p:nvSpPr>
          <p:cNvPr id="13" name="bld1_261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261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your own reusable accords</a:t>
            </a:r>
            <a:endParaRPr lang="en-US" sz="1650" dirty="0"/>
          </a:p>
        </p:txBody>
      </p:sp>
      <p:sp>
        <p:nvSpPr>
          <p:cNvPr id="15" name="bld1_2616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Rose, amber, musk, sandalwood, citrus, leather, vanilla — build each once, then reach for it in any formula.</a:t>
            </a:r>
            <a:endParaRPr lang="en-US" sz="1250" dirty="0"/>
          </a:p>
        </p:txBody>
      </p:sp>
      <p:sp>
        <p:nvSpPr>
          <p:cNvPr id="16" name="bld2_2617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2_2618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with commercial bases</a:t>
            </a:r>
            <a:endParaRPr lang="en-US" sz="1650" dirty="0"/>
          </a:p>
        </p:txBody>
      </p:sp>
      <p:sp>
        <p:nvSpPr>
          <p:cNvPr id="18" name="bld2_2619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accords sit alongside bases like Rose Givco in the same formula sheet — there's no rule against mixing them.</a:t>
            </a:r>
            <a:endParaRPr lang="en-US" sz="1250" dirty="0"/>
          </a:p>
        </p:txBody>
      </p:sp>
      <p:sp>
        <p:nvSpPr>
          <p:cNvPr id="19" name="bld3_2620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2621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Formulas get faster, not lazier</a:t>
            </a:r>
            <a:endParaRPr lang="en-US" sz="1650" dirty="0"/>
          </a:p>
        </p:txBody>
      </p:sp>
      <p:sp>
        <p:nvSpPr>
          <p:cNvPr id="21" name="bld3_2622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library speeds up construction — it doesn't replace the judgement of balancing and modifying each formula.</a:t>
            </a:r>
            <a:endParaRPr lang="en-US" sz="1250" dirty="0"/>
          </a:p>
        </p:txBody>
      </p:sp>
      <p:sp>
        <p:nvSpPr>
          <p:cNvPr id="23" name="trans_fade_17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PROCESS · 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A Perfume</a:t>
            </a:r>
            <a:endParaRPr lang="en-US" sz="3200" dirty="0"/>
          </a:p>
        </p:txBody>
      </p:sp>
      <p:sp>
        <p:nvSpPr>
          <p:cNvPr id="7" name="bld1_2623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624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625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</a:t>
            </a:r>
            <a:endParaRPr lang="en-US" sz="1450" dirty="0"/>
          </a:p>
        </p:txBody>
      </p:sp>
      <p:sp>
        <p:nvSpPr>
          <p:cNvPr id="10" name="bld1_2626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direction: who it's for, the mood, the occasion, the one thing it needs to do.</a:t>
            </a:r>
            <a:endParaRPr lang="en-US" sz="1000" dirty="0"/>
          </a:p>
        </p:txBody>
      </p:sp>
      <p:sp>
        <p:nvSpPr>
          <p:cNvPr id="11" name="bld1_2627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628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629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630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</a:t>
            </a:r>
            <a:endParaRPr lang="en-US" sz="1450" dirty="0"/>
          </a:p>
        </p:txBody>
      </p:sp>
      <p:sp>
        <p:nvSpPr>
          <p:cNvPr id="15" name="bld2_2631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vivid sentence and a rough palette — the same starting move as building any accord.</a:t>
            </a:r>
            <a:endParaRPr lang="en-US" sz="1000" dirty="0"/>
          </a:p>
        </p:txBody>
      </p:sp>
      <p:sp>
        <p:nvSpPr>
          <p:cNvPr id="16" name="bld2_2632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633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634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635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selection</a:t>
            </a:r>
            <a:endParaRPr lang="en-US" sz="1450" dirty="0"/>
          </a:p>
        </p:txBody>
      </p:sp>
      <p:sp>
        <p:nvSpPr>
          <p:cNvPr id="20" name="bld3_2636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specific materials for each part of the idea, not just families.</a:t>
            </a:r>
            <a:endParaRPr lang="en-US" sz="1000" dirty="0"/>
          </a:p>
        </p:txBody>
      </p:sp>
      <p:sp>
        <p:nvSpPr>
          <p:cNvPr id="21" name="bld3_2637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638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639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640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Accords</a:t>
            </a:r>
            <a:endParaRPr lang="en-US" sz="1450" dirty="0"/>
          </a:p>
        </p:txBody>
      </p:sp>
      <p:sp>
        <p:nvSpPr>
          <p:cNvPr id="25" name="bld4_2641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load-bearing accords separately, tested and balanced, before combining anything.</a:t>
            </a:r>
            <a:endParaRPr lang="en-US" sz="1000" dirty="0"/>
          </a:p>
        </p:txBody>
      </p:sp>
      <p:sp>
        <p:nvSpPr>
          <p:cNvPr id="27" name="trans_push_l_17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PROCESS · 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Build A Perfume</a:t>
            </a:r>
            <a:endParaRPr lang="en-US" sz="3200" dirty="0"/>
          </a:p>
        </p:txBody>
      </p:sp>
      <p:sp>
        <p:nvSpPr>
          <p:cNvPr id="7" name="bld1_2642"/>
          <p:cNvSpPr/>
          <p:nvPr/>
        </p:nvSpPr>
        <p:spPr>
          <a:xfrm>
            <a:off x="548640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643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644"/>
          <p:cNvSpPr txBox="1"/>
          <p:nvPr/>
        </p:nvSpPr>
        <p:spPr>
          <a:xfrm>
            <a:off x="713232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formula</a:t>
            </a:r>
            <a:endParaRPr lang="en-US" sz="1450" dirty="0"/>
          </a:p>
        </p:txBody>
      </p:sp>
      <p:sp>
        <p:nvSpPr>
          <p:cNvPr id="10" name="bld1_2645"/>
          <p:cNvSpPr txBox="1"/>
          <p:nvPr/>
        </p:nvSpPr>
        <p:spPr>
          <a:xfrm>
            <a:off x="713232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 accords with top, heart and base roles in mind — a guide, not a rigid pyramid.</a:t>
            </a:r>
            <a:endParaRPr lang="en-US" sz="1000" dirty="0"/>
          </a:p>
        </p:txBody>
      </p:sp>
      <p:sp>
        <p:nvSpPr>
          <p:cNvPr id="11" name="bld1_2646"/>
          <p:cNvSpPr txBox="1"/>
          <p:nvPr/>
        </p:nvSpPr>
        <p:spPr>
          <a:xfrm>
            <a:off x="3082214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647"/>
          <p:cNvSpPr/>
          <p:nvPr/>
        </p:nvSpPr>
        <p:spPr>
          <a:xfrm>
            <a:off x="3402254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648"/>
          <p:cNvSpPr txBox="1"/>
          <p:nvPr/>
        </p:nvSpPr>
        <p:spPr>
          <a:xfrm>
            <a:off x="3566846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649"/>
          <p:cNvSpPr txBox="1"/>
          <p:nvPr/>
        </p:nvSpPr>
        <p:spPr>
          <a:xfrm>
            <a:off x="3566846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15" name="bld2_2650"/>
          <p:cNvSpPr txBox="1"/>
          <p:nvPr/>
        </p:nvSpPr>
        <p:spPr>
          <a:xfrm>
            <a:off x="3566846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 it properly: diffusion, longevity, sweetness, freshness, balance, and where it turns muddy.</a:t>
            </a:r>
            <a:endParaRPr lang="en-US" sz="1000" dirty="0"/>
          </a:p>
        </p:txBody>
      </p:sp>
      <p:sp>
        <p:nvSpPr>
          <p:cNvPr id="16" name="bld2_2651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652"/>
          <p:cNvSpPr/>
          <p:nvPr/>
        </p:nvSpPr>
        <p:spPr>
          <a:xfrm>
            <a:off x="6255868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653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654"/>
          <p:cNvSpPr txBox="1"/>
          <p:nvPr/>
        </p:nvSpPr>
        <p:spPr>
          <a:xfrm>
            <a:off x="6420460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Modification</a:t>
            </a:r>
            <a:endParaRPr lang="en-US" sz="1450" dirty="0"/>
          </a:p>
        </p:txBody>
      </p:sp>
      <p:sp>
        <p:nvSpPr>
          <p:cNvPr id="20" name="bld3_2655"/>
          <p:cNvSpPr txBox="1"/>
          <p:nvPr/>
        </p:nvSpPr>
        <p:spPr>
          <a:xfrm>
            <a:off x="6420460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at a time — tame powerful materials, boost what's missing, fix what's cloudy.</a:t>
            </a:r>
            <a:endParaRPr lang="en-US" sz="1000" dirty="0"/>
          </a:p>
        </p:txBody>
      </p:sp>
      <p:sp>
        <p:nvSpPr>
          <p:cNvPr id="21" name="bld3_2656"/>
          <p:cNvSpPr txBox="1"/>
          <p:nvPr/>
        </p:nvSpPr>
        <p:spPr>
          <a:xfrm>
            <a:off x="8789441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657"/>
          <p:cNvSpPr/>
          <p:nvPr/>
        </p:nvSpPr>
        <p:spPr>
          <a:xfrm>
            <a:off x="9109481" y="2922422"/>
            <a:ext cx="2533574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5C564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658"/>
          <p:cNvSpPr txBox="1"/>
          <p:nvPr/>
        </p:nvSpPr>
        <p:spPr>
          <a:xfrm>
            <a:off x="9274073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56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659"/>
          <p:cNvSpPr txBox="1"/>
          <p:nvPr/>
        </p:nvSpPr>
        <p:spPr>
          <a:xfrm>
            <a:off x="9274073" y="3452774"/>
            <a:ext cx="22043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formula</a:t>
            </a:r>
            <a:endParaRPr lang="en-US" sz="1450" dirty="0"/>
          </a:p>
        </p:txBody>
      </p:sp>
      <p:sp>
        <p:nvSpPr>
          <p:cNvPr id="25" name="bld4_2660"/>
          <p:cNvSpPr txBox="1"/>
          <p:nvPr/>
        </p:nvSpPr>
        <p:spPr>
          <a:xfrm>
            <a:off x="9274073" y="3946550"/>
            <a:ext cx="22043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it in once evaluation stops turning up new problems — then keep the formula sheet as your record.</a:t>
            </a:r>
            <a:endParaRPr lang="en-US" sz="1000" dirty="0"/>
          </a:p>
        </p:txBody>
      </p:sp>
      <p:sp>
        <p:nvSpPr>
          <p:cNvPr id="27" name="trans_push_l_17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MENTAL MODEL, NOT A RULEBOOK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Top, heart and base — a guide, not a rulebook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77196" y="1030273"/>
            <a:ext cx="1341022" cy="134102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010" y="2381445"/>
            <a:ext cx="1173395" cy="1173395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Shape 10"/>
          <p:cNvSpPr/>
          <p:nvPr/>
        </p:nvSpPr>
        <p:spPr>
          <a:xfrm>
            <a:off x="9044824" y="3732617"/>
            <a:ext cx="1005767" cy="1005767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stages, not three separate rooms.</a:t>
            </a:r>
            <a:endParaRPr lang="en-US" sz="1050" dirty="0"/>
          </a:p>
        </p:txBody>
      </p:sp>
      <p:sp>
        <p:nvSpPr>
          <p:cNvPr id="14" name="bld1_266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5" name="bld1_266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describes evaporation, not layers</a:t>
            </a:r>
            <a:endParaRPr lang="en-US" sz="1650" dirty="0"/>
          </a:p>
        </p:txBody>
      </p:sp>
      <p:sp>
        <p:nvSpPr>
          <p:cNvPr id="16" name="bld1_266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don't literally stack in three floors — they evaporate at different rates, and the pyramid is a way of talking about that.</a:t>
            </a:r>
            <a:endParaRPr lang="en-US" sz="1250" dirty="0"/>
          </a:p>
        </p:txBody>
      </p:sp>
      <p:sp>
        <p:nvSpPr>
          <p:cNvPr id="17" name="bld2_266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bld2_266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planning, not a rigid recipe</a:t>
            </a:r>
            <a:endParaRPr lang="en-US" sz="1650" dirty="0"/>
          </a:p>
        </p:txBody>
      </p:sp>
      <p:sp>
        <p:nvSpPr>
          <p:cNvPr id="19" name="bld2_266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rough top/heart/base balance while choosing your palette — but real formulas blend across all three constantly.</a:t>
            </a:r>
            <a:endParaRPr lang="en-US" sz="1250" dirty="0"/>
          </a:p>
        </p:txBody>
      </p:sp>
      <p:sp>
        <p:nvSpPr>
          <p:cNvPr id="20" name="bld3_266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3_266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perfumery blends across all three</a:t>
            </a:r>
            <a:endParaRPr lang="en-US" sz="1650" dirty="0"/>
          </a:p>
        </p:txBody>
      </p:sp>
      <p:sp>
        <p:nvSpPr>
          <p:cNvPr id="22" name="bld3_266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contemporary formulas mix fast and slow materials throughout, aiming for one unified character rather than three sequential acts.</a:t>
            </a:r>
            <a:endParaRPr lang="en-US" sz="1250" dirty="0"/>
          </a:p>
        </p:txBody>
      </p:sp>
      <p:sp>
        <p:nvSpPr>
          <p:cNvPr id="24" name="trans_fade_17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5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floral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luminous rose and jasmine heart, on a soft musk base."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solidFill>
            <a:srgbClr val="8C3B49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36193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0185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2074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0183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1513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58507" y="261244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755502" y="2612441"/>
            <a:ext cx="88755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100" dirty="0"/>
          </a:p>
        </p:txBody>
      </p:sp>
      <p:sp>
        <p:nvSpPr>
          <p:cNvPr id="24" name="bld1_2670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1_2671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absolute (10%)  —  8%</a:t>
            </a:r>
            <a:endParaRPr lang="en-US" sz="1250" dirty="0"/>
          </a:p>
        </p:txBody>
      </p:sp>
      <p:sp>
        <p:nvSpPr>
          <p:cNvPr id="26" name="bld1_2672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rose truth</a:t>
            </a:r>
            <a:endParaRPr lang="en-US" sz="1000" dirty="0"/>
          </a:p>
        </p:txBody>
      </p:sp>
      <p:sp>
        <p:nvSpPr>
          <p:cNvPr id="27" name="bld2_2673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8" name="bld2_2674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 absolute (10%)  —  6%</a:t>
            </a:r>
            <a:endParaRPr lang="en-US" sz="1250" dirty="0"/>
          </a:p>
        </p:txBody>
      </p:sp>
      <p:sp>
        <p:nvSpPr>
          <p:cNvPr id="29" name="bld2_2675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Heady floral depth</a:t>
            </a:r>
            <a:endParaRPr lang="en-US" sz="1000" dirty="0"/>
          </a:p>
        </p:txBody>
      </p:sp>
      <p:sp>
        <p:nvSpPr>
          <p:cNvPr id="30" name="bld3_2676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677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20%</a:t>
            </a:r>
            <a:endParaRPr lang="en-US" sz="1250" dirty="0"/>
          </a:p>
        </p:txBody>
      </p:sp>
      <p:sp>
        <p:nvSpPr>
          <p:cNvPr id="32" name="bld3_2678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&amp; radiance</a:t>
            </a:r>
            <a:endParaRPr lang="en-US" sz="1000" dirty="0"/>
          </a:p>
        </p:txBody>
      </p:sp>
      <p:sp>
        <p:nvSpPr>
          <p:cNvPr id="33" name="bld4_2679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4_2680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Linalool  —  10%</a:t>
            </a:r>
            <a:endParaRPr lang="en-US" sz="1250" dirty="0"/>
          </a:p>
        </p:txBody>
      </p:sp>
      <p:sp>
        <p:nvSpPr>
          <p:cNvPr id="35" name="bld4_2681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floral-woody lift</a:t>
            </a:r>
            <a:endParaRPr lang="en-US" sz="1000" dirty="0"/>
          </a:p>
        </p:txBody>
      </p:sp>
      <p:sp>
        <p:nvSpPr>
          <p:cNvPr id="36" name="bld5_2682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7" name="bld5_2683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12%</a:t>
            </a:r>
            <a:endParaRPr lang="en-US" sz="1250" dirty="0"/>
          </a:p>
        </p:txBody>
      </p:sp>
      <p:sp>
        <p:nvSpPr>
          <p:cNvPr id="38" name="bld5_2684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opening</a:t>
            </a:r>
            <a:endParaRPr lang="en-US" sz="1000" dirty="0"/>
          </a:p>
        </p:txBody>
      </p:sp>
      <p:sp>
        <p:nvSpPr>
          <p:cNvPr id="39" name="bld6_2685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40" name="bld6_2686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E Super  —  18%</a:t>
            </a:r>
            <a:endParaRPr lang="en-US" sz="1250" dirty="0"/>
          </a:p>
        </p:txBody>
      </p:sp>
      <p:sp>
        <p:nvSpPr>
          <p:cNvPr id="41" name="bld6_2687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support</a:t>
            </a:r>
            <a:endParaRPr lang="en-US" sz="1000" dirty="0"/>
          </a:p>
        </p:txBody>
      </p:sp>
      <p:sp>
        <p:nvSpPr>
          <p:cNvPr id="42" name="bld7_2688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3" name="bld7_2689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18%</a:t>
            </a:r>
            <a:endParaRPr lang="en-US" sz="1250" dirty="0"/>
          </a:p>
        </p:txBody>
      </p:sp>
      <p:sp>
        <p:nvSpPr>
          <p:cNvPr id="44" name="bld7_2690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fixation</a:t>
            </a:r>
            <a:endParaRPr lang="en-US" sz="1000" dirty="0"/>
          </a:p>
        </p:txBody>
      </p:sp>
      <p:sp>
        <p:nvSpPr>
          <p:cNvPr id="45" name="bld8_2691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6" name="bld8_2692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8%</a:t>
            </a:r>
            <a:endParaRPr lang="en-US" sz="1250" dirty="0"/>
          </a:p>
        </p:txBody>
      </p:sp>
      <p:sp>
        <p:nvSpPr>
          <p:cNvPr id="47" name="bld8_2693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warmth in the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rans_push_l_17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LOGIC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floral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1" name="Shape 9"/>
          <p:cNvSpPr/>
          <p:nvPr/>
        </p:nvSpPr>
        <p:spPr>
          <a:xfrm>
            <a:off x="9286208" y="2144206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9766698" y="2493302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8640000">
            <a:off x="9583167" y="3058151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2960000">
            <a:off x="8989249" y="3058151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7280000">
            <a:off x="8805718" y="2493302"/>
            <a:ext cx="522999" cy="1098297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296668" y="2947532"/>
            <a:ext cx="502079" cy="50207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loud materials carry it; the quiet ones hold it together.</a:t>
            </a:r>
            <a:endParaRPr lang="en-US" sz="1050" dirty="0"/>
          </a:p>
        </p:txBody>
      </p:sp>
      <p:sp>
        <p:nvSpPr>
          <p:cNvPr id="19" name="bld1_269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1_269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naturals do the emotional work</a:t>
            </a:r>
            <a:endParaRPr lang="en-US" sz="1650" dirty="0"/>
          </a:p>
        </p:txBody>
      </p:sp>
      <p:sp>
        <p:nvSpPr>
          <p:cNvPr id="21" name="bld1_2696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and jasmine absolute sit at just 8% and 6% (already at 10% dilution) — a tiny true contribution that still defines the whole character.</a:t>
            </a:r>
            <a:endParaRPr lang="en-US" sz="1250" dirty="0"/>
          </a:p>
        </p:txBody>
      </p:sp>
      <p:sp>
        <p:nvSpPr>
          <p:cNvPr id="22" name="bld2_2697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2_2698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Hedione and linalool carry it outward</a:t>
            </a:r>
            <a:endParaRPr lang="en-US" sz="1650" dirty="0"/>
          </a:p>
        </p:txBody>
      </p:sp>
      <p:sp>
        <p:nvSpPr>
          <p:cNvPr id="24" name="bld2_2699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smells strongly "floral" alone — together they diffuse and soften the naturals rather than competing with them.</a:t>
            </a:r>
            <a:endParaRPr lang="en-US" sz="1250" dirty="0"/>
          </a:p>
        </p:txBody>
      </p:sp>
      <p:sp>
        <p:nvSpPr>
          <p:cNvPr id="25" name="bld3_2700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6" name="bld3_2701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E Super and Galaxolide are silent structure</a:t>
            </a:r>
            <a:endParaRPr lang="en-US" sz="1650" dirty="0"/>
          </a:p>
        </p:txBody>
      </p:sp>
      <p:sp>
        <p:nvSpPr>
          <p:cNvPr id="27" name="bld3_2702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 of the formula between them, and barely noticeable individually — they add volume and lasting power without their own smell on top.</a:t>
            </a:r>
            <a:endParaRPr lang="en-US" sz="1250" dirty="0"/>
          </a:p>
        </p:txBody>
      </p:sp>
      <p:sp>
        <p:nvSpPr>
          <p:cNvPr id="28" name="bld4_270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9" name="bld4_2704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Vanillin closes the base, not the top</a:t>
            </a:r>
            <a:endParaRPr lang="en-US" sz="1650" dirty="0"/>
          </a:p>
        </p:txBody>
      </p:sp>
      <p:sp>
        <p:nvSpPr>
          <p:cNvPr id="30" name="bld4_2705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8% at the very end keeps this floral from reading cold or sharp.</a:t>
            </a:r>
            <a:endParaRPr lang="en-US" sz="1250" dirty="0"/>
          </a:p>
        </p:txBody>
      </p:sp>
      <p:sp>
        <p:nvSpPr>
          <p:cNvPr id="32" name="trans_fade_17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166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FORMULA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gourmand fragrance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"Warm vanilla and caramel, softened with musk."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12441"/>
            <a:ext cx="66566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14305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solidFill>
            <a:srgbClr val="9C7A3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78467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9797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19239" y="2612441"/>
            <a:ext cx="13313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50568" y="2612441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451" y="2612441"/>
            <a:ext cx="11094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78893" y="2612441"/>
            <a:ext cx="166416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bld1_2706"/>
          <p:cNvSpPr/>
          <p:nvPr/>
        </p:nvSpPr>
        <p:spPr>
          <a:xfrm>
            <a:off x="566928" y="3654857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5" name="bld1_2707"/>
          <p:cNvSpPr txBox="1"/>
          <p:nvPr/>
        </p:nvSpPr>
        <p:spPr>
          <a:xfrm>
            <a:off x="841248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 —  6%</a:t>
            </a:r>
            <a:endParaRPr lang="en-US" sz="1250" dirty="0"/>
          </a:p>
        </p:txBody>
      </p:sp>
      <p:sp>
        <p:nvSpPr>
          <p:cNvPr id="26" name="bld1_2708"/>
          <p:cNvSpPr txBox="1"/>
          <p:nvPr/>
        </p:nvSpPr>
        <p:spPr>
          <a:xfrm>
            <a:off x="841248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Sugary sweetness</a:t>
            </a:r>
            <a:endParaRPr lang="en-US" sz="1000" dirty="0"/>
          </a:p>
        </p:txBody>
      </p:sp>
      <p:sp>
        <p:nvSpPr>
          <p:cNvPr id="27" name="bld2_2709"/>
          <p:cNvSpPr/>
          <p:nvPr/>
        </p:nvSpPr>
        <p:spPr>
          <a:xfrm>
            <a:off x="6297016" y="3654857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2_2710"/>
          <p:cNvSpPr txBox="1"/>
          <p:nvPr/>
        </p:nvSpPr>
        <p:spPr>
          <a:xfrm>
            <a:off x="6571336" y="357256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Vanillin  —  15%</a:t>
            </a:r>
            <a:endParaRPr lang="en-US" sz="1250" dirty="0"/>
          </a:p>
        </p:txBody>
      </p:sp>
      <p:sp>
        <p:nvSpPr>
          <p:cNvPr id="29" name="bld2_2711"/>
          <p:cNvSpPr txBox="1"/>
          <p:nvPr/>
        </p:nvSpPr>
        <p:spPr>
          <a:xfrm>
            <a:off x="6571336" y="384688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vanilla warmth</a:t>
            </a:r>
            <a:endParaRPr lang="en-US" sz="1000" dirty="0"/>
          </a:p>
        </p:txBody>
      </p:sp>
      <p:sp>
        <p:nvSpPr>
          <p:cNvPr id="30" name="bld3_2712"/>
          <p:cNvSpPr/>
          <p:nvPr/>
        </p:nvSpPr>
        <p:spPr>
          <a:xfrm>
            <a:off x="566928" y="4221785"/>
            <a:ext cx="164592" cy="164592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31" name="bld3_2713"/>
          <p:cNvSpPr txBox="1"/>
          <p:nvPr/>
        </p:nvSpPr>
        <p:spPr>
          <a:xfrm>
            <a:off x="841248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Coumarin  —  12%</a:t>
            </a:r>
            <a:endParaRPr lang="en-US" sz="1250" dirty="0"/>
          </a:p>
        </p:txBody>
      </p:sp>
      <p:sp>
        <p:nvSpPr>
          <p:cNvPr id="32" name="bld3_2714"/>
          <p:cNvSpPr txBox="1"/>
          <p:nvPr/>
        </p:nvSpPr>
        <p:spPr>
          <a:xfrm>
            <a:off x="841248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hay depth</a:t>
            </a:r>
            <a:endParaRPr lang="en-US" sz="1000" dirty="0"/>
          </a:p>
        </p:txBody>
      </p:sp>
      <p:sp>
        <p:nvSpPr>
          <p:cNvPr id="33" name="bld4_2715"/>
          <p:cNvSpPr/>
          <p:nvPr/>
        </p:nvSpPr>
        <p:spPr>
          <a:xfrm>
            <a:off x="6297016" y="4221785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4" name="bld4_2716"/>
          <p:cNvSpPr txBox="1"/>
          <p:nvPr/>
        </p:nvSpPr>
        <p:spPr>
          <a:xfrm>
            <a:off x="6571336" y="413948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10%</a:t>
            </a:r>
            <a:endParaRPr lang="en-US" sz="1250" dirty="0"/>
          </a:p>
        </p:txBody>
      </p:sp>
      <p:sp>
        <p:nvSpPr>
          <p:cNvPr id="35" name="bld4_2717"/>
          <p:cNvSpPr txBox="1"/>
          <p:nvPr/>
        </p:nvSpPr>
        <p:spPr>
          <a:xfrm>
            <a:off x="6571336" y="441380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the sweetness</a:t>
            </a:r>
            <a:endParaRPr lang="en-US" sz="1000" dirty="0"/>
          </a:p>
        </p:txBody>
      </p:sp>
      <p:sp>
        <p:nvSpPr>
          <p:cNvPr id="36" name="bld5_2718"/>
          <p:cNvSpPr/>
          <p:nvPr/>
        </p:nvSpPr>
        <p:spPr>
          <a:xfrm>
            <a:off x="566928" y="4788713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7" name="bld5_2719"/>
          <p:cNvSpPr txBox="1"/>
          <p:nvPr/>
        </p:nvSpPr>
        <p:spPr>
          <a:xfrm>
            <a:off x="841248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Cashmeran  —  12%</a:t>
            </a:r>
            <a:endParaRPr lang="en-US" sz="1250" dirty="0"/>
          </a:p>
        </p:txBody>
      </p:sp>
      <p:sp>
        <p:nvSpPr>
          <p:cNvPr id="38" name="bld5_2720"/>
          <p:cNvSpPr txBox="1"/>
          <p:nvPr/>
        </p:nvSpPr>
        <p:spPr>
          <a:xfrm>
            <a:off x="841248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Spiced, musky wood</a:t>
            </a:r>
            <a:endParaRPr lang="en-US" sz="1000" dirty="0"/>
          </a:p>
        </p:txBody>
      </p:sp>
      <p:sp>
        <p:nvSpPr>
          <p:cNvPr id="39" name="bld6_2721"/>
          <p:cNvSpPr/>
          <p:nvPr/>
        </p:nvSpPr>
        <p:spPr>
          <a:xfrm>
            <a:off x="6297016" y="4788713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40" name="bld6_2722"/>
          <p:cNvSpPr txBox="1"/>
          <p:nvPr/>
        </p:nvSpPr>
        <p:spPr>
          <a:xfrm>
            <a:off x="6571336" y="470641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Galaxolide  —  20%</a:t>
            </a:r>
            <a:endParaRPr lang="en-US" sz="1250" dirty="0"/>
          </a:p>
        </p:txBody>
      </p:sp>
      <p:sp>
        <p:nvSpPr>
          <p:cNvPr id="41" name="bld6_2723"/>
          <p:cNvSpPr txBox="1"/>
          <p:nvPr/>
        </p:nvSpPr>
        <p:spPr>
          <a:xfrm>
            <a:off x="6571336" y="498073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musk body</a:t>
            </a:r>
            <a:endParaRPr lang="en-US" sz="1000" dirty="0"/>
          </a:p>
        </p:txBody>
      </p:sp>
      <p:sp>
        <p:nvSpPr>
          <p:cNvPr id="42" name="bld7_2724"/>
          <p:cNvSpPr/>
          <p:nvPr/>
        </p:nvSpPr>
        <p:spPr>
          <a:xfrm>
            <a:off x="566928" y="5355641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43" name="bld7_2725"/>
          <p:cNvSpPr txBox="1"/>
          <p:nvPr/>
        </p:nvSpPr>
        <p:spPr>
          <a:xfrm>
            <a:off x="841248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Bergamot  —  10%</a:t>
            </a:r>
            <a:endParaRPr lang="en-US" sz="1250" dirty="0"/>
          </a:p>
        </p:txBody>
      </p:sp>
      <p:sp>
        <p:nvSpPr>
          <p:cNvPr id="44" name="bld7_2726"/>
          <p:cNvSpPr txBox="1"/>
          <p:nvPr/>
        </p:nvSpPr>
        <p:spPr>
          <a:xfrm>
            <a:off x="841248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sweetness at opening</a:t>
            </a:r>
            <a:endParaRPr lang="en-US" sz="1000" dirty="0"/>
          </a:p>
        </p:txBody>
      </p:sp>
      <p:sp>
        <p:nvSpPr>
          <p:cNvPr id="45" name="bld8_2727"/>
          <p:cNvSpPr/>
          <p:nvPr/>
        </p:nvSpPr>
        <p:spPr>
          <a:xfrm>
            <a:off x="6297016" y="5355641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46" name="bld8_2728"/>
          <p:cNvSpPr txBox="1"/>
          <p:nvPr/>
        </p:nvSpPr>
        <p:spPr>
          <a:xfrm>
            <a:off x="6571336" y="5273345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Patchouli  —  15%</a:t>
            </a:r>
            <a:endParaRPr lang="en-US" sz="1250" dirty="0"/>
          </a:p>
        </p:txBody>
      </p:sp>
      <p:sp>
        <p:nvSpPr>
          <p:cNvPr id="47" name="bld8_2729"/>
          <p:cNvSpPr txBox="1"/>
          <p:nvPr/>
        </p:nvSpPr>
        <p:spPr>
          <a:xfrm>
            <a:off x="6571336" y="5547665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earthy base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9631375" y="222839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50" name="trans_push_l_17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1" name="Text 4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167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LOGIC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gourmand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11" name="Shape 9"/>
          <p:cNvSpPr/>
          <p:nvPr/>
        </p:nvSpPr>
        <p:spPr>
          <a:xfrm rot="840000">
            <a:off x="9296668" y="2204874"/>
            <a:ext cx="502079" cy="1987395"/>
          </a:xfrm>
          <a:prstGeom prst="roundRect">
            <a:avLst>
              <a:gd name="adj" fmla="val 50000"/>
            </a:avLst>
          </a:prstGeom>
          <a:solidFill>
            <a:srgbClr val="8A5A2E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40000">
            <a:off x="9542221" y="2445453"/>
            <a:ext cx="914" cy="1506236"/>
          </a:xfrm>
          <a:prstGeom prst="line">
            <a:avLst/>
          </a:prstGeom>
          <a:noFill/>
          <a:ln w="15875">
            <a:solidFill>
              <a:srgbClr val="FAF6EC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12358" y="2502983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4" name="Shape 12"/>
          <p:cNvSpPr/>
          <p:nvPr/>
        </p:nvSpPr>
        <p:spPr>
          <a:xfrm>
            <a:off x="9387670" y="2762390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5" name="Shape 13"/>
          <p:cNvSpPr/>
          <p:nvPr/>
        </p:nvSpPr>
        <p:spPr>
          <a:xfrm>
            <a:off x="9462982" y="3021798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6" name="Shape 14"/>
          <p:cNvSpPr/>
          <p:nvPr/>
        </p:nvSpPr>
        <p:spPr>
          <a:xfrm>
            <a:off x="9538294" y="3281205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7" name="Shape 15"/>
          <p:cNvSpPr/>
          <p:nvPr/>
        </p:nvSpPr>
        <p:spPr>
          <a:xfrm>
            <a:off x="9613605" y="3540612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8" name="Shape 16"/>
          <p:cNvSpPr/>
          <p:nvPr/>
        </p:nvSpPr>
        <p:spPr>
          <a:xfrm>
            <a:off x="9688917" y="3800020"/>
            <a:ext cx="94140" cy="94140"/>
          </a:xfrm>
          <a:prstGeom prst="ellipse">
            <a:avLst/>
          </a:prstGeom>
          <a:solidFill>
            <a:srgbClr val="5C3A1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sweet note here is balanced by something structural.</a:t>
            </a:r>
            <a:endParaRPr lang="en-US" sz="1050" dirty="0"/>
          </a:p>
        </p:txBody>
      </p:sp>
      <p:sp>
        <p:nvSpPr>
          <p:cNvPr id="21" name="bld1_273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2" name="bld1_273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Bergamot is doing defensive work</a:t>
            </a:r>
            <a:endParaRPr lang="en-US" sz="1650" dirty="0"/>
          </a:p>
        </p:txBody>
      </p:sp>
      <p:sp>
        <p:nvSpPr>
          <p:cNvPr id="23" name="bld1_273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10%, but its whole job is stopping the sweetness turning flat — remove it and the formula goes cloying fast.</a:t>
            </a:r>
            <a:endParaRPr lang="en-US" sz="1250" dirty="0"/>
          </a:p>
        </p:txBody>
      </p:sp>
      <p:sp>
        <p:nvSpPr>
          <p:cNvPr id="24" name="bld2_273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5" name="bld2_273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sweeteners, two jobs</a:t>
            </a:r>
            <a:endParaRPr lang="en-US" sz="1650" dirty="0"/>
          </a:p>
        </p:txBody>
      </p:sp>
      <p:sp>
        <p:nvSpPr>
          <p:cNvPr id="26" name="bld2_273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(small, sharp sugar-candy top) and Vanillin (larger, warm, longer-lasting) layer the sweetness instead of relying on one material for everything.</a:t>
            </a:r>
            <a:endParaRPr lang="en-US" sz="1250" dirty="0"/>
          </a:p>
        </p:txBody>
      </p:sp>
      <p:sp>
        <p:nvSpPr>
          <p:cNvPr id="27" name="bld3_273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8" name="bld3_273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Patchouli anchors 15% of the base</a:t>
            </a:r>
            <a:endParaRPr lang="en-US" sz="1650" dirty="0"/>
          </a:p>
        </p:txBody>
      </p:sp>
      <p:sp>
        <p:nvSpPr>
          <p:cNvPr id="29" name="bld3_273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Earthy contrast stops an all-sweet formula from feeling one-dimensional.</a:t>
            </a:r>
            <a:endParaRPr lang="en-US" sz="1250" dirty="0"/>
          </a:p>
        </p:txBody>
      </p:sp>
      <p:sp>
        <p:nvSpPr>
          <p:cNvPr id="30" name="bld4_273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31" name="bld4_274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Cashmeran bridges sweet and woody</a:t>
            </a:r>
            <a:endParaRPr lang="en-US" sz="1650" dirty="0"/>
          </a:p>
        </p:txBody>
      </p:sp>
      <p:sp>
        <p:nvSpPr>
          <p:cNvPr id="32" name="bld4_274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spiced, musky wood that keeps the transition from heart to base smooth rather than abrupt.</a:t>
            </a:r>
            <a:endParaRPr lang="en-US" sz="1250" dirty="0"/>
          </a:p>
        </p:txBody>
      </p:sp>
      <p:sp>
        <p:nvSpPr>
          <p:cNvPr id="34" name="trans_fade_17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PROFESSIONAL-STYLE FORMULA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Reverse-engineering a famous structure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 rot="9000000">
            <a:off x="9024709" y="2717412"/>
            <a:ext cx="1213357" cy="1213357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6000000">
            <a:off x="8752749" y="2591893"/>
            <a:ext cx="753118" cy="753118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1400000">
            <a:off x="9610467" y="2466373"/>
            <a:ext cx="627599" cy="6275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fragrance, studied as a structure — not copied as a secret.</a:t>
            </a:r>
            <a:endParaRPr lang="en-US" sz="1050" dirty="0"/>
          </a:p>
        </p:txBody>
      </p:sp>
      <p:sp>
        <p:nvSpPr>
          <p:cNvPr id="16" name="bld1_2742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bld1_2743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"Type" formulas are educational reconstructions</a:t>
            </a:r>
            <a:endParaRPr lang="en-US" sz="1650" dirty="0"/>
          </a:p>
        </p:txBody>
      </p:sp>
      <p:sp>
        <p:nvSpPr>
          <p:cNvPr id="18" name="bld1_2744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 communities publish approximate recreations of famous fragrances for teaching — not the brand's actual proprietary formula.</a:t>
            </a:r>
            <a:endParaRPr lang="en-US" sz="1250" dirty="0"/>
          </a:p>
        </p:txBody>
      </p:sp>
      <p:sp>
        <p:nvSpPr>
          <p:cNvPr id="19" name="bld2_2745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0" name="bld2_2746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around three named accords</a:t>
            </a:r>
            <a:endParaRPr lang="en-US" sz="1650" dirty="0"/>
          </a:p>
        </p:txBody>
      </p:sp>
      <p:sp>
        <p:nvSpPr>
          <p:cNvPr id="21" name="bld2_2747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Maison Francis Kurkdjian has publicly described Baccarat Rouge 540 as built from a mineral accord, a "fire and heat" accord and a savoir-faire accord — a genuinely useful structure to study.</a:t>
            </a:r>
            <a:endParaRPr lang="en-US" sz="1250" dirty="0"/>
          </a:p>
        </p:txBody>
      </p:sp>
      <p:sp>
        <p:nvSpPr>
          <p:cNvPr id="22" name="bld3_2748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3_2749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figures ahead are illustrative</a:t>
            </a:r>
            <a:endParaRPr lang="en-US" sz="1650" dirty="0"/>
          </a:p>
        </p:txBody>
      </p:sp>
      <p:sp>
        <p:nvSpPr>
          <p:cNvPr id="24" name="bld3_2750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published educational analysis, not the brand's confidential formula — treat the proportions as a teaching tool, not a guarantee of what's actually inside the bottle.</a:t>
            </a:r>
            <a:endParaRPr lang="en-US" sz="1250" dirty="0"/>
          </a:p>
        </p:txBody>
      </p:sp>
      <p:sp>
        <p:nvSpPr>
          <p:cNvPr id="26" name="trans_fade_17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AN EDUCATIONAL RECONSTRUCTION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Baccarat Rouge 540-style structure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"Radiant, mineral-clean amber-musk with a warm saffron-jasmine heart." (Educational approximation — not the original formula.)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0551"/>
            <a:ext cx="3883045" cy="566928"/>
          </a:xfrm>
          <a:prstGeom prst="rect">
            <a:avLst/>
          </a:prstGeom>
          <a:solidFill>
            <a:srgbClr val="6E7A50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0551"/>
            <a:ext cx="38830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1685" y="2850551"/>
            <a:ext cx="299549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1685" y="2850551"/>
            <a:ext cx="2995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27177" y="2850551"/>
            <a:ext cx="1996995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7177" y="285055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24172" y="2850551"/>
            <a:ext cx="1996995" cy="566928"/>
          </a:xfrm>
          <a:prstGeom prst="rect">
            <a:avLst/>
          </a:prstGeom>
          <a:solidFill>
            <a:srgbClr val="5B3A52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24172" y="2850551"/>
            <a:ext cx="19969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21167" y="2850551"/>
            <a:ext cx="221888" cy="566928"/>
          </a:xfrm>
          <a:prstGeom prst="rect">
            <a:avLst/>
          </a:prstGeom>
          <a:solidFill>
            <a:srgbClr val="B5652D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7" name="bld1_2751"/>
          <p:cNvSpPr/>
          <p:nvPr/>
        </p:nvSpPr>
        <p:spPr>
          <a:xfrm>
            <a:off x="566928" y="3892967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1_2752"/>
          <p:cNvSpPr txBox="1"/>
          <p:nvPr/>
        </p:nvSpPr>
        <p:spPr>
          <a:xfrm>
            <a:off x="841248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Hedione  —  35%</a:t>
            </a:r>
            <a:endParaRPr lang="en-US" sz="1250" dirty="0"/>
          </a:p>
        </p:txBody>
      </p:sp>
      <p:sp>
        <p:nvSpPr>
          <p:cNvPr id="19" name="bld1_2753"/>
          <p:cNvSpPr txBox="1"/>
          <p:nvPr/>
        </p:nvSpPr>
        <p:spPr>
          <a:xfrm>
            <a:off x="841248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Radiance &amp; diffusion — the single largest material</a:t>
            </a:r>
            <a:endParaRPr lang="en-US" sz="1000" dirty="0"/>
          </a:p>
        </p:txBody>
      </p:sp>
      <p:sp>
        <p:nvSpPr>
          <p:cNvPr id="20" name="bld2_2754"/>
          <p:cNvSpPr/>
          <p:nvPr/>
        </p:nvSpPr>
        <p:spPr>
          <a:xfrm>
            <a:off x="6297016" y="3892967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21" name="bld2_2755"/>
          <p:cNvSpPr txBox="1"/>
          <p:nvPr/>
        </p:nvSpPr>
        <p:spPr>
          <a:xfrm>
            <a:off x="6571336" y="3810671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DPG (carrier)  —  27%</a:t>
            </a:r>
            <a:endParaRPr lang="en-US" sz="1250" dirty="0"/>
          </a:p>
        </p:txBody>
      </p:sp>
      <p:sp>
        <p:nvSpPr>
          <p:cNvPr id="22" name="bld2_2756"/>
          <p:cNvSpPr txBox="1"/>
          <p:nvPr/>
        </p:nvSpPr>
        <p:spPr>
          <a:xfrm>
            <a:off x="6571336" y="4084991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Dilutes the compound — not part of the scent itself</a:t>
            </a:r>
            <a:endParaRPr lang="en-US" sz="1000" dirty="0"/>
          </a:p>
        </p:txBody>
      </p:sp>
      <p:sp>
        <p:nvSpPr>
          <p:cNvPr id="23" name="bld3_2757"/>
          <p:cNvSpPr/>
          <p:nvPr/>
        </p:nvSpPr>
        <p:spPr>
          <a:xfrm>
            <a:off x="566928" y="4459895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4" name="bld3_2758"/>
          <p:cNvSpPr txBox="1"/>
          <p:nvPr/>
        </p:nvSpPr>
        <p:spPr>
          <a:xfrm>
            <a:off x="841248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Ambroxan-family  —  18%</a:t>
            </a:r>
            <a:endParaRPr lang="en-US" sz="1250" dirty="0"/>
          </a:p>
        </p:txBody>
      </p:sp>
      <p:sp>
        <p:nvSpPr>
          <p:cNvPr id="25" name="bld3_2759"/>
          <p:cNvSpPr txBox="1"/>
          <p:nvPr/>
        </p:nvSpPr>
        <p:spPr>
          <a:xfrm>
            <a:off x="841248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Amber-musk skin-warmth &amp; lasting power</a:t>
            </a:r>
            <a:endParaRPr lang="en-US" sz="1000" dirty="0"/>
          </a:p>
        </p:txBody>
      </p:sp>
      <p:sp>
        <p:nvSpPr>
          <p:cNvPr id="26" name="bld4_2760"/>
          <p:cNvSpPr/>
          <p:nvPr/>
        </p:nvSpPr>
        <p:spPr>
          <a:xfrm>
            <a:off x="6297016" y="4459895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7" name="bld4_2761"/>
          <p:cNvSpPr txBox="1"/>
          <p:nvPr/>
        </p:nvSpPr>
        <p:spPr>
          <a:xfrm>
            <a:off x="6571336" y="4377599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complexity  —  18%</a:t>
            </a:r>
            <a:endParaRPr lang="en-US" sz="1250" dirty="0"/>
          </a:p>
        </p:txBody>
      </p:sp>
      <p:sp>
        <p:nvSpPr>
          <p:cNvPr id="28" name="bld4_2762"/>
          <p:cNvSpPr txBox="1"/>
          <p:nvPr/>
        </p:nvSpPr>
        <p:spPr>
          <a:xfrm>
            <a:off x="6571336" y="4651919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Jasmine, saffron, fir balsam, woods &amp; musks — the mineral/fire/savoir-faire facets</a:t>
            </a:r>
            <a:endParaRPr lang="en-US" sz="1000" dirty="0"/>
          </a:p>
        </p:txBody>
      </p:sp>
      <p:sp>
        <p:nvSpPr>
          <p:cNvPr id="29" name="bld5_2763"/>
          <p:cNvSpPr/>
          <p:nvPr/>
        </p:nvSpPr>
        <p:spPr>
          <a:xfrm>
            <a:off x="566928" y="5026823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30" name="bld5_2764"/>
          <p:cNvSpPr txBox="1"/>
          <p:nvPr/>
        </p:nvSpPr>
        <p:spPr>
          <a:xfrm>
            <a:off x="841248" y="4944527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Ethyl Maltol  —  2%</a:t>
            </a:r>
            <a:endParaRPr lang="en-US" sz="1250" dirty="0"/>
          </a:p>
        </p:txBody>
      </p:sp>
      <p:sp>
        <p:nvSpPr>
          <p:cNvPr id="31" name="bld5_2765"/>
          <p:cNvSpPr txBox="1"/>
          <p:nvPr/>
        </p:nvSpPr>
        <p:spPr>
          <a:xfrm>
            <a:off x="841248" y="5218847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whisper of sugared warmth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31375" y="2466503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34" name="trans_push_l_17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STRUCTURE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formula works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377077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2007358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bld1_276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1" name="bld1_276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material carries the diffusion</a:t>
            </a:r>
            <a:endParaRPr lang="en-US" sz="1650" dirty="0"/>
          </a:p>
        </p:txBody>
      </p:sp>
      <p:sp>
        <p:nvSpPr>
          <p:cNvPr id="12" name="bld1_276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around a third of the formula, Hedione does the job usually split across several transparent florals — one very safe, very diffusive material, used boldly.</a:t>
            </a:r>
            <a:endParaRPr lang="en-US" sz="1250" dirty="0"/>
          </a:p>
        </p:txBody>
      </p:sp>
      <p:sp>
        <p:nvSpPr>
          <p:cNvPr id="13" name="bld2_276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2_277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"fixative" is nearly a fifth of the formula</a:t>
            </a:r>
            <a:endParaRPr lang="en-US" sz="1650" dirty="0"/>
          </a:p>
        </p:txBody>
      </p:sp>
      <p:sp>
        <p:nvSpPr>
          <p:cNvPr id="15" name="bld2_277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Ambroxan-family materials are usually a supporting player at a few percent — here it's promoted to a lead role, which is exactly what gives the signature skin-radiating effect.</a:t>
            </a:r>
            <a:endParaRPr lang="en-US" sz="1250" dirty="0"/>
          </a:p>
        </p:txBody>
      </p:sp>
      <p:sp>
        <p:nvSpPr>
          <p:cNvPr id="16" name="bld3_277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3_277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tiny dose does real emotional work</a:t>
            </a:r>
            <a:endParaRPr lang="en-US" sz="1650" dirty="0"/>
          </a:p>
        </p:txBody>
      </p:sp>
      <p:sp>
        <p:nvSpPr>
          <p:cNvPr id="18" name="bld3_277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2% ethyl maltol reads as warm and gourmand-adjacent without tipping the whole thing into dessert territory.</a:t>
            </a:r>
            <a:endParaRPr lang="en-US" sz="1250" dirty="0"/>
          </a:p>
        </p:txBody>
      </p:sp>
      <p:sp>
        <p:nvSpPr>
          <p:cNvPr id="19" name="bld4_277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4_277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Naturals earn their keep in a small space</a:t>
            </a:r>
            <a:endParaRPr lang="en-US" sz="1650" dirty="0"/>
          </a:p>
        </p:txBody>
      </p:sp>
      <p:sp>
        <p:nvSpPr>
          <p:cNvPr id="21" name="bld4_277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~18% carries jasmine, saffron, fir balsam and supporting musks — proof that complexity doesn't need a large percentage, just the right materials.</a:t>
            </a:r>
            <a:endParaRPr lang="en-US" sz="1250" dirty="0"/>
          </a:p>
        </p:txBody>
      </p:sp>
      <p:sp>
        <p:nvSpPr>
          <p:cNvPr id="23" name="trans_fade_18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TRANSFERABLE SKILL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FORMULA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any professional formula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377077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2007358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bld1_277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1" name="bld1_277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largest percentage first</a:t>
            </a:r>
            <a:endParaRPr lang="en-US" sz="1650" dirty="0"/>
          </a:p>
        </p:txBody>
      </p:sp>
      <p:sp>
        <p:nvSpPr>
          <p:cNvPr id="12" name="bld1_278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usually the material doing the load-bearing work — start analysis there, not with the exotic-sounding trace materials.</a:t>
            </a:r>
            <a:endParaRPr lang="en-US" sz="1250" dirty="0"/>
          </a:p>
        </p:txBody>
      </p:sp>
      <p:sp>
        <p:nvSpPr>
          <p:cNvPr id="13" name="bld2_278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2_278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what role, not just what name</a:t>
            </a:r>
            <a:endParaRPr lang="en-US" sz="1650" dirty="0"/>
          </a:p>
        </p:txBody>
      </p:sp>
      <p:sp>
        <p:nvSpPr>
          <p:cNvPr id="15" name="bld2_278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material: diffusion, fixation, structure or accent? The percentage usually tells you which.</a:t>
            </a:r>
            <a:endParaRPr lang="en-US" sz="1250" dirty="0"/>
          </a:p>
        </p:txBody>
      </p:sp>
      <p:sp>
        <p:nvSpPr>
          <p:cNvPr id="16" name="bld3_278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78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 what's surprisingly small</a:t>
            </a:r>
            <a:endParaRPr lang="en-US" sz="1650" dirty="0"/>
          </a:p>
        </p:txBody>
      </p:sp>
      <p:sp>
        <p:nvSpPr>
          <p:cNvPr id="18" name="bld3_278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famous accord is often built from a tiny amount of an expensive natural, supported by cheap synthetics doing the heavy lifting.</a:t>
            </a:r>
            <a:endParaRPr lang="en-US" sz="1250" dirty="0"/>
          </a:p>
        </p:txBody>
      </p:sp>
      <p:sp>
        <p:nvSpPr>
          <p:cNvPr id="19" name="bld4_278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4_278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published reconstructions as teaching tools</a:t>
            </a:r>
            <a:endParaRPr lang="en-US" sz="1650" dirty="0"/>
          </a:p>
        </p:txBody>
      </p:sp>
      <p:sp>
        <p:nvSpPr>
          <p:cNvPr id="21" name="bld4_278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learning structure and proportion logic — not a guarantee of the original, confidential formula.</a:t>
            </a:r>
            <a:endParaRPr lang="en-US" sz="1250" dirty="0"/>
          </a:p>
        </p:txBody>
      </p:sp>
      <p:sp>
        <p:nvSpPr>
          <p:cNvPr id="23" name="trans_fade_18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8C3B49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8C3B49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8C3B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material earns its place. If you can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it and nothing changes, remove it.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07</a:t>
            </a:r>
            <a:endParaRPr lang="en-US" sz="1100" dirty="0"/>
          </a:p>
        </p:txBody>
      </p:sp>
      <p:sp>
        <p:nvSpPr>
          <p:cNvPr id="10" name="trans_fade_18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30588" y="2182673"/>
            <a:ext cx="274192" cy="2492654"/>
          </a:xfrm>
          <a:prstGeom prst="roundRect">
            <a:avLst>
              <a:gd name="adj" fmla="val 6670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44304" y="3827825"/>
            <a:ext cx="246760" cy="829214"/>
          </a:xfrm>
          <a:prstGeom prst="roundRect">
            <a:avLst>
              <a:gd name="adj" fmla="val 5558"/>
            </a:avLst>
          </a:prstGeom>
          <a:solidFill>
            <a:srgbClr val="6E7A50">
              <a:alpha val="7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EVALUATING &amp; DEVELOPING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Version 1: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Develop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formula was the easy part. Now the real work of perfumery begins.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 formula across a real 48-hour timeline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framework — opening, heart, drydown, diffusion, balance and more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troubleshooting guide — symptom to fix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19" name="trans_fade_18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RULE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evaluate on scent strips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C5646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C5646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7738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1454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5C5646">
              <a:alpha val="7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465412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9128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C9A354">
              <a:alpha val="7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13085" y="1355141"/>
            <a:ext cx="418228" cy="3802075"/>
          </a:xfrm>
          <a:prstGeom prst="roundRect">
            <a:avLst>
              <a:gd name="adj" fmla="val 4373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26801" y="4016593"/>
            <a:ext cx="390796" cy="1122335"/>
          </a:xfrm>
          <a:prstGeom prst="roundRect">
            <a:avLst>
              <a:gd name="adj" fmla="val 3510"/>
            </a:avLst>
          </a:prstGeom>
          <a:solidFill>
            <a:srgbClr val="B5652D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1, version 2, version 3 — evaluated side by side, not in isolation.</a:t>
            </a:r>
            <a:endParaRPr lang="en-US" sz="1050" dirty="0"/>
          </a:p>
        </p:txBody>
      </p:sp>
      <p:sp>
        <p:nvSpPr>
          <p:cNvPr id="17" name="bld1_279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bld1_279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smell ≠ finished evaluation</a:t>
            </a:r>
            <a:endParaRPr lang="en-US" sz="1650" dirty="0"/>
          </a:p>
        </p:txBody>
      </p:sp>
      <p:sp>
        <p:nvSpPr>
          <p:cNvPr id="19" name="bld1_2792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smell in the first five minutes is only the opening — never the whole story.</a:t>
            </a:r>
            <a:endParaRPr lang="en-US" sz="1250" dirty="0"/>
          </a:p>
        </p:txBody>
      </p:sp>
      <p:sp>
        <p:nvSpPr>
          <p:cNvPr id="20" name="bld2_2793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2_2794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strip, dated and labelled</a:t>
            </a:r>
            <a:endParaRPr lang="en-US" sz="1650" dirty="0"/>
          </a:p>
        </p:txBody>
      </p:sp>
      <p:sp>
        <p:nvSpPr>
          <p:cNvPr id="22" name="bld2_2795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version of a formula gets its own dedicated, clearly marked strip.</a:t>
            </a:r>
            <a:endParaRPr lang="en-US" sz="1250" dirty="0"/>
          </a:p>
        </p:txBody>
      </p:sp>
      <p:sp>
        <p:nvSpPr>
          <p:cNvPr id="23" name="bld3_2796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2797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strips side by side</a:t>
            </a:r>
            <a:endParaRPr lang="en-US" sz="1650" dirty="0"/>
          </a:p>
        </p:txBody>
      </p:sp>
      <p:sp>
        <p:nvSpPr>
          <p:cNvPr id="25" name="bld3_2798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previous versions to compare directly against the new one at each checkpoint.</a:t>
            </a:r>
            <a:endParaRPr lang="en-US" sz="1250" dirty="0"/>
          </a:p>
        </p:txBody>
      </p:sp>
      <p:sp>
        <p:nvSpPr>
          <p:cNvPr id="27" name="trans_fade_18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TIMELINE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a formula across 48 hours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2799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bld1_2800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bld1_2801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min</a:t>
            </a:r>
            <a:endParaRPr lang="en-US" sz="1200" dirty="0"/>
          </a:p>
        </p:txBody>
      </p:sp>
      <p:sp>
        <p:nvSpPr>
          <p:cNvPr id="11" name="bld1_2802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impression</a:t>
            </a:r>
            <a:endParaRPr lang="en-US" sz="1050" dirty="0"/>
          </a:p>
        </p:txBody>
      </p:sp>
      <p:sp>
        <p:nvSpPr>
          <p:cNvPr id="12" name="bld2_2803"/>
          <p:cNvSpPr/>
          <p:nvPr/>
        </p:nvSpPr>
        <p:spPr>
          <a:xfrm>
            <a:off x="284981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3" name="bld2_2804"/>
          <p:cNvSpPr/>
          <p:nvPr/>
        </p:nvSpPr>
        <p:spPr>
          <a:xfrm>
            <a:off x="276752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4" name="bld2_2805"/>
          <p:cNvSpPr txBox="1"/>
          <p:nvPr/>
        </p:nvSpPr>
        <p:spPr>
          <a:xfrm>
            <a:off x="215487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15" name="bld2_2806"/>
          <p:cNvSpPr txBox="1"/>
          <p:nvPr/>
        </p:nvSpPr>
        <p:spPr>
          <a:xfrm>
            <a:off x="215487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notes settling</a:t>
            </a:r>
            <a:endParaRPr lang="en-US" sz="1050" dirty="0"/>
          </a:p>
        </p:txBody>
      </p:sp>
      <p:sp>
        <p:nvSpPr>
          <p:cNvPr id="16" name="bld3_2807"/>
          <p:cNvSpPr/>
          <p:nvPr/>
        </p:nvSpPr>
        <p:spPr>
          <a:xfrm>
            <a:off x="4958974" y="3575304"/>
            <a:ext cx="164592" cy="164592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bld3_2808"/>
          <p:cNvSpPr/>
          <p:nvPr/>
        </p:nvSpPr>
        <p:spPr>
          <a:xfrm>
            <a:off x="4876678" y="3493008"/>
            <a:ext cx="329184" cy="329184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8" name="bld3_2809"/>
          <p:cNvSpPr txBox="1"/>
          <p:nvPr/>
        </p:nvSpPr>
        <p:spPr>
          <a:xfrm>
            <a:off x="426403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200" dirty="0"/>
          </a:p>
        </p:txBody>
      </p:sp>
      <p:sp>
        <p:nvSpPr>
          <p:cNvPr id="19" name="bld3_2810"/>
          <p:cNvSpPr txBox="1"/>
          <p:nvPr/>
        </p:nvSpPr>
        <p:spPr>
          <a:xfrm>
            <a:off x="426403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taking shape</a:t>
            </a:r>
            <a:endParaRPr lang="en-US" sz="1050" dirty="0"/>
          </a:p>
        </p:txBody>
      </p:sp>
      <p:sp>
        <p:nvSpPr>
          <p:cNvPr id="20" name="bld4_2811"/>
          <p:cNvSpPr/>
          <p:nvPr/>
        </p:nvSpPr>
        <p:spPr>
          <a:xfrm>
            <a:off x="7068129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812"/>
          <p:cNvSpPr/>
          <p:nvPr/>
        </p:nvSpPr>
        <p:spPr>
          <a:xfrm>
            <a:off x="6985833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2" name="bld4_2813"/>
          <p:cNvSpPr txBox="1"/>
          <p:nvPr/>
        </p:nvSpPr>
        <p:spPr>
          <a:xfrm>
            <a:off x="637318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hours</a:t>
            </a:r>
            <a:endParaRPr lang="en-US" sz="1200" dirty="0"/>
          </a:p>
        </p:txBody>
      </p:sp>
      <p:sp>
        <p:nvSpPr>
          <p:cNvPr id="23" name="bld4_2814"/>
          <p:cNvSpPr txBox="1"/>
          <p:nvPr/>
        </p:nvSpPr>
        <p:spPr>
          <a:xfrm>
            <a:off x="637318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becoming clear</a:t>
            </a:r>
            <a:endParaRPr lang="en-US" sz="1050" dirty="0"/>
          </a:p>
        </p:txBody>
      </p:sp>
      <p:sp>
        <p:nvSpPr>
          <p:cNvPr id="24" name="bld5_2815"/>
          <p:cNvSpPr/>
          <p:nvPr/>
        </p:nvSpPr>
        <p:spPr>
          <a:xfrm>
            <a:off x="9177284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816"/>
          <p:cNvSpPr/>
          <p:nvPr/>
        </p:nvSpPr>
        <p:spPr>
          <a:xfrm>
            <a:off x="9094988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6" name="bld5_2817"/>
          <p:cNvSpPr txBox="1"/>
          <p:nvPr/>
        </p:nvSpPr>
        <p:spPr>
          <a:xfrm>
            <a:off x="84823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27" name="bld5_2818"/>
          <p:cNvSpPr txBox="1"/>
          <p:nvPr/>
        </p:nvSpPr>
        <p:spPr>
          <a:xfrm>
            <a:off x="848234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forming</a:t>
            </a:r>
            <a:endParaRPr lang="en-US" sz="1050" dirty="0"/>
          </a:p>
        </p:txBody>
      </p:sp>
      <p:sp>
        <p:nvSpPr>
          <p:cNvPr id="28" name="bld6_2819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9" name="bld6_2820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30" name="bld6_2821"/>
          <p:cNvSpPr txBox="1"/>
          <p:nvPr/>
        </p:nvSpPr>
        <p:spPr>
          <a:xfrm>
            <a:off x="10591495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</a:t>
            </a:r>
            <a:endParaRPr lang="en-US" sz="1200" dirty="0"/>
          </a:p>
        </p:txBody>
      </p:sp>
      <p:sp>
        <p:nvSpPr>
          <p:cNvPr id="31" name="bld6_2822"/>
          <p:cNvSpPr txBox="1"/>
          <p:nvPr/>
        </p:nvSpPr>
        <p:spPr>
          <a:xfrm>
            <a:off x="10591495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verdict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formula judged only at 0 minutes has not really been evaluated at all.</a:t>
            </a:r>
            <a:endParaRPr lang="en-US" sz="1250" dirty="0"/>
          </a:p>
        </p:txBody>
      </p:sp>
      <p:sp>
        <p:nvSpPr>
          <p:cNvPr id="34" name="trans_push_l_18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an accord or formula, not "do I like it?"</a:t>
            </a:r>
            <a:endParaRPr lang="en-US" sz="3200" dirty="0"/>
          </a:p>
        </p:txBody>
      </p:sp>
      <p:sp>
        <p:nvSpPr>
          <p:cNvPr id="7" name="bld1_2823"/>
          <p:cNvSpPr txBox="1"/>
          <p:nvPr/>
        </p:nvSpPr>
        <p:spPr>
          <a:xfrm>
            <a:off x="548640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STAGES</a:t>
            </a:r>
            <a:endParaRPr lang="en-US" sz="1250" dirty="0"/>
          </a:p>
        </p:txBody>
      </p:sp>
      <p:sp>
        <p:nvSpPr>
          <p:cNvPr id="8" name="bld1_2824"/>
          <p:cNvSpPr/>
          <p:nvPr/>
        </p:nvSpPr>
        <p:spPr>
          <a:xfrm>
            <a:off x="548640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2825"/>
          <p:cNvSpPr txBox="1"/>
          <p:nvPr/>
        </p:nvSpPr>
        <p:spPr>
          <a:xfrm>
            <a:off x="841248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— strong enough, or does it vanish?</a:t>
            </a:r>
            <a:endParaRPr lang="en-US" sz="1200" dirty="0"/>
          </a:p>
        </p:txBody>
      </p:sp>
      <p:sp>
        <p:nvSpPr>
          <p:cNvPr id="10" name="bld1_2826"/>
          <p:cNvSpPr/>
          <p:nvPr/>
        </p:nvSpPr>
        <p:spPr>
          <a:xfrm>
            <a:off x="548640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2827"/>
          <p:cNvSpPr txBox="1"/>
          <p:nvPr/>
        </p:nvSpPr>
        <p:spPr>
          <a:xfrm>
            <a:off x="841248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— does it hold attention once the top fades?</a:t>
            </a:r>
            <a:endParaRPr lang="en-US" sz="1200" dirty="0"/>
          </a:p>
        </p:txBody>
      </p:sp>
      <p:sp>
        <p:nvSpPr>
          <p:cNvPr id="12" name="bld1_2828"/>
          <p:cNvSpPr/>
          <p:nvPr/>
        </p:nvSpPr>
        <p:spPr>
          <a:xfrm>
            <a:off x="548640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2829"/>
          <p:cNvSpPr txBox="1"/>
          <p:nvPr/>
        </p:nvSpPr>
        <p:spPr>
          <a:xfrm>
            <a:off x="841248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Drydown — does the ending still serve the idea?</a:t>
            </a:r>
            <a:endParaRPr lang="en-US" sz="1200" dirty="0"/>
          </a:p>
        </p:txBody>
      </p:sp>
      <p:sp>
        <p:nvSpPr>
          <p:cNvPr id="14" name="bld1_2830"/>
          <p:cNvSpPr/>
          <p:nvPr/>
        </p:nvSpPr>
        <p:spPr>
          <a:xfrm>
            <a:off x="548640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5" name="bld1_2831"/>
          <p:cNvSpPr txBox="1"/>
          <p:nvPr/>
        </p:nvSpPr>
        <p:spPr>
          <a:xfrm>
            <a:off x="841248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— does it project, or stay too close to the skin?</a:t>
            </a:r>
            <a:endParaRPr lang="en-US" sz="1200" dirty="0"/>
          </a:p>
        </p:txBody>
      </p:sp>
      <p:sp>
        <p:nvSpPr>
          <p:cNvPr id="16" name="bld2_2832"/>
          <p:cNvSpPr txBox="1"/>
          <p:nvPr/>
        </p:nvSpPr>
        <p:spPr>
          <a:xfrm>
            <a:off x="4353458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&amp; PERFORMANCE</a:t>
            </a:r>
            <a:endParaRPr lang="en-US" sz="1250" dirty="0"/>
          </a:p>
        </p:txBody>
      </p:sp>
      <p:sp>
        <p:nvSpPr>
          <p:cNvPr id="17" name="bld2_2833"/>
          <p:cNvSpPr/>
          <p:nvPr/>
        </p:nvSpPr>
        <p:spPr>
          <a:xfrm>
            <a:off x="4353458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8" name="bld2_2834"/>
          <p:cNvSpPr txBox="1"/>
          <p:nvPr/>
        </p:nvSpPr>
        <p:spPr>
          <a:xfrm>
            <a:off x="4646066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— sweet, dry, green or heavy: is anything overdone?</a:t>
            </a:r>
            <a:endParaRPr lang="en-US" sz="1200" dirty="0"/>
          </a:p>
        </p:txBody>
      </p:sp>
      <p:sp>
        <p:nvSpPr>
          <p:cNvPr id="19" name="bld2_2835"/>
          <p:cNvSpPr/>
          <p:nvPr/>
        </p:nvSpPr>
        <p:spPr>
          <a:xfrm>
            <a:off x="4353458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0" name="bld2_2836"/>
          <p:cNvSpPr txBox="1"/>
          <p:nvPr/>
        </p:nvSpPr>
        <p:spPr>
          <a:xfrm>
            <a:off x="4646066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 — does it feel bright, or does it read stale?</a:t>
            </a:r>
            <a:endParaRPr lang="en-US" sz="1200" dirty="0"/>
          </a:p>
        </p:txBody>
      </p:sp>
      <p:sp>
        <p:nvSpPr>
          <p:cNvPr id="21" name="bld2_2837"/>
          <p:cNvSpPr/>
          <p:nvPr/>
        </p:nvSpPr>
        <p:spPr>
          <a:xfrm>
            <a:off x="4353458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2" name="bld2_2838"/>
          <p:cNvSpPr txBox="1"/>
          <p:nvPr/>
        </p:nvSpPr>
        <p:spPr>
          <a:xfrm>
            <a:off x="4646066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— smooth or rough at each stage?</a:t>
            </a:r>
            <a:endParaRPr lang="en-US" sz="1200" dirty="0"/>
          </a:p>
        </p:txBody>
      </p:sp>
      <p:sp>
        <p:nvSpPr>
          <p:cNvPr id="23" name="bld2_2839"/>
          <p:cNvSpPr/>
          <p:nvPr/>
        </p:nvSpPr>
        <p:spPr>
          <a:xfrm>
            <a:off x="4353458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4" name="bld2_2840"/>
          <p:cNvSpPr txBox="1"/>
          <p:nvPr/>
        </p:nvSpPr>
        <p:spPr>
          <a:xfrm>
            <a:off x="4646066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&amp; longevity — how loud is it, and how long does it actually last?</a:t>
            </a:r>
            <a:endParaRPr lang="en-US" sz="1200" dirty="0"/>
          </a:p>
        </p:txBody>
      </p:sp>
      <p:sp>
        <p:nvSpPr>
          <p:cNvPr id="25" name="bld3_2841"/>
          <p:cNvSpPr txBox="1"/>
          <p:nvPr/>
        </p:nvSpPr>
        <p:spPr>
          <a:xfrm>
            <a:off x="8158277" y="271576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DIRECTION</a:t>
            </a:r>
            <a:endParaRPr lang="en-US" sz="1250" dirty="0"/>
          </a:p>
        </p:txBody>
      </p:sp>
      <p:sp>
        <p:nvSpPr>
          <p:cNvPr id="26" name="bld3_2842"/>
          <p:cNvSpPr/>
          <p:nvPr/>
        </p:nvSpPr>
        <p:spPr>
          <a:xfrm>
            <a:off x="8158277" y="31729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7" name="bld3_2843"/>
          <p:cNvSpPr txBox="1"/>
          <p:nvPr/>
        </p:nvSpPr>
        <p:spPr>
          <a:xfrm>
            <a:off x="8450885" y="31089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dominating the formula?</a:t>
            </a:r>
            <a:endParaRPr lang="en-US" sz="1200" dirty="0"/>
          </a:p>
        </p:txBody>
      </p:sp>
      <p:sp>
        <p:nvSpPr>
          <p:cNvPr id="28" name="bld3_2844"/>
          <p:cNvSpPr/>
          <p:nvPr/>
        </p:nvSpPr>
        <p:spPr>
          <a:xfrm>
            <a:off x="8158277" y="36301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9" name="bld3_2845"/>
          <p:cNvSpPr txBox="1"/>
          <p:nvPr/>
        </p:nvSpPr>
        <p:spPr>
          <a:xfrm>
            <a:off x="8450885" y="35661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from it?</a:t>
            </a:r>
            <a:endParaRPr lang="en-US" sz="1200" dirty="0"/>
          </a:p>
        </p:txBody>
      </p:sp>
      <p:sp>
        <p:nvSpPr>
          <p:cNvPr id="30" name="bld3_2846"/>
          <p:cNvSpPr/>
          <p:nvPr/>
        </p:nvSpPr>
        <p:spPr>
          <a:xfrm>
            <a:off x="8158277" y="40873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1" name="bld3_2847"/>
          <p:cNvSpPr txBox="1"/>
          <p:nvPr/>
        </p:nvSpPr>
        <p:spPr>
          <a:xfrm>
            <a:off x="8450885" y="40233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increase or decrease first?</a:t>
            </a:r>
            <a:endParaRPr lang="en-US" sz="1200" dirty="0"/>
          </a:p>
        </p:txBody>
      </p:sp>
      <p:sp>
        <p:nvSpPr>
          <p:cNvPr id="32" name="bld3_2848"/>
          <p:cNvSpPr/>
          <p:nvPr/>
        </p:nvSpPr>
        <p:spPr>
          <a:xfrm>
            <a:off x="8158277" y="454456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33" name="bld3_2849"/>
          <p:cNvSpPr txBox="1"/>
          <p:nvPr/>
        </p:nvSpPr>
        <p:spPr>
          <a:xfrm>
            <a:off x="8450885" y="448056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still match the original brief?</a:t>
            </a:r>
            <a:endParaRPr lang="en-US" sz="1200" dirty="0"/>
          </a:p>
        </p:txBody>
      </p:sp>
      <p:sp>
        <p:nvSpPr>
          <p:cNvPr id="35" name="trans_fade_18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6" name="Text 3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FIX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a rough formula</a:t>
            </a:r>
            <a:endParaRPr lang="en-US" sz="3200" dirty="0"/>
          </a:p>
        </p:txBody>
      </p:sp>
      <p:sp>
        <p:nvSpPr>
          <p:cNvPr id="7" name="bld1_2850"/>
          <p:cNvSpPr/>
          <p:nvPr/>
        </p:nvSpPr>
        <p:spPr>
          <a:xfrm>
            <a:off x="548640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851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852"/>
          <p:cNvSpPr txBox="1"/>
          <p:nvPr/>
        </p:nvSpPr>
        <p:spPr>
          <a:xfrm>
            <a:off x="731520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flat or boring</a:t>
            </a:r>
            <a:endParaRPr lang="en-US" sz="1450" dirty="0"/>
          </a:p>
        </p:txBody>
      </p:sp>
      <p:sp>
        <p:nvSpPr>
          <p:cNvPr id="10" name="bld1_2853"/>
          <p:cNvSpPr txBox="1"/>
          <p:nvPr/>
        </p:nvSpPr>
        <p:spPr>
          <a:xfrm>
            <a:off x="731520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diffusive material — Hedione or a fresh citrus top — to open the formula up and give it lift.</a:t>
            </a:r>
            <a:endParaRPr lang="en-US" sz="1080" dirty="0"/>
          </a:p>
        </p:txBody>
      </p:sp>
      <p:sp>
        <p:nvSpPr>
          <p:cNvPr id="11" name="bld2_2854"/>
          <p:cNvSpPr/>
          <p:nvPr/>
        </p:nvSpPr>
        <p:spPr>
          <a:xfrm>
            <a:off x="4332122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855"/>
          <p:cNvSpPr/>
          <p:nvPr/>
        </p:nvSpPr>
        <p:spPr>
          <a:xfrm>
            <a:off x="450585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856"/>
          <p:cNvSpPr txBox="1"/>
          <p:nvPr/>
        </p:nvSpPr>
        <p:spPr>
          <a:xfrm>
            <a:off x="4515002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sweet or cloying</a:t>
            </a:r>
            <a:endParaRPr lang="en-US" sz="1450" dirty="0"/>
          </a:p>
        </p:txBody>
      </p:sp>
      <p:sp>
        <p:nvSpPr>
          <p:cNvPr id="14" name="bld2_2857"/>
          <p:cNvSpPr txBox="1"/>
          <p:nvPr/>
        </p:nvSpPr>
        <p:spPr>
          <a:xfrm>
            <a:off x="4515002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gourmand materials, or add a dry, bitter contrast like vetiver or bergamot to cut through it.</a:t>
            </a:r>
            <a:endParaRPr lang="en-US" sz="1080" dirty="0"/>
          </a:p>
        </p:txBody>
      </p:sp>
      <p:sp>
        <p:nvSpPr>
          <p:cNvPr id="15" name="bld3_2858"/>
          <p:cNvSpPr/>
          <p:nvPr/>
        </p:nvSpPr>
        <p:spPr>
          <a:xfrm>
            <a:off x="8115605" y="1922435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859"/>
          <p:cNvSpPr/>
          <p:nvPr/>
        </p:nvSpPr>
        <p:spPr>
          <a:xfrm>
            <a:off x="8289341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860"/>
          <p:cNvSpPr txBox="1"/>
          <p:nvPr/>
        </p:nvSpPr>
        <p:spPr>
          <a:xfrm>
            <a:off x="8298485" y="2379635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Doesn't last</a:t>
            </a:r>
            <a:endParaRPr lang="en-US" sz="1450" dirty="0"/>
          </a:p>
        </p:txBody>
      </p:sp>
      <p:sp>
        <p:nvSpPr>
          <p:cNvPr id="18" name="bld3_2861"/>
          <p:cNvSpPr txBox="1"/>
          <p:nvPr/>
        </p:nvSpPr>
        <p:spPr>
          <a:xfrm>
            <a:off x="8298485" y="2708819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fixative or base material — a musk, a resin, a heavier wood — to anchor the drydown.</a:t>
            </a:r>
            <a:endParaRPr lang="en-US" sz="1080" dirty="0"/>
          </a:p>
        </p:txBody>
      </p:sp>
      <p:sp>
        <p:nvSpPr>
          <p:cNvPr id="19" name="bld4_2862"/>
          <p:cNvSpPr/>
          <p:nvPr/>
        </p:nvSpPr>
        <p:spPr>
          <a:xfrm>
            <a:off x="548640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863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1" name="bld4_2864"/>
          <p:cNvSpPr txBox="1"/>
          <p:nvPr/>
        </p:nvSpPr>
        <p:spPr>
          <a:xfrm>
            <a:off x="731520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material dominates</a:t>
            </a:r>
            <a:endParaRPr lang="en-US" sz="1450" dirty="0"/>
          </a:p>
        </p:txBody>
      </p:sp>
      <p:sp>
        <p:nvSpPr>
          <p:cNvPr id="22" name="bld4_2865"/>
          <p:cNvSpPr txBox="1"/>
          <p:nvPr/>
        </p:nvSpPr>
        <p:spPr>
          <a:xfrm>
            <a:off x="731520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that material's percentage in small increments, re-evaluating on a fresh strip after each change.</a:t>
            </a:r>
            <a:endParaRPr lang="en-US" sz="1080" dirty="0"/>
          </a:p>
        </p:txBody>
      </p:sp>
      <p:sp>
        <p:nvSpPr>
          <p:cNvPr id="23" name="bld5_2866"/>
          <p:cNvSpPr/>
          <p:nvPr/>
        </p:nvSpPr>
        <p:spPr>
          <a:xfrm>
            <a:off x="4332122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867"/>
          <p:cNvSpPr/>
          <p:nvPr/>
        </p:nvSpPr>
        <p:spPr>
          <a:xfrm>
            <a:off x="4505858" y="4135283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5_2868"/>
          <p:cNvSpPr txBox="1"/>
          <p:nvPr/>
        </p:nvSpPr>
        <p:spPr>
          <a:xfrm>
            <a:off x="4515002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Feels harsh or rough</a:t>
            </a:r>
            <a:endParaRPr lang="en-US" sz="1450" dirty="0"/>
          </a:p>
        </p:txBody>
      </p:sp>
      <p:sp>
        <p:nvSpPr>
          <p:cNvPr id="26" name="bld5_2869"/>
          <p:cNvSpPr txBox="1"/>
          <p:nvPr/>
        </p:nvSpPr>
        <p:spPr>
          <a:xfrm>
            <a:off x="4515002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the edges with a diffusive floral or a soft musk — they round out sharp, isolated materials.</a:t>
            </a:r>
            <a:endParaRPr lang="en-US" sz="1080" dirty="0"/>
          </a:p>
        </p:txBody>
      </p:sp>
      <p:sp>
        <p:nvSpPr>
          <p:cNvPr id="27" name="bld6_2870"/>
          <p:cNvSpPr/>
          <p:nvPr/>
        </p:nvSpPr>
        <p:spPr>
          <a:xfrm>
            <a:off x="8115605" y="3961547"/>
            <a:ext cx="352745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2871"/>
          <p:cNvSpPr/>
          <p:nvPr/>
        </p:nvSpPr>
        <p:spPr>
          <a:xfrm>
            <a:off x="8289341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2872"/>
          <p:cNvSpPr txBox="1"/>
          <p:nvPr/>
        </p:nvSpPr>
        <p:spPr>
          <a:xfrm>
            <a:off x="8298485" y="4418747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Opening is weak</a:t>
            </a:r>
            <a:endParaRPr lang="en-US" sz="1450" dirty="0"/>
          </a:p>
        </p:txBody>
      </p:sp>
      <p:sp>
        <p:nvSpPr>
          <p:cNvPr id="30" name="bld6_2873"/>
          <p:cNvSpPr txBox="1"/>
          <p:nvPr/>
        </p:nvSpPr>
        <p:spPr>
          <a:xfrm>
            <a:off x="8298485" y="4747931"/>
            <a:ext cx="316169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the top-note percentage, or add a lift material like an aldehyde or citrus booster.</a:t>
            </a:r>
            <a:endParaRPr lang="en-US" sz="1080" dirty="0"/>
          </a:p>
        </p:txBody>
      </p:sp>
      <p:sp>
        <p:nvSpPr>
          <p:cNvPr id="32" name="trans_fade_18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3" name="Text 3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development cycle</a:t>
            </a:r>
            <a:endParaRPr lang="en-US" sz="3200" dirty="0"/>
          </a:p>
        </p:txBody>
      </p:sp>
      <p:sp>
        <p:nvSpPr>
          <p:cNvPr id="7" name="bld1_2874"/>
          <p:cNvSpPr/>
          <p:nvPr/>
        </p:nvSpPr>
        <p:spPr>
          <a:xfrm>
            <a:off x="548640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875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876"/>
          <p:cNvSpPr txBox="1"/>
          <p:nvPr/>
        </p:nvSpPr>
        <p:spPr>
          <a:xfrm>
            <a:off x="713232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10" name="bld1_2877"/>
          <p:cNvSpPr txBox="1"/>
          <p:nvPr/>
        </p:nvSpPr>
        <p:spPr>
          <a:xfrm>
            <a:off x="713232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version.</a:t>
            </a:r>
            <a:endParaRPr lang="en-US" sz="1000" dirty="0"/>
          </a:p>
        </p:txBody>
      </p:sp>
      <p:sp>
        <p:nvSpPr>
          <p:cNvPr id="11" name="bld1_2878"/>
          <p:cNvSpPr txBox="1"/>
          <p:nvPr/>
        </p:nvSpPr>
        <p:spPr>
          <a:xfrm>
            <a:off x="21310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879"/>
          <p:cNvSpPr/>
          <p:nvPr/>
        </p:nvSpPr>
        <p:spPr>
          <a:xfrm>
            <a:off x="2451049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880"/>
          <p:cNvSpPr txBox="1"/>
          <p:nvPr/>
        </p:nvSpPr>
        <p:spPr>
          <a:xfrm>
            <a:off x="26156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881"/>
          <p:cNvSpPr txBox="1"/>
          <p:nvPr/>
        </p:nvSpPr>
        <p:spPr>
          <a:xfrm>
            <a:off x="2615641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450" dirty="0"/>
          </a:p>
        </p:txBody>
      </p:sp>
      <p:sp>
        <p:nvSpPr>
          <p:cNvPr id="15" name="bld2_2882"/>
          <p:cNvSpPr txBox="1"/>
          <p:nvPr/>
        </p:nvSpPr>
        <p:spPr>
          <a:xfrm>
            <a:off x="2615641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and dilute it.</a:t>
            </a:r>
            <a:endParaRPr lang="en-US" sz="1000" dirty="0"/>
          </a:p>
        </p:txBody>
      </p:sp>
      <p:sp>
        <p:nvSpPr>
          <p:cNvPr id="16" name="bld2_2883"/>
          <p:cNvSpPr txBox="1"/>
          <p:nvPr/>
        </p:nvSpPr>
        <p:spPr>
          <a:xfrm>
            <a:off x="403341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884"/>
          <p:cNvSpPr/>
          <p:nvPr/>
        </p:nvSpPr>
        <p:spPr>
          <a:xfrm>
            <a:off x="435345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885"/>
          <p:cNvSpPr txBox="1"/>
          <p:nvPr/>
        </p:nvSpPr>
        <p:spPr>
          <a:xfrm>
            <a:off x="451805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886"/>
          <p:cNvSpPr txBox="1"/>
          <p:nvPr/>
        </p:nvSpPr>
        <p:spPr>
          <a:xfrm>
            <a:off x="451805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450" dirty="0"/>
          </a:p>
        </p:txBody>
      </p:sp>
      <p:sp>
        <p:nvSpPr>
          <p:cNvPr id="20" name="bld3_2887"/>
          <p:cNvSpPr txBox="1"/>
          <p:nvPr/>
        </p:nvSpPr>
        <p:spPr>
          <a:xfrm>
            <a:off x="451805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it across 48 hours.</a:t>
            </a:r>
            <a:endParaRPr lang="en-US" sz="1000" dirty="0"/>
          </a:p>
        </p:txBody>
      </p:sp>
      <p:sp>
        <p:nvSpPr>
          <p:cNvPr id="21" name="bld3_2888"/>
          <p:cNvSpPr txBox="1"/>
          <p:nvPr/>
        </p:nvSpPr>
        <p:spPr>
          <a:xfrm>
            <a:off x="5935828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889"/>
          <p:cNvSpPr/>
          <p:nvPr/>
        </p:nvSpPr>
        <p:spPr>
          <a:xfrm>
            <a:off x="6255868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890"/>
          <p:cNvSpPr txBox="1"/>
          <p:nvPr/>
        </p:nvSpPr>
        <p:spPr>
          <a:xfrm>
            <a:off x="6420460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891"/>
          <p:cNvSpPr txBox="1"/>
          <p:nvPr/>
        </p:nvSpPr>
        <p:spPr>
          <a:xfrm>
            <a:off x="6420460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issue</a:t>
            </a:r>
            <a:endParaRPr lang="en-US" sz="1450" dirty="0"/>
          </a:p>
        </p:txBody>
      </p:sp>
      <p:sp>
        <p:nvSpPr>
          <p:cNvPr id="25" name="bld4_2892"/>
          <p:cNvSpPr txBox="1"/>
          <p:nvPr/>
        </p:nvSpPr>
        <p:spPr>
          <a:xfrm>
            <a:off x="6420460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specific problem.</a:t>
            </a:r>
            <a:endParaRPr lang="en-US" sz="1000" dirty="0"/>
          </a:p>
        </p:txBody>
      </p:sp>
      <p:sp>
        <p:nvSpPr>
          <p:cNvPr id="26" name="bld4_2893"/>
          <p:cNvSpPr txBox="1"/>
          <p:nvPr/>
        </p:nvSpPr>
        <p:spPr>
          <a:xfrm>
            <a:off x="7838237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894"/>
          <p:cNvSpPr/>
          <p:nvPr/>
        </p:nvSpPr>
        <p:spPr>
          <a:xfrm>
            <a:off x="8158277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895"/>
          <p:cNvSpPr txBox="1"/>
          <p:nvPr/>
        </p:nvSpPr>
        <p:spPr>
          <a:xfrm>
            <a:off x="8322869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896"/>
          <p:cNvSpPr txBox="1"/>
          <p:nvPr/>
        </p:nvSpPr>
        <p:spPr>
          <a:xfrm>
            <a:off x="8322869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</a:t>
            </a:r>
            <a:endParaRPr lang="en-US" sz="1450" dirty="0"/>
          </a:p>
        </p:txBody>
      </p:sp>
      <p:sp>
        <p:nvSpPr>
          <p:cNvPr id="30" name="bld5_2897"/>
          <p:cNvSpPr txBox="1"/>
          <p:nvPr/>
        </p:nvSpPr>
        <p:spPr>
          <a:xfrm>
            <a:off x="8322869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thing.</a:t>
            </a:r>
            <a:endParaRPr lang="en-US" sz="1000" dirty="0"/>
          </a:p>
        </p:txBody>
      </p:sp>
      <p:sp>
        <p:nvSpPr>
          <p:cNvPr id="31" name="bld5_2898"/>
          <p:cNvSpPr txBox="1"/>
          <p:nvPr/>
        </p:nvSpPr>
        <p:spPr>
          <a:xfrm>
            <a:off x="97406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bld6_2899"/>
          <p:cNvSpPr/>
          <p:nvPr/>
        </p:nvSpPr>
        <p:spPr>
          <a:xfrm>
            <a:off x="10060686" y="2922422"/>
            <a:ext cx="1582369" cy="2148840"/>
          </a:xfrm>
          <a:prstGeom prst="roundRect">
            <a:avLst>
              <a:gd name="adj" fmla="val 5779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2900"/>
          <p:cNvSpPr txBox="1"/>
          <p:nvPr/>
        </p:nvSpPr>
        <p:spPr>
          <a:xfrm>
            <a:off x="102252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bld6_2901"/>
          <p:cNvSpPr txBox="1"/>
          <p:nvPr/>
        </p:nvSpPr>
        <p:spPr>
          <a:xfrm>
            <a:off x="10225278" y="3452774"/>
            <a:ext cx="125318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</a:t>
            </a:r>
            <a:endParaRPr lang="en-US" sz="1450" dirty="0"/>
          </a:p>
        </p:txBody>
      </p:sp>
      <p:sp>
        <p:nvSpPr>
          <p:cNvPr id="35" name="bld6_2902"/>
          <p:cNvSpPr txBox="1"/>
          <p:nvPr/>
        </p:nvSpPr>
        <p:spPr>
          <a:xfrm>
            <a:off x="10225278" y="3946550"/>
            <a:ext cx="125318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the next version.</a:t>
            </a:r>
            <a:endParaRPr lang="en-US" sz="1000" dirty="0"/>
          </a:p>
        </p:txBody>
      </p:sp>
      <p:sp>
        <p:nvSpPr>
          <p:cNvPr id="37" name="trans_push_l_18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73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NOT GUESSWORK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EVALUATING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Changing formulas the right way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something feels off, just add a bit of everything and see if it improves."</a:t>
            </a:r>
            <a:endParaRPr lang="en-US" sz="2100" dirty="0"/>
          </a:p>
        </p:txBody>
      </p:sp>
      <p:sp>
        <p:nvSpPr>
          <p:cNvPr id="10" name="bld1_2903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2904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2905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simultaneous changes destroy your ability to learn anything — if three things change and the formula improves, you'll never know which one mattered. Identify the specific issue, change exactly one variable, and re-evaluate before touching anything else.</a:t>
            </a:r>
            <a:endParaRPr lang="en-US" sz="1450" dirty="0"/>
          </a:p>
        </p:txBody>
      </p:sp>
      <p:sp>
        <p:nvSpPr>
          <p:cNvPr id="14" name="trans_wipe_l_18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B3A52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B3A5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B3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version is a data point, not a verdict.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across 48 hours before you judge.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08</a:t>
            </a:r>
            <a:endParaRPr lang="en-US" sz="1100" dirty="0"/>
          </a:p>
        </p:txBody>
      </p:sp>
      <p:sp>
        <p:nvSpPr>
          <p:cNvPr id="10" name="trans_fade_19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06227" y="2096719"/>
            <a:ext cx="321466" cy="746077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6354" y="2629632"/>
            <a:ext cx="1461211" cy="2131649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70148" y="3482291"/>
            <a:ext cx="993624" cy="1225698"/>
          </a:xfrm>
          <a:prstGeom prst="triangle">
            <a:avLst/>
          </a:prstGeom>
          <a:solidFill>
            <a:srgbClr val="B5652D">
              <a:alpha val="90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ALCOHOL &amp; COMPOUNDING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Alcohol, Scaling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Compounding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finished concentrate into a real, wearable perfume.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 vs. everyday alcohol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formula up from a small test batch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Compounding, bottling and labelling basics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0" name="trans_fade_19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A FORMULA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percentages, at any batch size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95454" y="4427553"/>
            <a:ext cx="1460021" cy="1460021"/>
          </a:xfrm>
          <a:prstGeom prst="ellipse">
            <a:avLst/>
          </a:prstGeom>
          <a:solidFill>
            <a:srgbClr val="C9A354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997656" y="4529754"/>
            <a:ext cx="1255618" cy="1255618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10" name="Shape 8"/>
          <p:cNvSpPr/>
          <p:nvPr/>
        </p:nvSpPr>
        <p:spPr>
          <a:xfrm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21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43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64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86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296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512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1728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19440000">
            <a:off x="10588964" y="4573555"/>
            <a:ext cx="73001" cy="569408"/>
          </a:xfrm>
          <a:prstGeom prst="ellipse">
            <a:avLst/>
          </a:prstGeom>
          <a:solidFill>
            <a:srgbClr val="C9A354">
              <a:alpha val="8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52464" y="5084562"/>
            <a:ext cx="146002" cy="146002"/>
          </a:xfrm>
          <a:prstGeom prst="ellipse">
            <a:avLst/>
          </a:prstGeom>
          <a:solidFill>
            <a:srgbClr val="FAF6EC"/>
          </a:solidFill>
          <a:ln/>
        </p:spPr>
      </p:sp>
      <p:sp>
        <p:nvSpPr>
          <p:cNvPr id="21" name="bld1_2906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bld1_2907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3" name="bld1_2908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10g batch</a:t>
            </a:r>
            <a:endParaRPr lang="en-US" sz="1450" dirty="0"/>
          </a:p>
        </p:txBody>
      </p:sp>
      <p:sp>
        <p:nvSpPr>
          <p:cNvPr id="24" name="bld1_2909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cheap testing size — ideal for early versions.</a:t>
            </a:r>
            <a:endParaRPr lang="en-US" sz="1080" dirty="0"/>
          </a:p>
        </p:txBody>
      </p:sp>
      <p:sp>
        <p:nvSpPr>
          <p:cNvPr id="25" name="bld2_2910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bld2_2911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7" name="bld2_2912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100g batch</a:t>
            </a:r>
            <a:endParaRPr lang="en-US" sz="1450" dirty="0"/>
          </a:p>
        </p:txBody>
      </p:sp>
      <p:sp>
        <p:nvSpPr>
          <p:cNvPr id="28" name="bld2_2913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comfortable size for refined, near-final formulas.</a:t>
            </a:r>
            <a:endParaRPr lang="en-US" sz="1080" dirty="0"/>
          </a:p>
        </p:txBody>
      </p:sp>
      <p:sp>
        <p:nvSpPr>
          <p:cNvPr id="29" name="bld3_2914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bld3_2915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31" name="bld3_2916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1kg batch</a:t>
            </a:r>
            <a:endParaRPr lang="en-US" sz="1450" dirty="0"/>
          </a:p>
        </p:txBody>
      </p:sp>
      <p:sp>
        <p:nvSpPr>
          <p:cNvPr id="32" name="bld3_2917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 — once the formula is truly locked.</a:t>
            </a:r>
            <a:endParaRPr lang="en-US" sz="1080" dirty="0"/>
          </a:p>
        </p:txBody>
      </p:sp>
      <p:sp>
        <p:nvSpPr>
          <p:cNvPr id="34" name="trans_fade_19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ALCOHOL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+ perfumer's alcohol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Eau de Parfum ratio, expressed simply.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solidFill>
            <a:srgbClr val="C9A354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26770"/>
            <a:ext cx="221888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solidFill>
            <a:srgbClr val="CFC5AE">
              <a:alpha val="96000"/>
            </a:srgbClr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67523" y="3326770"/>
            <a:ext cx="88755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12" name="bld1_2918"/>
          <p:cNvSpPr/>
          <p:nvPr/>
        </p:nvSpPr>
        <p:spPr>
          <a:xfrm>
            <a:off x="566928" y="4369186"/>
            <a:ext cx="164592" cy="164592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3" name="bld1_2919"/>
          <p:cNvSpPr txBox="1"/>
          <p:nvPr/>
        </p:nvSpPr>
        <p:spPr>
          <a:xfrm>
            <a:off x="841248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concentrate  —  20%</a:t>
            </a:r>
            <a:endParaRPr lang="en-US" sz="1250" dirty="0"/>
          </a:p>
        </p:txBody>
      </p:sp>
      <p:sp>
        <p:nvSpPr>
          <p:cNvPr id="14" name="bld1_2920"/>
          <p:cNvSpPr txBox="1"/>
          <p:nvPr/>
        </p:nvSpPr>
        <p:spPr>
          <a:xfrm>
            <a:off x="841248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formula</a:t>
            </a:r>
            <a:endParaRPr lang="en-US" sz="1000" dirty="0"/>
          </a:p>
        </p:txBody>
      </p:sp>
      <p:sp>
        <p:nvSpPr>
          <p:cNvPr id="15" name="bld2_2921"/>
          <p:cNvSpPr/>
          <p:nvPr/>
        </p:nvSpPr>
        <p:spPr>
          <a:xfrm>
            <a:off x="6297016" y="4369186"/>
            <a:ext cx="164592" cy="164592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16" name="bld2_2922"/>
          <p:cNvSpPr txBox="1"/>
          <p:nvPr/>
        </p:nvSpPr>
        <p:spPr>
          <a:xfrm>
            <a:off x="6571336" y="4286890"/>
            <a:ext cx="4175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Perfumer's alcohol  —  80%</a:t>
            </a:r>
            <a:endParaRPr lang="en-US" sz="1250" dirty="0"/>
          </a:p>
        </p:txBody>
      </p:sp>
      <p:sp>
        <p:nvSpPr>
          <p:cNvPr id="17" name="bld2_2923"/>
          <p:cNvSpPr txBox="1"/>
          <p:nvPr/>
        </p:nvSpPr>
        <p:spPr>
          <a:xfrm>
            <a:off x="6571336" y="4561210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carrier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31375" y="294272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100%</a:t>
            </a:r>
            <a:endParaRPr lang="en-US" sz="1100" dirty="0"/>
          </a:p>
        </p:txBody>
      </p:sp>
      <p:sp>
        <p:nvSpPr>
          <p:cNvPr id="20" name="trans_push_l_19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1" name="Text 1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WITH CARE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is optional, not required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81756" y="1355141"/>
            <a:ext cx="331903" cy="1161361"/>
          </a:xfrm>
          <a:prstGeom prst="rect">
            <a:avLst/>
          </a:prstGeom>
          <a:solidFill>
            <a:srgbClr val="CFC5AE">
              <a:alpha val="5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93382" y="2184684"/>
            <a:ext cx="1508650" cy="3318175"/>
          </a:xfrm>
          <a:prstGeom prst="triangle">
            <a:avLst/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34767" y="3511954"/>
            <a:ext cx="1025882" cy="1907950"/>
          </a:xfrm>
          <a:prstGeom prst="triangle">
            <a:avLst/>
          </a:prstGeom>
          <a:solidFill>
            <a:srgbClr val="CFC5AE">
              <a:alpha val="90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is a signal — always check your finished compound in good light.</a:t>
            </a:r>
            <a:endParaRPr lang="en-US" sz="1050" dirty="0"/>
          </a:p>
        </p:txBody>
      </p:sp>
      <p:sp>
        <p:nvSpPr>
          <p:cNvPr id="14" name="bld1_292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5" name="bld1_292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fine fragrances skip it entirely</a:t>
            </a:r>
            <a:endParaRPr lang="en-US" sz="1650" dirty="0"/>
          </a:p>
        </p:txBody>
      </p:sp>
      <p:sp>
        <p:nvSpPr>
          <p:cNvPr id="16" name="bld1_2926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alcohol-based EDPs and extraits work perfectly well as concentrate and alcohol alone, with no water added at all.</a:t>
            </a:r>
            <a:endParaRPr lang="en-US" sz="1250" dirty="0"/>
          </a:p>
        </p:txBody>
      </p:sp>
      <p:sp>
        <p:nvSpPr>
          <p:cNvPr id="17" name="bld2_2927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2_2928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only for a specific reason</a:t>
            </a:r>
            <a:endParaRPr lang="en-US" sz="1650" dirty="0"/>
          </a:p>
        </p:txBody>
      </p:sp>
      <p:sp>
        <p:nvSpPr>
          <p:cNvPr id="19" name="bld2_2929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amount can soften alcohol's harshness or adjust the final feel — add it deliberately, never as a default step.</a:t>
            </a:r>
            <a:endParaRPr lang="en-US" sz="1250" dirty="0"/>
          </a:p>
        </p:txBody>
      </p:sp>
      <p:sp>
        <p:nvSpPr>
          <p:cNvPr id="20" name="bld3_2930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3_2931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do use it, use purified water</a:t>
            </a:r>
            <a:endParaRPr lang="en-US" sz="1650" dirty="0"/>
          </a:p>
        </p:txBody>
      </p:sp>
      <p:sp>
        <p:nvSpPr>
          <p:cNvPr id="22" name="bld3_2932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Purified, distilled or deionised water only — tap water's minerals and impurities can cloud a compound or shorten its shelf life.</a:t>
            </a:r>
            <a:endParaRPr lang="en-US" sz="1250" dirty="0"/>
          </a:p>
        </p:txBody>
      </p:sp>
      <p:sp>
        <p:nvSpPr>
          <p:cNvPr id="23" name="bld4_293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4_2934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Cloudiness is a warning sign</a:t>
            </a:r>
            <a:endParaRPr lang="en-US" sz="1650" dirty="0"/>
          </a:p>
        </p:txBody>
      </p:sp>
      <p:sp>
        <p:nvSpPr>
          <p:cNvPr id="25" name="bld4_2935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cloudy or hazy compound usually means something — often added water — has pushed a material out of solution.</a:t>
            </a:r>
            <a:endParaRPr lang="en-US" sz="1250" dirty="0"/>
          </a:p>
        </p:txBody>
      </p:sp>
      <p:sp>
        <p:nvSpPr>
          <p:cNvPr id="27" name="trans_fade_19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THE FORMULA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Antioxidants — used thoughtfully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6751" y="1518043"/>
            <a:ext cx="3821914" cy="3821914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3026693"/>
            <a:ext cx="905190" cy="402307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2898" y="3026693"/>
            <a:ext cx="905190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452898" y="3529577"/>
            <a:ext cx="905190" cy="80461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44247" y="4334190"/>
            <a:ext cx="1508650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944247" y="3429000"/>
            <a:ext cx="603460" cy="9051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41364" y="2926117"/>
            <a:ext cx="1106344" cy="50288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6785" y="3268077"/>
            <a:ext cx="321845" cy="321845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37235" y="2911030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242425" y="341391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37235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8584" y="4218527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5701" y="2810453"/>
            <a:ext cx="231326" cy="23132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targeted tool for specific oxidation-sensitive materials — not a blanket additive.</a:t>
            </a:r>
            <a:endParaRPr lang="en-US" sz="1050" dirty="0"/>
          </a:p>
        </p:txBody>
      </p:sp>
      <p:sp>
        <p:nvSpPr>
          <p:cNvPr id="24" name="bld1_293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1_293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oxidation happens</a:t>
            </a:r>
            <a:endParaRPr lang="en-US" sz="1650" dirty="0"/>
          </a:p>
        </p:txBody>
      </p:sp>
      <p:sp>
        <p:nvSpPr>
          <p:cNvPr id="26" name="bld1_293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air and time can degrade certain materials, shifting or dulling their smell.</a:t>
            </a:r>
            <a:endParaRPr lang="en-US" sz="1250" dirty="0"/>
          </a:p>
        </p:txBody>
      </p:sp>
      <p:sp>
        <p:nvSpPr>
          <p:cNvPr id="27" name="bld2_293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8" name="bld2_294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materials are sensitive</a:t>
            </a:r>
            <a:endParaRPr lang="en-US" sz="1650" dirty="0"/>
          </a:p>
        </p:txBody>
      </p:sp>
      <p:sp>
        <p:nvSpPr>
          <p:cNvPr id="29" name="bld2_294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 oils and many naturals rich in terpenes oxidise fastest.</a:t>
            </a:r>
            <a:endParaRPr lang="en-US" sz="1250" dirty="0"/>
          </a:p>
        </p:txBody>
      </p:sp>
      <p:sp>
        <p:nvSpPr>
          <p:cNvPr id="30" name="bld3_294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31" name="bld3_294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BHT and similar antioxidants</a:t>
            </a:r>
            <a:endParaRPr lang="en-US" sz="1650" dirty="0"/>
          </a:p>
        </p:txBody>
      </p:sp>
      <p:sp>
        <p:nvSpPr>
          <p:cNvPr id="32" name="bld3_294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doses can meaningfully slow this degradation in vulnerable formulas.</a:t>
            </a:r>
            <a:endParaRPr lang="en-US" sz="1250" dirty="0"/>
          </a:p>
        </p:txBody>
      </p:sp>
      <p:sp>
        <p:nvSpPr>
          <p:cNvPr id="33" name="bld4_294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34" name="bld4_294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add it blindly</a:t>
            </a:r>
            <a:endParaRPr lang="en-US" sz="1650" dirty="0"/>
          </a:p>
        </p:txBody>
      </p:sp>
      <p:sp>
        <p:nvSpPr>
          <p:cNvPr id="35" name="bld4_294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formula needs an antioxidant — add it deliberately, for a specific material at risk, not as a default habit.</a:t>
            </a:r>
            <a:endParaRPr lang="en-US" sz="1250" dirty="0"/>
          </a:p>
        </p:txBody>
      </p:sp>
      <p:sp>
        <p:nvSpPr>
          <p:cNvPr id="37" name="trans_fade_19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8" name="Text 3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WORKFLOW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ALCOHOL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process</a:t>
            </a:r>
            <a:endParaRPr lang="en-US" sz="3200" dirty="0"/>
          </a:p>
        </p:txBody>
      </p:sp>
      <p:sp>
        <p:nvSpPr>
          <p:cNvPr id="7" name="bld1_2948"/>
          <p:cNvSpPr/>
          <p:nvPr/>
        </p:nvSpPr>
        <p:spPr>
          <a:xfrm>
            <a:off x="548640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949"/>
          <p:cNvSpPr txBox="1"/>
          <p:nvPr/>
        </p:nvSpPr>
        <p:spPr>
          <a:xfrm>
            <a:off x="713232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bld1_2950"/>
          <p:cNvSpPr txBox="1"/>
          <p:nvPr/>
        </p:nvSpPr>
        <p:spPr>
          <a:xfrm>
            <a:off x="713232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</a:t>
            </a:r>
            <a:endParaRPr lang="en-US" sz="1450" dirty="0"/>
          </a:p>
        </p:txBody>
      </p:sp>
      <p:sp>
        <p:nvSpPr>
          <p:cNvPr id="10" name="bld1_2951"/>
          <p:cNvSpPr txBox="1"/>
          <p:nvPr/>
        </p:nvSpPr>
        <p:spPr>
          <a:xfrm>
            <a:off x="713232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formula sheet.</a:t>
            </a:r>
            <a:endParaRPr lang="en-US" sz="1000" dirty="0"/>
          </a:p>
        </p:txBody>
      </p:sp>
      <p:sp>
        <p:nvSpPr>
          <p:cNvPr id="11" name="bld1_2952"/>
          <p:cNvSpPr txBox="1"/>
          <p:nvPr/>
        </p:nvSpPr>
        <p:spPr>
          <a:xfrm>
            <a:off x="185923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bld2_2953"/>
          <p:cNvSpPr/>
          <p:nvPr/>
        </p:nvSpPr>
        <p:spPr>
          <a:xfrm>
            <a:off x="217927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8C3B4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bld2_2954"/>
          <p:cNvSpPr txBox="1"/>
          <p:nvPr/>
        </p:nvSpPr>
        <p:spPr>
          <a:xfrm>
            <a:off x="234386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3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bld2_2955"/>
          <p:cNvSpPr txBox="1"/>
          <p:nvPr/>
        </p:nvSpPr>
        <p:spPr>
          <a:xfrm>
            <a:off x="234386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</a:t>
            </a:r>
            <a:endParaRPr lang="en-US" sz="1450" dirty="0"/>
          </a:p>
        </p:txBody>
      </p:sp>
      <p:sp>
        <p:nvSpPr>
          <p:cNvPr id="15" name="bld2_2956"/>
          <p:cNvSpPr txBox="1"/>
          <p:nvPr/>
        </p:nvSpPr>
        <p:spPr>
          <a:xfrm>
            <a:off x="234386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gently.</a:t>
            </a:r>
            <a:endParaRPr lang="en-US" sz="1000" dirty="0"/>
          </a:p>
        </p:txBody>
      </p:sp>
      <p:sp>
        <p:nvSpPr>
          <p:cNvPr id="16" name="bld2_2957"/>
          <p:cNvSpPr txBox="1"/>
          <p:nvPr/>
        </p:nvSpPr>
        <p:spPr>
          <a:xfrm>
            <a:off x="3489873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bld3_2958"/>
          <p:cNvSpPr/>
          <p:nvPr/>
        </p:nvSpPr>
        <p:spPr>
          <a:xfrm>
            <a:off x="3809913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bld3_2959"/>
          <p:cNvSpPr txBox="1"/>
          <p:nvPr/>
        </p:nvSpPr>
        <p:spPr>
          <a:xfrm>
            <a:off x="3974505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bld3_2960"/>
          <p:cNvSpPr txBox="1"/>
          <p:nvPr/>
        </p:nvSpPr>
        <p:spPr>
          <a:xfrm>
            <a:off x="3974505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450" dirty="0"/>
          </a:p>
        </p:txBody>
      </p:sp>
      <p:sp>
        <p:nvSpPr>
          <p:cNvPr id="20" name="bld3_2961"/>
          <p:cNvSpPr txBox="1"/>
          <p:nvPr/>
        </p:nvSpPr>
        <p:spPr>
          <a:xfrm>
            <a:off x="3974505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settle.</a:t>
            </a:r>
            <a:endParaRPr lang="en-US" sz="1000" dirty="0"/>
          </a:p>
        </p:txBody>
      </p:sp>
      <p:sp>
        <p:nvSpPr>
          <p:cNvPr id="21" name="bld3_2962"/>
          <p:cNvSpPr txBox="1"/>
          <p:nvPr/>
        </p:nvSpPr>
        <p:spPr>
          <a:xfrm>
            <a:off x="512050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bld4_2963"/>
          <p:cNvSpPr/>
          <p:nvPr/>
        </p:nvSpPr>
        <p:spPr>
          <a:xfrm>
            <a:off x="544054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C9A35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4_2964"/>
          <p:cNvSpPr txBox="1"/>
          <p:nvPr/>
        </p:nvSpPr>
        <p:spPr>
          <a:xfrm>
            <a:off x="560514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3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bld4_2965"/>
          <p:cNvSpPr txBox="1"/>
          <p:nvPr/>
        </p:nvSpPr>
        <p:spPr>
          <a:xfrm>
            <a:off x="560514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Dilute</a:t>
            </a:r>
            <a:endParaRPr lang="en-US" sz="1450" dirty="0"/>
          </a:p>
        </p:txBody>
      </p:sp>
      <p:sp>
        <p:nvSpPr>
          <p:cNvPr id="25" name="bld4_2966"/>
          <p:cNvSpPr txBox="1"/>
          <p:nvPr/>
        </p:nvSpPr>
        <p:spPr>
          <a:xfrm>
            <a:off x="560514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alcohol.</a:t>
            </a:r>
            <a:endParaRPr lang="en-US" sz="1000" dirty="0"/>
          </a:p>
        </p:txBody>
      </p:sp>
      <p:sp>
        <p:nvSpPr>
          <p:cNvPr id="26" name="bld4_2967"/>
          <p:cNvSpPr txBox="1"/>
          <p:nvPr/>
        </p:nvSpPr>
        <p:spPr>
          <a:xfrm>
            <a:off x="6751146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bld5_2968"/>
          <p:cNvSpPr/>
          <p:nvPr/>
        </p:nvSpPr>
        <p:spPr>
          <a:xfrm>
            <a:off x="7071186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6E7A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5_2969"/>
          <p:cNvSpPr txBox="1"/>
          <p:nvPr/>
        </p:nvSpPr>
        <p:spPr>
          <a:xfrm>
            <a:off x="7235778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bld5_2970"/>
          <p:cNvSpPr txBox="1"/>
          <p:nvPr/>
        </p:nvSpPr>
        <p:spPr>
          <a:xfrm>
            <a:off x="7235778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Macerate</a:t>
            </a:r>
            <a:endParaRPr lang="en-US" sz="1450" dirty="0"/>
          </a:p>
        </p:txBody>
      </p:sp>
      <p:sp>
        <p:nvSpPr>
          <p:cNvPr id="30" name="bld5_2971"/>
          <p:cNvSpPr txBox="1"/>
          <p:nvPr/>
        </p:nvSpPr>
        <p:spPr>
          <a:xfrm>
            <a:off x="7235778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over time.</a:t>
            </a:r>
            <a:endParaRPr lang="en-US" sz="1000" dirty="0"/>
          </a:p>
        </p:txBody>
      </p:sp>
      <p:sp>
        <p:nvSpPr>
          <p:cNvPr id="31" name="bld5_2972"/>
          <p:cNvSpPr txBox="1"/>
          <p:nvPr/>
        </p:nvSpPr>
        <p:spPr>
          <a:xfrm>
            <a:off x="8381782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bld6_2973"/>
          <p:cNvSpPr/>
          <p:nvPr/>
        </p:nvSpPr>
        <p:spPr>
          <a:xfrm>
            <a:off x="8701822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B565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bld6_2974"/>
          <p:cNvSpPr txBox="1"/>
          <p:nvPr/>
        </p:nvSpPr>
        <p:spPr>
          <a:xfrm>
            <a:off x="8866414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bld6_2975"/>
          <p:cNvSpPr txBox="1"/>
          <p:nvPr/>
        </p:nvSpPr>
        <p:spPr>
          <a:xfrm>
            <a:off x="8866414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50" dirty="0"/>
          </a:p>
        </p:txBody>
      </p:sp>
      <p:sp>
        <p:nvSpPr>
          <p:cNvPr id="35" name="bld6_2976"/>
          <p:cNvSpPr txBox="1"/>
          <p:nvPr/>
        </p:nvSpPr>
        <p:spPr>
          <a:xfrm>
            <a:off x="8866414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needed.</a:t>
            </a:r>
            <a:endParaRPr lang="en-US" sz="1000" dirty="0"/>
          </a:p>
        </p:txBody>
      </p:sp>
      <p:sp>
        <p:nvSpPr>
          <p:cNvPr id="36" name="bld6_2977"/>
          <p:cNvSpPr txBox="1"/>
          <p:nvPr/>
        </p:nvSpPr>
        <p:spPr>
          <a:xfrm>
            <a:off x="10012419" y="376824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bld7_2978"/>
          <p:cNvSpPr/>
          <p:nvPr/>
        </p:nvSpPr>
        <p:spPr>
          <a:xfrm>
            <a:off x="10332459" y="2922422"/>
            <a:ext cx="1310596" cy="214884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9050">
            <a:solidFill>
              <a:srgbClr val="5B3A5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bld7_2979"/>
          <p:cNvSpPr txBox="1"/>
          <p:nvPr/>
        </p:nvSpPr>
        <p:spPr>
          <a:xfrm>
            <a:off x="10497051" y="303215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bld7_2980"/>
          <p:cNvSpPr txBox="1"/>
          <p:nvPr/>
        </p:nvSpPr>
        <p:spPr>
          <a:xfrm>
            <a:off x="10497051" y="3452774"/>
            <a:ext cx="9814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</a:t>
            </a:r>
            <a:endParaRPr lang="en-US" sz="1450" dirty="0"/>
          </a:p>
        </p:txBody>
      </p:sp>
      <p:sp>
        <p:nvSpPr>
          <p:cNvPr id="40" name="bld7_2981"/>
          <p:cNvSpPr txBox="1"/>
          <p:nvPr/>
        </p:nvSpPr>
        <p:spPr>
          <a:xfrm>
            <a:off x="10497051" y="3946550"/>
            <a:ext cx="9814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&amp; date.</a:t>
            </a:r>
            <a:endParaRPr lang="en-US" sz="1000" dirty="0"/>
          </a:p>
        </p:txBody>
      </p:sp>
      <p:sp>
        <p:nvSpPr>
          <p:cNvPr id="42" name="trans_push_l_19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3" name="Text 4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85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isn't filler — treat its ratio, its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rest, and its grade with the same care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the concentrate.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09</a:t>
            </a:r>
            <a:endParaRPr lang="en-US" sz="1100" dirty="0"/>
          </a:p>
        </p:txBody>
      </p:sp>
      <p:sp>
        <p:nvSpPr>
          <p:cNvPr id="10" name="trans_fade_19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B3A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5B3A52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MATURATION &amp; MACERATION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Perfume Needs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To Rest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happens to a compound after it's bottled — and what doesn't.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maceration changes a formula's character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wait, and how to tell it's ready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conditions that protect — or ruin — a batch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1" name="trans_fade_19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OVER TIME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real effects of maceration</a:t>
            </a:r>
            <a:endParaRPr lang="en-US" sz="3200" dirty="0"/>
          </a:p>
        </p:txBody>
      </p:sp>
      <p:sp>
        <p:nvSpPr>
          <p:cNvPr id="7" name="bld1_2982"/>
          <p:cNvSpPr/>
          <p:nvPr/>
        </p:nvSpPr>
        <p:spPr>
          <a:xfrm>
            <a:off x="548640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bld1_2983"/>
          <p:cNvSpPr/>
          <p:nvPr/>
        </p:nvSpPr>
        <p:spPr>
          <a:xfrm>
            <a:off x="722376" y="2096171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9" name="bld1_2984"/>
          <p:cNvSpPr txBox="1"/>
          <p:nvPr/>
        </p:nvSpPr>
        <p:spPr>
          <a:xfrm>
            <a:off x="731520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10" name="bld1_2985"/>
          <p:cNvSpPr txBox="1"/>
          <p:nvPr/>
        </p:nvSpPr>
        <p:spPr>
          <a:xfrm>
            <a:off x="731520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blend and round together.</a:t>
            </a:r>
            <a:endParaRPr lang="en-US" sz="1080" dirty="0"/>
          </a:p>
        </p:txBody>
      </p:sp>
      <p:sp>
        <p:nvSpPr>
          <p:cNvPr id="11" name="bld2_2986"/>
          <p:cNvSpPr/>
          <p:nvPr/>
        </p:nvSpPr>
        <p:spPr>
          <a:xfrm>
            <a:off x="3386252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bld2_2987"/>
          <p:cNvSpPr/>
          <p:nvPr/>
        </p:nvSpPr>
        <p:spPr>
          <a:xfrm>
            <a:off x="3559988" y="2096171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3" name="bld2_2988"/>
          <p:cNvSpPr txBox="1"/>
          <p:nvPr/>
        </p:nvSpPr>
        <p:spPr>
          <a:xfrm>
            <a:off x="3569132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Softer alcohol</a:t>
            </a:r>
            <a:endParaRPr lang="en-US" sz="1450" dirty="0"/>
          </a:p>
        </p:txBody>
      </p:sp>
      <p:sp>
        <p:nvSpPr>
          <p:cNvPr id="14" name="bld2_2989"/>
          <p:cNvSpPr txBox="1"/>
          <p:nvPr/>
        </p:nvSpPr>
        <p:spPr>
          <a:xfrm>
            <a:off x="3569132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alcohol bite fades.</a:t>
            </a:r>
            <a:endParaRPr lang="en-US" sz="1080" dirty="0"/>
          </a:p>
        </p:txBody>
      </p:sp>
      <p:sp>
        <p:nvSpPr>
          <p:cNvPr id="15" name="bld3_2990"/>
          <p:cNvSpPr/>
          <p:nvPr/>
        </p:nvSpPr>
        <p:spPr>
          <a:xfrm>
            <a:off x="6223864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bld3_2991"/>
          <p:cNvSpPr/>
          <p:nvPr/>
        </p:nvSpPr>
        <p:spPr>
          <a:xfrm>
            <a:off x="6397600" y="2096171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7" name="bld3_2992"/>
          <p:cNvSpPr txBox="1"/>
          <p:nvPr/>
        </p:nvSpPr>
        <p:spPr>
          <a:xfrm>
            <a:off x="6406744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Perceived smoothing</a:t>
            </a:r>
            <a:endParaRPr lang="en-US" sz="1450" dirty="0"/>
          </a:p>
        </p:txBody>
      </p:sp>
      <p:sp>
        <p:nvSpPr>
          <p:cNvPr id="18" name="bld3_2993"/>
          <p:cNvSpPr txBox="1"/>
          <p:nvPr/>
        </p:nvSpPr>
        <p:spPr>
          <a:xfrm>
            <a:off x="6406744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edges settle down.</a:t>
            </a:r>
            <a:endParaRPr lang="en-US" sz="1080" dirty="0"/>
          </a:p>
        </p:txBody>
      </p:sp>
      <p:sp>
        <p:nvSpPr>
          <p:cNvPr id="19" name="bld4_2994"/>
          <p:cNvSpPr/>
          <p:nvPr/>
        </p:nvSpPr>
        <p:spPr>
          <a:xfrm>
            <a:off x="9061475" y="1922435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bld4_2995"/>
          <p:cNvSpPr/>
          <p:nvPr/>
        </p:nvSpPr>
        <p:spPr>
          <a:xfrm>
            <a:off x="9235211" y="2096171"/>
            <a:ext cx="237744" cy="23774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1" name="bld4_2996"/>
          <p:cNvSpPr txBox="1"/>
          <p:nvPr/>
        </p:nvSpPr>
        <p:spPr>
          <a:xfrm>
            <a:off x="9244355" y="2379635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Top-note shift</a:t>
            </a:r>
            <a:endParaRPr lang="en-US" sz="1450" dirty="0"/>
          </a:p>
        </p:txBody>
      </p:sp>
      <p:sp>
        <p:nvSpPr>
          <p:cNvPr id="22" name="bld4_2997"/>
          <p:cNvSpPr txBox="1"/>
          <p:nvPr/>
        </p:nvSpPr>
        <p:spPr>
          <a:xfrm>
            <a:off x="9244355" y="2708819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notes can shift slightly.</a:t>
            </a:r>
            <a:endParaRPr lang="en-US" sz="1080" dirty="0"/>
          </a:p>
        </p:txBody>
      </p:sp>
      <p:sp>
        <p:nvSpPr>
          <p:cNvPr id="23" name="bld5_2998"/>
          <p:cNvSpPr/>
          <p:nvPr/>
        </p:nvSpPr>
        <p:spPr>
          <a:xfrm>
            <a:off x="548640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bld5_2999"/>
          <p:cNvSpPr/>
          <p:nvPr/>
        </p:nvSpPr>
        <p:spPr>
          <a:xfrm>
            <a:off x="722376" y="4135283"/>
            <a:ext cx="237744" cy="237744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5_3000"/>
          <p:cNvSpPr txBox="1"/>
          <p:nvPr/>
        </p:nvSpPr>
        <p:spPr>
          <a:xfrm>
            <a:off x="731520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Solubility</a:t>
            </a:r>
            <a:endParaRPr lang="en-US" sz="1450" dirty="0"/>
          </a:p>
        </p:txBody>
      </p:sp>
      <p:sp>
        <p:nvSpPr>
          <p:cNvPr id="26" name="bld5_3001"/>
          <p:cNvSpPr txBox="1"/>
          <p:nvPr/>
        </p:nvSpPr>
        <p:spPr>
          <a:xfrm>
            <a:off x="731520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fully dissolve into solution.</a:t>
            </a:r>
            <a:endParaRPr lang="en-US" sz="1080" dirty="0"/>
          </a:p>
        </p:txBody>
      </p:sp>
      <p:sp>
        <p:nvSpPr>
          <p:cNvPr id="27" name="bld6_3002"/>
          <p:cNvSpPr/>
          <p:nvPr/>
        </p:nvSpPr>
        <p:spPr>
          <a:xfrm>
            <a:off x="3386252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bld6_3003"/>
          <p:cNvSpPr/>
          <p:nvPr/>
        </p:nvSpPr>
        <p:spPr>
          <a:xfrm>
            <a:off x="3559988" y="4135283"/>
            <a:ext cx="237744" cy="237744"/>
          </a:xfrm>
          <a:prstGeom prst="ellipse">
            <a:avLst/>
          </a:prstGeom>
          <a:solidFill>
            <a:srgbClr val="9C7A34"/>
          </a:solidFill>
          <a:ln/>
        </p:spPr>
      </p:sp>
      <p:sp>
        <p:nvSpPr>
          <p:cNvPr id="29" name="bld6_3004"/>
          <p:cNvSpPr txBox="1"/>
          <p:nvPr/>
        </p:nvSpPr>
        <p:spPr>
          <a:xfrm>
            <a:off x="3569132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changes</a:t>
            </a:r>
            <a:endParaRPr lang="en-US" sz="1450" dirty="0"/>
          </a:p>
        </p:txBody>
      </p:sp>
      <p:sp>
        <p:nvSpPr>
          <p:cNvPr id="30" name="bld6_3005"/>
          <p:cNvSpPr txBox="1"/>
          <p:nvPr/>
        </p:nvSpPr>
        <p:spPr>
          <a:xfrm>
            <a:off x="3569132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formulas darken with age.</a:t>
            </a:r>
            <a:endParaRPr lang="en-US" sz="1080" dirty="0"/>
          </a:p>
        </p:txBody>
      </p:sp>
      <p:sp>
        <p:nvSpPr>
          <p:cNvPr id="31" name="bld7_3006"/>
          <p:cNvSpPr/>
          <p:nvPr/>
        </p:nvSpPr>
        <p:spPr>
          <a:xfrm>
            <a:off x="6223864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bld7_3007"/>
          <p:cNvSpPr/>
          <p:nvPr/>
        </p:nvSpPr>
        <p:spPr>
          <a:xfrm>
            <a:off x="6397600" y="4135283"/>
            <a:ext cx="237744" cy="237744"/>
          </a:xfrm>
          <a:prstGeom prst="ellipse">
            <a:avLst/>
          </a:prstGeom>
          <a:solidFill>
            <a:srgbClr val="3B382F"/>
          </a:solidFill>
          <a:ln/>
        </p:spPr>
      </p:sp>
      <p:sp>
        <p:nvSpPr>
          <p:cNvPr id="33" name="bld7_3008"/>
          <p:cNvSpPr txBox="1"/>
          <p:nvPr/>
        </p:nvSpPr>
        <p:spPr>
          <a:xfrm>
            <a:off x="6406744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Oxidation</a:t>
            </a:r>
            <a:endParaRPr lang="en-US" sz="1450" dirty="0"/>
          </a:p>
        </p:txBody>
      </p:sp>
      <p:sp>
        <p:nvSpPr>
          <p:cNvPr id="34" name="bld7_3009"/>
          <p:cNvSpPr txBox="1"/>
          <p:nvPr/>
        </p:nvSpPr>
        <p:spPr>
          <a:xfrm>
            <a:off x="6406744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chemical change, for better or worse.</a:t>
            </a:r>
            <a:endParaRPr lang="en-US" sz="1080" dirty="0"/>
          </a:p>
        </p:txBody>
      </p:sp>
      <p:sp>
        <p:nvSpPr>
          <p:cNvPr id="35" name="bld8_3010"/>
          <p:cNvSpPr/>
          <p:nvPr/>
        </p:nvSpPr>
        <p:spPr>
          <a:xfrm>
            <a:off x="9061475" y="3961547"/>
            <a:ext cx="25815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bld8_3011"/>
          <p:cNvSpPr/>
          <p:nvPr/>
        </p:nvSpPr>
        <p:spPr>
          <a:xfrm>
            <a:off x="9235211" y="4135283"/>
            <a:ext cx="237744" cy="237744"/>
          </a:xfrm>
          <a:prstGeom prst="ellipse">
            <a:avLst/>
          </a:prstGeom>
          <a:solidFill>
            <a:srgbClr val="CFC5AE"/>
          </a:solidFill>
          <a:ln/>
        </p:spPr>
      </p:sp>
      <p:sp>
        <p:nvSpPr>
          <p:cNvPr id="37" name="bld8_3012"/>
          <p:cNvSpPr txBox="1"/>
          <p:nvPr/>
        </p:nvSpPr>
        <p:spPr>
          <a:xfrm>
            <a:off x="9244355" y="4418747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Precipitation</a:t>
            </a:r>
            <a:endParaRPr lang="en-US" sz="1450" dirty="0"/>
          </a:p>
        </p:txBody>
      </p:sp>
      <p:sp>
        <p:nvSpPr>
          <p:cNvPr id="38" name="bld8_3013"/>
          <p:cNvSpPr txBox="1"/>
          <p:nvPr/>
        </p:nvSpPr>
        <p:spPr>
          <a:xfrm>
            <a:off x="9244355" y="4747931"/>
            <a:ext cx="22158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insoluble can settle out.</a:t>
            </a:r>
            <a:endParaRPr lang="en-US" sz="1080" dirty="0"/>
          </a:p>
        </p:txBody>
      </p:sp>
      <p:sp>
        <p:nvSpPr>
          <p:cNvPr id="40" name="trans_fade_19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1" name="Text 3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8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7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SCIENCE, BRIEFLY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same liquid smells different later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77504" y="1358797"/>
            <a:ext cx="4140407" cy="4140407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flipV="1">
            <a:off x="9547708" y="2993168"/>
            <a:ext cx="980623" cy="435832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28330" y="2993168"/>
            <a:ext cx="980623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528330" y="3537958"/>
            <a:ext cx="980623" cy="871665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3959" y="4409623"/>
            <a:ext cx="1634371" cy="914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93959" y="3429000"/>
            <a:ext cx="653748" cy="980623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9169" y="2884210"/>
            <a:ext cx="1198539" cy="544790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3375" y="3254667"/>
            <a:ext cx="348666" cy="348666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03028" y="286786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83651" y="3412656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03028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68657" y="4284321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3867" y="2758908"/>
            <a:ext cx="250604" cy="250604"/>
          </a:xfrm>
          <a:prstGeom prst="ellipse">
            <a:avLst/>
          </a:prstGeom>
          <a:solidFill>
            <a:srgbClr val="C9A354"/>
          </a:solidFill>
          <a:ln w="19050">
            <a:solidFill>
              <a:srgbClr val="FAF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slow, ordinary process — not an unpredictable transformation.</a:t>
            </a:r>
            <a:endParaRPr lang="en-US" sz="1050" dirty="0"/>
          </a:p>
        </p:txBody>
      </p:sp>
      <p:sp>
        <p:nvSpPr>
          <p:cNvPr id="24" name="bld1_301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5" name="bld1_301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 keep interacting</a:t>
            </a:r>
            <a:endParaRPr lang="en-US" sz="1650" dirty="0"/>
          </a:p>
        </p:txBody>
      </p:sp>
      <p:sp>
        <p:nvSpPr>
          <p:cNvPr id="26" name="bld1_3016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continue to associate and rearrange in solution long after mixing.</a:t>
            </a:r>
            <a:endParaRPr lang="en-US" sz="1250" dirty="0"/>
          </a:p>
        </p:txBody>
      </p:sp>
      <p:sp>
        <p:nvSpPr>
          <p:cNvPr id="27" name="bld2_3017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8" name="bld2_3018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 needs time to settle</a:t>
            </a:r>
            <a:endParaRPr lang="en-US" sz="1650" dirty="0"/>
          </a:p>
        </p:txBody>
      </p:sp>
      <p:sp>
        <p:nvSpPr>
          <p:cNvPr id="29" name="bld2_3019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alcohol reads sharp and hot — that fades measurably within days.</a:t>
            </a:r>
            <a:endParaRPr lang="en-US" sz="1250" dirty="0"/>
          </a:p>
        </p:txBody>
      </p:sp>
      <p:sp>
        <p:nvSpPr>
          <p:cNvPr id="30" name="bld3_3020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31" name="bld3_3021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mysterious is happening</a:t>
            </a:r>
            <a:endParaRPr lang="en-US" sz="1650" dirty="0"/>
          </a:p>
        </p:txBody>
      </p:sp>
      <p:sp>
        <p:nvSpPr>
          <p:cNvPr id="32" name="bld3_3022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slow, ordinary physical chemistry — not magic, and it's predictable enough to plan around.</a:t>
            </a:r>
            <a:endParaRPr lang="en-US" sz="1250" dirty="0"/>
          </a:p>
        </p:txBody>
      </p:sp>
      <p:sp>
        <p:nvSpPr>
          <p:cNvPr id="34" name="trans_fade_20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EXPECT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smell shifts, over weeks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10545775" cy="914"/>
          </a:xfrm>
          <a:prstGeom prst="line">
            <a:avLst/>
          </a:prstGeom>
          <a:noFill/>
          <a:ln w="25400">
            <a:solidFill>
              <a:srgbClr val="CFC5AE"/>
            </a:solidFill>
            <a:prstDash val="solid"/>
          </a:ln>
        </p:spPr>
      </p:sp>
      <p:sp>
        <p:nvSpPr>
          <p:cNvPr id="8" name="bld1_3023"/>
          <p:cNvSpPr/>
          <p:nvPr/>
        </p:nvSpPr>
        <p:spPr>
          <a:xfrm>
            <a:off x="740664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9" name="bld1_3024"/>
          <p:cNvSpPr/>
          <p:nvPr/>
        </p:nvSpPr>
        <p:spPr>
          <a:xfrm>
            <a:off x="658368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0" name="bld1_3025"/>
          <p:cNvSpPr txBox="1"/>
          <p:nvPr/>
        </p:nvSpPr>
        <p:spPr>
          <a:xfrm>
            <a:off x="457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</a:t>
            </a:r>
            <a:endParaRPr lang="en-US" sz="1200" dirty="0"/>
          </a:p>
        </p:txBody>
      </p:sp>
      <p:sp>
        <p:nvSpPr>
          <p:cNvPr id="11" name="bld1_3026"/>
          <p:cNvSpPr txBox="1"/>
          <p:nvPr/>
        </p:nvSpPr>
        <p:spPr>
          <a:xfrm>
            <a:off x="45720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and hot</a:t>
            </a:r>
            <a:endParaRPr lang="en-US" sz="1050" dirty="0"/>
          </a:p>
        </p:txBody>
      </p:sp>
      <p:sp>
        <p:nvSpPr>
          <p:cNvPr id="12" name="bld2_3027"/>
          <p:cNvSpPr/>
          <p:nvPr/>
        </p:nvSpPr>
        <p:spPr>
          <a:xfrm>
            <a:off x="3377108" y="3575304"/>
            <a:ext cx="164592" cy="164592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3" name="bld2_3028"/>
          <p:cNvSpPr/>
          <p:nvPr/>
        </p:nvSpPr>
        <p:spPr>
          <a:xfrm>
            <a:off x="3294812" y="3493008"/>
            <a:ext cx="329184" cy="329184"/>
          </a:xfrm>
          <a:prstGeom prst="ellipse">
            <a:avLst/>
          </a:prstGeom>
          <a:ln w="12802">
            <a:solidFill>
              <a:srgbClr val="5B3A52"/>
            </a:solidFill>
            <a:prstDash val="solid"/>
          </a:ln>
        </p:spPr>
      </p:sp>
      <p:sp>
        <p:nvSpPr>
          <p:cNvPr id="14" name="bld2_3029"/>
          <p:cNvSpPr txBox="1"/>
          <p:nvPr/>
        </p:nvSpPr>
        <p:spPr>
          <a:xfrm>
            <a:off x="2682164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endParaRPr lang="en-US" sz="1200" dirty="0"/>
          </a:p>
        </p:txBody>
      </p:sp>
      <p:sp>
        <p:nvSpPr>
          <p:cNvPr id="15" name="bld2_3030"/>
          <p:cNvSpPr txBox="1"/>
          <p:nvPr/>
        </p:nvSpPr>
        <p:spPr>
          <a:xfrm>
            <a:off x="2682164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bite softening</a:t>
            </a:r>
            <a:endParaRPr lang="en-US" sz="1050" dirty="0"/>
          </a:p>
        </p:txBody>
      </p:sp>
      <p:sp>
        <p:nvSpPr>
          <p:cNvPr id="16" name="bld3_3031"/>
          <p:cNvSpPr/>
          <p:nvPr/>
        </p:nvSpPr>
        <p:spPr>
          <a:xfrm>
            <a:off x="6013552" y="3575304"/>
            <a:ext cx="164592" cy="164592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7" name="bld3_3032"/>
          <p:cNvSpPr/>
          <p:nvPr/>
        </p:nvSpPr>
        <p:spPr>
          <a:xfrm>
            <a:off x="5931256" y="3493008"/>
            <a:ext cx="329184" cy="329184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8" name="bld3_3033"/>
          <p:cNvSpPr txBox="1"/>
          <p:nvPr/>
        </p:nvSpPr>
        <p:spPr>
          <a:xfrm>
            <a:off x="5318608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3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200" dirty="0"/>
          </a:p>
        </p:txBody>
      </p:sp>
      <p:sp>
        <p:nvSpPr>
          <p:cNvPr id="19" name="bld3_3034"/>
          <p:cNvSpPr txBox="1"/>
          <p:nvPr/>
        </p:nvSpPr>
        <p:spPr>
          <a:xfrm>
            <a:off x="5318608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Noticeably smoother</a:t>
            </a:r>
            <a:endParaRPr lang="en-US" sz="1050" dirty="0"/>
          </a:p>
        </p:txBody>
      </p:sp>
      <p:sp>
        <p:nvSpPr>
          <p:cNvPr id="20" name="bld4_3035"/>
          <p:cNvSpPr/>
          <p:nvPr/>
        </p:nvSpPr>
        <p:spPr>
          <a:xfrm>
            <a:off x="8649995" y="3575304"/>
            <a:ext cx="164592" cy="164592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1" name="bld4_3036"/>
          <p:cNvSpPr/>
          <p:nvPr/>
        </p:nvSpPr>
        <p:spPr>
          <a:xfrm>
            <a:off x="8567699" y="3493008"/>
            <a:ext cx="329184" cy="329184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22" name="bld4_3037"/>
          <p:cNvSpPr txBox="1"/>
          <p:nvPr/>
        </p:nvSpPr>
        <p:spPr>
          <a:xfrm>
            <a:off x="7955051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200" dirty="0"/>
          </a:p>
        </p:txBody>
      </p:sp>
      <p:sp>
        <p:nvSpPr>
          <p:cNvPr id="23" name="bld4_3038"/>
          <p:cNvSpPr txBox="1"/>
          <p:nvPr/>
        </p:nvSpPr>
        <p:spPr>
          <a:xfrm>
            <a:off x="7955051" y="426110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integrated</a:t>
            </a:r>
            <a:endParaRPr lang="en-US" sz="1050" dirty="0"/>
          </a:p>
        </p:txBody>
      </p:sp>
      <p:sp>
        <p:nvSpPr>
          <p:cNvPr id="24" name="bld5_3039"/>
          <p:cNvSpPr/>
          <p:nvPr/>
        </p:nvSpPr>
        <p:spPr>
          <a:xfrm>
            <a:off x="11286439" y="3575304"/>
            <a:ext cx="164592" cy="164592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5" name="bld5_3040"/>
          <p:cNvSpPr/>
          <p:nvPr/>
        </p:nvSpPr>
        <p:spPr>
          <a:xfrm>
            <a:off x="11204143" y="3493008"/>
            <a:ext cx="329184" cy="329184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6" name="bld5_3041"/>
          <p:cNvSpPr txBox="1"/>
          <p:nvPr/>
        </p:nvSpPr>
        <p:spPr>
          <a:xfrm>
            <a:off x="10591495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</a:t>
            </a:r>
            <a:endParaRPr lang="en-US" sz="1200" dirty="0"/>
          </a:p>
        </p:txBody>
      </p:sp>
      <p:sp>
        <p:nvSpPr>
          <p:cNvPr id="27" name="bld5_3042"/>
          <p:cNvSpPr txBox="1"/>
          <p:nvPr/>
        </p:nvSpPr>
        <p:spPr>
          <a:xfrm>
            <a:off x="10591495" y="30358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matured character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fresh compound gently — it hasn't finished becoming itself yet.</a:t>
            </a:r>
            <a:endParaRPr lang="en-US" sz="1250" dirty="0"/>
          </a:p>
        </p:txBody>
      </p:sp>
      <p:sp>
        <p:nvSpPr>
          <p:cNvPr id="30" name="trans_push_l_20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5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EXPECTATIONS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maceration cannot do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"Given enough time, maceration will fix a broken or unbalanced formula."</a:t>
            </a:r>
            <a:endParaRPr lang="en-US" sz="2100" dirty="0"/>
          </a:p>
        </p:txBody>
      </p:sp>
      <p:sp>
        <p:nvSpPr>
          <p:cNvPr id="10" name="bld1_3043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3044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3045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Maturation refines what's already structurally sound — it softens, integrates and rounds. It cannot rescue a formula with the wrong materials, wrong ratios, or a fundamentally broken idea. Fix the structure first; let time do the polishing, not the repairing.</a:t>
            </a:r>
            <a:endParaRPr lang="en-US" sz="1450" dirty="0"/>
          </a:p>
        </p:txBody>
      </p:sp>
      <p:sp>
        <p:nvSpPr>
          <p:cNvPr id="14" name="trans_wipe_l_20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PROTOCOL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MATURATION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maceration routine</a:t>
            </a:r>
            <a:endParaRPr lang="en-US" sz="3200" dirty="0"/>
          </a:p>
        </p:txBody>
      </p:sp>
      <p:sp>
        <p:nvSpPr>
          <p:cNvPr id="7" name="bld1_3046"/>
          <p:cNvSpPr txBox="1"/>
          <p:nvPr/>
        </p:nvSpPr>
        <p:spPr>
          <a:xfrm>
            <a:off x="548640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STAGE</a:t>
            </a:r>
            <a:endParaRPr lang="en-US" sz="1250" dirty="0"/>
          </a:p>
        </p:txBody>
      </p:sp>
      <p:sp>
        <p:nvSpPr>
          <p:cNvPr id="8" name="bld1_3047"/>
          <p:cNvSpPr/>
          <p:nvPr/>
        </p:nvSpPr>
        <p:spPr>
          <a:xfrm>
            <a:off x="548640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3048"/>
          <p:cNvSpPr txBox="1"/>
          <p:nvPr/>
        </p:nvSpPr>
        <p:spPr>
          <a:xfrm>
            <a:off x="841248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the raw concentrate 24–48 hours</a:t>
            </a:r>
            <a:endParaRPr lang="en-US" sz="1200" dirty="0"/>
          </a:p>
        </p:txBody>
      </p:sp>
      <p:sp>
        <p:nvSpPr>
          <p:cNvPr id="10" name="bld1_3049"/>
          <p:cNvSpPr/>
          <p:nvPr/>
        </p:nvSpPr>
        <p:spPr>
          <a:xfrm>
            <a:off x="548640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3050"/>
          <p:cNvSpPr txBox="1"/>
          <p:nvPr/>
        </p:nvSpPr>
        <p:spPr>
          <a:xfrm>
            <a:off x="841248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clarity before diluting</a:t>
            </a:r>
            <a:endParaRPr lang="en-US" sz="1200" dirty="0"/>
          </a:p>
        </p:txBody>
      </p:sp>
      <p:sp>
        <p:nvSpPr>
          <p:cNvPr id="12" name="bld2_3051"/>
          <p:cNvSpPr txBox="1"/>
          <p:nvPr/>
        </p:nvSpPr>
        <p:spPr>
          <a:xfrm>
            <a:off x="4353458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STAGE</a:t>
            </a:r>
            <a:endParaRPr lang="en-US" sz="1250" dirty="0"/>
          </a:p>
        </p:txBody>
      </p:sp>
      <p:sp>
        <p:nvSpPr>
          <p:cNvPr id="13" name="bld2_3052"/>
          <p:cNvSpPr/>
          <p:nvPr/>
        </p:nvSpPr>
        <p:spPr>
          <a:xfrm>
            <a:off x="4353458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4" name="bld2_3053"/>
          <p:cNvSpPr txBox="1"/>
          <p:nvPr/>
        </p:nvSpPr>
        <p:spPr>
          <a:xfrm>
            <a:off x="4646066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Macerate 1–4 weeks in a cool, dark place</a:t>
            </a:r>
            <a:endParaRPr lang="en-US" sz="1200" dirty="0"/>
          </a:p>
        </p:txBody>
      </p:sp>
      <p:sp>
        <p:nvSpPr>
          <p:cNvPr id="15" name="bld2_3054"/>
          <p:cNvSpPr/>
          <p:nvPr/>
        </p:nvSpPr>
        <p:spPr>
          <a:xfrm>
            <a:off x="4353458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3055"/>
          <p:cNvSpPr txBox="1"/>
          <p:nvPr/>
        </p:nvSpPr>
        <p:spPr>
          <a:xfrm>
            <a:off x="4646066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 gently every few days</a:t>
            </a:r>
            <a:endParaRPr lang="en-US" sz="1200" dirty="0"/>
          </a:p>
        </p:txBody>
      </p:sp>
      <p:sp>
        <p:nvSpPr>
          <p:cNvPr id="17" name="bld3_3056"/>
          <p:cNvSpPr txBox="1"/>
          <p:nvPr/>
        </p:nvSpPr>
        <p:spPr>
          <a:xfrm>
            <a:off x="8158277" y="3081528"/>
            <a:ext cx="34847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6E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BOTTLING</a:t>
            </a:r>
            <a:endParaRPr lang="en-US" sz="1250" dirty="0"/>
          </a:p>
        </p:txBody>
      </p:sp>
      <p:sp>
        <p:nvSpPr>
          <p:cNvPr id="18" name="bld3_3057"/>
          <p:cNvSpPr/>
          <p:nvPr/>
        </p:nvSpPr>
        <p:spPr>
          <a:xfrm>
            <a:off x="8158277" y="35387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19" name="bld3_3058"/>
          <p:cNvSpPr txBox="1"/>
          <p:nvPr/>
        </p:nvSpPr>
        <p:spPr>
          <a:xfrm>
            <a:off x="8450885" y="34747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on a fresh strip</a:t>
            </a:r>
            <a:endParaRPr lang="en-US" sz="1200" dirty="0"/>
          </a:p>
        </p:txBody>
      </p:sp>
      <p:sp>
        <p:nvSpPr>
          <p:cNvPr id="20" name="bld3_3059"/>
          <p:cNvSpPr/>
          <p:nvPr/>
        </p:nvSpPr>
        <p:spPr>
          <a:xfrm>
            <a:off x="8158277" y="399592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6E7A50"/>
            </a:solidFill>
            <a:prstDash val="solid"/>
          </a:ln>
        </p:spPr>
      </p:sp>
      <p:sp>
        <p:nvSpPr>
          <p:cNvPr id="21" name="bld3_3060"/>
          <p:cNvSpPr txBox="1"/>
          <p:nvPr/>
        </p:nvSpPr>
        <p:spPr>
          <a:xfrm>
            <a:off x="8450885" y="3931920"/>
            <a:ext cx="31647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if any haze or sediment appears</a:t>
            </a:r>
            <a:endParaRPr lang="en-US" sz="1200" dirty="0"/>
          </a:p>
        </p:txBody>
      </p:sp>
      <p:sp>
        <p:nvSpPr>
          <p:cNvPr id="23" name="trans_fade_20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9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B5652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B5652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B565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Maturation refines what's already good.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rescue a broken structure.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10</a:t>
            </a:r>
            <a:endParaRPr lang="en-US" sz="1100" dirty="0"/>
          </a:p>
        </p:txBody>
      </p:sp>
      <p:sp>
        <p:nvSpPr>
          <p:cNvPr id="10" name="trans_fade_20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5749" y="1967789"/>
            <a:ext cx="2922422" cy="2922422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2076" y="3214116"/>
            <a:ext cx="429768" cy="42976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COMPLIANCE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17320"/>
            <a:ext cx="8503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Compliance,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Simply Explained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introduction to keeping your formulas safe and legal to sell — not a substitute for professional guidance.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IFRA is, and how to use the Standards Library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limits, worked through two real calculations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SDS and allergen declaration actually cover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19" name="trans_fade_20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module is an introduction.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still responsible for the regulations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apply to your country and product.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READ THIS FIRST</a:t>
            </a:r>
            <a:endParaRPr lang="en-US" sz="1100" dirty="0"/>
          </a:p>
        </p:txBody>
      </p:sp>
      <p:sp>
        <p:nvSpPr>
          <p:cNvPr id="10" name="trans_fade_20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STANDARD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IFRA, and why does it matter?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framework, not a bureaucratic obstacle.</a:t>
            </a:r>
            <a:endParaRPr lang="en-US" sz="1050" dirty="0"/>
          </a:p>
        </p:txBody>
      </p:sp>
      <p:sp>
        <p:nvSpPr>
          <p:cNvPr id="18" name="bld1_3061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1_3062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industry self-regulatory body</a:t>
            </a:r>
            <a:endParaRPr lang="en-US" sz="1650" dirty="0"/>
          </a:p>
        </p:txBody>
      </p:sp>
      <p:sp>
        <p:nvSpPr>
          <p:cNvPr id="20" name="bld1_3063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International Fragrance Association sets science-based usage standards for fragrance materials, developed with independent safety experts.</a:t>
            </a:r>
            <a:endParaRPr lang="en-US" sz="1250" dirty="0"/>
          </a:p>
        </p:txBody>
      </p:sp>
      <p:sp>
        <p:nvSpPr>
          <p:cNvPr id="21" name="bld2_3064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2" name="bld2_3065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Prevents real safety issues</a:t>
            </a:r>
            <a:endParaRPr lang="en-US" sz="1650" dirty="0"/>
          </a:p>
        </p:txBody>
      </p:sp>
      <p:sp>
        <p:nvSpPr>
          <p:cNvPr id="23" name="bld2_3066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exist to prevent skin sensitisation, allergic reactions and other genuine safety concerns — not to make perfumery difficult.</a:t>
            </a:r>
            <a:endParaRPr lang="en-US" sz="1250" dirty="0"/>
          </a:p>
        </p:txBody>
      </p:sp>
      <p:sp>
        <p:nvSpPr>
          <p:cNvPr id="24" name="bld3_3067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5" name="bld3_3068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Followed by every reputable supplier and brand</a:t>
            </a:r>
            <a:endParaRPr lang="en-US" sz="1650" dirty="0"/>
          </a:p>
        </p:txBody>
      </p:sp>
      <p:sp>
        <p:nvSpPr>
          <p:cNvPr id="26" name="bld3_3069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a fragrance product without checking IFRA compliance is a real legal and safety risk, not just a technicality.</a:t>
            </a:r>
            <a:endParaRPr lang="en-US" sz="1250" dirty="0"/>
          </a:p>
        </p:txBody>
      </p:sp>
      <p:sp>
        <p:nvSpPr>
          <p:cNvPr id="28" name="trans_fade_20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FRAMEWORK, IN FOUR PARTS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— the industry's safety framework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070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1554137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626949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597510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597510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626949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bld1_3072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Standards</a:t>
            </a:r>
            <a:endParaRPr lang="en-US" sz="1450" dirty="0"/>
          </a:p>
        </p:txBody>
      </p:sp>
      <p:sp>
        <p:nvSpPr>
          <p:cNvPr id="19" name="bld1_3073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Science-based usage limits for fragrance materials.</a:t>
            </a:r>
            <a:endParaRPr lang="en-US" sz="1080" dirty="0"/>
          </a:p>
        </p:txBody>
      </p:sp>
      <p:sp>
        <p:nvSpPr>
          <p:cNvPr id="20" name="bld2_3074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2" name="Shape 20"/>
          <p:cNvSpPr/>
          <p:nvPr/>
        </p:nvSpPr>
        <p:spPr>
          <a:xfrm>
            <a:off x="4477337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4" name="bld2_3076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Restricted materials</a:t>
            </a:r>
            <a:endParaRPr lang="en-US" sz="1450" dirty="0"/>
          </a:p>
        </p:txBody>
      </p:sp>
      <p:sp>
        <p:nvSpPr>
          <p:cNvPr id="25" name="bld2_3077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Allowed, but only up to a defined maximum %.</a:t>
            </a:r>
            <a:endParaRPr lang="en-US" sz="1080" dirty="0"/>
          </a:p>
        </p:txBody>
      </p:sp>
      <p:sp>
        <p:nvSpPr>
          <p:cNvPr id="26" name="bld3_3078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4949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30" name="bld3_3080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Prohibited materials</a:t>
            </a:r>
            <a:endParaRPr lang="en-US" sz="1450" dirty="0"/>
          </a:p>
        </p:txBody>
      </p:sp>
      <p:sp>
        <p:nvSpPr>
          <p:cNvPr id="31" name="bld3_3081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in fragrance at all.</a:t>
            </a:r>
            <a:endParaRPr lang="en-US" sz="1080" dirty="0"/>
          </a:p>
        </p:txBody>
      </p:sp>
      <p:sp>
        <p:nvSpPr>
          <p:cNvPr id="32" name="bld4_3082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66973" y="2468880"/>
            <a:ext cx="570586" cy="5705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139784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0110345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110345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0139784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40" name="bld4_3084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limits</a:t>
            </a:r>
            <a:endParaRPr lang="en-US" sz="1450" dirty="0"/>
          </a:p>
        </p:txBody>
      </p:sp>
      <p:sp>
        <p:nvSpPr>
          <p:cNvPr id="41" name="bld4_3085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vary by how a product is used on the body.</a:t>
            </a:r>
            <a:endParaRPr lang="en-US" sz="1080" dirty="0"/>
          </a:p>
        </p:txBody>
      </p:sp>
      <p:sp>
        <p:nvSpPr>
          <p:cNvPr id="43" name="trans_fade_20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4" name="Text 4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4" grpId="0"/>
      <p:bldP spid="25" grpId="0"/>
      <p:bldP spid="26" grpId="0"/>
      <p:bldP spid="30" grpId="0"/>
      <p:bldP spid="31" grpId="0"/>
      <p:bldP spid="32" grpId="0"/>
      <p:bldP spid="40" grpId="0"/>
      <p:bldP spid="41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PRODUCTS ARE EQUAL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Categories, and why Category 4 matters here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51211" y="4383310"/>
            <a:ext cx="1548507" cy="154850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271520" y="4803619"/>
            <a:ext cx="707889" cy="707889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086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bld1_3087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bld1_3088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 track exposure</a:t>
            </a:r>
            <a:endParaRPr lang="en-US" sz="1450" dirty="0"/>
          </a:p>
        </p:txBody>
      </p:sp>
      <p:sp>
        <p:nvSpPr>
          <p:cNvPr id="13" name="bld1_3089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rinse-off soap, a leave-on lotion and a fine fragrance carry different safety margins — each gets its own limit.</a:t>
            </a:r>
            <a:endParaRPr lang="en-US" sz="1080" dirty="0"/>
          </a:p>
        </p:txBody>
      </p:sp>
      <p:sp>
        <p:nvSpPr>
          <p:cNvPr id="14" name="bld2_3090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2_3091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6" name="bld2_3092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4 = fine fragrance</a:t>
            </a:r>
            <a:endParaRPr lang="en-US" sz="1450" dirty="0"/>
          </a:p>
        </p:txBody>
      </p:sp>
      <p:sp>
        <p:nvSpPr>
          <p:cNvPr id="17" name="bld2_3093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Perfumes, EDPs and extraits fall under Category 4 — the category this course's formulas are built for.</a:t>
            </a:r>
            <a:endParaRPr lang="en-US" sz="1080" dirty="0"/>
          </a:p>
        </p:txBody>
      </p:sp>
      <p:sp>
        <p:nvSpPr>
          <p:cNvPr id="18" name="bld3_3094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3_3095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3_3096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limits can change</a:t>
            </a:r>
            <a:endParaRPr lang="en-US" sz="1450" dirty="0"/>
          </a:p>
        </p:txBody>
      </p:sp>
      <p:sp>
        <p:nvSpPr>
          <p:cNvPr id="21" name="bld3_3097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updates its Standards in numbered amendments — always confirm you're reading the current version.</a:t>
            </a:r>
            <a:endParaRPr lang="en-US" sz="1080" dirty="0"/>
          </a:p>
        </p:txBody>
      </p:sp>
      <p:sp>
        <p:nvSpPr>
          <p:cNvPr id="23" name="trans_fade_20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4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6E7A50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6E7A50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a material against its limit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6E7A50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6E7A50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6E7A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% × dilution % = final product %. Always check against the finished product.</a:t>
            </a:r>
            <a:endParaRPr lang="en-US" sz="1050" dirty="0"/>
          </a:p>
        </p:txBody>
      </p:sp>
      <p:sp>
        <p:nvSpPr>
          <p:cNvPr id="13" name="bld1_3098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1_3099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X, Category 4 (fine fragrance)</a:t>
            </a:r>
            <a:endParaRPr lang="en-US" sz="1650" dirty="0"/>
          </a:p>
        </p:txBody>
      </p:sp>
      <p:sp>
        <p:nvSpPr>
          <p:cNvPr id="15" name="bld1_3100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its IFRA limit in Category 4 is 0.5% of the finished product — an illustrative figure, not a real one.</a:t>
            </a:r>
            <a:endParaRPr lang="en-US" sz="1250" dirty="0"/>
          </a:p>
        </p:txBody>
      </p:sp>
      <p:sp>
        <p:nvSpPr>
          <p:cNvPr id="16" name="bld2_3101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7" name="bld2_3102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at 2% of the concentrate</a:t>
            </a:r>
            <a:endParaRPr lang="en-US" sz="1650" dirty="0"/>
          </a:p>
        </p:txBody>
      </p:sp>
      <p:sp>
        <p:nvSpPr>
          <p:cNvPr id="18" name="bld2_3103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formula sheet lists Material X at 2% of the perfume concentrate.</a:t>
            </a:r>
            <a:endParaRPr lang="en-US" sz="1250" dirty="0"/>
          </a:p>
        </p:txBody>
      </p:sp>
      <p:sp>
        <p:nvSpPr>
          <p:cNvPr id="19" name="bld3_3104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bld3_3105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concentrate is diluted to 20%</a:t>
            </a:r>
            <a:endParaRPr lang="en-US" sz="1650" dirty="0"/>
          </a:p>
        </p:txBody>
      </p:sp>
      <p:sp>
        <p:nvSpPr>
          <p:cNvPr id="21" name="bld3_3106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finished spray, Material X becomes 2% × 20% = 0.4% of the total product.</a:t>
            </a:r>
            <a:endParaRPr lang="en-US" sz="1250" dirty="0"/>
          </a:p>
        </p:txBody>
      </p:sp>
      <p:sp>
        <p:nvSpPr>
          <p:cNvPr id="22" name="bld4_3107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3" name="bld4_3108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 is under the 0.5% limit — compliant</a:t>
            </a:r>
            <a:endParaRPr lang="en-US" sz="1650" dirty="0"/>
          </a:p>
        </p:txBody>
      </p:sp>
      <p:sp>
        <p:nvSpPr>
          <p:cNvPr id="24" name="bld4_3109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calculate the material's share of the finished product, not just the concentrate.</a:t>
            </a:r>
            <a:endParaRPr lang="en-US" sz="1250" dirty="0"/>
          </a:p>
        </p:txBody>
      </p:sp>
      <p:sp>
        <p:nvSpPr>
          <p:cNvPr id="26" name="trans_fade_21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Calculating the maximum permitted amount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1941" y="1962376"/>
            <a:ext cx="2011534" cy="2011534"/>
          </a:xfrm>
          <a:prstGeom prst="ellipse">
            <a:avLst/>
          </a:prstGeom>
          <a:ln w="27432">
            <a:solidFill>
              <a:srgbClr val="B565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1941" y="2766974"/>
            <a:ext cx="20115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65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calculation run in reverse — from finished-product limit back to concentrate ceiling.</a:t>
            </a:r>
            <a:endParaRPr lang="en-US" sz="1050" dirty="0"/>
          </a:p>
        </p:txBody>
      </p:sp>
      <p:sp>
        <p:nvSpPr>
          <p:cNvPr id="13" name="bld1_311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4" name="bld1_311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the finished-product limit</a:t>
            </a:r>
            <a:endParaRPr lang="en-US" sz="1650" dirty="0"/>
          </a:p>
        </p:txBody>
      </p:sp>
      <p:sp>
        <p:nvSpPr>
          <p:cNvPr id="15" name="bld1_311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X still has an illustrative Category 4 limit of 0.5% of the finished product.</a:t>
            </a:r>
            <a:endParaRPr lang="en-US" sz="1250" dirty="0"/>
          </a:p>
        </p:txBody>
      </p:sp>
      <p:sp>
        <p:nvSpPr>
          <p:cNvPr id="16" name="bld2_311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7" name="bld2_311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dilution</a:t>
            </a:r>
            <a:endParaRPr lang="en-US" sz="1650" dirty="0"/>
          </a:p>
        </p:txBody>
      </p:sp>
      <p:sp>
        <p:nvSpPr>
          <p:cNvPr id="18" name="bld2_311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concentrate is used at 20% in the finished spray — a typical EDP strength.</a:t>
            </a:r>
            <a:endParaRPr lang="en-US" sz="1250" dirty="0"/>
          </a:p>
        </p:txBody>
      </p:sp>
      <p:sp>
        <p:nvSpPr>
          <p:cNvPr id="19" name="bld3_311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0" name="bld3_311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 the limit by the dilution</a:t>
            </a:r>
            <a:endParaRPr lang="en-US" sz="1650" dirty="0"/>
          </a:p>
        </p:txBody>
      </p:sp>
      <p:sp>
        <p:nvSpPr>
          <p:cNvPr id="21" name="bld3_311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concentrate % = 0.5% ÷ 20% = 2.5%. That's the most you could ever use of Material X in your concentrate.</a:t>
            </a:r>
            <a:endParaRPr lang="en-US" sz="1250" dirty="0"/>
          </a:p>
        </p:txBody>
      </p:sp>
      <p:sp>
        <p:nvSpPr>
          <p:cNvPr id="22" name="bld4_311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3" name="bld4_312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ceiling, not a target</a:t>
            </a:r>
            <a:endParaRPr lang="en-US" sz="1650" dirty="0"/>
          </a:p>
        </p:txBody>
      </p:sp>
      <p:sp>
        <p:nvSpPr>
          <p:cNvPr id="24" name="bld4_312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comfortably under 2.5% leaves room for reformulation and for other materials that might share the same restriction.</a:t>
            </a:r>
            <a:endParaRPr lang="en-US" sz="1250" dirty="0"/>
          </a:p>
        </p:txBody>
      </p:sp>
      <p:sp>
        <p:nvSpPr>
          <p:cNvPr id="26" name="trans_fade_21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percentages, three different things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519388" y="4051487"/>
            <a:ext cx="2212153" cy="2212153"/>
          </a:xfrm>
          <a:prstGeom prst="ellipse">
            <a:avLst/>
          </a:prstGeom>
          <a:ln w="18288">
            <a:solidFill>
              <a:srgbClr val="B56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454023" y="4466310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4320000">
            <a:off x="10769037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8640000">
            <a:off x="1064871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12960000">
            <a:off x="10259333" y="5065503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17280000">
            <a:off x="10139009" y="4695181"/>
            <a:ext cx="342884" cy="720056"/>
          </a:xfrm>
          <a:prstGeom prst="ellipse">
            <a:avLst/>
          </a:prstGeom>
          <a:solidFill>
            <a:srgbClr val="B5652D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460881" y="4992979"/>
            <a:ext cx="329168" cy="3291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bld1_3122"/>
          <p:cNvSpPr/>
          <p:nvPr/>
        </p:nvSpPr>
        <p:spPr>
          <a:xfrm>
            <a:off x="548640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bld1_3123"/>
          <p:cNvSpPr/>
          <p:nvPr/>
        </p:nvSpPr>
        <p:spPr>
          <a:xfrm>
            <a:off x="722376" y="2504542"/>
            <a:ext cx="237744" cy="23774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bld1_3124"/>
          <p:cNvSpPr txBox="1"/>
          <p:nvPr/>
        </p:nvSpPr>
        <p:spPr>
          <a:xfrm>
            <a:off x="731520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 %</a:t>
            </a:r>
            <a:endParaRPr lang="en-US" sz="1450" dirty="0"/>
          </a:p>
        </p:txBody>
      </p:sp>
      <p:sp>
        <p:nvSpPr>
          <p:cNvPr id="17" name="bld1_3125"/>
          <p:cNvSpPr txBox="1"/>
          <p:nvPr/>
        </p:nvSpPr>
        <p:spPr>
          <a:xfrm>
            <a:off x="731520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material is in your pure fragrance oil, before any dilution — e.g. 2% of the concentrate.</a:t>
            </a:r>
            <a:endParaRPr lang="en-US" sz="1080" dirty="0"/>
          </a:p>
        </p:txBody>
      </p:sp>
      <p:sp>
        <p:nvSpPr>
          <p:cNvPr id="18" name="bld2_3126"/>
          <p:cNvSpPr/>
          <p:nvPr/>
        </p:nvSpPr>
        <p:spPr>
          <a:xfrm>
            <a:off x="4332122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bld2_3127"/>
          <p:cNvSpPr/>
          <p:nvPr/>
        </p:nvSpPr>
        <p:spPr>
          <a:xfrm>
            <a:off x="4505858" y="2504542"/>
            <a:ext cx="237744" cy="23774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0" name="bld2_3128"/>
          <p:cNvSpPr txBox="1"/>
          <p:nvPr/>
        </p:nvSpPr>
        <p:spPr>
          <a:xfrm>
            <a:off x="4515002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Concentrate %</a:t>
            </a:r>
            <a:endParaRPr lang="en-US" sz="1450" dirty="0"/>
          </a:p>
        </p:txBody>
      </p:sp>
      <p:sp>
        <p:nvSpPr>
          <p:cNvPr id="21" name="bld2_3129"/>
          <p:cNvSpPr txBox="1"/>
          <p:nvPr/>
        </p:nvSpPr>
        <p:spPr>
          <a:xfrm>
            <a:off x="4515002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your bottle is fragrance oil versus alcohol — e.g. a 20% EDP dilution.</a:t>
            </a:r>
            <a:endParaRPr lang="en-US" sz="1080" dirty="0"/>
          </a:p>
        </p:txBody>
      </p:sp>
      <p:sp>
        <p:nvSpPr>
          <p:cNvPr id="22" name="bld3_3130"/>
          <p:cNvSpPr/>
          <p:nvPr/>
        </p:nvSpPr>
        <p:spPr>
          <a:xfrm>
            <a:off x="8115605" y="2330806"/>
            <a:ext cx="352745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bld3_3131"/>
          <p:cNvSpPr/>
          <p:nvPr/>
        </p:nvSpPr>
        <p:spPr>
          <a:xfrm>
            <a:off x="8289341" y="2504542"/>
            <a:ext cx="237744" cy="23774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24" name="bld3_3132"/>
          <p:cNvSpPr txBox="1"/>
          <p:nvPr/>
        </p:nvSpPr>
        <p:spPr>
          <a:xfrm>
            <a:off x="8298485" y="2788006"/>
            <a:ext cx="316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%</a:t>
            </a:r>
            <a:endParaRPr lang="en-US" sz="1450" dirty="0"/>
          </a:p>
        </p:txBody>
      </p:sp>
      <p:sp>
        <p:nvSpPr>
          <p:cNvPr id="25" name="bld3_3133"/>
          <p:cNvSpPr txBox="1"/>
          <p:nvPr/>
        </p:nvSpPr>
        <p:spPr>
          <a:xfrm>
            <a:off x="8298485" y="3117190"/>
            <a:ext cx="316169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customer's skin is actually exposed to — the number an IFRA limit actually applies to.</a:t>
            </a:r>
            <a:endParaRPr lang="en-US" sz="1080" dirty="0"/>
          </a:p>
        </p:txBody>
      </p:sp>
      <p:sp>
        <p:nvSpPr>
          <p:cNvPr id="27" name="trans_fade_21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3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CHECK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IFRA Standards Library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search, one confirmed answer — always from the current Standards, never memorised.</a:t>
            </a:r>
            <a:endParaRPr lang="en-US" sz="1050" dirty="0"/>
          </a:p>
        </p:txBody>
      </p:sp>
      <p:sp>
        <p:nvSpPr>
          <p:cNvPr id="18" name="bld1_313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9" name="bld1_313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by material name or CAS number</a:t>
            </a:r>
            <a:endParaRPr lang="en-US" sz="1650" dirty="0"/>
          </a:p>
        </p:txBody>
      </p:sp>
      <p:sp>
        <p:nvSpPr>
          <p:cNvPr id="20" name="bld1_3136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IFRA Standards Library lets you look up any regulated material directly.</a:t>
            </a:r>
            <a:endParaRPr lang="en-US" sz="1250" dirty="0"/>
          </a:p>
        </p:txBody>
      </p:sp>
      <p:sp>
        <p:nvSpPr>
          <p:cNvPr id="21" name="bld2_3137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2" name="bld2_3138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category that matches your product</a:t>
            </a:r>
            <a:endParaRPr lang="en-US" sz="1650" dirty="0"/>
          </a:p>
        </p:txBody>
      </p:sp>
      <p:sp>
        <p:nvSpPr>
          <p:cNvPr id="23" name="bld2_3139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material's limit can differ hugely between categories — read the one that matches fine fragrance (Category 4) for this course's work.</a:t>
            </a:r>
            <a:endParaRPr lang="en-US" sz="1250" dirty="0"/>
          </a:p>
        </p:txBody>
      </p:sp>
      <p:sp>
        <p:nvSpPr>
          <p:cNvPr id="24" name="bld3_3140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3_3141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the amendment number</a:t>
            </a:r>
            <a:endParaRPr lang="en-US" sz="1650" dirty="0"/>
          </a:p>
        </p:txBody>
      </p:sp>
      <p:sp>
        <p:nvSpPr>
          <p:cNvPr id="26" name="bld3_3142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are updated periodically — always confirm you're reading the current amendment, not an archived one.</a:t>
            </a:r>
            <a:endParaRPr lang="en-US" sz="1250" dirty="0"/>
          </a:p>
        </p:txBody>
      </p:sp>
      <p:sp>
        <p:nvSpPr>
          <p:cNvPr id="27" name="bld4_3143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8" name="bld4_3144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listing doesn't mean no documentation needed</a:t>
            </a:r>
            <a:endParaRPr lang="en-US" sz="1650" dirty="0"/>
          </a:p>
        </p:txBody>
      </p:sp>
      <p:sp>
        <p:nvSpPr>
          <p:cNvPr id="29" name="bld4_3145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unrestricted material still needs supplier paperwork — absence from the library isn't a free pass to skip checking.</a:t>
            </a:r>
            <a:endParaRPr lang="en-US" sz="1250" dirty="0"/>
          </a:p>
        </p:txBody>
      </p:sp>
      <p:sp>
        <p:nvSpPr>
          <p:cNvPr id="31" name="trans_fade_21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2" name="Text 2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MATERIALS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SDS actually tells you</a:t>
            </a:r>
            <a:endParaRPr lang="en-US" sz="3200" dirty="0"/>
          </a:p>
        </p:txBody>
      </p:sp>
      <p:sp>
        <p:nvSpPr>
          <p:cNvPr id="7" name="bld1_3146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58821" y="209928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633798" y="2180112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1633798" y="2260945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658821" y="2341778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5" name="bld1_3148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 — Identification</a:t>
            </a:r>
            <a:endParaRPr lang="en-US" sz="1450" dirty="0"/>
          </a:p>
        </p:txBody>
      </p:sp>
      <p:sp>
        <p:nvSpPr>
          <p:cNvPr id="16" name="bld1_3149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material is, and who supplies it.</a:t>
            </a:r>
            <a:endParaRPr lang="en-US" sz="1080" dirty="0"/>
          </a:p>
        </p:txBody>
      </p:sp>
      <p:sp>
        <p:nvSpPr>
          <p:cNvPr id="17" name="bld2_3150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07292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1" name="bld2_3152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2 — Hazards</a:t>
            </a:r>
            <a:endParaRPr lang="en-US" sz="1450" dirty="0"/>
          </a:p>
        </p:txBody>
      </p:sp>
      <p:sp>
        <p:nvSpPr>
          <p:cNvPr id="22" name="bld2_3153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hazard classification and key risks.</a:t>
            </a:r>
            <a:endParaRPr lang="en-US" sz="1080" dirty="0"/>
          </a:p>
        </p:txBody>
      </p:sp>
      <p:sp>
        <p:nvSpPr>
          <p:cNvPr id="23" name="bld3_3154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25" name="Shape 23"/>
          <p:cNvSpPr/>
          <p:nvPr/>
        </p:nvSpPr>
        <p:spPr>
          <a:xfrm flipV="1">
            <a:off x="7514654" y="2167179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4690" y="2167179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634690" y="2233866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4629" y="2340566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7434629" y="2220529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67942" y="2153842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3314" y="2199189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19352" y="2151841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39389" y="22185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19352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19291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52604" y="2138504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38" name="bld3_3156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3 — Composition</a:t>
            </a:r>
            <a:endParaRPr lang="en-US" sz="1450" dirty="0"/>
          </a:p>
        </p:txBody>
      </p:sp>
      <p:sp>
        <p:nvSpPr>
          <p:cNvPr id="39" name="bld3_3157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made of, including listed impurities.</a:t>
            </a:r>
            <a:endParaRPr lang="en-US" sz="1080" dirty="0"/>
          </a:p>
        </p:txBody>
      </p:sp>
      <p:sp>
        <p:nvSpPr>
          <p:cNvPr id="40" name="bld4_3158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47" name="bld4_3160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7 — Handling &amp; Storage</a:t>
            </a:r>
            <a:endParaRPr lang="en-US" sz="1450" dirty="0"/>
          </a:p>
        </p:txBody>
      </p:sp>
      <p:sp>
        <p:nvSpPr>
          <p:cNvPr id="48" name="bld4_3161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and work with it safely.</a:t>
            </a:r>
            <a:endParaRPr lang="en-US" sz="1080" dirty="0"/>
          </a:p>
        </p:txBody>
      </p:sp>
      <p:sp>
        <p:nvSpPr>
          <p:cNvPr id="49" name="bld5_3162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51" name="Shape 49"/>
          <p:cNvSpPr/>
          <p:nvPr/>
        </p:nvSpPr>
        <p:spPr>
          <a:xfrm>
            <a:off x="1616331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53" name="bld5_3164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8 — Exposure Controls</a:t>
            </a:r>
            <a:endParaRPr lang="en-US" sz="1450" dirty="0"/>
          </a:p>
        </p:txBody>
      </p:sp>
      <p:sp>
        <p:nvSpPr>
          <p:cNvPr id="54" name="bld5_3165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protective equipment (PPE) to use.</a:t>
            </a:r>
            <a:endParaRPr lang="en-US" sz="1080" dirty="0"/>
          </a:p>
        </p:txBody>
      </p:sp>
      <p:sp>
        <p:nvSpPr>
          <p:cNvPr id="55" name="bld6_3166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57" name="Shape 55"/>
          <p:cNvSpPr/>
          <p:nvPr/>
        </p:nvSpPr>
        <p:spPr>
          <a:xfrm>
            <a:off x="4434543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487893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487893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487893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62" name="bld6_3168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9 — Physical Properties</a:t>
            </a:r>
            <a:endParaRPr lang="en-US" sz="1450" dirty="0"/>
          </a:p>
        </p:txBody>
      </p:sp>
      <p:sp>
        <p:nvSpPr>
          <p:cNvPr id="63" name="bld6_3169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Flashpoint, solubility, appearance and more.</a:t>
            </a:r>
            <a:endParaRPr lang="en-US" sz="1080" dirty="0"/>
          </a:p>
        </p:txBody>
      </p:sp>
      <p:sp>
        <p:nvSpPr>
          <p:cNvPr id="64" name="bld7_3170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6" name="Shape 64"/>
          <p:cNvSpPr/>
          <p:nvPr/>
        </p:nvSpPr>
        <p:spPr>
          <a:xfrm>
            <a:off x="7272155" y="4337182"/>
            <a:ext cx="484998" cy="484998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334045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7309021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7309021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7334045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72" name="bld7_3172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14 — Transport Info</a:t>
            </a:r>
            <a:endParaRPr lang="en-US" sz="1450" dirty="0"/>
          </a:p>
        </p:txBody>
      </p:sp>
      <p:sp>
        <p:nvSpPr>
          <p:cNvPr id="73" name="bld7_3173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material is classified for shipping.</a:t>
            </a:r>
            <a:endParaRPr lang="en-US" sz="1080" dirty="0"/>
          </a:p>
        </p:txBody>
      </p:sp>
      <p:sp>
        <p:nvSpPr>
          <p:cNvPr id="75" name="trans_fade_21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6" name="Text 7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5" grpId="0"/>
      <p:bldP spid="16" grpId="0"/>
      <p:bldP spid="17" grpId="0"/>
      <p:bldP spid="21" grpId="0"/>
      <p:bldP spid="22" grpId="0"/>
      <p:bldP spid="23" grpId="0"/>
      <p:bldP spid="38" grpId="0"/>
      <p:bldP spid="39" grpId="0"/>
      <p:bldP spid="40" grpId="0"/>
      <p:bldP spid="47" grpId="0"/>
      <p:bldP spid="48" grpId="0"/>
      <p:bldP spid="49" grpId="0"/>
      <p:bldP spid="53" grpId="0"/>
      <p:bldP spid="54" grpId="0"/>
      <p:bldP spid="55" grpId="0"/>
      <p:bldP spid="62" grpId="0"/>
      <p:bldP spid="63" grpId="0"/>
      <p:bldP spid="64" grpId="0"/>
      <p:bldP spid="72" grpId="0"/>
      <p:bldP spid="73" grpId="0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DOCUMENTS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SDS is not an IFRA certificate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documents, two different jobs — both essential, neither a substitute for the other.</a:t>
            </a:r>
            <a:endParaRPr lang="en-US" sz="1050" dirty="0"/>
          </a:p>
        </p:txBody>
      </p:sp>
      <p:sp>
        <p:nvSpPr>
          <p:cNvPr id="18" name="bld1_3174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9" name="bld1_3175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SDS covers safety and handling</a:t>
            </a:r>
            <a:endParaRPr lang="en-US" sz="1650" dirty="0"/>
          </a:p>
        </p:txBody>
      </p:sp>
      <p:sp>
        <p:nvSpPr>
          <p:cNvPr id="20" name="bld1_3176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Hazards, storage, PPE, transport — chemical safety information, not fragrance-industry usage limits.</a:t>
            </a:r>
            <a:endParaRPr lang="en-US" sz="1250" dirty="0"/>
          </a:p>
        </p:txBody>
      </p:sp>
      <p:sp>
        <p:nvSpPr>
          <p:cNvPr id="21" name="bld2_3177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2" name="bld2_3178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IFRA certificate covers usage limits</a:t>
            </a:r>
            <a:endParaRPr lang="en-US" sz="1650" dirty="0"/>
          </a:p>
        </p:txBody>
      </p:sp>
      <p:sp>
        <p:nvSpPr>
          <p:cNvPr id="23" name="bld2_3179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a material's IFRA status and any restricted maximum percentage — a completely different purpose.</a:t>
            </a:r>
            <a:endParaRPr lang="en-US" sz="1250" dirty="0"/>
          </a:p>
        </p:txBody>
      </p:sp>
      <p:sp>
        <p:nvSpPr>
          <p:cNvPr id="24" name="bld3_3180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5" name="bld3_3181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both, from every supplier</a:t>
            </a:r>
            <a:endParaRPr lang="en-US" sz="1650" dirty="0"/>
          </a:p>
        </p:txBody>
      </p:sp>
      <p:sp>
        <p:nvSpPr>
          <p:cNvPr id="26" name="bld3_3182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an SDS and, where relevant, an IFRA certificate or conformity statement for every material you buy.</a:t>
            </a:r>
            <a:endParaRPr lang="en-US" sz="1250" dirty="0"/>
          </a:p>
        </p:txBody>
      </p:sp>
      <p:sp>
        <p:nvSpPr>
          <p:cNvPr id="28" name="trans_fade_21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RIGHT TO KNOW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declarations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17219" y="2038814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40728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78962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55477" y="2844375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93711" y="2346511"/>
            <a:ext cx="460976" cy="968051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26439" y="2746874"/>
            <a:ext cx="442537" cy="442537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beautiful rose absolute may carry declarable allergens.</a:t>
            </a:r>
            <a:endParaRPr lang="en-US" sz="1050" dirty="0"/>
          </a:p>
        </p:txBody>
      </p:sp>
      <p:sp>
        <p:nvSpPr>
          <p:cNvPr id="17" name="bld1_3183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8" name="bld1_3184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 materials must be declared</a:t>
            </a:r>
            <a:endParaRPr lang="en-US" sz="1650" dirty="0"/>
          </a:p>
        </p:txBody>
      </p:sp>
      <p:sp>
        <p:nvSpPr>
          <p:cNvPr id="19" name="bld1_3185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list of fragrance allergens must be listed on packaging above a set concentration threshold.</a:t>
            </a:r>
            <a:endParaRPr lang="en-US" sz="1250" dirty="0"/>
          </a:p>
        </p:txBody>
      </p:sp>
      <p:sp>
        <p:nvSpPr>
          <p:cNvPr id="20" name="bld2_3186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bld2_3187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applies even to natural materials</a:t>
            </a:r>
            <a:endParaRPr lang="en-US" sz="1650" dirty="0"/>
          </a:p>
        </p:txBody>
      </p:sp>
      <p:sp>
        <p:nvSpPr>
          <p:cNvPr id="22" name="bld2_3188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essential oils contain declarable allergens naturally — linalool and limonene among the most common.</a:t>
            </a:r>
            <a:endParaRPr lang="en-US" sz="1250" dirty="0"/>
          </a:p>
        </p:txBody>
      </p:sp>
      <p:sp>
        <p:nvSpPr>
          <p:cNvPr id="23" name="bld3_3189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4" name="bld3_3190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every material's allergen content</a:t>
            </a:r>
            <a:endParaRPr lang="en-US" sz="1650" dirty="0"/>
          </a:p>
        </p:txBody>
      </p:sp>
      <p:sp>
        <p:nvSpPr>
          <p:cNvPr id="25" name="bld3_3191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supplier's documentation should state the relevant allergen composition of each raw material.</a:t>
            </a:r>
            <a:endParaRPr lang="en-US" sz="1250" dirty="0"/>
          </a:p>
        </p:txBody>
      </p:sp>
      <p:sp>
        <p:nvSpPr>
          <p:cNvPr id="27" name="trans_fade_21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LABELLING HAZARDS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CLP — how hazards get communicated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8C3B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1941" y="4646421"/>
            <a:ext cx="1331827" cy="1331827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8100000">
            <a:off x="10463437" y="5007917"/>
            <a:ext cx="608835" cy="608835"/>
          </a:xfrm>
          <a:prstGeom prst="teardrop">
            <a:avLst/>
          </a:prstGeom>
          <a:solidFill>
            <a:srgbClr val="8C3B49">
              <a:alpha val="92000"/>
            </a:srgbClr>
          </a:solidFill>
          <a:ln/>
        </p:spPr>
      </p:sp>
      <p:sp>
        <p:nvSpPr>
          <p:cNvPr id="10" name="bld1_3192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55964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14" name="bld1_3194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450" dirty="0"/>
          </a:p>
        </p:txBody>
      </p:sp>
      <p:sp>
        <p:nvSpPr>
          <p:cNvPr id="15" name="bld1_3195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category a product falls into.</a:t>
            </a:r>
            <a:endParaRPr lang="en-US" sz="1080" dirty="0"/>
          </a:p>
        </p:txBody>
      </p:sp>
      <p:sp>
        <p:nvSpPr>
          <p:cNvPr id="16" name="bld2_3196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2605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6B2A1A"/>
            </a:solidFill>
            <a:prstDash val="solid"/>
          </a:ln>
        </p:spPr>
      </p:sp>
      <p:sp>
        <p:nvSpPr>
          <p:cNvPr id="20" name="bld2_3198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Pictograms</a:t>
            </a:r>
            <a:endParaRPr lang="en-US" sz="1450" dirty="0"/>
          </a:p>
        </p:txBody>
      </p:sp>
      <p:sp>
        <p:nvSpPr>
          <p:cNvPr id="21" name="bld2_3199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symbols shown on packaging.</a:t>
            </a:r>
            <a:endParaRPr lang="en-US" sz="1080" dirty="0"/>
          </a:p>
        </p:txBody>
      </p:sp>
      <p:sp>
        <p:nvSpPr>
          <p:cNvPr id="22" name="bld3_3200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4" name="Shape 22"/>
          <p:cNvSpPr/>
          <p:nvPr/>
        </p:nvSpPr>
        <p:spPr>
          <a:xfrm>
            <a:off x="589614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3B382F"/>
            </a:solidFill>
            <a:prstDash val="solid"/>
          </a:ln>
        </p:spPr>
      </p:sp>
      <p:sp>
        <p:nvSpPr>
          <p:cNvPr id="26" name="bld3_3202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words</a:t>
            </a:r>
            <a:endParaRPr lang="en-US" sz="1450" dirty="0"/>
          </a:p>
        </p:txBody>
      </p:sp>
      <p:sp>
        <p:nvSpPr>
          <p:cNvPr id="27" name="bld3_3203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"Warning" or "Danger," indicating severity.</a:t>
            </a:r>
            <a:endParaRPr lang="en-US" sz="1080" dirty="0"/>
          </a:p>
        </p:txBody>
      </p:sp>
      <p:sp>
        <p:nvSpPr>
          <p:cNvPr id="28" name="bld4_3204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0644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53456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124017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124017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153456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6" name="bld4_3206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Hazard phrases</a:t>
            </a:r>
            <a:endParaRPr lang="en-US" sz="1450" dirty="0"/>
          </a:p>
        </p:txBody>
      </p:sp>
      <p:sp>
        <p:nvSpPr>
          <p:cNvPr id="37" name="bld4_3207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phrases describing the specific risk.</a:t>
            </a:r>
            <a:endParaRPr lang="en-US" sz="1080" dirty="0"/>
          </a:p>
        </p:txBody>
      </p:sp>
      <p:sp>
        <p:nvSpPr>
          <p:cNvPr id="38" name="bld5_3208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73557" y="2577291"/>
            <a:ext cx="524939" cy="353763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42" name="bld5_3210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Precautions</a:t>
            </a:r>
            <a:endParaRPr lang="en-US" sz="1450" dirty="0"/>
          </a:p>
        </p:txBody>
      </p:sp>
      <p:sp>
        <p:nvSpPr>
          <p:cNvPr id="43" name="bld5_3211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user should do to stay safe.</a:t>
            </a:r>
            <a:endParaRPr lang="en-US" sz="1080" dirty="0"/>
          </a:p>
        </p:txBody>
      </p:sp>
      <p:sp>
        <p:nvSpPr>
          <p:cNvPr id="45" name="trans_fade_21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6" name="Text 4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6" grpId="0"/>
      <p:bldP spid="37" grpId="0"/>
      <p:bldP spid="38" grpId="0"/>
      <p:bldP spid="42" grpId="0"/>
      <p:bldP spid="43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TOOL, NOT AN AUTHORITY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Good Scents Company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0E0D0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b="1" i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"If a material is listed on The Good Scents Company, it's approved and safe to use as I like."</a:t>
            </a:r>
            <a:endParaRPr lang="en-US" sz="2100" dirty="0"/>
          </a:p>
        </p:txBody>
      </p:sp>
      <p:sp>
        <p:nvSpPr>
          <p:cNvPr id="10" name="bld1_3212"/>
          <p:cNvSpPr/>
          <p:nvPr/>
        </p:nvSpPr>
        <p:spPr>
          <a:xfrm>
            <a:off x="6278728" y="1920240"/>
            <a:ext cx="5364328" cy="4389120"/>
          </a:xfrm>
          <a:prstGeom prst="roundRect">
            <a:avLst>
              <a:gd name="adj" fmla="val 2500"/>
            </a:avLst>
          </a:prstGeom>
          <a:solidFill>
            <a:srgbClr val="EFE6D2"/>
          </a:solidFill>
          <a:ln/>
        </p:spPr>
      </p:sp>
      <p:sp>
        <p:nvSpPr>
          <p:cNvPr id="11" name="bld1_3213"/>
          <p:cNvSpPr txBox="1"/>
          <p:nvPr/>
        </p:nvSpPr>
        <p:spPr>
          <a:xfrm>
            <a:off x="6598768" y="2194560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300" dirty="0"/>
          </a:p>
        </p:txBody>
      </p:sp>
      <p:sp>
        <p:nvSpPr>
          <p:cNvPr id="12" name="bld1_3214"/>
          <p:cNvSpPr txBox="1"/>
          <p:nvPr/>
        </p:nvSpPr>
        <p:spPr>
          <a:xfrm>
            <a:off x="6598768" y="2651760"/>
            <a:ext cx="4724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Scents is a fantastic research and reference tool for material properties — but it is not a regulatory authority. Always confirm safety and legal usage limits through your supplier's documentation, IFRA, the SDS, and official regulatory databases.</a:t>
            </a:r>
            <a:endParaRPr lang="en-US" sz="1450" dirty="0"/>
          </a:p>
        </p:txBody>
      </p:sp>
      <p:sp>
        <p:nvSpPr>
          <p:cNvPr id="14" name="trans_wipe_l_21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5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 nodeType="tmRoot">
          <p:childTnLst>
            <p:seq concurrent="1" nextAc="seek">
              <p:cTn id="1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to request from every supplier</a:t>
            </a:r>
            <a:endParaRPr lang="en-US" sz="3200" dirty="0"/>
          </a:p>
        </p:txBody>
      </p:sp>
      <p:sp>
        <p:nvSpPr>
          <p:cNvPr id="7" name="bld1_3215"/>
          <p:cNvSpPr txBox="1"/>
          <p:nvPr/>
        </p:nvSpPr>
        <p:spPr>
          <a:xfrm>
            <a:off x="548640" y="28986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COMPOSITION</a:t>
            </a:r>
            <a:endParaRPr lang="en-US" sz="1250" dirty="0"/>
          </a:p>
        </p:txBody>
      </p:sp>
      <p:sp>
        <p:nvSpPr>
          <p:cNvPr id="8" name="bld1_3216"/>
          <p:cNvSpPr/>
          <p:nvPr/>
        </p:nvSpPr>
        <p:spPr>
          <a:xfrm>
            <a:off x="548640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9" name="bld1_3217"/>
          <p:cNvSpPr txBox="1"/>
          <p:nvPr/>
        </p:nvSpPr>
        <p:spPr>
          <a:xfrm>
            <a:off x="841248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Data Sheet (SDS)</a:t>
            </a:r>
            <a:endParaRPr lang="en-US" sz="1200" dirty="0"/>
          </a:p>
        </p:txBody>
      </p:sp>
      <p:sp>
        <p:nvSpPr>
          <p:cNvPr id="10" name="bld1_3218"/>
          <p:cNvSpPr/>
          <p:nvPr/>
        </p:nvSpPr>
        <p:spPr>
          <a:xfrm>
            <a:off x="548640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1" name="bld1_3219"/>
          <p:cNvSpPr txBox="1"/>
          <p:nvPr/>
        </p:nvSpPr>
        <p:spPr>
          <a:xfrm>
            <a:off x="841248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sheet / technical data</a:t>
            </a:r>
            <a:endParaRPr lang="en-US" sz="1200" dirty="0"/>
          </a:p>
        </p:txBody>
      </p:sp>
      <p:sp>
        <p:nvSpPr>
          <p:cNvPr id="12" name="bld1_3220"/>
          <p:cNvSpPr/>
          <p:nvPr/>
        </p:nvSpPr>
        <p:spPr>
          <a:xfrm>
            <a:off x="548640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C9A354"/>
            </a:solidFill>
            <a:prstDash val="solid"/>
          </a:ln>
        </p:spPr>
      </p:sp>
      <p:sp>
        <p:nvSpPr>
          <p:cNvPr id="13" name="bld1_3221"/>
          <p:cNvSpPr txBox="1"/>
          <p:nvPr/>
        </p:nvSpPr>
        <p:spPr>
          <a:xfrm>
            <a:off x="841248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&amp; impurity information</a:t>
            </a:r>
            <a:endParaRPr lang="en-US" sz="1200" dirty="0"/>
          </a:p>
        </p:txBody>
      </p:sp>
      <p:sp>
        <p:nvSpPr>
          <p:cNvPr id="14" name="bld2_3222"/>
          <p:cNvSpPr txBox="1"/>
          <p:nvPr/>
        </p:nvSpPr>
        <p:spPr>
          <a:xfrm>
            <a:off x="6255868" y="2898648"/>
            <a:ext cx="5387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B56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STATUS</a:t>
            </a:r>
            <a:endParaRPr lang="en-US" sz="1250" dirty="0"/>
          </a:p>
        </p:txBody>
      </p:sp>
      <p:sp>
        <p:nvSpPr>
          <p:cNvPr id="15" name="bld2_3223"/>
          <p:cNvSpPr/>
          <p:nvPr/>
        </p:nvSpPr>
        <p:spPr>
          <a:xfrm>
            <a:off x="6255868" y="33558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6" name="bld2_3224"/>
          <p:cNvSpPr txBox="1"/>
          <p:nvPr/>
        </p:nvSpPr>
        <p:spPr>
          <a:xfrm>
            <a:off x="6548476" y="32918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 Certificate or conformity statement</a:t>
            </a:r>
            <a:endParaRPr lang="en-US" sz="1200" dirty="0"/>
          </a:p>
        </p:txBody>
      </p:sp>
      <p:sp>
        <p:nvSpPr>
          <p:cNvPr id="17" name="bld2_3225"/>
          <p:cNvSpPr/>
          <p:nvPr/>
        </p:nvSpPr>
        <p:spPr>
          <a:xfrm>
            <a:off x="6255868" y="38130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18" name="bld2_3226"/>
          <p:cNvSpPr txBox="1"/>
          <p:nvPr/>
        </p:nvSpPr>
        <p:spPr>
          <a:xfrm>
            <a:off x="6548476" y="37490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declaration</a:t>
            </a:r>
            <a:endParaRPr lang="en-US" sz="1200" dirty="0"/>
          </a:p>
        </p:txBody>
      </p:sp>
      <p:sp>
        <p:nvSpPr>
          <p:cNvPr id="19" name="bld2_3227"/>
          <p:cNvSpPr/>
          <p:nvPr/>
        </p:nvSpPr>
        <p:spPr>
          <a:xfrm>
            <a:off x="6255868" y="4270248"/>
            <a:ext cx="182880" cy="182880"/>
          </a:xfrm>
          <a:prstGeom prst="roundRect">
            <a:avLst>
              <a:gd name="adj" fmla="val 15000"/>
            </a:avLst>
          </a:prstGeom>
          <a:ln w="19050">
            <a:solidFill>
              <a:srgbClr val="B5652D"/>
            </a:solidFill>
            <a:prstDash val="solid"/>
          </a:ln>
        </p:spPr>
      </p:sp>
      <p:sp>
        <p:nvSpPr>
          <p:cNvPr id="20" name="bld2_3228"/>
          <p:cNvSpPr txBox="1"/>
          <p:nvPr/>
        </p:nvSpPr>
        <p:spPr>
          <a:xfrm>
            <a:off x="6548476" y="4206240"/>
            <a:ext cx="50671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0D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regulatory documentation for your market</a:t>
            </a:r>
            <a:endParaRPr lang="en-US" sz="1200" dirty="0"/>
          </a:p>
        </p:txBody>
      </p:sp>
      <p:sp>
        <p:nvSpPr>
          <p:cNvPr id="22" name="trans_fade_21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3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5B3A52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5B3A52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VARIABLE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Regulations vary by region and product type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5B3A52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5B3A52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8501710" y="2152574"/>
            <a:ext cx="2091995" cy="2091995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68668" y="2675572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660732" y="3024238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660732" y="3372904"/>
            <a:ext cx="177395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768668" y="3721570"/>
            <a:ext cx="155808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206685" y="1857549"/>
            <a:ext cx="2682045" cy="2682045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standard, many local rules — check both before you sell anything.</a:t>
            </a:r>
            <a:endParaRPr lang="en-US" sz="1050" dirty="0"/>
          </a:p>
        </p:txBody>
      </p:sp>
      <p:sp>
        <p:nvSpPr>
          <p:cNvPr id="18" name="bld1_3229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9" name="bld1_3230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is global, but law is local</a:t>
            </a:r>
            <a:endParaRPr lang="en-US" sz="1650" dirty="0"/>
          </a:p>
        </p:txBody>
      </p:sp>
      <p:sp>
        <p:nvSpPr>
          <p:cNvPr id="20" name="bld1_3231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countries and regions layer their own cosmetic and chemical regulations on top of IFRA — always check what applies where you sell.</a:t>
            </a:r>
            <a:endParaRPr lang="en-US" sz="1250" dirty="0"/>
          </a:p>
        </p:txBody>
      </p:sp>
      <p:sp>
        <p:nvSpPr>
          <p:cNvPr id="21" name="bld2_3232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2" name="bld2_3233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type changes the rules too</a:t>
            </a:r>
            <a:endParaRPr lang="en-US" sz="1650" dirty="0"/>
          </a:p>
        </p:txBody>
      </p:sp>
      <p:sp>
        <p:nvSpPr>
          <p:cNvPr id="23" name="bld2_3234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fine fragrance, a candle and a soap can face different regulatory requirements even when built from the same materials.</a:t>
            </a:r>
            <a:endParaRPr lang="en-US" sz="1250" dirty="0"/>
          </a:p>
        </p:txBody>
      </p:sp>
      <p:sp>
        <p:nvSpPr>
          <p:cNvPr id="24" name="bld3_3235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5" name="bld3_3236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in doubt, get local advice</a:t>
            </a:r>
            <a:endParaRPr lang="en-US" sz="1650" dirty="0"/>
          </a:p>
        </p:txBody>
      </p:sp>
      <p:sp>
        <p:nvSpPr>
          <p:cNvPr id="26" name="bld3_3237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anything beyond a hobby batch, a professional regulatory assessor for your specific market is worth the cost.</a:t>
            </a:r>
            <a:endParaRPr lang="en-US" sz="1250" dirty="0"/>
          </a:p>
        </p:txBody>
      </p:sp>
      <p:sp>
        <p:nvSpPr>
          <p:cNvPr id="28" name="trans_fade_22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9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COMPLIANCE PATH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COMPLIANCE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 to sellable label</a:t>
            </a:r>
            <a:endParaRPr lang="en-US" sz="3200" dirty="0"/>
          </a:p>
        </p:txBody>
      </p:sp>
      <p:sp>
        <p:nvSpPr>
          <p:cNvPr id="7" name="bld1_3238"/>
          <p:cNvSpPr txBox="1"/>
          <p:nvPr/>
        </p:nvSpPr>
        <p:spPr>
          <a:xfrm>
            <a:off x="2064990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7314" y="2973354"/>
            <a:ext cx="1642811" cy="164281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188720" y="3653807"/>
            <a:ext cx="317145" cy="140953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5865" y="3653807"/>
            <a:ext cx="317145" cy="17619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505865" y="3829998"/>
            <a:ext cx="317145" cy="281906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290" y="4111905"/>
            <a:ext cx="528574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77290" y="3794760"/>
            <a:ext cx="211430" cy="317145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099" y="3618569"/>
            <a:ext cx="387621" cy="176191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2339" y="3738379"/>
            <a:ext cx="112763" cy="112763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65341" y="3613283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2485" y="3789474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65341" y="4071381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6766" y="4071381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575" y="3578044"/>
            <a:ext cx="81048" cy="81048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314" y="2973354"/>
            <a:ext cx="1642811" cy="164281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2" name="bld1_3240"/>
          <p:cNvSpPr txBox="1"/>
          <p:nvPr/>
        </p:nvSpPr>
        <p:spPr>
          <a:xfrm>
            <a:off x="253014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00" dirty="0"/>
          </a:p>
        </p:txBody>
      </p:sp>
      <p:sp>
        <p:nvSpPr>
          <p:cNvPr id="23" name="bld1_3241"/>
          <p:cNvSpPr txBox="1"/>
          <p:nvPr/>
        </p:nvSpPr>
        <p:spPr>
          <a:xfrm>
            <a:off x="253014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composition</a:t>
            </a:r>
            <a:endParaRPr lang="en-US" sz="1050" dirty="0"/>
          </a:p>
        </p:txBody>
      </p:sp>
      <p:sp>
        <p:nvSpPr>
          <p:cNvPr id="24" name="bld2_3242"/>
          <p:cNvSpPr txBox="1"/>
          <p:nvPr/>
        </p:nvSpPr>
        <p:spPr>
          <a:xfrm>
            <a:off x="4027841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330166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0875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74392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608279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608279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674392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330166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2" name="bld2_3244"/>
          <p:cNvSpPr txBox="1"/>
          <p:nvPr/>
        </p:nvSpPr>
        <p:spPr>
          <a:xfrm>
            <a:off x="2215866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IFRA check</a:t>
            </a:r>
            <a:endParaRPr lang="en-US" sz="1400" dirty="0"/>
          </a:p>
        </p:txBody>
      </p:sp>
      <p:sp>
        <p:nvSpPr>
          <p:cNvPr id="33" name="bld2_3245"/>
          <p:cNvSpPr txBox="1"/>
          <p:nvPr/>
        </p:nvSpPr>
        <p:spPr>
          <a:xfrm>
            <a:off x="2215866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limits met</a:t>
            </a:r>
            <a:endParaRPr lang="en-US" sz="1050" dirty="0"/>
          </a:p>
        </p:txBody>
      </p:sp>
      <p:sp>
        <p:nvSpPr>
          <p:cNvPr id="34" name="bld3_3246"/>
          <p:cNvSpPr txBox="1"/>
          <p:nvPr/>
        </p:nvSpPr>
        <p:spPr>
          <a:xfrm>
            <a:off x="5990692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4293017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6" name="Shape 34"/>
          <p:cNvSpPr/>
          <p:nvPr/>
        </p:nvSpPr>
        <p:spPr>
          <a:xfrm>
            <a:off x="4473726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637243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571130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571130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637243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293017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42" name="bld3_3248"/>
          <p:cNvSpPr txBox="1"/>
          <p:nvPr/>
        </p:nvSpPr>
        <p:spPr>
          <a:xfrm>
            <a:off x="4178717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data</a:t>
            </a:r>
            <a:endParaRPr lang="en-US" sz="1400" dirty="0"/>
          </a:p>
        </p:txBody>
      </p:sp>
      <p:sp>
        <p:nvSpPr>
          <p:cNvPr id="43" name="bld3_3249"/>
          <p:cNvSpPr txBox="1"/>
          <p:nvPr/>
        </p:nvSpPr>
        <p:spPr>
          <a:xfrm>
            <a:off x="4178717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SDS</a:t>
            </a:r>
            <a:endParaRPr lang="en-US" sz="1050" dirty="0"/>
          </a:p>
        </p:txBody>
      </p:sp>
      <p:sp>
        <p:nvSpPr>
          <p:cNvPr id="44" name="bld4_3250"/>
          <p:cNvSpPr txBox="1"/>
          <p:nvPr/>
        </p:nvSpPr>
        <p:spPr>
          <a:xfrm>
            <a:off x="7953543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6255868" y="2973354"/>
            <a:ext cx="1642811" cy="1642811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46" name="Shape 44"/>
          <p:cNvSpPr/>
          <p:nvPr/>
        </p:nvSpPr>
        <p:spPr>
          <a:xfrm>
            <a:off x="6981169" y="3370363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 rot="2700000">
            <a:off x="7118168" y="3427110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 rot="5400000">
            <a:off x="7174915" y="3564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 rot="8100000">
            <a:off x="7118168" y="3701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 rot="10800000">
            <a:off x="6981169" y="3757856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 rot="13500000">
            <a:off x="6844169" y="3701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 rot="16200000">
            <a:off x="6787422" y="3564109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 rot="18900000">
            <a:off x="6844169" y="3427110"/>
            <a:ext cx="192209" cy="461301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974762" y="3692249"/>
            <a:ext cx="205023" cy="205023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55" name="Shape 53"/>
          <p:cNvSpPr/>
          <p:nvPr/>
        </p:nvSpPr>
        <p:spPr>
          <a:xfrm>
            <a:off x="6255868" y="2973354"/>
            <a:ext cx="1642811" cy="1642811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56" name="bld4_3252"/>
          <p:cNvSpPr txBox="1"/>
          <p:nvPr/>
        </p:nvSpPr>
        <p:spPr>
          <a:xfrm>
            <a:off x="6141568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Allergen info</a:t>
            </a:r>
            <a:endParaRPr lang="en-US" sz="1400" dirty="0"/>
          </a:p>
        </p:txBody>
      </p:sp>
      <p:sp>
        <p:nvSpPr>
          <p:cNvPr id="57" name="bld4_3253"/>
          <p:cNvSpPr txBox="1"/>
          <p:nvPr/>
        </p:nvSpPr>
        <p:spPr>
          <a:xfrm>
            <a:off x="6141568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as required</a:t>
            </a:r>
            <a:endParaRPr lang="en-US" sz="1050" dirty="0"/>
          </a:p>
        </p:txBody>
      </p:sp>
      <p:sp>
        <p:nvSpPr>
          <p:cNvPr id="58" name="bld5_3254"/>
          <p:cNvSpPr txBox="1"/>
          <p:nvPr/>
        </p:nvSpPr>
        <p:spPr>
          <a:xfrm>
            <a:off x="9916394" y="3538728"/>
            <a:ext cx="210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8218719" y="2973354"/>
            <a:ext cx="1642811" cy="1642811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60" name="Shape 58"/>
          <p:cNvSpPr/>
          <p:nvPr/>
        </p:nvSpPr>
        <p:spPr>
          <a:xfrm>
            <a:off x="8399428" y="3154064"/>
            <a:ext cx="1281393" cy="1281393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62945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8496832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8496832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8562945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8218719" y="2973354"/>
            <a:ext cx="1642811" cy="1642811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6" name="bld5_3256"/>
          <p:cNvSpPr txBox="1"/>
          <p:nvPr/>
        </p:nvSpPr>
        <p:spPr>
          <a:xfrm>
            <a:off x="8104419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assessment</a:t>
            </a:r>
            <a:endParaRPr lang="en-US" sz="1400" dirty="0"/>
          </a:p>
        </p:txBody>
      </p:sp>
      <p:sp>
        <p:nvSpPr>
          <p:cNvPr id="67" name="bld5_3257"/>
          <p:cNvSpPr txBox="1"/>
          <p:nvPr/>
        </p:nvSpPr>
        <p:spPr>
          <a:xfrm>
            <a:off x="8104419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your market's rules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0181570" y="2973354"/>
            <a:ext cx="1642811" cy="1642811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69" name="Shape 67"/>
          <p:cNvSpPr/>
          <p:nvPr/>
        </p:nvSpPr>
        <p:spPr>
          <a:xfrm>
            <a:off x="10362279" y="3154064"/>
            <a:ext cx="1281393" cy="1281393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0525796" y="3474412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0459683" y="3687977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0459683" y="3901543"/>
            <a:ext cx="108658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0525796" y="4115108"/>
            <a:ext cx="95435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0181570" y="2973354"/>
            <a:ext cx="1642811" cy="1642811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75" name="bld6_3259"/>
          <p:cNvSpPr txBox="1"/>
          <p:nvPr/>
        </p:nvSpPr>
        <p:spPr>
          <a:xfrm>
            <a:off x="10067270" y="4780758"/>
            <a:ext cx="18714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</a:t>
            </a:r>
            <a:endParaRPr lang="en-US" sz="1400" dirty="0"/>
          </a:p>
        </p:txBody>
      </p:sp>
      <p:sp>
        <p:nvSpPr>
          <p:cNvPr id="76" name="bld6_3260"/>
          <p:cNvSpPr txBox="1"/>
          <p:nvPr/>
        </p:nvSpPr>
        <p:spPr>
          <a:xfrm>
            <a:off x="10067270" y="5128230"/>
            <a:ext cx="18714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compliant &amp; ready</a:t>
            </a:r>
            <a:endParaRPr lang="en-US" sz="1050" dirty="0"/>
          </a:p>
        </p:txBody>
      </p:sp>
      <p:sp>
        <p:nvSpPr>
          <p:cNvPr id="78" name="trans_push_l_22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9" name="Text 7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49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22" grpId="0"/>
      <p:bldP spid="23" grpId="0"/>
      <p:bldP spid="24" grpId="0"/>
      <p:bldP spid="32" grpId="0"/>
      <p:bldP spid="33" grpId="0"/>
      <p:bldP spid="34" grpId="0"/>
      <p:bldP spid="42" grpId="0"/>
      <p:bldP spid="43" grpId="0"/>
      <p:bldP spid="44" grpId="0"/>
      <p:bldP spid="56" grpId="0"/>
      <p:bldP spid="57" grpId="0"/>
      <p:bldP spid="58" grpId="0"/>
      <p:bldP spid="66" grpId="0"/>
      <p:bldP spid="67" grpId="0"/>
      <p:bldP spid="75" grpId="0"/>
      <p:bldP spid="76" grpId="0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C9A354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C9A354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C9A35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isn't optional paperwork —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difference between a hobby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business you can legally sell.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MODULE 11</a:t>
            </a:r>
            <a:endParaRPr lang="en-US" sz="1100" dirty="0"/>
          </a:p>
        </p:txBody>
      </p:sp>
      <p:sp>
        <p:nvSpPr>
          <p:cNvPr id="10" name="trans_fade_22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28255" y="-9052560"/>
            <a:ext cx="13716000" cy="1371600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34295" y="-6446520"/>
            <a:ext cx="8503920" cy="8503920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18120" y="1280160"/>
            <a:ext cx="4297680" cy="4297680"/>
          </a:xfrm>
          <a:prstGeom prst="ellipse">
            <a:avLst/>
          </a:prstGeom>
          <a:ln w="18288">
            <a:solidFill>
              <a:srgbClr val="C9A3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7059" y="1967789"/>
            <a:ext cx="359802" cy="292242"/>
          </a:xfrm>
          <a:prstGeom prst="roundRect">
            <a:avLst>
              <a:gd name="adj" fmla="val 12516"/>
            </a:avLst>
          </a:prstGeom>
          <a:solidFill>
            <a:srgbClr val="0E0D0B"/>
          </a:solidFill>
          <a:ln/>
        </p:spPr>
      </p:sp>
      <p:sp>
        <p:nvSpPr>
          <p:cNvPr id="6" name="Shape 4"/>
          <p:cNvSpPr/>
          <p:nvPr/>
        </p:nvSpPr>
        <p:spPr>
          <a:xfrm>
            <a:off x="9810524" y="2260031"/>
            <a:ext cx="312871" cy="467588"/>
          </a:xfrm>
          <a:prstGeom prst="rect">
            <a:avLst/>
          </a:prstGeom>
          <a:solidFill>
            <a:srgbClr val="CFC5AE">
              <a:alpha val="75000"/>
            </a:srgbClr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08262" y="2727619"/>
            <a:ext cx="1117397" cy="2162593"/>
          </a:xfrm>
          <a:prstGeom prst="roundRect">
            <a:avLst>
              <a:gd name="adj" fmla="val 9820"/>
            </a:avLst>
          </a:prstGeom>
          <a:solidFill>
            <a:srgbClr val="CFC5AE">
              <a:alpha val="45000"/>
            </a:srgbClr>
          </a:solidFill>
          <a:ln w="15875">
            <a:solidFill>
              <a:srgbClr val="CFC5A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44838" y="3592656"/>
            <a:ext cx="1044245" cy="1260980"/>
          </a:xfrm>
          <a:prstGeom prst="roundRect">
            <a:avLst>
              <a:gd name="adj" fmla="val 8757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STARTING A BRAND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9601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417320"/>
            <a:ext cx="8503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Formula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Brand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you've learned, now aimed at building something the world can actually buy.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4604004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86384" y="44988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Bottles, labels and packaging that actually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1500" y="5024628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6384" y="4919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your lane and telling a real 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1500" y="5445252"/>
            <a:ext cx="82296" cy="82296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6384" y="53400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fragrance brands actually sell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42655" y="6309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900" dirty="0"/>
          </a:p>
        </p:txBody>
      </p:sp>
      <p:sp>
        <p:nvSpPr>
          <p:cNvPr id="21" name="trans_fade_223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</p:spTree>
  </p:cSld>
  <p:clrMapOvr>
    <a:masterClrMapping/>
  </p:clrMapOvr>
  <p:transition spd="med">
    <p:fade/>
  </p:transition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fragrance comes first</a:t>
            </a:r>
            <a:endParaRPr lang="en-US" sz="3200" dirty="0"/>
          </a:p>
        </p:txBody>
      </p:sp>
      <p:sp>
        <p:nvSpPr>
          <p:cNvPr id="7" name="bld1_3261"/>
          <p:cNvSpPr/>
          <p:nvPr/>
        </p:nvSpPr>
        <p:spPr>
          <a:xfrm>
            <a:off x="548640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" name="Shape 7"/>
          <p:cNvSpPr/>
          <p:nvPr/>
        </p:nvSpPr>
        <p:spPr>
          <a:xfrm>
            <a:off x="2142616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01469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11" name="bld1_3263"/>
          <p:cNvSpPr txBox="1"/>
          <p:nvPr/>
        </p:nvSpPr>
        <p:spPr>
          <a:xfrm>
            <a:off x="731520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450" dirty="0"/>
          </a:p>
        </p:txBody>
      </p:sp>
      <p:sp>
        <p:nvSpPr>
          <p:cNvPr id="12" name="bld1_3264"/>
          <p:cNvSpPr txBox="1"/>
          <p:nvPr/>
        </p:nvSpPr>
        <p:spPr>
          <a:xfrm>
            <a:off x="731520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the fragrance is built around.</a:t>
            </a:r>
            <a:endParaRPr lang="en-US" sz="1080" dirty="0"/>
          </a:p>
        </p:txBody>
      </p:sp>
      <p:sp>
        <p:nvSpPr>
          <p:cNvPr id="13" name="bld2_3265"/>
          <p:cNvSpPr/>
          <p:nvPr/>
        </p:nvSpPr>
        <p:spPr>
          <a:xfrm>
            <a:off x="4332122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15" name="Shape 13"/>
          <p:cNvSpPr/>
          <p:nvPr/>
        </p:nvSpPr>
        <p:spPr>
          <a:xfrm flipV="1">
            <a:off x="6095848" y="2167179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5885" y="2167179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215885" y="2233866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15823" y="2340566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015823" y="2220529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9136" y="2153842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74508" y="2199189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00546" y="2151841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20583" y="22185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0546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0485" y="2325228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33798" y="2138504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4952" y="1909633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28" name="bld2_3267"/>
          <p:cNvSpPr txBox="1"/>
          <p:nvPr/>
        </p:nvSpPr>
        <p:spPr>
          <a:xfrm>
            <a:off x="4515002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450" dirty="0"/>
          </a:p>
        </p:txBody>
      </p:sp>
      <p:sp>
        <p:nvSpPr>
          <p:cNvPr id="29" name="bld2_3268"/>
          <p:cNvSpPr txBox="1"/>
          <p:nvPr/>
        </p:nvSpPr>
        <p:spPr>
          <a:xfrm>
            <a:off x="4515002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composition itself, fully developed.</a:t>
            </a:r>
            <a:endParaRPr lang="en-US" sz="1080" dirty="0"/>
          </a:p>
        </p:txBody>
      </p:sp>
      <p:sp>
        <p:nvSpPr>
          <p:cNvPr id="30" name="bld3_3269"/>
          <p:cNvSpPr/>
          <p:nvPr/>
        </p:nvSpPr>
        <p:spPr>
          <a:xfrm>
            <a:off x="8115605" y="1781617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32" name="Shape 30"/>
          <p:cNvSpPr/>
          <p:nvPr/>
        </p:nvSpPr>
        <p:spPr>
          <a:xfrm>
            <a:off x="9862355" y="2055630"/>
            <a:ext cx="36278" cy="329798"/>
          </a:xfrm>
          <a:prstGeom prst="roundRect">
            <a:avLst>
              <a:gd name="adj" fmla="val 50411"/>
            </a:avLst>
          </a:prstGeom>
          <a:solidFill>
            <a:srgbClr val="FAF6EC"/>
          </a:solidFill>
          <a:ln w="12700">
            <a:solidFill>
              <a:srgbClr val="CFC5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6071" y="2279893"/>
            <a:ext cx="8846" cy="87248"/>
          </a:xfrm>
          <a:prstGeom prst="roundRect">
            <a:avLst>
              <a:gd name="adj" fmla="val 155053"/>
            </a:avLst>
          </a:prstGeom>
          <a:solidFill>
            <a:srgbClr val="5C4230">
              <a:alpha val="7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68434" y="1909633"/>
            <a:ext cx="621792" cy="621792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35" name="bld3_3271"/>
          <p:cNvSpPr txBox="1"/>
          <p:nvPr/>
        </p:nvSpPr>
        <p:spPr>
          <a:xfrm>
            <a:off x="8298485" y="2622865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50" dirty="0"/>
          </a:p>
        </p:txBody>
      </p:sp>
      <p:sp>
        <p:nvSpPr>
          <p:cNvPr id="36" name="bld3_3272"/>
          <p:cNvSpPr txBox="1"/>
          <p:nvPr/>
        </p:nvSpPr>
        <p:spPr>
          <a:xfrm>
            <a:off x="8298485" y="3080065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wear testing, not just strips.</a:t>
            </a:r>
            <a:endParaRPr lang="en-US" sz="1080" dirty="0"/>
          </a:p>
        </p:txBody>
      </p:sp>
      <p:sp>
        <p:nvSpPr>
          <p:cNvPr id="37" name="bld4_3273"/>
          <p:cNvSpPr/>
          <p:nvPr/>
        </p:nvSpPr>
        <p:spPr>
          <a:xfrm>
            <a:off x="548640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9" name="Shape 37"/>
          <p:cNvSpPr/>
          <p:nvPr/>
        </p:nvSpPr>
        <p:spPr>
          <a:xfrm>
            <a:off x="2069866" y="4337182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123216" y="4577256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123216" y="4516631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123216" y="4448732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2001469" y="4268785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4" name="bld4_3275"/>
          <p:cNvSpPr txBox="1"/>
          <p:nvPr/>
        </p:nvSpPr>
        <p:spPr>
          <a:xfrm>
            <a:off x="731520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50" dirty="0"/>
          </a:p>
        </p:txBody>
      </p:sp>
      <p:sp>
        <p:nvSpPr>
          <p:cNvPr id="45" name="bld4_3276"/>
          <p:cNvSpPr txBox="1"/>
          <p:nvPr/>
        </p:nvSpPr>
        <p:spPr>
          <a:xfrm>
            <a:off x="731520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clarity and consistency over time.</a:t>
            </a:r>
            <a:endParaRPr lang="en-US" sz="1080" dirty="0"/>
          </a:p>
        </p:txBody>
      </p:sp>
      <p:sp>
        <p:nvSpPr>
          <p:cNvPr id="46" name="bld5_3277"/>
          <p:cNvSpPr/>
          <p:nvPr/>
        </p:nvSpPr>
        <p:spPr>
          <a:xfrm>
            <a:off x="4332122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48" name="Shape 46"/>
          <p:cNvSpPr/>
          <p:nvPr/>
        </p:nvSpPr>
        <p:spPr>
          <a:xfrm>
            <a:off x="5853349" y="4337182"/>
            <a:ext cx="484998" cy="484998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15239" y="4458432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890215" y="4539264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890215" y="4620097"/>
            <a:ext cx="411264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915239" y="4700930"/>
            <a:ext cx="361218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784952" y="4268785"/>
            <a:ext cx="621792" cy="621792"/>
          </a:xfrm>
          <a:prstGeom prst="ellipse">
            <a:avLst/>
          </a:prstGeom>
          <a:ln w="25603">
            <a:solidFill>
              <a:srgbClr val="3A281C"/>
            </a:solidFill>
            <a:prstDash val="solid"/>
          </a:ln>
        </p:spPr>
      </p:sp>
      <p:sp>
        <p:nvSpPr>
          <p:cNvPr id="54" name="bld5_3279"/>
          <p:cNvSpPr txBox="1"/>
          <p:nvPr/>
        </p:nvSpPr>
        <p:spPr>
          <a:xfrm>
            <a:off x="4515002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450" dirty="0"/>
          </a:p>
        </p:txBody>
      </p:sp>
      <p:sp>
        <p:nvSpPr>
          <p:cNvPr id="55" name="bld5_3280"/>
          <p:cNvSpPr txBox="1"/>
          <p:nvPr/>
        </p:nvSpPr>
        <p:spPr>
          <a:xfrm>
            <a:off x="4515002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IFRA, SDS, allergens — all checked.</a:t>
            </a:r>
            <a:endParaRPr lang="en-US" sz="1080" dirty="0"/>
          </a:p>
        </p:txBody>
      </p:sp>
      <p:sp>
        <p:nvSpPr>
          <p:cNvPr id="56" name="bld6_3281"/>
          <p:cNvSpPr/>
          <p:nvPr/>
        </p:nvSpPr>
        <p:spPr>
          <a:xfrm>
            <a:off x="8115605" y="4140769"/>
            <a:ext cx="352745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8" name="Shape 56"/>
          <p:cNvSpPr/>
          <p:nvPr/>
        </p:nvSpPr>
        <p:spPr>
          <a:xfrm>
            <a:off x="9854343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9" name="Shape 57"/>
          <p:cNvSpPr/>
          <p:nvPr/>
        </p:nvSpPr>
        <p:spPr>
          <a:xfrm>
            <a:off x="9857602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801730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838306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568434" y="4268785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63" name="bld6_3283"/>
          <p:cNvSpPr txBox="1"/>
          <p:nvPr/>
        </p:nvSpPr>
        <p:spPr>
          <a:xfrm>
            <a:off x="8298485" y="4982017"/>
            <a:ext cx="31616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450" dirty="0"/>
          </a:p>
        </p:txBody>
      </p:sp>
      <p:sp>
        <p:nvSpPr>
          <p:cNvPr id="64" name="bld6_3284"/>
          <p:cNvSpPr txBox="1"/>
          <p:nvPr/>
        </p:nvSpPr>
        <p:spPr>
          <a:xfrm>
            <a:off x="8298485" y="5439217"/>
            <a:ext cx="316169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compound and bottle at scale.</a:t>
            </a:r>
            <a:endParaRPr lang="en-US" sz="1080" dirty="0"/>
          </a:p>
        </p:txBody>
      </p:sp>
      <p:sp>
        <p:nvSpPr>
          <p:cNvPr id="66" name="trans_fade_224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67" name="Text 6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51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28" grpId="0"/>
      <p:bldP spid="29" grpId="0"/>
      <p:bldP spid="30" grpId="0"/>
      <p:bldP spid="35" grpId="0"/>
      <p:bldP spid="36" grpId="0"/>
      <p:bldP spid="37" grpId="0"/>
      <p:bldP spid="44" grpId="0"/>
      <p:bldP spid="45" grpId="0"/>
      <p:bldP spid="46" grpId="0"/>
      <p:bldP spid="54" grpId="0"/>
      <p:bldP spid="55" grpId="0"/>
      <p:bldP spid="56" grpId="0"/>
      <p:bldP spid="63" grpId="0"/>
      <p:bldP spid="64" grpId="0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8C3B4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8C3B49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VESSEL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your bottle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8C3B49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8C3B49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1" name="Shape 9"/>
          <p:cNvSpPr/>
          <p:nvPr/>
        </p:nvSpPr>
        <p:spPr>
          <a:xfrm>
            <a:off x="9426456" y="2233638"/>
            <a:ext cx="242504" cy="192987"/>
          </a:xfrm>
          <a:prstGeom prst="roundRect">
            <a:avLst>
              <a:gd name="adj" fmla="val 18953"/>
            </a:avLst>
          </a:prstGeom>
          <a:solidFill>
            <a:srgbClr val="0E0D0B"/>
          </a:solidFill>
          <a:ln/>
        </p:spPr>
      </p:sp>
      <p:sp>
        <p:nvSpPr>
          <p:cNvPr id="12" name="Shape 10"/>
          <p:cNvSpPr/>
          <p:nvPr/>
        </p:nvSpPr>
        <p:spPr>
          <a:xfrm>
            <a:off x="9442271" y="2426625"/>
            <a:ext cx="210873" cy="308778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71148" y="2735403"/>
            <a:ext cx="753118" cy="1428100"/>
          </a:xfrm>
          <a:prstGeom prst="roundRect">
            <a:avLst>
              <a:gd name="adj" fmla="val 14570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07724" y="3378049"/>
            <a:ext cx="679966" cy="748879"/>
          </a:xfrm>
          <a:prstGeom prst="roundRect">
            <a:avLst>
              <a:gd name="adj" fmla="val 13448"/>
            </a:avLst>
          </a:prstGeom>
          <a:solidFill>
            <a:srgbClr val="C9A354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39057" y="1689921"/>
            <a:ext cx="3017301" cy="3017301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 is the first thing a customer touches — it earns real design attention.</a:t>
            </a:r>
            <a:endParaRPr lang="en-US" sz="1050" dirty="0"/>
          </a:p>
        </p:txBody>
      </p:sp>
      <p:sp>
        <p:nvSpPr>
          <p:cNvPr id="17" name="bld1_3285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18" name="bld1_3286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vs. custom bottles</a:t>
            </a:r>
            <a:endParaRPr lang="en-US" sz="1650" dirty="0"/>
          </a:p>
        </p:txBody>
      </p:sp>
      <p:sp>
        <p:nvSpPr>
          <p:cNvPr id="19" name="bld1_3287"/>
          <p:cNvSpPr txBox="1"/>
          <p:nvPr/>
        </p:nvSpPr>
        <p:spPr>
          <a:xfrm>
            <a:off x="1005840" y="2075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bottles are fast and cheap to start; custom moulds are expensive but build real brand identity.</a:t>
            </a:r>
            <a:endParaRPr lang="en-US" sz="1250" dirty="0"/>
          </a:p>
        </p:txBody>
      </p:sp>
      <p:sp>
        <p:nvSpPr>
          <p:cNvPr id="20" name="bld2_3288"/>
          <p:cNvSpPr/>
          <p:nvPr/>
        </p:nvSpPr>
        <p:spPr>
          <a:xfrm>
            <a:off x="548640" y="3307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3289"/>
          <p:cNvSpPr txBox="1"/>
          <p:nvPr/>
        </p:nvSpPr>
        <p:spPr>
          <a:xfrm>
            <a:off x="1005840" y="3279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order quantities</a:t>
            </a:r>
            <a:endParaRPr lang="en-US" sz="1650" dirty="0"/>
          </a:p>
        </p:txBody>
      </p:sp>
      <p:sp>
        <p:nvSpPr>
          <p:cNvPr id="22" name="bld2_3290"/>
          <p:cNvSpPr txBox="1"/>
          <p:nvPr/>
        </p:nvSpPr>
        <p:spPr>
          <a:xfrm>
            <a:off x="1005840" y="3599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glass often requires large MOQs — budget and plan inventory accordingly.</a:t>
            </a:r>
            <a:endParaRPr lang="en-US" sz="1250" dirty="0"/>
          </a:p>
        </p:txBody>
      </p:sp>
      <p:sp>
        <p:nvSpPr>
          <p:cNvPr id="23" name="bld3_3291"/>
          <p:cNvSpPr/>
          <p:nvPr/>
        </p:nvSpPr>
        <p:spPr>
          <a:xfrm>
            <a:off x="548640" y="4831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4" name="bld3_3292"/>
          <p:cNvSpPr txBox="1"/>
          <p:nvPr/>
        </p:nvSpPr>
        <p:spPr>
          <a:xfrm>
            <a:off x="1005840" y="4803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Pumps, collars &amp; caps</a:t>
            </a:r>
            <a:endParaRPr lang="en-US" sz="1650" dirty="0"/>
          </a:p>
        </p:txBody>
      </p:sp>
      <p:sp>
        <p:nvSpPr>
          <p:cNvPr id="25" name="bld3_3293"/>
          <p:cNvSpPr txBox="1"/>
          <p:nvPr/>
        </p:nvSpPr>
        <p:spPr>
          <a:xfrm>
            <a:off x="1005840" y="5123688"/>
            <a:ext cx="608076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small components define the feel of a bottle as much as the glass itself.</a:t>
            </a:r>
            <a:endParaRPr lang="en-US" sz="1250" dirty="0"/>
          </a:p>
        </p:txBody>
      </p:sp>
      <p:sp>
        <p:nvSpPr>
          <p:cNvPr id="27" name="trans_fade_225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8" name="Text 2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ON THE BOTTLE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 — more technical than they look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3294"/>
          <p:cNvSpPr/>
          <p:nvPr/>
        </p:nvSpPr>
        <p:spPr>
          <a:xfrm>
            <a:off x="548640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12" name="Shape 10"/>
          <p:cNvSpPr/>
          <p:nvPr/>
        </p:nvSpPr>
        <p:spPr>
          <a:xfrm>
            <a:off x="1270376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343188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13749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313749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343188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189909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18" name="bld1_3296"/>
          <p:cNvSpPr txBox="1"/>
          <p:nvPr/>
        </p:nvSpPr>
        <p:spPr>
          <a:xfrm>
            <a:off x="731520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450" dirty="0"/>
          </a:p>
        </p:txBody>
      </p:sp>
      <p:sp>
        <p:nvSpPr>
          <p:cNvPr id="19" name="bld1_3297"/>
          <p:cNvSpPr txBox="1"/>
          <p:nvPr/>
        </p:nvSpPr>
        <p:spPr>
          <a:xfrm>
            <a:off x="731520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vinyl or foil — each behaves differently.</a:t>
            </a:r>
            <a:endParaRPr lang="en-US" sz="1080" dirty="0"/>
          </a:p>
        </p:txBody>
      </p:sp>
      <p:sp>
        <p:nvSpPr>
          <p:cNvPr id="20" name="bld2_3298"/>
          <p:cNvSpPr/>
          <p:nvPr/>
        </p:nvSpPr>
        <p:spPr>
          <a:xfrm>
            <a:off x="281872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22" name="Shape 20"/>
          <p:cNvSpPr/>
          <p:nvPr/>
        </p:nvSpPr>
        <p:spPr>
          <a:xfrm>
            <a:off x="3626053" y="2554468"/>
            <a:ext cx="399410" cy="399410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59998" y="2388413"/>
            <a:ext cx="731520" cy="731520"/>
          </a:xfrm>
          <a:prstGeom prst="ellipse">
            <a:avLst/>
          </a:prstGeom>
          <a:ln w="25603">
            <a:solidFill>
              <a:srgbClr val="A6402A"/>
            </a:solidFill>
            <a:prstDash val="solid"/>
          </a:ln>
        </p:spPr>
      </p:sp>
      <p:sp>
        <p:nvSpPr>
          <p:cNvPr id="24" name="bld2_3300"/>
          <p:cNvSpPr txBox="1"/>
          <p:nvPr/>
        </p:nvSpPr>
        <p:spPr>
          <a:xfrm>
            <a:off x="300160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Printing</a:t>
            </a:r>
            <a:endParaRPr lang="en-US" sz="1450" dirty="0"/>
          </a:p>
        </p:txBody>
      </p:sp>
      <p:sp>
        <p:nvSpPr>
          <p:cNvPr id="25" name="bld2_3301"/>
          <p:cNvSpPr txBox="1"/>
          <p:nvPr/>
        </p:nvSpPr>
        <p:spPr>
          <a:xfrm>
            <a:off x="300160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vs. letterpress vs. foil stamping.</a:t>
            </a:r>
            <a:endParaRPr lang="en-US" sz="1080" dirty="0"/>
          </a:p>
        </p:txBody>
      </p:sp>
      <p:sp>
        <p:nvSpPr>
          <p:cNvPr id="26" name="bld3_3302"/>
          <p:cNvSpPr/>
          <p:nvPr/>
        </p:nvSpPr>
        <p:spPr>
          <a:xfrm>
            <a:off x="5088819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28" name="Shape 26"/>
          <p:cNvSpPr/>
          <p:nvPr/>
        </p:nvSpPr>
        <p:spPr>
          <a:xfrm>
            <a:off x="6066451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70285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4554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1130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30088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3" name="bld3_3304"/>
          <p:cNvSpPr txBox="1"/>
          <p:nvPr/>
        </p:nvSpPr>
        <p:spPr>
          <a:xfrm>
            <a:off x="5271699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Adhesion</a:t>
            </a:r>
            <a:endParaRPr lang="en-US" sz="1450" dirty="0"/>
          </a:p>
        </p:txBody>
      </p:sp>
      <p:sp>
        <p:nvSpPr>
          <p:cNvPr id="34" name="bld3_3305"/>
          <p:cNvSpPr txBox="1"/>
          <p:nvPr/>
        </p:nvSpPr>
        <p:spPr>
          <a:xfrm>
            <a:off x="5271699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bond securely to glass long-term.</a:t>
            </a:r>
            <a:endParaRPr lang="en-US" sz="1080" dirty="0"/>
          </a:p>
        </p:txBody>
      </p:sp>
      <p:sp>
        <p:nvSpPr>
          <p:cNvPr id="35" name="bld4_3306"/>
          <p:cNvSpPr/>
          <p:nvPr/>
        </p:nvSpPr>
        <p:spPr>
          <a:xfrm>
            <a:off x="735890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37" name="Shape 35"/>
          <p:cNvSpPr/>
          <p:nvPr/>
        </p:nvSpPr>
        <p:spPr>
          <a:xfrm>
            <a:off x="8080644" y="2468880"/>
            <a:ext cx="570586" cy="570586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43409" y="2751320"/>
            <a:ext cx="445057" cy="85588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143409" y="2679997"/>
            <a:ext cx="445057" cy="85588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143409" y="2600115"/>
            <a:ext cx="445057" cy="85588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00177" y="2388413"/>
            <a:ext cx="731520" cy="731520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2" name="bld4_3308"/>
          <p:cNvSpPr txBox="1"/>
          <p:nvPr/>
        </p:nvSpPr>
        <p:spPr>
          <a:xfrm>
            <a:off x="754178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/ alcohol resistance</a:t>
            </a:r>
            <a:endParaRPr lang="en-US" sz="1450" dirty="0"/>
          </a:p>
        </p:txBody>
      </p:sp>
      <p:sp>
        <p:nvSpPr>
          <p:cNvPr id="43" name="bld4_3309"/>
          <p:cNvSpPr txBox="1"/>
          <p:nvPr/>
        </p:nvSpPr>
        <p:spPr>
          <a:xfrm>
            <a:off x="754178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survive spills without smearing or lifting.</a:t>
            </a:r>
            <a:endParaRPr lang="en-US" sz="1080" dirty="0"/>
          </a:p>
        </p:txBody>
      </p:sp>
      <p:sp>
        <p:nvSpPr>
          <p:cNvPr id="44" name="bld5_3310"/>
          <p:cNvSpPr/>
          <p:nvPr/>
        </p:nvSpPr>
        <p:spPr>
          <a:xfrm>
            <a:off x="9628998" y="2260397"/>
            <a:ext cx="2014057" cy="2286000"/>
          </a:xfrm>
          <a:prstGeom prst="roundRect">
            <a:avLst>
              <a:gd name="adj" fmla="val 454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46" name="Shape 44"/>
          <p:cNvSpPr/>
          <p:nvPr/>
        </p:nvSpPr>
        <p:spPr>
          <a:xfrm>
            <a:off x="10350734" y="2468880"/>
            <a:ext cx="570586" cy="570586"/>
          </a:xfrm>
          <a:prstGeom prst="ellipse">
            <a:avLst/>
          </a:prstGeom>
          <a:solidFill>
            <a:srgbClr val="8A6339">
              <a:alpha val="9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423546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394106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0394106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10423546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10270266" y="2388413"/>
            <a:ext cx="731520" cy="731520"/>
          </a:xfrm>
          <a:prstGeom prst="ellipse">
            <a:avLst/>
          </a:prstGeom>
          <a:ln w="25603">
            <a:solidFill>
              <a:srgbClr val="5C4326"/>
            </a:solidFill>
            <a:prstDash val="solid"/>
          </a:ln>
        </p:spPr>
      </p:sp>
      <p:sp>
        <p:nvSpPr>
          <p:cNvPr id="52" name="bld5_3312"/>
          <p:cNvSpPr txBox="1"/>
          <p:nvPr/>
        </p:nvSpPr>
        <p:spPr>
          <a:xfrm>
            <a:off x="9811878" y="3211373"/>
            <a:ext cx="164829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info</a:t>
            </a:r>
            <a:endParaRPr lang="en-US" sz="1450" dirty="0"/>
          </a:p>
        </p:txBody>
      </p:sp>
      <p:sp>
        <p:nvSpPr>
          <p:cNvPr id="53" name="bld5_3313"/>
          <p:cNvSpPr txBox="1"/>
          <p:nvPr/>
        </p:nvSpPr>
        <p:spPr>
          <a:xfrm>
            <a:off x="9811878" y="3522269"/>
            <a:ext cx="164829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Ingredients, allergens, volume, batch code.</a:t>
            </a:r>
            <a:endParaRPr lang="en-US" sz="1080" dirty="0"/>
          </a:p>
        </p:txBody>
      </p:sp>
      <p:sp>
        <p:nvSpPr>
          <p:cNvPr id="55" name="trans_fade_226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56" name="Text 5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3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8" grpId="0"/>
      <p:bldP spid="19" grpId="0"/>
      <p:bldP spid="20" grpId="0"/>
      <p:bldP spid="24" grpId="0"/>
      <p:bldP spid="25" grpId="0"/>
      <p:bldP spid="26" grpId="0"/>
      <p:bldP spid="33" grpId="0"/>
      <p:bldP spid="34" grpId="0"/>
      <p:bldP spid="35" grpId="0"/>
      <p:bldP spid="42" grpId="0"/>
      <p:bldP spid="43" grpId="0"/>
      <p:bldP spid="44" grpId="0"/>
      <p:bldP spid="52" grpId="0"/>
      <p:bldP spid="53" grpId="0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PRESENTATION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Packaging tells the story too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816549" y="4361030"/>
            <a:ext cx="1902610" cy="1902610"/>
          </a:xfrm>
          <a:prstGeom prst="ellipse">
            <a:avLst/>
          </a:prstGeom>
          <a:ln w="18288">
            <a:solidFill>
              <a:srgbClr val="5C56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20967" y="4665447"/>
            <a:ext cx="1293775" cy="1293775"/>
          </a:xfrm>
          <a:prstGeom prst="ellipse">
            <a:avLst/>
          </a:prstGeom>
          <a:ln w="12802">
            <a:solidFill>
              <a:srgbClr val="3B38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72724" y="5217204"/>
            <a:ext cx="190261" cy="190261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0" name="bld1_3314"/>
          <p:cNvSpPr/>
          <p:nvPr/>
        </p:nvSpPr>
        <p:spPr>
          <a:xfrm>
            <a:off x="548640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0033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13" name="Shape 11"/>
          <p:cNvSpPr/>
          <p:nvPr/>
        </p:nvSpPr>
        <p:spPr>
          <a:xfrm>
            <a:off x="1813868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8136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4712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473670" y="2388413"/>
            <a:ext cx="731520" cy="731520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17" name="bld1_3316"/>
          <p:cNvSpPr txBox="1"/>
          <p:nvPr/>
        </p:nvSpPr>
        <p:spPr>
          <a:xfrm>
            <a:off x="731520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Boxes</a:t>
            </a:r>
            <a:endParaRPr lang="en-US" sz="1450" dirty="0"/>
          </a:p>
        </p:txBody>
      </p:sp>
      <p:sp>
        <p:nvSpPr>
          <p:cNvPr id="18" name="bld1_3317"/>
          <p:cNvSpPr txBox="1"/>
          <p:nvPr/>
        </p:nvSpPr>
        <p:spPr>
          <a:xfrm>
            <a:off x="731520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and unboxing experience.</a:t>
            </a:r>
            <a:endParaRPr lang="en-US" sz="1080" dirty="0"/>
          </a:p>
        </p:txBody>
      </p:sp>
      <p:sp>
        <p:nvSpPr>
          <p:cNvPr id="19" name="bld2_3318"/>
          <p:cNvSpPr/>
          <p:nvPr/>
        </p:nvSpPr>
        <p:spPr>
          <a:xfrm>
            <a:off x="3386252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solidFill>
            <a:srgbClr val="EFE2D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91749" y="2468880"/>
            <a:ext cx="570586" cy="570586"/>
          </a:xfrm>
          <a:prstGeom prst="ellipse">
            <a:avLst/>
          </a:prstGeom>
          <a:solidFill>
            <a:srgbClr val="5C4230">
              <a:alpha val="9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464561" y="2611526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435122" y="2706624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435122" y="2801722"/>
            <a:ext cx="483840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64561" y="2896819"/>
            <a:ext cx="424962" cy="914"/>
          </a:xfrm>
          <a:prstGeom prst="line">
            <a:avLst/>
          </a:prstGeom>
          <a:noFill/>
          <a:ln w="12700">
            <a:solidFill>
              <a:srgbClr val="FAF6EC">
                <a:alpha val="55000"/>
              </a:srgbClr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311282" y="2388413"/>
            <a:ext cx="731520" cy="731520"/>
          </a:xfrm>
          <a:prstGeom prst="ellipse">
            <a:avLst/>
          </a:prstGeom>
          <a:ln w="25603">
            <a:solidFill>
              <a:srgbClr val="5C4230"/>
            </a:solidFill>
            <a:prstDash val="solid"/>
          </a:ln>
        </p:spPr>
      </p:sp>
      <p:sp>
        <p:nvSpPr>
          <p:cNvPr id="27" name="bld2_3320"/>
          <p:cNvSpPr txBox="1"/>
          <p:nvPr/>
        </p:nvSpPr>
        <p:spPr>
          <a:xfrm>
            <a:off x="3569132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1450" dirty="0"/>
          </a:p>
        </p:txBody>
      </p:sp>
      <p:sp>
        <p:nvSpPr>
          <p:cNvPr id="28" name="bld2_3321"/>
          <p:cNvSpPr txBox="1"/>
          <p:nvPr/>
        </p:nvSpPr>
        <p:spPr>
          <a:xfrm>
            <a:off x="3569132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and brand identity.</a:t>
            </a:r>
            <a:endParaRPr lang="en-US" sz="1080" dirty="0"/>
          </a:p>
        </p:txBody>
      </p:sp>
      <p:sp>
        <p:nvSpPr>
          <p:cNvPr id="29" name="bld3_3322"/>
          <p:cNvSpPr/>
          <p:nvPr/>
        </p:nvSpPr>
        <p:spPr>
          <a:xfrm>
            <a:off x="6223864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1" name="Shape 29"/>
          <p:cNvSpPr/>
          <p:nvPr/>
        </p:nvSpPr>
        <p:spPr>
          <a:xfrm>
            <a:off x="7485257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32" name="Shape 30"/>
          <p:cNvSpPr/>
          <p:nvPr/>
        </p:nvSpPr>
        <p:spPr>
          <a:xfrm>
            <a:off x="7489091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3360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9936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148894" y="2388413"/>
            <a:ext cx="731520" cy="731520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6" name="bld3_3324"/>
          <p:cNvSpPr txBox="1"/>
          <p:nvPr/>
        </p:nvSpPr>
        <p:spPr>
          <a:xfrm>
            <a:off x="6406744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 presentation</a:t>
            </a:r>
            <a:endParaRPr lang="en-US" sz="1450" dirty="0"/>
          </a:p>
        </p:txBody>
      </p:sp>
      <p:sp>
        <p:nvSpPr>
          <p:cNvPr id="37" name="bld3_3325"/>
          <p:cNvSpPr txBox="1"/>
          <p:nvPr/>
        </p:nvSpPr>
        <p:spPr>
          <a:xfrm>
            <a:off x="6406744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 and feels in hand.</a:t>
            </a:r>
            <a:endParaRPr lang="en-US" sz="1080" dirty="0"/>
          </a:p>
        </p:txBody>
      </p:sp>
      <p:sp>
        <p:nvSpPr>
          <p:cNvPr id="38" name="bld4_3326"/>
          <p:cNvSpPr/>
          <p:nvPr/>
        </p:nvSpPr>
        <p:spPr>
          <a:xfrm>
            <a:off x="9061475" y="2260397"/>
            <a:ext cx="25815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0" name="Shape 38"/>
          <p:cNvSpPr/>
          <p:nvPr/>
        </p:nvSpPr>
        <p:spPr>
          <a:xfrm>
            <a:off x="10322869" y="2520233"/>
            <a:ext cx="58793" cy="46788"/>
          </a:xfrm>
          <a:prstGeom prst="roundRect">
            <a:avLst>
              <a:gd name="adj" fmla="val 78174"/>
            </a:avLst>
          </a:prstGeom>
          <a:solidFill>
            <a:srgbClr val="0E0D0B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26703" y="2567021"/>
            <a:ext cx="51124" cy="74861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60972" y="2641882"/>
            <a:ext cx="182587" cy="346231"/>
          </a:xfrm>
          <a:prstGeom prst="roundRect">
            <a:avLst>
              <a:gd name="adj" fmla="val 60096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97548" y="2797686"/>
            <a:ext cx="109435" cy="153851"/>
          </a:xfrm>
          <a:prstGeom prst="roundRect">
            <a:avLst>
              <a:gd name="adj" fmla="val 83556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986505" y="2388413"/>
            <a:ext cx="731520" cy="731520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45" name="bld4_3328"/>
          <p:cNvSpPr txBox="1"/>
          <p:nvPr/>
        </p:nvSpPr>
        <p:spPr>
          <a:xfrm>
            <a:off x="9244355" y="3211373"/>
            <a:ext cx="221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Samples</a:t>
            </a:r>
            <a:endParaRPr lang="en-US" sz="1450" dirty="0"/>
          </a:p>
        </p:txBody>
      </p:sp>
      <p:sp>
        <p:nvSpPr>
          <p:cNvPr id="46" name="bld4_3329"/>
          <p:cNvSpPr txBox="1"/>
          <p:nvPr/>
        </p:nvSpPr>
        <p:spPr>
          <a:xfrm>
            <a:off x="9244355" y="3522269"/>
            <a:ext cx="2215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trial for new customers.</a:t>
            </a:r>
            <a:endParaRPr lang="en-US" sz="1080" dirty="0"/>
          </a:p>
        </p:txBody>
      </p:sp>
      <p:sp>
        <p:nvSpPr>
          <p:cNvPr id="48" name="trans_fade_227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49" name="Text 4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0" grpId="0"/>
      <p:bldP spid="17" grpId="0"/>
      <p:bldP spid="18" grpId="0"/>
      <p:bldP spid="19" grpId="0"/>
      <p:bldP spid="27" grpId="0"/>
      <p:bldP spid="28" grpId="0"/>
      <p:bldP spid="29" grpId="0"/>
      <p:bldP spid="36" grpId="0"/>
      <p:bldP spid="37" grpId="0"/>
      <p:bldP spid="38" grpId="0"/>
      <p:bldP spid="45" grpId="0"/>
      <p:bldP spid="46" grpId="0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B5652D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B5652D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LOGO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 is not just a logo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B5652D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B5652D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58127" y="1878562"/>
            <a:ext cx="2179162" cy="2179162"/>
          </a:xfrm>
          <a:prstGeom prst="ellipse">
            <a:avLst/>
          </a:prstGeom>
          <a:ln w="27432">
            <a:solidFill>
              <a:srgbClr val="C9A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35289" y="2255724"/>
            <a:ext cx="1424836" cy="1424836"/>
          </a:xfrm>
          <a:prstGeom prst="ellipse">
            <a:avLst/>
          </a:prstGeom>
          <a:ln w="18288">
            <a:solidFill>
              <a:srgbClr val="6E7A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 is one layer. A brand is every layer together.</a:t>
            </a:r>
            <a:endParaRPr lang="en-US" sz="1050" dirty="0"/>
          </a:p>
        </p:txBody>
      </p:sp>
      <p:sp>
        <p:nvSpPr>
          <p:cNvPr id="13" name="bld1_3330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4" name="bld1_3331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</a:t>
            </a:r>
            <a:endParaRPr lang="en-US" sz="1650" dirty="0"/>
          </a:p>
        </p:txBody>
      </p:sp>
      <p:sp>
        <p:nvSpPr>
          <p:cNvPr id="15" name="bld1_3332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fragrance, why now, why you.</a:t>
            </a:r>
            <a:endParaRPr lang="en-US" sz="1250" dirty="0"/>
          </a:p>
        </p:txBody>
      </p:sp>
      <p:sp>
        <p:nvSpPr>
          <p:cNvPr id="16" name="bld2_3333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17" name="bld2_3334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18" name="bld2_3335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point of view across everything you make.</a:t>
            </a:r>
            <a:endParaRPr lang="en-US" sz="1250" dirty="0"/>
          </a:p>
        </p:txBody>
      </p:sp>
      <p:sp>
        <p:nvSpPr>
          <p:cNvPr id="19" name="bld3_3336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0" name="bld3_3337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1650" dirty="0"/>
          </a:p>
        </p:txBody>
      </p:sp>
      <p:sp>
        <p:nvSpPr>
          <p:cNvPr id="21" name="bld3_3338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person you're speaking to, not "everyone."</a:t>
            </a:r>
            <a:endParaRPr lang="en-US" sz="1250" dirty="0"/>
          </a:p>
        </p:txBody>
      </p:sp>
      <p:sp>
        <p:nvSpPr>
          <p:cNvPr id="22" name="bld4_3339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3" name="bld4_3340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language, positioning &amp; tone</a:t>
            </a:r>
            <a:endParaRPr lang="en-US" sz="1650" dirty="0"/>
          </a:p>
        </p:txBody>
      </p:sp>
      <p:sp>
        <p:nvSpPr>
          <p:cNvPr id="24" name="bld4_3341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looks, where it sits in the market, and how it talks to people.</a:t>
            </a:r>
            <a:endParaRPr lang="en-US" sz="1250" dirty="0"/>
          </a:p>
        </p:txBody>
      </p:sp>
      <p:sp>
        <p:nvSpPr>
          <p:cNvPr id="26" name="trans_fade_228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27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5C564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5C5646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LANE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positioning — pick a lane</a:t>
            </a:r>
            <a:endParaRPr lang="en-US" sz="3200" dirty="0"/>
          </a:p>
        </p:txBody>
      </p:sp>
      <p:sp>
        <p:nvSpPr>
          <p:cNvPr id="7" name="bld1_3342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F9DFCF"/>
          </a:solidFill>
          <a:ln/>
        </p:spPr>
      </p:sp>
      <p:sp>
        <p:nvSpPr>
          <p:cNvPr id="9" name="Shape 7"/>
          <p:cNvSpPr/>
          <p:nvPr/>
        </p:nvSpPr>
        <p:spPr>
          <a:xfrm>
            <a:off x="1669681" y="2050780"/>
            <a:ext cx="339498" cy="339498"/>
          </a:xfrm>
          <a:prstGeom prst="star5">
            <a:avLst/>
          </a:prstGeom>
          <a:solidFill>
            <a:srgbClr val="A6402A">
              <a:alpha val="9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11" name="bld1_3344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Luxury</a:t>
            </a:r>
            <a:endParaRPr lang="en-US" sz="1450" dirty="0"/>
          </a:p>
        </p:txBody>
      </p:sp>
      <p:sp>
        <p:nvSpPr>
          <p:cNvPr id="12" name="bld1_3345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pricing, premium everything.</a:t>
            </a:r>
            <a:endParaRPr lang="en-US" sz="1080" dirty="0"/>
          </a:p>
        </p:txBody>
      </p:sp>
      <p:sp>
        <p:nvSpPr>
          <p:cNvPr id="13" name="bld2_3346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4643092" y="1978030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14400000">
            <a:off x="474809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18000000">
            <a:off x="474809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43092" y="2220529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3600000">
            <a:off x="4538087" y="2159904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7200000">
            <a:off x="4538087" y="2038655"/>
            <a:ext cx="67900" cy="242499"/>
          </a:xfrm>
          <a:prstGeom prst="teardrop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618842" y="2162329"/>
            <a:ext cx="116399" cy="116399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22" name="Shape 20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3" name="bld2_3348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Niche</a:t>
            </a:r>
            <a:endParaRPr lang="en-US" sz="1450" dirty="0"/>
          </a:p>
        </p:txBody>
      </p:sp>
      <p:sp>
        <p:nvSpPr>
          <p:cNvPr id="24" name="bld2_3349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Distinctive, less mainstream, expressive.</a:t>
            </a:r>
            <a:endParaRPr lang="en-US" sz="1080" dirty="0"/>
          </a:p>
        </p:txBody>
      </p:sp>
      <p:sp>
        <p:nvSpPr>
          <p:cNvPr id="25" name="bld3_3350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7" name="Shape 25"/>
          <p:cNvSpPr/>
          <p:nvPr/>
        </p:nvSpPr>
        <p:spPr>
          <a:xfrm>
            <a:off x="7478279" y="2059898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2700000">
            <a:off x="7530132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5400000">
            <a:off x="7551610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 rot="8100000">
            <a:off x="7530132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 rot="10800000">
            <a:off x="7478279" y="2206561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3500000">
            <a:off x="7426425" y="2185083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 rot="16200000">
            <a:off x="7404947" y="2133229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 rot="18900000">
            <a:off x="7426425" y="2081376"/>
            <a:ext cx="72750" cy="174599"/>
          </a:xfrm>
          <a:prstGeom prst="ellipse">
            <a:avLst/>
          </a:prstGeom>
          <a:solidFill>
            <a:srgbClr val="C79BD9">
              <a:alpha val="94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475854" y="2181729"/>
            <a:ext cx="77600" cy="77600"/>
          </a:xfrm>
          <a:prstGeom prst="ellipse">
            <a:avLst/>
          </a:prstGeom>
          <a:solidFill>
            <a:srgbClr val="EFB0C8"/>
          </a:solidFill>
          <a:ln/>
        </p:spPr>
      </p:sp>
      <p:sp>
        <p:nvSpPr>
          <p:cNvPr id="36" name="Shape 34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37" name="bld3_3352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niche</a:t>
            </a:r>
            <a:endParaRPr lang="en-US" sz="1450" dirty="0"/>
          </a:p>
        </p:txBody>
      </p:sp>
      <p:sp>
        <p:nvSpPr>
          <p:cNvPr id="38" name="bld3_3353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character, accessible pricing.</a:t>
            </a:r>
            <a:endParaRPr lang="en-US" sz="1080" dirty="0"/>
          </a:p>
        </p:txBody>
      </p:sp>
      <p:sp>
        <p:nvSpPr>
          <p:cNvPr id="39" name="bld4_3354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2" name="Shape 40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46" name="bld4_3356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market</a:t>
            </a:r>
            <a:endParaRPr lang="en-US" sz="1450" dirty="0"/>
          </a:p>
        </p:txBody>
      </p:sp>
      <p:sp>
        <p:nvSpPr>
          <p:cNvPr id="47" name="bld4_3357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appeal, widest distribution.</a:t>
            </a:r>
            <a:endParaRPr lang="en-US" sz="1080" dirty="0"/>
          </a:p>
        </p:txBody>
      </p:sp>
      <p:sp>
        <p:nvSpPr>
          <p:cNvPr id="48" name="bld5_3358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1E7D6"/>
          </a:solidFill>
          <a:ln/>
        </p:spPr>
      </p:sp>
      <p:sp>
        <p:nvSpPr>
          <p:cNvPr id="50" name="Shape 48"/>
          <p:cNvSpPr/>
          <p:nvPr/>
        </p:nvSpPr>
        <p:spPr>
          <a:xfrm flipV="1">
            <a:off x="1839430" y="4526331"/>
            <a:ext cx="120037" cy="5335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59467" y="4526331"/>
            <a:ext cx="120037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1959467" y="4593018"/>
            <a:ext cx="120037" cy="106700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759405" y="4699718"/>
            <a:ext cx="200062" cy="9144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1759405" y="4579681"/>
            <a:ext cx="80025" cy="12003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92718" y="4512994"/>
            <a:ext cx="146712" cy="66687"/>
          </a:xfrm>
          <a:prstGeom prst="line">
            <a:avLst/>
          </a:prstGeom>
          <a:noFill/>
          <a:ln w="25400">
            <a:solidFill>
              <a:srgbClr val="5C43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18090" y="4558341"/>
            <a:ext cx="42680" cy="42680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944129" y="4510993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64166" y="45776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44129" y="46843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44067" y="4684380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677380" y="4497656"/>
            <a:ext cx="30676" cy="30676"/>
          </a:xfrm>
          <a:prstGeom prst="ellipse">
            <a:avLst/>
          </a:prstGeom>
          <a:solidFill>
            <a:srgbClr val="8A6339"/>
          </a:solidFill>
          <a:ln w="19050">
            <a:solidFill>
              <a:srgbClr val="F1E7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3" name="bld5_3360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</a:t>
            </a:r>
            <a:endParaRPr lang="en-US" sz="1450" dirty="0"/>
          </a:p>
        </p:txBody>
      </p:sp>
      <p:sp>
        <p:nvSpPr>
          <p:cNvPr id="64" name="bld5_3361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Boundary-pushing, art-forward.</a:t>
            </a:r>
            <a:endParaRPr lang="en-US" sz="1080" dirty="0"/>
          </a:p>
        </p:txBody>
      </p:sp>
      <p:sp>
        <p:nvSpPr>
          <p:cNvPr id="65" name="bld6_3362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67" name="Shape 65"/>
          <p:cNvSpPr/>
          <p:nvPr/>
        </p:nvSpPr>
        <p:spPr>
          <a:xfrm rot="9000000">
            <a:off x="4555792" y="4468131"/>
            <a:ext cx="281299" cy="281299"/>
          </a:xfrm>
          <a:prstGeom prst="teardrop">
            <a:avLst/>
          </a:prstGeom>
          <a:solidFill>
            <a:srgbClr val="C1752F">
              <a:alpha val="94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 rot="6000000">
            <a:off x="4492743" y="4439032"/>
            <a:ext cx="174599" cy="174599"/>
          </a:xfrm>
          <a:prstGeom prst="teardrop">
            <a:avLst/>
          </a:prstGeom>
          <a:solidFill>
            <a:srgbClr val="E7AC55">
              <a:alpha val="94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 rot="11400000">
            <a:off x="4691592" y="4409932"/>
            <a:ext cx="145499" cy="145499"/>
          </a:xfrm>
          <a:prstGeom prst="teardrop">
            <a:avLst/>
          </a:prstGeom>
          <a:solidFill>
            <a:srgbClr val="7A4A1E">
              <a:alpha val="9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71" name="bld6_3364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Eastern inspired</a:t>
            </a:r>
            <a:endParaRPr lang="en-US" sz="1450" dirty="0"/>
          </a:p>
        </p:txBody>
      </p:sp>
      <p:sp>
        <p:nvSpPr>
          <p:cNvPr id="72" name="bld6_3365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oud- and amber-forward.</a:t>
            </a:r>
            <a:endParaRPr lang="en-US" sz="1080" dirty="0"/>
          </a:p>
        </p:txBody>
      </p:sp>
      <p:sp>
        <p:nvSpPr>
          <p:cNvPr id="73" name="bld7_3366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0EBE3"/>
          </a:solidFill>
          <a:ln/>
        </p:spPr>
      </p:sp>
      <p:sp>
        <p:nvSpPr>
          <p:cNvPr id="75" name="Shape 73"/>
          <p:cNvSpPr/>
          <p:nvPr/>
        </p:nvSpPr>
        <p:spPr>
          <a:xfrm>
            <a:off x="7291555" y="4429332"/>
            <a:ext cx="446198" cy="300699"/>
          </a:xfrm>
          <a:prstGeom prst="cloud">
            <a:avLst/>
          </a:prstGeom>
          <a:solidFill>
            <a:srgbClr val="E8E2DC">
              <a:alpha val="97000"/>
            </a:srgbClr>
          </a:solidFill>
          <a:ln w="19050">
            <a:solidFill>
              <a:srgbClr val="6B62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6B6255"/>
            </a:solidFill>
            <a:prstDash val="solid"/>
          </a:ln>
        </p:spPr>
      </p:sp>
      <p:sp>
        <p:nvSpPr>
          <p:cNvPr id="77" name="bld7_3368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Minimalist</a:t>
            </a:r>
            <a:endParaRPr lang="en-US" sz="1450" dirty="0"/>
          </a:p>
        </p:txBody>
      </p:sp>
      <p:sp>
        <p:nvSpPr>
          <p:cNvPr id="78" name="bld7_3369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restrained, understated.</a:t>
            </a:r>
            <a:endParaRPr lang="en-US" sz="1080" dirty="0"/>
          </a:p>
        </p:txBody>
      </p:sp>
      <p:sp>
        <p:nvSpPr>
          <p:cNvPr id="79" name="bld8_3370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EBF3E1"/>
          </a:solidFill>
          <a:ln/>
        </p:spPr>
      </p:sp>
      <p:sp>
        <p:nvSpPr>
          <p:cNvPr id="81" name="Shape 79"/>
          <p:cNvSpPr/>
          <p:nvPr/>
        </p:nvSpPr>
        <p:spPr>
          <a:xfrm rot="15300000">
            <a:off x="10188067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 rot="13050000">
            <a:off x="10233538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 rot="10800000">
            <a:off x="10311040" y="4579681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 rot="8550000">
            <a:off x="10388543" y="4553372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 rot="6300000">
            <a:off x="10434014" y="4485320"/>
            <a:ext cx="82450" cy="254624"/>
          </a:xfrm>
          <a:prstGeom prst="teardrop">
            <a:avLst/>
          </a:prstGeom>
          <a:solidFill>
            <a:srgbClr val="5C8A45">
              <a:alpha val="92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5C8A45"/>
            </a:solidFill>
            <a:prstDash val="solid"/>
          </a:ln>
        </p:spPr>
      </p:sp>
      <p:sp>
        <p:nvSpPr>
          <p:cNvPr id="87" name="bld8_3372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Natural-focused</a:t>
            </a:r>
            <a:endParaRPr lang="en-US" sz="1450" dirty="0"/>
          </a:p>
        </p:txBody>
      </p:sp>
      <p:sp>
        <p:nvSpPr>
          <p:cNvPr id="88" name="bld8_3373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Naturals-led, ingredient transparency.</a:t>
            </a:r>
            <a:endParaRPr lang="en-US" sz="1080" dirty="0"/>
          </a:p>
        </p:txBody>
      </p:sp>
      <p:sp>
        <p:nvSpPr>
          <p:cNvPr id="90" name="trans_fade_229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91" name="Text 8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1" grpId="0"/>
      <p:bldP spid="12" grpId="0"/>
      <p:bldP spid="13" grpId="0"/>
      <p:bldP spid="23" grpId="0"/>
      <p:bldP spid="24" grpId="0"/>
      <p:bldP spid="25" grpId="0"/>
      <p:bldP spid="37" grpId="0"/>
      <p:bldP spid="38" grpId="0"/>
      <p:bldP spid="39" grpId="0"/>
      <p:bldP spid="46" grpId="0"/>
      <p:bldP spid="47" grpId="0"/>
      <p:bldP spid="48" grpId="0"/>
      <p:bldP spid="63" grpId="0"/>
      <p:bldP spid="64" grpId="0"/>
      <p:bldP spid="65" grpId="0"/>
      <p:bldP spid="71" grpId="0"/>
      <p:bldP spid="72" grpId="0"/>
      <p:bldP spid="73" grpId="0"/>
      <p:bldP spid="77" grpId="0"/>
      <p:bldP spid="78" grpId="0"/>
      <p:bldP spid="79" grpId="0"/>
      <p:bldP spid="87" grpId="0"/>
      <p:bldP spid="88" grpId="0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12226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36047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CUSTOMERS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77724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perfume brands actually sell</a:t>
            </a:r>
            <a:endParaRPr lang="en-US" sz="3200" dirty="0"/>
          </a:p>
        </p:txBody>
      </p:sp>
      <p:sp>
        <p:nvSpPr>
          <p:cNvPr id="7" name="bld1_3374"/>
          <p:cNvSpPr/>
          <p:nvPr/>
        </p:nvSpPr>
        <p:spPr>
          <a:xfrm>
            <a:off x="548640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solidFill>
            <a:srgbClr val="E4F3F8"/>
          </a:solidFill>
          <a:ln/>
        </p:spPr>
      </p:sp>
      <p:sp>
        <p:nvSpPr>
          <p:cNvPr id="9" name="Shape 7"/>
          <p:cNvSpPr/>
          <p:nvPr/>
        </p:nvSpPr>
        <p:spPr>
          <a:xfrm>
            <a:off x="1596931" y="1978030"/>
            <a:ext cx="484998" cy="484998"/>
          </a:xfrm>
          <a:prstGeom prst="ellipse">
            <a:avLst/>
          </a:prstGeom>
          <a:solidFill>
            <a:srgbClr val="8AC6E0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50281" y="2218104"/>
            <a:ext cx="378298" cy="72750"/>
          </a:xfrm>
          <a:prstGeom prst="wave">
            <a:avLst/>
          </a:prstGeom>
          <a:solidFill>
            <a:srgbClr val="4090AF">
              <a:alpha val="8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650281" y="2157479"/>
            <a:ext cx="378298" cy="72750"/>
          </a:xfrm>
          <a:prstGeom prst="wave">
            <a:avLst/>
          </a:prstGeom>
          <a:solidFill>
            <a:srgbClr val="4090AF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650281" y="2089580"/>
            <a:ext cx="378298" cy="72750"/>
          </a:xfrm>
          <a:prstGeom prst="wave">
            <a:avLst/>
          </a:prstGeom>
          <a:solidFill>
            <a:srgbClr val="4090AF">
              <a:alpha val="5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8534" y="1909633"/>
            <a:ext cx="621792" cy="621792"/>
          </a:xfrm>
          <a:prstGeom prst="ellipse">
            <a:avLst/>
          </a:prstGeom>
          <a:ln w="25603">
            <a:solidFill>
              <a:srgbClr val="4090AF"/>
            </a:solidFill>
            <a:prstDash val="solid"/>
          </a:ln>
        </p:spPr>
      </p:sp>
      <p:sp>
        <p:nvSpPr>
          <p:cNvPr id="14" name="bld1_3376"/>
          <p:cNvSpPr txBox="1"/>
          <p:nvPr/>
        </p:nvSpPr>
        <p:spPr>
          <a:xfrm>
            <a:off x="731520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 website</a:t>
            </a:r>
            <a:endParaRPr lang="en-US" sz="1450" dirty="0"/>
          </a:p>
        </p:txBody>
      </p:sp>
      <p:sp>
        <p:nvSpPr>
          <p:cNvPr id="15" name="bld1_3377"/>
          <p:cNvSpPr txBox="1"/>
          <p:nvPr/>
        </p:nvSpPr>
        <p:spPr>
          <a:xfrm>
            <a:off x="731520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margin.</a:t>
            </a:r>
            <a:endParaRPr lang="en-US" sz="1080" dirty="0"/>
          </a:p>
        </p:txBody>
      </p:sp>
      <p:sp>
        <p:nvSpPr>
          <p:cNvPr id="16" name="bld2_3378"/>
          <p:cNvSpPr/>
          <p:nvPr/>
        </p:nvSpPr>
        <p:spPr>
          <a:xfrm>
            <a:off x="3386252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18" name="Shape 16"/>
          <p:cNvSpPr/>
          <p:nvPr/>
        </p:nvSpPr>
        <p:spPr>
          <a:xfrm>
            <a:off x="4507292" y="2050780"/>
            <a:ext cx="339498" cy="339498"/>
          </a:xfrm>
          <a:prstGeom prst="star5">
            <a:avLst/>
          </a:prstGeom>
          <a:solidFill>
            <a:srgbClr val="C79BD9">
              <a:alpha val="9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366146" y="1909633"/>
            <a:ext cx="621792" cy="621792"/>
          </a:xfrm>
          <a:prstGeom prst="ellipse">
            <a:avLst/>
          </a:prstGeom>
          <a:ln w="25603">
            <a:solidFill>
              <a:srgbClr val="C79BD9"/>
            </a:solidFill>
            <a:prstDash val="solid"/>
          </a:ln>
        </p:spPr>
      </p:sp>
      <p:sp>
        <p:nvSpPr>
          <p:cNvPr id="20" name="bld2_3380"/>
          <p:cNvSpPr txBox="1"/>
          <p:nvPr/>
        </p:nvSpPr>
        <p:spPr>
          <a:xfrm>
            <a:off x="3569132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450" dirty="0"/>
          </a:p>
        </p:txBody>
      </p:sp>
      <p:sp>
        <p:nvSpPr>
          <p:cNvPr id="21" name="bld2_3381"/>
          <p:cNvSpPr txBox="1"/>
          <p:nvPr/>
        </p:nvSpPr>
        <p:spPr>
          <a:xfrm>
            <a:off x="3569132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storytelling at scale.</a:t>
            </a:r>
            <a:endParaRPr lang="en-US" sz="1080" dirty="0"/>
          </a:p>
        </p:txBody>
      </p:sp>
      <p:sp>
        <p:nvSpPr>
          <p:cNvPr id="22" name="bld3_3382"/>
          <p:cNvSpPr/>
          <p:nvPr/>
        </p:nvSpPr>
        <p:spPr>
          <a:xfrm>
            <a:off x="6223864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solidFill>
            <a:srgbClr val="FAECF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44904" y="2050780"/>
            <a:ext cx="339498" cy="339498"/>
          </a:xfrm>
          <a:prstGeom prst="star5">
            <a:avLst/>
          </a:prstGeom>
          <a:solidFill>
            <a:srgbClr val="C79BD9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03758" y="1909633"/>
            <a:ext cx="621792" cy="621792"/>
          </a:xfrm>
          <a:prstGeom prst="ellipse">
            <a:avLst/>
          </a:prstGeom>
          <a:ln w="25603">
            <a:solidFill>
              <a:srgbClr val="EFB0C8"/>
            </a:solidFill>
            <a:prstDash val="solid"/>
          </a:ln>
        </p:spPr>
      </p:sp>
      <p:sp>
        <p:nvSpPr>
          <p:cNvPr id="26" name="bld3_3384"/>
          <p:cNvSpPr txBox="1"/>
          <p:nvPr/>
        </p:nvSpPr>
        <p:spPr>
          <a:xfrm>
            <a:off x="6406744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450" dirty="0"/>
          </a:p>
        </p:txBody>
      </p:sp>
      <p:sp>
        <p:nvSpPr>
          <p:cNvPr id="27" name="bld3_3385"/>
          <p:cNvSpPr txBox="1"/>
          <p:nvPr/>
        </p:nvSpPr>
        <p:spPr>
          <a:xfrm>
            <a:off x="6406744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brand-building and community.</a:t>
            </a:r>
            <a:endParaRPr lang="en-US" sz="1080" dirty="0"/>
          </a:p>
        </p:txBody>
      </p:sp>
      <p:sp>
        <p:nvSpPr>
          <p:cNvPr id="28" name="bld4_3386"/>
          <p:cNvSpPr/>
          <p:nvPr/>
        </p:nvSpPr>
        <p:spPr>
          <a:xfrm>
            <a:off x="9061475" y="1781617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27278" y="2021680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30537" y="2061450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274666" y="2125081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11242" y="2257515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41369" y="1909633"/>
            <a:ext cx="621792" cy="621792"/>
          </a:xfrm>
          <a:prstGeom prst="ellipse">
            <a:avLst/>
          </a:prstGeom>
          <a:ln w="25603">
            <a:solidFill>
              <a:srgbClr val="C1752F"/>
            </a:solidFill>
            <a:prstDash val="solid"/>
          </a:ln>
        </p:spPr>
      </p:sp>
      <p:sp>
        <p:nvSpPr>
          <p:cNvPr id="35" name="bld4_3388"/>
          <p:cNvSpPr txBox="1"/>
          <p:nvPr/>
        </p:nvSpPr>
        <p:spPr>
          <a:xfrm>
            <a:off x="9244355" y="2622865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Pop-ups</a:t>
            </a:r>
            <a:endParaRPr lang="en-US" sz="1450" dirty="0"/>
          </a:p>
        </p:txBody>
      </p:sp>
      <p:sp>
        <p:nvSpPr>
          <p:cNvPr id="36" name="bld4_3389"/>
          <p:cNvSpPr txBox="1"/>
          <p:nvPr/>
        </p:nvSpPr>
        <p:spPr>
          <a:xfrm>
            <a:off x="9244355" y="3080065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sampling and connection.</a:t>
            </a:r>
            <a:endParaRPr lang="en-US" sz="1080" dirty="0"/>
          </a:p>
        </p:txBody>
      </p:sp>
      <p:sp>
        <p:nvSpPr>
          <p:cNvPr id="37" name="bld5_3390"/>
          <p:cNvSpPr/>
          <p:nvPr/>
        </p:nvSpPr>
        <p:spPr>
          <a:xfrm>
            <a:off x="548640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solidFill>
            <a:srgbClr val="F3E4CC"/>
          </a:solidFill>
          <a:ln/>
        </p:spPr>
      </p:sp>
      <p:sp>
        <p:nvSpPr>
          <p:cNvPr id="39" name="Shape 37"/>
          <p:cNvSpPr/>
          <p:nvPr/>
        </p:nvSpPr>
        <p:spPr>
          <a:xfrm>
            <a:off x="1596931" y="4337182"/>
            <a:ext cx="484998" cy="484998"/>
          </a:xfrm>
          <a:prstGeom prst="ellipse">
            <a:avLst/>
          </a:prstGeom>
          <a:solidFill>
            <a:srgbClr val="8A5A2E">
              <a:alpha val="9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664831" y="4405082"/>
            <a:ext cx="349198" cy="349198"/>
          </a:xfrm>
          <a:prstGeom prst="donut">
            <a:avLst/>
          </a:prstGeom>
          <a:solidFill>
            <a:srgbClr val="D9A05B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761830" y="4502081"/>
            <a:ext cx="155199" cy="155199"/>
          </a:xfrm>
          <a:prstGeom prst="ellipse">
            <a:avLst/>
          </a:prstGeom>
          <a:solidFill>
            <a:srgbClr val="D9A05B">
              <a:alpha val="9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28534" y="4268785"/>
            <a:ext cx="621792" cy="621792"/>
          </a:xfrm>
          <a:prstGeom prst="ellipse">
            <a:avLst/>
          </a:prstGeom>
          <a:ln w="25603">
            <a:solidFill>
              <a:srgbClr val="8A5A2E"/>
            </a:solidFill>
            <a:prstDash val="solid"/>
          </a:ln>
        </p:spPr>
      </p:sp>
      <p:sp>
        <p:nvSpPr>
          <p:cNvPr id="43" name="bld5_3392"/>
          <p:cNvSpPr txBox="1"/>
          <p:nvPr/>
        </p:nvSpPr>
        <p:spPr>
          <a:xfrm>
            <a:off x="731520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</a:t>
            </a:r>
            <a:endParaRPr lang="en-US" sz="1450" dirty="0"/>
          </a:p>
        </p:txBody>
      </p:sp>
      <p:sp>
        <p:nvSpPr>
          <p:cNvPr id="44" name="bld5_3393"/>
          <p:cNvSpPr txBox="1"/>
          <p:nvPr/>
        </p:nvSpPr>
        <p:spPr>
          <a:xfrm>
            <a:off x="731520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direct customer feedback.</a:t>
            </a:r>
            <a:endParaRPr lang="en-US" sz="1080" dirty="0"/>
          </a:p>
        </p:txBody>
      </p:sp>
      <p:sp>
        <p:nvSpPr>
          <p:cNvPr id="45" name="bld6_3394"/>
          <p:cNvSpPr/>
          <p:nvPr/>
        </p:nvSpPr>
        <p:spPr>
          <a:xfrm>
            <a:off x="3386252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47" name="Shape 45"/>
          <p:cNvSpPr/>
          <p:nvPr/>
        </p:nvSpPr>
        <p:spPr>
          <a:xfrm>
            <a:off x="4652055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48" name="Shape 46"/>
          <p:cNvSpPr/>
          <p:nvPr/>
        </p:nvSpPr>
        <p:spPr>
          <a:xfrm>
            <a:off x="4655314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99442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36018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366146" y="4268785"/>
            <a:ext cx="621792" cy="621792"/>
          </a:xfrm>
          <a:prstGeom prst="ellipse">
            <a:avLst/>
          </a:prstGeom>
          <a:ln w="25603">
            <a:solidFill>
              <a:srgbClr val="7A4A1E"/>
            </a:solidFill>
            <a:prstDash val="solid"/>
          </a:ln>
        </p:spPr>
      </p:sp>
      <p:sp>
        <p:nvSpPr>
          <p:cNvPr id="52" name="bld6_3396"/>
          <p:cNvSpPr txBox="1"/>
          <p:nvPr/>
        </p:nvSpPr>
        <p:spPr>
          <a:xfrm>
            <a:off x="3569132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1450" dirty="0"/>
          </a:p>
        </p:txBody>
      </p:sp>
      <p:sp>
        <p:nvSpPr>
          <p:cNvPr id="53" name="bld6_3397"/>
          <p:cNvSpPr txBox="1"/>
          <p:nvPr/>
        </p:nvSpPr>
        <p:spPr>
          <a:xfrm>
            <a:off x="3569132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shelf presence.</a:t>
            </a:r>
            <a:endParaRPr lang="en-US" sz="1080" dirty="0"/>
          </a:p>
        </p:txBody>
      </p:sp>
      <p:sp>
        <p:nvSpPr>
          <p:cNvPr id="54" name="bld7_3398"/>
          <p:cNvSpPr/>
          <p:nvPr/>
        </p:nvSpPr>
        <p:spPr>
          <a:xfrm>
            <a:off x="6223864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solidFill>
            <a:srgbClr val="FBEBD4"/>
          </a:solidFill>
          <a:ln/>
        </p:spPr>
      </p:sp>
      <p:sp>
        <p:nvSpPr>
          <p:cNvPr id="56" name="Shape 54"/>
          <p:cNvSpPr/>
          <p:nvPr/>
        </p:nvSpPr>
        <p:spPr>
          <a:xfrm>
            <a:off x="7489666" y="4380832"/>
            <a:ext cx="49974" cy="39770"/>
          </a:xfrm>
          <a:prstGeom prst="roundRect">
            <a:avLst>
              <a:gd name="adj" fmla="val 91969"/>
            </a:avLst>
          </a:prstGeom>
          <a:solidFill>
            <a:srgbClr val="0E0D0B"/>
          </a:solidFill>
          <a:ln/>
        </p:spPr>
      </p:sp>
      <p:sp>
        <p:nvSpPr>
          <p:cNvPr id="57" name="Shape 55"/>
          <p:cNvSpPr/>
          <p:nvPr/>
        </p:nvSpPr>
        <p:spPr>
          <a:xfrm>
            <a:off x="7492926" y="4420602"/>
            <a:ext cx="43456" cy="63632"/>
          </a:xfrm>
          <a:prstGeom prst="rect">
            <a:avLst/>
          </a:prstGeom>
          <a:solidFill>
            <a:srgbClr val="E7AC55">
              <a:alpha val="75000"/>
            </a:srgbClr>
          </a:solidFill>
          <a:ln w="12700">
            <a:solidFill>
              <a:srgbClr val="E7AC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37054" y="4484233"/>
            <a:ext cx="155199" cy="294297"/>
          </a:xfrm>
          <a:prstGeom prst="roundRect">
            <a:avLst>
              <a:gd name="adj" fmla="val 70701"/>
            </a:avLst>
          </a:prstGeom>
          <a:solidFill>
            <a:srgbClr val="E7AC55">
              <a:alpha val="45000"/>
            </a:srgbClr>
          </a:solidFill>
          <a:ln w="15875">
            <a:solidFill>
              <a:srgbClr val="E7AC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73630" y="4616667"/>
            <a:ext cx="82047" cy="125287"/>
          </a:xfrm>
          <a:prstGeom prst="roundRect">
            <a:avLst>
              <a:gd name="adj" fmla="val 111448"/>
            </a:avLst>
          </a:prstGeom>
          <a:solidFill>
            <a:srgbClr val="C1752F">
              <a:alpha val="9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203758" y="4268785"/>
            <a:ext cx="621792" cy="621792"/>
          </a:xfrm>
          <a:prstGeom prst="ellipse">
            <a:avLst/>
          </a:prstGeom>
          <a:ln w="25603">
            <a:solidFill>
              <a:srgbClr val="8A6339"/>
            </a:solidFill>
            <a:prstDash val="solid"/>
          </a:ln>
        </p:spPr>
      </p:sp>
      <p:sp>
        <p:nvSpPr>
          <p:cNvPr id="61" name="bld7_3400"/>
          <p:cNvSpPr txBox="1"/>
          <p:nvPr/>
        </p:nvSpPr>
        <p:spPr>
          <a:xfrm>
            <a:off x="6406744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</a:t>
            </a:r>
            <a:endParaRPr lang="en-US" sz="1450" dirty="0"/>
          </a:p>
        </p:txBody>
      </p:sp>
      <p:sp>
        <p:nvSpPr>
          <p:cNvPr id="62" name="bld7_3401"/>
          <p:cNvSpPr txBox="1"/>
          <p:nvPr/>
        </p:nvSpPr>
        <p:spPr>
          <a:xfrm>
            <a:off x="6406744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through other retailers.</a:t>
            </a:r>
            <a:endParaRPr lang="en-US" sz="1080" dirty="0"/>
          </a:p>
        </p:txBody>
      </p:sp>
      <p:sp>
        <p:nvSpPr>
          <p:cNvPr id="63" name="bld8_3402"/>
          <p:cNvSpPr/>
          <p:nvPr/>
        </p:nvSpPr>
        <p:spPr>
          <a:xfrm>
            <a:off x="9061475" y="4140769"/>
            <a:ext cx="25815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8CFB9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solidFill>
            <a:srgbClr val="FBE4DB"/>
          </a:solidFill>
          <a:ln/>
        </p:spPr>
      </p:sp>
      <p:sp>
        <p:nvSpPr>
          <p:cNvPr id="65" name="Shape 63"/>
          <p:cNvSpPr/>
          <p:nvPr/>
        </p:nvSpPr>
        <p:spPr>
          <a:xfrm>
            <a:off x="10182516" y="4409932"/>
            <a:ext cx="339498" cy="339498"/>
          </a:xfrm>
          <a:prstGeom prst="star5">
            <a:avLst/>
          </a:prstGeom>
          <a:solidFill>
            <a:srgbClr val="C9503E">
              <a:alpha val="9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041369" y="4268785"/>
            <a:ext cx="621792" cy="621792"/>
          </a:xfrm>
          <a:prstGeom prst="ellipse">
            <a:avLst/>
          </a:prstGeom>
          <a:ln w="25603">
            <a:solidFill>
              <a:srgbClr val="C9503E"/>
            </a:solidFill>
            <a:prstDash val="solid"/>
          </a:ln>
        </p:spPr>
      </p:sp>
      <p:sp>
        <p:nvSpPr>
          <p:cNvPr id="67" name="bld8_3404"/>
          <p:cNvSpPr txBox="1"/>
          <p:nvPr/>
        </p:nvSpPr>
        <p:spPr>
          <a:xfrm>
            <a:off x="9244355" y="4982017"/>
            <a:ext cx="22158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Influencers &amp; sampling</a:t>
            </a:r>
            <a:endParaRPr lang="en-US" sz="1450" dirty="0"/>
          </a:p>
        </p:txBody>
      </p:sp>
      <p:sp>
        <p:nvSpPr>
          <p:cNvPr id="68" name="bld8_3405"/>
          <p:cNvSpPr txBox="1"/>
          <p:nvPr/>
        </p:nvSpPr>
        <p:spPr>
          <a:xfrm>
            <a:off x="9244355" y="5439217"/>
            <a:ext cx="22158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voices driving discovery.</a:t>
            </a:r>
            <a:endParaRPr lang="en-US" sz="1080" dirty="0"/>
          </a:p>
        </p:txBody>
      </p:sp>
      <p:sp>
        <p:nvSpPr>
          <p:cNvPr id="70" name="trans_fade_230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71" name="Text 6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67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7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5" grpId="0"/>
      <p:bldP spid="36" grpId="0"/>
      <p:bldP spid="37" grpId="0"/>
      <p:bldP spid="43" grpId="0"/>
      <p:bldP spid="44" grpId="0"/>
      <p:bldP spid="45" grpId="0"/>
      <p:bldP spid="52" grpId="0"/>
      <p:bldP spid="53" grpId="0"/>
      <p:bldP spid="54" grpId="0"/>
      <p:bldP spid="61" grpId="0"/>
      <p:bldP spid="62" grpId="0"/>
      <p:bldP spid="63" grpId="0"/>
      <p:bldP spid="67" grpId="0"/>
      <p:bldP spid="68" grpId="0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FA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548640"/>
            <a:ext cx="4190695" cy="5760720"/>
          </a:xfrm>
          <a:prstGeom prst="roundRect">
            <a:avLst>
              <a:gd name="adj" fmla="val 3055"/>
            </a:avLst>
          </a:prstGeom>
          <a:solidFill>
            <a:srgbClr val="EFE6D2"/>
          </a:solidFill>
          <a:ln/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7724851" y="2878531"/>
            <a:ext cx="11704320" cy="11704320"/>
          </a:xfrm>
          <a:prstGeom prst="ellipse">
            <a:avLst/>
          </a:prstGeom>
          <a:solidFill>
            <a:srgbClr val="C9A35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501030" y="5102352"/>
            <a:ext cx="7256678" cy="7256678"/>
          </a:xfrm>
          <a:prstGeom prst="ellipse">
            <a:avLst/>
          </a:prstGeom>
          <a:solidFill>
            <a:srgbClr val="C9A354">
              <a:alpha val="1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C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SELLS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STARTING A BRAND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72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 the story, not the note list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7578081" y="1175909"/>
            <a:ext cx="3939253" cy="3939253"/>
          </a:xfrm>
          <a:prstGeom prst="ellipse">
            <a:avLst/>
          </a:prstGeom>
          <a:ln w="18288">
            <a:solidFill>
              <a:srgbClr val="C9A354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08361" y="1806190"/>
            <a:ext cx="2678692" cy="2678692"/>
          </a:xfrm>
          <a:prstGeom prst="ellipse">
            <a:avLst/>
          </a:prstGeom>
          <a:ln w="13716">
            <a:solidFill>
              <a:srgbClr val="C9A3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6266" y="195432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4320000">
            <a:off x="9758275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8640000">
            <a:off x="9581803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12960000">
            <a:off x="9010728" y="2833123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17280000">
            <a:off x="8834257" y="2289999"/>
            <a:ext cx="502883" cy="1056055"/>
          </a:xfrm>
          <a:prstGeom prst="ellipse">
            <a:avLst/>
          </a:prstGeom>
          <a:solidFill>
            <a:srgbClr val="8C3B49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306324" y="2726758"/>
            <a:ext cx="482768" cy="482768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0" y="5806440"/>
            <a:ext cx="3733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"Rose, amber, musk" is a list. A story is what makes someone actually buy.</a:t>
            </a:r>
            <a:endParaRPr lang="en-US" sz="1050" dirty="0"/>
          </a:p>
        </p:txBody>
      </p:sp>
      <p:sp>
        <p:nvSpPr>
          <p:cNvPr id="17" name="bld1_3406"/>
          <p:cNvSpPr/>
          <p:nvPr/>
        </p:nvSpPr>
        <p:spPr>
          <a:xfrm>
            <a:off x="548640" y="1783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18" name="bld1_3407"/>
          <p:cNvSpPr txBox="1"/>
          <p:nvPr/>
        </p:nvSpPr>
        <p:spPr>
          <a:xfrm>
            <a:off x="1005840" y="1755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</a:t>
            </a:r>
            <a:endParaRPr lang="en-US" sz="1650" dirty="0"/>
          </a:p>
        </p:txBody>
      </p:sp>
      <p:sp>
        <p:nvSpPr>
          <p:cNvPr id="19" name="bld1_3408"/>
          <p:cNvSpPr txBox="1"/>
          <p:nvPr/>
        </p:nvSpPr>
        <p:spPr>
          <a:xfrm>
            <a:off x="1005840" y="2075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make someone feel, not just what's inside it.</a:t>
            </a:r>
            <a:endParaRPr lang="en-US" sz="1250" dirty="0"/>
          </a:p>
        </p:txBody>
      </p:sp>
      <p:sp>
        <p:nvSpPr>
          <p:cNvPr id="20" name="bld2_3409"/>
          <p:cNvSpPr/>
          <p:nvPr/>
        </p:nvSpPr>
        <p:spPr>
          <a:xfrm>
            <a:off x="548640" y="2926080"/>
            <a:ext cx="292608" cy="292608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1" name="bld2_3410"/>
          <p:cNvSpPr txBox="1"/>
          <p:nvPr/>
        </p:nvSpPr>
        <p:spPr>
          <a:xfrm>
            <a:off x="1005840" y="2898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World-building</a:t>
            </a:r>
            <a:endParaRPr lang="en-US" sz="1650" dirty="0"/>
          </a:p>
        </p:txBody>
      </p:sp>
      <p:sp>
        <p:nvSpPr>
          <p:cNvPr id="22" name="bld2_3411"/>
          <p:cNvSpPr txBox="1"/>
          <p:nvPr/>
        </p:nvSpPr>
        <p:spPr>
          <a:xfrm>
            <a:off x="1005840" y="3218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aesthetic universe around the fragrance.</a:t>
            </a:r>
            <a:endParaRPr lang="en-US" sz="1250" dirty="0"/>
          </a:p>
        </p:txBody>
      </p:sp>
      <p:sp>
        <p:nvSpPr>
          <p:cNvPr id="23" name="bld3_3412"/>
          <p:cNvSpPr/>
          <p:nvPr/>
        </p:nvSpPr>
        <p:spPr>
          <a:xfrm>
            <a:off x="548640" y="4069080"/>
            <a:ext cx="292608" cy="292608"/>
          </a:xfrm>
          <a:prstGeom prst="ellipse">
            <a:avLst/>
          </a:prstGeom>
          <a:solidFill>
            <a:srgbClr val="5B3A52"/>
          </a:solidFill>
          <a:ln/>
        </p:spPr>
      </p:sp>
      <p:sp>
        <p:nvSpPr>
          <p:cNvPr id="24" name="bld3_3413"/>
          <p:cNvSpPr txBox="1"/>
          <p:nvPr/>
        </p:nvSpPr>
        <p:spPr>
          <a:xfrm>
            <a:off x="1005840" y="4041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50" dirty="0"/>
          </a:p>
        </p:txBody>
      </p:sp>
      <p:sp>
        <p:nvSpPr>
          <p:cNvPr id="25" name="bld3_3414"/>
          <p:cNvSpPr txBox="1"/>
          <p:nvPr/>
        </p:nvSpPr>
        <p:spPr>
          <a:xfrm>
            <a:off x="1005840" y="4361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this make the wearer feel like?</a:t>
            </a:r>
            <a:endParaRPr lang="en-US" sz="1250" dirty="0"/>
          </a:p>
        </p:txBody>
      </p:sp>
      <p:sp>
        <p:nvSpPr>
          <p:cNvPr id="26" name="bld4_3415"/>
          <p:cNvSpPr/>
          <p:nvPr/>
        </p:nvSpPr>
        <p:spPr>
          <a:xfrm>
            <a:off x="548640" y="5212080"/>
            <a:ext cx="292608" cy="292608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27" name="bld4_3416"/>
          <p:cNvSpPr txBox="1"/>
          <p:nvPr/>
        </p:nvSpPr>
        <p:spPr>
          <a:xfrm>
            <a:off x="1005840" y="5184648"/>
            <a:ext cx="6080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0D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650" dirty="0"/>
          </a:p>
        </p:txBody>
      </p:sp>
      <p:sp>
        <p:nvSpPr>
          <p:cNvPr id="28" name="bld4_3417"/>
          <p:cNvSpPr txBox="1"/>
          <p:nvPr/>
        </p:nvSpPr>
        <p:spPr>
          <a:xfrm>
            <a:off x="1005840" y="550468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5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unboxing, the sampling, the ritual — not just the liquid.</a:t>
            </a:r>
            <a:endParaRPr lang="en-US" sz="1250" dirty="0"/>
          </a:p>
        </p:txBody>
      </p:sp>
      <p:sp>
        <p:nvSpPr>
          <p:cNvPr id="30" name="trans_fade_231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31" name="Text 2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217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5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to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657600"/>
            <a:ext cx="10728655" cy="914"/>
          </a:xfrm>
          <a:prstGeom prst="line">
            <a:avLst/>
          </a:prstGeom>
          <a:noFill/>
          <a:ln w="2540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99450" y="3584448"/>
            <a:ext cx="146304" cy="146304"/>
          </a:xfrm>
          <a:prstGeom prst="ellipse">
            <a:avLst/>
          </a:prstGeom>
          <a:solidFill>
            <a:srgbClr val="B5652D"/>
          </a:solidFill>
          <a:ln/>
        </p:spPr>
      </p:sp>
      <p:sp>
        <p:nvSpPr>
          <p:cNvPr id="9" name="Shape 7"/>
          <p:cNvSpPr/>
          <p:nvPr/>
        </p:nvSpPr>
        <p:spPr>
          <a:xfrm>
            <a:off x="1926298" y="3511296"/>
            <a:ext cx="292608" cy="292608"/>
          </a:xfrm>
          <a:prstGeom prst="ellipse">
            <a:avLst/>
          </a:prstGeom>
          <a:ln w="12802">
            <a:solidFill>
              <a:srgbClr val="B565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78242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40532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67380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19324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81614" y="3584448"/>
            <a:ext cx="146304" cy="146304"/>
          </a:xfrm>
          <a:prstGeom prst="ellipse">
            <a:avLst/>
          </a:prstGeom>
          <a:solidFill>
            <a:srgbClr val="6E7A50"/>
          </a:solidFill>
          <a:ln/>
        </p:spPr>
      </p:sp>
      <p:sp>
        <p:nvSpPr>
          <p:cNvPr id="15" name="Shape 13"/>
          <p:cNvSpPr/>
          <p:nvPr/>
        </p:nvSpPr>
        <p:spPr>
          <a:xfrm>
            <a:off x="4608462" y="3511296"/>
            <a:ext cx="292608" cy="292608"/>
          </a:xfrm>
          <a:prstGeom prst="ellipse">
            <a:avLst/>
          </a:prstGeom>
          <a:ln w="12802">
            <a:solidFill>
              <a:srgbClr val="6E7A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406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22696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9544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01488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63778" y="3584448"/>
            <a:ext cx="146304" cy="146304"/>
          </a:xfrm>
          <a:prstGeom prst="ellipse">
            <a:avLst/>
          </a:prstGeom>
          <a:solidFill>
            <a:srgbClr val="C9A35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90626" y="3511296"/>
            <a:ext cx="292608" cy="292608"/>
          </a:xfrm>
          <a:prstGeom prst="ellipse">
            <a:avLst/>
          </a:prstGeom>
          <a:ln w="12802">
            <a:solidFill>
              <a:srgbClr val="C9A35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2570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704859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1707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651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45941" y="3584448"/>
            <a:ext cx="146304" cy="146304"/>
          </a:xfrm>
          <a:prstGeom prst="ellipse">
            <a:avLst/>
          </a:prstGeom>
          <a:solidFill>
            <a:srgbClr val="5C5646"/>
          </a:solidFill>
          <a:ln/>
        </p:spPr>
      </p:sp>
      <p:sp>
        <p:nvSpPr>
          <p:cNvPr id="27" name="Shape 25"/>
          <p:cNvSpPr/>
          <p:nvPr/>
        </p:nvSpPr>
        <p:spPr>
          <a:xfrm>
            <a:off x="9972789" y="3511296"/>
            <a:ext cx="292608" cy="292608"/>
          </a:xfrm>
          <a:prstGeom prst="ellipse">
            <a:avLst/>
          </a:prstGeom>
          <a:ln w="12802">
            <a:solidFill>
              <a:srgbClr val="5C56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524733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1387023" y="3584448"/>
            <a:ext cx="146304" cy="146304"/>
          </a:xfrm>
          <a:prstGeom prst="ellipse">
            <a:avLst/>
          </a:prstGeom>
          <a:solidFill>
            <a:srgbClr val="8C3B4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313871" y="3511296"/>
            <a:ext cx="292608" cy="292608"/>
          </a:xfrm>
          <a:prstGeom prst="ellipse">
            <a:avLst/>
          </a:prstGeom>
          <a:ln w="12802">
            <a:solidFill>
              <a:srgbClr val="8C3B4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865815" y="31546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FC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in this course lives somewhere on this line. Now go build.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0820095" y="-320040"/>
            <a:ext cx="1645920" cy="1645920"/>
          </a:xfrm>
          <a:prstGeom prst="ellipse">
            <a:avLst/>
          </a:prstGeom>
          <a:ln w="16459">
            <a:solidFill>
              <a:srgbClr val="C9A35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0E0D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845552" y="2816352"/>
            <a:ext cx="11887200" cy="11887200"/>
          </a:xfrm>
          <a:prstGeom prst="ellipse">
            <a:avLst/>
          </a:prstGeom>
          <a:solidFill>
            <a:srgbClr val="5C564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586984" y="5074920"/>
            <a:ext cx="7370064" cy="7370064"/>
          </a:xfrm>
          <a:prstGeom prst="ellipse">
            <a:avLst/>
          </a:prstGeom>
          <a:solidFill>
            <a:srgbClr val="5C564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306928" y="640080"/>
            <a:ext cx="5577840" cy="5577840"/>
          </a:xfrm>
          <a:prstGeom prst="ellipse">
            <a:avLst/>
          </a:prstGeom>
          <a:ln w="14630">
            <a:solidFill>
              <a:srgbClr val="3B38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64128" y="1097280"/>
            <a:ext cx="4663440" cy="4663440"/>
          </a:xfrm>
          <a:prstGeom prst="ellipse">
            <a:avLst/>
          </a:prstGeom>
          <a:ln w="9144">
            <a:solidFill>
              <a:srgbClr val="5C5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13716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3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11680"/>
            <a:ext cx="92656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great perfume deserves a story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remembering. Build both</a:t>
            </a:r>
            <a:endParaRPr lang="en-US" sz="34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AF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same care.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5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 · END OF COURSE</a:t>
            </a:r>
            <a:endParaRPr lang="en-US" sz="1100" dirty="0"/>
          </a:p>
        </p:txBody>
      </p:sp>
      <p:sp>
        <p:nvSpPr>
          <p:cNvPr id="10" name="trans_fade_232"/>
          <p:cNvSpPr txBox="1"/>
          <p:nvPr/>
        </p:nvSpPr>
        <p:spPr>
          <a:xfrm>
            <a:off x="-914400" y="-91440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</a:rPr>
              <a:t> </a:t>
            </a:r>
            <a:endParaRPr lang="en-US" sz="1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894015" y="6400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20" kern="0" dirty="0">
                <a:solidFill>
                  <a:srgbClr val="8C82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LEPARFUMSIMPLIFIE</a:t>
            </a:r>
            <a:endParaRPr lang="en-US" sz="8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234</Slides>
  <Notes>234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234</vt:i4>
      </vt:variant>
    </vt:vector>
  </HeadingPairs>
  <TitlesOfParts>
    <vt:vector size="2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LEPARFUMSIMPLIFIE — The Art &amp; Science of Perfumery</dc:title>
  <dc:subject>Beginner-to-intermediate perfumery course companion deck</dc:subject>
  <dc:creator>LEPARFUMSIMPLIFIE</dc:creator>
  <cp:lastModifiedBy>LEPARFUMSIMPLIFIE</cp:lastModifiedBy>
  <cp:revision>1</cp:revision>
  <dcterms:created xsi:type="dcterms:W3CDTF">2026-09-16T06:02:22Z</dcterms:created>
  <dcterms:modified xsi:type="dcterms:W3CDTF">2026-09-16T06:02:22Z</dcterms:modified>
</cp:coreProperties>
</file>